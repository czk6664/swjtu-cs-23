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33"/>
  </p:notesMasterIdLst>
  <p:handoutMasterIdLst>
    <p:handoutMasterId r:id="rId134"/>
  </p:handoutMasterIdLst>
  <p:sldIdLst>
    <p:sldId id="1066" r:id="rId2"/>
    <p:sldId id="1171" r:id="rId3"/>
    <p:sldId id="1067" r:id="rId4"/>
    <p:sldId id="1068" r:id="rId5"/>
    <p:sldId id="1173" r:id="rId6"/>
    <p:sldId id="1069" r:id="rId7"/>
    <p:sldId id="1070" r:id="rId8"/>
    <p:sldId id="1071" r:id="rId9"/>
    <p:sldId id="776" r:id="rId10"/>
    <p:sldId id="837" r:id="rId11"/>
    <p:sldId id="838" r:id="rId12"/>
    <p:sldId id="1074" r:id="rId13"/>
    <p:sldId id="1174" r:id="rId14"/>
    <p:sldId id="1170" r:id="rId15"/>
    <p:sldId id="1175" r:id="rId16"/>
    <p:sldId id="813" r:id="rId17"/>
    <p:sldId id="814" r:id="rId18"/>
    <p:sldId id="815" r:id="rId19"/>
    <p:sldId id="882" r:id="rId20"/>
    <p:sldId id="883" r:id="rId21"/>
    <p:sldId id="1376" r:id="rId22"/>
    <p:sldId id="884" r:id="rId23"/>
    <p:sldId id="1281" r:id="rId24"/>
    <p:sldId id="1282" r:id="rId25"/>
    <p:sldId id="1261" r:id="rId26"/>
    <p:sldId id="1280" r:id="rId27"/>
    <p:sldId id="889" r:id="rId28"/>
    <p:sldId id="890" r:id="rId29"/>
    <p:sldId id="891" r:id="rId30"/>
    <p:sldId id="892" r:id="rId31"/>
    <p:sldId id="893" r:id="rId32"/>
    <p:sldId id="1284" r:id="rId33"/>
    <p:sldId id="894" r:id="rId34"/>
    <p:sldId id="895" r:id="rId35"/>
    <p:sldId id="1262" r:id="rId36"/>
    <p:sldId id="1265" r:id="rId37"/>
    <p:sldId id="904" r:id="rId38"/>
    <p:sldId id="1267" r:id="rId39"/>
    <p:sldId id="1287" r:id="rId40"/>
    <p:sldId id="905" r:id="rId41"/>
    <p:sldId id="906" r:id="rId42"/>
    <p:sldId id="907" r:id="rId43"/>
    <p:sldId id="908" r:id="rId44"/>
    <p:sldId id="913" r:id="rId45"/>
    <p:sldId id="914" r:id="rId46"/>
    <p:sldId id="1301" r:id="rId47"/>
    <p:sldId id="1302" r:id="rId48"/>
    <p:sldId id="1304" r:id="rId49"/>
    <p:sldId id="1306" r:id="rId50"/>
    <p:sldId id="1308" r:id="rId51"/>
    <p:sldId id="1309" r:id="rId52"/>
    <p:sldId id="1224" r:id="rId53"/>
    <p:sldId id="1226" r:id="rId54"/>
    <p:sldId id="1228" r:id="rId55"/>
    <p:sldId id="1232" r:id="rId56"/>
    <p:sldId id="1233" r:id="rId57"/>
    <p:sldId id="1237" r:id="rId58"/>
    <p:sldId id="1244" r:id="rId59"/>
    <p:sldId id="1245" r:id="rId60"/>
    <p:sldId id="1246" r:id="rId61"/>
    <p:sldId id="1313" r:id="rId62"/>
    <p:sldId id="1319" r:id="rId63"/>
    <p:sldId id="1320" r:id="rId64"/>
    <p:sldId id="1323" r:id="rId65"/>
    <p:sldId id="1324" r:id="rId66"/>
    <p:sldId id="1326" r:id="rId67"/>
    <p:sldId id="1331" r:id="rId68"/>
    <p:sldId id="1391" r:id="rId69"/>
    <p:sldId id="1338" r:id="rId70"/>
    <p:sldId id="1377" r:id="rId71"/>
    <p:sldId id="1378" r:id="rId72"/>
    <p:sldId id="1389" r:id="rId73"/>
    <p:sldId id="1392" r:id="rId74"/>
    <p:sldId id="1393" r:id="rId75"/>
    <p:sldId id="1357" r:id="rId76"/>
    <p:sldId id="1358" r:id="rId77"/>
    <p:sldId id="1394" r:id="rId78"/>
    <p:sldId id="1395" r:id="rId79"/>
    <p:sldId id="1341" r:id="rId80"/>
    <p:sldId id="1342" r:id="rId81"/>
    <p:sldId id="1343" r:id="rId82"/>
    <p:sldId id="1344" r:id="rId83"/>
    <p:sldId id="1355" r:id="rId84"/>
    <p:sldId id="1347" r:id="rId85"/>
    <p:sldId id="1348" r:id="rId86"/>
    <p:sldId id="1354" r:id="rId87"/>
    <p:sldId id="1208" r:id="rId88"/>
    <p:sldId id="1209" r:id="rId89"/>
    <p:sldId id="1211" r:id="rId90"/>
    <p:sldId id="1214" r:id="rId91"/>
    <p:sldId id="1215" r:id="rId92"/>
    <p:sldId id="1216" r:id="rId93"/>
    <p:sldId id="1217" r:id="rId94"/>
    <p:sldId id="1218" r:id="rId95"/>
    <p:sldId id="1219" r:id="rId96"/>
    <p:sldId id="1396" r:id="rId97"/>
    <p:sldId id="1283" r:id="rId98"/>
    <p:sldId id="1247" r:id="rId99"/>
    <p:sldId id="1249" r:id="rId100"/>
    <p:sldId id="1126" r:id="rId101"/>
    <p:sldId id="1128" r:id="rId102"/>
    <p:sldId id="1129" r:id="rId103"/>
    <p:sldId id="1130" r:id="rId104"/>
    <p:sldId id="1397" r:id="rId105"/>
    <p:sldId id="1398" r:id="rId106"/>
    <p:sldId id="1236" r:id="rId107"/>
    <p:sldId id="1133" r:id="rId108"/>
    <p:sldId id="1399" r:id="rId109"/>
    <p:sldId id="1176" r:id="rId110"/>
    <p:sldId id="1177" r:id="rId111"/>
    <p:sldId id="1212" r:id="rId112"/>
    <p:sldId id="1213" r:id="rId113"/>
    <p:sldId id="1400" r:id="rId114"/>
    <p:sldId id="1185" r:id="rId115"/>
    <p:sldId id="1186" r:id="rId116"/>
    <p:sldId id="1189" r:id="rId117"/>
    <p:sldId id="1256" r:id="rId118"/>
    <p:sldId id="1257" r:id="rId119"/>
    <p:sldId id="1401" r:id="rId120"/>
    <p:sldId id="1269" r:id="rId121"/>
    <p:sldId id="1270" r:id="rId122"/>
    <p:sldId id="1272" r:id="rId123"/>
    <p:sldId id="1273" r:id="rId124"/>
    <p:sldId id="1275" r:id="rId125"/>
    <p:sldId id="1276" r:id="rId126"/>
    <p:sldId id="1277" r:id="rId127"/>
    <p:sldId id="1278" r:id="rId128"/>
    <p:sldId id="1279" r:id="rId129"/>
    <p:sldId id="1402" r:id="rId130"/>
    <p:sldId id="1403" r:id="rId131"/>
    <p:sldId id="1404" r:id="rId132"/>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9900"/>
    <a:srgbClr val="66FF33"/>
    <a:srgbClr val="DDDDDD"/>
    <a:srgbClr val="808080"/>
    <a:srgbClr val="B2B2B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467" autoAdjust="0"/>
    <p:restoredTop sz="94576" autoAdjust="0"/>
  </p:normalViewPr>
  <p:slideViewPr>
    <p:cSldViewPr snapToGrid="0">
      <p:cViewPr varScale="1">
        <p:scale>
          <a:sx n="100" d="100"/>
          <a:sy n="100" d="100"/>
        </p:scale>
        <p:origin x="78" y="204"/>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00" d="100"/>
        <a:sy n="100" d="100"/>
      </p:scale>
      <p:origin x="0" y="0"/>
    </p:cViewPr>
  </p:notesTextViewPr>
  <p:sorterViewPr>
    <p:cViewPr>
      <p:scale>
        <a:sx n="66" d="100"/>
        <a:sy n="66" d="100"/>
      </p:scale>
      <p:origin x="0" y="2280"/>
    </p:cViewPr>
  </p:sorterViewPr>
  <p:notesViewPr>
    <p:cSldViewPr snapToGrid="0">
      <p:cViewPr varScale="1">
        <p:scale>
          <a:sx n="38" d="100"/>
          <a:sy n="38" d="100"/>
        </p:scale>
        <p:origin x="-1368" y="-78"/>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62.xml"/><Relationship Id="rId3" Type="http://schemas.openxmlformats.org/officeDocument/2006/relationships/slide" Target="slides/slide26.xml"/><Relationship Id="rId7" Type="http://schemas.openxmlformats.org/officeDocument/2006/relationships/slide" Target="slides/slide44.xml"/><Relationship Id="rId2" Type="http://schemas.openxmlformats.org/officeDocument/2006/relationships/slide" Target="slides/slide20.xml"/><Relationship Id="rId1" Type="http://schemas.openxmlformats.org/officeDocument/2006/relationships/slide" Target="slides/slide9.xml"/><Relationship Id="rId6" Type="http://schemas.openxmlformats.org/officeDocument/2006/relationships/slide" Target="slides/slide37.xml"/><Relationship Id="rId5" Type="http://schemas.openxmlformats.org/officeDocument/2006/relationships/slide" Target="slides/slide34.xml"/><Relationship Id="rId4" Type="http://schemas.openxmlformats.org/officeDocument/2006/relationships/slide" Target="slides/slide27.xml"/><Relationship Id="rId9" Type="http://schemas.openxmlformats.org/officeDocument/2006/relationships/slide" Target="slides/slide8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3" name="Rectangle 3"/>
          <p:cNvSpPr>
            <a:spLocks noGrp="1" noChangeArrowheads="1"/>
          </p:cNvSpPr>
          <p:nvPr>
            <p:ph type="dt" sz="quarter"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4" name="Rectangle 4"/>
          <p:cNvSpPr>
            <a:spLocks noGrp="1" noChangeArrowheads="1"/>
          </p:cNvSpPr>
          <p:nvPr>
            <p:ph type="ftr" sz="quarter" idx="2"/>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5" name="Rectangle 5"/>
          <p:cNvSpPr>
            <a:spLocks noGrp="1" noChangeArrowheads="1"/>
          </p:cNvSpPr>
          <p:nvPr>
            <p:ph type="sldNum" sz="quarter" idx="3"/>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fld id="{83640D5B-B091-4870-8771-78165ADB9A9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05-11-16T09:20:31.296"/>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0,'95'0,"-95"0</inkml:trace>
</inkml:ink>
</file>

<file path=ppt/ink/ink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40.421"/>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100 0,'0'25,"0"26,0-3,0 2,0 0,0-26,0 26,0 0,0-26,0 1,0 0,0-25,0 26,0-2,0-24,0 24,0-24,0 25,0-50</inkml:trace>
  <inkml:trace contextRef="#ctx0" brushRef="#br0" timeOffset="907">0 274,'0'0,"0"24,0-24,0 25,25 0,-25-1,25 1,-25-25,0 25,0 1,0-26,0 24,0-24,0 0,0 24,0-24,0 0,0 0,0 0,0 0,0 25,0-25,0 0,0 0,0 0,0 0,0 0,24 0,-24 0,0 0,0-25,0 25,0-24,0 24,0-24,0 24,0-26,0 1,0 25,0-25,0 25,26-24,-26-1,0 25,24-25,-24 1,0 24,0-26,0 26,0-24,0-1,0 25,25 0,-25-25</inkml:trace>
</inkml:ink>
</file>

<file path=ppt/ink/ink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30.437"/>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0 323,'0'0,"0"25,0-25,0 24,0 26,0 24,0-24,0 0,0 24,25-24,-1 24,1 1,-25-1,0-23,0-3,0 2,0-1,0 2,0 22,0-23,0 25,0-26,0 25,0 1,0-1,0 2,0-3,0 2,26-25,-26-1,0 25,0-23,0-3,0 2,0 0,0 0,24-1,1 25,0 50,-25-49,24-1,1 25,-25-24,0-1,0 2,0-28,0 2,0-1,0 2,0-2,0 25,0 1,0 24,0-24,25 48,25 26,-26-49,26 48,0 1,0-50,-50 0,49-24,0-1,-24 0,0 1,25-26,-50 1,49 25,-24-26,25 27,0-3,-26 1,1-23,0 22,24-23,-24-25,1 49,22-24,-23-1,25 26,-1 24,26-24,-1 49,-23-50,47 76,2-52,-1 51,25-50,-25 25,50 0,-25 0,1 0,-52-74,-23 0,49-1,-74 1,24-50,1 49,-24-49,-2 26,0-26,1 0,0 0,0 0,0 0,-1 0,51 0,-26-26,51-23,48-26,1 1,25-50,0 24,24 2,-24-27,-26 76,-23-26,-26 1,0-1,-25 26,2-1,-28 25,-23-49,0 24,25-24,-26 24,26-24,-25 0,-25-51,0 52,0-2,0-24,0 24,0 1,-25-26,25 51,-24-49,24 47,-26-48,26 49,-24-24,24 0,0 24,0 0,-25-24,25-1,0 26,0-25,0 24,0 0,0-24,0 50,0-27,0-23,0 25,0-1,0-25,0 26,0 25,0-2,0-24,0 25,0 25,0-24,0-1,0 25,0-24,0 24,0-26,0 26,0-25,0 1,0 24,0-25,0 0,0 25,25 0,-25-25,0 25,24 0,-24 0,26 0,-26 0,0 0,24 0,1 0,0 25,24 0,2-25,-3 25,2-1,0-24,-26 25,2-25,-26 0,24 0,-24 0,0 0,0 0,0 0,25 0,-25 26,25-2,-25-24,24 49,1-24,0 0,1 50,-2-51,25 26,-24 0,0-26,0 51,25-26,-26 1,1 0,25-1,-50 26,49-25,-23-1,-2-24,1 49,-25-48,24-2,1 25,-25-49,25 25,-25 0,0 0,25-1,-25 2,0-2,26 26,-26-26,24 1,0 26,-24-27,25 25,-25 1,0-50,25 51,-25-3,25-48,-1 50,-24-25,25 24,1-23,-2 23,1 0,24 27,-24-52,0 50,1-25,-2 2,25-2,-24-25,0 26,0 1,-25-27,24 0,2 26,-2 0,1 0,0-26,24 1,-49 24,51 1,-27-24,0 22,1-23,0 25,0-25,24-1,-23 26,-2-50,1 50,24-26,-24 26,0-50,25 50,-1-26,-24 26,49 0,-24 0,0-26,24 26,-24-26,-1 1,-24 0,51 1,-28-2,2-24,-25 0,24 0,26 0,-26 0,51-24,-26-2,26-24,-27 26,28-1,-3-50,2 26,-51 24,25-25,-23 2,-3-3,-23-23,25-1,-25 1,-25 0,24-26,-24 26,0 0,26-1,-2 2,-24 22,0 26,25-24,0 0,-25 23,24 1,-24 1,0 24,25-25,-25 0,25 0,1 1,-2 0,25-52,1 2,-1 24,-23-24,23 49,25-24,-23 25,-3-2,-23-24,25 1,1 0,-3-2,-23 2,25-51,-1 51,-23-1,23 1,-25-1,51 25,-49-49,22 49,-48-25,75 1,-51 24,1 0,25-24,-50 25,49-27,-24 26,25-24,-24 24,22 1,-23-26,0 25,24 0,-24 0,1 0,-26 25,24 0,-24-24,0 0,25 24,-25-26,25 26,-25-25,24 25,-24-25,25 25,0-25,1 1,-2 24,0-25,26 1,-25 24,0 0,25 0,-50 0,0-26,0 26,24 0,-24 0,25 26,49-2,-49 25,49 1,26 1,-26-3,25 27,-24 0,24-26,-24 0,-26 1,1-24,25 22,-51-23,25 0,-49 25,25-50,0 24,0 2,-25-2,26 1,-2 24,25-24,-24 50,24-26,-24 1,25-1,-25 26,-1-50,1 24,25 2,-24-2,22-25,-48 26,25-25,0 1,0-2,-1 0,1 1,1 0,-26 0,24-25,-24 49,0-49,25 26,-25-26,0 24,0 1,0-25,24 24,-24-24,0 25,25 0,0 26,0-51,1 24,-2 50,25-49,1 24,-1-23,-23-2,-2 1,26 24,-26-49,26 50,-75-50,25 0,0 0,0-25,25 25,1 51,-2-51,-24 24,49 0,-24 1,25 0,-26 25,2-50,23 24,-24 2,-1-2,52 26,-28-50,2 49,24-24,-24-25,24 26,2 22,-27-48,25 0,-23 0,-3 0,2 0,50 0,-51 25,0 0,27-25,-28 0,2 0,24 0,-24 0,49 25,-48-25,22 0,-23 25,-1-25,-23 0,48 0,-50 0,-24 0,50 0,-50 0,26 0,-26-25,24 25,-24-25,49 0,-49 0,50 1,-25-26,25-24,-26 0,26-1,-1-48,2 22,-27 28,0 22,-24-23,0 1,25-3,-25-22,0 23,0-24,0-1,0-49,0 50,0 0,0 0,0 24,0-48,25 48,0 0,-25 27,0-28,0-22,0-2,25-24,-25 0,0 25,0-24,0 22,0 2,0 0,0 26,0-3,0 27,0 0,0-26,0 25,0 1,0-26,0 0,24 27,-24-52,0 0,0-24,0 25,0 50,26-1,-2 0,-24 1,0-1,0 25,25 1,-25 0,0-2,0 26,25-25,-25-25,0 26,24-1,1-25,0 25,-25 1,0-26,0 50,0-49,26 49,-26-24,0 24,24-26,-24 26,25-25,-25 0,0-24,24 49,-24-49,25 23,0 26,-25-25,0 1,0 24,25-25,-25 25,0-25,0 0,0 1,26 24,-26-50,0 50,24-25,-24 25,0-50,24 50,-24-24,25 24,-25 0,25-25,0 1,-25 24,24-26,27 1,-51 25,24-24,25 24,-24-50,0 50,26-25,-51 1,48 24,-48-26,25 26,0 0,0-24,-25 24,24 0,-24-25,0 25,0-25,0 25,25 0,-50 0,25 0,0-25,0 25,0-25,0 1,25 0,1-2,-26-24,0 50,24-24,-24-1,25 0,-25 1,0 24,0-26,0 26,0-24,0 24,24 0,-24-25,25 25,-25-25,25 0,-25 25,25 0,1-25,-26 25,0-24,0 24,24 0,-24 0,0-24,0 24,24 0,1-26,0 1,25 25,-50-25,0 25,0 0</inkml:trace>
</inkml:ink>
</file>

<file path=ppt/ink/ink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36.578"/>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74,'0'0,"25"0,-25-25,0 25,25 0,-25 0,24 0,-24 0,50 0,0 0,-26 0,26 0,0-24,-25 24,-25-25,0 25,-25 0,25 0,0 25,0-25,-24 24,24 27,-26-51,26 0,0 24,-25-24,25 0,-25 0,25 0,0 25,-24-25,24 0,0 24,-25-24,25 0,0 25,0-50</inkml:trace>
</inkml:ink>
</file>

<file path=ppt/ink/ink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3.765"/>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84 3671,'-25'0,"25"-25,-24 25,24-26,0 2,0 24,0-24,-25 24,25-25,0 25,0-25,0 0,0 25,0-25,0 1,0-2,0 26,0-24,0 24,0-25,0 25,0-25,0 1,0 24,0-25,0 0,0 25,0-26,0 26,25-24,-25 24,24-24,-24 24,25-25,-25 25,25 0,0-25,-25 25,24 0,-24 0,0-25,0 25,24 0,-24 0,26 0,-26 0,25 0,-25 0,25 0,0 0,-25 0,24 25,1-25,-1 25,-24-25,26 25,-26-1,0 0,25 2,-25-1,0 0,25-1,-25 26,0-26,0-24,0 50,0-25,0 0,0 0,0 0,0-1,0-24,0 24,0-24,0 51,0-51,0 25,-25-25,25 0,-25 0,25 0,-26 0,2 0,24 0,-25 0,1 0,24 0,-25 0,25 0,-25 0,25 0,-51 0,51 0,-24 0,24 0,-24 0,-1 0,25 0,-25 0,25 0,0-25,0 25</inkml:trace>
  <inkml:trace contextRef="#ctx0" brushRef="#br0" timeOffset="4031">506 0,'0'0,"-25"0,25 0,0 25,-25-25,1 0,24 24,-25-24,25 25,-25-1,-1 2,26-1,-24-1,-1 26,25-25,0-1,-24-24,24 24,0-24,0 26,0-26,0 25,0 0,-25-25,25 0,0 25,0-25,-25 24,25-24</inkml:trace>
</inkml:ink>
</file>

<file path=ppt/ink/ink6.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5.500"/>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232 803,'-24'0,"24"-25,0 1,-26 24,2-25,24-25,-50 1,25-1,25 1,-25-1,1 25,24 0,-24 0,24 1,0-1,0 25,0-50,0 50,0-25,0 25,0-24,0 24,0 0,0-25,0 25,0-25,0 25,24-25,0 1,-24 24,50-24,-25 24,24-26,1 1,-25 0,24 25,1-25,-24 1,22 24,-48 0,50 0,-50 0,25 0,-25 0,0 0,0 0,0 24,25 26,-1 25,26-1,24 0,-49 1,-25-26,0-49,0 25,0 0,0 1,0-26,-49 24,49 0,-50 1,-24 0,-1 24,2-24,22 1,2-2,24 1,0-25,1 0</inkml:trace>
</inkml:ink>
</file>

<file path=ppt/ink/ink7.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8.984"/>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25 26,'0'-24,"0"24,24 0,-24 0,25 0,-25 0,26 0,-26 0,24 0,1 0,24 0,-24 0,-25 0,25 0,1 0,-26 0,0 24,24-24,-24 26,0-1,24-1,-24-24,0 25,0-25,0 0,0 25,0-25,0 25,-24-25,0 24,24-24,-26 24,-24 2,25-1,-24 25,-26-50,51 24,-1 1,25-25,0 0,25 0,-1 0,27 0,22 0,2 0,-1 0,-24 0,-1 0,2 0,-51 0,0 0</inkml:trace>
</inkml:ink>
</file>

<file path=ppt/ink/ink8.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30:24.843"/>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6 50,'0'0,"0"26,0-26,0 24,0 25,0-24,0 25,0 0,0-1,0 25,0-23,0-3,0 2,0-25,0 50,25-51,-25 1,0 0,0-1,0 1,0 0,0-25,0 26,0-52,0 1,0 25</inkml:trace>
  <inkml:trace contextRef="#ctx0" brushRef="#br0" timeOffset="844">31 76,'0'0,"25"0,-25 0,24-26,-24 26,50 0,25 0,-2-25,2 25,0 0,-27 0,28-25,-51 25,-1 0,1 0,-25 0,0 25,0 26,24-3,2 2,-26 24,25 1,-1-26,-24 1,0 24,25-49,0 0,-25 0,0 0,0-25,0 24,0-24,0 0,0 0,0 26,0-26,0 0,-25 0,25 0,-25 0,1 0,24 0,-51 0,27 0,-1 24,1-24,-1 0,0 0,25 0,0 0,-25 0,-1 0,26 0,-24 0,24 0,-24 0,24 0,-25 0,25 0,-25 0,0 0,25 0,-24 0,24 0,-25 0,-1 0,26 0,-24 0,24 0,0 0,-25 0,1 0,24 0,-25 0</inkml:trace>
</inkml:ink>
</file>

<file path=ppt/ink/ink9.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30:31.60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74,'0'0,"0"-25,0 25,0-24,0 24,0-25,0 25,0 25,0-1,0 27,24 22,26 2,-26 49,2-50,-2 75,26-74,-25-1,0 0,-1 1,0-26,-24-24,26 0,-26 25,0-50,0 24,0-24,0-24,0 0,0 24,0-26,0 26,0-50,0 25,0-24,0 25,0-27,0-23,0 25,0-1,0 0,0 1,25 0,0-26,-25 25,25 25,-25 1,0 0,24-2,-24 26</inkml:trace>
</inkml:ink>
</file>

<file path=ppt/ink/ink10.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46:03.10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0 102,'0'-25,"0"25,0-25,0 25,0-24,0 24,0-24,0 24,25 0,-25 0,24 0,-24 0,25 0,-25 0,26 0,-26 0,0 0,0 0,0 0,0 0,0 24,0-24,0 0,0 0,0 24,0-24,0 0,0 25,-26-25,26 0,-25 0,25 0,-24 0,-1 0,25 0,0-25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1219200" y="3257550"/>
            <a:ext cx="67056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fld id="{BDA451E5-B0D0-4842-8785-455D7059AC0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ACBBCA8-E02F-42FB-9118-6DCC607ED6B4}" type="slidenum">
              <a:rPr lang="en-US" altLang="zh-CN" sz="1200" smtClean="0">
                <a:solidFill>
                  <a:schemeClr val="tx1"/>
                </a:solidFill>
                <a:latin typeface="Tahoma" panose="020B0604030504040204" pitchFamily="34" charset="0"/>
              </a:rPr>
              <a:pPr/>
              <a:t>19</a:t>
            </a:fld>
            <a:endParaRPr lang="en-US" altLang="zh-CN" sz="1200">
              <a:solidFill>
                <a:schemeClr val="tx1"/>
              </a:solidFill>
              <a:latin typeface="Tahoma" panose="020B0604030504040204" pitchFamily="34" charset="0"/>
            </a:endParaRPr>
          </a:p>
        </p:txBody>
      </p:sp>
      <p:sp>
        <p:nvSpPr>
          <p:cNvPr id="10243" name="Rectangle 2"/>
          <p:cNvSpPr>
            <a:spLocks noGrp="1" noRot="1" noChangeAspect="1" noChangeArrowheads="1" noTextEdit="1"/>
          </p:cNvSpPr>
          <p:nvPr>
            <p:ph type="sldImg"/>
          </p:nvPr>
        </p:nvSpPr>
        <p:spPr>
          <a:solidFill>
            <a:srgbClr val="FFFFFF"/>
          </a:solidFill>
          <a:ln/>
        </p:spPr>
      </p:sp>
      <p:sp>
        <p:nvSpPr>
          <p:cNvPr id="102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zh-CN" altLang="en-US"/>
              <a:t>在实现网络互连时的主要问题是如何实现网络地址的统一：</a:t>
            </a:r>
          </a:p>
          <a:p>
            <a:pPr eaLnBrk="1" hangingPunct="1"/>
            <a:r>
              <a:rPr lang="en-US" altLang="zh-CN"/>
              <a:t>1</a:t>
            </a:r>
            <a:r>
              <a:rPr lang="zh-CN" altLang="en-US"/>
              <a:t>。不同的物理网络技术（数据链路层技术）都有各自不同的地址形式，成为物理地址，用于识别该网络中的结点。</a:t>
            </a:r>
          </a:p>
          <a:p>
            <a:pPr eaLnBrk="1" hangingPunct="1"/>
            <a:r>
              <a:rPr lang="en-US" altLang="zh-CN"/>
              <a:t>2</a:t>
            </a:r>
            <a:r>
              <a:rPr lang="zh-CN" altLang="en-US"/>
              <a:t>。不同的数据链路层技术其物理地址的格式、长度、识别方式各不相同。</a:t>
            </a:r>
          </a:p>
          <a:p>
            <a:pPr eaLnBrk="1" hangingPunct="1"/>
            <a:r>
              <a:rPr lang="en-US" altLang="zh-CN"/>
              <a:t>3</a:t>
            </a:r>
            <a:r>
              <a:rPr lang="zh-CN" altLang="en-US"/>
              <a:t>。在采用某种链路技术构成的网络中，不能识别其他链路技术的所使用的物理地址。</a:t>
            </a:r>
          </a:p>
          <a:p>
            <a:pPr eaLnBrk="1" hangingPunct="1"/>
            <a:endParaRPr lang="zh-CN" altLang="en-US"/>
          </a:p>
          <a:p>
            <a:pPr eaLnBrk="1" hangingPunct="1"/>
            <a:r>
              <a:rPr lang="zh-CN" altLang="en-US"/>
              <a:t>如图，互连的网络分别采用了不同的物理网络技术，物理地址系统各不相同。因此。必须采用一种能够在整个互连网种通用的地址系统。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099891AF-A5D1-4950-B094-7FA7FF916B95}" type="slidenum">
              <a:rPr lang="en-US" altLang="zh-CN" sz="1200" smtClean="0">
                <a:solidFill>
                  <a:schemeClr val="tx1"/>
                </a:solidFill>
                <a:latin typeface="Tahoma" panose="020B0604030504040204" pitchFamily="34" charset="0"/>
              </a:rPr>
              <a:pPr/>
              <a:t>20</a:t>
            </a:fld>
            <a:endParaRPr lang="en-US" altLang="zh-CN" sz="1200">
              <a:solidFill>
                <a:schemeClr val="tx1"/>
              </a:solidFill>
              <a:latin typeface="Tahoma" panose="020B0604030504040204" pitchFamily="34" charset="0"/>
            </a:endParaRPr>
          </a:p>
        </p:txBody>
      </p:sp>
      <p:sp>
        <p:nvSpPr>
          <p:cNvPr id="12291" name="Rectangle 2"/>
          <p:cNvSpPr>
            <a:spLocks noGrp="1" noRot="1" noChangeAspect="1" noChangeArrowheads="1" noTextEdit="1"/>
          </p:cNvSpPr>
          <p:nvPr>
            <p:ph type="sldImg"/>
          </p:nvPr>
        </p:nvSpPr>
        <p:spPr>
          <a:solidFill>
            <a:srgbClr val="FFFFFF"/>
          </a:solidFill>
          <a:ln/>
        </p:spPr>
      </p:sp>
      <p:sp>
        <p:nvSpPr>
          <p:cNvPr id="122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。互连网（或称</a:t>
            </a:r>
            <a:r>
              <a:rPr lang="en-US" altLang="zh-CN"/>
              <a:t>Internet</a:t>
            </a:r>
            <a:r>
              <a:rPr lang="zh-CN" altLang="en-US"/>
              <a:t>）是通过将许多物理网络互连而构成的一个庞大的网络。</a:t>
            </a:r>
          </a:p>
          <a:p>
            <a:pPr eaLnBrk="1" hangingPunct="1"/>
            <a:r>
              <a:rPr lang="en-US" altLang="zh-CN"/>
              <a:t>2</a:t>
            </a:r>
            <a:r>
              <a:rPr lang="zh-CN" altLang="en-US"/>
              <a:t>。构成互联网的每个网络所采用的技术是不同的，因此会对网际通信造成障碍：</a:t>
            </a:r>
          </a:p>
          <a:p>
            <a:pPr eaLnBrk="1" hangingPunct="1"/>
            <a:r>
              <a:rPr lang="zh-CN" altLang="en-US"/>
              <a:t>	</a:t>
            </a:r>
            <a:r>
              <a:rPr lang="en-US" altLang="zh-CN"/>
              <a:t>a</a:t>
            </a:r>
            <a:r>
              <a:rPr lang="zh-CN" altLang="en-US"/>
              <a:t>。各个网络采用的物理地址形式不同</a:t>
            </a:r>
          </a:p>
          <a:p>
            <a:pPr eaLnBrk="1" hangingPunct="1"/>
            <a:r>
              <a:rPr lang="zh-CN" altLang="en-US"/>
              <a:t>	</a:t>
            </a:r>
            <a:r>
              <a:rPr lang="en-US" altLang="zh-CN"/>
              <a:t>b</a:t>
            </a:r>
            <a:r>
              <a:rPr lang="zh-CN" altLang="en-US"/>
              <a:t>。需要对整个网络中的地址进行统一管理，保证没有重复</a:t>
            </a:r>
          </a:p>
          <a:p>
            <a:pPr eaLnBrk="1" hangingPunct="1"/>
            <a:r>
              <a:rPr lang="en-US" altLang="zh-CN"/>
              <a:t>3</a:t>
            </a:r>
            <a:r>
              <a:rPr lang="zh-CN" altLang="en-US"/>
              <a:t>。</a:t>
            </a:r>
            <a:r>
              <a:rPr lang="en-US" altLang="zh-CN"/>
              <a:t>IP</a:t>
            </a:r>
            <a:r>
              <a:rPr lang="zh-CN" altLang="en-US"/>
              <a:t>地址是全网有效的，其分配和回收等对</a:t>
            </a:r>
            <a:r>
              <a:rPr lang="en-US" altLang="zh-CN"/>
              <a:t>IP</a:t>
            </a:r>
            <a:r>
              <a:rPr lang="zh-CN" altLang="en-US"/>
              <a:t>地址的管理工作都是统一进行的</a:t>
            </a:r>
          </a:p>
          <a:p>
            <a:pPr eaLnBrk="1" hangingPunct="1"/>
            <a:r>
              <a:rPr lang="en-US" altLang="zh-CN"/>
              <a:t>4</a:t>
            </a:r>
            <a:r>
              <a:rPr lang="zh-CN" altLang="en-US"/>
              <a:t>。</a:t>
            </a:r>
            <a:r>
              <a:rPr lang="en-US" altLang="zh-CN"/>
              <a:t>Internet</a:t>
            </a:r>
            <a:r>
              <a:rPr lang="zh-CN" altLang="en-US"/>
              <a:t>的整个结构是层次化的，因此地址管理方式也是层次化的。</a:t>
            </a:r>
          </a:p>
          <a:p>
            <a:pPr eaLnBrk="1" hangingPunct="1"/>
            <a:r>
              <a:rPr lang="en-US" altLang="zh-CN"/>
              <a:t>5</a:t>
            </a:r>
            <a:r>
              <a:rPr lang="zh-CN" altLang="en-US"/>
              <a:t>。</a:t>
            </a:r>
            <a:r>
              <a:rPr lang="en-US" altLang="zh-CN"/>
              <a:t>IP</a:t>
            </a:r>
            <a:r>
              <a:rPr lang="zh-CN" altLang="en-US"/>
              <a:t>地址的最高管理机构称为网络信息中心（</a:t>
            </a:r>
            <a:r>
              <a:rPr lang="en-US" altLang="zh-CN"/>
              <a:t>NIC</a:t>
            </a:r>
            <a:r>
              <a:rPr lang="zh-CN" altLang="en-US"/>
              <a:t>），</a:t>
            </a:r>
            <a:r>
              <a:rPr lang="en-US" altLang="zh-CN"/>
              <a:t>NIC</a:t>
            </a:r>
            <a:r>
              <a:rPr lang="zh-CN" altLang="en-US"/>
              <a:t>向个组织单位（网络）分配网络地址。</a:t>
            </a:r>
          </a:p>
          <a:p>
            <a:pPr eaLnBrk="1" hangingPunct="1"/>
            <a:r>
              <a:rPr lang="en-US" altLang="zh-CN"/>
              <a:t>6</a:t>
            </a:r>
            <a:r>
              <a:rPr lang="zh-CN" altLang="en-US"/>
              <a:t>。各网络中也有各自的网络信息中心，负责管理本网络内部的</a:t>
            </a:r>
            <a:r>
              <a:rPr lang="en-US" altLang="zh-CN"/>
              <a:t>IP</a:t>
            </a:r>
            <a:r>
              <a:rPr lang="zh-CN" altLang="en-US"/>
              <a:t>地址。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EEFC283-0A45-459D-A335-C9FB055D14BE}" type="slidenum">
              <a:rPr lang="en-US" altLang="zh-CN" sz="1200" smtClean="0">
                <a:solidFill>
                  <a:schemeClr val="tx1"/>
                </a:solidFill>
                <a:latin typeface="Tahoma" panose="020B0604030504040204" pitchFamily="34" charset="0"/>
              </a:rPr>
              <a:pPr/>
              <a:t>22</a:t>
            </a:fld>
            <a:endParaRPr lang="en-US" altLang="zh-CN" sz="1200">
              <a:solidFill>
                <a:schemeClr val="tx1"/>
              </a:solidFill>
              <a:latin typeface="Tahoma" panose="020B0604030504040204" pitchFamily="34" charset="0"/>
            </a:endParaRPr>
          </a:p>
        </p:txBody>
      </p:sp>
      <p:sp>
        <p:nvSpPr>
          <p:cNvPr id="15363" name="Rectangle 2"/>
          <p:cNvSpPr>
            <a:spLocks noGrp="1" noRot="1" noChangeAspect="1" noChangeArrowheads="1" noTextEdit="1"/>
          </p:cNvSpPr>
          <p:nvPr>
            <p:ph type="sldImg"/>
          </p:nvPr>
        </p:nvSpPr>
        <p:spPr>
          <a:solidFill>
            <a:srgbClr val="FFFFFF"/>
          </a:solidFill>
          <a:ln/>
        </p:spPr>
      </p:sp>
      <p:sp>
        <p:nvSpPr>
          <p:cNvPr id="153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。由于</a:t>
            </a:r>
            <a:r>
              <a:rPr lang="en-US" altLang="zh-CN"/>
              <a:t>Internet</a:t>
            </a:r>
            <a:r>
              <a:rPr lang="zh-CN" altLang="en-US"/>
              <a:t>是一个十分庞大的网络系统，因此必须采用结构化的、便于寻址操作的地址结构。</a:t>
            </a:r>
          </a:p>
          <a:p>
            <a:pPr eaLnBrk="1" hangingPunct="1"/>
            <a:r>
              <a:rPr lang="en-US" altLang="zh-CN"/>
              <a:t>2</a:t>
            </a:r>
            <a:r>
              <a:rPr lang="zh-CN" altLang="en-US"/>
              <a:t>。由于</a:t>
            </a:r>
            <a:r>
              <a:rPr lang="en-US" altLang="zh-CN"/>
              <a:t>Internet</a:t>
            </a:r>
            <a:r>
              <a:rPr lang="zh-CN" altLang="en-US"/>
              <a:t>的体系结构本身是层次化的，因此</a:t>
            </a:r>
            <a:r>
              <a:rPr lang="en-US" altLang="zh-CN"/>
              <a:t>IP</a:t>
            </a:r>
            <a:r>
              <a:rPr lang="zh-CN" altLang="en-US"/>
              <a:t>地址也是层次化的：</a:t>
            </a:r>
          </a:p>
          <a:p>
            <a:pPr eaLnBrk="1" hangingPunct="1"/>
            <a:r>
              <a:rPr lang="zh-CN" altLang="en-US"/>
              <a:t>	整个</a:t>
            </a:r>
            <a:r>
              <a:rPr lang="en-US" altLang="zh-CN"/>
              <a:t>Internet</a:t>
            </a:r>
            <a:r>
              <a:rPr lang="zh-CN" altLang="en-US"/>
              <a:t>由许多网络构成，每个网络中又存在许多主机或子网络。</a:t>
            </a:r>
          </a:p>
          <a:p>
            <a:pPr eaLnBrk="1" hangingPunct="1"/>
            <a:r>
              <a:rPr lang="zh-CN" altLang="en-US"/>
              <a:t>	（最初没有子网划分的概念，子网的划分是后来根据实际应用的需要提出的）</a:t>
            </a:r>
          </a:p>
          <a:p>
            <a:pPr eaLnBrk="1" hangingPunct="1"/>
            <a:r>
              <a:rPr lang="en-US" altLang="zh-CN"/>
              <a:t>3</a:t>
            </a:r>
            <a:r>
              <a:rPr lang="zh-CN" altLang="en-US"/>
              <a:t>。在</a:t>
            </a:r>
            <a:r>
              <a:rPr lang="en-US" altLang="zh-CN"/>
              <a:t>IP</a:t>
            </a:r>
            <a:r>
              <a:rPr lang="zh-CN" altLang="en-US"/>
              <a:t>地址中，分别对网络对象的网络编号和主机号加以标识。</a:t>
            </a:r>
          </a:p>
          <a:p>
            <a:pPr eaLnBrk="1" hangingPunct="1"/>
            <a:r>
              <a:rPr lang="en-US" altLang="zh-CN"/>
              <a:t>4</a:t>
            </a:r>
            <a:r>
              <a:rPr lang="zh-CN" altLang="en-US"/>
              <a:t>。</a:t>
            </a:r>
            <a:r>
              <a:rPr lang="en-US" altLang="zh-CN"/>
              <a:t>IP</a:t>
            </a:r>
            <a:r>
              <a:rPr lang="zh-CN" altLang="en-US"/>
              <a:t>地址携带了网络对象的位置信息，也就是说，从给定的</a:t>
            </a:r>
            <a:r>
              <a:rPr lang="en-US" altLang="zh-CN"/>
              <a:t>IP</a:t>
            </a:r>
            <a:r>
              <a:rPr lang="zh-CN" altLang="en-US"/>
              <a:t>地址中可以知道该对象所处的网络</a:t>
            </a:r>
          </a:p>
          <a:p>
            <a:pPr eaLnBrk="1" hangingPunct="1"/>
            <a:r>
              <a:rPr lang="en-US" altLang="zh-CN"/>
              <a:t>5</a:t>
            </a:r>
            <a:r>
              <a:rPr lang="zh-CN" altLang="en-US"/>
              <a:t>。这种结构有利于</a:t>
            </a:r>
            <a:r>
              <a:rPr lang="en-US" altLang="zh-CN"/>
              <a:t>IP</a:t>
            </a:r>
            <a:r>
              <a:rPr lang="zh-CN" altLang="en-US"/>
              <a:t>网路由功能的简化</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33CA60B-2AF4-4C95-9FCA-CD64CFAA3A58}" type="slidenum">
              <a:rPr lang="en-US" altLang="zh-CN" sz="1200" smtClean="0">
                <a:solidFill>
                  <a:schemeClr val="tx1"/>
                </a:solidFill>
                <a:latin typeface="Tahoma" panose="020B0604030504040204" pitchFamily="34" charset="0"/>
              </a:rPr>
              <a:pPr/>
              <a:t>26</a:t>
            </a:fld>
            <a:endParaRPr lang="en-US" altLang="zh-CN" sz="1200">
              <a:solidFill>
                <a:schemeClr val="tx1"/>
              </a:solidFill>
              <a:latin typeface="Tahoma" panose="020B0604030504040204" pitchFamily="34" charset="0"/>
            </a:endParaRPr>
          </a:p>
        </p:txBody>
      </p:sp>
      <p:sp>
        <p:nvSpPr>
          <p:cNvPr id="20483"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。在分类寻址中，我们可以利用 </a:t>
            </a:r>
            <a:r>
              <a:rPr lang="en-US" altLang="zh-CN"/>
              <a:t>IP</a:t>
            </a:r>
            <a:r>
              <a:rPr lang="zh-CN" altLang="en-US"/>
              <a:t>地址的类型取得地址中的主机号和网络前缀。此外，我们还可以利用子网掩码来获得网络号，</a:t>
            </a:r>
            <a:r>
              <a:rPr lang="zh-CN" altLang="en-US">
                <a:solidFill>
                  <a:schemeClr val="tx2"/>
                </a:solidFill>
              </a:rPr>
              <a:t>子网掩码定义了地址中网络前缀所占的比特数。</a:t>
            </a:r>
          </a:p>
          <a:p>
            <a:pPr eaLnBrk="1" hangingPunct="1"/>
            <a:endParaRPr lang="zh-CN" altLang="en-US">
              <a:solidFill>
                <a:schemeClr val="tx2"/>
              </a:solidFill>
            </a:endParaRPr>
          </a:p>
          <a:p>
            <a:pPr eaLnBrk="1" hangingPunct="1"/>
            <a:r>
              <a:rPr lang="en-US" altLang="zh-CN">
                <a:solidFill>
                  <a:schemeClr val="tx2"/>
                </a:solidFill>
              </a:rPr>
              <a:t>2</a:t>
            </a:r>
            <a:r>
              <a:rPr lang="zh-CN" altLang="en-US">
                <a:solidFill>
                  <a:schemeClr val="tx2"/>
                </a:solidFill>
              </a:rPr>
              <a:t>。无类型的网络地址：随着网络的发展，发现分类的网络地址对网络前缀的长度有很大限制（后面讲到），因此随后大量采用了无类型的网络地址（不能通过原有的地址分类约定来获得网络前缀的长度），必须采用子网掩码来计算其网络前缀。</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8058CEAF-3FB4-4349-B566-EF81B9F58FBF}" type="slidenum">
              <a:rPr lang="en-US" altLang="zh-CN" sz="1200" smtClean="0">
                <a:solidFill>
                  <a:schemeClr val="tx1"/>
                </a:solidFill>
                <a:latin typeface="Tahoma" panose="020B0604030504040204" pitchFamily="34" charset="0"/>
              </a:rPr>
              <a:pPr/>
              <a:t>27</a:t>
            </a:fld>
            <a:endParaRPr lang="en-US" altLang="zh-CN" sz="1200">
              <a:solidFill>
                <a:schemeClr val="tx1"/>
              </a:solidFill>
              <a:latin typeface="Tahoma" panose="020B0604030504040204" pitchFamily="34" charset="0"/>
            </a:endParaRPr>
          </a:p>
        </p:txBody>
      </p:sp>
      <p:sp>
        <p:nvSpPr>
          <p:cNvPr id="22531" name="Rectangle 2"/>
          <p:cNvSpPr>
            <a:spLocks noGrp="1" noRot="1" noChangeAspect="1" noChangeArrowheads="1" noTextEdit="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。广播的含义将分组（数据包）同时发送给指定网网络中的每一个主机。</a:t>
            </a:r>
          </a:p>
          <a:p>
            <a:pPr eaLnBrk="1" hangingPunct="1"/>
            <a:r>
              <a:rPr lang="en-US" altLang="zh-CN"/>
              <a:t>2</a:t>
            </a:r>
            <a:r>
              <a:rPr lang="zh-CN" altLang="en-US"/>
              <a:t>。网络上的任意一个结点都可以采用直接广播地址向任何一个网络进行广播（需要知道目的网络号）。</a:t>
            </a:r>
          </a:p>
          <a:p>
            <a:pPr eaLnBrk="1" hangingPunct="1"/>
            <a:r>
              <a:rPr lang="en-US" altLang="zh-CN"/>
              <a:t>3</a:t>
            </a:r>
            <a:r>
              <a:rPr lang="zh-CN" altLang="en-US"/>
              <a:t>。有时需要在本网中进行内部广播，但又不知道本网的网络号（往往发生在主机启动过程中），这时需要采用有限广播方式。</a:t>
            </a:r>
          </a:p>
          <a:p>
            <a:pPr eaLnBrk="1" hangingPunct="1"/>
            <a:r>
              <a:rPr lang="en-US" altLang="zh-CN"/>
              <a:t>4</a:t>
            </a:r>
            <a:r>
              <a:rPr lang="zh-CN" altLang="en-US"/>
              <a:t>。主机启动时，可能不知道本网络的网络号，那么它在本网络内通信的时候，可以采用“</a:t>
            </a:r>
            <a:r>
              <a:rPr lang="en-US" altLang="zh-CN"/>
              <a:t>0” </a:t>
            </a:r>
            <a:r>
              <a:rPr lang="zh-CN" altLang="en-US"/>
              <a:t>作为网络号。</a:t>
            </a:r>
          </a:p>
          <a:p>
            <a:pPr eaLnBrk="1" hangingPunct="1"/>
            <a:r>
              <a:rPr lang="en-US" altLang="zh-CN"/>
              <a:t>5</a:t>
            </a:r>
            <a:r>
              <a:rPr lang="zh-CN" altLang="en-US"/>
              <a:t>。</a:t>
            </a:r>
            <a:r>
              <a:rPr lang="en-US" altLang="zh-CN"/>
              <a:t>A</a:t>
            </a:r>
            <a:r>
              <a:rPr lang="zh-CN" altLang="en-US"/>
              <a:t>类网络种，网络号为</a:t>
            </a:r>
            <a:r>
              <a:rPr lang="en-US" altLang="zh-CN"/>
              <a:t>127</a:t>
            </a:r>
            <a:r>
              <a:rPr lang="zh-CN" altLang="en-US"/>
              <a:t>的地址是一个保留地址。</a:t>
            </a:r>
          </a:p>
          <a:p>
            <a:pPr eaLnBrk="1" hangingPunct="1"/>
            <a:r>
              <a:rPr lang="en-US" altLang="zh-CN"/>
              <a:t>6</a:t>
            </a:r>
            <a:r>
              <a:rPr lang="zh-CN" altLang="en-US"/>
              <a:t>。应用软件使用回送地址发送数据时，网络协议软件将立刻返回，不进行任何网络传输。</a:t>
            </a:r>
          </a:p>
          <a:p>
            <a:pPr eaLnBrk="1" hangingPunct="1"/>
            <a:r>
              <a:rPr lang="en-US" altLang="zh-CN"/>
              <a:t>7</a:t>
            </a:r>
            <a:r>
              <a:rPr lang="zh-CN" altLang="en-US"/>
              <a:t>。</a:t>
            </a:r>
            <a:r>
              <a:rPr lang="en-US" altLang="zh-CN"/>
              <a:t>Internet</a:t>
            </a:r>
            <a:r>
              <a:rPr lang="zh-CN" altLang="en-US"/>
              <a:t>中不能出现采用回送地址的主机，回送地址的分组不能出现在网络上，网络也不支持为回送地址的选路。</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04518116-AB4F-4A7A-A4C9-8D73410EE458}" type="slidenum">
              <a:rPr lang="en-US" altLang="zh-CN" sz="1200" smtClean="0">
                <a:solidFill>
                  <a:schemeClr val="tx1"/>
                </a:solidFill>
                <a:latin typeface="Tahoma" panose="020B0604030504040204" pitchFamily="34" charset="0"/>
              </a:rPr>
              <a:pPr/>
              <a:t>34</a:t>
            </a:fld>
            <a:endParaRPr lang="en-US" altLang="zh-CN" sz="1200">
              <a:solidFill>
                <a:schemeClr val="tx1"/>
              </a:solidFill>
              <a:latin typeface="Tahoma" panose="020B0604030504040204" pitchFamily="34" charset="0"/>
            </a:endParaRPr>
          </a:p>
        </p:txBody>
      </p:sp>
      <p:sp>
        <p:nvSpPr>
          <p:cNvPr id="30723" name="Rectangle 2"/>
          <p:cNvSpPr>
            <a:spLocks noGrp="1" noRot="1" noChangeAspect="1" noChangeArrowheads="1" noTextEdit="1"/>
          </p:cNvSpPr>
          <p:nvPr>
            <p:ph type="sldImg"/>
          </p:nvPr>
        </p:nvSpPr>
        <p:spPr>
          <a:solidFill>
            <a:srgbClr val="FFFFFF"/>
          </a:solidFill>
          <a:ln/>
        </p:spPr>
      </p:sp>
      <p:sp>
        <p:nvSpPr>
          <p:cNvPr id="3072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zh-CN" altLang="en-US"/>
              <a:t>如图，假定一个主机分别通过两个接口连接到不同网络（</a:t>
            </a:r>
            <a:r>
              <a:rPr lang="en-US" altLang="zh-CN"/>
              <a:t>1</a:t>
            </a:r>
            <a:r>
              <a:rPr lang="zh-CN" altLang="en-US"/>
              <a:t>、</a:t>
            </a:r>
            <a:r>
              <a:rPr lang="en-US" altLang="zh-CN"/>
              <a:t>2</a:t>
            </a:r>
            <a:r>
              <a:rPr lang="zh-CN" altLang="en-US"/>
              <a:t>），那么它将拥有两个 </a:t>
            </a:r>
            <a:r>
              <a:rPr lang="en-US" altLang="zh-CN"/>
              <a:t>IP </a:t>
            </a:r>
            <a:r>
              <a:rPr lang="zh-CN" altLang="en-US"/>
              <a:t>地址：</a:t>
            </a:r>
          </a:p>
          <a:p>
            <a:pPr eaLnBrk="1" hangingPunct="1"/>
            <a:r>
              <a:rPr lang="zh-CN" altLang="en-US"/>
              <a:t>	一个是属于网络 </a:t>
            </a:r>
            <a:r>
              <a:rPr lang="en-US" altLang="zh-CN"/>
              <a:t>1 </a:t>
            </a:r>
            <a:r>
              <a:rPr lang="zh-CN" altLang="en-US"/>
              <a:t>的 </a:t>
            </a:r>
            <a:r>
              <a:rPr lang="en-US" altLang="zh-CN"/>
              <a:t>IP </a:t>
            </a:r>
            <a:r>
              <a:rPr lang="zh-CN" altLang="en-US"/>
              <a:t>地址 </a:t>
            </a:r>
            <a:r>
              <a:rPr lang="en-US" altLang="zh-CN"/>
              <a:t>10.0.0.1</a:t>
            </a:r>
            <a:r>
              <a:rPr lang="zh-CN" altLang="en-US"/>
              <a:t>；另一个是属于网络 </a:t>
            </a:r>
            <a:r>
              <a:rPr lang="en-US" altLang="zh-CN"/>
              <a:t>2 </a:t>
            </a:r>
            <a:r>
              <a:rPr lang="zh-CN" altLang="en-US"/>
              <a:t>的 </a:t>
            </a:r>
            <a:r>
              <a:rPr lang="en-US" altLang="zh-CN"/>
              <a:t>IP </a:t>
            </a:r>
            <a:r>
              <a:rPr lang="zh-CN" altLang="en-US"/>
              <a:t>地址 </a:t>
            </a:r>
            <a:r>
              <a:rPr lang="en-US" altLang="zh-CN"/>
              <a:t>192.0.1.1</a:t>
            </a:r>
          </a:p>
          <a:p>
            <a:pPr eaLnBrk="1" hangingPunct="1"/>
            <a:endParaRPr lang="en-US" altLang="zh-CN"/>
          </a:p>
          <a:p>
            <a:pPr eaLnBrk="1" hangingPunct="1"/>
            <a:r>
              <a:rPr lang="zh-CN" altLang="en-US"/>
              <a:t>而实际上在该主机内部，</a:t>
            </a:r>
            <a:r>
              <a:rPr lang="en-US" altLang="zh-CN"/>
              <a:t>IP </a:t>
            </a:r>
            <a:r>
              <a:rPr lang="zh-CN" altLang="en-US"/>
              <a:t>地址</a:t>
            </a:r>
            <a:r>
              <a:rPr lang="en-US" altLang="zh-CN"/>
              <a:t>10.0.0.1</a:t>
            </a:r>
            <a:r>
              <a:rPr lang="zh-CN" altLang="en-US"/>
              <a:t>将被用来标识接口 </a:t>
            </a:r>
            <a:r>
              <a:rPr lang="en-US" altLang="zh-CN"/>
              <a:t>A</a:t>
            </a:r>
            <a:r>
              <a:rPr lang="zh-CN" altLang="en-US"/>
              <a:t>； </a:t>
            </a:r>
            <a:r>
              <a:rPr lang="en-US" altLang="zh-CN"/>
              <a:t>IP </a:t>
            </a:r>
            <a:r>
              <a:rPr lang="zh-CN" altLang="en-US"/>
              <a:t>地址</a:t>
            </a:r>
            <a:r>
              <a:rPr lang="en-US" altLang="zh-CN"/>
              <a:t>192.0.1.1</a:t>
            </a:r>
            <a:r>
              <a:rPr lang="zh-CN" altLang="en-US"/>
              <a:t>将被用来标识接口 </a:t>
            </a:r>
            <a:r>
              <a:rPr lang="en-US" altLang="zh-CN"/>
              <a:t>B</a:t>
            </a:r>
            <a:r>
              <a:rPr lang="zh-CN" altLang="en-US"/>
              <a:t>。</a:t>
            </a:r>
          </a:p>
          <a:p>
            <a:pPr eaLnBrk="1" hangingPunct="1"/>
            <a:endParaRPr lang="zh-CN" altLang="en-US"/>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72C9DDAB-AF1D-4D15-82EA-60D6A65A42DF}" type="slidenum">
              <a:rPr lang="en-US" altLang="zh-CN" sz="1200" smtClean="0">
                <a:solidFill>
                  <a:schemeClr val="tx1"/>
                </a:solidFill>
                <a:latin typeface="Tahoma" panose="020B0604030504040204" pitchFamily="34" charset="0"/>
              </a:rPr>
              <a:pPr/>
              <a:t>37</a:t>
            </a:fld>
            <a:endParaRPr lang="en-US" altLang="zh-CN" sz="1200">
              <a:solidFill>
                <a:schemeClr val="tx1"/>
              </a:solidFill>
              <a:latin typeface="Tahoma" panose="020B0604030504040204" pitchFamily="34" charset="0"/>
            </a:endParaRPr>
          </a:p>
        </p:txBody>
      </p:sp>
      <p:sp>
        <p:nvSpPr>
          <p:cNvPr id="34819" name="Rectangle 2"/>
          <p:cNvSpPr>
            <a:spLocks noGrp="1" noRot="1" noChangeAspect="1" noChangeArrowheads="1" noTextEdit="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。分类地址</a:t>
            </a:r>
            <a:r>
              <a:rPr lang="zh-CN" altLang="en-US" sz="1000"/>
              <a:t>（</a:t>
            </a:r>
            <a:r>
              <a:rPr lang="en-US" altLang="zh-CN" sz="1000"/>
              <a:t>classful addess</a:t>
            </a:r>
            <a:r>
              <a:rPr lang="zh-CN" altLang="en-US" sz="1000"/>
              <a:t>）</a:t>
            </a:r>
            <a:r>
              <a:rPr lang="zh-CN" altLang="en-US"/>
              <a:t>的缺陷：</a:t>
            </a:r>
          </a:p>
          <a:p>
            <a:pPr eaLnBrk="1" hangingPunct="1"/>
            <a:r>
              <a:rPr lang="zh-CN" altLang="en-US"/>
              <a:t>	</a:t>
            </a:r>
            <a:r>
              <a:rPr lang="en-US" altLang="zh-CN"/>
              <a:t>a. </a:t>
            </a:r>
            <a:r>
              <a:rPr lang="zh-CN" altLang="en-US"/>
              <a:t>地址分配不够灵活：</a:t>
            </a:r>
            <a:r>
              <a:rPr lang="en-US" altLang="zh-CN"/>
              <a:t>A</a:t>
            </a:r>
            <a:r>
              <a:rPr lang="zh-CN" altLang="en-US"/>
              <a:t>类、</a:t>
            </a:r>
            <a:r>
              <a:rPr lang="en-US" altLang="zh-CN"/>
              <a:t>B</a:t>
            </a:r>
            <a:r>
              <a:rPr lang="zh-CN" altLang="en-US"/>
              <a:t>类、</a:t>
            </a:r>
            <a:r>
              <a:rPr lang="en-US" altLang="zh-CN"/>
              <a:t>C</a:t>
            </a:r>
            <a:r>
              <a:rPr lang="zh-CN" altLang="en-US"/>
              <a:t>类网络的规模不能平滑过渡</a:t>
            </a:r>
          </a:p>
          <a:p>
            <a:pPr eaLnBrk="1" hangingPunct="1"/>
            <a:r>
              <a:rPr lang="zh-CN" altLang="en-US"/>
              <a:t>	</a:t>
            </a:r>
            <a:r>
              <a:rPr lang="en-US" altLang="zh-CN"/>
              <a:t>b. </a:t>
            </a:r>
            <a:r>
              <a:rPr lang="zh-CN" altLang="en-US"/>
              <a:t>地址空间消耗速度快：分类地址中网络的总数量有限，随着网络的扩展，</a:t>
            </a:r>
            <a:r>
              <a:rPr lang="en-US" altLang="zh-CN"/>
              <a:t>IP</a:t>
            </a:r>
            <a:r>
              <a:rPr lang="zh-CN" altLang="en-US"/>
              <a:t>地址将很快被分配完。</a:t>
            </a:r>
          </a:p>
          <a:p>
            <a:pPr eaLnBrk="1" hangingPunct="1"/>
            <a:endParaRPr lang="zh-CN" altLang="en-US"/>
          </a:p>
          <a:p>
            <a:pPr eaLnBrk="1" hangingPunct="1"/>
            <a:r>
              <a:rPr lang="en-US" altLang="zh-CN"/>
              <a:t>2</a:t>
            </a:r>
            <a:r>
              <a:rPr lang="zh-CN" altLang="en-US"/>
              <a:t>。子网划分能够使较大的分类地址空间被多个规模较小的网点所共享（不需要为每个网点分别申请一个分类地址空间。）</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33EBAB6E-4E5E-4517-B6A4-9B3D30B4E947}" type="slidenum">
              <a:rPr lang="en-US" altLang="zh-CN" sz="1200" smtClean="0">
                <a:solidFill>
                  <a:schemeClr val="tx1"/>
                </a:solidFill>
                <a:latin typeface="Tahoma" panose="020B0604030504040204" pitchFamily="34" charset="0"/>
              </a:rPr>
              <a:pPr/>
              <a:t>44</a:t>
            </a:fld>
            <a:endParaRPr lang="en-US" altLang="zh-CN" sz="1200">
              <a:solidFill>
                <a:schemeClr val="tx1"/>
              </a:solidFill>
              <a:latin typeface="Tahoma" panose="020B0604030504040204" pitchFamily="34" charset="0"/>
            </a:endParaRPr>
          </a:p>
        </p:txBody>
      </p:sp>
      <p:sp>
        <p:nvSpPr>
          <p:cNvPr id="46083" name="Rectangle 2"/>
          <p:cNvSpPr>
            <a:spLocks noGrp="1" noRot="1" noChangeAspect="1" noChangeArrowheads="1" noTextEdit="1"/>
          </p:cNvSpPr>
          <p:nvPr>
            <p:ph type="sldImg"/>
          </p:nvPr>
        </p:nvSpPr>
        <p:spPr>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1C1A881F-AEAD-48C0-9542-E1B62C86F7DC}" type="slidenum">
              <a:rPr lang="en-US" altLang="zh-CN" sz="1200" smtClean="0">
                <a:solidFill>
                  <a:schemeClr val="tx1"/>
                </a:solidFill>
                <a:latin typeface="Tahoma" panose="020B0604030504040204" pitchFamily="34" charset="0"/>
              </a:rPr>
              <a:pPr/>
              <a:t>45</a:t>
            </a:fld>
            <a:endParaRPr lang="en-US" altLang="zh-CN" sz="1200">
              <a:solidFill>
                <a:schemeClr val="tx1"/>
              </a:solidFill>
              <a:latin typeface="Tahoma" panose="020B0604030504040204" pitchFamily="34" charset="0"/>
            </a:endParaRPr>
          </a:p>
        </p:txBody>
      </p:sp>
      <p:sp>
        <p:nvSpPr>
          <p:cNvPr id="48131" name="Rectangle 2"/>
          <p:cNvSpPr>
            <a:spLocks noGrp="1" noRot="1" noChangeAspect="1" noChangeArrowheads="1" noTextEdit="1"/>
          </p:cNvSpPr>
          <p:nvPr>
            <p:ph type="sldImg"/>
          </p:nvPr>
        </p:nvSpPr>
        <p:spPr>
          <a:solidFill>
            <a:srgbClr val="FFFFFF"/>
          </a:solidFill>
          <a:ln/>
        </p:spPr>
      </p:sp>
      <p:sp>
        <p:nvSpPr>
          <p:cNvPr id="481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。如图，一个企业拥有 </a:t>
            </a:r>
            <a:r>
              <a:rPr lang="en-US" altLang="zh-CN"/>
              <a:t>16 </a:t>
            </a:r>
            <a:r>
              <a:rPr lang="zh-CN" altLang="en-US"/>
              <a:t>个连续的 </a:t>
            </a:r>
            <a:r>
              <a:rPr lang="en-US" altLang="zh-CN"/>
              <a:t>C </a:t>
            </a:r>
            <a:r>
              <a:rPr lang="zh-CN" altLang="en-US"/>
              <a:t>类网络地址所构成的网络，但希望将这些网络统一起来。利用超网技术，可将</a:t>
            </a:r>
            <a:r>
              <a:rPr lang="en-US" altLang="zh-CN"/>
              <a:t>16 </a:t>
            </a:r>
            <a:r>
              <a:rPr lang="zh-CN" altLang="en-US"/>
              <a:t>个 </a:t>
            </a:r>
            <a:r>
              <a:rPr lang="en-US" altLang="zh-CN"/>
              <a:t>C </a:t>
            </a:r>
            <a:r>
              <a:rPr lang="zh-CN" altLang="en-US"/>
              <a:t>类网络聚合形成一个超网。该网络的网络前缀及子网掩码通过路由器向外界通告。外界看到的是一个网络前缀位 </a:t>
            </a:r>
            <a:r>
              <a:rPr lang="en-US" altLang="zh-CN" sz="2000">
                <a:solidFill>
                  <a:srgbClr val="FFFFCC"/>
                </a:solidFill>
                <a:latin typeface="Verdana" panose="020B0604030504040204" pitchFamily="34" charset="0"/>
                <a:ea typeface="隶书" panose="02010509060101010101" pitchFamily="49" charset="-122"/>
              </a:rPr>
              <a:t>192.18.0.0 </a:t>
            </a:r>
            <a:r>
              <a:rPr lang="zh-CN" altLang="en-US" sz="2000">
                <a:solidFill>
                  <a:srgbClr val="FFFFCC"/>
                </a:solidFill>
                <a:latin typeface="Verdana" panose="020B0604030504040204" pitchFamily="34" charset="0"/>
                <a:ea typeface="隶书" panose="02010509060101010101" pitchFamily="49" charset="-122"/>
              </a:rPr>
              <a:t>、</a:t>
            </a:r>
            <a:r>
              <a:rPr lang="zh-CN" altLang="en-US"/>
              <a:t>子网 </a:t>
            </a:r>
            <a:r>
              <a:rPr lang="en-US" altLang="zh-CN"/>
              <a:t>20 </a:t>
            </a:r>
            <a:r>
              <a:rPr lang="zh-CN" altLang="en-US"/>
              <a:t>位的单一网络。</a:t>
            </a:r>
          </a:p>
          <a:p>
            <a:pPr eaLnBrk="1" hangingPunct="1"/>
            <a:endParaRPr lang="zh-CN" altLang="en-US"/>
          </a:p>
          <a:p>
            <a:pPr eaLnBrk="1" hangingPunct="1"/>
            <a:r>
              <a:rPr lang="en-US" altLang="zh-CN"/>
              <a:t>2</a:t>
            </a:r>
            <a:r>
              <a:rPr lang="zh-CN" altLang="en-US"/>
              <a:t>。实际上，目前 </a:t>
            </a:r>
            <a:r>
              <a:rPr lang="en-US" altLang="zh-CN"/>
              <a:t>Internet </a:t>
            </a:r>
            <a:r>
              <a:rPr lang="zh-CN" altLang="en-US"/>
              <a:t>的地址管理机构分配 </a:t>
            </a:r>
            <a:r>
              <a:rPr lang="en-US" altLang="zh-CN"/>
              <a:t>IP </a:t>
            </a:r>
            <a:r>
              <a:rPr lang="zh-CN" altLang="en-US"/>
              <a:t>地址的时候，都是按照</a:t>
            </a:r>
            <a:r>
              <a:rPr lang="en-US" altLang="zh-CN">
                <a:solidFill>
                  <a:srgbClr val="FFFFCC"/>
                </a:solidFill>
              </a:rPr>
              <a:t>CIDR </a:t>
            </a:r>
            <a:r>
              <a:rPr lang="zh-CN" altLang="en-US">
                <a:solidFill>
                  <a:srgbClr val="FFFFCC"/>
                </a:solidFill>
              </a:rPr>
              <a:t>块进行分配的，而不是按照传统的分类地址进行分配的。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875F715B-396C-4769-B149-0DF868EC46FE}" type="slidenum">
              <a:rPr lang="en-US" altLang="zh-CN" sz="1200" smtClean="0">
                <a:solidFill>
                  <a:schemeClr val="tx1"/>
                </a:solidFill>
                <a:latin typeface="Tahoma" panose="020B0604030504040204" pitchFamily="34" charset="0"/>
              </a:rPr>
              <a:pPr/>
              <a:t>65</a:t>
            </a:fld>
            <a:endParaRPr lang="en-US" altLang="zh-CN" sz="1200">
              <a:solidFill>
                <a:schemeClr val="tx1"/>
              </a:solidFill>
              <a:latin typeface="Tahoma" panose="020B0604030504040204" pitchFamily="34" charset="0"/>
            </a:endParaRPr>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Tv = for some country – for sale?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5D077D9F-E8D2-4DB8-8687-B4B561ACA370}" type="slidenum">
              <a:rPr lang="en-US" altLang="zh-CN" sz="1200" smtClean="0">
                <a:solidFill>
                  <a:schemeClr val="tx1"/>
                </a:solidFill>
                <a:latin typeface="Tahoma" panose="020B0604030504040204" pitchFamily="34" charset="0"/>
              </a:rPr>
              <a:pPr/>
              <a:t>66</a:t>
            </a:fld>
            <a:endParaRPr lang="en-US" altLang="zh-CN" sz="1200">
              <a:solidFill>
                <a:schemeClr val="tx1"/>
              </a:solidFill>
              <a:latin typeface="Tahoma" panose="020B0604030504040204" pitchFamily="34" charset="0"/>
            </a:endParaRPr>
          </a:p>
        </p:txBody>
      </p:sp>
      <p:sp>
        <p:nvSpPr>
          <p:cNvPr id="78851" name="Rectangle 2"/>
          <p:cNvSpPr>
            <a:spLocks noGrp="1" noRot="1" noChangeAspect="1" noChangeArrowheads="1" noTextEdit="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/20 = 20 of the 32 bits in IP address are specified</a:t>
            </a:r>
          </a:p>
          <a:p>
            <a:pPr eaLnBrk="1" hangingPunct="1"/>
            <a:r>
              <a:rPr lang="en-US" altLang="zh-CN"/>
              <a:t>12 bits free 2^12 = 4096</a:t>
            </a:r>
          </a:p>
          <a:p>
            <a:pPr eaLnBrk="1" hangingPunct="1"/>
            <a:endParaRPr lang="en-US" altLang="zh-CN"/>
          </a:p>
          <a:p>
            <a:pPr eaLnBrk="1" hangingPunct="1"/>
            <a:r>
              <a:rPr lang="en-US" altLang="zh-CN"/>
              <a:t>/14 = 14 bits specified</a:t>
            </a:r>
          </a:p>
          <a:p>
            <a:pPr eaLnBrk="1" hangingPunct="1"/>
            <a:r>
              <a:rPr lang="en-US" altLang="zh-CN"/>
              <a:t>18 free 2^18= 262,144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76C80135-2488-4A6D-BE86-1E875431C308}" type="slidenum">
              <a:rPr lang="en-US" altLang="zh-CN" sz="1200" smtClean="0">
                <a:solidFill>
                  <a:schemeClr val="tx1"/>
                </a:solidFill>
                <a:latin typeface="Tahoma" panose="020B0604030504040204" pitchFamily="34" charset="0"/>
              </a:rPr>
              <a:pPr/>
              <a:t>86</a:t>
            </a:fld>
            <a:endParaRPr lang="en-US" altLang="zh-CN" sz="1200">
              <a:solidFill>
                <a:schemeClr val="tx1"/>
              </a:solidFill>
              <a:latin typeface="Tahoma" panose="020B0604030504040204" pitchFamily="34" charset="0"/>
            </a:endParaRPr>
          </a:p>
        </p:txBody>
      </p:sp>
      <p:sp>
        <p:nvSpPr>
          <p:cNvPr id="20483"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路由器用于连通不同的网络。路由器通常具有多个网络接口，分别连接到不同的网络上，其主要功能是完成网络间分组的转发。路由器在进行分组转发时需要计算分组去往目的地的最佳路径（也就是最短或费用最低的通路）。</a:t>
            </a:r>
          </a:p>
          <a:p>
            <a:pPr eaLnBrk="1" hangingPunct="1"/>
            <a:r>
              <a:rPr lang="en-US" altLang="zh-CN"/>
              <a:t>2</a:t>
            </a:r>
            <a:r>
              <a:rPr lang="zh-CN" altLang="en-US"/>
              <a:t>。网络中的路由器之间还需要进行信息交换，这些信息包括互联网中各个网络的位置、可达性。信息交换采用特定的路由协议来完成，利用路由协议进行信息交换也是</a:t>
            </a:r>
            <a:r>
              <a:rPr lang="en-US" altLang="zh-CN"/>
              <a:t>IP</a:t>
            </a:r>
            <a:r>
              <a:rPr lang="zh-CN" altLang="en-US"/>
              <a:t>层的一项重要功能。同时路由协议还被利用来进行最佳路径的计算。</a:t>
            </a:r>
          </a:p>
          <a:p>
            <a:pPr eaLnBrk="1" hangingPunct="1"/>
            <a:r>
              <a:rPr lang="en-US" altLang="zh-CN"/>
              <a:t>3</a:t>
            </a:r>
            <a:r>
              <a:rPr lang="zh-CN" altLang="en-US"/>
              <a:t>。第一代的路由器类似于普通计算机：</a:t>
            </a:r>
          </a:p>
          <a:p>
            <a:pPr eaLnBrk="1" hangingPunct="1"/>
            <a:r>
              <a:rPr lang="zh-CN" altLang="en-US"/>
              <a:t>	</a:t>
            </a:r>
            <a:r>
              <a:rPr lang="en-US" altLang="zh-CN"/>
              <a:t>a. </a:t>
            </a:r>
            <a:r>
              <a:rPr lang="zh-CN" altLang="en-US"/>
              <a:t>处理器和若干网络接口通过共享总线连接</a:t>
            </a:r>
          </a:p>
          <a:p>
            <a:pPr eaLnBrk="1" hangingPunct="1"/>
            <a:r>
              <a:rPr lang="zh-CN" altLang="en-US"/>
              <a:t>	</a:t>
            </a:r>
            <a:r>
              <a:rPr lang="en-US" altLang="zh-CN"/>
              <a:t>b. </a:t>
            </a:r>
            <a:r>
              <a:rPr lang="zh-CN" altLang="en-US"/>
              <a:t>中央处理器实现分组转发（分组转发通过查找路由表完成），并运行路由协议。</a:t>
            </a:r>
          </a:p>
          <a:p>
            <a:pPr eaLnBrk="1" hangingPunct="1"/>
            <a:r>
              <a:rPr lang="zh-CN" altLang="en-US"/>
              <a:t>	</a:t>
            </a:r>
            <a:r>
              <a:rPr lang="en-US" altLang="zh-CN"/>
              <a:t>c. </a:t>
            </a:r>
            <a:r>
              <a:rPr lang="zh-CN" altLang="en-US"/>
              <a:t>分组从一个网络接口进入，通过处理器转发到另一个网络接口。</a:t>
            </a:r>
          </a:p>
          <a:p>
            <a:pPr eaLnBrk="1" hangingPunct="1"/>
            <a:r>
              <a:rPr lang="zh-CN" altLang="en-US"/>
              <a:t>	</a:t>
            </a:r>
            <a:r>
              <a:rPr lang="en-US" altLang="zh-CN"/>
              <a:t>d. </a:t>
            </a:r>
            <a:r>
              <a:rPr lang="zh-CN" altLang="en-US"/>
              <a:t>这种集中式结构的性能瓶颈在于总线的速度和中央处理器的处理速度。</a:t>
            </a:r>
          </a:p>
          <a:p>
            <a:pPr eaLnBrk="1" hangingPunct="1"/>
            <a:r>
              <a:rPr lang="zh-CN" altLang="en-US"/>
              <a:t>	</a:t>
            </a:r>
            <a:r>
              <a:rPr lang="en-US" altLang="zh-CN"/>
              <a:t>e. </a:t>
            </a:r>
            <a:r>
              <a:rPr lang="zh-CN" altLang="en-US"/>
              <a:t>随着网络的扩张，路由表规模也在增大，将增大查找路由表的开销，降低转发效率。</a:t>
            </a:r>
          </a:p>
          <a:p>
            <a:pPr eaLnBrk="1" hangingPunct="1"/>
            <a:r>
              <a:rPr lang="en-US" altLang="zh-CN"/>
              <a:t>4</a:t>
            </a:r>
            <a:r>
              <a:rPr lang="zh-CN" altLang="en-US"/>
              <a:t>。因此，现代的高速路由器都采用了的高速交换结构和分布式的分组转发：</a:t>
            </a:r>
          </a:p>
          <a:p>
            <a:pPr eaLnBrk="1" hangingPunct="1"/>
            <a:r>
              <a:rPr lang="zh-CN" altLang="en-US"/>
              <a:t>	</a:t>
            </a:r>
            <a:r>
              <a:rPr lang="en-US" altLang="zh-CN"/>
              <a:t>a. </a:t>
            </a:r>
            <a:r>
              <a:rPr lang="zh-CN" altLang="en-US"/>
              <a:t>路由器内部采用高速交换机构，实现各适配器之间内部信息的无阻塞交换</a:t>
            </a:r>
          </a:p>
          <a:p>
            <a:pPr eaLnBrk="1" hangingPunct="1"/>
            <a:r>
              <a:rPr lang="zh-CN" altLang="en-US"/>
              <a:t>	</a:t>
            </a:r>
            <a:r>
              <a:rPr lang="en-US" altLang="zh-CN"/>
              <a:t>b. </a:t>
            </a:r>
            <a:r>
              <a:rPr lang="zh-CN" altLang="en-US"/>
              <a:t>每个网络适配器具有分组转发选路功能，各适配器都保存有转发路由表（或路由表的一部分）</a:t>
            </a:r>
          </a:p>
          <a:p>
            <a:pPr eaLnBrk="1" hangingPunct="1"/>
            <a:r>
              <a:rPr lang="zh-CN" altLang="en-US"/>
              <a:t>	</a:t>
            </a:r>
            <a:r>
              <a:rPr lang="en-US" altLang="zh-CN"/>
              <a:t>c.</a:t>
            </a:r>
            <a:r>
              <a:rPr lang="zh-CN" altLang="en-US"/>
              <a:t>分组转发不需要中央处理器的干预，中央处理器只需要利用路由协议来维护路由表。</a:t>
            </a:r>
          </a:p>
          <a:p>
            <a:pPr eaLnBrk="1" hangingPunct="1"/>
            <a:r>
              <a:rPr lang="zh-CN" altLang="en-US"/>
              <a:t>	</a:t>
            </a:r>
            <a:r>
              <a:rPr lang="en-US" altLang="zh-CN"/>
              <a:t>d. </a:t>
            </a:r>
            <a:r>
              <a:rPr lang="zh-CN" altLang="en-US"/>
              <a:t>这种结构大大提高了分组的转发效率。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13B614-5658-4A4D-88B4-3E6596654427}" type="slidenum">
              <a:rPr lang="en-US" altLang="zh-CN" smtClean="0"/>
              <a:pPr>
                <a:defRPr/>
              </a:pPr>
              <a:t>‹#›</a:t>
            </a:fld>
            <a:endParaRPr lang="en-US" altLang="zh-CN"/>
          </a:p>
        </p:txBody>
      </p:sp>
    </p:spTree>
    <p:extLst>
      <p:ext uri="{BB962C8B-B14F-4D97-AF65-F5344CB8AC3E}">
        <p14:creationId xmlns:p14="http://schemas.microsoft.com/office/powerpoint/2010/main" val="230997373"/>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86228376"/>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9/25/2020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11501450"/>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52431897"/>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9/25/2020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1686311"/>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9/25/2020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74912159"/>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9/25/2020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56857826"/>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9/25/2020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74737792"/>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9/25/2020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11508551"/>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95602435"/>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8169860"/>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图表占位符 2"/>
          <p:cNvSpPr>
            <a:spLocks noGrp="1"/>
          </p:cNvSpPr>
          <p:nvPr>
            <p:ph type="chart" idx="1"/>
          </p:nvPr>
        </p:nvSpPr>
        <p:spPr>
          <a:xfrm>
            <a:off x="609600" y="1600201"/>
            <a:ext cx="109728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2887281542"/>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1651347194"/>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9/25/2020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AutoShape 22">
            <a:hlinkClick r:id="" action="ppaction://hlinkshowjump?jump=nextslide" highlightClick="1"/>
            <a:extLst>
              <a:ext uri="{FF2B5EF4-FFF2-40B4-BE49-F238E27FC236}">
                <a16:creationId xmlns:a16="http://schemas.microsoft.com/office/drawing/2014/main" id="{76631A86-B717-4288-B38E-F6261FA7BC30}"/>
              </a:ext>
            </a:extLst>
          </p:cNvPr>
          <p:cNvSpPr>
            <a:spLocks noChangeArrowheads="1"/>
          </p:cNvSpPr>
          <p:nvPr userDrawn="1"/>
        </p:nvSpPr>
        <p:spPr bwMode="auto">
          <a:xfrm>
            <a:off x="11887200" y="1"/>
            <a:ext cx="304800" cy="339725"/>
          </a:xfrm>
          <a:prstGeom prst="actionButtonForwardNext">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8" name="AutoShape 23">
            <a:hlinkClick r:id="" action="ppaction://hlinkshowjump?jump=previousslide" highlightClick="1"/>
            <a:extLst>
              <a:ext uri="{FF2B5EF4-FFF2-40B4-BE49-F238E27FC236}">
                <a16:creationId xmlns:a16="http://schemas.microsoft.com/office/drawing/2014/main" id="{B42679D3-D5F6-427C-87FE-2BBCED37F7FE}"/>
              </a:ext>
            </a:extLst>
          </p:cNvPr>
          <p:cNvSpPr>
            <a:spLocks noChangeArrowheads="1"/>
          </p:cNvSpPr>
          <p:nvPr userDrawn="1"/>
        </p:nvSpPr>
        <p:spPr bwMode="auto">
          <a:xfrm>
            <a:off x="11582400" y="1"/>
            <a:ext cx="304800" cy="339725"/>
          </a:xfrm>
          <a:prstGeom prst="actionButtonBackPrevious">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9" name="AutoShape 24">
            <a:hlinkClick r:id="" action="ppaction://hlinkshowjump?jump=firstslide" highlightClick="1"/>
            <a:extLst>
              <a:ext uri="{FF2B5EF4-FFF2-40B4-BE49-F238E27FC236}">
                <a16:creationId xmlns:a16="http://schemas.microsoft.com/office/drawing/2014/main" id="{CC696745-01D4-431C-9C4C-F953E3B05726}"/>
              </a:ext>
            </a:extLst>
          </p:cNvPr>
          <p:cNvSpPr>
            <a:spLocks noChangeArrowheads="1"/>
          </p:cNvSpPr>
          <p:nvPr userDrawn="1"/>
        </p:nvSpPr>
        <p:spPr bwMode="auto">
          <a:xfrm>
            <a:off x="11277600" y="1"/>
            <a:ext cx="304800" cy="339725"/>
          </a:xfrm>
          <a:prstGeom prst="actionButtonHome">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10" name="Rectangle 25">
            <a:extLst>
              <a:ext uri="{FF2B5EF4-FFF2-40B4-BE49-F238E27FC236}">
                <a16:creationId xmlns:a16="http://schemas.microsoft.com/office/drawing/2014/main" id="{2F9B68F0-C399-4466-B0B7-17F646E8BE4D}"/>
              </a:ext>
            </a:extLst>
          </p:cNvPr>
          <p:cNvSpPr>
            <a:spLocks noChangeArrowheads="1"/>
          </p:cNvSpPr>
          <p:nvPr userDrawn="1"/>
        </p:nvSpPr>
        <p:spPr bwMode="auto">
          <a:xfrm>
            <a:off x="0" y="1081089"/>
            <a:ext cx="12192000" cy="85725"/>
          </a:xfrm>
          <a:prstGeom prst="rect">
            <a:avLst/>
          </a:prstGeom>
          <a:gradFill rotWithShape="0">
            <a:gsLst>
              <a:gs pos="0">
                <a:srgbClr val="0000FF"/>
              </a:gs>
              <a:gs pos="100000">
                <a:srgbClr val="66FF33"/>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pic>
        <p:nvPicPr>
          <p:cNvPr id="11" name="Picture 26" descr="RED">
            <a:extLst>
              <a:ext uri="{FF2B5EF4-FFF2-40B4-BE49-F238E27FC236}">
                <a16:creationId xmlns:a16="http://schemas.microsoft.com/office/drawing/2014/main" id="{BD374545-6564-4FD2-AE35-5B83B0199FFA}"/>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 y="0"/>
            <a:ext cx="214841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10367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Lst>
  <p:transition spd="med">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oleObject" Target="../embeddings/oleObject13.bin"/><Relationship Id="rId18" Type="http://schemas.openxmlformats.org/officeDocument/2006/relationships/oleObject" Target="../embeddings/oleObject16.bin"/><Relationship Id="rId3" Type="http://schemas.openxmlformats.org/officeDocument/2006/relationships/oleObject" Target="../embeddings/oleObject5.bin"/><Relationship Id="rId21" Type="http://schemas.openxmlformats.org/officeDocument/2006/relationships/oleObject" Target="../embeddings/oleObject18.bin"/><Relationship Id="rId7" Type="http://schemas.openxmlformats.org/officeDocument/2006/relationships/oleObject" Target="../embeddings/oleObject7.bin"/><Relationship Id="rId12" Type="http://schemas.openxmlformats.org/officeDocument/2006/relationships/oleObject" Target="../embeddings/oleObject12.bin"/><Relationship Id="rId17" Type="http://schemas.openxmlformats.org/officeDocument/2006/relationships/image" Target="../media/image8.wmf"/><Relationship Id="rId2" Type="http://schemas.openxmlformats.org/officeDocument/2006/relationships/slideLayout" Target="../slideLayouts/slideLayout2.xml"/><Relationship Id="rId16" Type="http://schemas.openxmlformats.org/officeDocument/2006/relationships/oleObject" Target="../embeddings/oleObject15.bin"/><Relationship Id="rId20" Type="http://schemas.openxmlformats.org/officeDocument/2006/relationships/oleObject" Target="../embeddings/oleObject17.bin"/><Relationship Id="rId1" Type="http://schemas.openxmlformats.org/officeDocument/2006/relationships/vmlDrawing" Target="../drawings/vmlDrawing2.vml"/><Relationship Id="rId6" Type="http://schemas.openxmlformats.org/officeDocument/2006/relationships/image" Target="../media/image6.wmf"/><Relationship Id="rId11" Type="http://schemas.openxmlformats.org/officeDocument/2006/relationships/oleObject" Target="../embeddings/oleObject11.bin"/><Relationship Id="rId5" Type="http://schemas.openxmlformats.org/officeDocument/2006/relationships/oleObject" Target="../embeddings/oleObject6.bin"/><Relationship Id="rId15" Type="http://schemas.openxmlformats.org/officeDocument/2006/relationships/oleObject" Target="../embeddings/oleObject14.bin"/><Relationship Id="rId10" Type="http://schemas.openxmlformats.org/officeDocument/2006/relationships/oleObject" Target="../embeddings/oleObject10.bin"/><Relationship Id="rId19" Type="http://schemas.openxmlformats.org/officeDocument/2006/relationships/image" Target="../media/image9.wmf"/><Relationship Id="rId4" Type="http://schemas.openxmlformats.org/officeDocument/2006/relationships/image" Target="../media/image5.wmf"/><Relationship Id="rId9" Type="http://schemas.openxmlformats.org/officeDocument/2006/relationships/oleObject" Target="../embeddings/oleObject9.bin"/><Relationship Id="rId14" Type="http://schemas.openxmlformats.org/officeDocument/2006/relationships/image" Target="../media/image7.wmf"/><Relationship Id="rId22"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oleObject" Target="../embeddings/oleObject21.bin"/><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wmf"/></Relationships>
</file>

<file path=ppt/slides/_rels/slide15.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slide" Target="slide25.xml"/><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oleObject" Target="../embeddings/oleObject24.bin"/><Relationship Id="rId4" Type="http://schemas.openxmlformats.org/officeDocument/2006/relationships/image" Target="../media/image5.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http://www.lhtelecom.com.cn/dxjs/jiao/images/051002.jpg" TargetMode="External"/><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9.wmf"/><Relationship Id="rId4" Type="http://schemas.openxmlformats.org/officeDocument/2006/relationships/oleObject" Target="../embeddings/oleObject26.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2.w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http://www.zhuoda.org/xiaojf/jichu/img/30.gif" TargetMode="External"/><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http://www.zhuoda.org/xiaojf/jichu/img/31.gif" TargetMode="External"/><Relationship Id="rId4" Type="http://schemas.openxmlformats.org/officeDocument/2006/relationships/image" Target="../media/image36.png"/></Relationships>
</file>

<file path=ppt/slides/_rels/slide10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44.png"/><Relationship Id="rId7" Type="http://schemas.openxmlformats.org/officeDocument/2006/relationships/image" Target="../media/image46.emf"/><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45.emf"/><Relationship Id="rId4" Type="http://schemas.openxmlformats.org/officeDocument/2006/relationships/customXml" Target="../ink/ink2.xml"/><Relationship Id="rId9" Type="http://schemas.openxmlformats.org/officeDocument/2006/relationships/image" Target="../media/image47.em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image" Target="../media/image55.emf"/><Relationship Id="rId18" Type="http://schemas.openxmlformats.org/officeDocument/2006/relationships/customXml" Target="../ink/ink9.xml"/><Relationship Id="rId3" Type="http://schemas.openxmlformats.org/officeDocument/2006/relationships/image" Target="../media/image49.wmf"/><Relationship Id="rId7" Type="http://schemas.openxmlformats.org/officeDocument/2006/relationships/oleObject" Target="../embeddings/oleObject28.bin"/><Relationship Id="rId12" Type="http://schemas.openxmlformats.org/officeDocument/2006/relationships/customXml" Target="../ink/ink6.xml"/><Relationship Id="rId17" Type="http://schemas.openxmlformats.org/officeDocument/2006/relationships/image" Target="../media/image57.emf"/><Relationship Id="rId2" Type="http://schemas.openxmlformats.org/officeDocument/2006/relationships/slideLayout" Target="../slideLayouts/slideLayout2.xml"/><Relationship Id="rId16" Type="http://schemas.openxmlformats.org/officeDocument/2006/relationships/customXml" Target="../ink/ink8.xml"/><Relationship Id="rId1" Type="http://schemas.openxmlformats.org/officeDocument/2006/relationships/vmlDrawing" Target="../drawings/vmlDrawing9.vml"/><Relationship Id="rId6" Type="http://schemas.openxmlformats.org/officeDocument/2006/relationships/image" Target="../media/image52.wmf"/><Relationship Id="rId11" Type="http://schemas.openxmlformats.org/officeDocument/2006/relationships/image" Target="../media/image54.emf"/><Relationship Id="rId5" Type="http://schemas.openxmlformats.org/officeDocument/2006/relationships/image" Target="../media/image51.wmf"/><Relationship Id="rId15" Type="http://schemas.openxmlformats.org/officeDocument/2006/relationships/image" Target="../media/image56.emf"/><Relationship Id="rId10" Type="http://schemas.openxmlformats.org/officeDocument/2006/relationships/customXml" Target="../ink/ink5.xml"/><Relationship Id="rId19" Type="http://schemas.openxmlformats.org/officeDocument/2006/relationships/image" Target="../media/image58.emf"/><Relationship Id="rId4" Type="http://schemas.openxmlformats.org/officeDocument/2006/relationships/image" Target="../media/image50.wmf"/><Relationship Id="rId9" Type="http://schemas.openxmlformats.org/officeDocument/2006/relationships/image" Target="../media/image53.png"/><Relationship Id="rId14" Type="http://schemas.openxmlformats.org/officeDocument/2006/relationships/customXml" Target="../ink/ink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b="0">
                <a:solidFill>
                  <a:schemeClr val="tx1"/>
                </a:solidFill>
              </a:rPr>
              <a:t>    </a:t>
            </a:r>
            <a:endParaRPr kumimoji="1" lang="en-US" altLang="zh-CN" b="0">
              <a:solidFill>
                <a:schemeClr val="tx1"/>
              </a:solidFill>
            </a:endParaRPr>
          </a:p>
        </p:txBody>
      </p:sp>
      <p:sp>
        <p:nvSpPr>
          <p:cNvPr id="5123" name="Text Box 3"/>
          <p:cNvSpPr txBox="1">
            <a:spLocks noChangeArrowheads="1"/>
          </p:cNvSpPr>
          <p:nvPr/>
        </p:nvSpPr>
        <p:spPr bwMode="auto">
          <a:xfrm>
            <a:off x="3765551" y="1962151"/>
            <a:ext cx="51911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6000">
                <a:solidFill>
                  <a:schemeClr val="folHlink"/>
                </a:solidFill>
                <a:latin typeface="新宋体" panose="02010609030101010101" pitchFamily="49" charset="-122"/>
                <a:ea typeface="新宋体" panose="02010609030101010101" pitchFamily="49" charset="-122"/>
              </a:rPr>
              <a:t>第</a:t>
            </a:r>
            <a:r>
              <a:rPr kumimoji="1" lang="en-US" altLang="zh-CN" sz="6000">
                <a:solidFill>
                  <a:schemeClr val="folHlink"/>
                </a:solidFill>
                <a:latin typeface="新宋体" panose="02010609030101010101" pitchFamily="49" charset="-122"/>
                <a:ea typeface="新宋体" panose="02010609030101010101" pitchFamily="49" charset="-122"/>
              </a:rPr>
              <a:t>5</a:t>
            </a:r>
            <a:r>
              <a:rPr kumimoji="1" lang="zh-CN" altLang="en-US" sz="6000">
                <a:solidFill>
                  <a:schemeClr val="folHlink"/>
                </a:solidFill>
                <a:latin typeface="新宋体" panose="02010609030101010101" pitchFamily="49" charset="-122"/>
                <a:ea typeface="新宋体" panose="02010609030101010101" pitchFamily="49" charset="-122"/>
              </a:rPr>
              <a:t>章 网络层</a:t>
            </a:r>
          </a:p>
        </p:txBody>
      </p:sp>
      <p:pic>
        <p:nvPicPr>
          <p:cNvPr id="5124"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0" y="268288"/>
            <a:ext cx="4494213" cy="9239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5" name="Text Box 8"/>
          <p:cNvSpPr txBox="1">
            <a:spLocks noChangeArrowheads="1"/>
          </p:cNvSpPr>
          <p:nvPr/>
        </p:nvSpPr>
        <p:spPr bwMode="auto">
          <a:xfrm>
            <a:off x="4268788" y="3797301"/>
            <a:ext cx="4443412"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a:solidFill>
                  <a:schemeClr val="tx1"/>
                </a:solidFill>
              </a:rPr>
              <a:t>陈剑波 </a:t>
            </a:r>
            <a:r>
              <a:rPr lang="en-US" altLang="zh-CN">
                <a:solidFill>
                  <a:schemeClr val="tx1"/>
                </a:solidFill>
              </a:rPr>
              <a:t>13709088388</a:t>
            </a:r>
          </a:p>
          <a:p>
            <a:pPr>
              <a:spcBef>
                <a:spcPct val="50000"/>
              </a:spcBef>
            </a:pPr>
            <a:r>
              <a:rPr lang="en-US" altLang="zh-CN">
                <a:solidFill>
                  <a:schemeClr val="tx1"/>
                </a:solidFill>
              </a:rPr>
              <a:t>jbchen@swjtu.edu.cn</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2709863" y="2520951"/>
            <a:ext cx="6648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b="0"/>
          </a:p>
        </p:txBody>
      </p:sp>
      <p:sp>
        <p:nvSpPr>
          <p:cNvPr id="6147" name="Text Box 5"/>
          <p:cNvSpPr txBox="1">
            <a:spLocks noChangeArrowheads="1"/>
          </p:cNvSpPr>
          <p:nvPr/>
        </p:nvSpPr>
        <p:spPr bwMode="auto">
          <a:xfrm>
            <a:off x="4298950" y="3352801"/>
            <a:ext cx="5035550" cy="2480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b="1">
                <a:solidFill>
                  <a:srgbClr val="CACACA"/>
                </a:solidFill>
                <a:latin typeface="Times New Roman" panose="02020603050405020304" pitchFamily="18" charset="0"/>
                <a:ea typeface="宋体" panose="02010600030101010101" pitchFamily="2" charset="-122"/>
              </a:defRPr>
            </a:lvl1pPr>
            <a:lvl2pPr marL="914400" indent="-457200">
              <a:defRPr sz="2800" b="1">
                <a:solidFill>
                  <a:srgbClr val="CACACA"/>
                </a:solidFill>
                <a:latin typeface="Times New Roman" panose="02020603050405020304" pitchFamily="18" charset="0"/>
                <a:ea typeface="宋体" panose="02010600030101010101" pitchFamily="2" charset="-122"/>
              </a:defRPr>
            </a:lvl2pPr>
            <a:lvl3pPr marL="1371600" indent="-457200">
              <a:defRPr sz="2800" b="1">
                <a:solidFill>
                  <a:srgbClr val="CACACA"/>
                </a:solidFill>
                <a:latin typeface="Times New Roman" panose="02020603050405020304" pitchFamily="18" charset="0"/>
                <a:ea typeface="宋体" panose="02010600030101010101" pitchFamily="2" charset="-122"/>
              </a:defRPr>
            </a:lvl3pPr>
            <a:lvl4pPr marL="1828800" indent="-457200">
              <a:defRPr sz="2800" b="1">
                <a:solidFill>
                  <a:srgbClr val="CACACA"/>
                </a:solidFill>
                <a:latin typeface="Times New Roman" panose="02020603050405020304" pitchFamily="18" charset="0"/>
                <a:ea typeface="宋体" panose="02010600030101010101" pitchFamily="2" charset="-122"/>
              </a:defRPr>
            </a:lvl4pPr>
            <a:lvl5pPr marL="2286000" indent="-457200">
              <a:defRPr sz="2800" b="1">
                <a:solidFill>
                  <a:srgbClr val="CACACA"/>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20000"/>
              </a:spcBef>
            </a:pPr>
            <a:r>
              <a:rPr lang="zh-CN" altLang="en-US" sz="4000" b="0">
                <a:solidFill>
                  <a:schemeClr val="tx2"/>
                </a:solidFill>
                <a:latin typeface="宋体" panose="02010600030101010101" pitchFamily="2" charset="-122"/>
              </a:rPr>
              <a:t>本节主要内容</a:t>
            </a:r>
          </a:p>
          <a:p>
            <a:pPr>
              <a:spcBef>
                <a:spcPct val="20000"/>
              </a:spcBef>
              <a:buFontTx/>
              <a:buChar char="•"/>
            </a:pPr>
            <a:r>
              <a:rPr lang="zh-CN" altLang="en-US" sz="3200" b="0">
                <a:solidFill>
                  <a:schemeClr val="tx1"/>
                </a:solidFill>
                <a:latin typeface="宋体" panose="02010600030101010101" pitchFamily="2" charset="-122"/>
              </a:rPr>
              <a:t>网络层概述</a:t>
            </a:r>
          </a:p>
          <a:p>
            <a:pPr>
              <a:spcBef>
                <a:spcPct val="20000"/>
              </a:spcBef>
              <a:buFontTx/>
              <a:buChar char="•"/>
            </a:pPr>
            <a:r>
              <a:rPr lang="zh-CN" altLang="en-US" sz="3200" b="0">
                <a:solidFill>
                  <a:schemeClr val="tx1"/>
                </a:solidFill>
                <a:latin typeface="宋体" panose="02010600030101010101" pitchFamily="2" charset="-122"/>
              </a:rPr>
              <a:t>网络层提供的服务</a:t>
            </a:r>
          </a:p>
          <a:p>
            <a:pPr>
              <a:spcBef>
                <a:spcPct val="20000"/>
              </a:spcBef>
              <a:buFontTx/>
              <a:buChar char="•"/>
            </a:pPr>
            <a:r>
              <a:rPr lang="en-US" altLang="zh-CN" sz="3200" b="0">
                <a:solidFill>
                  <a:schemeClr val="tx1"/>
                </a:solidFill>
                <a:latin typeface="宋体" panose="02010600030101010101" pitchFamily="2" charset="-122"/>
              </a:rPr>
              <a:t>Internet</a:t>
            </a:r>
            <a:r>
              <a:rPr lang="zh-CN" altLang="en-US" sz="3200" b="0">
                <a:solidFill>
                  <a:schemeClr val="tx1"/>
                </a:solidFill>
                <a:latin typeface="宋体" panose="02010600030101010101" pitchFamily="2" charset="-122"/>
              </a:rPr>
              <a:t>网络层</a:t>
            </a:r>
          </a:p>
        </p:txBody>
      </p:sp>
      <p:sp>
        <p:nvSpPr>
          <p:cNvPr id="6148" name="Rectangle 6"/>
          <p:cNvSpPr>
            <a:spLocks noGrp="1" noChangeArrowheads="1"/>
          </p:cNvSpPr>
          <p:nvPr>
            <p:ph type="title"/>
          </p:nvPr>
        </p:nvSpPr>
        <p:spPr bwMode="auto">
          <a:xfrm>
            <a:off x="2209800" y="4365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5.1 </a:t>
            </a:r>
            <a:r>
              <a:rPr lang="zh-CN" altLang="en-US" sz="3600">
                <a:solidFill>
                  <a:schemeClr val="hlink"/>
                </a:solidFill>
                <a:latin typeface="华文新魏" panose="02010800040101010101" pitchFamily="2" charset="-122"/>
                <a:ea typeface="华文新魏" panose="02010800040101010101" pitchFamily="2" charset="-122"/>
              </a:rPr>
              <a:t>网络层服务</a:t>
            </a:r>
          </a:p>
        </p:txBody>
      </p:sp>
      <p:grpSp>
        <p:nvGrpSpPr>
          <p:cNvPr id="6149" name="Group 50"/>
          <p:cNvGrpSpPr>
            <a:grpSpLocks/>
          </p:cNvGrpSpPr>
          <p:nvPr/>
        </p:nvGrpSpPr>
        <p:grpSpPr bwMode="auto">
          <a:xfrm>
            <a:off x="3662363" y="1581150"/>
            <a:ext cx="4400550" cy="1492250"/>
            <a:chOff x="1775" y="922"/>
            <a:chExt cx="2772" cy="940"/>
          </a:xfrm>
        </p:grpSpPr>
        <p:grpSp>
          <p:nvGrpSpPr>
            <p:cNvPr id="6150" name="Group 51"/>
            <p:cNvGrpSpPr>
              <a:grpSpLocks/>
            </p:cNvGrpSpPr>
            <p:nvPr/>
          </p:nvGrpSpPr>
          <p:grpSpPr bwMode="auto">
            <a:xfrm>
              <a:off x="1775" y="922"/>
              <a:ext cx="2666" cy="940"/>
              <a:chOff x="1200" y="194"/>
              <a:chExt cx="3121" cy="1439"/>
            </a:xfrm>
          </p:grpSpPr>
          <p:sp>
            <p:nvSpPr>
              <p:cNvPr id="6152" name="Freeform 52"/>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3" name="Freeform 53"/>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Freeform 54"/>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5" name="Freeform 55"/>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6" name="Freeform 56"/>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7" name="Freeform 57"/>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8" name="Freeform 58"/>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9" name="Freeform 59"/>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0" name="Freeform 60"/>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1" name="Freeform 61"/>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2" name="Freeform 62"/>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3" name="Freeform 63"/>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4" name="Freeform 64"/>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5" name="Freeform 65"/>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Freeform 66"/>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7" name="Freeform 67"/>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8" name="Freeform 68"/>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9" name="Freeform 69"/>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0" name="Freeform 70"/>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1" name="Freeform 71"/>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2" name="Freeform 72"/>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3" name="Freeform 73"/>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4" name="Freeform 74"/>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5" name="Freeform 75"/>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6" name="Freeform 76"/>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7" name="Freeform 77"/>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8" name="Freeform 78"/>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9" name="Freeform 79"/>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0" name="Freeform 80"/>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Freeform 81"/>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2" name="Freeform 82"/>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3" name="Freeform 83"/>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Freeform 84"/>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5" name="Freeform 85"/>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6" name="Freeform 86"/>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7" name="Freeform 87"/>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8" name="Freeform 88"/>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9" name="Freeform 89"/>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0" name="Freeform 90"/>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1" name="Freeform 91"/>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2" name="Freeform 92"/>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51" name="Text Box 93"/>
            <p:cNvSpPr txBox="1">
              <a:spLocks noChangeArrowheads="1"/>
            </p:cNvSpPr>
            <p:nvPr/>
          </p:nvSpPr>
          <p:spPr bwMode="auto">
            <a:xfrm>
              <a:off x="2895" y="1241"/>
              <a:ext cx="165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400" b="0">
                  <a:solidFill>
                    <a:srgbClr val="DC0081"/>
                  </a:solidFill>
                </a:rPr>
                <a:t>Overview</a:t>
              </a:r>
            </a:p>
          </p:txBody>
        </p:sp>
      </p:gr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39963" y="165100"/>
            <a:ext cx="7772400" cy="812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5.1.1 </a:t>
            </a:r>
            <a:r>
              <a:rPr lang="zh-CN" altLang="en-US" sz="3600">
                <a:solidFill>
                  <a:schemeClr val="hlink"/>
                </a:solidFill>
                <a:latin typeface="华文新魏" panose="02010800040101010101" pitchFamily="2" charset="-122"/>
                <a:ea typeface="华文新魏" panose="02010800040101010101" pitchFamily="2" charset="-122"/>
              </a:rPr>
              <a:t>网络层概述</a:t>
            </a:r>
          </a:p>
        </p:txBody>
      </p:sp>
      <p:sp>
        <p:nvSpPr>
          <p:cNvPr id="1633283" name="Text Box 3"/>
          <p:cNvSpPr txBox="1">
            <a:spLocks noChangeArrowheads="1"/>
          </p:cNvSpPr>
          <p:nvPr/>
        </p:nvSpPr>
        <p:spPr bwMode="auto">
          <a:xfrm>
            <a:off x="2986089" y="4484688"/>
            <a:ext cx="6713537" cy="133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defRPr sz="2800" b="1">
                <a:solidFill>
                  <a:srgbClr val="CACACA"/>
                </a:solidFill>
                <a:latin typeface="Times New Roman" panose="02020603050405020304" pitchFamily="18" charset="0"/>
                <a:ea typeface="宋体" panose="02010600030101010101" pitchFamily="2" charset="-122"/>
              </a:defRPr>
            </a:lvl1pPr>
            <a:lvl2pPr marL="757238" indent="-2730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b="0">
                <a:solidFill>
                  <a:schemeClr val="tx1"/>
                </a:solidFill>
                <a:latin typeface="华文新魏" panose="02010800040101010101" pitchFamily="2" charset="-122"/>
                <a:ea typeface="华文新魏" panose="02010800040101010101" pitchFamily="2" charset="-122"/>
              </a:rPr>
              <a:t>两个节点通过通信子网进行通信</a:t>
            </a:r>
            <a:r>
              <a:rPr lang="en-US" altLang="zh-CN" b="0">
                <a:solidFill>
                  <a:schemeClr val="tx1"/>
                </a:solidFill>
                <a:latin typeface="Arial" panose="020B0604020202020204" pitchFamily="34" charset="0"/>
                <a:ea typeface="华文新魏" panose="02010800040101010101" pitchFamily="2" charset="-122"/>
              </a:rPr>
              <a:t>…</a:t>
            </a:r>
            <a:endParaRPr lang="en-US" altLang="zh-CN" b="0">
              <a:solidFill>
                <a:schemeClr val="tx1"/>
              </a:solidFill>
              <a:latin typeface="华文新魏" panose="02010800040101010101" pitchFamily="2" charset="-122"/>
              <a:ea typeface="华文新魏" panose="02010800040101010101" pitchFamily="2" charset="-122"/>
            </a:endParaRPr>
          </a:p>
          <a:p>
            <a:pPr lvl="1" eaLnBrk="1" hangingPunct="1">
              <a:spcBef>
                <a:spcPct val="20000"/>
              </a:spcBef>
            </a:pPr>
            <a:r>
              <a:rPr lang="en-US" altLang="zh-CN" sz="2400" b="0">
                <a:solidFill>
                  <a:schemeClr val="tx1"/>
                </a:solidFill>
                <a:latin typeface="华文新魏" panose="02010800040101010101" pitchFamily="2" charset="-122"/>
                <a:ea typeface="华文新魏" panose="02010800040101010101" pitchFamily="2" charset="-122"/>
              </a:rPr>
              <a:t>--</a:t>
            </a:r>
            <a:r>
              <a:rPr lang="zh-CN" altLang="en-US" sz="2400" b="0">
                <a:solidFill>
                  <a:schemeClr val="tx1"/>
                </a:solidFill>
                <a:latin typeface="华文新魏" panose="02010800040101010101" pitchFamily="2" charset="-122"/>
                <a:ea typeface="华文新魏" panose="02010800040101010101" pitchFamily="2" charset="-122"/>
              </a:rPr>
              <a:t>分组是怎样在这个多路访问交换系统中传输的？</a:t>
            </a:r>
            <a:r>
              <a:rPr lang="en-US" altLang="zh-CN" sz="2400" b="0">
                <a:solidFill>
                  <a:schemeClr val="tx1"/>
                </a:solidFill>
                <a:latin typeface="华文新魏" panose="02010800040101010101" pitchFamily="2" charset="-122"/>
                <a:ea typeface="华文新魏" panose="02010800040101010101" pitchFamily="2" charset="-122"/>
              </a:rPr>
              <a:t>(</a:t>
            </a:r>
            <a:r>
              <a:rPr lang="zh-CN" altLang="en-US" sz="2400" b="0">
                <a:solidFill>
                  <a:schemeClr val="tx1"/>
                </a:solidFill>
                <a:latin typeface="华文新魏" panose="02010800040101010101" pitchFamily="2" charset="-122"/>
                <a:ea typeface="华文新魏" panose="02010800040101010101" pitchFamily="2" charset="-122"/>
              </a:rPr>
              <a:t>寻址、路由、转发、互连</a:t>
            </a:r>
            <a:r>
              <a:rPr lang="en-US" altLang="zh-CN" sz="2400" b="0">
                <a:solidFill>
                  <a:schemeClr val="tx1"/>
                </a:solidFill>
                <a:latin typeface="Arial" panose="020B0604020202020204" pitchFamily="34" charset="0"/>
                <a:ea typeface="华文新魏" panose="02010800040101010101" pitchFamily="2" charset="-122"/>
              </a:rPr>
              <a:t>…</a:t>
            </a:r>
            <a:r>
              <a:rPr lang="en-US" altLang="zh-CN" sz="2400" b="0">
                <a:solidFill>
                  <a:schemeClr val="tx1"/>
                </a:solidFill>
                <a:latin typeface="华文新魏" panose="02010800040101010101" pitchFamily="2" charset="-122"/>
                <a:ea typeface="华文新魏" panose="02010800040101010101" pitchFamily="2" charset="-122"/>
              </a:rPr>
              <a:t> )</a:t>
            </a:r>
          </a:p>
        </p:txBody>
      </p:sp>
      <p:grpSp>
        <p:nvGrpSpPr>
          <p:cNvPr id="7172" name="Group 17"/>
          <p:cNvGrpSpPr>
            <a:grpSpLocks/>
          </p:cNvGrpSpPr>
          <p:nvPr/>
        </p:nvGrpSpPr>
        <p:grpSpPr bwMode="auto">
          <a:xfrm>
            <a:off x="3246438" y="1651001"/>
            <a:ext cx="5562600" cy="2543175"/>
            <a:chOff x="1516" y="850"/>
            <a:chExt cx="3504" cy="1835"/>
          </a:xfrm>
        </p:grpSpPr>
        <p:sp>
          <p:nvSpPr>
            <p:cNvPr id="7174" name="Rectangle 4"/>
            <p:cNvSpPr>
              <a:spLocks noChangeArrowheads="1"/>
            </p:cNvSpPr>
            <p:nvPr/>
          </p:nvSpPr>
          <p:spPr bwMode="auto">
            <a:xfrm>
              <a:off x="1516" y="850"/>
              <a:ext cx="432" cy="331"/>
            </a:xfrm>
            <a:prstGeom prst="rect">
              <a:avLst/>
            </a:prstGeom>
            <a:noFill/>
            <a:ln w="25400">
              <a:solidFill>
                <a:srgbClr val="CACAC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5" name="Rectangle 5"/>
            <p:cNvSpPr>
              <a:spLocks noChangeArrowheads="1"/>
            </p:cNvSpPr>
            <p:nvPr/>
          </p:nvSpPr>
          <p:spPr bwMode="auto">
            <a:xfrm>
              <a:off x="4588" y="850"/>
              <a:ext cx="432" cy="331"/>
            </a:xfrm>
            <a:prstGeom prst="rect">
              <a:avLst/>
            </a:prstGeom>
            <a:noFill/>
            <a:ln w="25400">
              <a:solidFill>
                <a:srgbClr val="CACAC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6" name="Line 6"/>
            <p:cNvSpPr>
              <a:spLocks noChangeShapeType="1"/>
            </p:cNvSpPr>
            <p:nvPr/>
          </p:nvSpPr>
          <p:spPr bwMode="auto">
            <a:xfrm>
              <a:off x="1948" y="1075"/>
              <a:ext cx="480" cy="5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Text Box 7"/>
            <p:cNvSpPr txBox="1">
              <a:spLocks noChangeArrowheads="1"/>
            </p:cNvSpPr>
            <p:nvPr/>
          </p:nvSpPr>
          <p:spPr bwMode="auto">
            <a:xfrm>
              <a:off x="1612" y="884"/>
              <a:ext cx="2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400" b="0">
                  <a:solidFill>
                    <a:schemeClr val="hlink"/>
                  </a:solidFill>
                </a:rPr>
                <a:t>A</a:t>
              </a:r>
            </a:p>
          </p:txBody>
        </p:sp>
        <p:sp>
          <p:nvSpPr>
            <p:cNvPr id="7178" name="Text Box 8"/>
            <p:cNvSpPr txBox="1">
              <a:spLocks noChangeArrowheads="1"/>
            </p:cNvSpPr>
            <p:nvPr/>
          </p:nvSpPr>
          <p:spPr bwMode="auto">
            <a:xfrm>
              <a:off x="4684" y="884"/>
              <a:ext cx="24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400" b="0">
                  <a:solidFill>
                    <a:schemeClr val="hlink"/>
                  </a:solidFill>
                </a:rPr>
                <a:t>B</a:t>
              </a:r>
            </a:p>
          </p:txBody>
        </p:sp>
        <p:sp>
          <p:nvSpPr>
            <p:cNvPr id="7179" name="Line 9"/>
            <p:cNvSpPr>
              <a:spLocks noChangeShapeType="1"/>
            </p:cNvSpPr>
            <p:nvPr/>
          </p:nvSpPr>
          <p:spPr bwMode="auto">
            <a:xfrm flipV="1">
              <a:off x="4348" y="1062"/>
              <a:ext cx="240" cy="45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80" name="Object 10"/>
            <p:cNvGraphicFramePr>
              <a:graphicFrameLocks noChangeAspect="1"/>
            </p:cNvGraphicFramePr>
            <p:nvPr/>
          </p:nvGraphicFramePr>
          <p:xfrm>
            <a:off x="2284" y="1302"/>
            <a:ext cx="2544" cy="1383"/>
          </p:xfrm>
          <a:graphic>
            <a:graphicData uri="http://schemas.openxmlformats.org/presentationml/2006/ole">
              <mc:AlternateContent xmlns:mc="http://schemas.openxmlformats.org/markup-compatibility/2006">
                <mc:Choice xmlns:v="urn:schemas-microsoft-com:vml" Requires="v">
                  <p:oleObj spid="_x0000_s7255" name="VISIO" r:id="rId3" imgW="3999240" imgH="3008520" progId="Visio.Drawing.5">
                    <p:embed/>
                  </p:oleObj>
                </mc:Choice>
                <mc:Fallback>
                  <p:oleObj name="VISIO" r:id="rId3" imgW="3999240" imgH="3008520" progId="Visio.Drawing.5">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4" y="1302"/>
                          <a:ext cx="2544" cy="1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1" name="Object 11"/>
            <p:cNvGraphicFramePr>
              <a:graphicFrameLocks noChangeAspect="1"/>
            </p:cNvGraphicFramePr>
            <p:nvPr/>
          </p:nvGraphicFramePr>
          <p:xfrm>
            <a:off x="2380" y="1448"/>
            <a:ext cx="720" cy="466"/>
          </p:xfrm>
          <a:graphic>
            <a:graphicData uri="http://schemas.openxmlformats.org/presentationml/2006/ole">
              <mc:AlternateContent xmlns:mc="http://schemas.openxmlformats.org/markup-compatibility/2006">
                <mc:Choice xmlns:v="urn:schemas-microsoft-com:vml" Requires="v">
                  <p:oleObj spid="_x0000_s7256" name="VISIO" r:id="rId5" imgW="3999240" imgH="3008520" progId="Visio.Drawing.5">
                    <p:embed/>
                  </p:oleObj>
                </mc:Choice>
                <mc:Fallback>
                  <p:oleObj name="VISIO" r:id="rId5" imgW="3999240" imgH="3008520" progId="Visio.Drawing.5">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0" y="1448"/>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2" name="Object 12"/>
            <p:cNvGraphicFramePr>
              <a:graphicFrameLocks noChangeAspect="1"/>
            </p:cNvGraphicFramePr>
            <p:nvPr/>
          </p:nvGraphicFramePr>
          <p:xfrm>
            <a:off x="3820" y="1544"/>
            <a:ext cx="720" cy="466"/>
          </p:xfrm>
          <a:graphic>
            <a:graphicData uri="http://schemas.openxmlformats.org/presentationml/2006/ole">
              <mc:AlternateContent xmlns:mc="http://schemas.openxmlformats.org/markup-compatibility/2006">
                <mc:Choice xmlns:v="urn:schemas-microsoft-com:vml" Requires="v">
                  <p:oleObj spid="_x0000_s7257" name="VISIO" r:id="rId7" imgW="3999240" imgH="3008520" progId="Visio.Drawing.5">
                    <p:embed/>
                  </p:oleObj>
                </mc:Choice>
                <mc:Fallback>
                  <p:oleObj name="VISIO" r:id="rId7" imgW="3999240" imgH="3008520" progId="Visio.Drawing.5">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0" y="1544"/>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3" name="Line 13"/>
            <p:cNvSpPr>
              <a:spLocks noChangeShapeType="1"/>
            </p:cNvSpPr>
            <p:nvPr/>
          </p:nvSpPr>
          <p:spPr bwMode="auto">
            <a:xfrm>
              <a:off x="3100" y="1613"/>
              <a:ext cx="768"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84" name="Object 14"/>
            <p:cNvGraphicFramePr>
              <a:graphicFrameLocks noChangeAspect="1"/>
            </p:cNvGraphicFramePr>
            <p:nvPr/>
          </p:nvGraphicFramePr>
          <p:xfrm>
            <a:off x="3148" y="2168"/>
            <a:ext cx="720" cy="466"/>
          </p:xfrm>
          <a:graphic>
            <a:graphicData uri="http://schemas.openxmlformats.org/presentationml/2006/ole">
              <mc:AlternateContent xmlns:mc="http://schemas.openxmlformats.org/markup-compatibility/2006">
                <mc:Choice xmlns:v="urn:schemas-microsoft-com:vml" Requires="v">
                  <p:oleObj spid="_x0000_s7258" name="VISIO" r:id="rId8" imgW="3999240" imgH="3008520" progId="Visio.Drawing.5">
                    <p:embed/>
                  </p:oleObj>
                </mc:Choice>
                <mc:Fallback>
                  <p:oleObj name="VISIO" r:id="rId8" imgW="3999240" imgH="3008520" progId="Visio.Drawing.5">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8" y="2168"/>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5" name="Line 15"/>
            <p:cNvSpPr>
              <a:spLocks noChangeShapeType="1"/>
            </p:cNvSpPr>
            <p:nvPr/>
          </p:nvSpPr>
          <p:spPr bwMode="auto">
            <a:xfrm>
              <a:off x="2860" y="1948"/>
              <a:ext cx="336"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Line 16"/>
            <p:cNvSpPr>
              <a:spLocks noChangeShapeType="1"/>
            </p:cNvSpPr>
            <p:nvPr/>
          </p:nvSpPr>
          <p:spPr bwMode="auto">
            <a:xfrm flipV="1">
              <a:off x="3820" y="2067"/>
              <a:ext cx="240" cy="1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73" name="Text Box 18"/>
          <p:cNvSpPr txBox="1">
            <a:spLocks noChangeArrowheads="1"/>
          </p:cNvSpPr>
          <p:nvPr/>
        </p:nvSpPr>
        <p:spPr bwMode="auto">
          <a:xfrm>
            <a:off x="4802188" y="1449388"/>
            <a:ext cx="267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3600" b="0">
                <a:solidFill>
                  <a:schemeClr val="hlink"/>
                </a:solidFill>
                <a:latin typeface="华文新魏" panose="02010800040101010101" pitchFamily="2" charset="-122"/>
                <a:ea typeface="华文新魏" panose="02010800040101010101" pitchFamily="2" charset="-122"/>
              </a:rPr>
              <a:t>网络互连</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33283">
                                            <p:txEl>
                                              <p:pRg st="0" end="0"/>
                                            </p:txEl>
                                          </p:spTgt>
                                        </p:tgtEl>
                                        <p:attrNameLst>
                                          <p:attrName>style.visibility</p:attrName>
                                        </p:attrNameLst>
                                      </p:cBhvr>
                                      <p:to>
                                        <p:strVal val="visible"/>
                                      </p:to>
                                    </p:set>
                                    <p:anim calcmode="lin" valueType="num">
                                      <p:cBhvr additive="base">
                                        <p:cTn id="7" dur="500" fill="hold"/>
                                        <p:tgtEl>
                                          <p:spTgt spid="16332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3328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33283">
                                            <p:txEl>
                                              <p:pRg st="1" end="1"/>
                                            </p:txEl>
                                          </p:spTgt>
                                        </p:tgtEl>
                                        <p:attrNameLst>
                                          <p:attrName>style.visibility</p:attrName>
                                        </p:attrNameLst>
                                      </p:cBhvr>
                                      <p:to>
                                        <p:strVal val="visible"/>
                                      </p:to>
                                    </p:set>
                                    <p:anim calcmode="lin" valueType="num">
                                      <p:cBhvr additive="base">
                                        <p:cTn id="11" dur="500" fill="hold"/>
                                        <p:tgtEl>
                                          <p:spTgt spid="163328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3328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328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4307" name="Freeform 3"/>
          <p:cNvSpPr>
            <a:spLocks/>
          </p:cNvSpPr>
          <p:nvPr/>
        </p:nvSpPr>
        <p:spPr bwMode="auto">
          <a:xfrm>
            <a:off x="6597650" y="2176463"/>
            <a:ext cx="3678238" cy="2222500"/>
          </a:xfrm>
          <a:custGeom>
            <a:avLst/>
            <a:gdLst>
              <a:gd name="T0" fmla="*/ 1937101908 w 1292"/>
              <a:gd name="T1" fmla="*/ 21952279 h 1255"/>
              <a:gd name="T2" fmla="*/ 283676988 w 1292"/>
              <a:gd name="T3" fmla="*/ 492374952 h 1255"/>
              <a:gd name="T4" fmla="*/ 235045671 w 1292"/>
              <a:gd name="T5" fmla="*/ 1640203229 h 1255"/>
              <a:gd name="T6" fmla="*/ 429565245 w 1292"/>
              <a:gd name="T7" fmla="*/ 2147483646 h 1255"/>
              <a:gd name="T8" fmla="*/ 1985733225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1395584785 h 1255"/>
              <a:gd name="T18" fmla="*/ 2147483646 w 1292"/>
              <a:gd name="T19" fmla="*/ 661725910 h 1255"/>
              <a:gd name="T20" fmla="*/ 2147483646 w 1292"/>
              <a:gd name="T21" fmla="*/ 360655966 h 1255"/>
              <a:gd name="T22" fmla="*/ 1937101908 w 1292"/>
              <a:gd name="T23" fmla="*/ 21952279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4308" name="Freeform 4"/>
          <p:cNvSpPr>
            <a:spLocks/>
          </p:cNvSpPr>
          <p:nvPr/>
        </p:nvSpPr>
        <p:spPr bwMode="auto">
          <a:xfrm>
            <a:off x="2754314" y="1987550"/>
            <a:ext cx="3817937" cy="2108200"/>
          </a:xfrm>
          <a:custGeom>
            <a:avLst/>
            <a:gdLst>
              <a:gd name="T0" fmla="*/ 2147483646 w 1340"/>
              <a:gd name="T1" fmla="*/ 131598765 h 1191"/>
              <a:gd name="T2" fmla="*/ 665674411 w 1340"/>
              <a:gd name="T3" fmla="*/ 187997983 h 1191"/>
              <a:gd name="T4" fmla="*/ 470842807 w 1340"/>
              <a:gd name="T5" fmla="*/ 1259581351 h 1191"/>
              <a:gd name="T6" fmla="*/ 227304013 w 1340"/>
              <a:gd name="T7" fmla="*/ 2147483646 h 1191"/>
              <a:gd name="T8" fmla="*/ 909213204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1785972870 h 1191"/>
              <a:gd name="T18" fmla="*/ 2147483646 w 1340"/>
              <a:gd name="T19" fmla="*/ 1071583368 h 1191"/>
              <a:gd name="T20" fmla="*/ 2147483646 w 1340"/>
              <a:gd name="T21" fmla="*/ 902385715 h 1191"/>
              <a:gd name="T22" fmla="*/ 2147483646 w 1340"/>
              <a:gd name="T23" fmla="*/ 131598765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4309" name="Freeform 5"/>
          <p:cNvSpPr>
            <a:spLocks/>
          </p:cNvSpPr>
          <p:nvPr/>
        </p:nvSpPr>
        <p:spPr bwMode="auto">
          <a:xfrm>
            <a:off x="3508375" y="3913188"/>
            <a:ext cx="6083300" cy="2944812"/>
          </a:xfrm>
          <a:custGeom>
            <a:avLst/>
            <a:gdLst>
              <a:gd name="T0" fmla="*/ 219203951 w 2135"/>
              <a:gd name="T1" fmla="*/ 2046918976 h 1662"/>
              <a:gd name="T2" fmla="*/ 852456961 w 2135"/>
              <a:gd name="T3" fmla="*/ 238597102 h 1662"/>
              <a:gd name="T4" fmla="*/ 2147483646 w 2135"/>
              <a:gd name="T5" fmla="*/ 615331048 h 1662"/>
              <a:gd name="T6" fmla="*/ 2147483646 w 2135"/>
              <a:gd name="T7" fmla="*/ 313944954 h 1662"/>
              <a:gd name="T8" fmla="*/ 2147483646 w 2135"/>
              <a:gd name="T9" fmla="*/ 127461456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1485709970 w 2135"/>
              <a:gd name="T19" fmla="*/ 2147483646 h 1662"/>
              <a:gd name="T20" fmla="*/ 219203951 w 2135"/>
              <a:gd name="T21" fmla="*/ 204691897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197" name="Group 6"/>
          <p:cNvGrpSpPr>
            <a:grpSpLocks/>
          </p:cNvGrpSpPr>
          <p:nvPr/>
        </p:nvGrpSpPr>
        <p:grpSpPr bwMode="auto">
          <a:xfrm>
            <a:off x="2994025" y="2165351"/>
            <a:ext cx="1500188" cy="423863"/>
            <a:chOff x="3552" y="246"/>
            <a:chExt cx="527" cy="248"/>
          </a:xfrm>
        </p:grpSpPr>
        <p:graphicFrame>
          <p:nvGraphicFramePr>
            <p:cNvPr id="8608" name="Object 7"/>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8866" name="Clip" r:id="rId3" imgW="1307263" imgH="1084139" progId="MS_ClipArt_Gallery.2">
                    <p:embed/>
                  </p:oleObj>
                </mc:Choice>
                <mc:Fallback>
                  <p:oleObj name="Clip" r:id="rId3" imgW="1307263" imgH="1084139"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9" name="Object 8"/>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8867" name="Clip" r:id="rId5" imgW="681706" imgH="480401" progId="MS_ClipArt_Gallery.2">
                    <p:embed/>
                  </p:oleObj>
                </mc:Choice>
                <mc:Fallback>
                  <p:oleObj name="Clip" r:id="rId5" imgW="681706" imgH="480401" progId="MS_ClipArt_Gallery.2">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10" name="Line 9"/>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98" name="Group 10"/>
          <p:cNvGrpSpPr>
            <a:grpSpLocks/>
          </p:cNvGrpSpPr>
          <p:nvPr/>
        </p:nvGrpSpPr>
        <p:grpSpPr bwMode="auto">
          <a:xfrm>
            <a:off x="2994025" y="2955926"/>
            <a:ext cx="1500188" cy="423863"/>
            <a:chOff x="3552" y="246"/>
            <a:chExt cx="527" cy="248"/>
          </a:xfrm>
        </p:grpSpPr>
        <p:graphicFrame>
          <p:nvGraphicFramePr>
            <p:cNvPr id="8605" name="Object 11"/>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8868" name="Clip" r:id="rId7" imgW="1307263" imgH="1084139" progId="MS_ClipArt_Gallery.2">
                    <p:embed/>
                  </p:oleObj>
                </mc:Choice>
                <mc:Fallback>
                  <p:oleObj name="Clip" r:id="rId7" imgW="1307263" imgH="1084139" progId="MS_ClipArt_Gallery.2">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6" name="Object 12"/>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8869" name="Clip" r:id="rId8" imgW="681706" imgH="480401" progId="MS_ClipArt_Gallery.2">
                    <p:embed/>
                  </p:oleObj>
                </mc:Choice>
                <mc:Fallback>
                  <p:oleObj name="Clip" r:id="rId8" imgW="681706" imgH="480401" progId="MS_ClipArt_Gallery.2">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7" name="Line 13"/>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99" name="Group 14"/>
          <p:cNvGrpSpPr>
            <a:grpSpLocks/>
          </p:cNvGrpSpPr>
          <p:nvPr/>
        </p:nvGrpSpPr>
        <p:grpSpPr bwMode="auto">
          <a:xfrm>
            <a:off x="3763964" y="2673351"/>
            <a:ext cx="142875" cy="284163"/>
            <a:chOff x="3842" y="406"/>
            <a:chExt cx="51" cy="167"/>
          </a:xfrm>
        </p:grpSpPr>
        <p:sp>
          <p:nvSpPr>
            <p:cNvPr id="8602" name="Oval 15"/>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3" name="Oval 16"/>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4" name="Oval 17"/>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0" name="Group 18"/>
          <p:cNvGrpSpPr>
            <a:grpSpLocks/>
          </p:cNvGrpSpPr>
          <p:nvPr/>
        </p:nvGrpSpPr>
        <p:grpSpPr bwMode="auto">
          <a:xfrm>
            <a:off x="4724401" y="3341689"/>
            <a:ext cx="428625" cy="523875"/>
            <a:chOff x="4180" y="783"/>
            <a:chExt cx="150" cy="307"/>
          </a:xfrm>
        </p:grpSpPr>
        <p:sp>
          <p:nvSpPr>
            <p:cNvPr id="8594" name="AutoShape 1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5" name="Rectangle 2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6" name="Rectangle 2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7" name="AutoShape 2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8" name="Line 2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99" name="Line 2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0" name="Rectangle 2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1" name="Rectangle 2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1" name="Group 27"/>
          <p:cNvGrpSpPr>
            <a:grpSpLocks/>
          </p:cNvGrpSpPr>
          <p:nvPr/>
        </p:nvGrpSpPr>
        <p:grpSpPr bwMode="auto">
          <a:xfrm rot="16200000">
            <a:off x="5394326" y="3360739"/>
            <a:ext cx="106363" cy="477837"/>
            <a:chOff x="3842" y="406"/>
            <a:chExt cx="51" cy="167"/>
          </a:xfrm>
        </p:grpSpPr>
        <p:sp>
          <p:nvSpPr>
            <p:cNvPr id="8591" name="Oval 28"/>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2" name="Oval 29"/>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3" name="Oval 30"/>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02" name="Line 31"/>
          <p:cNvSpPr>
            <a:spLocks noChangeShapeType="1"/>
          </p:cNvSpPr>
          <p:nvPr/>
        </p:nvSpPr>
        <p:spPr bwMode="auto">
          <a:xfrm>
            <a:off x="5003801" y="3219450"/>
            <a:ext cx="1012825"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3" name="Line 32"/>
          <p:cNvSpPr>
            <a:spLocks noChangeShapeType="1"/>
          </p:cNvSpPr>
          <p:nvPr/>
        </p:nvSpPr>
        <p:spPr bwMode="auto">
          <a:xfrm>
            <a:off x="5010151" y="3214688"/>
            <a:ext cx="3175" cy="127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33"/>
          <p:cNvSpPr>
            <a:spLocks noChangeShapeType="1"/>
          </p:cNvSpPr>
          <p:nvPr/>
        </p:nvSpPr>
        <p:spPr bwMode="auto">
          <a:xfrm>
            <a:off x="6022976" y="3213100"/>
            <a:ext cx="3175" cy="109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Line 34"/>
          <p:cNvSpPr>
            <a:spLocks noChangeShapeType="1"/>
          </p:cNvSpPr>
          <p:nvPr/>
        </p:nvSpPr>
        <p:spPr bwMode="auto">
          <a:xfrm>
            <a:off x="4391025" y="2503489"/>
            <a:ext cx="590550" cy="3508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Line 35"/>
          <p:cNvSpPr>
            <a:spLocks noChangeShapeType="1"/>
          </p:cNvSpPr>
          <p:nvPr/>
        </p:nvSpPr>
        <p:spPr bwMode="auto">
          <a:xfrm flipV="1">
            <a:off x="4416425" y="2882900"/>
            <a:ext cx="565150" cy="438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36"/>
          <p:cNvSpPr>
            <a:spLocks noChangeShapeType="1"/>
          </p:cNvSpPr>
          <p:nvPr/>
        </p:nvSpPr>
        <p:spPr bwMode="auto">
          <a:xfrm flipV="1">
            <a:off x="5494339" y="2995614"/>
            <a:ext cx="3175" cy="2174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08" name="Group 37"/>
          <p:cNvGrpSpPr>
            <a:grpSpLocks/>
          </p:cNvGrpSpPr>
          <p:nvPr/>
        </p:nvGrpSpPr>
        <p:grpSpPr bwMode="auto">
          <a:xfrm>
            <a:off x="5737226" y="3311526"/>
            <a:ext cx="428625" cy="525463"/>
            <a:chOff x="4180" y="783"/>
            <a:chExt cx="150" cy="307"/>
          </a:xfrm>
        </p:grpSpPr>
        <p:sp>
          <p:nvSpPr>
            <p:cNvPr id="8583" name="AutoShape 38"/>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4" name="Rectangle 39"/>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5" name="Rectangle 40"/>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6" name="AutoShape 4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7" name="Line 42"/>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88" name="Line 43"/>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89" name="Rectangle 44"/>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0" name="Rectangle 45"/>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9" name="Group 46"/>
          <p:cNvGrpSpPr>
            <a:grpSpLocks/>
          </p:cNvGrpSpPr>
          <p:nvPr/>
        </p:nvGrpSpPr>
        <p:grpSpPr bwMode="auto">
          <a:xfrm>
            <a:off x="3779839" y="4133851"/>
            <a:ext cx="981075" cy="1228725"/>
            <a:chOff x="3314" y="1248"/>
            <a:chExt cx="344" cy="694"/>
          </a:xfrm>
        </p:grpSpPr>
        <p:graphicFrame>
          <p:nvGraphicFramePr>
            <p:cNvPr id="8574" name="Object 47"/>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8870" name="Clip" r:id="rId9" imgW="1307263" imgH="1084139" progId="MS_ClipArt_Gallery.2">
                    <p:embed/>
                  </p:oleObj>
                </mc:Choice>
                <mc:Fallback>
                  <p:oleObj name="Clip" r:id="rId9" imgW="1307263" imgH="1084139" progId="MS_ClipArt_Gallery.2">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5" name="Line 48"/>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76" name="Object 49"/>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8871" name="Clip" r:id="rId10" imgW="1307263" imgH="1084139" progId="MS_ClipArt_Gallery.2">
                    <p:embed/>
                  </p:oleObj>
                </mc:Choice>
                <mc:Fallback>
                  <p:oleObj name="Clip" r:id="rId10" imgW="1307263" imgH="1084139" progId="MS_ClipArt_Gallery.2">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7" name="Line 50"/>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578" name="Group 51"/>
            <p:cNvGrpSpPr>
              <a:grpSpLocks/>
            </p:cNvGrpSpPr>
            <p:nvPr/>
          </p:nvGrpSpPr>
          <p:grpSpPr bwMode="auto">
            <a:xfrm>
              <a:off x="3404" y="1504"/>
              <a:ext cx="51" cy="167"/>
              <a:chOff x="3842" y="406"/>
              <a:chExt cx="51" cy="167"/>
            </a:xfrm>
          </p:grpSpPr>
          <p:sp>
            <p:nvSpPr>
              <p:cNvPr id="8580" name="Oval 52"/>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1" name="Oval 53"/>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2" name="Oval 54"/>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579" name="Line 55"/>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210" name="Object 56"/>
          <p:cNvGraphicFramePr>
            <a:graphicFrameLocks noChangeAspect="1"/>
          </p:cNvGraphicFramePr>
          <p:nvPr/>
        </p:nvGraphicFramePr>
        <p:xfrm>
          <a:off x="5556251" y="5473700"/>
          <a:ext cx="854075" cy="439738"/>
        </p:xfrm>
        <a:graphic>
          <a:graphicData uri="http://schemas.openxmlformats.org/presentationml/2006/ole">
            <mc:AlternateContent xmlns:mc="http://schemas.openxmlformats.org/markup-compatibility/2006">
              <mc:Choice xmlns:v="urn:schemas-microsoft-com:vml" Requires="v">
                <p:oleObj spid="_x0000_s8872" name="Clip" r:id="rId11" imgW="1307263" imgH="1084139" progId="MS_ClipArt_Gallery.2">
                  <p:embed/>
                </p:oleObj>
              </mc:Choice>
              <mc:Fallback>
                <p:oleObj name="Clip" r:id="rId11" imgW="1307263" imgH="1084139" progId="MS_ClipArt_Gallery.2">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251" y="5473700"/>
                        <a:ext cx="85407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1" name="Object 57"/>
          <p:cNvGraphicFramePr>
            <a:graphicFrameLocks noChangeAspect="1"/>
          </p:cNvGraphicFramePr>
          <p:nvPr/>
        </p:nvGraphicFramePr>
        <p:xfrm>
          <a:off x="4298950" y="5459413"/>
          <a:ext cx="850900" cy="438150"/>
        </p:xfrm>
        <a:graphic>
          <a:graphicData uri="http://schemas.openxmlformats.org/presentationml/2006/ole">
            <mc:AlternateContent xmlns:mc="http://schemas.openxmlformats.org/markup-compatibility/2006">
              <mc:Choice xmlns:v="urn:schemas-microsoft-com:vml" Requires="v">
                <p:oleObj spid="_x0000_s8873" name="Clip" r:id="rId12" imgW="1307263" imgH="1084139" progId="MS_ClipArt_Gallery.2">
                  <p:embed/>
                </p:oleObj>
              </mc:Choice>
              <mc:Fallback>
                <p:oleObj name="Clip" r:id="rId12" imgW="1307263" imgH="1084139"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8950" y="5459413"/>
                        <a:ext cx="8509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2" name="Oval 58"/>
          <p:cNvSpPr>
            <a:spLocks noChangeArrowheads="1"/>
          </p:cNvSpPr>
          <p:nvPr/>
        </p:nvSpPr>
        <p:spPr bwMode="auto">
          <a:xfrm rot="16200000">
            <a:off x="5174456" y="5572919"/>
            <a:ext cx="84138" cy="13335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3" name="Oval 59"/>
          <p:cNvSpPr>
            <a:spLocks noChangeArrowheads="1"/>
          </p:cNvSpPr>
          <p:nvPr/>
        </p:nvSpPr>
        <p:spPr bwMode="auto">
          <a:xfrm rot="16200000">
            <a:off x="5349083" y="5569745"/>
            <a:ext cx="84137" cy="136525"/>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4" name="Oval 60"/>
          <p:cNvSpPr>
            <a:spLocks noChangeArrowheads="1"/>
          </p:cNvSpPr>
          <p:nvPr/>
        </p:nvSpPr>
        <p:spPr bwMode="auto">
          <a:xfrm rot="16200000">
            <a:off x="5507038" y="5576888"/>
            <a:ext cx="82550" cy="13335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5" name="Line 61"/>
          <p:cNvSpPr>
            <a:spLocks noChangeShapeType="1"/>
          </p:cNvSpPr>
          <p:nvPr/>
        </p:nvSpPr>
        <p:spPr bwMode="auto">
          <a:xfrm rot="16200000">
            <a:off x="6037264" y="5440364"/>
            <a:ext cx="79375"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6" name="Line 62"/>
          <p:cNvSpPr>
            <a:spLocks noChangeShapeType="1"/>
          </p:cNvSpPr>
          <p:nvPr/>
        </p:nvSpPr>
        <p:spPr bwMode="auto">
          <a:xfrm rot="5400000" flipH="1">
            <a:off x="4756944" y="5430044"/>
            <a:ext cx="841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7" name="Line 63"/>
          <p:cNvSpPr>
            <a:spLocks noChangeShapeType="1"/>
          </p:cNvSpPr>
          <p:nvPr/>
        </p:nvSpPr>
        <p:spPr bwMode="auto">
          <a:xfrm rot="16200000" flipV="1">
            <a:off x="5443538" y="4754563"/>
            <a:ext cx="0" cy="1282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8" name="Line 64"/>
          <p:cNvSpPr>
            <a:spLocks noChangeShapeType="1"/>
          </p:cNvSpPr>
          <p:nvPr/>
        </p:nvSpPr>
        <p:spPr bwMode="auto">
          <a:xfrm flipV="1">
            <a:off x="4760914" y="4899026"/>
            <a:ext cx="192087"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9" name="Line 65"/>
          <p:cNvSpPr>
            <a:spLocks noChangeShapeType="1"/>
          </p:cNvSpPr>
          <p:nvPr/>
        </p:nvSpPr>
        <p:spPr bwMode="auto">
          <a:xfrm>
            <a:off x="5991226" y="4959351"/>
            <a:ext cx="619125" cy="5127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0" name="Line 66"/>
          <p:cNvSpPr>
            <a:spLocks noChangeShapeType="1"/>
          </p:cNvSpPr>
          <p:nvPr/>
        </p:nvSpPr>
        <p:spPr bwMode="auto">
          <a:xfrm flipH="1">
            <a:off x="7616825" y="4956176"/>
            <a:ext cx="571500" cy="5191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21" name="Object 67"/>
          <p:cNvGraphicFramePr>
            <a:graphicFrameLocks noChangeAspect="1"/>
          </p:cNvGraphicFramePr>
          <p:nvPr/>
        </p:nvGraphicFramePr>
        <p:xfrm>
          <a:off x="7980364" y="4360864"/>
          <a:ext cx="415925" cy="320675"/>
        </p:xfrm>
        <a:graphic>
          <a:graphicData uri="http://schemas.openxmlformats.org/presentationml/2006/ole">
            <mc:AlternateContent xmlns:mc="http://schemas.openxmlformats.org/markup-compatibility/2006">
              <mc:Choice xmlns:v="urn:schemas-microsoft-com:vml" Requires="v">
                <p:oleObj spid="_x0000_s8874" name="Clip" r:id="rId13" imgW="982811" imgH="1208363" progId="MS_ClipArt_Gallery.2">
                  <p:embed/>
                </p:oleObj>
              </mc:Choice>
              <mc:Fallback>
                <p:oleObj name="Clip" r:id="rId13" imgW="982811" imgH="1208363" progId="MS_ClipArt_Gallery.2">
                  <p:embed/>
                  <p:pic>
                    <p:nvPicPr>
                      <p:cNvPr id="0" name="Object 6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80364" y="4360864"/>
                        <a:ext cx="415925"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2" name="Object 68"/>
          <p:cNvGraphicFramePr>
            <a:graphicFrameLocks noChangeAspect="1"/>
          </p:cNvGraphicFramePr>
          <p:nvPr/>
        </p:nvGraphicFramePr>
        <p:xfrm>
          <a:off x="5248275" y="4468813"/>
          <a:ext cx="414338" cy="317500"/>
        </p:xfrm>
        <a:graphic>
          <a:graphicData uri="http://schemas.openxmlformats.org/presentationml/2006/ole">
            <mc:AlternateContent xmlns:mc="http://schemas.openxmlformats.org/markup-compatibility/2006">
              <mc:Choice xmlns:v="urn:schemas-microsoft-com:vml" Requires="v">
                <p:oleObj spid="_x0000_s8875" name="Clip" r:id="rId15" imgW="982811" imgH="1208363" progId="MS_ClipArt_Gallery.2">
                  <p:embed/>
                </p:oleObj>
              </mc:Choice>
              <mc:Fallback>
                <p:oleObj name="Clip" r:id="rId15" imgW="982811" imgH="1208363" progId="MS_ClipArt_Gallery.2">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48275" y="4468813"/>
                        <a:ext cx="41433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23" name="Group 69"/>
          <p:cNvGrpSpPr>
            <a:grpSpLocks/>
          </p:cNvGrpSpPr>
          <p:nvPr/>
        </p:nvGrpSpPr>
        <p:grpSpPr bwMode="auto">
          <a:xfrm>
            <a:off x="5957888" y="6057900"/>
            <a:ext cx="831850" cy="566738"/>
            <a:chOff x="2870" y="1518"/>
            <a:chExt cx="292" cy="320"/>
          </a:xfrm>
        </p:grpSpPr>
        <p:graphicFrame>
          <p:nvGraphicFramePr>
            <p:cNvPr id="8572" name="Object 7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876" name="Clip" r:id="rId16" imgW="826829" imgH="840406" progId="MS_ClipArt_Gallery.2">
                    <p:embed/>
                  </p:oleObj>
                </mc:Choice>
                <mc:Fallback>
                  <p:oleObj name="Clip" r:id="rId16" imgW="826829" imgH="840406" progId="MS_ClipArt_Gallery.2">
                    <p:embed/>
                    <p:pic>
                      <p:nvPicPr>
                        <p:cNvPr id="0" name="Object 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3" name="Object 7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877" name="Clip" r:id="rId18" imgW="1268295" imgH="1199426" progId="MS_ClipArt_Gallery.2">
                    <p:embed/>
                  </p:oleObj>
                </mc:Choice>
                <mc:Fallback>
                  <p:oleObj name="Clip" r:id="rId18" imgW="1268295" imgH="1199426" progId="MS_ClipArt_Gallery.2">
                    <p:embed/>
                    <p:pic>
                      <p:nvPicPr>
                        <p:cNvPr id="0" name="Object 7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24" name="Group 72"/>
          <p:cNvGrpSpPr>
            <a:grpSpLocks/>
          </p:cNvGrpSpPr>
          <p:nvPr/>
        </p:nvGrpSpPr>
        <p:grpSpPr bwMode="auto">
          <a:xfrm>
            <a:off x="7548563" y="6099175"/>
            <a:ext cx="831850" cy="566738"/>
            <a:chOff x="2870" y="1518"/>
            <a:chExt cx="292" cy="320"/>
          </a:xfrm>
        </p:grpSpPr>
        <p:graphicFrame>
          <p:nvGraphicFramePr>
            <p:cNvPr id="8570" name="Object 7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878" name="Clip" r:id="rId20" imgW="826829" imgH="840406" progId="MS_ClipArt_Gallery.2">
                    <p:embed/>
                  </p:oleObj>
                </mc:Choice>
                <mc:Fallback>
                  <p:oleObj name="Clip" r:id="rId20" imgW="826829" imgH="840406" progId="MS_ClipArt_Gallery.2">
                    <p:embed/>
                    <p:pic>
                      <p:nvPicPr>
                        <p:cNvPr id="0"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1" name="Object 7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879" name="Clip" r:id="rId21" imgW="1268295" imgH="1199426" progId="MS_ClipArt_Gallery.2">
                    <p:embed/>
                  </p:oleObj>
                </mc:Choice>
                <mc:Fallback>
                  <p:oleObj name="Clip" r:id="rId21" imgW="1268295" imgH="1199426" progId="MS_ClipArt_Gallery.2">
                    <p:embed/>
                    <p:pic>
                      <p:nvPicPr>
                        <p:cNvPr id="0"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25" name="Group 75"/>
          <p:cNvGrpSpPr>
            <a:grpSpLocks/>
          </p:cNvGrpSpPr>
          <p:nvPr/>
        </p:nvGrpSpPr>
        <p:grpSpPr bwMode="auto">
          <a:xfrm>
            <a:off x="6702425" y="5722939"/>
            <a:ext cx="774700" cy="498475"/>
            <a:chOff x="4733" y="2082"/>
            <a:chExt cx="272" cy="282"/>
          </a:xfrm>
        </p:grpSpPr>
        <p:graphicFrame>
          <p:nvGraphicFramePr>
            <p:cNvPr id="8568" name="Object 76"/>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8880" name="Clip" r:id="rId22" imgW="826829" imgH="840406" progId="MS_ClipArt_Gallery.2">
                    <p:embed/>
                  </p:oleObj>
                </mc:Choice>
                <mc:Fallback>
                  <p:oleObj name="Clip" r:id="rId22" imgW="826829" imgH="840406" progId="MS_ClipArt_Gallery.2">
                    <p:embed/>
                    <p:pic>
                      <p:nvPicPr>
                        <p:cNvPr id="0"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69" name="Rectangle 77"/>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26" name="Line 78"/>
          <p:cNvSpPr>
            <a:spLocks noChangeShapeType="1"/>
          </p:cNvSpPr>
          <p:nvPr/>
        </p:nvSpPr>
        <p:spPr bwMode="auto">
          <a:xfrm>
            <a:off x="7327900" y="5594351"/>
            <a:ext cx="0" cy="303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27" name="Group 79"/>
          <p:cNvGrpSpPr>
            <a:grpSpLocks/>
          </p:cNvGrpSpPr>
          <p:nvPr/>
        </p:nvGrpSpPr>
        <p:grpSpPr bwMode="auto">
          <a:xfrm>
            <a:off x="8802688" y="4829176"/>
            <a:ext cx="425450" cy="542925"/>
            <a:chOff x="4180" y="783"/>
            <a:chExt cx="150" cy="307"/>
          </a:xfrm>
        </p:grpSpPr>
        <p:sp>
          <p:nvSpPr>
            <p:cNvPr id="8560" name="AutoShape 80"/>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1" name="Rectangle 81"/>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2" name="Rectangle 8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3" name="AutoShape 8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4" name="Line 84"/>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5" name="Line 85"/>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6" name="Rectangle 8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7" name="Rectangle 87"/>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28" name="Group 88"/>
          <p:cNvGrpSpPr>
            <a:grpSpLocks/>
          </p:cNvGrpSpPr>
          <p:nvPr/>
        </p:nvGrpSpPr>
        <p:grpSpPr bwMode="auto">
          <a:xfrm>
            <a:off x="8775700" y="5419726"/>
            <a:ext cx="425450" cy="542925"/>
            <a:chOff x="4180" y="783"/>
            <a:chExt cx="150" cy="307"/>
          </a:xfrm>
        </p:grpSpPr>
        <p:sp>
          <p:nvSpPr>
            <p:cNvPr id="8552" name="AutoShape 8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3" name="Rectangle 9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4" name="Rectangle 9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5" name="AutoShape 9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6" name="Line 9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7" name="Line 9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8" name="Rectangle 9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9" name="Rectangle 9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29" name="Line 97"/>
          <p:cNvSpPr>
            <a:spLocks noChangeShapeType="1"/>
          </p:cNvSpPr>
          <p:nvPr/>
        </p:nvSpPr>
        <p:spPr bwMode="auto">
          <a:xfrm rot="5400000" flipH="1">
            <a:off x="8230394" y="5325269"/>
            <a:ext cx="8112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Line 98"/>
          <p:cNvSpPr>
            <a:spLocks noChangeShapeType="1"/>
          </p:cNvSpPr>
          <p:nvPr/>
        </p:nvSpPr>
        <p:spPr bwMode="auto">
          <a:xfrm rot="16200000">
            <a:off x="8735219" y="5623719"/>
            <a:ext cx="0" cy="2111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Line 99"/>
          <p:cNvSpPr>
            <a:spLocks noChangeShapeType="1"/>
          </p:cNvSpPr>
          <p:nvPr/>
        </p:nvSpPr>
        <p:spPr bwMode="auto">
          <a:xfrm rot="16200000">
            <a:off x="8714582" y="5006182"/>
            <a:ext cx="0" cy="1825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2" name="Line 100"/>
          <p:cNvSpPr>
            <a:spLocks noChangeShapeType="1"/>
          </p:cNvSpPr>
          <p:nvPr/>
        </p:nvSpPr>
        <p:spPr bwMode="auto">
          <a:xfrm flipV="1">
            <a:off x="6013451" y="2570164"/>
            <a:ext cx="938213" cy="276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Line 101"/>
          <p:cNvSpPr>
            <a:spLocks noChangeShapeType="1"/>
          </p:cNvSpPr>
          <p:nvPr/>
        </p:nvSpPr>
        <p:spPr bwMode="auto">
          <a:xfrm>
            <a:off x="7926389" y="2549526"/>
            <a:ext cx="992187" cy="276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Line 102"/>
          <p:cNvSpPr>
            <a:spLocks noChangeShapeType="1"/>
          </p:cNvSpPr>
          <p:nvPr/>
        </p:nvSpPr>
        <p:spPr bwMode="auto">
          <a:xfrm flipH="1">
            <a:off x="8986838" y="2995614"/>
            <a:ext cx="493712" cy="9048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Line 103"/>
          <p:cNvSpPr>
            <a:spLocks noChangeShapeType="1"/>
          </p:cNvSpPr>
          <p:nvPr/>
        </p:nvSpPr>
        <p:spPr bwMode="auto">
          <a:xfrm>
            <a:off x="7413625" y="2698750"/>
            <a:ext cx="0" cy="5730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6" name="Line 104"/>
          <p:cNvSpPr>
            <a:spLocks noChangeShapeType="1"/>
          </p:cNvSpPr>
          <p:nvPr/>
        </p:nvSpPr>
        <p:spPr bwMode="auto">
          <a:xfrm>
            <a:off x="7464425" y="3559175"/>
            <a:ext cx="1093788" cy="488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Line 105"/>
          <p:cNvSpPr>
            <a:spLocks noChangeShapeType="1"/>
          </p:cNvSpPr>
          <p:nvPr/>
        </p:nvSpPr>
        <p:spPr bwMode="auto">
          <a:xfrm flipH="1">
            <a:off x="8405813" y="4176714"/>
            <a:ext cx="546100" cy="4778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Line 106"/>
          <p:cNvSpPr>
            <a:spLocks noChangeShapeType="1"/>
          </p:cNvSpPr>
          <p:nvPr/>
        </p:nvSpPr>
        <p:spPr bwMode="auto">
          <a:xfrm flipH="1">
            <a:off x="7942264" y="2954339"/>
            <a:ext cx="1146175" cy="509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Line 107"/>
          <p:cNvSpPr>
            <a:spLocks noChangeShapeType="1"/>
          </p:cNvSpPr>
          <p:nvPr/>
        </p:nvSpPr>
        <p:spPr bwMode="auto">
          <a:xfrm flipH="1">
            <a:off x="7961313" y="2209801"/>
            <a:ext cx="717550" cy="3397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0" name="Line 108"/>
          <p:cNvSpPr>
            <a:spLocks noChangeShapeType="1"/>
          </p:cNvSpPr>
          <p:nvPr/>
        </p:nvSpPr>
        <p:spPr bwMode="auto">
          <a:xfrm flipH="1">
            <a:off x="9428163" y="2444751"/>
            <a:ext cx="412750" cy="2333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41" name="Group 109"/>
          <p:cNvGrpSpPr>
            <a:grpSpLocks/>
          </p:cNvGrpSpPr>
          <p:nvPr/>
        </p:nvGrpSpPr>
        <p:grpSpPr bwMode="auto">
          <a:xfrm>
            <a:off x="4953001" y="2698751"/>
            <a:ext cx="1025525" cy="309563"/>
            <a:chOff x="3600" y="219"/>
            <a:chExt cx="360" cy="175"/>
          </a:xfrm>
        </p:grpSpPr>
        <p:sp>
          <p:nvSpPr>
            <p:cNvPr id="8539" name="Oval 11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40" name="Line 11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1" name="Line 11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2" name="Rectangle 11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43" name="Oval 11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44" name="Group 115"/>
            <p:cNvGrpSpPr>
              <a:grpSpLocks/>
            </p:cNvGrpSpPr>
            <p:nvPr/>
          </p:nvGrpSpPr>
          <p:grpSpPr bwMode="auto">
            <a:xfrm>
              <a:off x="3686" y="244"/>
              <a:ext cx="177" cy="66"/>
              <a:chOff x="2848" y="848"/>
              <a:chExt cx="140" cy="98"/>
            </a:xfrm>
          </p:grpSpPr>
          <p:sp>
            <p:nvSpPr>
              <p:cNvPr id="8549" name="Line 11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0" name="Line 11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1" name="Line 11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45" name="Group 119"/>
            <p:cNvGrpSpPr>
              <a:grpSpLocks/>
            </p:cNvGrpSpPr>
            <p:nvPr/>
          </p:nvGrpSpPr>
          <p:grpSpPr bwMode="auto">
            <a:xfrm flipV="1">
              <a:off x="3686" y="243"/>
              <a:ext cx="177" cy="66"/>
              <a:chOff x="2848" y="848"/>
              <a:chExt cx="140" cy="98"/>
            </a:xfrm>
          </p:grpSpPr>
          <p:sp>
            <p:nvSpPr>
              <p:cNvPr id="8546" name="Line 12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7" name="Line 12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8" name="Line 12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2" name="Group 123"/>
          <p:cNvGrpSpPr>
            <a:grpSpLocks/>
          </p:cNvGrpSpPr>
          <p:nvPr/>
        </p:nvGrpSpPr>
        <p:grpSpPr bwMode="auto">
          <a:xfrm>
            <a:off x="6899276" y="2395538"/>
            <a:ext cx="1027113" cy="309562"/>
            <a:chOff x="3600" y="219"/>
            <a:chExt cx="360" cy="175"/>
          </a:xfrm>
        </p:grpSpPr>
        <p:sp>
          <p:nvSpPr>
            <p:cNvPr id="8526" name="Oval 12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27" name="Line 12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8" name="Line 12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9" name="Rectangle 12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30" name="Oval 12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31" name="Group 129"/>
            <p:cNvGrpSpPr>
              <a:grpSpLocks/>
            </p:cNvGrpSpPr>
            <p:nvPr/>
          </p:nvGrpSpPr>
          <p:grpSpPr bwMode="auto">
            <a:xfrm>
              <a:off x="3686" y="244"/>
              <a:ext cx="177" cy="66"/>
              <a:chOff x="2848" y="848"/>
              <a:chExt cx="140" cy="98"/>
            </a:xfrm>
          </p:grpSpPr>
          <p:sp>
            <p:nvSpPr>
              <p:cNvPr id="8536" name="Line 13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7" name="Line 13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8" name="Line 13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32" name="Group 133"/>
            <p:cNvGrpSpPr>
              <a:grpSpLocks/>
            </p:cNvGrpSpPr>
            <p:nvPr/>
          </p:nvGrpSpPr>
          <p:grpSpPr bwMode="auto">
            <a:xfrm flipV="1">
              <a:off x="3686" y="243"/>
              <a:ext cx="177" cy="66"/>
              <a:chOff x="2848" y="848"/>
              <a:chExt cx="140" cy="98"/>
            </a:xfrm>
          </p:grpSpPr>
          <p:sp>
            <p:nvSpPr>
              <p:cNvPr id="8533" name="Line 13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4" name="Line 13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5" name="Line 13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3" name="Group 137"/>
          <p:cNvGrpSpPr>
            <a:grpSpLocks/>
          </p:cNvGrpSpPr>
          <p:nvPr/>
        </p:nvGrpSpPr>
        <p:grpSpPr bwMode="auto">
          <a:xfrm>
            <a:off x="6935789" y="3268663"/>
            <a:ext cx="1025525" cy="309562"/>
            <a:chOff x="3600" y="219"/>
            <a:chExt cx="360" cy="175"/>
          </a:xfrm>
        </p:grpSpPr>
        <p:sp>
          <p:nvSpPr>
            <p:cNvPr id="8513" name="Oval 13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14" name="Line 13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5" name="Line 14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6" name="Rectangle 14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17" name="Oval 14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18" name="Group 143"/>
            <p:cNvGrpSpPr>
              <a:grpSpLocks/>
            </p:cNvGrpSpPr>
            <p:nvPr/>
          </p:nvGrpSpPr>
          <p:grpSpPr bwMode="auto">
            <a:xfrm>
              <a:off x="3686" y="244"/>
              <a:ext cx="177" cy="66"/>
              <a:chOff x="2848" y="848"/>
              <a:chExt cx="140" cy="98"/>
            </a:xfrm>
          </p:grpSpPr>
          <p:sp>
            <p:nvSpPr>
              <p:cNvPr id="8523" name="Line 14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4" name="Line 14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5" name="Line 14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19" name="Group 147"/>
            <p:cNvGrpSpPr>
              <a:grpSpLocks/>
            </p:cNvGrpSpPr>
            <p:nvPr/>
          </p:nvGrpSpPr>
          <p:grpSpPr bwMode="auto">
            <a:xfrm flipV="1">
              <a:off x="3686" y="243"/>
              <a:ext cx="177" cy="66"/>
              <a:chOff x="2848" y="848"/>
              <a:chExt cx="140" cy="98"/>
            </a:xfrm>
          </p:grpSpPr>
          <p:sp>
            <p:nvSpPr>
              <p:cNvPr id="8520" name="Line 14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1" name="Line 14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2" name="Line 15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4" name="Group 151"/>
          <p:cNvGrpSpPr>
            <a:grpSpLocks/>
          </p:cNvGrpSpPr>
          <p:nvPr/>
        </p:nvGrpSpPr>
        <p:grpSpPr bwMode="auto">
          <a:xfrm>
            <a:off x="8918575" y="2671763"/>
            <a:ext cx="1023938" cy="309562"/>
            <a:chOff x="3600" y="219"/>
            <a:chExt cx="360" cy="175"/>
          </a:xfrm>
        </p:grpSpPr>
        <p:sp>
          <p:nvSpPr>
            <p:cNvPr id="8500" name="Oval 15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01" name="Line 15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 name="Line 15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 name="Rectangle 15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04" name="Oval 15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05" name="Group 157"/>
            <p:cNvGrpSpPr>
              <a:grpSpLocks/>
            </p:cNvGrpSpPr>
            <p:nvPr/>
          </p:nvGrpSpPr>
          <p:grpSpPr bwMode="auto">
            <a:xfrm>
              <a:off x="3686" y="244"/>
              <a:ext cx="177" cy="66"/>
              <a:chOff x="2848" y="848"/>
              <a:chExt cx="140" cy="98"/>
            </a:xfrm>
          </p:grpSpPr>
          <p:sp>
            <p:nvSpPr>
              <p:cNvPr id="8510" name="Line 15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1" name="Line 15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2" name="Line 16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06" name="Group 161"/>
            <p:cNvGrpSpPr>
              <a:grpSpLocks/>
            </p:cNvGrpSpPr>
            <p:nvPr/>
          </p:nvGrpSpPr>
          <p:grpSpPr bwMode="auto">
            <a:xfrm flipV="1">
              <a:off x="3686" y="243"/>
              <a:ext cx="177" cy="66"/>
              <a:chOff x="2848" y="848"/>
              <a:chExt cx="140" cy="98"/>
            </a:xfrm>
          </p:grpSpPr>
          <p:sp>
            <p:nvSpPr>
              <p:cNvPr id="8507" name="Line 16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8" name="Line 16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9" name="Line 16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5" name="Group 165"/>
          <p:cNvGrpSpPr>
            <a:grpSpLocks/>
          </p:cNvGrpSpPr>
          <p:nvPr/>
        </p:nvGrpSpPr>
        <p:grpSpPr bwMode="auto">
          <a:xfrm>
            <a:off x="8523289" y="3862388"/>
            <a:ext cx="1025525" cy="309562"/>
            <a:chOff x="3600" y="219"/>
            <a:chExt cx="360" cy="175"/>
          </a:xfrm>
        </p:grpSpPr>
        <p:sp>
          <p:nvSpPr>
            <p:cNvPr id="8487" name="Oval 16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88" name="Line 16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 name="Line 16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0" name="Rectangle 16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91" name="Oval 17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92" name="Group 171"/>
            <p:cNvGrpSpPr>
              <a:grpSpLocks/>
            </p:cNvGrpSpPr>
            <p:nvPr/>
          </p:nvGrpSpPr>
          <p:grpSpPr bwMode="auto">
            <a:xfrm>
              <a:off x="3686" y="244"/>
              <a:ext cx="177" cy="66"/>
              <a:chOff x="2848" y="848"/>
              <a:chExt cx="140" cy="98"/>
            </a:xfrm>
          </p:grpSpPr>
          <p:sp>
            <p:nvSpPr>
              <p:cNvPr id="8497" name="Line 17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8" name="Line 17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 name="Line 17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93" name="Group 175"/>
            <p:cNvGrpSpPr>
              <a:grpSpLocks/>
            </p:cNvGrpSpPr>
            <p:nvPr/>
          </p:nvGrpSpPr>
          <p:grpSpPr bwMode="auto">
            <a:xfrm flipV="1">
              <a:off x="3686" y="243"/>
              <a:ext cx="177" cy="66"/>
              <a:chOff x="2848" y="848"/>
              <a:chExt cx="140" cy="98"/>
            </a:xfrm>
          </p:grpSpPr>
          <p:sp>
            <p:nvSpPr>
              <p:cNvPr id="8494" name="Line 17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5" name="Line 17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6" name="Line 17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6" name="Group 179"/>
          <p:cNvGrpSpPr>
            <a:grpSpLocks/>
          </p:cNvGrpSpPr>
          <p:nvPr/>
        </p:nvGrpSpPr>
        <p:grpSpPr bwMode="auto">
          <a:xfrm>
            <a:off x="7840663" y="4637089"/>
            <a:ext cx="1027112" cy="312737"/>
            <a:chOff x="3600" y="219"/>
            <a:chExt cx="360" cy="175"/>
          </a:xfrm>
        </p:grpSpPr>
        <p:sp>
          <p:nvSpPr>
            <p:cNvPr id="8474" name="Oval 18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75" name="Line 18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6" name="Line 18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7" name="Rectangle 18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78" name="Oval 18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79" name="Group 185"/>
            <p:cNvGrpSpPr>
              <a:grpSpLocks/>
            </p:cNvGrpSpPr>
            <p:nvPr/>
          </p:nvGrpSpPr>
          <p:grpSpPr bwMode="auto">
            <a:xfrm>
              <a:off x="3686" y="244"/>
              <a:ext cx="177" cy="66"/>
              <a:chOff x="2848" y="848"/>
              <a:chExt cx="140" cy="98"/>
            </a:xfrm>
          </p:grpSpPr>
          <p:sp>
            <p:nvSpPr>
              <p:cNvPr id="8484" name="Line 18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5" name="Line 18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6" name="Line 18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80" name="Group 189"/>
            <p:cNvGrpSpPr>
              <a:grpSpLocks/>
            </p:cNvGrpSpPr>
            <p:nvPr/>
          </p:nvGrpSpPr>
          <p:grpSpPr bwMode="auto">
            <a:xfrm flipV="1">
              <a:off x="3686" y="243"/>
              <a:ext cx="177" cy="66"/>
              <a:chOff x="2848" y="848"/>
              <a:chExt cx="140" cy="98"/>
            </a:xfrm>
          </p:grpSpPr>
          <p:sp>
            <p:nvSpPr>
              <p:cNvPr id="8481" name="Line 19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2" name="Line 19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3" name="Line 19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7" name="Group 193"/>
          <p:cNvGrpSpPr>
            <a:grpSpLocks/>
          </p:cNvGrpSpPr>
          <p:nvPr/>
        </p:nvGrpSpPr>
        <p:grpSpPr bwMode="auto">
          <a:xfrm>
            <a:off x="6594475" y="5286376"/>
            <a:ext cx="1022350" cy="309563"/>
            <a:chOff x="3600" y="219"/>
            <a:chExt cx="360" cy="175"/>
          </a:xfrm>
        </p:grpSpPr>
        <p:sp>
          <p:nvSpPr>
            <p:cNvPr id="8461" name="Oval 19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62" name="Line 19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3" name="Line 19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4" name="Rectangle 19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65" name="Oval 19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66" name="Group 199"/>
            <p:cNvGrpSpPr>
              <a:grpSpLocks/>
            </p:cNvGrpSpPr>
            <p:nvPr/>
          </p:nvGrpSpPr>
          <p:grpSpPr bwMode="auto">
            <a:xfrm>
              <a:off x="3686" y="244"/>
              <a:ext cx="177" cy="66"/>
              <a:chOff x="2848" y="848"/>
              <a:chExt cx="140" cy="98"/>
            </a:xfrm>
          </p:grpSpPr>
          <p:sp>
            <p:nvSpPr>
              <p:cNvPr id="8471" name="Line 20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2" name="Line 20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3" name="Line 20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67" name="Group 203"/>
            <p:cNvGrpSpPr>
              <a:grpSpLocks/>
            </p:cNvGrpSpPr>
            <p:nvPr/>
          </p:nvGrpSpPr>
          <p:grpSpPr bwMode="auto">
            <a:xfrm flipV="1">
              <a:off x="3686" y="243"/>
              <a:ext cx="177" cy="66"/>
              <a:chOff x="2848" y="848"/>
              <a:chExt cx="140" cy="98"/>
            </a:xfrm>
          </p:grpSpPr>
          <p:sp>
            <p:nvSpPr>
              <p:cNvPr id="8468" name="Line 20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9" name="Line 20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0" name="Line 20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8" name="Group 207"/>
          <p:cNvGrpSpPr>
            <a:grpSpLocks/>
          </p:cNvGrpSpPr>
          <p:nvPr/>
        </p:nvGrpSpPr>
        <p:grpSpPr bwMode="auto">
          <a:xfrm>
            <a:off x="4953001" y="4786313"/>
            <a:ext cx="1025525" cy="311150"/>
            <a:chOff x="3600" y="219"/>
            <a:chExt cx="360" cy="175"/>
          </a:xfrm>
        </p:grpSpPr>
        <p:sp>
          <p:nvSpPr>
            <p:cNvPr id="8448" name="Oval 20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49" name="Line 20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0" name="Line 21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1" name="Rectangle 21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52" name="Oval 2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53" name="Group 213"/>
            <p:cNvGrpSpPr>
              <a:grpSpLocks/>
            </p:cNvGrpSpPr>
            <p:nvPr/>
          </p:nvGrpSpPr>
          <p:grpSpPr bwMode="auto">
            <a:xfrm>
              <a:off x="3686" y="244"/>
              <a:ext cx="177" cy="66"/>
              <a:chOff x="2848" y="848"/>
              <a:chExt cx="140" cy="98"/>
            </a:xfrm>
          </p:grpSpPr>
          <p:sp>
            <p:nvSpPr>
              <p:cNvPr id="8458" name="Line 21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9" name="Line 21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0" name="Line 21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54" name="Group 217"/>
            <p:cNvGrpSpPr>
              <a:grpSpLocks/>
            </p:cNvGrpSpPr>
            <p:nvPr/>
          </p:nvGrpSpPr>
          <p:grpSpPr bwMode="auto">
            <a:xfrm flipV="1">
              <a:off x="3686" y="243"/>
              <a:ext cx="177" cy="66"/>
              <a:chOff x="2848" y="848"/>
              <a:chExt cx="140" cy="98"/>
            </a:xfrm>
          </p:grpSpPr>
          <p:sp>
            <p:nvSpPr>
              <p:cNvPr id="8455" name="Line 2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6" name="Line 2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7" name="Line 2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49" name="Line 221"/>
          <p:cNvSpPr>
            <a:spLocks noChangeShapeType="1"/>
          </p:cNvSpPr>
          <p:nvPr/>
        </p:nvSpPr>
        <p:spPr bwMode="auto">
          <a:xfrm flipV="1">
            <a:off x="5475289" y="5068889"/>
            <a:ext cx="3175" cy="3317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34526" name="Group 222"/>
          <p:cNvGrpSpPr>
            <a:grpSpLocks/>
          </p:cNvGrpSpPr>
          <p:nvPr/>
        </p:nvGrpSpPr>
        <p:grpSpPr bwMode="auto">
          <a:xfrm>
            <a:off x="2484438" y="1562100"/>
            <a:ext cx="7853362" cy="5054600"/>
            <a:chOff x="605" y="984"/>
            <a:chExt cx="4947" cy="3184"/>
          </a:xfrm>
        </p:grpSpPr>
        <p:grpSp>
          <p:nvGrpSpPr>
            <p:cNvPr id="8252" name="Group 223"/>
            <p:cNvGrpSpPr>
              <a:grpSpLocks/>
            </p:cNvGrpSpPr>
            <p:nvPr/>
          </p:nvGrpSpPr>
          <p:grpSpPr bwMode="auto">
            <a:xfrm>
              <a:off x="1933" y="1280"/>
              <a:ext cx="3619" cy="2501"/>
              <a:chOff x="3658" y="1203"/>
              <a:chExt cx="1770" cy="1885"/>
            </a:xfrm>
          </p:grpSpPr>
          <p:grpSp>
            <p:nvGrpSpPr>
              <p:cNvPr id="8272" name="Group 224"/>
              <p:cNvGrpSpPr>
                <a:grpSpLocks/>
              </p:cNvGrpSpPr>
              <p:nvPr/>
            </p:nvGrpSpPr>
            <p:grpSpPr bwMode="auto">
              <a:xfrm>
                <a:off x="3712" y="2313"/>
                <a:ext cx="513" cy="453"/>
                <a:chOff x="3937" y="633"/>
                <a:chExt cx="513" cy="453"/>
              </a:xfrm>
            </p:grpSpPr>
            <p:sp>
              <p:nvSpPr>
                <p:cNvPr id="8427" name="Line 225"/>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8" name="Line 226"/>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9" name="Oval 227"/>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0" name="Line 228"/>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1" name="Line 229"/>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2" name="Rectangle 230"/>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433" name="Oval 231"/>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34" name="Group 232"/>
                <p:cNvGrpSpPr>
                  <a:grpSpLocks/>
                </p:cNvGrpSpPr>
                <p:nvPr/>
              </p:nvGrpSpPr>
              <p:grpSpPr bwMode="auto">
                <a:xfrm>
                  <a:off x="4120" y="809"/>
                  <a:ext cx="156" cy="55"/>
                  <a:chOff x="2848" y="848"/>
                  <a:chExt cx="140" cy="98"/>
                </a:xfrm>
              </p:grpSpPr>
              <p:sp>
                <p:nvSpPr>
                  <p:cNvPr id="8445" name="Line 2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6" name="Line 2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7" name="Line 2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35" name="Group 236"/>
                <p:cNvGrpSpPr>
                  <a:grpSpLocks/>
                </p:cNvGrpSpPr>
                <p:nvPr/>
              </p:nvGrpSpPr>
              <p:grpSpPr bwMode="auto">
                <a:xfrm flipV="1">
                  <a:off x="4120" y="808"/>
                  <a:ext cx="156" cy="56"/>
                  <a:chOff x="2848" y="848"/>
                  <a:chExt cx="140" cy="98"/>
                </a:xfrm>
              </p:grpSpPr>
              <p:sp>
                <p:nvSpPr>
                  <p:cNvPr id="8442" name="Line 23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3" name="Line 23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4" name="Line 23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36" name="Rectangle 240"/>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7" name="Rectangle 241"/>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8" name="Line 242"/>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9" name="Line 243"/>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0" name="Rectangle 244"/>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41" name="Text Box 245"/>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p:txBody>
            </p:sp>
          </p:grpSp>
          <p:grpSp>
            <p:nvGrpSpPr>
              <p:cNvPr id="8273" name="Group 246"/>
              <p:cNvGrpSpPr>
                <a:grpSpLocks/>
              </p:cNvGrpSpPr>
              <p:nvPr/>
            </p:nvGrpSpPr>
            <p:grpSpPr bwMode="auto">
              <a:xfrm>
                <a:off x="4261" y="1671"/>
                <a:ext cx="513" cy="453"/>
                <a:chOff x="3937" y="633"/>
                <a:chExt cx="513" cy="453"/>
              </a:xfrm>
            </p:grpSpPr>
            <p:sp>
              <p:nvSpPr>
                <p:cNvPr id="8406" name="Line 247"/>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 name="Line 248"/>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 name="Oval 249"/>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09" name="Line 250"/>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0" name="Line 251"/>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 name="Rectangle 252"/>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412" name="Oval 253"/>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13" name="Group 254"/>
                <p:cNvGrpSpPr>
                  <a:grpSpLocks/>
                </p:cNvGrpSpPr>
                <p:nvPr/>
              </p:nvGrpSpPr>
              <p:grpSpPr bwMode="auto">
                <a:xfrm>
                  <a:off x="4120" y="809"/>
                  <a:ext cx="156" cy="55"/>
                  <a:chOff x="2848" y="848"/>
                  <a:chExt cx="140" cy="98"/>
                </a:xfrm>
              </p:grpSpPr>
              <p:sp>
                <p:nvSpPr>
                  <p:cNvPr id="8424" name="Line 25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5" name="Line 25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6" name="Line 25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14" name="Group 258"/>
                <p:cNvGrpSpPr>
                  <a:grpSpLocks/>
                </p:cNvGrpSpPr>
                <p:nvPr/>
              </p:nvGrpSpPr>
              <p:grpSpPr bwMode="auto">
                <a:xfrm flipV="1">
                  <a:off x="4120" y="808"/>
                  <a:ext cx="156" cy="56"/>
                  <a:chOff x="2848" y="848"/>
                  <a:chExt cx="140" cy="98"/>
                </a:xfrm>
              </p:grpSpPr>
              <p:sp>
                <p:nvSpPr>
                  <p:cNvPr id="8421" name="Line 25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2" name="Line 26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3" name="Line 26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15" name="Rectangle 262"/>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16" name="Rectangle 263"/>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17" name="Line 264"/>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8" name="Line 265"/>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9" name="Rectangle 266"/>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20" name="Text Box 267"/>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p:txBody>
            </p:sp>
          </p:grpSp>
          <p:grpSp>
            <p:nvGrpSpPr>
              <p:cNvPr id="8274" name="Group 268"/>
              <p:cNvGrpSpPr>
                <a:grpSpLocks/>
              </p:cNvGrpSpPr>
              <p:nvPr/>
            </p:nvGrpSpPr>
            <p:grpSpPr bwMode="auto">
              <a:xfrm>
                <a:off x="4270" y="1203"/>
                <a:ext cx="513" cy="453"/>
                <a:chOff x="3937" y="633"/>
                <a:chExt cx="513" cy="453"/>
              </a:xfrm>
            </p:grpSpPr>
            <p:sp>
              <p:nvSpPr>
                <p:cNvPr id="8385" name="Line 269"/>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 name="Line 270"/>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7" name="Oval 271"/>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88" name="Line 272"/>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9" name="Line 273"/>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0" name="Rectangle 274"/>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91" name="Oval 275"/>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92" name="Group 276"/>
                <p:cNvGrpSpPr>
                  <a:grpSpLocks/>
                </p:cNvGrpSpPr>
                <p:nvPr/>
              </p:nvGrpSpPr>
              <p:grpSpPr bwMode="auto">
                <a:xfrm>
                  <a:off x="4120" y="809"/>
                  <a:ext cx="156" cy="55"/>
                  <a:chOff x="2848" y="848"/>
                  <a:chExt cx="140" cy="98"/>
                </a:xfrm>
              </p:grpSpPr>
              <p:sp>
                <p:nvSpPr>
                  <p:cNvPr id="8403" name="Line 27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 name="Line 27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5" name="Line 27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93" name="Group 280"/>
                <p:cNvGrpSpPr>
                  <a:grpSpLocks/>
                </p:cNvGrpSpPr>
                <p:nvPr/>
              </p:nvGrpSpPr>
              <p:grpSpPr bwMode="auto">
                <a:xfrm flipV="1">
                  <a:off x="4120" y="808"/>
                  <a:ext cx="156" cy="56"/>
                  <a:chOff x="2848" y="848"/>
                  <a:chExt cx="140" cy="98"/>
                </a:xfrm>
              </p:grpSpPr>
              <p:sp>
                <p:nvSpPr>
                  <p:cNvPr id="8400" name="Line 28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 name="Line 28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2" name="Line 28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94" name="Rectangle 284"/>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5" name="Rectangle 285"/>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6" name="Line 286"/>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 name="Line 287"/>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 name="Rectangle 288"/>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9" name="Text Box 289"/>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网络层</a:t>
                  </a:r>
                  <a:endParaRPr lang="zh-CN" altLang="en-US" sz="1400">
                    <a:solidFill>
                      <a:schemeClr val="tx1"/>
                    </a:solidFill>
                  </a:endParaRPr>
                </a:p>
              </p:txBody>
            </p:sp>
          </p:grpSp>
          <p:grpSp>
            <p:nvGrpSpPr>
              <p:cNvPr id="8275" name="Group 290"/>
              <p:cNvGrpSpPr>
                <a:grpSpLocks/>
              </p:cNvGrpSpPr>
              <p:nvPr/>
            </p:nvGrpSpPr>
            <p:grpSpPr bwMode="auto">
              <a:xfrm>
                <a:off x="4477" y="2241"/>
                <a:ext cx="513" cy="555"/>
                <a:chOff x="3937" y="633"/>
                <a:chExt cx="513" cy="555"/>
              </a:xfrm>
            </p:grpSpPr>
            <p:sp>
              <p:nvSpPr>
                <p:cNvPr id="8364" name="Line 291"/>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5" name="Line 292"/>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6" name="Oval 293"/>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67" name="Line 294"/>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8" name="Line 295"/>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9" name="Rectangle 296"/>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70" name="Oval 297"/>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71" name="Group 298"/>
                <p:cNvGrpSpPr>
                  <a:grpSpLocks/>
                </p:cNvGrpSpPr>
                <p:nvPr/>
              </p:nvGrpSpPr>
              <p:grpSpPr bwMode="auto">
                <a:xfrm>
                  <a:off x="4120" y="809"/>
                  <a:ext cx="156" cy="55"/>
                  <a:chOff x="2848" y="848"/>
                  <a:chExt cx="140" cy="98"/>
                </a:xfrm>
              </p:grpSpPr>
              <p:sp>
                <p:nvSpPr>
                  <p:cNvPr id="8382" name="Line 29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3" name="Line 30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4" name="Line 30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72" name="Group 302"/>
                <p:cNvGrpSpPr>
                  <a:grpSpLocks/>
                </p:cNvGrpSpPr>
                <p:nvPr/>
              </p:nvGrpSpPr>
              <p:grpSpPr bwMode="auto">
                <a:xfrm flipV="1">
                  <a:off x="4120" y="808"/>
                  <a:ext cx="156" cy="56"/>
                  <a:chOff x="2848" y="848"/>
                  <a:chExt cx="140" cy="98"/>
                </a:xfrm>
              </p:grpSpPr>
              <p:sp>
                <p:nvSpPr>
                  <p:cNvPr id="8379" name="Line 30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0" name="Line 30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1" name="Line 30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73" name="Rectangle 306"/>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4" name="Rectangle 307"/>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5" name="Line 308"/>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6" name="Line 309"/>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7" name="Rectangle 310"/>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8" name="Text Box 311"/>
                <p:cNvSpPr txBox="1">
                  <a:spLocks noChangeArrowheads="1"/>
                </p:cNvSpPr>
                <p:nvPr/>
              </p:nvSpPr>
              <p:spPr bwMode="auto">
                <a:xfrm>
                  <a:off x="3937" y="633"/>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a:p>
                  <a:pPr algn="ctr"/>
                  <a:endParaRPr lang="en-US" altLang="zh-CN" sz="1400">
                    <a:solidFill>
                      <a:schemeClr val="tx1"/>
                    </a:solidFill>
                    <a:latin typeface="Comic Sans MS" panose="030F0702030302020204" pitchFamily="66" charset="0"/>
                  </a:endParaRPr>
                </a:p>
              </p:txBody>
            </p:sp>
          </p:grpSp>
          <p:grpSp>
            <p:nvGrpSpPr>
              <p:cNvPr id="8276" name="Group 312"/>
              <p:cNvGrpSpPr>
                <a:grpSpLocks/>
              </p:cNvGrpSpPr>
              <p:nvPr/>
            </p:nvGrpSpPr>
            <p:grpSpPr bwMode="auto">
              <a:xfrm>
                <a:off x="4786" y="1860"/>
                <a:ext cx="513" cy="555"/>
                <a:chOff x="3937" y="633"/>
                <a:chExt cx="513" cy="555"/>
              </a:xfrm>
            </p:grpSpPr>
            <p:sp>
              <p:nvSpPr>
                <p:cNvPr id="8343" name="Line 313"/>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4" name="Line 314"/>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 name="Oval 315"/>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46" name="Line 316"/>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7" name="Line 317"/>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8" name="Rectangle 318"/>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49" name="Oval 319"/>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50" name="Group 320"/>
                <p:cNvGrpSpPr>
                  <a:grpSpLocks/>
                </p:cNvGrpSpPr>
                <p:nvPr/>
              </p:nvGrpSpPr>
              <p:grpSpPr bwMode="auto">
                <a:xfrm>
                  <a:off x="4120" y="809"/>
                  <a:ext cx="156" cy="55"/>
                  <a:chOff x="2848" y="848"/>
                  <a:chExt cx="140" cy="98"/>
                </a:xfrm>
              </p:grpSpPr>
              <p:sp>
                <p:nvSpPr>
                  <p:cNvPr id="8361" name="Line 32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2" name="Line 32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3" name="Line 32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51" name="Group 324"/>
                <p:cNvGrpSpPr>
                  <a:grpSpLocks/>
                </p:cNvGrpSpPr>
                <p:nvPr/>
              </p:nvGrpSpPr>
              <p:grpSpPr bwMode="auto">
                <a:xfrm flipV="1">
                  <a:off x="4120" y="808"/>
                  <a:ext cx="156" cy="56"/>
                  <a:chOff x="2848" y="848"/>
                  <a:chExt cx="140" cy="98"/>
                </a:xfrm>
              </p:grpSpPr>
              <p:sp>
                <p:nvSpPr>
                  <p:cNvPr id="8358" name="Line 32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9" name="Line 32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0" name="Line 32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52" name="Rectangle 328"/>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3" name="Rectangle 329"/>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4" name="Line 330"/>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5" name="Line 331"/>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6" name="Rectangle 332"/>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7" name="Text Box 333"/>
                <p:cNvSpPr txBox="1">
                  <a:spLocks noChangeArrowheads="1"/>
                </p:cNvSpPr>
                <p:nvPr/>
              </p:nvSpPr>
              <p:spPr bwMode="auto">
                <a:xfrm>
                  <a:off x="3937" y="633"/>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a:p>
                  <a:pPr algn="ctr"/>
                  <a:r>
                    <a:rPr lang="en-US" altLang="zh-CN" sz="1400">
                      <a:solidFill>
                        <a:schemeClr val="tx1"/>
                      </a:solidFill>
                      <a:latin typeface="Comic Sans MS" panose="030F0702030302020204" pitchFamily="66" charset="0"/>
                    </a:rPr>
                    <a:t>l</a:t>
                  </a:r>
                </a:p>
              </p:txBody>
            </p:sp>
          </p:grpSp>
          <p:grpSp>
            <p:nvGrpSpPr>
              <p:cNvPr id="8277" name="Group 334"/>
              <p:cNvGrpSpPr>
                <a:grpSpLocks/>
              </p:cNvGrpSpPr>
              <p:nvPr/>
            </p:nvGrpSpPr>
            <p:grpSpPr bwMode="auto">
              <a:xfrm>
                <a:off x="4915" y="1323"/>
                <a:ext cx="513" cy="453"/>
                <a:chOff x="3937" y="633"/>
                <a:chExt cx="513" cy="453"/>
              </a:xfrm>
            </p:grpSpPr>
            <p:sp>
              <p:nvSpPr>
                <p:cNvPr id="8322" name="Line 335"/>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3" name="Line 336"/>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4" name="Oval 337"/>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25" name="Line 338"/>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6" name="Line 339"/>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7" name="Rectangle 340"/>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28" name="Oval 341"/>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29" name="Group 342"/>
                <p:cNvGrpSpPr>
                  <a:grpSpLocks/>
                </p:cNvGrpSpPr>
                <p:nvPr/>
              </p:nvGrpSpPr>
              <p:grpSpPr bwMode="auto">
                <a:xfrm>
                  <a:off x="4120" y="809"/>
                  <a:ext cx="156" cy="55"/>
                  <a:chOff x="2848" y="848"/>
                  <a:chExt cx="140" cy="98"/>
                </a:xfrm>
              </p:grpSpPr>
              <p:sp>
                <p:nvSpPr>
                  <p:cNvPr id="8340" name="Line 34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1" name="Line 34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2" name="Line 34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30" name="Group 346"/>
                <p:cNvGrpSpPr>
                  <a:grpSpLocks/>
                </p:cNvGrpSpPr>
                <p:nvPr/>
              </p:nvGrpSpPr>
              <p:grpSpPr bwMode="auto">
                <a:xfrm flipV="1">
                  <a:off x="4120" y="808"/>
                  <a:ext cx="156" cy="56"/>
                  <a:chOff x="2848" y="848"/>
                  <a:chExt cx="140" cy="98"/>
                </a:xfrm>
              </p:grpSpPr>
              <p:sp>
                <p:nvSpPr>
                  <p:cNvPr id="8337" name="Line 3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8" name="Line 3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9" name="Line 3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31" name="Rectangle 350"/>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2" name="Rectangle 351"/>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3" name="Line 352"/>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4" name="Line 353"/>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 name="Rectangle 354"/>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6" name="Text Box 355"/>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endParaRPr lang="zh-CN" altLang="en-US" sz="1400">
                    <a:solidFill>
                      <a:schemeClr val="tx1"/>
                    </a:solidFill>
                  </a:endParaRPr>
                </a:p>
              </p:txBody>
            </p:sp>
          </p:grpSp>
          <p:grpSp>
            <p:nvGrpSpPr>
              <p:cNvPr id="8278" name="Group 356"/>
              <p:cNvGrpSpPr>
                <a:grpSpLocks/>
              </p:cNvGrpSpPr>
              <p:nvPr/>
            </p:nvGrpSpPr>
            <p:grpSpPr bwMode="auto">
              <a:xfrm>
                <a:off x="4189" y="2635"/>
                <a:ext cx="513" cy="453"/>
                <a:chOff x="3937" y="634"/>
                <a:chExt cx="513" cy="453"/>
              </a:xfrm>
            </p:grpSpPr>
            <p:sp>
              <p:nvSpPr>
                <p:cNvPr id="8301" name="Line 357"/>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2" name="Line 358"/>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3" name="Oval 359"/>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04" name="Line 360"/>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5" name="Line 361"/>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6" name="Rectangle 362"/>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07" name="Oval 363"/>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08" name="Group 364"/>
                <p:cNvGrpSpPr>
                  <a:grpSpLocks/>
                </p:cNvGrpSpPr>
                <p:nvPr/>
              </p:nvGrpSpPr>
              <p:grpSpPr bwMode="auto">
                <a:xfrm>
                  <a:off x="4120" y="809"/>
                  <a:ext cx="156" cy="55"/>
                  <a:chOff x="2848" y="848"/>
                  <a:chExt cx="140" cy="98"/>
                </a:xfrm>
              </p:grpSpPr>
              <p:sp>
                <p:nvSpPr>
                  <p:cNvPr id="8319" name="Line 36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0" name="Line 36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1" name="Line 36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09" name="Group 368"/>
                <p:cNvGrpSpPr>
                  <a:grpSpLocks/>
                </p:cNvGrpSpPr>
                <p:nvPr/>
              </p:nvGrpSpPr>
              <p:grpSpPr bwMode="auto">
                <a:xfrm flipV="1">
                  <a:off x="4120" y="808"/>
                  <a:ext cx="156" cy="56"/>
                  <a:chOff x="2848" y="848"/>
                  <a:chExt cx="140" cy="98"/>
                </a:xfrm>
              </p:grpSpPr>
              <p:sp>
                <p:nvSpPr>
                  <p:cNvPr id="8316" name="Line 36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7" name="Line 37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8" name="Line 37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10" name="Rectangle 372"/>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1" name="Rectangle 373"/>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2" name="Line 374"/>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3" name="Line 375"/>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4" name="Rectangle 376"/>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5" name="Text Box 377"/>
                <p:cNvSpPr txBox="1">
                  <a:spLocks noChangeArrowheads="1"/>
                </p:cNvSpPr>
                <p:nvPr/>
              </p:nvSpPr>
              <p:spPr bwMode="auto">
                <a:xfrm>
                  <a:off x="3937" y="634"/>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r>
                    <a:rPr lang="zh-CN" altLang="en-US" sz="1400">
                      <a:solidFill>
                        <a:schemeClr val="tx1"/>
                      </a:solidFill>
                      <a:latin typeface="Comic Sans MS" panose="030F0702030302020204" pitchFamily="66" charset="0"/>
                    </a:rPr>
                    <a:t>    数据链路层</a:t>
                  </a:r>
                </a:p>
                <a:p>
                  <a:r>
                    <a:rPr lang="zh-CN" altLang="en-US" sz="1400">
                      <a:solidFill>
                        <a:schemeClr val="tx1"/>
                      </a:solidFill>
                      <a:latin typeface="Comic Sans MS" panose="030F0702030302020204" pitchFamily="66" charset="0"/>
                    </a:rPr>
                    <a:t>       物理层</a:t>
                  </a:r>
                </a:p>
              </p:txBody>
            </p:sp>
          </p:grpSp>
          <p:grpSp>
            <p:nvGrpSpPr>
              <p:cNvPr id="8279" name="Group 378"/>
              <p:cNvGrpSpPr>
                <a:grpSpLocks/>
              </p:cNvGrpSpPr>
              <p:nvPr/>
            </p:nvGrpSpPr>
            <p:grpSpPr bwMode="auto">
              <a:xfrm>
                <a:off x="3658" y="1308"/>
                <a:ext cx="513" cy="453"/>
                <a:chOff x="3937" y="633"/>
                <a:chExt cx="513" cy="453"/>
              </a:xfrm>
            </p:grpSpPr>
            <p:sp>
              <p:nvSpPr>
                <p:cNvPr id="8280" name="Line 379"/>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1" name="Line 380"/>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2" name="Oval 381"/>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83" name="Line 382"/>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4" name="Line 383"/>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5" name="Rectangle 384"/>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286" name="Oval 385"/>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287" name="Group 386"/>
                <p:cNvGrpSpPr>
                  <a:grpSpLocks/>
                </p:cNvGrpSpPr>
                <p:nvPr/>
              </p:nvGrpSpPr>
              <p:grpSpPr bwMode="auto">
                <a:xfrm>
                  <a:off x="4120" y="809"/>
                  <a:ext cx="156" cy="55"/>
                  <a:chOff x="2848" y="848"/>
                  <a:chExt cx="140" cy="98"/>
                </a:xfrm>
              </p:grpSpPr>
              <p:sp>
                <p:nvSpPr>
                  <p:cNvPr id="8298" name="Line 38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9" name="Line 38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0" name="Line 38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88" name="Group 390"/>
                <p:cNvGrpSpPr>
                  <a:grpSpLocks/>
                </p:cNvGrpSpPr>
                <p:nvPr/>
              </p:nvGrpSpPr>
              <p:grpSpPr bwMode="auto">
                <a:xfrm flipV="1">
                  <a:off x="4120" y="808"/>
                  <a:ext cx="156" cy="56"/>
                  <a:chOff x="2848" y="848"/>
                  <a:chExt cx="140" cy="98"/>
                </a:xfrm>
              </p:grpSpPr>
              <p:sp>
                <p:nvSpPr>
                  <p:cNvPr id="8295" name="Line 39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 name="Line 39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 name="Line 39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289" name="Rectangle 394"/>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0" name="Rectangle 395"/>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1" name="Line 396"/>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2" name="Line 397"/>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3" name="Rectangle 398"/>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4" name="Text Box 399"/>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bg1"/>
                    </a:solidFill>
                    <a:latin typeface="宋体" panose="02010600030101010101" pitchFamily="2" charset="-122"/>
                  </a:endParaRPr>
                </a:p>
                <a:p>
                  <a:pPr algn="ctr"/>
                  <a:r>
                    <a:rPr lang="zh-CN" altLang="en-US" sz="1400">
                      <a:solidFill>
                        <a:schemeClr val="tx1"/>
                      </a:solidFill>
                      <a:latin typeface="宋体" panose="02010600030101010101" pitchFamily="2" charset="-122"/>
                    </a:rPr>
                    <a:t>网络层</a:t>
                  </a:r>
                </a:p>
                <a:p>
                  <a:pPr algn="ctr"/>
                  <a:r>
                    <a:rPr lang="zh-CN" altLang="en-US" sz="1400">
                      <a:solidFill>
                        <a:schemeClr val="tx1"/>
                      </a:solidFill>
                      <a:latin typeface="宋体" panose="02010600030101010101" pitchFamily="2" charset="-122"/>
                    </a:rPr>
                    <a:t>数据链路层</a:t>
                  </a:r>
                </a:p>
                <a:p>
                  <a:pPr algn="ctr"/>
                  <a:r>
                    <a:rPr lang="zh-CN" altLang="en-US" sz="1400">
                      <a:solidFill>
                        <a:schemeClr val="tx1"/>
                      </a:solidFill>
                      <a:latin typeface="宋体" panose="02010600030101010101" pitchFamily="2" charset="-122"/>
                    </a:rPr>
                    <a:t>物理层</a:t>
                  </a:r>
                </a:p>
              </p:txBody>
            </p:sp>
          </p:grpSp>
        </p:grpSp>
        <p:grpSp>
          <p:nvGrpSpPr>
            <p:cNvPr id="8253" name="Group 400"/>
            <p:cNvGrpSpPr>
              <a:grpSpLocks/>
            </p:cNvGrpSpPr>
            <p:nvPr/>
          </p:nvGrpSpPr>
          <p:grpSpPr bwMode="auto">
            <a:xfrm>
              <a:off x="605" y="984"/>
              <a:ext cx="4853" cy="3184"/>
              <a:chOff x="2956" y="969"/>
              <a:chExt cx="2373" cy="2400"/>
            </a:xfrm>
          </p:grpSpPr>
          <p:grpSp>
            <p:nvGrpSpPr>
              <p:cNvPr id="8254" name="Group 401"/>
              <p:cNvGrpSpPr>
                <a:grpSpLocks/>
              </p:cNvGrpSpPr>
              <p:nvPr/>
            </p:nvGrpSpPr>
            <p:grpSpPr bwMode="auto">
              <a:xfrm>
                <a:off x="2956" y="969"/>
                <a:ext cx="513" cy="564"/>
                <a:chOff x="2956" y="969"/>
                <a:chExt cx="513" cy="564"/>
              </a:xfrm>
            </p:grpSpPr>
            <p:sp>
              <p:nvSpPr>
                <p:cNvPr id="8264" name="Rectangle 402"/>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5" name="Rectangle 403"/>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6" name="Rectangle 404"/>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7" name="Text Box 405"/>
                <p:cNvSpPr txBox="1">
                  <a:spLocks noChangeArrowheads="1"/>
                </p:cNvSpPr>
                <p:nvPr/>
              </p:nvSpPr>
              <p:spPr bwMode="auto">
                <a:xfrm>
                  <a:off x="2956" y="978"/>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zh-CN" altLang="en-US" sz="1400">
                      <a:solidFill>
                        <a:schemeClr val="tx1"/>
                      </a:solidFill>
                      <a:latin typeface="Comic Sans MS" panose="030F0702030302020204" pitchFamily="66" charset="0"/>
                    </a:rPr>
                    <a:t>应用层</a:t>
                  </a:r>
                </a:p>
                <a:p>
                  <a:pPr algn="ctr"/>
                  <a:r>
                    <a:rPr lang="zh-CN" altLang="en-US" sz="1400">
                      <a:solidFill>
                        <a:schemeClr val="tx1"/>
                      </a:solidFill>
                      <a:latin typeface="Comic Sans MS" panose="030F0702030302020204" pitchFamily="66" charset="0"/>
                    </a:rPr>
                    <a:t>传输层</a:t>
                  </a:r>
                </a:p>
                <a:p>
                  <a:pPr algn="ctr"/>
                  <a:r>
                    <a:rPr lang="zh-CN" altLang="en-US" sz="1400">
                      <a:solidFill>
                        <a:schemeClr val="tx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endParaRPr lang="zh-CN" altLang="en-US" sz="1400">
                    <a:solidFill>
                      <a:schemeClr val="tx1"/>
                    </a:solidFill>
                  </a:endParaRPr>
                </a:p>
              </p:txBody>
            </p:sp>
            <p:sp>
              <p:nvSpPr>
                <p:cNvPr id="8268" name="Line 406"/>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Line 407"/>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Line 408"/>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Line 409"/>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55" name="Group 410"/>
              <p:cNvGrpSpPr>
                <a:grpSpLocks/>
              </p:cNvGrpSpPr>
              <p:nvPr/>
            </p:nvGrpSpPr>
            <p:grpSpPr bwMode="auto">
              <a:xfrm>
                <a:off x="4816" y="2805"/>
                <a:ext cx="513" cy="564"/>
                <a:chOff x="2956" y="969"/>
                <a:chExt cx="513" cy="564"/>
              </a:xfrm>
            </p:grpSpPr>
            <p:sp>
              <p:nvSpPr>
                <p:cNvPr id="8256" name="Rectangle 411"/>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7" name="Rectangle 412"/>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8" name="Rectangle 413"/>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9" name="Text Box 414"/>
                <p:cNvSpPr txBox="1">
                  <a:spLocks noChangeArrowheads="1"/>
                </p:cNvSpPr>
                <p:nvPr/>
              </p:nvSpPr>
              <p:spPr bwMode="auto">
                <a:xfrm>
                  <a:off x="2956" y="978"/>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zh-CN" altLang="en-US" sz="1400">
                      <a:solidFill>
                        <a:schemeClr val="tx1"/>
                      </a:solidFill>
                      <a:latin typeface="Comic Sans MS" panose="030F0702030302020204" pitchFamily="66" charset="0"/>
                    </a:rPr>
                    <a:t>应用层</a:t>
                  </a:r>
                </a:p>
                <a:p>
                  <a:pPr algn="ctr"/>
                  <a:r>
                    <a:rPr lang="zh-CN" altLang="en-US" sz="1400">
                      <a:solidFill>
                        <a:schemeClr val="tx1"/>
                      </a:solidFill>
                      <a:latin typeface="Comic Sans MS" panose="030F0702030302020204" pitchFamily="66" charset="0"/>
                    </a:rPr>
                    <a:t>传输层</a:t>
                  </a:r>
                </a:p>
                <a:p>
                  <a:pPr algn="ctr"/>
                  <a:r>
                    <a:rPr lang="zh-CN" altLang="en-US" sz="1400">
                      <a:solidFill>
                        <a:schemeClr val="bg1"/>
                      </a:solidFill>
                      <a:latin typeface="Comic Sans MS" panose="030F0702030302020204" pitchFamily="66" charset="0"/>
                    </a:rPr>
                    <a:t>网络层</a:t>
                  </a:r>
                  <a:endParaRPr lang="zh-CN" altLang="en-US" sz="1400">
                    <a:solidFill>
                      <a:schemeClr val="tx1"/>
                    </a:solidFill>
                    <a:latin typeface="Comic Sans MS" panose="030F0702030302020204" pitchFamily="66" charset="0"/>
                  </a:endParaRPr>
                </a:p>
                <a:p>
                  <a:r>
                    <a:rPr lang="zh-CN" altLang="en-US" sz="1400">
                      <a:solidFill>
                        <a:schemeClr val="tx1"/>
                      </a:solidFill>
                      <a:latin typeface="Comic Sans MS" panose="030F0702030302020204" pitchFamily="66" charset="0"/>
                    </a:rPr>
                    <a:t>      数据链路层</a:t>
                  </a:r>
                </a:p>
                <a:p>
                  <a:r>
                    <a:rPr lang="zh-CN" altLang="en-US" sz="1400">
                      <a:solidFill>
                        <a:schemeClr val="tx1"/>
                      </a:solidFill>
                      <a:latin typeface="Comic Sans MS" panose="030F0702030302020204" pitchFamily="66" charset="0"/>
                    </a:rPr>
                    <a:t>         物理层</a:t>
                  </a:r>
                </a:p>
              </p:txBody>
            </p:sp>
            <p:sp>
              <p:nvSpPr>
                <p:cNvPr id="8260" name="Line 415"/>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Line 416"/>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Line 417"/>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Line 418"/>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8251" name="Rectangle 419"/>
          <p:cNvSpPr>
            <a:spLocks noGrp="1" noChangeArrowheads="1"/>
          </p:cNvSpPr>
          <p:nvPr>
            <p:ph type="title"/>
          </p:nvPr>
        </p:nvSpPr>
        <p:spPr bwMode="auto">
          <a:xfrm>
            <a:off x="2184400" y="187325"/>
            <a:ext cx="7772400" cy="736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网络层模型</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34308"/>
                                        </p:tgtEl>
                                        <p:attrNameLst>
                                          <p:attrName>style.visibility</p:attrName>
                                        </p:attrNameLst>
                                      </p:cBhvr>
                                      <p:to>
                                        <p:strVal val="visible"/>
                                      </p:to>
                                    </p:set>
                                    <p:anim calcmode="lin" valueType="num">
                                      <p:cBhvr additive="base">
                                        <p:cTn id="7" dur="500" fill="hold"/>
                                        <p:tgtEl>
                                          <p:spTgt spid="1634308"/>
                                        </p:tgtEl>
                                        <p:attrNameLst>
                                          <p:attrName>ppt_x</p:attrName>
                                        </p:attrNameLst>
                                      </p:cBhvr>
                                      <p:tavLst>
                                        <p:tav tm="0">
                                          <p:val>
                                            <p:strVal val="1+#ppt_w/2"/>
                                          </p:val>
                                        </p:tav>
                                        <p:tav tm="100000">
                                          <p:val>
                                            <p:strVal val="#ppt_x"/>
                                          </p:val>
                                        </p:tav>
                                      </p:tavLst>
                                    </p:anim>
                                    <p:anim calcmode="lin" valueType="num">
                                      <p:cBhvr additive="base">
                                        <p:cTn id="8" dur="500" fill="hold"/>
                                        <p:tgtEl>
                                          <p:spTgt spid="16343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34307"/>
                                        </p:tgtEl>
                                        <p:attrNameLst>
                                          <p:attrName>style.visibility</p:attrName>
                                        </p:attrNameLst>
                                      </p:cBhvr>
                                      <p:to>
                                        <p:strVal val="visible"/>
                                      </p:to>
                                    </p:set>
                                    <p:anim calcmode="lin" valueType="num">
                                      <p:cBhvr additive="base">
                                        <p:cTn id="13" dur="500" fill="hold"/>
                                        <p:tgtEl>
                                          <p:spTgt spid="1634307"/>
                                        </p:tgtEl>
                                        <p:attrNameLst>
                                          <p:attrName>ppt_x</p:attrName>
                                        </p:attrNameLst>
                                      </p:cBhvr>
                                      <p:tavLst>
                                        <p:tav tm="0">
                                          <p:val>
                                            <p:strVal val="1+#ppt_w/2"/>
                                          </p:val>
                                        </p:tav>
                                        <p:tav tm="100000">
                                          <p:val>
                                            <p:strVal val="#ppt_x"/>
                                          </p:val>
                                        </p:tav>
                                      </p:tavLst>
                                    </p:anim>
                                    <p:anim calcmode="lin" valueType="num">
                                      <p:cBhvr additive="base">
                                        <p:cTn id="14" dur="500" fill="hold"/>
                                        <p:tgtEl>
                                          <p:spTgt spid="163430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34309"/>
                                        </p:tgtEl>
                                        <p:attrNameLst>
                                          <p:attrName>style.visibility</p:attrName>
                                        </p:attrNameLst>
                                      </p:cBhvr>
                                      <p:to>
                                        <p:strVal val="visible"/>
                                      </p:to>
                                    </p:set>
                                    <p:anim calcmode="lin" valueType="num">
                                      <p:cBhvr additive="base">
                                        <p:cTn id="19" dur="500" fill="hold"/>
                                        <p:tgtEl>
                                          <p:spTgt spid="1634309"/>
                                        </p:tgtEl>
                                        <p:attrNameLst>
                                          <p:attrName>ppt_x</p:attrName>
                                        </p:attrNameLst>
                                      </p:cBhvr>
                                      <p:tavLst>
                                        <p:tav tm="0">
                                          <p:val>
                                            <p:strVal val="1+#ppt_w/2"/>
                                          </p:val>
                                        </p:tav>
                                        <p:tav tm="100000">
                                          <p:val>
                                            <p:strVal val="#ppt_x"/>
                                          </p:val>
                                        </p:tav>
                                      </p:tavLst>
                                    </p:anim>
                                    <p:anim calcmode="lin" valueType="num">
                                      <p:cBhvr additive="base">
                                        <p:cTn id="20" dur="500" fill="hold"/>
                                        <p:tgtEl>
                                          <p:spTgt spid="163430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634526"/>
                                        </p:tgtEl>
                                        <p:attrNameLst>
                                          <p:attrName>style.visibility</p:attrName>
                                        </p:attrNameLst>
                                      </p:cBhvr>
                                      <p:to>
                                        <p:strVal val="visible"/>
                                      </p:to>
                                    </p:set>
                                    <p:anim calcmode="lin" valueType="num">
                                      <p:cBhvr additive="base">
                                        <p:cTn id="25" dur="500" fill="hold"/>
                                        <p:tgtEl>
                                          <p:spTgt spid="1634526"/>
                                        </p:tgtEl>
                                        <p:attrNameLst>
                                          <p:attrName>ppt_x</p:attrName>
                                        </p:attrNameLst>
                                      </p:cBhvr>
                                      <p:tavLst>
                                        <p:tav tm="0">
                                          <p:val>
                                            <p:strVal val="1+#ppt_w/2"/>
                                          </p:val>
                                        </p:tav>
                                        <p:tav tm="100000">
                                          <p:val>
                                            <p:strVal val="#ppt_x"/>
                                          </p:val>
                                        </p:tav>
                                      </p:tavLst>
                                    </p:anim>
                                    <p:anim calcmode="lin" valueType="num">
                                      <p:cBhvr additive="base">
                                        <p:cTn id="26" dur="500" fill="hold"/>
                                        <p:tgtEl>
                                          <p:spTgt spid="16345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hlinkClick r:id="rId2" action="ppaction://hlinksldjump"/>
          </p:cNvPr>
          <p:cNvSpPr>
            <a:spLocks noChangeArrowheads="1"/>
          </p:cNvSpPr>
          <p:nvPr/>
        </p:nvSpPr>
        <p:spPr bwMode="auto">
          <a:xfrm>
            <a:off x="1981200" y="2133600"/>
            <a:ext cx="2362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9219" name="Rectangle 3"/>
          <p:cNvSpPr>
            <a:spLocks noChangeArrowheads="1"/>
          </p:cNvSpPr>
          <p:nvPr/>
        </p:nvSpPr>
        <p:spPr bwMode="auto">
          <a:xfrm>
            <a:off x="2133600" y="2514600"/>
            <a:ext cx="1066800" cy="6096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HTTP</a:t>
            </a:r>
          </a:p>
        </p:txBody>
      </p:sp>
      <p:sp>
        <p:nvSpPr>
          <p:cNvPr id="9220" name="Rectangle 4"/>
          <p:cNvSpPr>
            <a:spLocks noChangeArrowheads="1"/>
          </p:cNvSpPr>
          <p:nvPr/>
        </p:nvSpPr>
        <p:spPr bwMode="auto">
          <a:xfrm>
            <a:off x="2133600" y="3352800"/>
            <a:ext cx="1066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TCP</a:t>
            </a:r>
          </a:p>
        </p:txBody>
      </p:sp>
      <p:sp>
        <p:nvSpPr>
          <p:cNvPr id="9221" name="Rectangle 5"/>
          <p:cNvSpPr>
            <a:spLocks noChangeArrowheads="1"/>
          </p:cNvSpPr>
          <p:nvPr/>
        </p:nvSpPr>
        <p:spPr bwMode="auto">
          <a:xfrm>
            <a:off x="2133600" y="42672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22" name="Rectangle 6"/>
          <p:cNvSpPr>
            <a:spLocks noChangeArrowheads="1"/>
          </p:cNvSpPr>
          <p:nvPr/>
        </p:nvSpPr>
        <p:spPr bwMode="auto">
          <a:xfrm>
            <a:off x="2133600" y="5181600"/>
            <a:ext cx="1066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ethernet</a:t>
            </a:r>
          </a:p>
        </p:txBody>
      </p:sp>
      <p:sp>
        <p:nvSpPr>
          <p:cNvPr id="9223" name="Line 7"/>
          <p:cNvSpPr>
            <a:spLocks noChangeShapeType="1"/>
          </p:cNvSpPr>
          <p:nvPr/>
        </p:nvSpPr>
        <p:spPr bwMode="auto">
          <a:xfrm>
            <a:off x="2819400" y="31242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8"/>
          <p:cNvSpPr>
            <a:spLocks noChangeShapeType="1"/>
          </p:cNvSpPr>
          <p:nvPr/>
        </p:nvSpPr>
        <p:spPr bwMode="auto">
          <a:xfrm>
            <a:off x="2819400" y="49530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p:cNvSpPr>
            <a:spLocks noChangeShapeType="1"/>
          </p:cNvSpPr>
          <p:nvPr/>
        </p:nvSpPr>
        <p:spPr bwMode="auto">
          <a:xfrm>
            <a:off x="2819400" y="4038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Text Box 10"/>
          <p:cNvSpPr txBox="1">
            <a:spLocks noChangeArrowheads="1"/>
          </p:cNvSpPr>
          <p:nvPr/>
        </p:nvSpPr>
        <p:spPr bwMode="auto">
          <a:xfrm>
            <a:off x="2209801" y="1676400"/>
            <a:ext cx="101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主机</a:t>
            </a:r>
            <a:r>
              <a:rPr lang="en-US" altLang="zh-CN" sz="2400" b="0">
                <a:solidFill>
                  <a:schemeClr val="tx1"/>
                </a:solidFill>
              </a:rPr>
              <a:t>A</a:t>
            </a:r>
          </a:p>
        </p:txBody>
      </p:sp>
      <p:sp>
        <p:nvSpPr>
          <p:cNvPr id="9227" name="Line 11"/>
          <p:cNvSpPr>
            <a:spLocks noChangeShapeType="1"/>
          </p:cNvSpPr>
          <p:nvPr/>
        </p:nvSpPr>
        <p:spPr bwMode="auto">
          <a:xfrm flipH="1">
            <a:off x="2819400" y="22860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Line 12"/>
          <p:cNvSpPr>
            <a:spLocks noChangeShapeType="1"/>
          </p:cNvSpPr>
          <p:nvPr/>
        </p:nvSpPr>
        <p:spPr bwMode="auto">
          <a:xfrm>
            <a:off x="7772400" y="57150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Line 13"/>
          <p:cNvSpPr>
            <a:spLocks noChangeShapeType="1"/>
          </p:cNvSpPr>
          <p:nvPr/>
        </p:nvSpPr>
        <p:spPr bwMode="auto">
          <a:xfrm>
            <a:off x="4495800" y="5791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Line 14"/>
          <p:cNvSpPr>
            <a:spLocks noChangeShapeType="1"/>
          </p:cNvSpPr>
          <p:nvPr/>
        </p:nvSpPr>
        <p:spPr bwMode="auto">
          <a:xfrm>
            <a:off x="3581400" y="6629400"/>
            <a:ext cx="472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Freeform 15"/>
          <p:cNvSpPr>
            <a:spLocks/>
          </p:cNvSpPr>
          <p:nvPr/>
        </p:nvSpPr>
        <p:spPr bwMode="auto">
          <a:xfrm>
            <a:off x="2514600" y="6248400"/>
            <a:ext cx="1447800" cy="152400"/>
          </a:xfrm>
          <a:custGeom>
            <a:avLst/>
            <a:gdLst>
              <a:gd name="T0" fmla="*/ 0 w 672"/>
              <a:gd name="T1" fmla="*/ 241935000 h 96"/>
              <a:gd name="T2" fmla="*/ 891209233 w 672"/>
              <a:gd name="T3" fmla="*/ 0 h 96"/>
              <a:gd name="T4" fmla="*/ 2147483646 w 672"/>
              <a:gd name="T5" fmla="*/ 241935000 h 96"/>
              <a:gd name="T6" fmla="*/ 2147483646 w 67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96">
                <a:moveTo>
                  <a:pt x="0" y="96"/>
                </a:moveTo>
                <a:cubicBezTo>
                  <a:pt x="56" y="48"/>
                  <a:pt x="112" y="0"/>
                  <a:pt x="192" y="0"/>
                </a:cubicBezTo>
                <a:cubicBezTo>
                  <a:pt x="272" y="0"/>
                  <a:pt x="400" y="96"/>
                  <a:pt x="480" y="96"/>
                </a:cubicBezTo>
                <a:cubicBezTo>
                  <a:pt x="560" y="96"/>
                  <a:pt x="616" y="48"/>
                  <a:pt x="672" y="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Freeform 16"/>
          <p:cNvSpPr>
            <a:spLocks/>
          </p:cNvSpPr>
          <p:nvPr/>
        </p:nvSpPr>
        <p:spPr bwMode="auto">
          <a:xfrm>
            <a:off x="7620000" y="6172200"/>
            <a:ext cx="2057400" cy="152400"/>
          </a:xfrm>
          <a:custGeom>
            <a:avLst/>
            <a:gdLst>
              <a:gd name="T0" fmla="*/ 0 w 672"/>
              <a:gd name="T1" fmla="*/ 241935000 h 96"/>
              <a:gd name="T2" fmla="*/ 1799701465 w 672"/>
              <a:gd name="T3" fmla="*/ 0 h 96"/>
              <a:gd name="T4" fmla="*/ 2147483646 w 672"/>
              <a:gd name="T5" fmla="*/ 241935000 h 96"/>
              <a:gd name="T6" fmla="*/ 2147483646 w 67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96">
                <a:moveTo>
                  <a:pt x="0" y="96"/>
                </a:moveTo>
                <a:cubicBezTo>
                  <a:pt x="56" y="48"/>
                  <a:pt x="112" y="0"/>
                  <a:pt x="192" y="0"/>
                </a:cubicBezTo>
                <a:cubicBezTo>
                  <a:pt x="272" y="0"/>
                  <a:pt x="400" y="96"/>
                  <a:pt x="480" y="96"/>
                </a:cubicBezTo>
                <a:cubicBezTo>
                  <a:pt x="560" y="96"/>
                  <a:pt x="616" y="48"/>
                  <a:pt x="672" y="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Line 17"/>
          <p:cNvSpPr>
            <a:spLocks noChangeShapeType="1"/>
          </p:cNvSpPr>
          <p:nvPr/>
        </p:nvSpPr>
        <p:spPr bwMode="auto">
          <a:xfrm>
            <a:off x="2819400" y="5943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Rectangle 18"/>
          <p:cNvSpPr>
            <a:spLocks noChangeArrowheads="1"/>
          </p:cNvSpPr>
          <p:nvPr/>
        </p:nvSpPr>
        <p:spPr bwMode="auto">
          <a:xfrm>
            <a:off x="3733800" y="41148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35" name="Rectangle 19"/>
          <p:cNvSpPr>
            <a:spLocks noChangeArrowheads="1"/>
          </p:cNvSpPr>
          <p:nvPr/>
        </p:nvSpPr>
        <p:spPr bwMode="auto">
          <a:xfrm>
            <a:off x="35814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ethernet</a:t>
            </a:r>
            <a:endParaRPr lang="en-US" altLang="zh-CN" sz="2400" b="0">
              <a:solidFill>
                <a:schemeClr val="tx1"/>
              </a:solidFill>
            </a:endParaRPr>
          </a:p>
        </p:txBody>
      </p:sp>
      <p:sp>
        <p:nvSpPr>
          <p:cNvPr id="9236" name="Line 20"/>
          <p:cNvSpPr>
            <a:spLocks noChangeShapeType="1"/>
          </p:cNvSpPr>
          <p:nvPr/>
        </p:nvSpPr>
        <p:spPr bwMode="auto">
          <a:xfrm>
            <a:off x="45720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Text Box 21"/>
          <p:cNvSpPr txBox="1">
            <a:spLocks noChangeArrowheads="1"/>
          </p:cNvSpPr>
          <p:nvPr/>
        </p:nvSpPr>
        <p:spPr bwMode="auto">
          <a:xfrm>
            <a:off x="3657600" y="2133600"/>
            <a:ext cx="130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路由器</a:t>
            </a:r>
            <a:r>
              <a:rPr lang="en-US" altLang="zh-CN" sz="2400" b="0">
                <a:solidFill>
                  <a:schemeClr val="tx1"/>
                </a:solidFill>
              </a:rPr>
              <a:t>R</a:t>
            </a:r>
          </a:p>
        </p:txBody>
      </p:sp>
      <p:sp>
        <p:nvSpPr>
          <p:cNvPr id="9238" name="Rectangle 22"/>
          <p:cNvSpPr>
            <a:spLocks noChangeArrowheads="1"/>
          </p:cNvSpPr>
          <p:nvPr/>
        </p:nvSpPr>
        <p:spPr bwMode="auto">
          <a:xfrm>
            <a:off x="43434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link</a:t>
            </a:r>
            <a:endParaRPr lang="en-US" altLang="zh-CN" sz="2400" b="0">
              <a:solidFill>
                <a:schemeClr val="tx1"/>
              </a:solidFill>
            </a:endParaRPr>
          </a:p>
        </p:txBody>
      </p:sp>
      <p:sp>
        <p:nvSpPr>
          <p:cNvPr id="9239" name="Line 23"/>
          <p:cNvSpPr>
            <a:spLocks noChangeShapeType="1"/>
          </p:cNvSpPr>
          <p:nvPr/>
        </p:nvSpPr>
        <p:spPr bwMode="auto">
          <a:xfrm flipV="1">
            <a:off x="3733800" y="57912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Line 24"/>
          <p:cNvSpPr>
            <a:spLocks noChangeShapeType="1"/>
          </p:cNvSpPr>
          <p:nvPr/>
        </p:nvSpPr>
        <p:spPr bwMode="auto">
          <a:xfrm flipV="1">
            <a:off x="39624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25"/>
          <p:cNvSpPr>
            <a:spLocks noChangeArrowheads="1"/>
          </p:cNvSpPr>
          <p:nvPr/>
        </p:nvSpPr>
        <p:spPr bwMode="auto">
          <a:xfrm>
            <a:off x="8991600" y="2438400"/>
            <a:ext cx="1066800" cy="6096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HTTP</a:t>
            </a:r>
          </a:p>
        </p:txBody>
      </p:sp>
      <p:sp>
        <p:nvSpPr>
          <p:cNvPr id="9242" name="Rectangle 26"/>
          <p:cNvSpPr>
            <a:spLocks noChangeArrowheads="1"/>
          </p:cNvSpPr>
          <p:nvPr/>
        </p:nvSpPr>
        <p:spPr bwMode="auto">
          <a:xfrm>
            <a:off x="8991600" y="3276600"/>
            <a:ext cx="1066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TCP</a:t>
            </a:r>
          </a:p>
        </p:txBody>
      </p:sp>
      <p:sp>
        <p:nvSpPr>
          <p:cNvPr id="9243" name="Rectangle 27"/>
          <p:cNvSpPr>
            <a:spLocks noChangeArrowheads="1"/>
          </p:cNvSpPr>
          <p:nvPr/>
        </p:nvSpPr>
        <p:spPr bwMode="auto">
          <a:xfrm>
            <a:off x="8991600" y="41910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44" name="Rectangle 28"/>
          <p:cNvSpPr>
            <a:spLocks noChangeArrowheads="1"/>
          </p:cNvSpPr>
          <p:nvPr/>
        </p:nvSpPr>
        <p:spPr bwMode="auto">
          <a:xfrm>
            <a:off x="8991600" y="5105400"/>
            <a:ext cx="1066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ethernet</a:t>
            </a:r>
          </a:p>
        </p:txBody>
      </p:sp>
      <p:sp>
        <p:nvSpPr>
          <p:cNvPr id="9245" name="Line 29"/>
          <p:cNvSpPr>
            <a:spLocks noChangeShapeType="1"/>
          </p:cNvSpPr>
          <p:nvPr/>
        </p:nvSpPr>
        <p:spPr bwMode="auto">
          <a:xfrm>
            <a:off x="9296400" y="48768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Line 30"/>
          <p:cNvSpPr>
            <a:spLocks noChangeShapeType="1"/>
          </p:cNvSpPr>
          <p:nvPr/>
        </p:nvSpPr>
        <p:spPr bwMode="auto">
          <a:xfrm>
            <a:off x="9296400" y="5867400"/>
            <a:ext cx="0" cy="4572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7" name="Line 31"/>
          <p:cNvSpPr>
            <a:spLocks noChangeShapeType="1"/>
          </p:cNvSpPr>
          <p:nvPr/>
        </p:nvSpPr>
        <p:spPr bwMode="auto">
          <a:xfrm>
            <a:off x="9296400" y="39624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Line 32"/>
          <p:cNvSpPr>
            <a:spLocks noChangeShapeType="1"/>
          </p:cNvSpPr>
          <p:nvPr/>
        </p:nvSpPr>
        <p:spPr bwMode="auto">
          <a:xfrm>
            <a:off x="9296400" y="30480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33"/>
          <p:cNvSpPr>
            <a:spLocks noChangeShapeType="1"/>
          </p:cNvSpPr>
          <p:nvPr/>
        </p:nvSpPr>
        <p:spPr bwMode="auto">
          <a:xfrm>
            <a:off x="9296400" y="22098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Text Box 34"/>
          <p:cNvSpPr txBox="1">
            <a:spLocks noChangeArrowheads="1"/>
          </p:cNvSpPr>
          <p:nvPr/>
        </p:nvSpPr>
        <p:spPr bwMode="auto">
          <a:xfrm>
            <a:off x="6400800" y="2133600"/>
            <a:ext cx="1385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路由器</a:t>
            </a:r>
            <a:r>
              <a:rPr lang="en-US" altLang="zh-CN" sz="2400" b="0">
                <a:solidFill>
                  <a:schemeClr val="tx1"/>
                </a:solidFill>
              </a:rPr>
              <a:t>W</a:t>
            </a:r>
          </a:p>
        </p:txBody>
      </p:sp>
      <p:sp>
        <p:nvSpPr>
          <p:cNvPr id="9251" name="Text Box 35"/>
          <p:cNvSpPr txBox="1">
            <a:spLocks noChangeArrowheads="1"/>
          </p:cNvSpPr>
          <p:nvPr/>
        </p:nvSpPr>
        <p:spPr bwMode="auto">
          <a:xfrm>
            <a:off x="8534400" y="1676400"/>
            <a:ext cx="99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主机</a:t>
            </a:r>
            <a:r>
              <a:rPr lang="en-US" altLang="zh-CN" sz="2400" b="0">
                <a:solidFill>
                  <a:schemeClr val="tx1"/>
                </a:solidFill>
              </a:rPr>
              <a:t>B</a:t>
            </a:r>
          </a:p>
        </p:txBody>
      </p:sp>
      <p:sp>
        <p:nvSpPr>
          <p:cNvPr id="9252" name="Rectangle 36"/>
          <p:cNvSpPr>
            <a:spLocks noChangeArrowheads="1"/>
          </p:cNvSpPr>
          <p:nvPr/>
        </p:nvSpPr>
        <p:spPr bwMode="auto">
          <a:xfrm>
            <a:off x="6553200" y="41148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53" name="Rectangle 37"/>
          <p:cNvSpPr>
            <a:spLocks noChangeArrowheads="1"/>
          </p:cNvSpPr>
          <p:nvPr/>
        </p:nvSpPr>
        <p:spPr bwMode="auto">
          <a:xfrm>
            <a:off x="71628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ethernet</a:t>
            </a:r>
            <a:endParaRPr lang="en-US" altLang="zh-CN" sz="2400" b="0">
              <a:solidFill>
                <a:schemeClr val="tx1"/>
              </a:solidFill>
            </a:endParaRPr>
          </a:p>
        </p:txBody>
      </p:sp>
      <p:sp>
        <p:nvSpPr>
          <p:cNvPr id="9254" name="Line 38"/>
          <p:cNvSpPr>
            <a:spLocks noChangeShapeType="1"/>
          </p:cNvSpPr>
          <p:nvPr/>
        </p:nvSpPr>
        <p:spPr bwMode="auto">
          <a:xfrm>
            <a:off x="73914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5" name="Rectangle 39"/>
          <p:cNvSpPr>
            <a:spLocks noChangeArrowheads="1"/>
          </p:cNvSpPr>
          <p:nvPr/>
        </p:nvSpPr>
        <p:spPr bwMode="auto">
          <a:xfrm>
            <a:off x="64008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link</a:t>
            </a:r>
            <a:endParaRPr lang="en-US" altLang="zh-CN" sz="2400" b="0">
              <a:solidFill>
                <a:schemeClr val="tx1"/>
              </a:solidFill>
            </a:endParaRPr>
          </a:p>
        </p:txBody>
      </p:sp>
      <p:sp>
        <p:nvSpPr>
          <p:cNvPr id="9256" name="Line 40"/>
          <p:cNvSpPr>
            <a:spLocks noChangeShapeType="1"/>
          </p:cNvSpPr>
          <p:nvPr/>
        </p:nvSpPr>
        <p:spPr bwMode="auto">
          <a:xfrm flipV="1">
            <a:off x="6553200" y="5791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Line 41"/>
          <p:cNvSpPr>
            <a:spLocks noChangeShapeType="1"/>
          </p:cNvSpPr>
          <p:nvPr/>
        </p:nvSpPr>
        <p:spPr bwMode="auto">
          <a:xfrm flipV="1">
            <a:off x="67818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962" name="Freeform 42"/>
          <p:cNvSpPr>
            <a:spLocks/>
          </p:cNvSpPr>
          <p:nvPr/>
        </p:nvSpPr>
        <p:spPr bwMode="auto">
          <a:xfrm>
            <a:off x="2260600" y="2057400"/>
            <a:ext cx="7493000" cy="4775200"/>
          </a:xfrm>
          <a:custGeom>
            <a:avLst/>
            <a:gdLst>
              <a:gd name="T0" fmla="*/ 403225000 w 4720"/>
              <a:gd name="T1" fmla="*/ 362902500 h 3008"/>
              <a:gd name="T2" fmla="*/ 282257500 w 4720"/>
              <a:gd name="T3" fmla="*/ 2147483646 h 3008"/>
              <a:gd name="T4" fmla="*/ 2096770000 w 4720"/>
              <a:gd name="T5" fmla="*/ 2147483646 h 3008"/>
              <a:gd name="T6" fmla="*/ 2147483646 w 4720"/>
              <a:gd name="T7" fmla="*/ 2147483646 h 3008"/>
              <a:gd name="T8" fmla="*/ 2147483646 w 4720"/>
              <a:gd name="T9" fmla="*/ 2147483646 h 3008"/>
              <a:gd name="T10" fmla="*/ 2147483646 w 4720"/>
              <a:gd name="T11" fmla="*/ 2147483646 h 3008"/>
              <a:gd name="T12" fmla="*/ 2147483646 w 4720"/>
              <a:gd name="T13" fmla="*/ 2147483646 h 3008"/>
              <a:gd name="T14" fmla="*/ 2147483646 w 4720"/>
              <a:gd name="T15" fmla="*/ 2147483646 h 3008"/>
              <a:gd name="T16" fmla="*/ 2147483646 w 4720"/>
              <a:gd name="T17" fmla="*/ 2147483646 h 3008"/>
              <a:gd name="T18" fmla="*/ 2147483646 w 4720"/>
              <a:gd name="T19" fmla="*/ 2147483646 h 3008"/>
              <a:gd name="T20" fmla="*/ 2147483646 w 4720"/>
              <a:gd name="T21" fmla="*/ 2147483646 h 3008"/>
              <a:gd name="T22" fmla="*/ 2147483646 w 4720"/>
              <a:gd name="T23" fmla="*/ 2147483646 h 3008"/>
              <a:gd name="T24" fmla="*/ 2147483646 w 4720"/>
              <a:gd name="T25" fmla="*/ 2147483646 h 3008"/>
              <a:gd name="T26" fmla="*/ 2147483646 w 4720"/>
              <a:gd name="T27" fmla="*/ 2147483646 h 3008"/>
              <a:gd name="T28" fmla="*/ 2147483646 w 4720"/>
              <a:gd name="T29" fmla="*/ 2147483646 h 3008"/>
              <a:gd name="T30" fmla="*/ 2147483646 w 4720"/>
              <a:gd name="T31" fmla="*/ 0 h 30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0" h="3008">
                <a:moveTo>
                  <a:pt x="160" y="144"/>
                </a:moveTo>
                <a:cubicBezTo>
                  <a:pt x="80" y="1160"/>
                  <a:pt x="0" y="2176"/>
                  <a:pt x="112" y="2592"/>
                </a:cubicBezTo>
                <a:cubicBezTo>
                  <a:pt x="224" y="3008"/>
                  <a:pt x="672" y="2840"/>
                  <a:pt x="832" y="2640"/>
                </a:cubicBezTo>
                <a:cubicBezTo>
                  <a:pt x="992" y="2440"/>
                  <a:pt x="960" y="1600"/>
                  <a:pt x="1072" y="1392"/>
                </a:cubicBezTo>
                <a:cubicBezTo>
                  <a:pt x="1184" y="1184"/>
                  <a:pt x="1400" y="1232"/>
                  <a:pt x="1504" y="1392"/>
                </a:cubicBezTo>
                <a:cubicBezTo>
                  <a:pt x="1608" y="1552"/>
                  <a:pt x="1640" y="2112"/>
                  <a:pt x="1696" y="2352"/>
                </a:cubicBezTo>
                <a:cubicBezTo>
                  <a:pt x="1752" y="2592"/>
                  <a:pt x="1688" y="2760"/>
                  <a:pt x="1840" y="2832"/>
                </a:cubicBezTo>
                <a:cubicBezTo>
                  <a:pt x="1992" y="2904"/>
                  <a:pt x="2472" y="2912"/>
                  <a:pt x="2608" y="2784"/>
                </a:cubicBezTo>
                <a:cubicBezTo>
                  <a:pt x="2744" y="2656"/>
                  <a:pt x="2624" y="2296"/>
                  <a:pt x="2656" y="2064"/>
                </a:cubicBezTo>
                <a:cubicBezTo>
                  <a:pt x="2688" y="1832"/>
                  <a:pt x="2696" y="1504"/>
                  <a:pt x="2800" y="1392"/>
                </a:cubicBezTo>
                <a:cubicBezTo>
                  <a:pt x="2904" y="1280"/>
                  <a:pt x="3176" y="1280"/>
                  <a:pt x="3280" y="1392"/>
                </a:cubicBezTo>
                <a:cubicBezTo>
                  <a:pt x="3384" y="1504"/>
                  <a:pt x="3368" y="1848"/>
                  <a:pt x="3424" y="2064"/>
                </a:cubicBezTo>
                <a:cubicBezTo>
                  <a:pt x="3480" y="2280"/>
                  <a:pt x="3432" y="2576"/>
                  <a:pt x="3616" y="2688"/>
                </a:cubicBezTo>
                <a:cubicBezTo>
                  <a:pt x="3800" y="2800"/>
                  <a:pt x="4352" y="2816"/>
                  <a:pt x="4528" y="2736"/>
                </a:cubicBezTo>
                <a:cubicBezTo>
                  <a:pt x="4704" y="2656"/>
                  <a:pt x="4640" y="2664"/>
                  <a:pt x="4672" y="2208"/>
                </a:cubicBezTo>
                <a:cubicBezTo>
                  <a:pt x="4704" y="1752"/>
                  <a:pt x="4712" y="876"/>
                  <a:pt x="4720" y="0"/>
                </a:cubicBezTo>
              </a:path>
            </a:pathLst>
          </a:custGeom>
          <a:noFill/>
          <a:ln w="28575" cmpd="sng">
            <a:solidFill>
              <a:srgbClr val="0000FF"/>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9" name="Rectangle 43"/>
          <p:cNvSpPr>
            <a:spLocks noGrp="1" noChangeArrowheads="1"/>
          </p:cNvSpPr>
          <p:nvPr>
            <p:ph type="title"/>
          </p:nvPr>
        </p:nvSpPr>
        <p:spPr bwMode="auto">
          <a:xfrm>
            <a:off x="2209800" y="3683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a:t> </a:t>
            </a:r>
            <a:r>
              <a:rPr lang="en-US" altLang="zh-CN" sz="3600">
                <a:solidFill>
                  <a:schemeClr val="hlink"/>
                </a:solidFill>
                <a:latin typeface="华文新魏" panose="02010800040101010101" pitchFamily="2" charset="-122"/>
                <a:ea typeface="华文新魏" panose="02010800040101010101" pitchFamily="2" charset="-122"/>
              </a:rPr>
              <a:t>Internet</a:t>
            </a:r>
            <a:r>
              <a:rPr lang="zh-CN" altLang="en-US" sz="3600">
                <a:solidFill>
                  <a:schemeClr val="hlink"/>
                </a:solidFill>
                <a:latin typeface="华文新魏" panose="02010800040101010101" pitchFamily="2" charset="-122"/>
                <a:ea typeface="华文新魏" panose="02010800040101010101" pitchFamily="2" charset="-122"/>
              </a:rPr>
              <a:t>协议栈</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45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2227263"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网络层的功能</a:t>
            </a:r>
          </a:p>
        </p:txBody>
      </p:sp>
      <p:sp>
        <p:nvSpPr>
          <p:cNvPr id="10243" name="Text Box 3"/>
          <p:cNvSpPr txBox="1">
            <a:spLocks noChangeArrowheads="1"/>
          </p:cNvSpPr>
          <p:nvPr/>
        </p:nvSpPr>
        <p:spPr bwMode="auto">
          <a:xfrm>
            <a:off x="2312989" y="1727200"/>
            <a:ext cx="76533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7363" indent="-487363">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3200">
                <a:solidFill>
                  <a:schemeClr val="hlink"/>
                </a:solidFill>
                <a:latin typeface="宋体" panose="02010600030101010101" pitchFamily="2" charset="-122"/>
              </a:rPr>
              <a:t>基本功能：</a:t>
            </a:r>
            <a:r>
              <a:rPr kumimoji="1" lang="zh-CN" altLang="en-US" sz="3200">
                <a:solidFill>
                  <a:schemeClr val="tx2"/>
                </a:solidFill>
                <a:latin typeface="宋体" panose="02010600030101010101" pitchFamily="2" charset="-122"/>
              </a:rPr>
              <a:t>实现网络端到网络端</a:t>
            </a:r>
            <a:r>
              <a:rPr kumimoji="1" lang="en-US" altLang="zh-CN" sz="3200">
                <a:solidFill>
                  <a:schemeClr val="tx2"/>
                </a:solidFill>
                <a:latin typeface="宋体" panose="02010600030101010101" pitchFamily="2" charset="-122"/>
              </a:rPr>
              <a:t>(</a:t>
            </a:r>
            <a:r>
              <a:rPr kumimoji="1" lang="zh-CN" altLang="en-US" sz="3200">
                <a:solidFill>
                  <a:schemeClr val="tx2"/>
                </a:solidFill>
                <a:latin typeface="宋体" panose="02010600030101010101" pitchFamily="2" charset="-122"/>
              </a:rPr>
              <a:t>源</a:t>
            </a:r>
            <a:r>
              <a:rPr kumimoji="1" lang="en-US" altLang="zh-CN" sz="3200">
                <a:solidFill>
                  <a:schemeClr val="tx2"/>
                </a:solidFill>
                <a:latin typeface="宋体" panose="02010600030101010101" pitchFamily="2" charset="-122"/>
              </a:rPr>
              <a:t>IMP</a:t>
            </a:r>
            <a:r>
              <a:rPr kumimoji="1" lang="zh-CN" altLang="en-US" sz="3200">
                <a:solidFill>
                  <a:schemeClr val="tx2"/>
                </a:solidFill>
                <a:latin typeface="宋体" panose="02010600030101010101" pitchFamily="2" charset="-122"/>
              </a:rPr>
              <a:t>到目的</a:t>
            </a:r>
            <a:r>
              <a:rPr kumimoji="1" lang="en-US" altLang="zh-CN" sz="3200">
                <a:solidFill>
                  <a:schemeClr val="tx2"/>
                </a:solidFill>
                <a:latin typeface="宋体" panose="02010600030101010101" pitchFamily="2" charset="-122"/>
              </a:rPr>
              <a:t>IMP)</a:t>
            </a:r>
            <a:r>
              <a:rPr kumimoji="1" lang="zh-CN" altLang="en-US" sz="3200">
                <a:solidFill>
                  <a:schemeClr val="tx2"/>
                </a:solidFill>
                <a:latin typeface="宋体" panose="02010600030101010101" pitchFamily="2" charset="-122"/>
              </a:rPr>
              <a:t>的传输</a:t>
            </a:r>
            <a:r>
              <a:rPr kumimoji="1" lang="zh-CN" altLang="en-US" sz="3200">
                <a:solidFill>
                  <a:schemeClr val="tx1"/>
                </a:solidFill>
                <a:latin typeface="宋体" panose="02010600030101010101" pitchFamily="2" charset="-122"/>
              </a:rPr>
              <a:t>，屏蔽不同通信子网技术上的差异，向上层提供统一的服务。</a:t>
            </a:r>
            <a:r>
              <a:rPr kumimoji="1" lang="zh-CN" altLang="en-US" b="0">
                <a:solidFill>
                  <a:schemeClr val="tx1"/>
                </a:solidFill>
                <a:latin typeface="华文中宋" panose="02010600040101010101" pitchFamily="2" charset="-122"/>
                <a:ea typeface="华文中宋" panose="02010600040101010101" pitchFamily="2" charset="-122"/>
              </a:rPr>
              <a:t> </a:t>
            </a:r>
            <a:endParaRPr kumimoji="1" lang="zh-CN" altLang="en-US" b="0">
              <a:solidFill>
                <a:schemeClr val="tx1"/>
              </a:solidFill>
            </a:endParaRP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1752600" y="2406650"/>
            <a:ext cx="8763000" cy="3475038"/>
          </a:xfrm>
          <a:prstGeom prst="rect">
            <a:avLst/>
          </a:prstGeom>
          <a:solidFill>
            <a:srgbClr val="F8F9C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7" name="Rectangle 5"/>
          <p:cNvSpPr>
            <a:spLocks noChangeArrowheads="1"/>
          </p:cNvSpPr>
          <p:nvPr/>
        </p:nvSpPr>
        <p:spPr bwMode="auto">
          <a:xfrm>
            <a:off x="6337300" y="3863975"/>
            <a:ext cx="8382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8" name="Rectangle 6"/>
          <p:cNvSpPr>
            <a:spLocks noChangeArrowheads="1"/>
          </p:cNvSpPr>
          <p:nvPr/>
        </p:nvSpPr>
        <p:spPr bwMode="auto">
          <a:xfrm>
            <a:off x="4279900" y="3863975"/>
            <a:ext cx="9144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9" name="Rectangle 7"/>
          <p:cNvSpPr>
            <a:spLocks noChangeArrowheads="1"/>
          </p:cNvSpPr>
          <p:nvPr/>
        </p:nvSpPr>
        <p:spPr bwMode="auto">
          <a:xfrm>
            <a:off x="5422900" y="3863975"/>
            <a:ext cx="6858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0" name="Text Box 8"/>
          <p:cNvSpPr txBox="1">
            <a:spLocks noChangeArrowheads="1"/>
          </p:cNvSpPr>
          <p:nvPr/>
        </p:nvSpPr>
        <p:spPr bwMode="auto">
          <a:xfrm>
            <a:off x="4268789" y="3948113"/>
            <a:ext cx="9911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Telnet </a:t>
            </a:r>
          </a:p>
        </p:txBody>
      </p:sp>
      <p:sp>
        <p:nvSpPr>
          <p:cNvPr id="11271" name="Text Box 9"/>
          <p:cNvSpPr txBox="1">
            <a:spLocks noChangeArrowheads="1"/>
          </p:cNvSpPr>
          <p:nvPr/>
        </p:nvSpPr>
        <p:spPr bwMode="auto">
          <a:xfrm>
            <a:off x="5422901" y="3930651"/>
            <a:ext cx="665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FTP</a:t>
            </a:r>
          </a:p>
        </p:txBody>
      </p:sp>
      <p:sp>
        <p:nvSpPr>
          <p:cNvPr id="11272" name="Text Box 10"/>
          <p:cNvSpPr txBox="1">
            <a:spLocks noChangeArrowheads="1"/>
          </p:cNvSpPr>
          <p:nvPr/>
        </p:nvSpPr>
        <p:spPr bwMode="auto">
          <a:xfrm>
            <a:off x="6405564" y="3930651"/>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NFS</a:t>
            </a:r>
          </a:p>
        </p:txBody>
      </p:sp>
      <p:grpSp>
        <p:nvGrpSpPr>
          <p:cNvPr id="1636363" name="Group 11"/>
          <p:cNvGrpSpPr>
            <a:grpSpLocks/>
          </p:cNvGrpSpPr>
          <p:nvPr/>
        </p:nvGrpSpPr>
        <p:grpSpPr bwMode="auto">
          <a:xfrm>
            <a:off x="7404101" y="4964114"/>
            <a:ext cx="1236663" cy="492125"/>
            <a:chOff x="3456" y="2399"/>
            <a:chExt cx="672" cy="481"/>
          </a:xfrm>
        </p:grpSpPr>
        <p:sp>
          <p:nvSpPr>
            <p:cNvPr id="11301" name="Rectangle 12"/>
            <p:cNvSpPr>
              <a:spLocks noChangeArrowheads="1"/>
            </p:cNvSpPr>
            <p:nvPr/>
          </p:nvSpPr>
          <p:spPr bwMode="auto">
            <a:xfrm>
              <a:off x="3456" y="2400"/>
              <a:ext cx="672" cy="48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302" name="Text Box 13"/>
            <p:cNvSpPr txBox="1">
              <a:spLocks noChangeArrowheads="1"/>
            </p:cNvSpPr>
            <p:nvPr/>
          </p:nvSpPr>
          <p:spPr bwMode="auto">
            <a:xfrm>
              <a:off x="3494" y="2399"/>
              <a:ext cx="521"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无线网</a:t>
              </a:r>
            </a:p>
          </p:txBody>
        </p:sp>
      </p:grpSp>
      <p:sp>
        <p:nvSpPr>
          <p:cNvPr id="11274" name="Rectangle 14"/>
          <p:cNvSpPr>
            <a:spLocks noChangeArrowheads="1"/>
          </p:cNvSpPr>
          <p:nvPr/>
        </p:nvSpPr>
        <p:spPr bwMode="auto">
          <a:xfrm>
            <a:off x="4737100" y="4965701"/>
            <a:ext cx="1143000" cy="512763"/>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5" name="Text Box 15"/>
          <p:cNvSpPr txBox="1">
            <a:spLocks noChangeArrowheads="1"/>
          </p:cNvSpPr>
          <p:nvPr/>
        </p:nvSpPr>
        <p:spPr bwMode="auto">
          <a:xfrm>
            <a:off x="4610100" y="4978401"/>
            <a:ext cx="1284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a:solidFill>
                  <a:schemeClr val="tx1"/>
                </a:solidFill>
                <a:latin typeface="Arial" panose="020B0604020202020204" pitchFamily="34" charset="0"/>
              </a:rPr>
              <a:t> Ethernet</a:t>
            </a:r>
          </a:p>
        </p:txBody>
      </p:sp>
      <p:sp>
        <p:nvSpPr>
          <p:cNvPr id="11276" name="Rectangle 16"/>
          <p:cNvSpPr>
            <a:spLocks noChangeArrowheads="1"/>
          </p:cNvSpPr>
          <p:nvPr/>
        </p:nvSpPr>
        <p:spPr bwMode="auto">
          <a:xfrm>
            <a:off x="6184900" y="4965701"/>
            <a:ext cx="990600" cy="512763"/>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7" name="Text Box 17"/>
          <p:cNvSpPr txBox="1">
            <a:spLocks noChangeArrowheads="1"/>
          </p:cNvSpPr>
          <p:nvPr/>
        </p:nvSpPr>
        <p:spPr bwMode="auto">
          <a:xfrm>
            <a:off x="6245226" y="4964113"/>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光纤网</a:t>
            </a:r>
          </a:p>
        </p:txBody>
      </p:sp>
      <p:sp>
        <p:nvSpPr>
          <p:cNvPr id="11278" name="Line 18"/>
          <p:cNvSpPr>
            <a:spLocks noChangeShapeType="1"/>
          </p:cNvSpPr>
          <p:nvPr/>
        </p:nvSpPr>
        <p:spPr bwMode="auto">
          <a:xfrm>
            <a:off x="3898900" y="4711700"/>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Text Box 19"/>
          <p:cNvSpPr txBox="1">
            <a:spLocks noChangeArrowheads="1"/>
          </p:cNvSpPr>
          <p:nvPr/>
        </p:nvSpPr>
        <p:spPr bwMode="auto">
          <a:xfrm>
            <a:off x="2332038" y="3946526"/>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应用层</a:t>
            </a:r>
          </a:p>
        </p:txBody>
      </p:sp>
      <p:sp>
        <p:nvSpPr>
          <p:cNvPr id="11280" name="Text Box 20"/>
          <p:cNvSpPr txBox="1">
            <a:spLocks noChangeArrowheads="1"/>
          </p:cNvSpPr>
          <p:nvPr/>
        </p:nvSpPr>
        <p:spPr bwMode="auto">
          <a:xfrm>
            <a:off x="2359025" y="5035550"/>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通信子网</a:t>
            </a:r>
          </a:p>
        </p:txBody>
      </p:sp>
      <p:cxnSp>
        <p:nvCxnSpPr>
          <p:cNvPr id="11281" name="AutoShape 21"/>
          <p:cNvCxnSpPr>
            <a:cxnSpLocks noChangeShapeType="1"/>
            <a:stCxn id="11270" idx="2"/>
            <a:endCxn id="11275" idx="0"/>
          </p:cNvCxnSpPr>
          <p:nvPr/>
        </p:nvCxnSpPr>
        <p:spPr bwMode="auto">
          <a:xfrm>
            <a:off x="4764374" y="4348224"/>
            <a:ext cx="487871" cy="63017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2" name="AutoShape 22"/>
          <p:cNvCxnSpPr>
            <a:cxnSpLocks noChangeShapeType="1"/>
            <a:stCxn id="11270" idx="2"/>
            <a:endCxn id="11276" idx="0"/>
          </p:cNvCxnSpPr>
          <p:nvPr/>
        </p:nvCxnSpPr>
        <p:spPr bwMode="auto">
          <a:xfrm>
            <a:off x="4764374" y="4348224"/>
            <a:ext cx="1915827" cy="61747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3" name="AutoShape 23"/>
          <p:cNvCxnSpPr>
            <a:cxnSpLocks noChangeShapeType="1"/>
            <a:stCxn id="11271" idx="2"/>
            <a:endCxn id="11274" idx="0"/>
          </p:cNvCxnSpPr>
          <p:nvPr/>
        </p:nvCxnSpPr>
        <p:spPr bwMode="auto">
          <a:xfrm flipH="1">
            <a:off x="5308601" y="4327525"/>
            <a:ext cx="447675" cy="62865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4" name="AutoShape 24"/>
          <p:cNvCxnSpPr>
            <a:cxnSpLocks noChangeShapeType="1"/>
            <a:stCxn id="11269" idx="2"/>
            <a:endCxn id="11276" idx="0"/>
          </p:cNvCxnSpPr>
          <p:nvPr/>
        </p:nvCxnSpPr>
        <p:spPr bwMode="auto">
          <a:xfrm>
            <a:off x="5765800" y="4381501"/>
            <a:ext cx="9144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5" name="AutoShape 25"/>
          <p:cNvCxnSpPr>
            <a:cxnSpLocks noChangeShapeType="1"/>
            <a:stCxn id="11267" idx="2"/>
            <a:endCxn id="11274" idx="0"/>
          </p:cNvCxnSpPr>
          <p:nvPr/>
        </p:nvCxnSpPr>
        <p:spPr bwMode="auto">
          <a:xfrm flipH="1">
            <a:off x="5308600" y="4381501"/>
            <a:ext cx="14478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6" name="AutoShape 26"/>
          <p:cNvCxnSpPr>
            <a:cxnSpLocks noChangeShapeType="1"/>
            <a:stCxn id="11267" idx="2"/>
            <a:endCxn id="11276" idx="0"/>
          </p:cNvCxnSpPr>
          <p:nvPr/>
        </p:nvCxnSpPr>
        <p:spPr bwMode="auto">
          <a:xfrm flipH="1">
            <a:off x="6680200" y="4381501"/>
            <a:ext cx="762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36379" name="Group 27"/>
          <p:cNvGrpSpPr>
            <a:grpSpLocks/>
          </p:cNvGrpSpPr>
          <p:nvPr/>
        </p:nvGrpSpPr>
        <p:grpSpPr bwMode="auto">
          <a:xfrm>
            <a:off x="7404101" y="3863975"/>
            <a:ext cx="849313" cy="508000"/>
            <a:chOff x="3456" y="1776"/>
            <a:chExt cx="535" cy="288"/>
          </a:xfrm>
        </p:grpSpPr>
        <p:sp>
          <p:nvSpPr>
            <p:cNvPr id="11299" name="Rectangle 28"/>
            <p:cNvSpPr>
              <a:spLocks noChangeArrowheads="1"/>
            </p:cNvSpPr>
            <p:nvPr/>
          </p:nvSpPr>
          <p:spPr bwMode="auto">
            <a:xfrm>
              <a:off x="3463" y="1776"/>
              <a:ext cx="528" cy="288"/>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300" name="Text Box 29"/>
            <p:cNvSpPr txBox="1">
              <a:spLocks noChangeArrowheads="1"/>
            </p:cNvSpPr>
            <p:nvPr/>
          </p:nvSpPr>
          <p:spPr bwMode="auto">
            <a:xfrm>
              <a:off x="3456" y="1814"/>
              <a:ext cx="535"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HTTP</a:t>
              </a:r>
            </a:p>
          </p:txBody>
        </p:sp>
      </p:grpSp>
      <p:grpSp>
        <p:nvGrpSpPr>
          <p:cNvPr id="1636382" name="Group 30"/>
          <p:cNvGrpSpPr>
            <a:grpSpLocks/>
          </p:cNvGrpSpPr>
          <p:nvPr/>
        </p:nvGrpSpPr>
        <p:grpSpPr bwMode="auto">
          <a:xfrm>
            <a:off x="4737100" y="4383088"/>
            <a:ext cx="3200400" cy="571500"/>
            <a:chOff x="1776" y="2070"/>
            <a:chExt cx="2016" cy="324"/>
          </a:xfrm>
        </p:grpSpPr>
        <p:cxnSp>
          <p:nvCxnSpPr>
            <p:cNvPr id="11295" name="AutoShape 31"/>
            <p:cNvCxnSpPr>
              <a:cxnSpLocks noChangeShapeType="1"/>
            </p:cNvCxnSpPr>
            <p:nvPr/>
          </p:nvCxnSpPr>
          <p:spPr bwMode="auto">
            <a:xfrm>
              <a:off x="1776" y="2070"/>
              <a:ext cx="2016"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6" name="AutoShape 32"/>
            <p:cNvCxnSpPr>
              <a:cxnSpLocks noChangeShapeType="1"/>
            </p:cNvCxnSpPr>
            <p:nvPr/>
          </p:nvCxnSpPr>
          <p:spPr bwMode="auto">
            <a:xfrm>
              <a:off x="2424" y="2070"/>
              <a:ext cx="1368"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7" name="AutoShape 33"/>
            <p:cNvCxnSpPr>
              <a:cxnSpLocks noChangeShapeType="1"/>
            </p:cNvCxnSpPr>
            <p:nvPr/>
          </p:nvCxnSpPr>
          <p:spPr bwMode="auto">
            <a:xfrm>
              <a:off x="3048" y="2070"/>
              <a:ext cx="744"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8" name="AutoShape 34"/>
            <p:cNvCxnSpPr>
              <a:cxnSpLocks noChangeShapeType="1"/>
            </p:cNvCxnSpPr>
            <p:nvPr/>
          </p:nvCxnSpPr>
          <p:spPr bwMode="auto">
            <a:xfrm>
              <a:off x="3727" y="2070"/>
              <a:ext cx="65"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636387" name="Group 35"/>
          <p:cNvGrpSpPr>
            <a:grpSpLocks/>
          </p:cNvGrpSpPr>
          <p:nvPr/>
        </p:nvGrpSpPr>
        <p:grpSpPr bwMode="auto">
          <a:xfrm>
            <a:off x="5308601" y="4371976"/>
            <a:ext cx="2525713" cy="582613"/>
            <a:chOff x="2136" y="2064"/>
            <a:chExt cx="1591" cy="330"/>
          </a:xfrm>
        </p:grpSpPr>
        <p:cxnSp>
          <p:nvCxnSpPr>
            <p:cNvPr id="11293" name="AutoShape 36"/>
            <p:cNvCxnSpPr>
              <a:cxnSpLocks noChangeShapeType="1"/>
            </p:cNvCxnSpPr>
            <p:nvPr/>
          </p:nvCxnSpPr>
          <p:spPr bwMode="auto">
            <a:xfrm flipH="1">
              <a:off x="2136" y="2064"/>
              <a:ext cx="1548" cy="330"/>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4" name="AutoShape 37"/>
            <p:cNvCxnSpPr>
              <a:cxnSpLocks noChangeShapeType="1"/>
            </p:cNvCxnSpPr>
            <p:nvPr/>
          </p:nvCxnSpPr>
          <p:spPr bwMode="auto">
            <a:xfrm flipH="1">
              <a:off x="3000" y="2070"/>
              <a:ext cx="727" cy="324"/>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290" name="Text Box 38"/>
          <p:cNvSpPr txBox="1">
            <a:spLocks noChangeArrowheads="1"/>
          </p:cNvSpPr>
          <p:nvPr/>
        </p:nvSpPr>
        <p:spPr bwMode="auto">
          <a:xfrm>
            <a:off x="3760789" y="3186113"/>
            <a:ext cx="4618037" cy="5778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600" b="0">
                <a:solidFill>
                  <a:schemeClr val="tx1"/>
                </a:solidFill>
                <a:latin typeface="Arial" panose="020B0604020202020204" pitchFamily="34" charset="0"/>
              </a:rPr>
              <a:t>(TELNET – </a:t>
            </a:r>
            <a:r>
              <a:rPr lang="zh-CN" altLang="en-US" sz="1600" b="0">
                <a:solidFill>
                  <a:schemeClr val="tx1"/>
                </a:solidFill>
                <a:latin typeface="Arial" panose="020B0604020202020204" pitchFamily="34" charset="0"/>
              </a:rPr>
              <a:t>虚拟终端协议，</a:t>
            </a:r>
            <a:r>
              <a:rPr lang="en-US" altLang="zh-CN" sz="1600" b="0">
                <a:solidFill>
                  <a:schemeClr val="tx1"/>
                </a:solidFill>
                <a:latin typeface="Arial" panose="020B0604020202020204" pitchFamily="34" charset="0"/>
              </a:rPr>
              <a:t>FTP – </a:t>
            </a:r>
            <a:r>
              <a:rPr lang="zh-CN" altLang="en-US" sz="1600" b="0">
                <a:solidFill>
                  <a:schemeClr val="tx1"/>
                </a:solidFill>
                <a:latin typeface="Arial" panose="020B0604020202020204" pitchFamily="34" charset="0"/>
              </a:rPr>
              <a:t>文件传输协议</a:t>
            </a:r>
            <a:r>
              <a:rPr lang="en-US" altLang="zh-CN" sz="1600" b="0">
                <a:solidFill>
                  <a:schemeClr val="tx1"/>
                </a:solidFill>
                <a:latin typeface="Arial" panose="020B0604020202020204" pitchFamily="34" charset="0"/>
              </a:rPr>
              <a:t>, </a:t>
            </a:r>
          </a:p>
          <a:p>
            <a:pPr algn="ctr"/>
            <a:r>
              <a:rPr lang="en-US" altLang="zh-CN" sz="1600" b="0">
                <a:solidFill>
                  <a:schemeClr val="tx1"/>
                </a:solidFill>
                <a:latin typeface="Arial" panose="020B0604020202020204" pitchFamily="34" charset="0"/>
              </a:rPr>
              <a:t>NFS –</a:t>
            </a:r>
            <a:r>
              <a:rPr lang="zh-CN" altLang="en-US" sz="1600" b="0">
                <a:solidFill>
                  <a:schemeClr val="tx1"/>
                </a:solidFill>
                <a:latin typeface="Arial" panose="020B0604020202020204" pitchFamily="34" charset="0"/>
              </a:rPr>
              <a:t>网络文件系统</a:t>
            </a:r>
            <a:r>
              <a:rPr lang="en-US" altLang="zh-CN" sz="1600" b="0">
                <a:solidFill>
                  <a:schemeClr val="tx1"/>
                </a:solidFill>
                <a:latin typeface="Arial" panose="020B0604020202020204" pitchFamily="34" charset="0"/>
              </a:rPr>
              <a:t>, HTTP – </a:t>
            </a:r>
            <a:r>
              <a:rPr lang="zh-CN" altLang="en-US" sz="1600" b="0">
                <a:solidFill>
                  <a:schemeClr val="tx1"/>
                </a:solidFill>
                <a:latin typeface="Arial" panose="020B0604020202020204" pitchFamily="34" charset="0"/>
              </a:rPr>
              <a:t>超文本传输协议</a:t>
            </a:r>
            <a:r>
              <a:rPr lang="en-US" altLang="zh-CN" sz="1600" b="0">
                <a:solidFill>
                  <a:schemeClr val="tx1"/>
                </a:solidFill>
                <a:latin typeface="Arial" panose="020B0604020202020204" pitchFamily="34" charset="0"/>
              </a:rPr>
              <a:t>l)</a:t>
            </a:r>
          </a:p>
        </p:txBody>
      </p:sp>
      <p:sp>
        <p:nvSpPr>
          <p:cNvPr id="11291" name="Text Box 39"/>
          <p:cNvSpPr txBox="1">
            <a:spLocks noChangeArrowheads="1"/>
          </p:cNvSpPr>
          <p:nvPr/>
        </p:nvSpPr>
        <p:spPr bwMode="auto">
          <a:xfrm>
            <a:off x="3116264" y="1311275"/>
            <a:ext cx="62325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b="0">
                <a:solidFill>
                  <a:schemeClr val="tx1"/>
                </a:solidFill>
                <a:latin typeface="Arial" panose="020B0604020202020204" pitchFamily="34" charset="0"/>
                <a:ea typeface="华文行楷" panose="02010800040101010101" pitchFamily="2" charset="-122"/>
              </a:rPr>
              <a:t>没有网络层结构：以至于每种网络技术都需要各自实现新的应用程序！</a:t>
            </a:r>
          </a:p>
        </p:txBody>
      </p:sp>
      <p:sp>
        <p:nvSpPr>
          <p:cNvPr id="11292" name="Rectangle 40"/>
          <p:cNvSpPr>
            <a:spLocks noGrp="1" noChangeArrowheads="1"/>
          </p:cNvSpPr>
          <p:nvPr>
            <p:ph type="title"/>
          </p:nvPr>
        </p:nvSpPr>
        <p:spPr bwMode="auto">
          <a:xfrm>
            <a:off x="2244725" y="45402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在</a:t>
            </a:r>
            <a:r>
              <a:rPr lang="en-US" altLang="zh-CN" sz="3600">
                <a:solidFill>
                  <a:schemeClr val="hlink"/>
                </a:solidFill>
                <a:latin typeface="华文新魏" panose="02010800040101010101" pitchFamily="2" charset="-122"/>
                <a:ea typeface="华文新魏" panose="02010800040101010101" pitchFamily="2" charset="-122"/>
              </a:rPr>
              <a:t>IP</a:t>
            </a:r>
            <a:r>
              <a:rPr lang="zh-CN" altLang="en-US" sz="3600">
                <a:solidFill>
                  <a:schemeClr val="hlink"/>
                </a:solidFill>
                <a:latin typeface="华文新魏" panose="02010800040101010101" pitchFamily="2" charset="-122"/>
                <a:ea typeface="华文新魏" panose="02010800040101010101" pitchFamily="2" charset="-122"/>
              </a:rPr>
              <a:t>之前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63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638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3636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36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3203575" y="1244600"/>
            <a:ext cx="6629400" cy="3124200"/>
          </a:xfrm>
          <a:prstGeom prst="rect">
            <a:avLst/>
          </a:prstGeom>
          <a:solidFill>
            <a:srgbClr val="F8F9C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1" name="Rectangle 5"/>
          <p:cNvSpPr>
            <a:spLocks noChangeArrowheads="1"/>
          </p:cNvSpPr>
          <p:nvPr/>
        </p:nvSpPr>
        <p:spPr bwMode="auto">
          <a:xfrm>
            <a:off x="7300913" y="1517650"/>
            <a:ext cx="8382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2" name="Rectangle 6"/>
          <p:cNvSpPr>
            <a:spLocks noChangeArrowheads="1"/>
          </p:cNvSpPr>
          <p:nvPr/>
        </p:nvSpPr>
        <p:spPr bwMode="auto">
          <a:xfrm>
            <a:off x="5243513" y="1517650"/>
            <a:ext cx="9144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3" name="Rectangle 7"/>
          <p:cNvSpPr>
            <a:spLocks noChangeArrowheads="1"/>
          </p:cNvSpPr>
          <p:nvPr/>
        </p:nvSpPr>
        <p:spPr bwMode="auto">
          <a:xfrm>
            <a:off x="6386513" y="1517650"/>
            <a:ext cx="6858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4" name="Text Box 8"/>
          <p:cNvSpPr txBox="1">
            <a:spLocks noChangeArrowheads="1"/>
          </p:cNvSpPr>
          <p:nvPr/>
        </p:nvSpPr>
        <p:spPr bwMode="auto">
          <a:xfrm>
            <a:off x="5232401" y="1593851"/>
            <a:ext cx="1001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Telnet </a:t>
            </a:r>
          </a:p>
        </p:txBody>
      </p:sp>
      <p:sp>
        <p:nvSpPr>
          <p:cNvPr id="12295" name="Text Box 9"/>
          <p:cNvSpPr txBox="1">
            <a:spLocks noChangeArrowheads="1"/>
          </p:cNvSpPr>
          <p:nvPr/>
        </p:nvSpPr>
        <p:spPr bwMode="auto">
          <a:xfrm>
            <a:off x="6386513" y="1577976"/>
            <a:ext cx="665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FTP</a:t>
            </a:r>
          </a:p>
        </p:txBody>
      </p:sp>
      <p:sp>
        <p:nvSpPr>
          <p:cNvPr id="12296" name="Text Box 10"/>
          <p:cNvSpPr txBox="1">
            <a:spLocks noChangeArrowheads="1"/>
          </p:cNvSpPr>
          <p:nvPr/>
        </p:nvSpPr>
        <p:spPr bwMode="auto">
          <a:xfrm>
            <a:off x="7369175" y="1577976"/>
            <a:ext cx="69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NFS</a:t>
            </a:r>
          </a:p>
        </p:txBody>
      </p:sp>
      <p:grpSp>
        <p:nvGrpSpPr>
          <p:cNvPr id="1637387" name="Group 11"/>
          <p:cNvGrpSpPr>
            <a:grpSpLocks/>
          </p:cNvGrpSpPr>
          <p:nvPr/>
        </p:nvGrpSpPr>
        <p:grpSpPr bwMode="auto">
          <a:xfrm>
            <a:off x="8367713" y="3286125"/>
            <a:ext cx="1066800" cy="762000"/>
            <a:chOff x="3456" y="2400"/>
            <a:chExt cx="672" cy="480"/>
          </a:xfrm>
        </p:grpSpPr>
        <p:sp>
          <p:nvSpPr>
            <p:cNvPr id="12320" name="Rectangle 12"/>
            <p:cNvSpPr>
              <a:spLocks noChangeArrowheads="1"/>
            </p:cNvSpPr>
            <p:nvPr/>
          </p:nvSpPr>
          <p:spPr bwMode="auto">
            <a:xfrm>
              <a:off x="3456" y="2400"/>
              <a:ext cx="672" cy="48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21" name="Text Box 13"/>
            <p:cNvSpPr txBox="1">
              <a:spLocks noChangeArrowheads="1"/>
            </p:cNvSpPr>
            <p:nvPr/>
          </p:nvSpPr>
          <p:spPr bwMode="auto">
            <a:xfrm>
              <a:off x="3494" y="2407"/>
              <a:ext cx="63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Packet</a:t>
              </a:r>
            </a:p>
            <a:p>
              <a:r>
                <a:rPr lang="en-US" altLang="zh-CN" sz="2000">
                  <a:solidFill>
                    <a:schemeClr val="tx1"/>
                  </a:solidFill>
                  <a:latin typeface="Arial" panose="020B0604020202020204" pitchFamily="34" charset="0"/>
                </a:rPr>
                <a:t>radio</a:t>
              </a:r>
            </a:p>
          </p:txBody>
        </p:sp>
      </p:grpSp>
      <p:sp>
        <p:nvSpPr>
          <p:cNvPr id="12298" name="Rectangle 14"/>
          <p:cNvSpPr>
            <a:spLocks noChangeArrowheads="1"/>
          </p:cNvSpPr>
          <p:nvPr/>
        </p:nvSpPr>
        <p:spPr bwMode="auto">
          <a:xfrm>
            <a:off x="5700713" y="3286125"/>
            <a:ext cx="1143000" cy="76200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9" name="Text Box 15"/>
          <p:cNvSpPr txBox="1">
            <a:spLocks noChangeArrowheads="1"/>
          </p:cNvSpPr>
          <p:nvPr/>
        </p:nvSpPr>
        <p:spPr bwMode="auto">
          <a:xfrm>
            <a:off x="5657850" y="3400426"/>
            <a:ext cx="1214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Ethernet</a:t>
            </a:r>
          </a:p>
        </p:txBody>
      </p:sp>
      <p:sp>
        <p:nvSpPr>
          <p:cNvPr id="12300" name="Rectangle 16"/>
          <p:cNvSpPr>
            <a:spLocks noChangeArrowheads="1"/>
          </p:cNvSpPr>
          <p:nvPr/>
        </p:nvSpPr>
        <p:spPr bwMode="auto">
          <a:xfrm>
            <a:off x="7148513" y="3286125"/>
            <a:ext cx="990600" cy="76200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01" name="Text Box 17"/>
          <p:cNvSpPr txBox="1">
            <a:spLocks noChangeArrowheads="1"/>
          </p:cNvSpPr>
          <p:nvPr/>
        </p:nvSpPr>
        <p:spPr bwMode="auto">
          <a:xfrm>
            <a:off x="7208838" y="3297239"/>
            <a:ext cx="804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Fiber</a:t>
            </a:r>
          </a:p>
          <a:p>
            <a:r>
              <a:rPr lang="en-US" altLang="zh-CN" sz="2000">
                <a:solidFill>
                  <a:schemeClr val="tx1"/>
                </a:solidFill>
                <a:latin typeface="Arial" panose="020B0604020202020204" pitchFamily="34" charset="0"/>
              </a:rPr>
              <a:t>optic</a:t>
            </a:r>
          </a:p>
        </p:txBody>
      </p:sp>
      <p:sp>
        <p:nvSpPr>
          <p:cNvPr id="12302" name="Line 18"/>
          <p:cNvSpPr>
            <a:spLocks noChangeShapeType="1"/>
          </p:cNvSpPr>
          <p:nvPr/>
        </p:nvSpPr>
        <p:spPr bwMode="auto">
          <a:xfrm>
            <a:off x="4862513" y="2295525"/>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3" name="Text Box 19"/>
          <p:cNvSpPr txBox="1">
            <a:spLocks noChangeArrowheads="1"/>
          </p:cNvSpPr>
          <p:nvPr/>
        </p:nvSpPr>
        <p:spPr bwMode="auto">
          <a:xfrm>
            <a:off x="3295651" y="1590676"/>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应用层</a:t>
            </a:r>
          </a:p>
        </p:txBody>
      </p:sp>
      <p:sp>
        <p:nvSpPr>
          <p:cNvPr id="12304" name="Text Box 20"/>
          <p:cNvSpPr txBox="1">
            <a:spLocks noChangeArrowheads="1"/>
          </p:cNvSpPr>
          <p:nvPr/>
        </p:nvSpPr>
        <p:spPr bwMode="auto">
          <a:xfrm>
            <a:off x="3322638" y="3348038"/>
            <a:ext cx="12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通信子网</a:t>
            </a:r>
          </a:p>
          <a:p>
            <a:endParaRPr lang="en-US" altLang="zh-CN" sz="2000">
              <a:solidFill>
                <a:schemeClr val="tx1"/>
              </a:solidFill>
              <a:latin typeface="Arial" panose="020B0604020202020204" pitchFamily="34" charset="0"/>
            </a:endParaRPr>
          </a:p>
        </p:txBody>
      </p:sp>
      <p:grpSp>
        <p:nvGrpSpPr>
          <p:cNvPr id="1637397" name="Group 21"/>
          <p:cNvGrpSpPr>
            <a:grpSpLocks/>
          </p:cNvGrpSpPr>
          <p:nvPr/>
        </p:nvGrpSpPr>
        <p:grpSpPr bwMode="auto">
          <a:xfrm>
            <a:off x="8367713" y="1517650"/>
            <a:ext cx="849312" cy="457200"/>
            <a:chOff x="3456" y="1776"/>
            <a:chExt cx="535" cy="288"/>
          </a:xfrm>
        </p:grpSpPr>
        <p:sp>
          <p:nvSpPr>
            <p:cNvPr id="12318" name="Rectangle 22"/>
            <p:cNvSpPr>
              <a:spLocks noChangeArrowheads="1"/>
            </p:cNvSpPr>
            <p:nvPr/>
          </p:nvSpPr>
          <p:spPr bwMode="auto">
            <a:xfrm>
              <a:off x="3463" y="1776"/>
              <a:ext cx="528" cy="288"/>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19" name="Text Box 23"/>
            <p:cNvSpPr txBox="1">
              <a:spLocks noChangeArrowheads="1"/>
            </p:cNvSpPr>
            <p:nvPr/>
          </p:nvSpPr>
          <p:spPr bwMode="auto">
            <a:xfrm>
              <a:off x="3456" y="1814"/>
              <a:ext cx="5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HTTP</a:t>
              </a:r>
            </a:p>
          </p:txBody>
        </p:sp>
      </p:grpSp>
      <p:sp>
        <p:nvSpPr>
          <p:cNvPr id="12306" name="Rectangle 24"/>
          <p:cNvSpPr>
            <a:spLocks noChangeArrowheads="1"/>
          </p:cNvSpPr>
          <p:nvPr/>
        </p:nvSpPr>
        <p:spPr bwMode="auto">
          <a:xfrm>
            <a:off x="6386513" y="2540000"/>
            <a:ext cx="1447800" cy="228600"/>
          </a:xfrm>
          <a:prstGeom prst="rect">
            <a:avLst/>
          </a:prstGeom>
          <a:solidFill>
            <a:srgbClr val="EAEAEA"/>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07" name="Line 25"/>
          <p:cNvSpPr>
            <a:spLocks noChangeShapeType="1"/>
          </p:cNvSpPr>
          <p:nvPr/>
        </p:nvSpPr>
        <p:spPr bwMode="auto">
          <a:xfrm>
            <a:off x="4862513" y="2981325"/>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8" name="Text Box 26"/>
          <p:cNvSpPr txBox="1">
            <a:spLocks noChangeArrowheads="1"/>
          </p:cNvSpPr>
          <p:nvPr/>
        </p:nvSpPr>
        <p:spPr bwMode="auto">
          <a:xfrm>
            <a:off x="3338513" y="2311401"/>
            <a:ext cx="1428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中间层 </a:t>
            </a:r>
            <a:r>
              <a:rPr lang="en-US" altLang="zh-CN" sz="2000">
                <a:solidFill>
                  <a:schemeClr val="tx1"/>
                </a:solidFill>
                <a:latin typeface="Arial" panose="020B0604020202020204" pitchFamily="34" charset="0"/>
              </a:rPr>
              <a:t>(IP)</a:t>
            </a:r>
          </a:p>
        </p:txBody>
      </p:sp>
      <p:cxnSp>
        <p:nvCxnSpPr>
          <p:cNvPr id="12309" name="AutoShape 27"/>
          <p:cNvCxnSpPr>
            <a:cxnSpLocks noChangeShapeType="1"/>
            <a:stCxn id="12292" idx="2"/>
            <a:endCxn id="12306" idx="0"/>
          </p:cNvCxnSpPr>
          <p:nvPr/>
        </p:nvCxnSpPr>
        <p:spPr bwMode="auto">
          <a:xfrm>
            <a:off x="5700713" y="1984376"/>
            <a:ext cx="14097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0" name="AutoShape 28"/>
          <p:cNvCxnSpPr>
            <a:cxnSpLocks noChangeShapeType="1"/>
            <a:stCxn id="12293" idx="2"/>
            <a:endCxn id="12306" idx="0"/>
          </p:cNvCxnSpPr>
          <p:nvPr/>
        </p:nvCxnSpPr>
        <p:spPr bwMode="auto">
          <a:xfrm>
            <a:off x="6729413" y="1984376"/>
            <a:ext cx="3810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1" name="AutoShape 29"/>
          <p:cNvCxnSpPr>
            <a:cxnSpLocks noChangeShapeType="1"/>
            <a:stCxn id="12291" idx="2"/>
            <a:endCxn id="12306" idx="0"/>
          </p:cNvCxnSpPr>
          <p:nvPr/>
        </p:nvCxnSpPr>
        <p:spPr bwMode="auto">
          <a:xfrm flipH="1">
            <a:off x="7110413" y="1984376"/>
            <a:ext cx="6096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2" name="AutoShape 30"/>
          <p:cNvCxnSpPr>
            <a:cxnSpLocks noChangeShapeType="1"/>
            <a:stCxn id="12306" idx="2"/>
            <a:endCxn id="12298" idx="0"/>
          </p:cNvCxnSpPr>
          <p:nvPr/>
        </p:nvCxnSpPr>
        <p:spPr bwMode="auto">
          <a:xfrm flipH="1">
            <a:off x="6272213" y="2781300"/>
            <a:ext cx="838200" cy="4953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3" name="AutoShape 31"/>
          <p:cNvCxnSpPr>
            <a:cxnSpLocks noChangeShapeType="1"/>
            <a:stCxn id="12306" idx="2"/>
            <a:endCxn id="12300" idx="0"/>
          </p:cNvCxnSpPr>
          <p:nvPr/>
        </p:nvCxnSpPr>
        <p:spPr bwMode="auto">
          <a:xfrm>
            <a:off x="7110413" y="2781300"/>
            <a:ext cx="533400" cy="4953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7408" name="AutoShape 32"/>
          <p:cNvCxnSpPr>
            <a:cxnSpLocks noChangeShapeType="1"/>
            <a:stCxn id="12318" idx="2"/>
            <a:endCxn id="12306" idx="0"/>
          </p:cNvCxnSpPr>
          <p:nvPr/>
        </p:nvCxnSpPr>
        <p:spPr bwMode="auto">
          <a:xfrm flipH="1">
            <a:off x="7110413" y="1984376"/>
            <a:ext cx="1687512" cy="542925"/>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7409" name="AutoShape 33"/>
          <p:cNvCxnSpPr>
            <a:cxnSpLocks noChangeShapeType="1"/>
            <a:stCxn id="12306" idx="2"/>
            <a:endCxn id="12320" idx="0"/>
          </p:cNvCxnSpPr>
          <p:nvPr/>
        </p:nvCxnSpPr>
        <p:spPr bwMode="auto">
          <a:xfrm>
            <a:off x="7110413" y="2781300"/>
            <a:ext cx="1790700" cy="495300"/>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7410" name="Text Box 34"/>
          <p:cNvSpPr txBox="1">
            <a:spLocks noChangeArrowheads="1"/>
          </p:cNvSpPr>
          <p:nvPr/>
        </p:nvSpPr>
        <p:spPr bwMode="auto">
          <a:xfrm>
            <a:off x="2543176" y="4560889"/>
            <a:ext cx="75914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defRPr sz="2800" b="1">
                <a:solidFill>
                  <a:srgbClr val="CACACA"/>
                </a:solidFill>
                <a:latin typeface="Times New Roman" panose="02020603050405020304" pitchFamily="18" charset="0"/>
                <a:ea typeface="宋体" panose="02010600030101010101" pitchFamily="2" charset="-122"/>
              </a:defRPr>
            </a:lvl1pPr>
            <a:lvl2pPr marL="762000" indent="-30480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accent2"/>
              </a:buClr>
              <a:buSzPct val="75000"/>
              <a:buFont typeface="Monotype Sorts" pitchFamily="2" charset="2"/>
              <a:buChar char="q"/>
            </a:pPr>
            <a:r>
              <a:rPr lang="zh-CN" altLang="en-US" b="0">
                <a:solidFill>
                  <a:schemeClr val="tx1"/>
                </a:solidFill>
                <a:latin typeface="Arial" panose="020B0604020202020204" pitchFamily="34" charset="0"/>
              </a:rPr>
              <a:t>主要概念</a:t>
            </a:r>
            <a:r>
              <a:rPr lang="en-US" altLang="zh-CN" b="0">
                <a:solidFill>
                  <a:schemeClr val="tx1"/>
                </a:solidFill>
                <a:latin typeface="Arial" panose="020B0604020202020204" pitchFamily="34" charset="0"/>
              </a:rPr>
              <a:t>: </a:t>
            </a:r>
          </a:p>
          <a:p>
            <a:pPr lvl="1">
              <a:lnSpc>
                <a:spcPct val="90000"/>
              </a:lnSpc>
              <a:spcBef>
                <a:spcPct val="20000"/>
              </a:spcBef>
              <a:buClr>
                <a:schemeClr val="accent2"/>
              </a:buClr>
              <a:buSzPct val="75000"/>
              <a:buFont typeface="Monotype Sorts" pitchFamily="2" charset="2"/>
              <a:buChar char="q"/>
            </a:pPr>
            <a:r>
              <a:rPr lang="zh-CN" altLang="en-US" b="0">
                <a:solidFill>
                  <a:schemeClr val="tx2"/>
                </a:solidFill>
                <a:latin typeface="Arial" panose="020B0604020202020204" pitchFamily="34" charset="0"/>
              </a:rPr>
              <a:t>中间层结构</a:t>
            </a:r>
            <a:r>
              <a:rPr lang="en-US" altLang="zh-CN" b="0">
                <a:solidFill>
                  <a:schemeClr val="tx1"/>
                </a:solidFill>
                <a:latin typeface="Arial" panose="020B0604020202020204" pitchFamily="34" charset="0"/>
              </a:rPr>
              <a:t>: </a:t>
            </a:r>
            <a:r>
              <a:rPr lang="zh-CN" altLang="en-US" b="0">
                <a:solidFill>
                  <a:schemeClr val="tx1"/>
                </a:solidFill>
                <a:latin typeface="Arial" panose="020B0604020202020204" pitchFamily="34" charset="0"/>
              </a:rPr>
              <a:t>能更好地进行任意两点间的传输。同时，进行了更少及更简单地交换。</a:t>
            </a:r>
          </a:p>
          <a:p>
            <a:pPr lvl="1">
              <a:lnSpc>
                <a:spcPct val="90000"/>
              </a:lnSpc>
              <a:spcBef>
                <a:spcPct val="20000"/>
              </a:spcBef>
              <a:buClr>
                <a:schemeClr val="accent2"/>
              </a:buClr>
              <a:buSzPct val="75000"/>
              <a:buFont typeface="Monotype Sorts" pitchFamily="2" charset="2"/>
              <a:buChar char="q"/>
            </a:pPr>
            <a:r>
              <a:rPr lang="zh-CN" altLang="en-US" b="0">
                <a:solidFill>
                  <a:schemeClr val="tx2"/>
                </a:solidFill>
                <a:latin typeface="Arial" panose="020B0604020202020204" pitchFamily="34" charset="0"/>
              </a:rPr>
              <a:t>网络层</a:t>
            </a:r>
            <a:r>
              <a:rPr lang="en-US" altLang="zh-CN" b="0">
                <a:solidFill>
                  <a:schemeClr val="tx1"/>
                </a:solidFill>
                <a:latin typeface="Arial" panose="020B0604020202020204" pitchFamily="34" charset="0"/>
              </a:rPr>
              <a:t>: </a:t>
            </a:r>
            <a:r>
              <a:rPr lang="zh-CN" altLang="en-US" b="0">
                <a:solidFill>
                  <a:schemeClr val="tx1"/>
                </a:solidFill>
                <a:latin typeface="Arial" panose="020B0604020202020204" pitchFamily="34" charset="0"/>
              </a:rPr>
              <a:t>有效地进行全局性的寻址。</a:t>
            </a:r>
            <a:endParaRPr lang="zh-CN" altLang="en-US" b="0">
              <a:solidFill>
                <a:schemeClr val="tx1"/>
              </a:solidFill>
            </a:endParaRPr>
          </a:p>
        </p:txBody>
      </p:sp>
      <p:sp>
        <p:nvSpPr>
          <p:cNvPr id="12317" name="Rectangle 35"/>
          <p:cNvSpPr>
            <a:spLocks noGrp="1" noChangeArrowheads="1"/>
          </p:cNvSpPr>
          <p:nvPr>
            <p:ph type="title"/>
          </p:nvPr>
        </p:nvSpPr>
        <p:spPr bwMode="auto">
          <a:xfrm>
            <a:off x="2244725" y="45402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IP</a:t>
            </a:r>
            <a:r>
              <a:rPr lang="zh-CN" altLang="en-US" sz="3600">
                <a:solidFill>
                  <a:schemeClr val="hlink"/>
                </a:solidFill>
                <a:latin typeface="华文新魏" panose="02010800040101010101" pitchFamily="2" charset="-122"/>
                <a:ea typeface="华文新魏" panose="02010800040101010101" pitchFamily="2" charset="-122"/>
              </a:rPr>
              <a:t>之后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73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74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3738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3740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37410">
                                            <p:txEl>
                                              <p:pRg st="0" end="0"/>
                                            </p:txEl>
                                          </p:spTgt>
                                        </p:tgtEl>
                                        <p:attrNameLst>
                                          <p:attrName>style.visibility</p:attrName>
                                        </p:attrNameLst>
                                      </p:cBhvr>
                                      <p:to>
                                        <p:strVal val="visible"/>
                                      </p:to>
                                    </p:set>
                                    <p:anim calcmode="lin" valueType="num">
                                      <p:cBhvr additive="base">
                                        <p:cTn id="23" dur="500" fill="hold"/>
                                        <p:tgtEl>
                                          <p:spTgt spid="1637410">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374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37410">
                                            <p:txEl>
                                              <p:pRg st="1" end="1"/>
                                            </p:txEl>
                                          </p:spTgt>
                                        </p:tgtEl>
                                        <p:attrNameLst>
                                          <p:attrName>style.visibility</p:attrName>
                                        </p:attrNameLst>
                                      </p:cBhvr>
                                      <p:to>
                                        <p:strVal val="visible"/>
                                      </p:to>
                                    </p:set>
                                    <p:anim calcmode="lin" valueType="num">
                                      <p:cBhvr additive="base">
                                        <p:cTn id="27" dur="500" fill="hold"/>
                                        <p:tgtEl>
                                          <p:spTgt spid="1637410">
                                            <p:txEl>
                                              <p:pRg st="1" end="1"/>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37410">
                                            <p:txEl>
                                              <p:pRg st="1" end="1"/>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37410">
                                            <p:txEl>
                                              <p:pRg st="2" end="2"/>
                                            </p:txEl>
                                          </p:spTgt>
                                        </p:tgtEl>
                                        <p:attrNameLst>
                                          <p:attrName>style.visibility</p:attrName>
                                        </p:attrNameLst>
                                      </p:cBhvr>
                                      <p:to>
                                        <p:strVal val="visible"/>
                                      </p:to>
                                    </p:set>
                                    <p:anim calcmode="lin" valueType="num">
                                      <p:cBhvr additive="base">
                                        <p:cTn id="31" dur="500" fill="hold"/>
                                        <p:tgtEl>
                                          <p:spTgt spid="1637410">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3741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7410"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49"/>
          <p:cNvSpPr>
            <a:spLocks noGrp="1" noChangeArrowheads="1"/>
          </p:cNvSpPr>
          <p:nvPr>
            <p:ph type="title"/>
          </p:nvPr>
        </p:nvSpPr>
        <p:spPr bwMode="auto">
          <a:xfrm>
            <a:off x="2244725" y="33337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网络层解决的问题</a:t>
            </a:r>
          </a:p>
        </p:txBody>
      </p:sp>
      <p:sp>
        <p:nvSpPr>
          <p:cNvPr id="1288195" name="Rectangle 3"/>
          <p:cNvSpPr>
            <a:spLocks noGrp="1" noChangeArrowheads="1"/>
          </p:cNvSpPr>
          <p:nvPr>
            <p:ph idx="1"/>
          </p:nvPr>
        </p:nvSpPr>
        <p:spPr bwMode="auto">
          <a:xfrm>
            <a:off x="2505075" y="1295400"/>
            <a:ext cx="7772400" cy="47625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US" altLang="zh-CN" sz="2800"/>
              <a:t>Network Layer(</a:t>
            </a:r>
            <a:r>
              <a:rPr lang="zh-CN" altLang="en-US" sz="2800"/>
              <a:t>网络层</a:t>
            </a:r>
            <a:r>
              <a:rPr lang="en-US" altLang="zh-CN" sz="2800"/>
              <a:t>)</a:t>
            </a:r>
          </a:p>
          <a:p>
            <a:pPr lvl="1" eaLnBrk="1" hangingPunct="1">
              <a:lnSpc>
                <a:spcPct val="90000"/>
              </a:lnSpc>
            </a:pPr>
            <a:r>
              <a:rPr lang="zh-CN" altLang="en-US" sz="2400"/>
              <a:t>网络服务</a:t>
            </a:r>
            <a:r>
              <a:rPr lang="en-US" altLang="zh-CN" sz="2400"/>
              <a:t>(DG)</a:t>
            </a:r>
          </a:p>
          <a:p>
            <a:pPr lvl="1" eaLnBrk="1" hangingPunct="1">
              <a:lnSpc>
                <a:spcPct val="90000"/>
              </a:lnSpc>
            </a:pPr>
            <a:r>
              <a:rPr lang="zh-CN" altLang="en-US" sz="2400"/>
              <a:t>寻址和地址转换</a:t>
            </a:r>
            <a:r>
              <a:rPr lang="en-US" altLang="zh-CN" sz="2400"/>
              <a:t>(ARP/RARP)</a:t>
            </a:r>
          </a:p>
          <a:p>
            <a:pPr lvl="1" eaLnBrk="1" hangingPunct="1">
              <a:lnSpc>
                <a:spcPct val="90000"/>
              </a:lnSpc>
            </a:pPr>
            <a:r>
              <a:rPr lang="zh-CN" altLang="en-US" sz="2400"/>
              <a:t>分组传送</a:t>
            </a:r>
            <a:r>
              <a:rPr lang="en-US" altLang="zh-CN" sz="2400"/>
              <a:t>(</a:t>
            </a:r>
            <a:r>
              <a:rPr lang="zh-CN" altLang="en-US" sz="2400"/>
              <a:t>转发</a:t>
            </a:r>
            <a:r>
              <a:rPr lang="en-US" altLang="zh-CN" sz="2400"/>
              <a:t>) ---IP</a:t>
            </a:r>
          </a:p>
          <a:p>
            <a:pPr lvl="1" eaLnBrk="1" hangingPunct="1">
              <a:lnSpc>
                <a:spcPct val="90000"/>
              </a:lnSpc>
            </a:pPr>
            <a:r>
              <a:rPr lang="zh-CN" altLang="en-US" sz="2400"/>
              <a:t>路由</a:t>
            </a:r>
            <a:r>
              <a:rPr lang="en-US" altLang="zh-CN" sz="2000"/>
              <a:t>(</a:t>
            </a:r>
            <a:r>
              <a:rPr lang="zh-CN" altLang="en-US" sz="2000">
                <a:latin typeface="Times New Roman" panose="02020603050405020304" pitchFamily="18" charset="0"/>
              </a:rPr>
              <a:t>如何构造路由表</a:t>
            </a:r>
            <a:r>
              <a:rPr lang="en-US" altLang="zh-CN"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rPr>
              <a:t>路由器之间如何交换路由信息</a:t>
            </a:r>
            <a:r>
              <a:rPr lang="en-US" altLang="zh-CN" sz="2000">
                <a:latin typeface="Times New Roman" panose="02020603050405020304" pitchFamily="18" charset="0"/>
              </a:rPr>
              <a:t>;</a:t>
            </a:r>
            <a:r>
              <a:rPr lang="zh-CN" altLang="en-US" sz="2000">
                <a:latin typeface="Times New Roman" panose="02020603050405020304" pitchFamily="18" charset="0"/>
              </a:rPr>
              <a:t>交换路由信息的实现（</a:t>
            </a:r>
            <a:r>
              <a:rPr lang="en-US" altLang="zh-CN" sz="2000">
                <a:latin typeface="Times New Roman" panose="02020603050405020304" pitchFamily="18" charset="0"/>
                <a:cs typeface="Times New Roman" panose="02020603050405020304" pitchFamily="18" charset="0"/>
              </a:rPr>
              <a:t>RIP</a:t>
            </a:r>
            <a:r>
              <a:rPr lang="zh-CN" altLang="en-US"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OSPF</a:t>
            </a:r>
            <a:r>
              <a:rPr lang="zh-CN" altLang="en-US"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BGP	</a:t>
            </a:r>
            <a:r>
              <a:rPr lang="en-US" altLang="zh-CN" sz="2000">
                <a:latin typeface="Times New Roman" panose="02020603050405020304" pitchFamily="18" charset="0"/>
              </a:rPr>
              <a:t>…</a:t>
            </a:r>
            <a:r>
              <a:rPr lang="zh-CN" altLang="en-US" sz="2000">
                <a:latin typeface="Times New Roman" panose="02020603050405020304" pitchFamily="18" charset="0"/>
              </a:rPr>
              <a:t>）</a:t>
            </a:r>
            <a:r>
              <a:rPr lang="zh-CN" altLang="en-US" sz="2400"/>
              <a:t> </a:t>
            </a:r>
          </a:p>
          <a:p>
            <a:pPr lvl="1" eaLnBrk="1" hangingPunct="1">
              <a:lnSpc>
                <a:spcPct val="90000"/>
              </a:lnSpc>
            </a:pPr>
            <a:r>
              <a:rPr lang="zh-CN" altLang="en-US" sz="2400"/>
              <a:t>拥塞控制</a:t>
            </a:r>
            <a:r>
              <a:rPr lang="en-US" altLang="zh-CN" sz="2400"/>
              <a:t>---ICMP</a:t>
            </a:r>
          </a:p>
          <a:p>
            <a:pPr lvl="1" eaLnBrk="1" hangingPunct="1">
              <a:lnSpc>
                <a:spcPct val="90000"/>
              </a:lnSpc>
            </a:pPr>
            <a:r>
              <a:rPr lang="zh-CN" altLang="en-US" sz="2400"/>
              <a:t>差错控制</a:t>
            </a:r>
            <a:r>
              <a:rPr lang="en-US" altLang="zh-CN" sz="2400"/>
              <a:t>---ICMP</a:t>
            </a:r>
          </a:p>
          <a:p>
            <a:pPr lvl="1" eaLnBrk="1" hangingPunct="1">
              <a:lnSpc>
                <a:spcPct val="90000"/>
              </a:lnSpc>
            </a:pPr>
            <a:r>
              <a:rPr lang="zh-CN" altLang="en-US" sz="2400"/>
              <a:t>网络互连</a:t>
            </a:r>
            <a:r>
              <a:rPr lang="en-US" altLang="zh-CN" sz="2400"/>
              <a:t>(HUB,Bridge,switch,router,gateway)</a:t>
            </a:r>
          </a:p>
          <a:p>
            <a:pPr lvl="1" eaLnBrk="1" hangingPunct="1">
              <a:lnSpc>
                <a:spcPct val="90000"/>
              </a:lnSpc>
            </a:pPr>
            <a:r>
              <a:rPr lang="zh-CN" altLang="en-US" sz="2400"/>
              <a:t>组播</a:t>
            </a:r>
          </a:p>
          <a:p>
            <a:pPr lvl="1" eaLnBrk="1" hangingPunct="1">
              <a:lnSpc>
                <a:spcPct val="90000"/>
              </a:lnSpc>
            </a:pPr>
            <a:r>
              <a:rPr lang="zh-CN" altLang="en-US" sz="2400"/>
              <a:t>其它主题 </a:t>
            </a:r>
            <a:r>
              <a:rPr lang="en-US" altLang="zh-CN" sz="2400"/>
              <a:t>(IP v6/DHCP/Tunneling/MobileIP)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88195">
                                            <p:txEl>
                                              <p:pRg st="0" end="0"/>
                                            </p:txEl>
                                          </p:spTgt>
                                        </p:tgtEl>
                                        <p:attrNameLst>
                                          <p:attrName>style.visibility</p:attrName>
                                        </p:attrNameLst>
                                      </p:cBhvr>
                                      <p:to>
                                        <p:strVal val="visible"/>
                                      </p:to>
                                    </p:set>
                                    <p:anim calcmode="lin" valueType="num">
                                      <p:cBhvr additive="base">
                                        <p:cTn id="7" dur="500" fill="hold"/>
                                        <p:tgtEl>
                                          <p:spTgt spid="12881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881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88195">
                                            <p:txEl>
                                              <p:pRg st="1" end="1"/>
                                            </p:txEl>
                                          </p:spTgt>
                                        </p:tgtEl>
                                        <p:attrNameLst>
                                          <p:attrName>style.visibility</p:attrName>
                                        </p:attrNameLst>
                                      </p:cBhvr>
                                      <p:to>
                                        <p:strVal val="visible"/>
                                      </p:to>
                                    </p:set>
                                    <p:anim calcmode="lin" valueType="num">
                                      <p:cBhvr additive="base">
                                        <p:cTn id="11" dur="500" fill="hold"/>
                                        <p:tgtEl>
                                          <p:spTgt spid="128819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2881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288195">
                                            <p:txEl>
                                              <p:pRg st="2" end="2"/>
                                            </p:txEl>
                                          </p:spTgt>
                                        </p:tgtEl>
                                        <p:attrNameLst>
                                          <p:attrName>style.visibility</p:attrName>
                                        </p:attrNameLst>
                                      </p:cBhvr>
                                      <p:to>
                                        <p:strVal val="visible"/>
                                      </p:to>
                                    </p:set>
                                    <p:anim calcmode="lin" valueType="num">
                                      <p:cBhvr additive="base">
                                        <p:cTn id="15" dur="500" fill="hold"/>
                                        <p:tgtEl>
                                          <p:spTgt spid="128819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28819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288195">
                                            <p:txEl>
                                              <p:pRg st="3" end="3"/>
                                            </p:txEl>
                                          </p:spTgt>
                                        </p:tgtEl>
                                        <p:attrNameLst>
                                          <p:attrName>style.visibility</p:attrName>
                                        </p:attrNameLst>
                                      </p:cBhvr>
                                      <p:to>
                                        <p:strVal val="visible"/>
                                      </p:to>
                                    </p:set>
                                    <p:anim calcmode="lin" valueType="num">
                                      <p:cBhvr additive="base">
                                        <p:cTn id="19" dur="500" fill="hold"/>
                                        <p:tgtEl>
                                          <p:spTgt spid="128819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8819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288195">
                                            <p:txEl>
                                              <p:pRg st="4" end="4"/>
                                            </p:txEl>
                                          </p:spTgt>
                                        </p:tgtEl>
                                        <p:attrNameLst>
                                          <p:attrName>style.visibility</p:attrName>
                                        </p:attrNameLst>
                                      </p:cBhvr>
                                      <p:to>
                                        <p:strVal val="visible"/>
                                      </p:to>
                                    </p:set>
                                    <p:anim calcmode="lin" valueType="num">
                                      <p:cBhvr additive="base">
                                        <p:cTn id="23" dur="500" fill="hold"/>
                                        <p:tgtEl>
                                          <p:spTgt spid="1288195">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288195">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288195">
                                            <p:txEl>
                                              <p:pRg st="5" end="5"/>
                                            </p:txEl>
                                          </p:spTgt>
                                        </p:tgtEl>
                                        <p:attrNameLst>
                                          <p:attrName>style.visibility</p:attrName>
                                        </p:attrNameLst>
                                      </p:cBhvr>
                                      <p:to>
                                        <p:strVal val="visible"/>
                                      </p:to>
                                    </p:set>
                                    <p:anim calcmode="lin" valueType="num">
                                      <p:cBhvr additive="base">
                                        <p:cTn id="27" dur="500" fill="hold"/>
                                        <p:tgtEl>
                                          <p:spTgt spid="1288195">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288195">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88195">
                                            <p:txEl>
                                              <p:pRg st="6" end="6"/>
                                            </p:txEl>
                                          </p:spTgt>
                                        </p:tgtEl>
                                        <p:attrNameLst>
                                          <p:attrName>style.visibility</p:attrName>
                                        </p:attrNameLst>
                                      </p:cBhvr>
                                      <p:to>
                                        <p:strVal val="visible"/>
                                      </p:to>
                                    </p:set>
                                    <p:anim calcmode="lin" valueType="num">
                                      <p:cBhvr additive="base">
                                        <p:cTn id="31" dur="500" fill="hold"/>
                                        <p:tgtEl>
                                          <p:spTgt spid="1288195">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88195">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288195">
                                            <p:txEl>
                                              <p:pRg st="7" end="7"/>
                                            </p:txEl>
                                          </p:spTgt>
                                        </p:tgtEl>
                                        <p:attrNameLst>
                                          <p:attrName>style.visibility</p:attrName>
                                        </p:attrNameLst>
                                      </p:cBhvr>
                                      <p:to>
                                        <p:strVal val="visible"/>
                                      </p:to>
                                    </p:set>
                                    <p:anim calcmode="lin" valueType="num">
                                      <p:cBhvr additive="base">
                                        <p:cTn id="35" dur="500" fill="hold"/>
                                        <p:tgtEl>
                                          <p:spTgt spid="1288195">
                                            <p:txEl>
                                              <p:pRg st="7" end="7"/>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288195">
                                            <p:txEl>
                                              <p:pRg st="7" end="7"/>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288195">
                                            <p:txEl>
                                              <p:pRg st="8" end="8"/>
                                            </p:txEl>
                                          </p:spTgt>
                                        </p:tgtEl>
                                        <p:attrNameLst>
                                          <p:attrName>style.visibility</p:attrName>
                                        </p:attrNameLst>
                                      </p:cBhvr>
                                      <p:to>
                                        <p:strVal val="visible"/>
                                      </p:to>
                                    </p:set>
                                    <p:anim calcmode="lin" valueType="num">
                                      <p:cBhvr additive="base">
                                        <p:cTn id="39" dur="500" fill="hold"/>
                                        <p:tgtEl>
                                          <p:spTgt spid="1288195">
                                            <p:txEl>
                                              <p:pRg st="8" end="8"/>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288195">
                                            <p:txEl>
                                              <p:pRg st="8" end="8"/>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288195">
                                            <p:txEl>
                                              <p:pRg st="9" end="9"/>
                                            </p:txEl>
                                          </p:spTgt>
                                        </p:tgtEl>
                                        <p:attrNameLst>
                                          <p:attrName>style.visibility</p:attrName>
                                        </p:attrNameLst>
                                      </p:cBhvr>
                                      <p:to>
                                        <p:strVal val="visible"/>
                                      </p:to>
                                    </p:set>
                                    <p:anim calcmode="lin" valueType="num">
                                      <p:cBhvr additive="base">
                                        <p:cTn id="43" dur="500" fill="hold"/>
                                        <p:tgtEl>
                                          <p:spTgt spid="1288195">
                                            <p:txEl>
                                              <p:pRg st="9" end="9"/>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88195">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819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7" name="Rectangle 148"/>
          <p:cNvSpPr>
            <a:spLocks noGrp="1" noChangeArrowheads="1"/>
          </p:cNvSpPr>
          <p:nvPr>
            <p:ph type="title"/>
          </p:nvPr>
        </p:nvSpPr>
        <p:spPr bwMode="auto">
          <a:xfrm>
            <a:off x="1524000" y="519113"/>
            <a:ext cx="91440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eaLnBrk="1" hangingPunct="1"/>
            <a:r>
              <a:rPr lang="en-US" altLang="zh-CN" sz="3200">
                <a:solidFill>
                  <a:schemeClr val="hlink"/>
                </a:solidFill>
                <a:latin typeface="华文新魏" panose="02010800040101010101" pitchFamily="2" charset="-122"/>
                <a:ea typeface="华文新魏" panose="02010800040101010101" pitchFamily="2" charset="-122"/>
              </a:rPr>
              <a:t>5.1.2 </a:t>
            </a:r>
            <a:r>
              <a:rPr lang="zh-CN" altLang="en-US" sz="3200">
                <a:solidFill>
                  <a:schemeClr val="hlink"/>
                </a:solidFill>
                <a:latin typeface="华文新魏" panose="02010800040101010101" pitchFamily="2" charset="-122"/>
                <a:ea typeface="华文新魏" panose="02010800040101010101" pitchFamily="2" charset="-122"/>
              </a:rPr>
              <a:t>网络层服务</a:t>
            </a:r>
            <a:r>
              <a:rPr lang="en-US" altLang="zh-CN" sz="3200">
                <a:solidFill>
                  <a:schemeClr val="hlink"/>
                </a:solidFill>
                <a:latin typeface="华文新魏" panose="02010800040101010101" pitchFamily="2" charset="-122"/>
                <a:ea typeface="华文新魏" panose="02010800040101010101" pitchFamily="2" charset="-122"/>
              </a:rPr>
              <a:t>——Internet</a:t>
            </a:r>
            <a:r>
              <a:rPr lang="zh-CN" altLang="en-US" sz="3200">
                <a:solidFill>
                  <a:schemeClr val="hlink"/>
                </a:solidFill>
                <a:latin typeface="华文新魏" panose="02010800040101010101" pitchFamily="2" charset="-122"/>
                <a:ea typeface="华文新魏" panose="02010800040101010101" pitchFamily="2" charset="-122"/>
              </a:rPr>
              <a:t>只提供数据报服务</a:t>
            </a:r>
            <a:endParaRPr lang="zh-CN" altLang="en-US" sz="2400">
              <a:solidFill>
                <a:schemeClr val="hlink"/>
              </a:solidFill>
              <a:latin typeface="华文新魏" panose="02010800040101010101" pitchFamily="2" charset="-122"/>
              <a:ea typeface="华文新魏" panose="02010800040101010101" pitchFamily="2" charset="-122"/>
            </a:endParaRPr>
          </a:p>
        </p:txBody>
      </p:sp>
      <p:sp>
        <p:nvSpPr>
          <p:cNvPr id="14338" name="Rectangle 3"/>
          <p:cNvSpPr>
            <a:spLocks noGrp="1" noChangeArrowheads="1"/>
          </p:cNvSpPr>
          <p:nvPr>
            <p:ph sz="half" idx="1"/>
          </p:nvPr>
        </p:nvSpPr>
        <p:spPr bwMode="auto">
          <a:xfrm>
            <a:off x="2201864" y="1274764"/>
            <a:ext cx="7781925" cy="26828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eaLnBrk="1" hangingPunct="1">
              <a:lnSpc>
                <a:spcPct val="90000"/>
              </a:lnSpc>
            </a:pPr>
            <a:r>
              <a:rPr lang="zh-CN" altLang="en-US" sz="2400"/>
              <a:t>在网络层中不需要建立专用的虚电路</a:t>
            </a:r>
          </a:p>
          <a:p>
            <a:pPr eaLnBrk="1" hangingPunct="1">
              <a:lnSpc>
                <a:spcPct val="90000"/>
              </a:lnSpc>
            </a:pPr>
            <a:r>
              <a:rPr lang="zh-CN" altLang="en-US" sz="2400"/>
              <a:t>路由器</a:t>
            </a:r>
            <a:r>
              <a:rPr lang="en-US" altLang="zh-CN" sz="2400"/>
              <a:t>: </a:t>
            </a:r>
            <a:r>
              <a:rPr lang="zh-CN" altLang="en-US" sz="2400"/>
              <a:t>不存在端到端处于连接的状态</a:t>
            </a:r>
          </a:p>
          <a:p>
            <a:pPr lvl="1" eaLnBrk="1" hangingPunct="1">
              <a:lnSpc>
                <a:spcPct val="90000"/>
              </a:lnSpc>
            </a:pPr>
            <a:r>
              <a:rPr lang="zh-CN" altLang="en-US" sz="2000"/>
              <a:t>在网络层中没有</a:t>
            </a:r>
            <a:r>
              <a:rPr lang="zh-CN" altLang="en-US" sz="2000">
                <a:latin typeface="Comic Sans MS" panose="030F0702030302020204" pitchFamily="66" charset="0"/>
              </a:rPr>
              <a:t>“</a:t>
            </a:r>
            <a:r>
              <a:rPr lang="zh-CN" altLang="en-US" sz="2000"/>
              <a:t>连接</a:t>
            </a:r>
            <a:r>
              <a:rPr lang="zh-CN" altLang="en-US" sz="2000">
                <a:latin typeface="Comic Sans MS" panose="030F0702030302020204" pitchFamily="66" charset="0"/>
              </a:rPr>
              <a:t>”</a:t>
            </a:r>
            <a:r>
              <a:rPr lang="zh-CN" altLang="en-US" sz="2000"/>
              <a:t>这个概念。</a:t>
            </a:r>
          </a:p>
          <a:p>
            <a:pPr eaLnBrk="1" hangingPunct="1">
              <a:lnSpc>
                <a:spcPct val="90000"/>
              </a:lnSpc>
            </a:pPr>
            <a:r>
              <a:rPr lang="zh-CN" altLang="en-US" sz="2400"/>
              <a:t>分组利用目的地址进行路由</a:t>
            </a:r>
          </a:p>
          <a:p>
            <a:pPr lvl="1" eaLnBrk="1" hangingPunct="1">
              <a:lnSpc>
                <a:spcPct val="90000"/>
              </a:lnSpc>
            </a:pPr>
            <a:r>
              <a:rPr lang="zh-CN" altLang="en-US" sz="2000"/>
              <a:t>在源地址和目的地址间传送的分组可能选择不同的路径</a:t>
            </a:r>
          </a:p>
          <a:p>
            <a:pPr eaLnBrk="1" hangingPunct="1">
              <a:lnSpc>
                <a:spcPct val="90000"/>
              </a:lnSpc>
            </a:pPr>
            <a:r>
              <a:rPr lang="zh-CN" altLang="en-US" sz="2400"/>
              <a:t>尽力服务（</a:t>
            </a:r>
            <a:r>
              <a:rPr lang="en-US" altLang="zh-CN" sz="2400"/>
              <a:t>best effort)</a:t>
            </a:r>
          </a:p>
          <a:p>
            <a:pPr eaLnBrk="1" hangingPunct="1">
              <a:lnSpc>
                <a:spcPct val="90000"/>
              </a:lnSpc>
            </a:pPr>
            <a:r>
              <a:rPr lang="zh-CN" altLang="en-US" sz="2400"/>
              <a:t>应用在当今的</a:t>
            </a:r>
            <a:r>
              <a:rPr lang="en-US" altLang="zh-CN" sz="2400"/>
              <a:t>Internet</a:t>
            </a:r>
            <a:r>
              <a:rPr lang="zh-CN" altLang="en-US" sz="2400"/>
              <a:t>中</a:t>
            </a:r>
          </a:p>
        </p:txBody>
      </p:sp>
      <p:sp>
        <p:nvSpPr>
          <p:cNvPr id="14339" name="Freeform 4"/>
          <p:cNvSpPr>
            <a:spLocks/>
          </p:cNvSpPr>
          <p:nvPr/>
        </p:nvSpPr>
        <p:spPr bwMode="auto">
          <a:xfrm>
            <a:off x="4622801" y="5256214"/>
            <a:ext cx="2847975" cy="1481137"/>
          </a:xfrm>
          <a:custGeom>
            <a:avLst/>
            <a:gdLst>
              <a:gd name="T0" fmla="*/ 15120938 w 1794"/>
              <a:gd name="T1" fmla="*/ 1217234264 h 933"/>
              <a:gd name="T2" fmla="*/ 272176875 w 1794"/>
              <a:gd name="T3" fmla="*/ 315018631 h 933"/>
              <a:gd name="T4" fmla="*/ 1408768138 w 1794"/>
              <a:gd name="T5" fmla="*/ 252015540 h 933"/>
              <a:gd name="T6" fmla="*/ 2147483646 w 1794"/>
              <a:gd name="T7" fmla="*/ 73083713 h 933"/>
              <a:gd name="T8" fmla="*/ 2147483646 w 1794"/>
              <a:gd name="T9" fmla="*/ 693041941 h 933"/>
              <a:gd name="T10" fmla="*/ 2147483646 w 1794"/>
              <a:gd name="T11" fmla="*/ 2084167721 h 933"/>
              <a:gd name="T12" fmla="*/ 2147483646 w 1794"/>
              <a:gd name="T13" fmla="*/ 2147483646 h 933"/>
              <a:gd name="T14" fmla="*/ 2116931250 w 1794"/>
              <a:gd name="T15" fmla="*/ 2147483646 h 933"/>
              <a:gd name="T16" fmla="*/ 1043344688 w 1794"/>
              <a:gd name="T17" fmla="*/ 2147483646 h 933"/>
              <a:gd name="T18" fmla="*/ 360383138 w 1794"/>
              <a:gd name="T19" fmla="*/ 2096769292 h 933"/>
              <a:gd name="T20" fmla="*/ 15120938 w 1794"/>
              <a:gd name="T21" fmla="*/ 1217234264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 name="Line 5"/>
          <p:cNvSpPr>
            <a:spLocks noChangeShapeType="1"/>
          </p:cNvSpPr>
          <p:nvPr/>
        </p:nvSpPr>
        <p:spPr bwMode="auto">
          <a:xfrm rot="5400000" flipV="1">
            <a:off x="3976688" y="4999038"/>
            <a:ext cx="6350" cy="15779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 name="Freeform 6"/>
          <p:cNvSpPr>
            <a:spLocks/>
          </p:cNvSpPr>
          <p:nvPr/>
        </p:nvSpPr>
        <p:spPr bwMode="auto">
          <a:xfrm>
            <a:off x="5260976" y="5549901"/>
            <a:ext cx="542925" cy="295275"/>
          </a:xfrm>
          <a:custGeom>
            <a:avLst/>
            <a:gdLst>
              <a:gd name="T0" fmla="*/ 0 w 342"/>
              <a:gd name="T1" fmla="*/ 468749063 h 186"/>
              <a:gd name="T2" fmla="*/ 861893438 w 342"/>
              <a:gd name="T3" fmla="*/ 0 h 186"/>
              <a:gd name="T4" fmla="*/ 0 60000 65536"/>
              <a:gd name="T5" fmla="*/ 0 60000 65536"/>
            </a:gdLst>
            <a:ahLst/>
            <a:cxnLst>
              <a:cxn ang="T4">
                <a:pos x="T0" y="T1"/>
              </a:cxn>
              <a:cxn ang="T5">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42" name="Group 7"/>
          <p:cNvGrpSpPr>
            <a:grpSpLocks/>
          </p:cNvGrpSpPr>
          <p:nvPr/>
        </p:nvGrpSpPr>
        <p:grpSpPr bwMode="auto">
          <a:xfrm>
            <a:off x="4767263" y="5724526"/>
            <a:ext cx="501650" cy="233363"/>
            <a:chOff x="3600" y="219"/>
            <a:chExt cx="360" cy="175"/>
          </a:xfrm>
        </p:grpSpPr>
        <p:sp>
          <p:nvSpPr>
            <p:cNvPr id="14471" name="Oval 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72" name="Line 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3" name="Line 1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4" name="Rectangle 1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75" name="Oval 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76" name="Group 13"/>
            <p:cNvGrpSpPr>
              <a:grpSpLocks/>
            </p:cNvGrpSpPr>
            <p:nvPr/>
          </p:nvGrpSpPr>
          <p:grpSpPr bwMode="auto">
            <a:xfrm>
              <a:off x="3686" y="244"/>
              <a:ext cx="177" cy="66"/>
              <a:chOff x="2848" y="848"/>
              <a:chExt cx="140" cy="98"/>
            </a:xfrm>
          </p:grpSpPr>
          <p:sp>
            <p:nvSpPr>
              <p:cNvPr id="14481" name="Line 1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2" name="Line 1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3" name="Line 1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77" name="Group 17"/>
            <p:cNvGrpSpPr>
              <a:grpSpLocks/>
            </p:cNvGrpSpPr>
            <p:nvPr/>
          </p:nvGrpSpPr>
          <p:grpSpPr bwMode="auto">
            <a:xfrm flipV="1">
              <a:off x="3686" y="243"/>
              <a:ext cx="177" cy="66"/>
              <a:chOff x="2848" y="848"/>
              <a:chExt cx="140" cy="98"/>
            </a:xfrm>
          </p:grpSpPr>
          <p:sp>
            <p:nvSpPr>
              <p:cNvPr id="14478"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9" name="Line 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0" name="Line 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3" name="Group 21"/>
          <p:cNvGrpSpPr>
            <a:grpSpLocks/>
          </p:cNvGrpSpPr>
          <p:nvPr/>
        </p:nvGrpSpPr>
        <p:grpSpPr bwMode="auto">
          <a:xfrm>
            <a:off x="5119688" y="6362701"/>
            <a:ext cx="501650" cy="233363"/>
            <a:chOff x="3600" y="219"/>
            <a:chExt cx="360" cy="175"/>
          </a:xfrm>
        </p:grpSpPr>
        <p:sp>
          <p:nvSpPr>
            <p:cNvPr id="14458" name="Oval 2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59" name="Line 2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0" name="Line 2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1" name="Rectangle 2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62" name="Oval 2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63" name="Group 27"/>
            <p:cNvGrpSpPr>
              <a:grpSpLocks/>
            </p:cNvGrpSpPr>
            <p:nvPr/>
          </p:nvGrpSpPr>
          <p:grpSpPr bwMode="auto">
            <a:xfrm>
              <a:off x="3686" y="244"/>
              <a:ext cx="177" cy="66"/>
              <a:chOff x="2848" y="848"/>
              <a:chExt cx="140" cy="98"/>
            </a:xfrm>
          </p:grpSpPr>
          <p:sp>
            <p:nvSpPr>
              <p:cNvPr id="14468" name="Line 2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9" name="Line 2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0" name="Line 3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64" name="Group 31"/>
            <p:cNvGrpSpPr>
              <a:grpSpLocks/>
            </p:cNvGrpSpPr>
            <p:nvPr/>
          </p:nvGrpSpPr>
          <p:grpSpPr bwMode="auto">
            <a:xfrm flipV="1">
              <a:off x="3686" y="243"/>
              <a:ext cx="177" cy="66"/>
              <a:chOff x="2848" y="848"/>
              <a:chExt cx="140" cy="98"/>
            </a:xfrm>
          </p:grpSpPr>
          <p:sp>
            <p:nvSpPr>
              <p:cNvPr id="14465" name="Line 3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6" name="Line 3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7" name="Line 3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4" name="Group 35"/>
          <p:cNvGrpSpPr>
            <a:grpSpLocks/>
          </p:cNvGrpSpPr>
          <p:nvPr/>
        </p:nvGrpSpPr>
        <p:grpSpPr bwMode="auto">
          <a:xfrm>
            <a:off x="5794375" y="5419726"/>
            <a:ext cx="501650" cy="233363"/>
            <a:chOff x="3600" y="219"/>
            <a:chExt cx="360" cy="175"/>
          </a:xfrm>
        </p:grpSpPr>
        <p:sp>
          <p:nvSpPr>
            <p:cNvPr id="14445" name="Oval 3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46" name="Line 3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7" name="Line 3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8" name="Rectangle 3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49" name="Oval 4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50" name="Group 41"/>
            <p:cNvGrpSpPr>
              <a:grpSpLocks/>
            </p:cNvGrpSpPr>
            <p:nvPr/>
          </p:nvGrpSpPr>
          <p:grpSpPr bwMode="auto">
            <a:xfrm>
              <a:off x="3686" y="244"/>
              <a:ext cx="177" cy="66"/>
              <a:chOff x="2848" y="848"/>
              <a:chExt cx="140" cy="98"/>
            </a:xfrm>
          </p:grpSpPr>
          <p:sp>
            <p:nvSpPr>
              <p:cNvPr id="14455" name="Line 4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6" name="Line 4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7" name="Line 4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51" name="Group 45"/>
            <p:cNvGrpSpPr>
              <a:grpSpLocks/>
            </p:cNvGrpSpPr>
            <p:nvPr/>
          </p:nvGrpSpPr>
          <p:grpSpPr bwMode="auto">
            <a:xfrm flipV="1">
              <a:off x="3686" y="243"/>
              <a:ext cx="177" cy="66"/>
              <a:chOff x="2848" y="848"/>
              <a:chExt cx="140" cy="98"/>
            </a:xfrm>
          </p:grpSpPr>
          <p:sp>
            <p:nvSpPr>
              <p:cNvPr id="14452" name="Line 4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3" name="Line 4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4" name="Line 4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5" name="Group 49"/>
          <p:cNvGrpSpPr>
            <a:grpSpLocks/>
          </p:cNvGrpSpPr>
          <p:nvPr/>
        </p:nvGrpSpPr>
        <p:grpSpPr bwMode="auto">
          <a:xfrm>
            <a:off x="5716588" y="6084888"/>
            <a:ext cx="500062" cy="233362"/>
            <a:chOff x="3600" y="219"/>
            <a:chExt cx="360" cy="175"/>
          </a:xfrm>
        </p:grpSpPr>
        <p:sp>
          <p:nvSpPr>
            <p:cNvPr id="14432" name="Oval 5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33" name="Line 5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4" name="Line 5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5" name="Rectangle 5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36" name="Oval 5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37" name="Group 55"/>
            <p:cNvGrpSpPr>
              <a:grpSpLocks/>
            </p:cNvGrpSpPr>
            <p:nvPr/>
          </p:nvGrpSpPr>
          <p:grpSpPr bwMode="auto">
            <a:xfrm>
              <a:off x="3686" y="244"/>
              <a:ext cx="177" cy="66"/>
              <a:chOff x="2848" y="848"/>
              <a:chExt cx="140" cy="98"/>
            </a:xfrm>
          </p:grpSpPr>
          <p:sp>
            <p:nvSpPr>
              <p:cNvPr id="14442" name="Line 5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3" name="Line 5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4" name="Line 5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38" name="Group 59"/>
            <p:cNvGrpSpPr>
              <a:grpSpLocks/>
            </p:cNvGrpSpPr>
            <p:nvPr/>
          </p:nvGrpSpPr>
          <p:grpSpPr bwMode="auto">
            <a:xfrm flipV="1">
              <a:off x="3686" y="243"/>
              <a:ext cx="177" cy="66"/>
              <a:chOff x="2848" y="848"/>
              <a:chExt cx="140" cy="98"/>
            </a:xfrm>
          </p:grpSpPr>
          <p:sp>
            <p:nvSpPr>
              <p:cNvPr id="14439" name="Line 6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0" name="Line 6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1" name="Line 6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6" name="Group 63"/>
          <p:cNvGrpSpPr>
            <a:grpSpLocks/>
          </p:cNvGrpSpPr>
          <p:nvPr/>
        </p:nvGrpSpPr>
        <p:grpSpPr bwMode="auto">
          <a:xfrm>
            <a:off x="6351588" y="6381751"/>
            <a:ext cx="501650" cy="233363"/>
            <a:chOff x="3600" y="219"/>
            <a:chExt cx="360" cy="175"/>
          </a:xfrm>
        </p:grpSpPr>
        <p:sp>
          <p:nvSpPr>
            <p:cNvPr id="14419" name="Oval 6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20" name="Line 6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1" name="Line 6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2" name="Rectangle 6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23" name="Oval 6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24" name="Group 69"/>
            <p:cNvGrpSpPr>
              <a:grpSpLocks/>
            </p:cNvGrpSpPr>
            <p:nvPr/>
          </p:nvGrpSpPr>
          <p:grpSpPr bwMode="auto">
            <a:xfrm>
              <a:off x="3686" y="244"/>
              <a:ext cx="177" cy="66"/>
              <a:chOff x="2848" y="848"/>
              <a:chExt cx="140" cy="98"/>
            </a:xfrm>
          </p:grpSpPr>
          <p:sp>
            <p:nvSpPr>
              <p:cNvPr id="14429" name="Line 7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0" name="Line 7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1" name="Line 7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25" name="Group 73"/>
            <p:cNvGrpSpPr>
              <a:grpSpLocks/>
            </p:cNvGrpSpPr>
            <p:nvPr/>
          </p:nvGrpSpPr>
          <p:grpSpPr bwMode="auto">
            <a:xfrm flipV="1">
              <a:off x="3686" y="243"/>
              <a:ext cx="177" cy="66"/>
              <a:chOff x="2848" y="848"/>
              <a:chExt cx="140" cy="98"/>
            </a:xfrm>
          </p:grpSpPr>
          <p:sp>
            <p:nvSpPr>
              <p:cNvPr id="14426" name="Line 7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7" name="Line 7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8" name="Line 7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7" name="Group 77"/>
          <p:cNvGrpSpPr>
            <a:grpSpLocks/>
          </p:cNvGrpSpPr>
          <p:nvPr/>
        </p:nvGrpSpPr>
        <p:grpSpPr bwMode="auto">
          <a:xfrm>
            <a:off x="6796088" y="5726113"/>
            <a:ext cx="501650" cy="233362"/>
            <a:chOff x="3600" y="219"/>
            <a:chExt cx="360" cy="175"/>
          </a:xfrm>
        </p:grpSpPr>
        <p:sp>
          <p:nvSpPr>
            <p:cNvPr id="14406" name="Oval 7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7" name="Line 7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8" name="Line 8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9" name="Rectangle 8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10" name="Oval 8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11" name="Group 83"/>
            <p:cNvGrpSpPr>
              <a:grpSpLocks/>
            </p:cNvGrpSpPr>
            <p:nvPr/>
          </p:nvGrpSpPr>
          <p:grpSpPr bwMode="auto">
            <a:xfrm>
              <a:off x="3686" y="244"/>
              <a:ext cx="177" cy="66"/>
              <a:chOff x="2848" y="848"/>
              <a:chExt cx="140" cy="98"/>
            </a:xfrm>
          </p:grpSpPr>
          <p:sp>
            <p:nvSpPr>
              <p:cNvPr id="14416" name="Line 8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7" name="Line 8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8" name="Line 8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12" name="Group 87"/>
            <p:cNvGrpSpPr>
              <a:grpSpLocks/>
            </p:cNvGrpSpPr>
            <p:nvPr/>
          </p:nvGrpSpPr>
          <p:grpSpPr bwMode="auto">
            <a:xfrm flipV="1">
              <a:off x="3686" y="243"/>
              <a:ext cx="177" cy="66"/>
              <a:chOff x="2848" y="848"/>
              <a:chExt cx="140" cy="98"/>
            </a:xfrm>
          </p:grpSpPr>
          <p:sp>
            <p:nvSpPr>
              <p:cNvPr id="14413" name="Line 8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4" name="Line 8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5" name="Line 9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8" name="Group 91"/>
          <p:cNvGrpSpPr>
            <a:grpSpLocks/>
          </p:cNvGrpSpPr>
          <p:nvPr/>
        </p:nvGrpSpPr>
        <p:grpSpPr bwMode="auto">
          <a:xfrm>
            <a:off x="1749426" y="3919538"/>
            <a:ext cx="1566863" cy="1987550"/>
            <a:chOff x="2366" y="929"/>
            <a:chExt cx="987" cy="1252"/>
          </a:xfrm>
        </p:grpSpPr>
        <p:graphicFrame>
          <p:nvGraphicFramePr>
            <p:cNvPr id="14396" name="Object 92"/>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14518" name="Clip" r:id="rId3" imgW="1307263" imgH="1084139" progId="MS_ClipArt_Gallery.2">
                    <p:embed/>
                  </p:oleObj>
                </mc:Choice>
                <mc:Fallback>
                  <p:oleObj name="Clip" r:id="rId3" imgW="1307263" imgH="1084139" progId="MS_ClipArt_Gallery.2">
                    <p:embed/>
                    <p:pic>
                      <p:nvPicPr>
                        <p:cNvPr id="0" name="Object 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97" name="Group 93"/>
            <p:cNvGrpSpPr>
              <a:grpSpLocks/>
            </p:cNvGrpSpPr>
            <p:nvPr/>
          </p:nvGrpSpPr>
          <p:grpSpPr bwMode="auto">
            <a:xfrm>
              <a:off x="2366" y="1145"/>
              <a:ext cx="987" cy="1036"/>
              <a:chOff x="2956" y="969"/>
              <a:chExt cx="513" cy="529"/>
            </a:xfrm>
          </p:grpSpPr>
          <p:sp>
            <p:nvSpPr>
              <p:cNvPr id="14398" name="Rectangle 94"/>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9" name="Rectangle 95"/>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0" name="Rectangle 96"/>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1" name="Text Box 97"/>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latin typeface="Comic Sans MS" panose="030F0702030302020204" pitchFamily="66" charset="0"/>
                  </a:rPr>
                  <a:t>application</a:t>
                </a:r>
              </a:p>
              <a:p>
                <a:pPr algn="ctr"/>
                <a:r>
                  <a:rPr lang="en-US" altLang="zh-CN" sz="2000" b="0">
                    <a:solidFill>
                      <a:schemeClr val="tx1"/>
                    </a:solidFill>
                    <a:latin typeface="Comic Sans MS" panose="030F0702030302020204" pitchFamily="66" charset="0"/>
                  </a:rPr>
                  <a:t>transport</a:t>
                </a:r>
              </a:p>
              <a:p>
                <a:pPr algn="ctr"/>
                <a:r>
                  <a:rPr lang="en-US" altLang="zh-CN" sz="2000" b="0">
                    <a:solidFill>
                      <a:schemeClr val="bg1"/>
                    </a:solidFill>
                    <a:latin typeface="Comic Sans MS" panose="030F0702030302020204" pitchFamily="66" charset="0"/>
                  </a:rPr>
                  <a:t>network</a:t>
                </a:r>
                <a:endParaRPr lang="en-US" altLang="zh-CN" sz="2000" b="0">
                  <a:solidFill>
                    <a:schemeClr val="tx1"/>
                  </a:solidFill>
                  <a:latin typeface="Comic Sans MS" panose="030F0702030302020204" pitchFamily="66" charset="0"/>
                </a:endParaRPr>
              </a:p>
              <a:p>
                <a:pPr algn="ctr"/>
                <a:r>
                  <a:rPr lang="en-US" altLang="zh-CN" sz="2000" b="0">
                    <a:solidFill>
                      <a:schemeClr val="tx1"/>
                    </a:solidFill>
                    <a:latin typeface="Comic Sans MS" panose="030F0702030302020204" pitchFamily="66" charset="0"/>
                  </a:rPr>
                  <a:t>data link</a:t>
                </a:r>
              </a:p>
              <a:p>
                <a:pPr algn="ctr"/>
                <a:r>
                  <a:rPr lang="en-US" altLang="zh-CN" sz="2000" b="0">
                    <a:solidFill>
                      <a:schemeClr val="tx1"/>
                    </a:solidFill>
                    <a:latin typeface="Comic Sans MS" panose="030F0702030302020204" pitchFamily="66" charset="0"/>
                  </a:rPr>
                  <a:t>physical</a:t>
                </a:r>
                <a:endParaRPr lang="en-US" altLang="zh-CN" sz="2000" b="0">
                  <a:solidFill>
                    <a:schemeClr val="tx1"/>
                  </a:solidFill>
                </a:endParaRPr>
              </a:p>
            </p:txBody>
          </p:sp>
          <p:sp>
            <p:nvSpPr>
              <p:cNvPr id="14402" name="Line 98"/>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3" name="Line 99"/>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4" name="Line 100"/>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5" name="Line 101"/>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49" name="Freeform 102"/>
          <p:cNvSpPr>
            <a:spLocks/>
          </p:cNvSpPr>
          <p:nvPr/>
        </p:nvSpPr>
        <p:spPr bwMode="auto">
          <a:xfrm>
            <a:off x="6302376" y="5543551"/>
            <a:ext cx="504825" cy="307975"/>
          </a:xfrm>
          <a:custGeom>
            <a:avLst/>
            <a:gdLst>
              <a:gd name="T0" fmla="*/ 0 w 318"/>
              <a:gd name="T1" fmla="*/ 0 h 194"/>
              <a:gd name="T2" fmla="*/ 801409688 w 318"/>
              <a:gd name="T3" fmla="*/ 488910313 h 194"/>
              <a:gd name="T4" fmla="*/ 0 60000 65536"/>
              <a:gd name="T5" fmla="*/ 0 60000 65536"/>
            </a:gdLst>
            <a:ahLst/>
            <a:cxnLst>
              <a:cxn ang="T4">
                <a:pos x="T0" y="T1"/>
              </a:cxn>
              <a:cxn ang="T5">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Freeform 103"/>
          <p:cNvSpPr>
            <a:spLocks/>
          </p:cNvSpPr>
          <p:nvPr/>
        </p:nvSpPr>
        <p:spPr bwMode="auto">
          <a:xfrm>
            <a:off x="5237163" y="5935664"/>
            <a:ext cx="481012" cy="238125"/>
          </a:xfrm>
          <a:custGeom>
            <a:avLst/>
            <a:gdLst>
              <a:gd name="T0" fmla="*/ 0 w 294"/>
              <a:gd name="T1" fmla="*/ 0 h 174"/>
              <a:gd name="T2" fmla="*/ 786981443 w 294"/>
              <a:gd name="T3" fmla="*/ 325882274 h 174"/>
              <a:gd name="T4" fmla="*/ 0 60000 65536"/>
              <a:gd name="T5" fmla="*/ 0 60000 65536"/>
            </a:gdLst>
            <a:ahLst/>
            <a:cxnLst>
              <a:cxn ang="T4">
                <a:pos x="T0" y="T1"/>
              </a:cxn>
              <a:cxn ang="T5">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1" name="Freeform 104"/>
          <p:cNvSpPr>
            <a:spLocks/>
          </p:cNvSpPr>
          <p:nvPr/>
        </p:nvSpPr>
        <p:spPr bwMode="auto">
          <a:xfrm>
            <a:off x="6184900" y="5911850"/>
            <a:ext cx="628650" cy="247650"/>
          </a:xfrm>
          <a:custGeom>
            <a:avLst/>
            <a:gdLst>
              <a:gd name="T0" fmla="*/ 0 w 378"/>
              <a:gd name="T1" fmla="*/ 352474267 h 174"/>
              <a:gd name="T2" fmla="*/ 1045504821 w 378"/>
              <a:gd name="T3" fmla="*/ 0 h 174"/>
              <a:gd name="T4" fmla="*/ 0 60000 65536"/>
              <a:gd name="T5" fmla="*/ 0 60000 65536"/>
            </a:gdLst>
            <a:ahLst/>
            <a:cxnLst>
              <a:cxn ang="T4">
                <a:pos x="T0" y="T1"/>
              </a:cxn>
              <a:cxn ang="T5">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2" name="Freeform 105"/>
          <p:cNvSpPr>
            <a:spLocks/>
          </p:cNvSpPr>
          <p:nvPr/>
        </p:nvSpPr>
        <p:spPr bwMode="auto">
          <a:xfrm>
            <a:off x="6851651" y="5965825"/>
            <a:ext cx="206375" cy="508000"/>
          </a:xfrm>
          <a:custGeom>
            <a:avLst/>
            <a:gdLst>
              <a:gd name="T0" fmla="*/ 0 w 118"/>
              <a:gd name="T1" fmla="*/ 516128000 h 500"/>
              <a:gd name="T2" fmla="*/ 360937632 w 118"/>
              <a:gd name="T3" fmla="*/ 0 h 500"/>
              <a:gd name="T4" fmla="*/ 0 60000 65536"/>
              <a:gd name="T5" fmla="*/ 0 60000 65536"/>
            </a:gdLst>
            <a:ahLst/>
            <a:cxnLst>
              <a:cxn ang="T4">
                <a:pos x="T0" y="T1"/>
              </a:cxn>
              <a:cxn ang="T5">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3" name="Freeform 106"/>
          <p:cNvSpPr>
            <a:spLocks/>
          </p:cNvSpPr>
          <p:nvPr/>
        </p:nvSpPr>
        <p:spPr bwMode="auto">
          <a:xfrm>
            <a:off x="5616575" y="6499226"/>
            <a:ext cx="736600" cy="74613"/>
          </a:xfrm>
          <a:custGeom>
            <a:avLst/>
            <a:gdLst>
              <a:gd name="T0" fmla="*/ 1466431243 w 370"/>
              <a:gd name="T1" fmla="*/ 173971868 h 32"/>
              <a:gd name="T2" fmla="*/ 0 w 370"/>
              <a:gd name="T3" fmla="*/ 0 h 32"/>
              <a:gd name="T4" fmla="*/ 0 60000 65536"/>
              <a:gd name="T5" fmla="*/ 0 60000 65536"/>
            </a:gdLst>
            <a:ahLst/>
            <a:cxnLst>
              <a:cxn ang="T4">
                <a:pos x="T0" y="T1"/>
              </a:cxn>
              <a:cxn ang="T5">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4" name="Freeform 107"/>
          <p:cNvSpPr>
            <a:spLocks/>
          </p:cNvSpPr>
          <p:nvPr/>
        </p:nvSpPr>
        <p:spPr bwMode="auto">
          <a:xfrm>
            <a:off x="5080001" y="5959475"/>
            <a:ext cx="193675" cy="425450"/>
          </a:xfrm>
          <a:custGeom>
            <a:avLst/>
            <a:gdLst>
              <a:gd name="T0" fmla="*/ 196171867 w 176"/>
              <a:gd name="T1" fmla="*/ 435073225 h 412"/>
              <a:gd name="T2" fmla="*/ 213125032 w 176"/>
              <a:gd name="T3" fmla="*/ 439339084 h 412"/>
              <a:gd name="T4" fmla="*/ 0 w 176"/>
              <a:gd name="T5" fmla="*/ 0 h 412"/>
              <a:gd name="T6" fmla="*/ 0 60000 65536"/>
              <a:gd name="T7" fmla="*/ 0 60000 65536"/>
              <a:gd name="T8" fmla="*/ 0 60000 65536"/>
            </a:gdLst>
            <a:ahLst/>
            <a:cxnLst>
              <a:cxn ang="T6">
                <a:pos x="T0" y="T1"/>
              </a:cxn>
              <a:cxn ang="T7">
                <a:pos x="T2" y="T3"/>
              </a:cxn>
              <a:cxn ang="T8">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55" name="Group 108"/>
          <p:cNvGrpSpPr>
            <a:grpSpLocks/>
          </p:cNvGrpSpPr>
          <p:nvPr/>
        </p:nvGrpSpPr>
        <p:grpSpPr bwMode="auto">
          <a:xfrm>
            <a:off x="8531226" y="4090988"/>
            <a:ext cx="1566863" cy="1987550"/>
            <a:chOff x="2366" y="929"/>
            <a:chExt cx="987" cy="1252"/>
          </a:xfrm>
        </p:grpSpPr>
        <p:graphicFrame>
          <p:nvGraphicFramePr>
            <p:cNvPr id="14386" name="Object 109"/>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14519" name="Clip" r:id="rId5" imgW="1307263" imgH="1084139" progId="MS_ClipArt_Gallery.2">
                    <p:embed/>
                  </p:oleObj>
                </mc:Choice>
                <mc:Fallback>
                  <p:oleObj name="Clip" r:id="rId5" imgW="1307263" imgH="1084139" progId="MS_ClipArt_Gallery.2">
                    <p:embed/>
                    <p:pic>
                      <p:nvPicPr>
                        <p:cNvPr id="0" name="Object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87" name="Group 110"/>
            <p:cNvGrpSpPr>
              <a:grpSpLocks/>
            </p:cNvGrpSpPr>
            <p:nvPr/>
          </p:nvGrpSpPr>
          <p:grpSpPr bwMode="auto">
            <a:xfrm>
              <a:off x="2366" y="1145"/>
              <a:ext cx="987" cy="1036"/>
              <a:chOff x="2956" y="969"/>
              <a:chExt cx="513" cy="529"/>
            </a:xfrm>
          </p:grpSpPr>
          <p:sp>
            <p:nvSpPr>
              <p:cNvPr id="14388" name="Rectangle 111"/>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9" name="Rectangle 112"/>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0" name="Rectangle 113"/>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1" name="Text Box 114"/>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latin typeface="Comic Sans MS" panose="030F0702030302020204" pitchFamily="66" charset="0"/>
                  </a:rPr>
                  <a:t>application</a:t>
                </a:r>
              </a:p>
              <a:p>
                <a:pPr algn="ctr"/>
                <a:r>
                  <a:rPr lang="en-US" altLang="zh-CN" sz="2000" b="0">
                    <a:solidFill>
                      <a:schemeClr val="tx1"/>
                    </a:solidFill>
                    <a:latin typeface="Comic Sans MS" panose="030F0702030302020204" pitchFamily="66" charset="0"/>
                  </a:rPr>
                  <a:t>transport</a:t>
                </a:r>
              </a:p>
              <a:p>
                <a:pPr algn="ctr"/>
                <a:r>
                  <a:rPr lang="en-US" altLang="zh-CN" sz="2000" b="0">
                    <a:solidFill>
                      <a:schemeClr val="bg1"/>
                    </a:solidFill>
                    <a:latin typeface="Comic Sans MS" panose="030F0702030302020204" pitchFamily="66" charset="0"/>
                  </a:rPr>
                  <a:t>network</a:t>
                </a:r>
                <a:endParaRPr lang="en-US" altLang="zh-CN" sz="2000" b="0">
                  <a:solidFill>
                    <a:schemeClr val="tx1"/>
                  </a:solidFill>
                  <a:latin typeface="Comic Sans MS" panose="030F0702030302020204" pitchFamily="66" charset="0"/>
                </a:endParaRPr>
              </a:p>
              <a:p>
                <a:pPr algn="ctr"/>
                <a:r>
                  <a:rPr lang="en-US" altLang="zh-CN" sz="2000" b="0">
                    <a:solidFill>
                      <a:schemeClr val="tx1"/>
                    </a:solidFill>
                    <a:latin typeface="Comic Sans MS" panose="030F0702030302020204" pitchFamily="66" charset="0"/>
                  </a:rPr>
                  <a:t>data link</a:t>
                </a:r>
              </a:p>
              <a:p>
                <a:pPr algn="ctr"/>
                <a:r>
                  <a:rPr lang="en-US" altLang="zh-CN" sz="2000" b="0">
                    <a:solidFill>
                      <a:schemeClr val="tx1"/>
                    </a:solidFill>
                    <a:latin typeface="Comic Sans MS" panose="030F0702030302020204" pitchFamily="66" charset="0"/>
                  </a:rPr>
                  <a:t>physical</a:t>
                </a:r>
                <a:endParaRPr lang="en-US" altLang="zh-CN" sz="2000" b="0">
                  <a:solidFill>
                    <a:schemeClr val="tx1"/>
                  </a:solidFill>
                </a:endParaRPr>
              </a:p>
            </p:txBody>
          </p:sp>
          <p:sp>
            <p:nvSpPr>
              <p:cNvPr id="14392" name="Line 115"/>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3" name="Line 116"/>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4" name="Line 117"/>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5" name="Line 118"/>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56" name="Line 119"/>
          <p:cNvSpPr>
            <a:spLocks noChangeShapeType="1"/>
          </p:cNvSpPr>
          <p:nvPr/>
        </p:nvSpPr>
        <p:spPr bwMode="auto">
          <a:xfrm rot="16200000" flipH="1" flipV="1">
            <a:off x="7972425" y="5181600"/>
            <a:ext cx="6350" cy="140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3848" name="Text Box 120"/>
          <p:cNvSpPr txBox="1">
            <a:spLocks noChangeArrowheads="1"/>
          </p:cNvSpPr>
          <p:nvPr/>
        </p:nvSpPr>
        <p:spPr bwMode="auto">
          <a:xfrm>
            <a:off x="3268663" y="5124451"/>
            <a:ext cx="149701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800" b="0">
                <a:solidFill>
                  <a:srgbClr val="FF0000"/>
                </a:solidFill>
                <a:latin typeface="Comic Sans MS" panose="030F0702030302020204" pitchFamily="66" charset="0"/>
              </a:rPr>
              <a:t>1. Send data</a:t>
            </a:r>
            <a:endParaRPr lang="en-US" altLang="zh-CN" sz="2400" b="0">
              <a:solidFill>
                <a:schemeClr val="tx1"/>
              </a:solidFill>
            </a:endParaRPr>
          </a:p>
        </p:txBody>
      </p:sp>
      <p:sp>
        <p:nvSpPr>
          <p:cNvPr id="1353849" name="Text Box 121"/>
          <p:cNvSpPr txBox="1">
            <a:spLocks noChangeArrowheads="1"/>
          </p:cNvSpPr>
          <p:nvPr/>
        </p:nvSpPr>
        <p:spPr bwMode="auto">
          <a:xfrm>
            <a:off x="6888164" y="5191126"/>
            <a:ext cx="18065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800" b="0">
                <a:solidFill>
                  <a:srgbClr val="FF0000"/>
                </a:solidFill>
                <a:latin typeface="Comic Sans MS" panose="030F0702030302020204" pitchFamily="66" charset="0"/>
              </a:rPr>
              <a:t>2. Receive data</a:t>
            </a:r>
            <a:endParaRPr lang="en-US" altLang="zh-CN" sz="2400" b="0">
              <a:solidFill>
                <a:schemeClr val="tx1"/>
              </a:solidFill>
            </a:endParaRPr>
          </a:p>
        </p:txBody>
      </p:sp>
      <p:sp>
        <p:nvSpPr>
          <p:cNvPr id="14359" name="Freeform 122"/>
          <p:cNvSpPr>
            <a:spLocks/>
          </p:cNvSpPr>
          <p:nvPr/>
        </p:nvSpPr>
        <p:spPr bwMode="auto">
          <a:xfrm>
            <a:off x="3298825" y="5092701"/>
            <a:ext cx="304800" cy="657225"/>
          </a:xfrm>
          <a:custGeom>
            <a:avLst/>
            <a:gdLst>
              <a:gd name="T0" fmla="*/ 0 w 192"/>
              <a:gd name="T1" fmla="*/ 0 h 414"/>
              <a:gd name="T2" fmla="*/ 0 w 192"/>
              <a:gd name="T3" fmla="*/ 1043344688 h 414"/>
              <a:gd name="T4" fmla="*/ 483870000 w 192"/>
              <a:gd name="T5" fmla="*/ 1028223750 h 414"/>
              <a:gd name="T6" fmla="*/ 0 60000 65536"/>
              <a:gd name="T7" fmla="*/ 0 60000 65536"/>
              <a:gd name="T8" fmla="*/ 0 60000 65536"/>
            </a:gdLst>
            <a:ahLst/>
            <a:cxnLst>
              <a:cxn ang="T6">
                <a:pos x="T0" y="T1"/>
              </a:cxn>
              <a:cxn ang="T7">
                <a:pos x="T2" y="T3"/>
              </a:cxn>
              <a:cxn ang="T8">
                <a:pos x="T4" y="T5"/>
              </a:cxn>
            </a:cxnLst>
            <a:rect l="0" t="0" r="r" b="b"/>
            <a:pathLst>
              <a:path w="192" h="414">
                <a:moveTo>
                  <a:pt x="0" y="0"/>
                </a:moveTo>
                <a:lnTo>
                  <a:pt x="0" y="414"/>
                </a:lnTo>
                <a:lnTo>
                  <a:pt x="192" y="408"/>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0" name="Freeform 123"/>
          <p:cNvSpPr>
            <a:spLocks/>
          </p:cNvSpPr>
          <p:nvPr/>
        </p:nvSpPr>
        <p:spPr bwMode="auto">
          <a:xfrm>
            <a:off x="7932738" y="5535614"/>
            <a:ext cx="609600" cy="295275"/>
          </a:xfrm>
          <a:custGeom>
            <a:avLst/>
            <a:gdLst>
              <a:gd name="T0" fmla="*/ 0 w 384"/>
              <a:gd name="T1" fmla="*/ 468749063 h 186"/>
              <a:gd name="T2" fmla="*/ 967740000 w 384"/>
              <a:gd name="T3" fmla="*/ 468749063 h 186"/>
              <a:gd name="T4" fmla="*/ 967740000 w 384"/>
              <a:gd name="T5" fmla="*/ 0 h 186"/>
              <a:gd name="T6" fmla="*/ 0 60000 65536"/>
              <a:gd name="T7" fmla="*/ 0 60000 65536"/>
              <a:gd name="T8" fmla="*/ 0 60000 65536"/>
            </a:gdLst>
            <a:ahLst/>
            <a:cxnLst>
              <a:cxn ang="T6">
                <a:pos x="T0" y="T1"/>
              </a:cxn>
              <a:cxn ang="T7">
                <a:pos x="T2" y="T3"/>
              </a:cxn>
              <a:cxn ang="T8">
                <a:pos x="T4" y="T5"/>
              </a:cxn>
            </a:cxnLst>
            <a:rect l="0" t="0" r="r" b="b"/>
            <a:pathLst>
              <a:path w="384" h="186">
                <a:moveTo>
                  <a:pt x="0" y="186"/>
                </a:moveTo>
                <a:lnTo>
                  <a:pt x="384" y="186"/>
                </a:lnTo>
                <a:lnTo>
                  <a:pt x="384" y="0"/>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61" name="Group 124"/>
          <p:cNvGrpSpPr>
            <a:grpSpLocks/>
          </p:cNvGrpSpPr>
          <p:nvPr/>
        </p:nvGrpSpPr>
        <p:grpSpPr bwMode="auto">
          <a:xfrm>
            <a:off x="3656013" y="5530850"/>
            <a:ext cx="361950" cy="261938"/>
            <a:chOff x="1548" y="3723"/>
            <a:chExt cx="228" cy="165"/>
          </a:xfrm>
        </p:grpSpPr>
        <p:sp>
          <p:nvSpPr>
            <p:cNvPr id="14383" name="Rectangle 125"/>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4" name="Rectangle 126"/>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5" name="Line 127"/>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2" name="Group 128"/>
          <p:cNvGrpSpPr>
            <a:grpSpLocks/>
          </p:cNvGrpSpPr>
          <p:nvPr/>
        </p:nvGrpSpPr>
        <p:grpSpPr bwMode="auto">
          <a:xfrm>
            <a:off x="4446588" y="5535614"/>
            <a:ext cx="361950" cy="261937"/>
            <a:chOff x="1548" y="3723"/>
            <a:chExt cx="228" cy="165"/>
          </a:xfrm>
        </p:grpSpPr>
        <p:sp>
          <p:nvSpPr>
            <p:cNvPr id="14380" name="Rectangle 129"/>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1" name="Rectangle 130"/>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2" name="Line 131"/>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3" name="Group 132"/>
          <p:cNvGrpSpPr>
            <a:grpSpLocks/>
          </p:cNvGrpSpPr>
          <p:nvPr/>
        </p:nvGrpSpPr>
        <p:grpSpPr bwMode="auto">
          <a:xfrm>
            <a:off x="6318250" y="5426075"/>
            <a:ext cx="361950" cy="261938"/>
            <a:chOff x="1548" y="3723"/>
            <a:chExt cx="228" cy="165"/>
          </a:xfrm>
        </p:grpSpPr>
        <p:sp>
          <p:nvSpPr>
            <p:cNvPr id="14377" name="Rectangle 133"/>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8" name="Rectangle 134"/>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9" name="Line 135"/>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4" name="Group 136"/>
          <p:cNvGrpSpPr>
            <a:grpSpLocks/>
          </p:cNvGrpSpPr>
          <p:nvPr/>
        </p:nvGrpSpPr>
        <p:grpSpPr bwMode="auto">
          <a:xfrm>
            <a:off x="5794375" y="6364289"/>
            <a:ext cx="361950" cy="261937"/>
            <a:chOff x="1548" y="3723"/>
            <a:chExt cx="228" cy="165"/>
          </a:xfrm>
        </p:grpSpPr>
        <p:sp>
          <p:nvSpPr>
            <p:cNvPr id="14374" name="Rectangle 137"/>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5" name="Rectangle 138"/>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6" name="Line 139"/>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5" name="Group 140"/>
          <p:cNvGrpSpPr>
            <a:grpSpLocks/>
          </p:cNvGrpSpPr>
          <p:nvPr/>
        </p:nvGrpSpPr>
        <p:grpSpPr bwMode="auto">
          <a:xfrm>
            <a:off x="5375275" y="5888039"/>
            <a:ext cx="361950" cy="261937"/>
            <a:chOff x="1548" y="3723"/>
            <a:chExt cx="228" cy="165"/>
          </a:xfrm>
        </p:grpSpPr>
        <p:sp>
          <p:nvSpPr>
            <p:cNvPr id="14371" name="Rectangle 141"/>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2" name="Rectangle 142"/>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3" name="Line 143"/>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6" name="Group 144"/>
          <p:cNvGrpSpPr>
            <a:grpSpLocks/>
          </p:cNvGrpSpPr>
          <p:nvPr/>
        </p:nvGrpSpPr>
        <p:grpSpPr bwMode="auto">
          <a:xfrm>
            <a:off x="7727950" y="5611814"/>
            <a:ext cx="361950" cy="261937"/>
            <a:chOff x="1548" y="3723"/>
            <a:chExt cx="228" cy="165"/>
          </a:xfrm>
        </p:grpSpPr>
        <p:sp>
          <p:nvSpPr>
            <p:cNvPr id="14368" name="Rectangle 145"/>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9" name="Rectangle 146"/>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0" name="Line 147"/>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3848"/>
                                        </p:tgtEl>
                                        <p:attrNameLst>
                                          <p:attrName>style.visibility</p:attrName>
                                        </p:attrNameLst>
                                      </p:cBhvr>
                                      <p:to>
                                        <p:strVal val="visible"/>
                                      </p:to>
                                    </p:set>
                                    <p:animEffect transition="in" filter="dissolve">
                                      <p:cBhvr>
                                        <p:cTn id="7" dur="500"/>
                                        <p:tgtEl>
                                          <p:spTgt spid="1353848"/>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53849"/>
                                        </p:tgtEl>
                                        <p:attrNameLst>
                                          <p:attrName>style.visibility</p:attrName>
                                        </p:attrNameLst>
                                      </p:cBhvr>
                                      <p:to>
                                        <p:strVal val="visible"/>
                                      </p:to>
                                    </p:set>
                                    <p:animEffect transition="in" filter="dissolve">
                                      <p:cBhvr>
                                        <p:cTn id="11" dur="500"/>
                                        <p:tgtEl>
                                          <p:spTgt spid="1353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3848" grpId="0" autoUpdateAnimBg="0"/>
      <p:bldP spid="135384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4"/>
          <p:cNvSpPr>
            <a:spLocks noGrp="1" noChangeArrowheads="1"/>
          </p:cNvSpPr>
          <p:nvPr>
            <p:ph type="title"/>
          </p:nvPr>
        </p:nvSpPr>
        <p:spPr bwMode="auto">
          <a:xfrm>
            <a:off x="2176463" y="40163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Best Effort</a:t>
            </a:r>
          </a:p>
        </p:txBody>
      </p:sp>
      <p:sp>
        <p:nvSpPr>
          <p:cNvPr id="15362" name="Rectangle 3"/>
          <p:cNvSpPr>
            <a:spLocks noGrp="1" noChangeArrowheads="1"/>
          </p:cNvSpPr>
          <p:nvPr>
            <p:ph idx="1"/>
          </p:nvPr>
        </p:nvSpPr>
        <p:spPr bwMode="auto">
          <a:xfrm>
            <a:off x="3348038" y="1292226"/>
            <a:ext cx="5994400" cy="373221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zh-CN" altLang="en-US">
                <a:solidFill>
                  <a:srgbClr val="FF0000"/>
                </a:solidFill>
              </a:rPr>
              <a:t>数据报只提供</a:t>
            </a:r>
            <a:r>
              <a:rPr lang="en-US" altLang="zh-CN" sz="2400">
                <a:solidFill>
                  <a:schemeClr val="hlink"/>
                </a:solidFill>
                <a:latin typeface="华文新魏" panose="02010800040101010101" pitchFamily="2" charset="-122"/>
                <a:ea typeface="华文新魏" panose="02010800040101010101" pitchFamily="2" charset="-122"/>
              </a:rPr>
              <a:t>Best Effort</a:t>
            </a:r>
            <a:r>
              <a:rPr lang="zh-CN" altLang="en-US">
                <a:solidFill>
                  <a:srgbClr val="FF0000"/>
                </a:solidFill>
              </a:rPr>
              <a:t>服务，可能遭遇到的情况：</a:t>
            </a:r>
          </a:p>
          <a:p>
            <a:pPr marL="0" indent="0" algn="ctr" eaLnBrk="1" hangingPunct="1">
              <a:buNone/>
            </a:pPr>
            <a:endParaRPr lang="zh-CN" altLang="en-US" sz="1800">
              <a:solidFill>
                <a:srgbClr val="FF0000"/>
              </a:solidFill>
            </a:endParaRPr>
          </a:p>
          <a:p>
            <a:pPr marL="0" indent="0" eaLnBrk="1" hangingPunct="1"/>
            <a:r>
              <a:rPr lang="zh-CN" altLang="en-US" sz="2800">
                <a:sym typeface="Symbol" panose="05050102010706020507" pitchFamily="18" charset="2"/>
              </a:rPr>
              <a:t>数据报在物理层被破坏 </a:t>
            </a:r>
          </a:p>
          <a:p>
            <a:pPr marL="0" indent="0" eaLnBrk="1" hangingPunct="1"/>
            <a:r>
              <a:rPr lang="zh-CN" altLang="en-US" sz="2800">
                <a:sym typeface="Symbol" panose="05050102010706020507" pitchFamily="18" charset="2"/>
              </a:rPr>
              <a:t>因为缓冲区溢出而被丢弃</a:t>
            </a:r>
          </a:p>
          <a:p>
            <a:pPr marL="0" indent="0" eaLnBrk="1" hangingPunct="1"/>
            <a:r>
              <a:rPr lang="zh-CN" altLang="en-US" sz="2800">
                <a:sym typeface="Symbol" panose="05050102010706020507" pitchFamily="18" charset="2"/>
              </a:rPr>
              <a:t>目的地不可到达</a:t>
            </a:r>
          </a:p>
          <a:p>
            <a:pPr marL="0" indent="0" eaLnBrk="1" hangingPunct="1"/>
            <a:r>
              <a:rPr lang="zh-CN" altLang="en-US" sz="2800">
                <a:sym typeface="Symbol" panose="05050102010706020507" pitchFamily="18" charset="2"/>
              </a:rPr>
              <a:t>路由环路</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2209800" y="4365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路由表</a:t>
            </a:r>
          </a:p>
        </p:txBody>
      </p:sp>
      <p:sp>
        <p:nvSpPr>
          <p:cNvPr id="1640451" name="Text Box 3"/>
          <p:cNvSpPr txBox="1">
            <a:spLocks noChangeArrowheads="1"/>
          </p:cNvSpPr>
          <p:nvPr/>
        </p:nvSpPr>
        <p:spPr bwMode="auto">
          <a:xfrm>
            <a:off x="2300289" y="3741739"/>
            <a:ext cx="7627937"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Char char="Ø"/>
            </a:pPr>
            <a:r>
              <a:rPr kumimoji="1" lang="zh-CN" altLang="en-US" b="0">
                <a:solidFill>
                  <a:schemeClr val="hlink"/>
                </a:solidFill>
                <a:latin typeface="新宋体" panose="02010609030101010101" pitchFamily="49" charset="-122"/>
                <a:ea typeface="新宋体" panose="02010609030101010101" pitchFamily="49" charset="-122"/>
              </a:rPr>
              <a:t>数据报的路由表</a:t>
            </a:r>
          </a:p>
          <a:p>
            <a:pPr eaLnBrk="1" hangingPunct="1"/>
            <a:r>
              <a:rPr kumimoji="1" lang="zh-CN" altLang="en-US" b="0">
                <a:solidFill>
                  <a:schemeClr val="tx1"/>
                </a:solidFill>
                <a:latin typeface="新宋体" panose="02010609030101010101" pitchFamily="49" charset="-122"/>
                <a:ea typeface="新宋体" panose="02010609030101010101" pitchFamily="49" charset="-122"/>
              </a:rPr>
              <a:t>    </a:t>
            </a:r>
            <a:r>
              <a:rPr kumimoji="1" lang="zh-CN" altLang="en-US" sz="2400" b="0">
                <a:solidFill>
                  <a:schemeClr val="tx1"/>
                </a:solidFill>
                <a:latin typeface="新宋体" panose="02010609030101010101" pitchFamily="49" charset="-122"/>
                <a:ea typeface="新宋体" panose="02010609030101010101" pitchFamily="49" charset="-122"/>
              </a:rPr>
              <a:t>每个分组都需要携带完整的目的地址。每个结点保存一个到网内其他结点的输出线选择表（路由表）</a:t>
            </a:r>
          </a:p>
        </p:txBody>
      </p:sp>
      <p:pic>
        <p:nvPicPr>
          <p:cNvPr id="16404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1" y="1347789"/>
            <a:ext cx="3006725" cy="228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404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1638" y="1352550"/>
            <a:ext cx="2654300" cy="230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40451">
                                            <p:txEl>
                                              <p:pRg st="0" end="0"/>
                                            </p:txEl>
                                          </p:spTgt>
                                        </p:tgtEl>
                                        <p:attrNameLst>
                                          <p:attrName>style.visibility</p:attrName>
                                        </p:attrNameLst>
                                      </p:cBhvr>
                                      <p:to>
                                        <p:strVal val="visible"/>
                                      </p:to>
                                    </p:set>
                                    <p:anim calcmode="lin" valueType="num">
                                      <p:cBhvr additive="base">
                                        <p:cTn id="7" dur="500" fill="hold"/>
                                        <p:tgtEl>
                                          <p:spTgt spid="16404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40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40451">
                                            <p:txEl>
                                              <p:pRg st="1" end="1"/>
                                            </p:txEl>
                                          </p:spTgt>
                                        </p:tgtEl>
                                        <p:attrNameLst>
                                          <p:attrName>style.visibility</p:attrName>
                                        </p:attrNameLst>
                                      </p:cBhvr>
                                      <p:to>
                                        <p:strVal val="visible"/>
                                      </p:to>
                                    </p:set>
                                    <p:anim calcmode="lin" valueType="num">
                                      <p:cBhvr additive="base">
                                        <p:cTn id="13" dur="500" fill="hold"/>
                                        <p:tgtEl>
                                          <p:spTgt spid="16404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40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40452"/>
                                        </p:tgtEl>
                                        <p:attrNameLst>
                                          <p:attrName>style.visibility</p:attrName>
                                        </p:attrNameLst>
                                      </p:cBhvr>
                                      <p:to>
                                        <p:strVal val="visible"/>
                                      </p:to>
                                    </p:set>
                                    <p:anim calcmode="lin" valueType="num">
                                      <p:cBhvr additive="base">
                                        <p:cTn id="19" dur="500" fill="hold"/>
                                        <p:tgtEl>
                                          <p:spTgt spid="1640452"/>
                                        </p:tgtEl>
                                        <p:attrNameLst>
                                          <p:attrName>ppt_x</p:attrName>
                                        </p:attrNameLst>
                                      </p:cBhvr>
                                      <p:tavLst>
                                        <p:tav tm="0">
                                          <p:val>
                                            <p:strVal val="1+#ppt_w/2"/>
                                          </p:val>
                                        </p:tav>
                                        <p:tav tm="100000">
                                          <p:val>
                                            <p:strVal val="#ppt_x"/>
                                          </p:val>
                                        </p:tav>
                                      </p:tavLst>
                                    </p:anim>
                                    <p:anim calcmode="lin" valueType="num">
                                      <p:cBhvr additive="base">
                                        <p:cTn id="20" dur="500" fill="hold"/>
                                        <p:tgtEl>
                                          <p:spTgt spid="164045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40453"/>
                                        </p:tgtEl>
                                        <p:attrNameLst>
                                          <p:attrName>style.visibility</p:attrName>
                                        </p:attrNameLst>
                                      </p:cBhvr>
                                      <p:to>
                                        <p:strVal val="visible"/>
                                      </p:to>
                                    </p:set>
                                    <p:anim calcmode="lin" valueType="num">
                                      <p:cBhvr additive="base">
                                        <p:cTn id="25" dur="500" fill="hold"/>
                                        <p:tgtEl>
                                          <p:spTgt spid="1640453"/>
                                        </p:tgtEl>
                                        <p:attrNameLst>
                                          <p:attrName>ppt_x</p:attrName>
                                        </p:attrNameLst>
                                      </p:cBhvr>
                                      <p:tavLst>
                                        <p:tav tm="0">
                                          <p:val>
                                            <p:strVal val="0-#ppt_w/2"/>
                                          </p:val>
                                        </p:tav>
                                        <p:tav tm="100000">
                                          <p:val>
                                            <p:strVal val="#ppt_x"/>
                                          </p:val>
                                        </p:tav>
                                      </p:tavLst>
                                    </p:anim>
                                    <p:anim calcmode="lin" valueType="num">
                                      <p:cBhvr additive="base">
                                        <p:cTn id="26" dur="500" fill="hold"/>
                                        <p:tgtEl>
                                          <p:spTgt spid="16404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45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94075" y="2293938"/>
            <a:ext cx="6534150" cy="4076700"/>
          </a:xfrm>
          <a:prstGeom prst="rect">
            <a:avLst/>
          </a:prstGeom>
          <a:solidFill>
            <a:schemeClr val="bg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11" name="Rectangle 3"/>
          <p:cNvSpPr>
            <a:spLocks noChangeArrowheads="1"/>
          </p:cNvSpPr>
          <p:nvPr/>
        </p:nvSpPr>
        <p:spPr bwMode="auto">
          <a:xfrm>
            <a:off x="3327400" y="2360613"/>
            <a:ext cx="6534150" cy="4392612"/>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746949" name="Group 5"/>
          <p:cNvGrpSpPr>
            <a:grpSpLocks/>
          </p:cNvGrpSpPr>
          <p:nvPr/>
        </p:nvGrpSpPr>
        <p:grpSpPr bwMode="auto">
          <a:xfrm>
            <a:off x="5372100" y="3956050"/>
            <a:ext cx="966788" cy="1214438"/>
            <a:chOff x="3996" y="2883"/>
            <a:chExt cx="609" cy="765"/>
          </a:xfrm>
        </p:grpSpPr>
        <p:sp>
          <p:nvSpPr>
            <p:cNvPr id="17446" name="Rectangle 6"/>
            <p:cNvSpPr>
              <a:spLocks noChangeArrowheads="1"/>
            </p:cNvSpPr>
            <p:nvPr/>
          </p:nvSpPr>
          <p:spPr bwMode="auto">
            <a:xfrm>
              <a:off x="4023" y="2883"/>
              <a:ext cx="582" cy="738"/>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7" name="Rectangle 7"/>
            <p:cNvSpPr>
              <a:spLocks noChangeArrowheads="1"/>
            </p:cNvSpPr>
            <p:nvPr/>
          </p:nvSpPr>
          <p:spPr bwMode="auto">
            <a:xfrm>
              <a:off x="3996" y="2910"/>
              <a:ext cx="582" cy="738"/>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8" name="Text Box 8"/>
            <p:cNvSpPr txBox="1">
              <a:spLocks noChangeArrowheads="1"/>
            </p:cNvSpPr>
            <p:nvPr/>
          </p:nvSpPr>
          <p:spPr bwMode="auto">
            <a:xfrm>
              <a:off x="4021" y="3062"/>
              <a:ext cx="548"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800" b="0">
                <a:solidFill>
                  <a:schemeClr val="tx1"/>
                </a:solidFill>
                <a:latin typeface="Comic Sans MS" panose="030F0702030302020204" pitchFamily="66" charset="0"/>
              </a:endParaRPr>
            </a:p>
            <a:p>
              <a:pPr algn="ctr"/>
              <a:r>
                <a:rPr lang="zh-CN" altLang="en-US" sz="1800" b="0">
                  <a:solidFill>
                    <a:schemeClr val="tx1"/>
                  </a:solidFill>
                  <a:latin typeface="Comic Sans MS" panose="030F0702030302020204" pitchFamily="66" charset="0"/>
                </a:rPr>
                <a:t>路由表</a:t>
              </a:r>
            </a:p>
          </p:txBody>
        </p:sp>
        <p:sp>
          <p:nvSpPr>
            <p:cNvPr id="17449" name="Line 9"/>
            <p:cNvSpPr>
              <a:spLocks noChangeShapeType="1"/>
            </p:cNvSpPr>
            <p:nvPr/>
          </p:nvSpPr>
          <p:spPr bwMode="auto">
            <a:xfrm>
              <a:off x="4065" y="2994"/>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0" name="Line 10"/>
            <p:cNvSpPr>
              <a:spLocks noChangeShapeType="1"/>
            </p:cNvSpPr>
            <p:nvPr/>
          </p:nvSpPr>
          <p:spPr bwMode="auto">
            <a:xfrm>
              <a:off x="4071" y="304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1" name="Line 11"/>
            <p:cNvSpPr>
              <a:spLocks noChangeShapeType="1"/>
            </p:cNvSpPr>
            <p:nvPr/>
          </p:nvSpPr>
          <p:spPr bwMode="auto">
            <a:xfrm>
              <a:off x="4074" y="3102"/>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2" name="Line 12"/>
            <p:cNvSpPr>
              <a:spLocks noChangeShapeType="1"/>
            </p:cNvSpPr>
            <p:nvPr/>
          </p:nvSpPr>
          <p:spPr bwMode="auto">
            <a:xfrm>
              <a:off x="4065" y="3477"/>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3" name="Line 13"/>
            <p:cNvSpPr>
              <a:spLocks noChangeShapeType="1"/>
            </p:cNvSpPr>
            <p:nvPr/>
          </p:nvSpPr>
          <p:spPr bwMode="auto">
            <a:xfrm>
              <a:off x="4068" y="352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4" name="Line 14"/>
            <p:cNvSpPr>
              <a:spLocks noChangeShapeType="1"/>
            </p:cNvSpPr>
            <p:nvPr/>
          </p:nvSpPr>
          <p:spPr bwMode="auto">
            <a:xfrm>
              <a:off x="4071" y="3579"/>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13" name="Line 15"/>
          <p:cNvSpPr>
            <a:spLocks noChangeShapeType="1"/>
          </p:cNvSpPr>
          <p:nvPr/>
        </p:nvSpPr>
        <p:spPr bwMode="auto">
          <a:xfrm flipV="1">
            <a:off x="3386139" y="6324601"/>
            <a:ext cx="650557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Line 16"/>
          <p:cNvSpPr>
            <a:spLocks noChangeShapeType="1"/>
          </p:cNvSpPr>
          <p:nvPr/>
        </p:nvSpPr>
        <p:spPr bwMode="auto">
          <a:xfrm flipV="1">
            <a:off x="3346451" y="5845176"/>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961" name="Group 17"/>
          <p:cNvGrpSpPr>
            <a:grpSpLocks/>
          </p:cNvGrpSpPr>
          <p:nvPr/>
        </p:nvGrpSpPr>
        <p:grpSpPr bwMode="auto">
          <a:xfrm>
            <a:off x="3479800" y="3065464"/>
            <a:ext cx="1887538" cy="885825"/>
            <a:chOff x="1175" y="1848"/>
            <a:chExt cx="1189" cy="558"/>
          </a:xfrm>
        </p:grpSpPr>
        <p:sp>
          <p:nvSpPr>
            <p:cNvPr id="17443" name="Rectangle 18"/>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4" name="Rectangle 19"/>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5" name="Text Box 20"/>
            <p:cNvSpPr txBox="1">
              <a:spLocks noChangeArrowheads="1"/>
            </p:cNvSpPr>
            <p:nvPr/>
          </p:nvSpPr>
          <p:spPr bwMode="auto">
            <a:xfrm>
              <a:off x="1175" y="1885"/>
              <a:ext cx="1100"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路由协议</a:t>
              </a:r>
            </a:p>
            <a:p>
              <a:pPr>
                <a:buFontTx/>
                <a:buChar char="•"/>
              </a:pPr>
              <a:r>
                <a:rPr lang="zh-CN" altLang="en-US" sz="1600" b="0">
                  <a:solidFill>
                    <a:schemeClr val="tx1"/>
                  </a:solidFill>
                  <a:latin typeface="Comic Sans MS" panose="030F0702030302020204" pitchFamily="66" charset="0"/>
                </a:rPr>
                <a:t>路径算法</a:t>
              </a:r>
            </a:p>
            <a:p>
              <a:pPr>
                <a:buFontTx/>
                <a:buChar char="•"/>
              </a:pPr>
              <a:r>
                <a:rPr lang="en-US" altLang="zh-CN" sz="1600" b="0">
                  <a:solidFill>
                    <a:schemeClr val="tx1"/>
                  </a:solidFill>
                  <a:latin typeface="Comic Sans MS" panose="030F0702030302020204" pitchFamily="66" charset="0"/>
                </a:rPr>
                <a:t>RIP, OSPF, BGP</a:t>
              </a:r>
              <a:endParaRPr lang="en-US" altLang="zh-CN" sz="1800" b="0">
                <a:solidFill>
                  <a:schemeClr val="tx1"/>
                </a:solidFill>
                <a:latin typeface="Comic Sans MS" panose="030F0702030302020204" pitchFamily="66" charset="0"/>
              </a:endParaRPr>
            </a:p>
          </p:txBody>
        </p:sp>
      </p:grpSp>
      <p:sp>
        <p:nvSpPr>
          <p:cNvPr id="1746965" name="Freeform 21"/>
          <p:cNvSpPr>
            <a:spLocks/>
          </p:cNvSpPr>
          <p:nvPr/>
        </p:nvSpPr>
        <p:spPr bwMode="auto">
          <a:xfrm>
            <a:off x="4699000" y="3986214"/>
            <a:ext cx="628650" cy="390525"/>
          </a:xfrm>
          <a:custGeom>
            <a:avLst/>
            <a:gdLst>
              <a:gd name="T0" fmla="*/ 0 w 396"/>
              <a:gd name="T1" fmla="*/ 0 h 246"/>
              <a:gd name="T2" fmla="*/ 378023438 w 396"/>
              <a:gd name="T3" fmla="*/ 468749063 h 246"/>
              <a:gd name="T4" fmla="*/ 997981875 w 396"/>
              <a:gd name="T5" fmla="*/ 529232813 h 246"/>
              <a:gd name="T6" fmla="*/ 0 60000 65536"/>
              <a:gd name="T7" fmla="*/ 0 60000 65536"/>
              <a:gd name="T8" fmla="*/ 0 60000 65536"/>
            </a:gdLst>
            <a:ahLst/>
            <a:cxnLst>
              <a:cxn ang="T6">
                <a:pos x="T0" y="T1"/>
              </a:cxn>
              <a:cxn ang="T7">
                <a:pos x="T2" y="T3"/>
              </a:cxn>
              <a:cxn ang="T8">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966" name="Group 22"/>
          <p:cNvGrpSpPr>
            <a:grpSpLocks/>
          </p:cNvGrpSpPr>
          <p:nvPr/>
        </p:nvGrpSpPr>
        <p:grpSpPr bwMode="auto">
          <a:xfrm>
            <a:off x="6708776" y="3113088"/>
            <a:ext cx="3000375" cy="1181100"/>
            <a:chOff x="102" y="1272"/>
            <a:chExt cx="1890" cy="744"/>
          </a:xfrm>
        </p:grpSpPr>
        <p:sp>
          <p:nvSpPr>
            <p:cNvPr id="17440" name="Rectangle 23"/>
            <p:cNvSpPr>
              <a:spLocks noChangeArrowheads="1"/>
            </p:cNvSpPr>
            <p:nvPr/>
          </p:nvSpPr>
          <p:spPr bwMode="auto">
            <a:xfrm>
              <a:off x="144" y="1272"/>
              <a:ext cx="1848" cy="690"/>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1" name="Rectangle 24"/>
            <p:cNvSpPr>
              <a:spLocks noChangeArrowheads="1"/>
            </p:cNvSpPr>
            <p:nvPr/>
          </p:nvSpPr>
          <p:spPr bwMode="auto">
            <a:xfrm>
              <a:off x="102" y="1314"/>
              <a:ext cx="1848" cy="70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2" name="Text Box 25"/>
            <p:cNvSpPr txBox="1">
              <a:spLocks noChangeArrowheads="1"/>
            </p:cNvSpPr>
            <p:nvPr/>
          </p:nvSpPr>
          <p:spPr bwMode="auto">
            <a:xfrm>
              <a:off x="116" y="1319"/>
              <a:ext cx="1021" cy="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网际协议（</a:t>
              </a:r>
              <a:r>
                <a:rPr lang="en-US" altLang="zh-CN" sz="1600" b="0">
                  <a:solidFill>
                    <a:srgbClr val="FF0000"/>
                  </a:solidFill>
                  <a:latin typeface="Comic Sans MS" panose="030F0702030302020204" pitchFamily="66" charset="0"/>
                </a:rPr>
                <a:t>IP</a:t>
              </a:r>
              <a:r>
                <a:rPr lang="zh-CN" altLang="en-US" sz="1600" b="0">
                  <a:solidFill>
                    <a:srgbClr val="FF0000"/>
                  </a:solidFill>
                  <a:latin typeface="Comic Sans MS" panose="030F0702030302020204" pitchFamily="66" charset="0"/>
                </a:rPr>
                <a:t>）</a:t>
              </a:r>
            </a:p>
            <a:p>
              <a:pPr>
                <a:buFontTx/>
                <a:buChar char="•"/>
              </a:pPr>
              <a:r>
                <a:rPr lang="zh-CN" altLang="en-US" sz="1600" b="0">
                  <a:solidFill>
                    <a:schemeClr val="tx1"/>
                  </a:solidFill>
                  <a:latin typeface="Comic Sans MS" panose="030F0702030302020204" pitchFamily="66" charset="0"/>
                </a:rPr>
                <a:t>寻址</a:t>
              </a:r>
            </a:p>
            <a:p>
              <a:pPr>
                <a:buFontTx/>
                <a:buChar char="•"/>
              </a:pPr>
              <a:r>
                <a:rPr lang="zh-CN" altLang="en-US" sz="1600" b="0">
                  <a:solidFill>
                    <a:schemeClr val="tx1"/>
                  </a:solidFill>
                  <a:latin typeface="Comic Sans MS" panose="030F0702030302020204" pitchFamily="66" charset="0"/>
                </a:rPr>
                <a:t>数据报格式</a:t>
              </a:r>
            </a:p>
            <a:p>
              <a:pPr>
                <a:buFontTx/>
                <a:buChar char="•"/>
              </a:pPr>
              <a:r>
                <a:rPr lang="zh-CN" altLang="en-US" sz="1600" b="0">
                  <a:solidFill>
                    <a:schemeClr val="tx1"/>
                  </a:solidFill>
                  <a:latin typeface="Comic Sans MS" panose="030F0702030302020204" pitchFamily="66" charset="0"/>
                </a:rPr>
                <a:t>分组转发</a:t>
              </a:r>
              <a:endParaRPr lang="zh-CN" altLang="en-US" sz="1800" b="0">
                <a:solidFill>
                  <a:schemeClr val="tx1"/>
                </a:solidFill>
                <a:latin typeface="Comic Sans MS" panose="030F0702030302020204" pitchFamily="66" charset="0"/>
              </a:endParaRPr>
            </a:p>
          </p:txBody>
        </p:sp>
      </p:grpSp>
      <p:grpSp>
        <p:nvGrpSpPr>
          <p:cNvPr id="1746970" name="Group 26"/>
          <p:cNvGrpSpPr>
            <a:grpSpLocks/>
          </p:cNvGrpSpPr>
          <p:nvPr/>
        </p:nvGrpSpPr>
        <p:grpSpPr bwMode="auto">
          <a:xfrm>
            <a:off x="6569076" y="4427538"/>
            <a:ext cx="1978025" cy="1414462"/>
            <a:chOff x="72" y="1146"/>
            <a:chExt cx="1260" cy="579"/>
          </a:xfrm>
        </p:grpSpPr>
        <p:sp>
          <p:nvSpPr>
            <p:cNvPr id="17437" name="Rectangle 27"/>
            <p:cNvSpPr>
              <a:spLocks noChangeArrowheads="1"/>
            </p:cNvSpPr>
            <p:nvPr/>
          </p:nvSpPr>
          <p:spPr bwMode="auto">
            <a:xfrm>
              <a:off x="114" y="1146"/>
              <a:ext cx="1218"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8" name="Rectangle 28"/>
            <p:cNvSpPr>
              <a:spLocks noChangeArrowheads="1"/>
            </p:cNvSpPr>
            <p:nvPr/>
          </p:nvSpPr>
          <p:spPr bwMode="auto">
            <a:xfrm>
              <a:off x="72" y="1188"/>
              <a:ext cx="1218"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9" name="Text Box 29"/>
            <p:cNvSpPr txBox="1">
              <a:spLocks noChangeArrowheads="1"/>
            </p:cNvSpPr>
            <p:nvPr/>
          </p:nvSpPr>
          <p:spPr bwMode="auto">
            <a:xfrm>
              <a:off x="80" y="1187"/>
              <a:ext cx="1197" cy="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控制报文协议</a:t>
              </a:r>
              <a:r>
                <a:rPr lang="en-US" altLang="zh-CN" sz="1600" b="0">
                  <a:solidFill>
                    <a:srgbClr val="FF0000"/>
                  </a:solidFill>
                  <a:latin typeface="Comic Sans MS" panose="030F0702030302020204" pitchFamily="66" charset="0"/>
                </a:rPr>
                <a:t>(ICMP)</a:t>
              </a:r>
            </a:p>
            <a:p>
              <a:pPr>
                <a:buFontTx/>
                <a:buChar char="•"/>
              </a:pPr>
              <a:r>
                <a:rPr lang="zh-CN" altLang="en-US" sz="1600" b="0">
                  <a:solidFill>
                    <a:schemeClr val="tx1"/>
                  </a:solidFill>
                  <a:latin typeface="Comic Sans MS" panose="030F0702030302020204" pitchFamily="66" charset="0"/>
                </a:rPr>
                <a:t>差错报告</a:t>
              </a:r>
            </a:p>
            <a:p>
              <a:pPr>
                <a:buFontTx/>
                <a:buChar char="•"/>
              </a:pPr>
              <a:r>
                <a:rPr lang="zh-CN" altLang="en-US" sz="1600" b="0">
                  <a:solidFill>
                    <a:schemeClr val="tx1"/>
                  </a:solidFill>
                  <a:latin typeface="Comic Sans MS" panose="030F0702030302020204" pitchFamily="66" charset="0"/>
                </a:rPr>
                <a:t>拥塞控制</a:t>
              </a:r>
            </a:p>
            <a:p>
              <a:pPr>
                <a:buFontTx/>
                <a:buChar char="•"/>
              </a:pPr>
              <a:r>
                <a:rPr lang="zh-CN" altLang="en-US" sz="1600" b="0">
                  <a:solidFill>
                    <a:schemeClr val="tx1"/>
                  </a:solidFill>
                  <a:latin typeface="Comic Sans MS" panose="030F0702030302020204" pitchFamily="66" charset="0"/>
                </a:rPr>
                <a:t>路由器的信令</a:t>
              </a:r>
              <a:endParaRPr lang="zh-CN" altLang="en-US" sz="1800" b="0">
                <a:solidFill>
                  <a:schemeClr val="tx1"/>
                </a:solidFill>
                <a:latin typeface="Comic Sans MS" panose="030F0702030302020204" pitchFamily="66" charset="0"/>
              </a:endParaRPr>
            </a:p>
          </p:txBody>
        </p:sp>
      </p:grpSp>
      <p:sp>
        <p:nvSpPr>
          <p:cNvPr id="17419" name="Line 30"/>
          <p:cNvSpPr>
            <a:spLocks noChangeShapeType="1"/>
          </p:cNvSpPr>
          <p:nvPr/>
        </p:nvSpPr>
        <p:spPr bwMode="auto">
          <a:xfrm flipV="1">
            <a:off x="3346451" y="2979739"/>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0" name="Text Box 31"/>
          <p:cNvSpPr txBox="1">
            <a:spLocks noChangeArrowheads="1"/>
          </p:cNvSpPr>
          <p:nvPr/>
        </p:nvSpPr>
        <p:spPr bwMode="auto">
          <a:xfrm>
            <a:off x="4787901" y="2506663"/>
            <a:ext cx="25495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1800" b="0">
                <a:solidFill>
                  <a:schemeClr val="tx2"/>
                </a:solidFill>
                <a:latin typeface="Comic Sans MS" panose="030F0702030302020204" pitchFamily="66" charset="0"/>
              </a:rPr>
              <a:t>        </a:t>
            </a:r>
            <a:r>
              <a:rPr lang="zh-CN" altLang="en-US" sz="1800" b="0">
                <a:solidFill>
                  <a:schemeClr val="tx2"/>
                </a:solidFill>
                <a:latin typeface="Comic Sans MS" panose="030F0702030302020204" pitchFamily="66" charset="0"/>
              </a:rPr>
              <a:t>传输层</a:t>
            </a:r>
            <a:r>
              <a:rPr lang="en-US" altLang="zh-CN" sz="1800" b="0">
                <a:solidFill>
                  <a:schemeClr val="tx2"/>
                </a:solidFill>
                <a:latin typeface="Comic Sans MS" panose="030F0702030302020204" pitchFamily="66" charset="0"/>
              </a:rPr>
              <a:t>: TCP, UDP</a:t>
            </a:r>
          </a:p>
        </p:txBody>
      </p:sp>
      <p:sp>
        <p:nvSpPr>
          <p:cNvPr id="17421" name="Text Box 32"/>
          <p:cNvSpPr txBox="1">
            <a:spLocks noChangeArrowheads="1"/>
          </p:cNvSpPr>
          <p:nvPr/>
        </p:nvSpPr>
        <p:spPr bwMode="auto">
          <a:xfrm>
            <a:off x="5832475" y="5972176"/>
            <a:ext cx="8699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800" b="0">
                <a:solidFill>
                  <a:schemeClr val="tx2"/>
                </a:solidFill>
                <a:latin typeface="Comic Sans MS" panose="030F0702030302020204" pitchFamily="66" charset="0"/>
              </a:rPr>
              <a:t>链路层</a:t>
            </a:r>
          </a:p>
        </p:txBody>
      </p:sp>
      <p:sp>
        <p:nvSpPr>
          <p:cNvPr id="17422" name="Text Box 33"/>
          <p:cNvSpPr txBox="1">
            <a:spLocks noChangeArrowheads="1"/>
          </p:cNvSpPr>
          <p:nvPr/>
        </p:nvSpPr>
        <p:spPr bwMode="auto">
          <a:xfrm>
            <a:off x="5749926" y="6386513"/>
            <a:ext cx="93821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1800" b="0">
                <a:solidFill>
                  <a:schemeClr val="tx2"/>
                </a:solidFill>
                <a:latin typeface="Comic Sans MS" panose="030F0702030302020204" pitchFamily="66" charset="0"/>
              </a:rPr>
              <a:t> </a:t>
            </a:r>
            <a:r>
              <a:rPr lang="zh-CN" altLang="en-US" sz="1800" b="0">
                <a:solidFill>
                  <a:schemeClr val="tx2"/>
                </a:solidFill>
                <a:latin typeface="Comic Sans MS" panose="030F0702030302020204" pitchFamily="66" charset="0"/>
              </a:rPr>
              <a:t>物理层</a:t>
            </a:r>
          </a:p>
        </p:txBody>
      </p:sp>
      <p:sp>
        <p:nvSpPr>
          <p:cNvPr id="17423" name="Text Box 34"/>
          <p:cNvSpPr txBox="1">
            <a:spLocks noChangeArrowheads="1"/>
          </p:cNvSpPr>
          <p:nvPr/>
        </p:nvSpPr>
        <p:spPr bwMode="auto">
          <a:xfrm>
            <a:off x="2206625" y="3976688"/>
            <a:ext cx="1098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r"/>
            <a:r>
              <a:rPr lang="zh-CN" altLang="en-US" sz="2400" b="0">
                <a:solidFill>
                  <a:srgbClr val="FF0000"/>
                </a:solidFill>
                <a:latin typeface="Comic Sans MS" panose="030F0702030302020204" pitchFamily="66" charset="0"/>
              </a:rPr>
              <a:t>网络层</a:t>
            </a:r>
            <a:endParaRPr lang="zh-CN" altLang="en-US" sz="1800" b="0">
              <a:solidFill>
                <a:schemeClr val="tx1"/>
              </a:solidFill>
              <a:latin typeface="Comic Sans MS" panose="030F0702030302020204" pitchFamily="66" charset="0"/>
            </a:endParaRPr>
          </a:p>
        </p:txBody>
      </p:sp>
      <p:sp>
        <p:nvSpPr>
          <p:cNvPr id="17424" name="Line 35"/>
          <p:cNvSpPr>
            <a:spLocks noChangeShapeType="1"/>
          </p:cNvSpPr>
          <p:nvPr/>
        </p:nvSpPr>
        <p:spPr bwMode="auto">
          <a:xfrm flipV="1">
            <a:off x="2781300" y="3021013"/>
            <a:ext cx="0" cy="7429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5" name="Line 36"/>
          <p:cNvSpPr>
            <a:spLocks noChangeShapeType="1"/>
          </p:cNvSpPr>
          <p:nvPr/>
        </p:nvSpPr>
        <p:spPr bwMode="auto">
          <a:xfrm>
            <a:off x="2781300" y="4687889"/>
            <a:ext cx="0" cy="114458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6" name="Rectangle 37"/>
          <p:cNvSpPr>
            <a:spLocks noGrp="1" noChangeArrowheads="1"/>
          </p:cNvSpPr>
          <p:nvPr>
            <p:ph type="title"/>
          </p:nvPr>
        </p:nvSpPr>
        <p:spPr bwMode="auto">
          <a:xfrm>
            <a:off x="2192338" y="4889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200">
                <a:solidFill>
                  <a:schemeClr val="hlink"/>
                </a:solidFill>
                <a:latin typeface="华文新魏" panose="02010800040101010101" pitchFamily="2" charset="-122"/>
                <a:ea typeface="华文新魏" panose="02010800040101010101" pitchFamily="2" charset="-122"/>
              </a:rPr>
              <a:t>5.1.3 Internet</a:t>
            </a:r>
            <a:r>
              <a:rPr lang="zh-CN" altLang="en-US" sz="3200">
                <a:solidFill>
                  <a:schemeClr val="hlink"/>
                </a:solidFill>
                <a:latin typeface="华文新魏" panose="02010800040101010101" pitchFamily="2" charset="-122"/>
                <a:ea typeface="华文新魏" panose="02010800040101010101" pitchFamily="2" charset="-122"/>
              </a:rPr>
              <a:t>的网络层</a:t>
            </a:r>
          </a:p>
        </p:txBody>
      </p:sp>
      <p:sp>
        <p:nvSpPr>
          <p:cNvPr id="17427" name="Text Box 38"/>
          <p:cNvSpPr txBox="1">
            <a:spLocks noChangeArrowheads="1"/>
          </p:cNvSpPr>
          <p:nvPr/>
        </p:nvSpPr>
        <p:spPr bwMode="auto">
          <a:xfrm>
            <a:off x="3722688" y="1398589"/>
            <a:ext cx="52895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en-US" altLang="zh-CN" sz="2400" b="0">
                <a:solidFill>
                  <a:schemeClr val="tx1"/>
                </a:solidFill>
                <a:latin typeface="Tahoma" panose="020B0604030504040204" pitchFamily="34" charset="0"/>
              </a:rPr>
              <a:t>Host, router network layer functions:</a:t>
            </a:r>
            <a:r>
              <a:rPr kumimoji="1" lang="zh-CN" altLang="en-US" sz="2400" b="0">
                <a:solidFill>
                  <a:schemeClr val="tx1"/>
                </a:solidFill>
                <a:latin typeface="Tahoma" panose="020B0604030504040204" pitchFamily="34" charset="0"/>
              </a:rPr>
              <a:t>主机和路由器在网络层的功能</a:t>
            </a:r>
          </a:p>
        </p:txBody>
      </p:sp>
      <p:grpSp>
        <p:nvGrpSpPr>
          <p:cNvPr id="1746983" name="Group 39"/>
          <p:cNvGrpSpPr>
            <a:grpSpLocks/>
          </p:cNvGrpSpPr>
          <p:nvPr/>
        </p:nvGrpSpPr>
        <p:grpSpPr bwMode="auto">
          <a:xfrm>
            <a:off x="3405189" y="4630739"/>
            <a:ext cx="1887537" cy="885825"/>
            <a:chOff x="1175" y="1848"/>
            <a:chExt cx="1189" cy="558"/>
          </a:xfrm>
        </p:grpSpPr>
        <p:sp>
          <p:nvSpPr>
            <p:cNvPr id="17434" name="Rectangle 40"/>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5" name="Rectangle 41"/>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6" name="Text Box 42"/>
            <p:cNvSpPr txBox="1">
              <a:spLocks noChangeArrowheads="1"/>
            </p:cNvSpPr>
            <p:nvPr/>
          </p:nvSpPr>
          <p:spPr bwMode="auto">
            <a:xfrm>
              <a:off x="1175" y="1885"/>
              <a:ext cx="839"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地址协议</a:t>
              </a:r>
            </a:p>
            <a:p>
              <a:pPr>
                <a:buFontTx/>
                <a:buChar char="•"/>
              </a:pPr>
              <a:r>
                <a:rPr lang="zh-CN" altLang="en-US" sz="1600" b="0">
                  <a:solidFill>
                    <a:schemeClr val="tx1"/>
                  </a:solidFill>
                  <a:latin typeface="Comic Sans MS" panose="030F0702030302020204" pitchFamily="66" charset="0"/>
                </a:rPr>
                <a:t> 地址转换</a:t>
              </a:r>
            </a:p>
            <a:p>
              <a:pPr>
                <a:buFontTx/>
                <a:buChar char="•"/>
              </a:pPr>
              <a:r>
                <a:rPr lang="zh-CN" altLang="en-US" sz="1600" b="0">
                  <a:solidFill>
                    <a:schemeClr val="tx1"/>
                  </a:solidFill>
                  <a:latin typeface="Comic Sans MS" panose="030F0702030302020204" pitchFamily="66" charset="0"/>
                </a:rPr>
                <a:t> </a:t>
              </a:r>
              <a:r>
                <a:rPr lang="en-US" altLang="zh-CN" sz="1600" b="0">
                  <a:solidFill>
                    <a:schemeClr val="tx1"/>
                  </a:solidFill>
                  <a:latin typeface="Comic Sans MS" panose="030F0702030302020204" pitchFamily="66" charset="0"/>
                </a:rPr>
                <a:t>ARP, RARP</a:t>
              </a:r>
              <a:endParaRPr lang="en-US" altLang="zh-CN" sz="1800" b="0">
                <a:solidFill>
                  <a:schemeClr val="tx1"/>
                </a:solidFill>
                <a:latin typeface="Comic Sans MS" panose="030F0702030302020204" pitchFamily="66" charset="0"/>
              </a:endParaRPr>
            </a:p>
          </p:txBody>
        </p:sp>
      </p:grpSp>
      <p:grpSp>
        <p:nvGrpSpPr>
          <p:cNvPr id="1746987" name="Group 43"/>
          <p:cNvGrpSpPr>
            <a:grpSpLocks/>
          </p:cNvGrpSpPr>
          <p:nvPr/>
        </p:nvGrpSpPr>
        <p:grpSpPr bwMode="auto">
          <a:xfrm>
            <a:off x="8202613" y="4392613"/>
            <a:ext cx="1600200" cy="1160462"/>
            <a:chOff x="800" y="1848"/>
            <a:chExt cx="1564" cy="573"/>
          </a:xfrm>
        </p:grpSpPr>
        <p:sp>
          <p:nvSpPr>
            <p:cNvPr id="17431" name="Rectangle 44"/>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2" name="Rectangle 45"/>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3" name="Text Box 46"/>
            <p:cNvSpPr txBox="1">
              <a:spLocks noChangeArrowheads="1"/>
            </p:cNvSpPr>
            <p:nvPr/>
          </p:nvSpPr>
          <p:spPr bwMode="auto">
            <a:xfrm>
              <a:off x="800" y="1893"/>
              <a:ext cx="1490"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600" b="0">
                  <a:solidFill>
                    <a:srgbClr val="FF0000"/>
                  </a:solidFill>
                  <a:latin typeface="Comic Sans MS" panose="030F0702030302020204" pitchFamily="66" charset="0"/>
                </a:rPr>
                <a:t>     Internet</a:t>
              </a:r>
              <a:r>
                <a:rPr lang="zh-CN" altLang="en-US" sz="1600" b="0">
                  <a:solidFill>
                    <a:srgbClr val="FF0000"/>
                  </a:solidFill>
                  <a:latin typeface="Comic Sans MS" panose="030F0702030302020204" pitchFamily="66" charset="0"/>
                </a:rPr>
                <a:t>组</a:t>
              </a:r>
            </a:p>
            <a:p>
              <a:pPr algn="ctr"/>
              <a:r>
                <a:rPr lang="zh-CN" altLang="en-US" sz="1600" b="0">
                  <a:solidFill>
                    <a:srgbClr val="FF0000"/>
                  </a:solidFill>
                  <a:latin typeface="Comic Sans MS" panose="030F0702030302020204" pitchFamily="66" charset="0"/>
                </a:rPr>
                <a:t>  管理协议</a:t>
              </a:r>
            </a:p>
            <a:p>
              <a:pPr algn="ctr"/>
              <a:r>
                <a:rPr lang="zh-CN" altLang="en-US" sz="1600" b="0">
                  <a:solidFill>
                    <a:srgbClr val="FF0000"/>
                  </a:solidFill>
                  <a:latin typeface="Comic Sans MS" panose="030F0702030302020204" pitchFamily="66" charset="0"/>
                </a:rPr>
                <a:t>  （</a:t>
              </a:r>
              <a:r>
                <a:rPr lang="en-US" altLang="zh-CN" sz="1600" b="0">
                  <a:solidFill>
                    <a:srgbClr val="FF0000"/>
                  </a:solidFill>
                  <a:latin typeface="Comic Sans MS" panose="030F0702030302020204" pitchFamily="66" charset="0"/>
                </a:rPr>
                <a:t>IGMP</a:t>
              </a:r>
              <a:r>
                <a:rPr lang="zh-CN" altLang="en-US" sz="1600" b="0">
                  <a:solidFill>
                    <a:srgbClr val="FF0000"/>
                  </a:solidFill>
                  <a:latin typeface="Comic Sans MS" panose="030F0702030302020204" pitchFamily="66" charset="0"/>
                </a:rPr>
                <a:t>）</a:t>
              </a:r>
            </a:p>
            <a:p>
              <a:pPr algn="ctr">
                <a:buFont typeface="Wingdings" panose="05000000000000000000" pitchFamily="2" charset="2"/>
                <a:buChar char="§"/>
              </a:pPr>
              <a:r>
                <a:rPr lang="zh-CN" altLang="en-US" sz="1600" b="0">
                  <a:solidFill>
                    <a:schemeClr val="tx1"/>
                  </a:solidFill>
                  <a:latin typeface="Comic Sans MS" panose="030F0702030302020204" pitchFamily="66" charset="0"/>
                </a:rPr>
                <a:t> 组播</a:t>
              </a:r>
            </a:p>
          </p:txBody>
        </p:sp>
      </p:grpSp>
      <p:sp>
        <p:nvSpPr>
          <p:cNvPr id="1746992" name="Freeform 48"/>
          <p:cNvSpPr>
            <a:spLocks/>
          </p:cNvSpPr>
          <p:nvPr/>
        </p:nvSpPr>
        <p:spPr bwMode="auto">
          <a:xfrm flipV="1">
            <a:off x="6335713" y="3668714"/>
            <a:ext cx="404812" cy="592137"/>
          </a:xfrm>
          <a:custGeom>
            <a:avLst/>
            <a:gdLst>
              <a:gd name="T0" fmla="*/ 0 w 396"/>
              <a:gd name="T1" fmla="*/ 0 h 246"/>
              <a:gd name="T2" fmla="*/ 156750158 w 396"/>
              <a:gd name="T3" fmla="*/ 1077672491 h 246"/>
              <a:gd name="T4" fmla="*/ 413820089 w 396"/>
              <a:gd name="T5" fmla="*/ 1216728403 h 246"/>
              <a:gd name="T6" fmla="*/ 0 60000 65536"/>
              <a:gd name="T7" fmla="*/ 0 60000 65536"/>
              <a:gd name="T8" fmla="*/ 0 60000 65536"/>
            </a:gdLst>
            <a:ahLst/>
            <a:cxnLst>
              <a:cxn ang="T6">
                <a:pos x="T0" y="T1"/>
              </a:cxn>
              <a:cxn ang="T7">
                <a:pos x="T2" y="T3"/>
              </a:cxn>
              <a:cxn ang="T8">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46966"/>
                                        </p:tgtEl>
                                        <p:attrNameLst>
                                          <p:attrName>style.visibility</p:attrName>
                                        </p:attrNameLst>
                                      </p:cBhvr>
                                      <p:to>
                                        <p:strVal val="visible"/>
                                      </p:to>
                                    </p:set>
                                    <p:anim calcmode="lin" valueType="num">
                                      <p:cBhvr additive="base">
                                        <p:cTn id="7" dur="500" fill="hold"/>
                                        <p:tgtEl>
                                          <p:spTgt spid="1746966"/>
                                        </p:tgtEl>
                                        <p:attrNameLst>
                                          <p:attrName>ppt_x</p:attrName>
                                        </p:attrNameLst>
                                      </p:cBhvr>
                                      <p:tavLst>
                                        <p:tav tm="0">
                                          <p:val>
                                            <p:strVal val="1+#ppt_w/2"/>
                                          </p:val>
                                        </p:tav>
                                        <p:tav tm="100000">
                                          <p:val>
                                            <p:strVal val="#ppt_x"/>
                                          </p:val>
                                        </p:tav>
                                      </p:tavLst>
                                    </p:anim>
                                    <p:anim calcmode="lin" valueType="num">
                                      <p:cBhvr additive="base">
                                        <p:cTn id="8" dur="500" fill="hold"/>
                                        <p:tgtEl>
                                          <p:spTgt spid="174696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46983"/>
                                        </p:tgtEl>
                                        <p:attrNameLst>
                                          <p:attrName>style.visibility</p:attrName>
                                        </p:attrNameLst>
                                      </p:cBhvr>
                                      <p:to>
                                        <p:strVal val="visible"/>
                                      </p:to>
                                    </p:set>
                                    <p:anim calcmode="lin" valueType="num">
                                      <p:cBhvr additive="base">
                                        <p:cTn id="13" dur="500" fill="hold"/>
                                        <p:tgtEl>
                                          <p:spTgt spid="1746983"/>
                                        </p:tgtEl>
                                        <p:attrNameLst>
                                          <p:attrName>ppt_x</p:attrName>
                                        </p:attrNameLst>
                                      </p:cBhvr>
                                      <p:tavLst>
                                        <p:tav tm="0">
                                          <p:val>
                                            <p:strVal val="1+#ppt_w/2"/>
                                          </p:val>
                                        </p:tav>
                                        <p:tav tm="100000">
                                          <p:val>
                                            <p:strVal val="#ppt_x"/>
                                          </p:val>
                                        </p:tav>
                                      </p:tavLst>
                                    </p:anim>
                                    <p:anim calcmode="lin" valueType="num">
                                      <p:cBhvr additive="base">
                                        <p:cTn id="14" dur="500" fill="hold"/>
                                        <p:tgtEl>
                                          <p:spTgt spid="174698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746949"/>
                                        </p:tgtEl>
                                        <p:attrNameLst>
                                          <p:attrName>style.visibility</p:attrName>
                                        </p:attrNameLst>
                                      </p:cBhvr>
                                      <p:to>
                                        <p:strVal val="visible"/>
                                      </p:to>
                                    </p:set>
                                    <p:anim calcmode="lin" valueType="num">
                                      <p:cBhvr additive="base">
                                        <p:cTn id="19" dur="500" fill="hold"/>
                                        <p:tgtEl>
                                          <p:spTgt spid="1746949"/>
                                        </p:tgtEl>
                                        <p:attrNameLst>
                                          <p:attrName>ppt_x</p:attrName>
                                        </p:attrNameLst>
                                      </p:cBhvr>
                                      <p:tavLst>
                                        <p:tav tm="0">
                                          <p:val>
                                            <p:strVal val="1+#ppt_w/2"/>
                                          </p:val>
                                        </p:tav>
                                        <p:tav tm="100000">
                                          <p:val>
                                            <p:strVal val="#ppt_x"/>
                                          </p:val>
                                        </p:tav>
                                      </p:tavLst>
                                    </p:anim>
                                    <p:anim calcmode="lin" valueType="num">
                                      <p:cBhvr additive="base">
                                        <p:cTn id="20" dur="500" fill="hold"/>
                                        <p:tgtEl>
                                          <p:spTgt spid="174694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746961"/>
                                        </p:tgtEl>
                                        <p:attrNameLst>
                                          <p:attrName>style.visibility</p:attrName>
                                        </p:attrNameLst>
                                      </p:cBhvr>
                                      <p:to>
                                        <p:strVal val="visible"/>
                                      </p:to>
                                    </p:set>
                                    <p:anim calcmode="lin" valueType="num">
                                      <p:cBhvr additive="base">
                                        <p:cTn id="25" dur="500" fill="hold"/>
                                        <p:tgtEl>
                                          <p:spTgt spid="1746961"/>
                                        </p:tgtEl>
                                        <p:attrNameLst>
                                          <p:attrName>ppt_x</p:attrName>
                                        </p:attrNameLst>
                                      </p:cBhvr>
                                      <p:tavLst>
                                        <p:tav tm="0">
                                          <p:val>
                                            <p:strVal val="1+#ppt_w/2"/>
                                          </p:val>
                                        </p:tav>
                                        <p:tav tm="100000">
                                          <p:val>
                                            <p:strVal val="#ppt_x"/>
                                          </p:val>
                                        </p:tav>
                                      </p:tavLst>
                                    </p:anim>
                                    <p:anim calcmode="lin" valueType="num">
                                      <p:cBhvr additive="base">
                                        <p:cTn id="26" dur="500" fill="hold"/>
                                        <p:tgtEl>
                                          <p:spTgt spid="174696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746965"/>
                                        </p:tgtEl>
                                        <p:attrNameLst>
                                          <p:attrName>style.visibility</p:attrName>
                                        </p:attrNameLst>
                                      </p:cBhvr>
                                      <p:to>
                                        <p:strVal val="visible"/>
                                      </p:to>
                                    </p:set>
                                    <p:anim calcmode="lin" valueType="num">
                                      <p:cBhvr additive="base">
                                        <p:cTn id="31" dur="500" fill="hold"/>
                                        <p:tgtEl>
                                          <p:spTgt spid="1746965"/>
                                        </p:tgtEl>
                                        <p:attrNameLst>
                                          <p:attrName>ppt_x</p:attrName>
                                        </p:attrNameLst>
                                      </p:cBhvr>
                                      <p:tavLst>
                                        <p:tav tm="0">
                                          <p:val>
                                            <p:strVal val="1+#ppt_w/2"/>
                                          </p:val>
                                        </p:tav>
                                        <p:tav tm="100000">
                                          <p:val>
                                            <p:strVal val="#ppt_x"/>
                                          </p:val>
                                        </p:tav>
                                      </p:tavLst>
                                    </p:anim>
                                    <p:anim calcmode="lin" valueType="num">
                                      <p:cBhvr additive="base">
                                        <p:cTn id="32" dur="500" fill="hold"/>
                                        <p:tgtEl>
                                          <p:spTgt spid="174696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746992"/>
                                        </p:tgtEl>
                                        <p:attrNameLst>
                                          <p:attrName>style.visibility</p:attrName>
                                        </p:attrNameLst>
                                      </p:cBhvr>
                                      <p:to>
                                        <p:strVal val="visible"/>
                                      </p:to>
                                    </p:set>
                                    <p:anim calcmode="lin" valueType="num">
                                      <p:cBhvr additive="base">
                                        <p:cTn id="37" dur="500" fill="hold"/>
                                        <p:tgtEl>
                                          <p:spTgt spid="1746992"/>
                                        </p:tgtEl>
                                        <p:attrNameLst>
                                          <p:attrName>ppt_x</p:attrName>
                                        </p:attrNameLst>
                                      </p:cBhvr>
                                      <p:tavLst>
                                        <p:tav tm="0">
                                          <p:val>
                                            <p:strVal val="1+#ppt_w/2"/>
                                          </p:val>
                                        </p:tav>
                                        <p:tav tm="100000">
                                          <p:val>
                                            <p:strVal val="#ppt_x"/>
                                          </p:val>
                                        </p:tav>
                                      </p:tavLst>
                                    </p:anim>
                                    <p:anim calcmode="lin" valueType="num">
                                      <p:cBhvr additive="base">
                                        <p:cTn id="38" dur="500" fill="hold"/>
                                        <p:tgtEl>
                                          <p:spTgt spid="174699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1746970"/>
                                        </p:tgtEl>
                                        <p:attrNameLst>
                                          <p:attrName>style.visibility</p:attrName>
                                        </p:attrNameLst>
                                      </p:cBhvr>
                                      <p:to>
                                        <p:strVal val="visible"/>
                                      </p:to>
                                    </p:set>
                                    <p:anim calcmode="lin" valueType="num">
                                      <p:cBhvr additive="base">
                                        <p:cTn id="43" dur="500" fill="hold"/>
                                        <p:tgtEl>
                                          <p:spTgt spid="1746970"/>
                                        </p:tgtEl>
                                        <p:attrNameLst>
                                          <p:attrName>ppt_x</p:attrName>
                                        </p:attrNameLst>
                                      </p:cBhvr>
                                      <p:tavLst>
                                        <p:tav tm="0">
                                          <p:val>
                                            <p:strVal val="1+#ppt_w/2"/>
                                          </p:val>
                                        </p:tav>
                                        <p:tav tm="100000">
                                          <p:val>
                                            <p:strVal val="#ppt_x"/>
                                          </p:val>
                                        </p:tav>
                                      </p:tavLst>
                                    </p:anim>
                                    <p:anim calcmode="lin" valueType="num">
                                      <p:cBhvr additive="base">
                                        <p:cTn id="44" dur="500" fill="hold"/>
                                        <p:tgtEl>
                                          <p:spTgt spid="1746970"/>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1746987"/>
                                        </p:tgtEl>
                                        <p:attrNameLst>
                                          <p:attrName>style.visibility</p:attrName>
                                        </p:attrNameLst>
                                      </p:cBhvr>
                                      <p:to>
                                        <p:strVal val="visible"/>
                                      </p:to>
                                    </p:set>
                                    <p:anim calcmode="lin" valueType="num">
                                      <p:cBhvr additive="base">
                                        <p:cTn id="49" dur="500" fill="hold"/>
                                        <p:tgtEl>
                                          <p:spTgt spid="1746987"/>
                                        </p:tgtEl>
                                        <p:attrNameLst>
                                          <p:attrName>ppt_x</p:attrName>
                                        </p:attrNameLst>
                                      </p:cBhvr>
                                      <p:tavLst>
                                        <p:tav tm="0">
                                          <p:val>
                                            <p:strVal val="1+#ppt_w/2"/>
                                          </p:val>
                                        </p:tav>
                                        <p:tav tm="100000">
                                          <p:val>
                                            <p:strVal val="#ppt_x"/>
                                          </p:val>
                                        </p:tav>
                                      </p:tavLst>
                                    </p:anim>
                                    <p:anim calcmode="lin" valueType="num">
                                      <p:cBhvr additive="base">
                                        <p:cTn id="50" dur="500" fill="hold"/>
                                        <p:tgtEl>
                                          <p:spTgt spid="1746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2209800" y="50641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Summary</a:t>
            </a:r>
          </a:p>
        </p:txBody>
      </p:sp>
      <p:graphicFrame>
        <p:nvGraphicFramePr>
          <p:cNvPr id="18435" name="Object 3">
            <a:hlinkClick r:id="" action="ppaction://ole?verb=0"/>
          </p:cNvPr>
          <p:cNvGraphicFramePr>
            <a:graphicFrameLocks/>
          </p:cNvGraphicFramePr>
          <p:nvPr/>
        </p:nvGraphicFramePr>
        <p:xfrm>
          <a:off x="4494214" y="1536701"/>
          <a:ext cx="2873375" cy="1687513"/>
        </p:xfrm>
        <a:graphic>
          <a:graphicData uri="http://schemas.openxmlformats.org/presentationml/2006/ole">
            <mc:AlternateContent xmlns:mc="http://schemas.openxmlformats.org/markup-compatibility/2006">
              <mc:Choice xmlns:v="urn:schemas-microsoft-com:vml" Requires="v">
                <p:oleObj spid="_x0000_s18454" name="Clip" r:id="rId3" imgW="4054475" imgH="3549650" progId="MS_ClipArt_Gallery.2">
                  <p:embed/>
                </p:oleObj>
              </mc:Choice>
              <mc:Fallback>
                <p:oleObj name="Clip" r:id="rId3" imgW="4054475" imgH="3549650" progId="MS_ClipArt_Gallery.2">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4214" y="1536701"/>
                        <a:ext cx="2873375" cy="168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6" name="Text Box 4"/>
          <p:cNvSpPr txBox="1">
            <a:spLocks noChangeArrowheads="1"/>
          </p:cNvSpPr>
          <p:nvPr/>
        </p:nvSpPr>
        <p:spPr bwMode="auto">
          <a:xfrm>
            <a:off x="4948239" y="3876675"/>
            <a:ext cx="3254375"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5275" indent="-295275">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zh-CN" altLang="en-US" sz="3200">
                <a:solidFill>
                  <a:schemeClr val="tx1"/>
                </a:solidFill>
                <a:latin typeface="Arial" panose="020B0604020202020204" pitchFamily="34" charset="0"/>
                <a:ea typeface="新宋体" panose="02010609030101010101" pitchFamily="49" charset="-122"/>
              </a:rPr>
              <a:t>网络层概述</a:t>
            </a:r>
          </a:p>
          <a:p>
            <a:pPr eaLnBrk="1" hangingPunct="1">
              <a:lnSpc>
                <a:spcPct val="90000"/>
              </a:lnSpc>
              <a:spcBef>
                <a:spcPct val="20000"/>
              </a:spcBef>
              <a:buFontTx/>
              <a:buChar char="•"/>
            </a:pPr>
            <a:r>
              <a:rPr lang="zh-CN" altLang="en-US" sz="3200">
                <a:solidFill>
                  <a:schemeClr val="tx1"/>
                </a:solidFill>
                <a:latin typeface="Arial" panose="020B0604020202020204" pitchFamily="34" charset="0"/>
                <a:ea typeface="新宋体" panose="02010609030101010101" pitchFamily="49" charset="-122"/>
              </a:rPr>
              <a:t>数据报</a:t>
            </a:r>
          </a:p>
          <a:p>
            <a:pPr eaLnBrk="1" hangingPunct="1">
              <a:lnSpc>
                <a:spcPct val="90000"/>
              </a:lnSpc>
              <a:spcBef>
                <a:spcPct val="20000"/>
              </a:spcBef>
              <a:buFontTx/>
              <a:buChar char="•"/>
            </a:pPr>
            <a:r>
              <a:rPr lang="en-US" altLang="zh-CN" sz="3200">
                <a:solidFill>
                  <a:schemeClr val="tx1"/>
                </a:solidFill>
                <a:latin typeface="Arial" panose="020B0604020202020204" pitchFamily="34" charset="0"/>
                <a:ea typeface="新宋体" panose="02010609030101010101" pitchFamily="49" charset="-122"/>
              </a:rPr>
              <a:t>Internet</a:t>
            </a:r>
            <a:r>
              <a:rPr lang="zh-CN" altLang="en-US" sz="3200">
                <a:solidFill>
                  <a:schemeClr val="tx1"/>
                </a:solidFill>
                <a:latin typeface="Arial" panose="020B0604020202020204" pitchFamily="34" charset="0"/>
                <a:ea typeface="新宋体" panose="02010609030101010101" pitchFamily="49" charset="-122"/>
              </a:rPr>
              <a:t>网络层</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a:solidFill>
                  <a:schemeClr val="tx1"/>
                </a:solidFill>
              </a:rPr>
              <a:t>    </a:t>
            </a:r>
            <a:endParaRPr kumimoji="1" lang="en-US" altLang="zh-CN">
              <a:solidFill>
                <a:schemeClr val="tx1"/>
              </a:solidFill>
            </a:endParaRPr>
          </a:p>
        </p:txBody>
      </p:sp>
      <p:sp>
        <p:nvSpPr>
          <p:cNvPr id="5123" name="Text Box 3"/>
          <p:cNvSpPr txBox="1">
            <a:spLocks noChangeArrowheads="1"/>
          </p:cNvSpPr>
          <p:nvPr/>
        </p:nvSpPr>
        <p:spPr bwMode="auto">
          <a:xfrm>
            <a:off x="3381376" y="2482851"/>
            <a:ext cx="52228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6000" b="1">
                <a:solidFill>
                  <a:schemeClr val="folHlink"/>
                </a:solidFill>
                <a:latin typeface="新宋体" panose="02010609030101010101" pitchFamily="49" charset="-122"/>
                <a:ea typeface="新宋体" panose="02010609030101010101" pitchFamily="49" charset="-122"/>
              </a:rPr>
              <a:t>5.2 </a:t>
            </a:r>
            <a:r>
              <a:rPr kumimoji="1" lang="zh-CN" altLang="en-US" sz="6000" b="1">
                <a:solidFill>
                  <a:schemeClr val="folHlink"/>
                </a:solidFill>
                <a:latin typeface="新宋体" panose="02010609030101010101" pitchFamily="49" charset="-122"/>
                <a:ea typeface="新宋体" panose="02010609030101010101" pitchFamily="49" charset="-122"/>
              </a:rPr>
              <a:t>网络地址</a:t>
            </a:r>
          </a:p>
        </p:txBody>
      </p:sp>
      <p:pic>
        <p:nvPicPr>
          <p:cNvPr id="5124"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3549651" y="268289"/>
            <a:ext cx="4494213" cy="923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2028825" y="36195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a:t>
            </a:r>
          </a:p>
        </p:txBody>
      </p:sp>
      <p:sp>
        <p:nvSpPr>
          <p:cNvPr id="1328132" name="Text Box 4"/>
          <p:cNvSpPr txBox="1">
            <a:spLocks noChangeArrowheads="1"/>
          </p:cNvSpPr>
          <p:nvPr/>
        </p:nvSpPr>
        <p:spPr bwMode="auto">
          <a:xfrm>
            <a:off x="2135188" y="1322388"/>
            <a:ext cx="5980112"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网络地址类别</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子网</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特殊 </a:t>
            </a: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专用 </a:t>
            </a: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CIDR</a:t>
            </a:r>
            <a:r>
              <a:rPr kumimoji="1" lang="zh-CN" altLang="en-US">
                <a:solidFill>
                  <a:schemeClr val="tx1"/>
                </a:solidFill>
                <a:latin typeface="Tahoma" panose="020B0604030504040204" pitchFamily="34" charset="0"/>
              </a:rPr>
              <a:t>（无类型域间路由）</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地址转换</a:t>
            </a:r>
            <a:r>
              <a:rPr kumimoji="1" lang="en-US" altLang="zh-CN">
                <a:solidFill>
                  <a:schemeClr val="tx1"/>
                </a:solidFill>
                <a:latin typeface="Tahoma" panose="020B0604030504040204" pitchFamily="34" charset="0"/>
              </a:rPr>
              <a:t>(ARP/RARP/DNS)</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NAT</a:t>
            </a:r>
            <a:r>
              <a:rPr kumimoji="1" lang="zh-CN" altLang="en-US">
                <a:solidFill>
                  <a:schemeClr val="tx1"/>
                </a:solidFill>
                <a:latin typeface="Tahoma" panose="020B0604030504040204" pitchFamily="34" charset="0"/>
              </a:rPr>
              <a:t>（网络地址转换）</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IP V6</a:t>
            </a:r>
          </a:p>
        </p:txBody>
      </p:sp>
      <p:grpSp>
        <p:nvGrpSpPr>
          <p:cNvPr id="6148" name="Group 6"/>
          <p:cNvGrpSpPr>
            <a:grpSpLocks/>
          </p:cNvGrpSpPr>
          <p:nvPr/>
        </p:nvGrpSpPr>
        <p:grpSpPr bwMode="auto">
          <a:xfrm>
            <a:off x="7204076" y="1233488"/>
            <a:ext cx="2936875" cy="1492250"/>
            <a:chOff x="1775" y="922"/>
            <a:chExt cx="2772" cy="940"/>
          </a:xfrm>
        </p:grpSpPr>
        <p:grpSp>
          <p:nvGrpSpPr>
            <p:cNvPr id="6149" name="Group 7"/>
            <p:cNvGrpSpPr>
              <a:grpSpLocks/>
            </p:cNvGrpSpPr>
            <p:nvPr/>
          </p:nvGrpSpPr>
          <p:grpSpPr bwMode="auto">
            <a:xfrm>
              <a:off x="1775" y="922"/>
              <a:ext cx="2666" cy="940"/>
              <a:chOff x="1200" y="194"/>
              <a:chExt cx="3121" cy="1439"/>
            </a:xfrm>
          </p:grpSpPr>
          <p:sp>
            <p:nvSpPr>
              <p:cNvPr id="6151" name="Freeform 8"/>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02"/>
                  <a:gd name="T94" fmla="*/ 0 h 1141"/>
                  <a:gd name="T95" fmla="*/ 1802 w 1802"/>
                  <a:gd name="T96" fmla="*/ 1141 h 114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a:solidFill>
                  <a:srgbClr val="FFFFFF"/>
                </a:solidFill>
                <a:round/>
                <a:headEnd/>
                <a:tailEnd/>
              </a:ln>
            </p:spPr>
            <p:txBody>
              <a:bodyPr/>
              <a:lstStyle/>
              <a:p>
                <a:endParaRPr lang="zh-CN" altLang="en-US"/>
              </a:p>
            </p:txBody>
          </p:sp>
          <p:sp>
            <p:nvSpPr>
              <p:cNvPr id="6152" name="Freeform 9"/>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97"/>
                  <a:gd name="T94" fmla="*/ 0 h 1032"/>
                  <a:gd name="T95" fmla="*/ 1797 w 1797"/>
                  <a:gd name="T96" fmla="*/ 1032 h 103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a:solidFill>
                  <a:srgbClr val="4C4C4C"/>
                </a:solidFill>
                <a:round/>
                <a:headEnd/>
                <a:tailEnd/>
              </a:ln>
            </p:spPr>
            <p:txBody>
              <a:bodyPr/>
              <a:lstStyle/>
              <a:p>
                <a:endParaRPr lang="zh-CN" altLang="en-US"/>
              </a:p>
            </p:txBody>
          </p:sp>
          <p:sp>
            <p:nvSpPr>
              <p:cNvPr id="6153" name="Freeform 10"/>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7"/>
                  <a:gd name="T40" fmla="*/ 0 h 364"/>
                  <a:gd name="T41" fmla="*/ 607 w 607"/>
                  <a:gd name="T42" fmla="*/ 364 h 3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a:solidFill>
                  <a:srgbClr val="FFFFFF"/>
                </a:solidFill>
                <a:round/>
                <a:headEnd/>
                <a:tailEnd/>
              </a:ln>
            </p:spPr>
            <p:txBody>
              <a:bodyPr/>
              <a:lstStyle/>
              <a:p>
                <a:endParaRPr lang="zh-CN" altLang="en-US"/>
              </a:p>
            </p:txBody>
          </p:sp>
          <p:sp>
            <p:nvSpPr>
              <p:cNvPr id="6154" name="Freeform 11"/>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3"/>
                  <a:gd name="T34" fmla="*/ 0 h 284"/>
                  <a:gd name="T35" fmla="*/ 303 w 303"/>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a:solidFill>
                  <a:srgbClr val="FFFF00"/>
                </a:solidFill>
                <a:round/>
                <a:headEnd/>
                <a:tailEnd/>
              </a:ln>
            </p:spPr>
            <p:txBody>
              <a:bodyPr/>
              <a:lstStyle/>
              <a:p>
                <a:endParaRPr lang="zh-CN" altLang="en-US"/>
              </a:p>
            </p:txBody>
          </p:sp>
          <p:sp>
            <p:nvSpPr>
              <p:cNvPr id="6155" name="Freeform 12"/>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00"/>
                  <a:gd name="T76" fmla="*/ 0 h 344"/>
                  <a:gd name="T77" fmla="*/ 700 w 700"/>
                  <a:gd name="T78" fmla="*/ 344 h 3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a:solidFill>
                  <a:srgbClr val="FFC17F"/>
                </a:solidFill>
                <a:round/>
                <a:headEnd/>
                <a:tailEnd/>
              </a:ln>
            </p:spPr>
            <p:txBody>
              <a:bodyPr/>
              <a:lstStyle/>
              <a:p>
                <a:endParaRPr lang="zh-CN" altLang="en-US"/>
              </a:p>
            </p:txBody>
          </p:sp>
          <p:sp>
            <p:nvSpPr>
              <p:cNvPr id="6156" name="Freeform 13"/>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0"/>
                  <a:gd name="T73" fmla="*/ 0 h 151"/>
                  <a:gd name="T74" fmla="*/ 520 w 520"/>
                  <a:gd name="T75" fmla="*/ 151 h 1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a:solidFill>
                  <a:srgbClr val="FFC17F"/>
                </a:solidFill>
                <a:round/>
                <a:headEnd/>
                <a:tailEnd/>
              </a:ln>
            </p:spPr>
            <p:txBody>
              <a:bodyPr/>
              <a:lstStyle/>
              <a:p>
                <a:endParaRPr lang="zh-CN" altLang="en-US"/>
              </a:p>
            </p:txBody>
          </p:sp>
          <p:sp>
            <p:nvSpPr>
              <p:cNvPr id="6157" name="Freeform 14"/>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56"/>
                  <a:gd name="T88" fmla="*/ 0 h 508"/>
                  <a:gd name="T89" fmla="*/ 856 w 856"/>
                  <a:gd name="T90" fmla="*/ 508 h 50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a:solidFill>
                  <a:srgbClr val="FFC17F"/>
                </a:solidFill>
                <a:round/>
                <a:headEnd/>
                <a:tailEnd/>
              </a:ln>
            </p:spPr>
            <p:txBody>
              <a:bodyPr/>
              <a:lstStyle/>
              <a:p>
                <a:endParaRPr lang="zh-CN" altLang="en-US"/>
              </a:p>
            </p:txBody>
          </p:sp>
          <p:sp>
            <p:nvSpPr>
              <p:cNvPr id="6158" name="Freeform 15"/>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 name="T21" fmla="*/ 0 w 156"/>
                  <a:gd name="T22" fmla="*/ 0 h 122"/>
                  <a:gd name="T23" fmla="*/ 156 w 156"/>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a:solidFill>
                  <a:srgbClr val="601E00"/>
                </a:solidFill>
                <a:round/>
                <a:headEnd/>
                <a:tailEnd/>
              </a:ln>
            </p:spPr>
            <p:txBody>
              <a:bodyPr/>
              <a:lstStyle/>
              <a:p>
                <a:endParaRPr lang="zh-CN" altLang="en-US"/>
              </a:p>
            </p:txBody>
          </p:sp>
          <p:sp>
            <p:nvSpPr>
              <p:cNvPr id="6159" name="Freeform 16"/>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 name="T24" fmla="*/ 0 w 454"/>
                  <a:gd name="T25" fmla="*/ 0 h 80"/>
                  <a:gd name="T26" fmla="*/ 454 w 454"/>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a:solidFill>
                  <a:srgbClr val="601E00"/>
                </a:solidFill>
                <a:round/>
                <a:headEnd/>
                <a:tailEnd/>
              </a:ln>
            </p:spPr>
            <p:txBody>
              <a:bodyPr/>
              <a:lstStyle/>
              <a:p>
                <a:endParaRPr lang="zh-CN" altLang="en-US"/>
              </a:p>
            </p:txBody>
          </p:sp>
          <p:sp>
            <p:nvSpPr>
              <p:cNvPr id="6160" name="Freeform 17"/>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57"/>
                  <a:gd name="T35" fmla="*/ 253 w 253"/>
                  <a:gd name="T36" fmla="*/ 57 h 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a:solidFill>
                  <a:srgbClr val="FFFFFF"/>
                </a:solidFill>
                <a:round/>
                <a:headEnd/>
                <a:tailEnd/>
              </a:ln>
            </p:spPr>
            <p:txBody>
              <a:bodyPr/>
              <a:lstStyle/>
              <a:p>
                <a:endParaRPr lang="zh-CN" altLang="en-US"/>
              </a:p>
            </p:txBody>
          </p:sp>
          <p:sp>
            <p:nvSpPr>
              <p:cNvPr id="6161" name="Freeform 18"/>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44"/>
                  <a:gd name="T169" fmla="*/ 0 h 276"/>
                  <a:gd name="T170" fmla="*/ 744 w 744"/>
                  <a:gd name="T171" fmla="*/ 276 h 2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a:solidFill>
                  <a:srgbClr val="000000"/>
                </a:solidFill>
                <a:round/>
                <a:headEnd/>
                <a:tailEnd/>
              </a:ln>
            </p:spPr>
            <p:txBody>
              <a:bodyPr/>
              <a:lstStyle/>
              <a:p>
                <a:endParaRPr lang="zh-CN" altLang="en-US"/>
              </a:p>
            </p:txBody>
          </p:sp>
          <p:sp>
            <p:nvSpPr>
              <p:cNvPr id="6162" name="Freeform 19"/>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2"/>
                  <a:gd name="T32" fmla="*/ 125 w 12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a:solidFill>
                  <a:srgbClr val="000000"/>
                </a:solidFill>
                <a:round/>
                <a:headEnd/>
                <a:tailEnd/>
              </a:ln>
            </p:spPr>
            <p:txBody>
              <a:bodyPr/>
              <a:lstStyle/>
              <a:p>
                <a:endParaRPr lang="zh-CN" altLang="en-US"/>
              </a:p>
            </p:txBody>
          </p:sp>
          <p:sp>
            <p:nvSpPr>
              <p:cNvPr id="6163" name="Freeform 20"/>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39"/>
                  <a:gd name="T38" fmla="*/ 119 w 11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a:solidFill>
                  <a:srgbClr val="000000"/>
                </a:solidFill>
                <a:round/>
                <a:headEnd/>
                <a:tailEnd/>
              </a:ln>
            </p:spPr>
            <p:txBody>
              <a:bodyPr/>
              <a:lstStyle/>
              <a:p>
                <a:endParaRPr lang="zh-CN" altLang="en-US"/>
              </a:p>
            </p:txBody>
          </p:sp>
          <p:sp>
            <p:nvSpPr>
              <p:cNvPr id="6164" name="Freeform 21"/>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27" y="4"/>
                    </a:moveTo>
                    <a:lnTo>
                      <a:pt x="13" y="0"/>
                    </a:lnTo>
                    <a:lnTo>
                      <a:pt x="0" y="8"/>
                    </a:lnTo>
                    <a:lnTo>
                      <a:pt x="11" y="15"/>
                    </a:lnTo>
                    <a:lnTo>
                      <a:pt x="25" y="15"/>
                    </a:lnTo>
                    <a:lnTo>
                      <a:pt x="27" y="4"/>
                    </a:lnTo>
                  </a:path>
                </a:pathLst>
              </a:custGeom>
              <a:solidFill>
                <a:srgbClr val="000000"/>
              </a:solidFill>
              <a:ln w="12700" cap="rnd">
                <a:solidFill>
                  <a:srgbClr val="000000"/>
                </a:solidFill>
                <a:round/>
                <a:headEnd/>
                <a:tailEnd/>
              </a:ln>
            </p:spPr>
            <p:txBody>
              <a:bodyPr/>
              <a:lstStyle/>
              <a:p>
                <a:endParaRPr lang="zh-CN" altLang="en-US"/>
              </a:p>
            </p:txBody>
          </p:sp>
          <p:sp>
            <p:nvSpPr>
              <p:cNvPr id="6165" name="Freeform 22"/>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 name="T18" fmla="*/ 0 w 26"/>
                  <a:gd name="T19" fmla="*/ 0 h 13"/>
                  <a:gd name="T20" fmla="*/ 26 w 26"/>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6" h="13">
                    <a:moveTo>
                      <a:pt x="13" y="0"/>
                    </a:moveTo>
                    <a:lnTo>
                      <a:pt x="0" y="7"/>
                    </a:lnTo>
                    <a:lnTo>
                      <a:pt x="9" y="12"/>
                    </a:lnTo>
                    <a:lnTo>
                      <a:pt x="25" y="12"/>
                    </a:lnTo>
                    <a:lnTo>
                      <a:pt x="25" y="2"/>
                    </a:lnTo>
                    <a:lnTo>
                      <a:pt x="13" y="0"/>
                    </a:lnTo>
                  </a:path>
                </a:pathLst>
              </a:custGeom>
              <a:solidFill>
                <a:srgbClr val="000000"/>
              </a:solidFill>
              <a:ln w="12700" cap="rnd">
                <a:solidFill>
                  <a:srgbClr val="000000"/>
                </a:solidFill>
                <a:round/>
                <a:headEnd/>
                <a:tailEnd/>
              </a:ln>
            </p:spPr>
            <p:txBody>
              <a:bodyPr/>
              <a:lstStyle/>
              <a:p>
                <a:endParaRPr lang="zh-CN" altLang="en-US"/>
              </a:p>
            </p:txBody>
          </p:sp>
          <p:sp>
            <p:nvSpPr>
              <p:cNvPr id="6166" name="Freeform 23"/>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6"/>
                  <a:gd name="T67" fmla="*/ 0 h 147"/>
                  <a:gd name="T68" fmla="*/ 166 w 166"/>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a:solidFill>
                  <a:srgbClr val="000000"/>
                </a:solidFill>
                <a:round/>
                <a:headEnd/>
                <a:tailEnd/>
              </a:ln>
            </p:spPr>
            <p:txBody>
              <a:bodyPr/>
              <a:lstStyle/>
              <a:p>
                <a:endParaRPr lang="zh-CN" altLang="en-US"/>
              </a:p>
            </p:txBody>
          </p:sp>
          <p:sp>
            <p:nvSpPr>
              <p:cNvPr id="6167" name="Freeform 24"/>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1"/>
                  <a:gd name="T64" fmla="*/ 0 h 44"/>
                  <a:gd name="T65" fmla="*/ 331 w 331"/>
                  <a:gd name="T66" fmla="*/ 44 h 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a:solidFill>
                  <a:srgbClr val="000000"/>
                </a:solidFill>
                <a:round/>
                <a:headEnd/>
                <a:tailEnd/>
              </a:ln>
            </p:spPr>
            <p:txBody>
              <a:bodyPr/>
              <a:lstStyle/>
              <a:p>
                <a:endParaRPr lang="zh-CN" altLang="en-US"/>
              </a:p>
            </p:txBody>
          </p:sp>
          <p:sp>
            <p:nvSpPr>
              <p:cNvPr id="6168" name="Freeform 25"/>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3"/>
                  <a:gd name="T46" fmla="*/ 0 h 60"/>
                  <a:gd name="T47" fmla="*/ 253 w 253"/>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69" name="Freeform 26"/>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79"/>
                  <a:gd name="T145" fmla="*/ 0 h 366"/>
                  <a:gd name="T146" fmla="*/ 879 w 879"/>
                  <a:gd name="T147" fmla="*/ 366 h 36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a:solidFill>
                  <a:srgbClr val="000000"/>
                </a:solidFill>
                <a:round/>
                <a:headEnd/>
                <a:tailEnd/>
              </a:ln>
            </p:spPr>
            <p:txBody>
              <a:bodyPr/>
              <a:lstStyle/>
              <a:p>
                <a:endParaRPr lang="zh-CN" altLang="en-US"/>
              </a:p>
            </p:txBody>
          </p:sp>
          <p:sp>
            <p:nvSpPr>
              <p:cNvPr id="6170" name="Freeform 27"/>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7"/>
                  <a:gd name="T34" fmla="*/ 0 h 18"/>
                  <a:gd name="T35" fmla="*/ 147 w 147"/>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a:solidFill>
                  <a:srgbClr val="000000"/>
                </a:solidFill>
                <a:round/>
                <a:headEnd/>
                <a:tailEnd/>
              </a:ln>
            </p:spPr>
            <p:txBody>
              <a:bodyPr/>
              <a:lstStyle/>
              <a:p>
                <a:endParaRPr lang="zh-CN" altLang="en-US"/>
              </a:p>
            </p:txBody>
          </p:sp>
          <p:sp>
            <p:nvSpPr>
              <p:cNvPr id="6171" name="Freeform 28"/>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26"/>
                  <a:gd name="T29" fmla="*/ 126 w 126"/>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a:solidFill>
                  <a:srgbClr val="000000"/>
                </a:solidFill>
                <a:round/>
                <a:headEnd/>
                <a:tailEnd/>
              </a:ln>
            </p:spPr>
            <p:txBody>
              <a:bodyPr/>
              <a:lstStyle/>
              <a:p>
                <a:endParaRPr lang="zh-CN" altLang="en-US"/>
              </a:p>
            </p:txBody>
          </p:sp>
          <p:sp>
            <p:nvSpPr>
              <p:cNvPr id="6172" name="Freeform 29"/>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 name="T21" fmla="*/ 0 w 66"/>
                  <a:gd name="T22" fmla="*/ 0 h 44"/>
                  <a:gd name="T23" fmla="*/ 66 w 66"/>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4">
                    <a:moveTo>
                      <a:pt x="0" y="33"/>
                    </a:moveTo>
                    <a:lnTo>
                      <a:pt x="22" y="17"/>
                    </a:lnTo>
                    <a:lnTo>
                      <a:pt x="61" y="0"/>
                    </a:lnTo>
                    <a:lnTo>
                      <a:pt x="65" y="8"/>
                    </a:lnTo>
                    <a:lnTo>
                      <a:pt x="33" y="20"/>
                    </a:lnTo>
                    <a:lnTo>
                      <a:pt x="0" y="43"/>
                    </a:lnTo>
                    <a:lnTo>
                      <a:pt x="0" y="33"/>
                    </a:lnTo>
                  </a:path>
                </a:pathLst>
              </a:custGeom>
              <a:solidFill>
                <a:srgbClr val="000000"/>
              </a:solidFill>
              <a:ln w="12700" cap="rnd">
                <a:solidFill>
                  <a:srgbClr val="000000"/>
                </a:solidFill>
                <a:round/>
                <a:headEnd/>
                <a:tailEnd/>
              </a:ln>
            </p:spPr>
            <p:txBody>
              <a:bodyPr/>
              <a:lstStyle/>
              <a:p>
                <a:endParaRPr lang="zh-CN" altLang="en-US"/>
              </a:p>
            </p:txBody>
          </p:sp>
          <p:sp>
            <p:nvSpPr>
              <p:cNvPr id="6173" name="Freeform 30"/>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60"/>
                  <a:gd name="T127" fmla="*/ 0 h 477"/>
                  <a:gd name="T128" fmla="*/ 660 w 660"/>
                  <a:gd name="T129" fmla="*/ 477 h 47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a:solidFill>
                  <a:srgbClr val="000000"/>
                </a:solidFill>
                <a:round/>
                <a:headEnd/>
                <a:tailEnd/>
              </a:ln>
            </p:spPr>
            <p:txBody>
              <a:bodyPr/>
              <a:lstStyle/>
              <a:p>
                <a:endParaRPr lang="zh-CN" altLang="en-US"/>
              </a:p>
            </p:txBody>
          </p:sp>
          <p:sp>
            <p:nvSpPr>
              <p:cNvPr id="6174" name="Freeform 31"/>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6"/>
                  <a:gd name="T58" fmla="*/ 0 h 259"/>
                  <a:gd name="T59" fmla="*/ 696 w 696"/>
                  <a:gd name="T60" fmla="*/ 259 h 2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75" name="Freeform 32"/>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 name="T21" fmla="*/ 0 w 131"/>
                  <a:gd name="T22" fmla="*/ 0 h 132"/>
                  <a:gd name="T23" fmla="*/ 131 w 131"/>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a:solidFill>
                  <a:srgbClr val="000000"/>
                </a:solidFill>
                <a:round/>
                <a:headEnd/>
                <a:tailEnd/>
              </a:ln>
            </p:spPr>
            <p:txBody>
              <a:bodyPr/>
              <a:lstStyle/>
              <a:p>
                <a:endParaRPr lang="zh-CN" altLang="en-US"/>
              </a:p>
            </p:txBody>
          </p:sp>
          <p:sp>
            <p:nvSpPr>
              <p:cNvPr id="6176" name="Freeform 33"/>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4"/>
                  <a:gd name="T37" fmla="*/ 0 h 348"/>
                  <a:gd name="T38" fmla="*/ 534 w 534"/>
                  <a:gd name="T39" fmla="*/ 348 h 3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a:solidFill>
                  <a:srgbClr val="000000"/>
                </a:solidFill>
                <a:round/>
                <a:headEnd/>
                <a:tailEnd/>
              </a:ln>
            </p:spPr>
            <p:txBody>
              <a:bodyPr/>
              <a:lstStyle/>
              <a:p>
                <a:endParaRPr lang="zh-CN" altLang="en-US"/>
              </a:p>
            </p:txBody>
          </p:sp>
          <p:sp>
            <p:nvSpPr>
              <p:cNvPr id="6177" name="Freeform 34"/>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156"/>
                  <a:gd name="T32" fmla="*/ 169 w 169"/>
                  <a:gd name="T33" fmla="*/ 156 h 1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a:solidFill>
                  <a:srgbClr val="000000"/>
                </a:solidFill>
                <a:round/>
                <a:headEnd/>
                <a:tailEnd/>
              </a:ln>
            </p:spPr>
            <p:txBody>
              <a:bodyPr/>
              <a:lstStyle/>
              <a:p>
                <a:endParaRPr lang="zh-CN" altLang="en-US"/>
              </a:p>
            </p:txBody>
          </p:sp>
          <p:sp>
            <p:nvSpPr>
              <p:cNvPr id="6178" name="Freeform 35"/>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03"/>
                  <a:gd name="T139" fmla="*/ 0 h 348"/>
                  <a:gd name="T140" fmla="*/ 703 w 703"/>
                  <a:gd name="T141" fmla="*/ 348 h 34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a:solidFill>
                  <a:srgbClr val="000000"/>
                </a:solidFill>
                <a:round/>
                <a:headEnd/>
                <a:tailEnd/>
              </a:ln>
            </p:spPr>
            <p:txBody>
              <a:bodyPr/>
              <a:lstStyle/>
              <a:p>
                <a:endParaRPr lang="zh-CN" altLang="en-US"/>
              </a:p>
            </p:txBody>
          </p:sp>
          <p:sp>
            <p:nvSpPr>
              <p:cNvPr id="6179" name="Freeform 36"/>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7"/>
                  <a:gd name="T34" fmla="*/ 0 h 106"/>
                  <a:gd name="T35" fmla="*/ 97 w 97"/>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a:solidFill>
                  <a:srgbClr val="000000"/>
                </a:solidFill>
                <a:round/>
                <a:headEnd/>
                <a:tailEnd/>
              </a:ln>
            </p:spPr>
            <p:txBody>
              <a:bodyPr/>
              <a:lstStyle/>
              <a:p>
                <a:endParaRPr lang="zh-CN" altLang="en-US"/>
              </a:p>
            </p:txBody>
          </p:sp>
          <p:sp>
            <p:nvSpPr>
              <p:cNvPr id="6180" name="Freeform 37"/>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0"/>
                  <a:gd name="T43" fmla="*/ 0 h 230"/>
                  <a:gd name="T44" fmla="*/ 540 w 540"/>
                  <a:gd name="T45" fmla="*/ 230 h 2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a:solidFill>
                  <a:srgbClr val="000000"/>
                </a:solidFill>
                <a:round/>
                <a:headEnd/>
                <a:tailEnd/>
              </a:ln>
            </p:spPr>
            <p:txBody>
              <a:bodyPr/>
              <a:lstStyle/>
              <a:p>
                <a:endParaRPr lang="zh-CN" altLang="en-US"/>
              </a:p>
            </p:txBody>
          </p:sp>
          <p:sp>
            <p:nvSpPr>
              <p:cNvPr id="6181" name="Freeform 38"/>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9"/>
                  <a:gd name="T40" fmla="*/ 0 h 108"/>
                  <a:gd name="T41" fmla="*/ 369 w 369"/>
                  <a:gd name="T42" fmla="*/ 108 h 1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a:solidFill>
                  <a:srgbClr val="000000"/>
                </a:solidFill>
                <a:round/>
                <a:headEnd/>
                <a:tailEnd/>
              </a:ln>
            </p:spPr>
            <p:txBody>
              <a:bodyPr/>
              <a:lstStyle/>
              <a:p>
                <a:endParaRPr lang="zh-CN" altLang="en-US"/>
              </a:p>
            </p:txBody>
          </p:sp>
          <p:sp>
            <p:nvSpPr>
              <p:cNvPr id="6182" name="Freeform 39"/>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172"/>
                  <a:gd name="T35" fmla="*/ 196 w 196"/>
                  <a:gd name="T36" fmla="*/ 172 h 1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a:solidFill>
                  <a:srgbClr val="000000"/>
                </a:solidFill>
                <a:round/>
                <a:headEnd/>
                <a:tailEnd/>
              </a:ln>
            </p:spPr>
            <p:txBody>
              <a:bodyPr/>
              <a:lstStyle/>
              <a:p>
                <a:endParaRPr lang="zh-CN" altLang="en-US"/>
              </a:p>
            </p:txBody>
          </p:sp>
          <p:sp>
            <p:nvSpPr>
              <p:cNvPr id="6183" name="Freeform 40"/>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18" y="0"/>
                    </a:moveTo>
                    <a:lnTo>
                      <a:pt x="52" y="64"/>
                    </a:lnTo>
                    <a:lnTo>
                      <a:pt x="52" y="106"/>
                    </a:lnTo>
                    <a:lnTo>
                      <a:pt x="0" y="6"/>
                    </a:lnTo>
                    <a:lnTo>
                      <a:pt x="18" y="0"/>
                    </a:lnTo>
                  </a:path>
                </a:pathLst>
              </a:custGeom>
              <a:solidFill>
                <a:srgbClr val="000000"/>
              </a:solidFill>
              <a:ln w="12700" cap="rnd">
                <a:solidFill>
                  <a:srgbClr val="000000"/>
                </a:solidFill>
                <a:round/>
                <a:headEnd/>
                <a:tailEnd/>
              </a:ln>
            </p:spPr>
            <p:txBody>
              <a:bodyPr/>
              <a:lstStyle/>
              <a:p>
                <a:endParaRPr lang="zh-CN" altLang="en-US"/>
              </a:p>
            </p:txBody>
          </p:sp>
          <p:sp>
            <p:nvSpPr>
              <p:cNvPr id="6184" name="Freeform 41"/>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48"/>
                  <a:gd name="T52" fmla="*/ 0 h 290"/>
                  <a:gd name="T53" fmla="*/ 848 w 848"/>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a:solidFill>
                  <a:srgbClr val="000000"/>
                </a:solidFill>
                <a:round/>
                <a:headEnd/>
                <a:tailEnd/>
              </a:ln>
            </p:spPr>
            <p:txBody>
              <a:bodyPr/>
              <a:lstStyle/>
              <a:p>
                <a:endParaRPr lang="zh-CN" altLang="en-US"/>
              </a:p>
            </p:txBody>
          </p:sp>
          <p:sp>
            <p:nvSpPr>
              <p:cNvPr id="6185" name="Freeform 42"/>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00"/>
                  <a:gd name="T163" fmla="*/ 0 h 198"/>
                  <a:gd name="T164" fmla="*/ 900 w 900"/>
                  <a:gd name="T165" fmla="*/ 198 h 19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a:solidFill>
                  <a:srgbClr val="000000"/>
                </a:solidFill>
                <a:round/>
                <a:headEnd/>
                <a:tailEnd/>
              </a:ln>
            </p:spPr>
            <p:txBody>
              <a:bodyPr/>
              <a:lstStyle/>
              <a:p>
                <a:endParaRPr lang="zh-CN" altLang="en-US"/>
              </a:p>
            </p:txBody>
          </p:sp>
          <p:sp>
            <p:nvSpPr>
              <p:cNvPr id="6186" name="Freeform 43"/>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3"/>
                  <a:gd name="T37" fmla="*/ 0 h 95"/>
                  <a:gd name="T38" fmla="*/ 253 w 253"/>
                  <a:gd name="T39" fmla="*/ 95 h 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87" name="Freeform 44"/>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 name="T21" fmla="*/ 0 w 116"/>
                  <a:gd name="T22" fmla="*/ 0 h 69"/>
                  <a:gd name="T23" fmla="*/ 116 w 116"/>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88" name="Freeform 45"/>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54"/>
                  <a:gd name="T41" fmla="*/ 158 w 15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a:solidFill>
                  <a:srgbClr val="000000"/>
                </a:solidFill>
                <a:round/>
                <a:headEnd/>
                <a:tailEnd/>
              </a:ln>
            </p:spPr>
            <p:txBody>
              <a:bodyPr/>
              <a:lstStyle/>
              <a:p>
                <a:endParaRPr lang="zh-CN" altLang="en-US"/>
              </a:p>
            </p:txBody>
          </p:sp>
          <p:sp>
            <p:nvSpPr>
              <p:cNvPr id="6189" name="Freeform 46"/>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61"/>
                  <a:gd name="T115" fmla="*/ 0 h 291"/>
                  <a:gd name="T116" fmla="*/ 761 w 761"/>
                  <a:gd name="T117" fmla="*/ 291 h 29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a:solidFill>
                  <a:srgbClr val="000000"/>
                </a:solidFill>
                <a:round/>
                <a:headEnd/>
                <a:tailEnd/>
              </a:ln>
            </p:spPr>
            <p:txBody>
              <a:bodyPr/>
              <a:lstStyle/>
              <a:p>
                <a:endParaRPr lang="zh-CN" altLang="en-US"/>
              </a:p>
            </p:txBody>
          </p:sp>
          <p:sp>
            <p:nvSpPr>
              <p:cNvPr id="6190" name="Freeform 47"/>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07"/>
                  <a:gd name="T76" fmla="*/ 0 h 1030"/>
                  <a:gd name="T77" fmla="*/ 1807 w 1807"/>
                  <a:gd name="T78" fmla="*/ 1030 h 103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a:solidFill>
                  <a:srgbClr val="000000"/>
                </a:solidFill>
                <a:round/>
                <a:headEnd/>
                <a:tailEnd/>
              </a:ln>
            </p:spPr>
            <p:txBody>
              <a:bodyPr/>
              <a:lstStyle/>
              <a:p>
                <a:endParaRPr lang="zh-CN" altLang="en-US"/>
              </a:p>
            </p:txBody>
          </p:sp>
          <p:sp>
            <p:nvSpPr>
              <p:cNvPr id="6191" name="Freeform 48"/>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831"/>
                  <a:gd name="T35" fmla="*/ 89 w 89"/>
                  <a:gd name="T36" fmla="*/ 831 h 8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a:solidFill>
                  <a:srgbClr val="000000"/>
                </a:solidFill>
                <a:round/>
                <a:headEnd/>
                <a:tailEnd/>
              </a:ln>
            </p:spPr>
            <p:txBody>
              <a:bodyPr/>
              <a:lstStyle/>
              <a:p>
                <a:endParaRPr lang="zh-CN" altLang="en-US"/>
              </a:p>
            </p:txBody>
          </p:sp>
        </p:grpSp>
        <p:sp>
          <p:nvSpPr>
            <p:cNvPr id="6150" name="Text Box 49"/>
            <p:cNvSpPr txBox="1">
              <a:spLocks noChangeArrowheads="1"/>
            </p:cNvSpPr>
            <p:nvPr/>
          </p:nvSpPr>
          <p:spPr bwMode="auto">
            <a:xfrm>
              <a:off x="2894" y="1241"/>
              <a:ext cx="16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DC0081"/>
                  </a:solidFill>
                </a:rPr>
                <a:t>Overview</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28132">
                                            <p:txEl>
                                              <p:pRg st="0" end="0"/>
                                            </p:txEl>
                                          </p:spTgt>
                                        </p:tgtEl>
                                        <p:attrNameLst>
                                          <p:attrName>style.visibility</p:attrName>
                                        </p:attrNameLst>
                                      </p:cBhvr>
                                      <p:to>
                                        <p:strVal val="visible"/>
                                      </p:to>
                                    </p:set>
                                    <p:anim calcmode="lin" valueType="num">
                                      <p:cBhvr additive="base">
                                        <p:cTn id="7" dur="500" fill="hold"/>
                                        <p:tgtEl>
                                          <p:spTgt spid="13281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28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28132">
                                            <p:txEl>
                                              <p:pRg st="1" end="1"/>
                                            </p:txEl>
                                          </p:spTgt>
                                        </p:tgtEl>
                                        <p:attrNameLst>
                                          <p:attrName>style.visibility</p:attrName>
                                        </p:attrNameLst>
                                      </p:cBhvr>
                                      <p:to>
                                        <p:strVal val="visible"/>
                                      </p:to>
                                    </p:set>
                                    <p:anim calcmode="lin" valueType="num">
                                      <p:cBhvr additive="base">
                                        <p:cTn id="13" dur="500" fill="hold"/>
                                        <p:tgtEl>
                                          <p:spTgt spid="132813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2813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28132">
                                            <p:txEl>
                                              <p:pRg st="2" end="2"/>
                                            </p:txEl>
                                          </p:spTgt>
                                        </p:tgtEl>
                                        <p:attrNameLst>
                                          <p:attrName>style.visibility</p:attrName>
                                        </p:attrNameLst>
                                      </p:cBhvr>
                                      <p:to>
                                        <p:strVal val="visible"/>
                                      </p:to>
                                    </p:set>
                                    <p:anim calcmode="lin" valueType="num">
                                      <p:cBhvr additive="base">
                                        <p:cTn id="19" dur="500" fill="hold"/>
                                        <p:tgtEl>
                                          <p:spTgt spid="132813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2813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328132">
                                            <p:txEl>
                                              <p:pRg st="3" end="3"/>
                                            </p:txEl>
                                          </p:spTgt>
                                        </p:tgtEl>
                                        <p:attrNameLst>
                                          <p:attrName>style.visibility</p:attrName>
                                        </p:attrNameLst>
                                      </p:cBhvr>
                                      <p:to>
                                        <p:strVal val="visible"/>
                                      </p:to>
                                    </p:set>
                                    <p:anim calcmode="lin" valueType="num">
                                      <p:cBhvr additive="base">
                                        <p:cTn id="25" dur="500" fill="hold"/>
                                        <p:tgtEl>
                                          <p:spTgt spid="132813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2813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328132">
                                            <p:txEl>
                                              <p:pRg st="4" end="4"/>
                                            </p:txEl>
                                          </p:spTgt>
                                        </p:tgtEl>
                                        <p:attrNameLst>
                                          <p:attrName>style.visibility</p:attrName>
                                        </p:attrNameLst>
                                      </p:cBhvr>
                                      <p:to>
                                        <p:strVal val="visible"/>
                                      </p:to>
                                    </p:set>
                                    <p:anim calcmode="lin" valueType="num">
                                      <p:cBhvr additive="base">
                                        <p:cTn id="31" dur="500" fill="hold"/>
                                        <p:tgtEl>
                                          <p:spTgt spid="132813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32813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28132">
                                            <p:txEl>
                                              <p:pRg st="5" end="5"/>
                                            </p:txEl>
                                          </p:spTgt>
                                        </p:tgtEl>
                                        <p:attrNameLst>
                                          <p:attrName>style.visibility</p:attrName>
                                        </p:attrNameLst>
                                      </p:cBhvr>
                                      <p:to>
                                        <p:strVal val="visible"/>
                                      </p:to>
                                    </p:set>
                                    <p:anim calcmode="lin" valueType="num">
                                      <p:cBhvr additive="base">
                                        <p:cTn id="37" dur="500" fill="hold"/>
                                        <p:tgtEl>
                                          <p:spTgt spid="1328132">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2813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328132">
                                            <p:txEl>
                                              <p:pRg st="6" end="6"/>
                                            </p:txEl>
                                          </p:spTgt>
                                        </p:tgtEl>
                                        <p:attrNameLst>
                                          <p:attrName>style.visibility</p:attrName>
                                        </p:attrNameLst>
                                      </p:cBhvr>
                                      <p:to>
                                        <p:strVal val="visible"/>
                                      </p:to>
                                    </p:set>
                                    <p:anim calcmode="lin" valueType="num">
                                      <p:cBhvr additive="base">
                                        <p:cTn id="43" dur="500" fill="hold"/>
                                        <p:tgtEl>
                                          <p:spTgt spid="1328132">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32813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328132">
                                            <p:txEl>
                                              <p:pRg st="7" end="7"/>
                                            </p:txEl>
                                          </p:spTgt>
                                        </p:tgtEl>
                                        <p:attrNameLst>
                                          <p:attrName>style.visibility</p:attrName>
                                        </p:attrNameLst>
                                      </p:cBhvr>
                                      <p:to>
                                        <p:strVal val="visible"/>
                                      </p:to>
                                    </p:set>
                                    <p:anim calcmode="lin" valueType="num">
                                      <p:cBhvr additive="base">
                                        <p:cTn id="49" dur="500" fill="hold"/>
                                        <p:tgtEl>
                                          <p:spTgt spid="1328132">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32813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328132">
                                            <p:txEl>
                                              <p:pRg st="8" end="8"/>
                                            </p:txEl>
                                          </p:spTgt>
                                        </p:tgtEl>
                                        <p:attrNameLst>
                                          <p:attrName>style.visibility</p:attrName>
                                        </p:attrNameLst>
                                      </p:cBhvr>
                                      <p:to>
                                        <p:strVal val="visible"/>
                                      </p:to>
                                    </p:set>
                                    <p:anim calcmode="lin" valueType="num">
                                      <p:cBhvr additive="base">
                                        <p:cTn id="55" dur="500" fill="hold"/>
                                        <p:tgtEl>
                                          <p:spTgt spid="1328132">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328132">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8132"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2885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网络地址类别</a:t>
            </a:r>
          </a:p>
        </p:txBody>
      </p:sp>
      <p:sp>
        <p:nvSpPr>
          <p:cNvPr id="7171" name="Rectangle 4"/>
          <p:cNvSpPr>
            <a:spLocks noChangeArrowheads="1"/>
          </p:cNvSpPr>
          <p:nvPr/>
        </p:nvSpPr>
        <p:spPr bwMode="auto">
          <a:xfrm>
            <a:off x="7162800" y="2463800"/>
            <a:ext cx="3048000" cy="2438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172" name="Rectangle 5"/>
          <p:cNvSpPr>
            <a:spLocks noChangeArrowheads="1"/>
          </p:cNvSpPr>
          <p:nvPr/>
        </p:nvSpPr>
        <p:spPr bwMode="auto">
          <a:xfrm>
            <a:off x="7239000" y="4140200"/>
            <a:ext cx="2895600" cy="6858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 Layer</a:t>
            </a:r>
          </a:p>
        </p:txBody>
      </p:sp>
      <p:sp>
        <p:nvSpPr>
          <p:cNvPr id="1329158" name="AutoShape 6"/>
          <p:cNvSpPr>
            <a:spLocks noChangeArrowheads="1"/>
          </p:cNvSpPr>
          <p:nvPr/>
        </p:nvSpPr>
        <p:spPr bwMode="auto">
          <a:xfrm>
            <a:off x="5486400" y="3378200"/>
            <a:ext cx="1447800" cy="914400"/>
          </a:xfrm>
          <a:prstGeom prst="wedgeRoundRectCallout">
            <a:avLst>
              <a:gd name="adj1" fmla="val 69407"/>
              <a:gd name="adj2" fmla="val 7743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IP</a:t>
            </a:r>
          </a:p>
          <a:p>
            <a:pPr algn="ctr" eaLnBrk="1" hangingPunct="1"/>
            <a:r>
              <a:rPr lang="en-US" altLang="zh-CN" sz="2400">
                <a:solidFill>
                  <a:schemeClr val="bg1"/>
                </a:solidFill>
                <a:latin typeface="Tahoma" panose="020B0604030504040204" pitchFamily="34" charset="0"/>
              </a:rPr>
              <a:t>Address</a:t>
            </a:r>
          </a:p>
        </p:txBody>
      </p:sp>
      <p:sp>
        <p:nvSpPr>
          <p:cNvPr id="7174" name="Line 7"/>
          <p:cNvSpPr>
            <a:spLocks noChangeShapeType="1"/>
          </p:cNvSpPr>
          <p:nvPr/>
        </p:nvSpPr>
        <p:spPr bwMode="auto">
          <a:xfrm flipH="1" flipV="1">
            <a:off x="8001000" y="3759200"/>
            <a:ext cx="6096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5" name="Line 8"/>
          <p:cNvSpPr>
            <a:spLocks noChangeShapeType="1"/>
          </p:cNvSpPr>
          <p:nvPr/>
        </p:nvSpPr>
        <p:spPr bwMode="auto">
          <a:xfrm flipV="1">
            <a:off x="8839200" y="3759200"/>
            <a:ext cx="5334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6" name="Rectangle 9"/>
          <p:cNvSpPr>
            <a:spLocks noChangeArrowheads="1"/>
          </p:cNvSpPr>
          <p:nvPr/>
        </p:nvSpPr>
        <p:spPr bwMode="auto">
          <a:xfrm>
            <a:off x="7391400" y="2921000"/>
            <a:ext cx="1143000" cy="838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7177" name="Rectangle 10"/>
          <p:cNvSpPr>
            <a:spLocks noChangeArrowheads="1"/>
          </p:cNvSpPr>
          <p:nvPr/>
        </p:nvSpPr>
        <p:spPr bwMode="auto">
          <a:xfrm>
            <a:off x="8839200" y="2921000"/>
            <a:ext cx="1143000" cy="838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TCP</a:t>
            </a:r>
          </a:p>
        </p:txBody>
      </p:sp>
      <p:sp>
        <p:nvSpPr>
          <p:cNvPr id="7178" name="Text Box 11"/>
          <p:cNvSpPr txBox="1">
            <a:spLocks noChangeArrowheads="1"/>
          </p:cNvSpPr>
          <p:nvPr/>
        </p:nvSpPr>
        <p:spPr bwMode="auto">
          <a:xfrm>
            <a:off x="7239000" y="24638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Operating System</a:t>
            </a:r>
          </a:p>
        </p:txBody>
      </p:sp>
      <p:sp>
        <p:nvSpPr>
          <p:cNvPr id="7179" name="Rectangle 12"/>
          <p:cNvSpPr>
            <a:spLocks noChangeArrowheads="1"/>
          </p:cNvSpPr>
          <p:nvPr/>
        </p:nvSpPr>
        <p:spPr bwMode="auto">
          <a:xfrm>
            <a:off x="67056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File </a:t>
            </a:r>
          </a:p>
          <a:p>
            <a:pPr algn="ctr" eaLnBrk="1" hangingPunct="1"/>
            <a:r>
              <a:rPr lang="en-US" altLang="zh-CN" sz="2400">
                <a:solidFill>
                  <a:schemeClr val="tx1"/>
                </a:solidFill>
                <a:latin typeface="Tahoma" panose="020B0604030504040204" pitchFamily="34" charset="0"/>
              </a:rPr>
              <a:t>trans.</a:t>
            </a:r>
          </a:p>
        </p:txBody>
      </p:sp>
      <p:sp>
        <p:nvSpPr>
          <p:cNvPr id="7180" name="Rectangle 13"/>
          <p:cNvSpPr>
            <a:spLocks noChangeArrowheads="1"/>
          </p:cNvSpPr>
          <p:nvPr/>
        </p:nvSpPr>
        <p:spPr bwMode="auto">
          <a:xfrm>
            <a:off x="80772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Real</a:t>
            </a:r>
          </a:p>
          <a:p>
            <a:pPr algn="ctr" eaLnBrk="1" hangingPunct="1"/>
            <a:r>
              <a:rPr lang="en-US" altLang="zh-CN" sz="2400">
                <a:solidFill>
                  <a:schemeClr val="tx1"/>
                </a:solidFill>
                <a:latin typeface="Tahoma" panose="020B0604030504040204" pitchFamily="34" charset="0"/>
              </a:rPr>
              <a:t>Audio</a:t>
            </a:r>
          </a:p>
        </p:txBody>
      </p:sp>
      <p:sp>
        <p:nvSpPr>
          <p:cNvPr id="7181" name="Rectangle 14"/>
          <p:cNvSpPr>
            <a:spLocks noChangeArrowheads="1"/>
          </p:cNvSpPr>
          <p:nvPr/>
        </p:nvSpPr>
        <p:spPr bwMode="auto">
          <a:xfrm>
            <a:off x="94488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Web</a:t>
            </a:r>
          </a:p>
        </p:txBody>
      </p:sp>
      <p:sp>
        <p:nvSpPr>
          <p:cNvPr id="7182" name="AutoShape 15"/>
          <p:cNvSpPr>
            <a:spLocks/>
          </p:cNvSpPr>
          <p:nvPr/>
        </p:nvSpPr>
        <p:spPr bwMode="auto">
          <a:xfrm>
            <a:off x="6324600" y="1320800"/>
            <a:ext cx="152400" cy="914400"/>
          </a:xfrm>
          <a:prstGeom prst="leftBrace">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183" name="Text Box 16"/>
          <p:cNvSpPr txBox="1">
            <a:spLocks noChangeArrowheads="1"/>
          </p:cNvSpPr>
          <p:nvPr/>
        </p:nvSpPr>
        <p:spPr bwMode="auto">
          <a:xfrm>
            <a:off x="4495801" y="1549400"/>
            <a:ext cx="178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Applications</a:t>
            </a:r>
          </a:p>
        </p:txBody>
      </p:sp>
      <p:sp>
        <p:nvSpPr>
          <p:cNvPr id="7184" name="Line 17"/>
          <p:cNvSpPr>
            <a:spLocks noChangeShapeType="1"/>
          </p:cNvSpPr>
          <p:nvPr/>
        </p:nvSpPr>
        <p:spPr bwMode="auto">
          <a:xfrm flipH="1" flipV="1">
            <a:off x="7391400" y="2235200"/>
            <a:ext cx="4572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85" name="Line 18"/>
          <p:cNvSpPr>
            <a:spLocks noChangeShapeType="1"/>
          </p:cNvSpPr>
          <p:nvPr/>
        </p:nvSpPr>
        <p:spPr bwMode="auto">
          <a:xfrm flipV="1">
            <a:off x="7848600" y="2235200"/>
            <a:ext cx="7620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29171" name="AutoShape 19"/>
          <p:cNvSpPr>
            <a:spLocks noChangeArrowheads="1"/>
          </p:cNvSpPr>
          <p:nvPr/>
        </p:nvSpPr>
        <p:spPr bwMode="auto">
          <a:xfrm>
            <a:off x="5715000" y="2463800"/>
            <a:ext cx="1066800" cy="609600"/>
          </a:xfrm>
          <a:prstGeom prst="wedgeRoundRectCallout">
            <a:avLst>
              <a:gd name="adj1" fmla="val 106694"/>
              <a:gd name="adj2" fmla="val 8880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Port</a:t>
            </a:r>
          </a:p>
        </p:txBody>
      </p:sp>
      <p:sp>
        <p:nvSpPr>
          <p:cNvPr id="7187" name="Rectangle 20"/>
          <p:cNvSpPr>
            <a:spLocks noChangeArrowheads="1"/>
          </p:cNvSpPr>
          <p:nvPr/>
        </p:nvSpPr>
        <p:spPr bwMode="auto">
          <a:xfrm>
            <a:off x="7391400" y="2921000"/>
            <a:ext cx="1143000" cy="8382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7188" name="Rectangle 21"/>
          <p:cNvSpPr>
            <a:spLocks noChangeArrowheads="1"/>
          </p:cNvSpPr>
          <p:nvPr/>
        </p:nvSpPr>
        <p:spPr bwMode="auto">
          <a:xfrm>
            <a:off x="8077200" y="1320800"/>
            <a:ext cx="990600" cy="9144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Real</a:t>
            </a:r>
          </a:p>
          <a:p>
            <a:pPr algn="ctr" eaLnBrk="1" hangingPunct="1"/>
            <a:r>
              <a:rPr lang="en-US" altLang="zh-CN" sz="2400">
                <a:solidFill>
                  <a:schemeClr val="tx1"/>
                </a:solidFill>
                <a:latin typeface="Tahoma" panose="020B0604030504040204" pitchFamily="34" charset="0"/>
              </a:rPr>
              <a:t>Audio</a:t>
            </a:r>
          </a:p>
        </p:txBody>
      </p:sp>
      <p:sp>
        <p:nvSpPr>
          <p:cNvPr id="7189" name="Line 22"/>
          <p:cNvSpPr>
            <a:spLocks noChangeShapeType="1"/>
          </p:cNvSpPr>
          <p:nvPr/>
        </p:nvSpPr>
        <p:spPr bwMode="auto">
          <a:xfrm flipH="1" flipV="1">
            <a:off x="8001000" y="3759200"/>
            <a:ext cx="609600" cy="38100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0" name="Line 23"/>
          <p:cNvSpPr>
            <a:spLocks noChangeShapeType="1"/>
          </p:cNvSpPr>
          <p:nvPr/>
        </p:nvSpPr>
        <p:spPr bwMode="auto">
          <a:xfrm flipV="1">
            <a:off x="7848600" y="2235200"/>
            <a:ext cx="762000" cy="68580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1" name="Line 25"/>
          <p:cNvSpPr>
            <a:spLocks noChangeShapeType="1"/>
          </p:cNvSpPr>
          <p:nvPr/>
        </p:nvSpPr>
        <p:spPr bwMode="auto">
          <a:xfrm>
            <a:off x="2209800" y="6553200"/>
            <a:ext cx="7543800"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92" name="Line 26"/>
          <p:cNvSpPr>
            <a:spLocks noChangeShapeType="1"/>
          </p:cNvSpPr>
          <p:nvPr/>
        </p:nvSpPr>
        <p:spPr bwMode="auto">
          <a:xfrm>
            <a:off x="8686800" y="5562600"/>
            <a:ext cx="0" cy="9906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93" name="Rectangle 27"/>
          <p:cNvSpPr>
            <a:spLocks noChangeArrowheads="1"/>
          </p:cNvSpPr>
          <p:nvPr/>
        </p:nvSpPr>
        <p:spPr bwMode="auto">
          <a:xfrm>
            <a:off x="7239000" y="4140200"/>
            <a:ext cx="2895600" cy="6858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 Layer</a:t>
            </a:r>
          </a:p>
        </p:txBody>
      </p:sp>
      <p:sp>
        <p:nvSpPr>
          <p:cNvPr id="7194" name="Line 28"/>
          <p:cNvSpPr>
            <a:spLocks noChangeShapeType="1"/>
          </p:cNvSpPr>
          <p:nvPr/>
        </p:nvSpPr>
        <p:spPr bwMode="auto">
          <a:xfrm flipV="1">
            <a:off x="9372600" y="2235200"/>
            <a:ext cx="5334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5" name="Rectangle 30"/>
          <p:cNvSpPr>
            <a:spLocks noChangeArrowheads="1"/>
          </p:cNvSpPr>
          <p:nvPr/>
        </p:nvSpPr>
        <p:spPr bwMode="auto">
          <a:xfrm>
            <a:off x="7239000" y="5283200"/>
            <a:ext cx="2895600" cy="685800"/>
          </a:xfrm>
          <a:prstGeom prst="rect">
            <a:avLst/>
          </a:prstGeom>
          <a:solidFill>
            <a:srgbClr val="3366FF"/>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hlink"/>
                </a:solidFill>
                <a:latin typeface="Tahoma" panose="020B0604030504040204" pitchFamily="34" charset="0"/>
              </a:rPr>
              <a:t>Link Layer</a:t>
            </a:r>
          </a:p>
        </p:txBody>
      </p:sp>
      <p:sp>
        <p:nvSpPr>
          <p:cNvPr id="7196" name="Line 31"/>
          <p:cNvSpPr>
            <a:spLocks noChangeShapeType="1"/>
          </p:cNvSpPr>
          <p:nvPr/>
        </p:nvSpPr>
        <p:spPr bwMode="auto">
          <a:xfrm flipV="1">
            <a:off x="8661400" y="4826000"/>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29184" name="AutoShape 32"/>
          <p:cNvSpPr>
            <a:spLocks noChangeArrowheads="1"/>
          </p:cNvSpPr>
          <p:nvPr/>
        </p:nvSpPr>
        <p:spPr bwMode="auto">
          <a:xfrm>
            <a:off x="5486400" y="4597400"/>
            <a:ext cx="1447800" cy="914400"/>
          </a:xfrm>
          <a:prstGeom prst="wedgeRoundRectCallout">
            <a:avLst>
              <a:gd name="adj1" fmla="val 69407"/>
              <a:gd name="adj2" fmla="val 7743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MAC</a:t>
            </a:r>
          </a:p>
          <a:p>
            <a:pPr algn="ctr" eaLnBrk="1" hangingPunct="1"/>
            <a:r>
              <a:rPr lang="en-US" altLang="zh-CN" sz="2400">
                <a:solidFill>
                  <a:schemeClr val="bg1"/>
                </a:solidFill>
                <a:latin typeface="Tahoma" panose="020B0604030504040204" pitchFamily="34" charset="0"/>
              </a:rPr>
              <a:t>Address</a:t>
            </a:r>
          </a:p>
        </p:txBody>
      </p:sp>
      <p:sp>
        <p:nvSpPr>
          <p:cNvPr id="1329186" name="AutoShape 34"/>
          <p:cNvSpPr>
            <a:spLocks noChangeArrowheads="1"/>
          </p:cNvSpPr>
          <p:nvPr/>
        </p:nvSpPr>
        <p:spPr bwMode="auto">
          <a:xfrm>
            <a:off x="2565400" y="3479800"/>
            <a:ext cx="2438400" cy="736600"/>
          </a:xfrm>
          <a:prstGeom prst="wedgeRoundRectCallout">
            <a:avLst>
              <a:gd name="adj1" fmla="val 64583"/>
              <a:gd name="adj2" fmla="val 32111"/>
              <a:gd name="adj3" fmla="val 16667"/>
            </a:avLst>
          </a:prstGeom>
          <a:solidFill>
            <a:schemeClr val="accent1"/>
          </a:solidFill>
          <a:ln w="9525">
            <a:solidFill>
              <a:srgbClr val="CACACA"/>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a:solidFill>
                  <a:schemeClr val="hlink"/>
                </a:solidFill>
              </a:rPr>
              <a:t>域名</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329184"/>
                                        </p:tgtEl>
                                        <p:attrNameLst>
                                          <p:attrName>style.visibility</p:attrName>
                                        </p:attrNameLst>
                                      </p:cBhvr>
                                      <p:to>
                                        <p:strVal val="visible"/>
                                      </p:to>
                                    </p:set>
                                    <p:anim calcmode="lin" valueType="num">
                                      <p:cBhvr additive="base">
                                        <p:cTn id="7" dur="500" fill="hold"/>
                                        <p:tgtEl>
                                          <p:spTgt spid="1329184"/>
                                        </p:tgtEl>
                                        <p:attrNameLst>
                                          <p:attrName>ppt_x</p:attrName>
                                        </p:attrNameLst>
                                      </p:cBhvr>
                                      <p:tavLst>
                                        <p:tav tm="0">
                                          <p:val>
                                            <p:strVal val="1+#ppt_w/2"/>
                                          </p:val>
                                        </p:tav>
                                        <p:tav tm="100000">
                                          <p:val>
                                            <p:strVal val="#ppt_x"/>
                                          </p:val>
                                        </p:tav>
                                      </p:tavLst>
                                    </p:anim>
                                    <p:anim calcmode="lin" valueType="num">
                                      <p:cBhvr additive="base">
                                        <p:cTn id="8" dur="500" fill="hold"/>
                                        <p:tgtEl>
                                          <p:spTgt spid="132918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329158"/>
                                        </p:tgtEl>
                                        <p:attrNameLst>
                                          <p:attrName>style.visibility</p:attrName>
                                        </p:attrNameLst>
                                      </p:cBhvr>
                                      <p:to>
                                        <p:strVal val="visible"/>
                                      </p:to>
                                    </p:set>
                                    <p:anim calcmode="lin" valueType="num">
                                      <p:cBhvr additive="base">
                                        <p:cTn id="12" dur="500" fill="hold"/>
                                        <p:tgtEl>
                                          <p:spTgt spid="1329158"/>
                                        </p:tgtEl>
                                        <p:attrNameLst>
                                          <p:attrName>ppt_x</p:attrName>
                                        </p:attrNameLst>
                                      </p:cBhvr>
                                      <p:tavLst>
                                        <p:tav tm="0">
                                          <p:val>
                                            <p:strVal val="1+#ppt_w/2"/>
                                          </p:val>
                                        </p:tav>
                                        <p:tav tm="100000">
                                          <p:val>
                                            <p:strVal val="#ppt_x"/>
                                          </p:val>
                                        </p:tav>
                                      </p:tavLst>
                                    </p:anim>
                                    <p:anim calcmode="lin" valueType="num">
                                      <p:cBhvr additive="base">
                                        <p:cTn id="13" dur="500" fill="hold"/>
                                        <p:tgtEl>
                                          <p:spTgt spid="132915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329186"/>
                                        </p:tgtEl>
                                        <p:attrNameLst>
                                          <p:attrName>style.visibility</p:attrName>
                                        </p:attrNameLst>
                                      </p:cBhvr>
                                      <p:to>
                                        <p:strVal val="visible"/>
                                      </p:to>
                                    </p:set>
                                    <p:anim calcmode="lin" valueType="num">
                                      <p:cBhvr additive="base">
                                        <p:cTn id="18" dur="500" fill="hold"/>
                                        <p:tgtEl>
                                          <p:spTgt spid="1329186"/>
                                        </p:tgtEl>
                                        <p:attrNameLst>
                                          <p:attrName>ppt_x</p:attrName>
                                        </p:attrNameLst>
                                      </p:cBhvr>
                                      <p:tavLst>
                                        <p:tav tm="0">
                                          <p:val>
                                            <p:strVal val="1+#ppt_w/2"/>
                                          </p:val>
                                        </p:tav>
                                        <p:tav tm="100000">
                                          <p:val>
                                            <p:strVal val="#ppt_x"/>
                                          </p:val>
                                        </p:tav>
                                      </p:tavLst>
                                    </p:anim>
                                    <p:anim calcmode="lin" valueType="num">
                                      <p:cBhvr additive="base">
                                        <p:cTn id="19" dur="500" fill="hold"/>
                                        <p:tgtEl>
                                          <p:spTgt spid="1329186"/>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1329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8" grpId="0" animBg="1" autoUpdateAnimBg="0"/>
      <p:bldP spid="1329171" grpId="0" animBg="1" autoUpdateAnimBg="0"/>
      <p:bldP spid="1329184" grpId="0" animBg="1" autoUpdateAnimBg="0"/>
      <p:bldP spid="1329186"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网络地址转换</a:t>
            </a:r>
          </a:p>
        </p:txBody>
      </p:sp>
      <p:grpSp>
        <p:nvGrpSpPr>
          <p:cNvPr id="8195" name="Group 21"/>
          <p:cNvGrpSpPr>
            <a:grpSpLocks/>
          </p:cNvGrpSpPr>
          <p:nvPr/>
        </p:nvGrpSpPr>
        <p:grpSpPr bwMode="auto">
          <a:xfrm>
            <a:off x="2497139" y="1766889"/>
            <a:ext cx="7959725" cy="3811587"/>
            <a:chOff x="613" y="1168"/>
            <a:chExt cx="4993" cy="2434"/>
          </a:xfrm>
        </p:grpSpPr>
        <p:grpSp>
          <p:nvGrpSpPr>
            <p:cNvPr id="8196" name="Group 12"/>
            <p:cNvGrpSpPr>
              <a:grpSpLocks/>
            </p:cNvGrpSpPr>
            <p:nvPr/>
          </p:nvGrpSpPr>
          <p:grpSpPr bwMode="auto">
            <a:xfrm>
              <a:off x="4280" y="2201"/>
              <a:ext cx="1326" cy="716"/>
              <a:chOff x="4157" y="2802"/>
              <a:chExt cx="1326" cy="716"/>
            </a:xfrm>
          </p:grpSpPr>
          <p:sp>
            <p:nvSpPr>
              <p:cNvPr id="8212" name="Line 13"/>
              <p:cNvSpPr>
                <a:spLocks noChangeShapeType="1"/>
              </p:cNvSpPr>
              <p:nvPr/>
            </p:nvSpPr>
            <p:spPr bwMode="auto">
              <a:xfrm flipV="1">
                <a:off x="4157" y="2802"/>
                <a:ext cx="0" cy="716"/>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3" name="Text Box 14"/>
              <p:cNvSpPr txBox="1">
                <a:spLocks noChangeArrowheads="1"/>
              </p:cNvSpPr>
              <p:nvPr/>
            </p:nvSpPr>
            <p:spPr bwMode="auto">
              <a:xfrm>
                <a:off x="4206" y="2992"/>
                <a:ext cx="1277"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DNS</a:t>
                </a:r>
              </a:p>
            </p:txBody>
          </p:sp>
        </p:grpSp>
        <p:grpSp>
          <p:nvGrpSpPr>
            <p:cNvPr id="8197" name="Group 20"/>
            <p:cNvGrpSpPr>
              <a:grpSpLocks/>
            </p:cNvGrpSpPr>
            <p:nvPr/>
          </p:nvGrpSpPr>
          <p:grpSpPr bwMode="auto">
            <a:xfrm>
              <a:off x="613" y="1168"/>
              <a:ext cx="4429" cy="2434"/>
              <a:chOff x="613" y="1168"/>
              <a:chExt cx="4429" cy="2434"/>
            </a:xfrm>
          </p:grpSpPr>
          <p:sp>
            <p:nvSpPr>
              <p:cNvPr id="8198" name="Text Box 3"/>
              <p:cNvSpPr txBox="1">
                <a:spLocks noChangeArrowheads="1"/>
              </p:cNvSpPr>
              <p:nvPr/>
            </p:nvSpPr>
            <p:spPr bwMode="auto">
              <a:xfrm>
                <a:off x="1118" y="1402"/>
                <a:ext cx="980" cy="6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3200">
                    <a:solidFill>
                      <a:schemeClr val="tx1"/>
                    </a:solidFill>
                  </a:rPr>
                  <a:t>MAC Address</a:t>
                </a:r>
              </a:p>
            </p:txBody>
          </p:sp>
          <p:sp>
            <p:nvSpPr>
              <p:cNvPr id="8199" name="Text Box 4"/>
              <p:cNvSpPr txBox="1">
                <a:spLocks noChangeArrowheads="1"/>
              </p:cNvSpPr>
              <p:nvPr/>
            </p:nvSpPr>
            <p:spPr bwMode="auto">
              <a:xfrm>
                <a:off x="3780" y="1371"/>
                <a:ext cx="1074" cy="84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en-US" altLang="zh-CN" sz="3200">
                    <a:solidFill>
                      <a:schemeClr val="tx1"/>
                    </a:solidFill>
                  </a:rPr>
                  <a:t>IP</a:t>
                </a:r>
              </a:p>
              <a:p>
                <a:pPr>
                  <a:spcBef>
                    <a:spcPct val="50000"/>
                  </a:spcBef>
                </a:pPr>
                <a:r>
                  <a:rPr lang="en-US" altLang="zh-CN" sz="3200">
                    <a:solidFill>
                      <a:schemeClr val="tx1"/>
                    </a:solidFill>
                  </a:rPr>
                  <a:t>Address</a:t>
                </a:r>
              </a:p>
            </p:txBody>
          </p:sp>
          <p:sp>
            <p:nvSpPr>
              <p:cNvPr id="8200" name="Text Box 5"/>
              <p:cNvSpPr txBox="1">
                <a:spLocks noChangeArrowheads="1"/>
              </p:cNvSpPr>
              <p:nvPr/>
            </p:nvSpPr>
            <p:spPr bwMode="auto">
              <a:xfrm>
                <a:off x="3734" y="2941"/>
                <a:ext cx="1308" cy="3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3200">
                    <a:solidFill>
                      <a:schemeClr val="tx1"/>
                    </a:solidFill>
                  </a:rPr>
                  <a:t>域名</a:t>
                </a:r>
              </a:p>
            </p:txBody>
          </p:sp>
          <p:grpSp>
            <p:nvGrpSpPr>
              <p:cNvPr id="8201" name="Group 6"/>
              <p:cNvGrpSpPr>
                <a:grpSpLocks/>
              </p:cNvGrpSpPr>
              <p:nvPr/>
            </p:nvGrpSpPr>
            <p:grpSpPr bwMode="auto">
              <a:xfrm>
                <a:off x="2114" y="1168"/>
                <a:ext cx="1744" cy="331"/>
                <a:chOff x="1930" y="1744"/>
                <a:chExt cx="1744" cy="331"/>
              </a:xfrm>
            </p:grpSpPr>
            <p:sp>
              <p:nvSpPr>
                <p:cNvPr id="8210" name="Line 7"/>
                <p:cNvSpPr>
                  <a:spLocks noChangeShapeType="1"/>
                </p:cNvSpPr>
                <p:nvPr/>
              </p:nvSpPr>
              <p:spPr bwMode="auto">
                <a:xfrm flipH="1">
                  <a:off x="1930" y="2070"/>
                  <a:ext cx="1666" cy="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1" name="Text Box 8"/>
                <p:cNvSpPr txBox="1">
                  <a:spLocks noChangeArrowheads="1"/>
                </p:cNvSpPr>
                <p:nvPr/>
              </p:nvSpPr>
              <p:spPr bwMode="auto">
                <a:xfrm>
                  <a:off x="2398" y="1744"/>
                  <a:ext cx="1276"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ARP</a:t>
                  </a:r>
                </a:p>
              </p:txBody>
            </p:sp>
          </p:grpSp>
          <p:grpSp>
            <p:nvGrpSpPr>
              <p:cNvPr id="8202" name="Group 9"/>
              <p:cNvGrpSpPr>
                <a:grpSpLocks/>
              </p:cNvGrpSpPr>
              <p:nvPr/>
            </p:nvGrpSpPr>
            <p:grpSpPr bwMode="auto">
              <a:xfrm>
                <a:off x="2099" y="1930"/>
                <a:ext cx="1747" cy="382"/>
                <a:chOff x="1915" y="2506"/>
                <a:chExt cx="1747" cy="382"/>
              </a:xfrm>
            </p:grpSpPr>
            <p:sp>
              <p:nvSpPr>
                <p:cNvPr id="8208" name="Line 10"/>
                <p:cNvSpPr>
                  <a:spLocks noChangeShapeType="1"/>
                </p:cNvSpPr>
                <p:nvPr/>
              </p:nvSpPr>
              <p:spPr bwMode="auto">
                <a:xfrm>
                  <a:off x="1915" y="2506"/>
                  <a:ext cx="1666" cy="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9" name="Text Box 11"/>
                <p:cNvSpPr txBox="1">
                  <a:spLocks noChangeArrowheads="1"/>
                </p:cNvSpPr>
                <p:nvPr/>
              </p:nvSpPr>
              <p:spPr bwMode="auto">
                <a:xfrm>
                  <a:off x="2384" y="2557"/>
                  <a:ext cx="127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RARP</a:t>
                  </a:r>
                </a:p>
              </p:txBody>
            </p:sp>
          </p:grpSp>
          <p:grpSp>
            <p:nvGrpSpPr>
              <p:cNvPr id="8203" name="Group 19"/>
              <p:cNvGrpSpPr>
                <a:grpSpLocks/>
              </p:cNvGrpSpPr>
              <p:nvPr/>
            </p:nvGrpSpPr>
            <p:grpSpPr bwMode="auto">
              <a:xfrm>
                <a:off x="613" y="2745"/>
                <a:ext cx="2585" cy="857"/>
                <a:chOff x="515" y="2929"/>
                <a:chExt cx="2585" cy="857"/>
              </a:xfrm>
            </p:grpSpPr>
            <p:sp>
              <p:nvSpPr>
                <p:cNvPr id="8204" name="Text Box 15"/>
                <p:cNvSpPr txBox="1">
                  <a:spLocks noChangeArrowheads="1"/>
                </p:cNvSpPr>
                <p:nvPr/>
              </p:nvSpPr>
              <p:spPr bwMode="auto">
                <a:xfrm>
                  <a:off x="515" y="3027"/>
                  <a:ext cx="811" cy="74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tx1"/>
                      </a:solidFill>
                    </a:rPr>
                    <a:t>私用</a:t>
                  </a:r>
                </a:p>
                <a:p>
                  <a:pPr algn="ctr">
                    <a:spcBef>
                      <a:spcPct val="50000"/>
                    </a:spcBef>
                  </a:pPr>
                  <a:r>
                    <a:rPr lang="en-US" altLang="zh-CN">
                      <a:solidFill>
                        <a:schemeClr val="tx1"/>
                      </a:solidFill>
                    </a:rPr>
                    <a:t>IP</a:t>
                  </a:r>
                  <a:r>
                    <a:rPr lang="zh-CN" altLang="en-US">
                      <a:solidFill>
                        <a:schemeClr val="tx1"/>
                      </a:solidFill>
                    </a:rPr>
                    <a:t>地址</a:t>
                  </a:r>
                </a:p>
              </p:txBody>
            </p:sp>
            <p:sp>
              <p:nvSpPr>
                <p:cNvPr id="8205" name="Text Box 16"/>
                <p:cNvSpPr txBox="1">
                  <a:spLocks noChangeArrowheads="1"/>
                </p:cNvSpPr>
                <p:nvPr/>
              </p:nvSpPr>
              <p:spPr bwMode="auto">
                <a:xfrm>
                  <a:off x="2289" y="3039"/>
                  <a:ext cx="811" cy="74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tx1"/>
                      </a:solidFill>
                    </a:rPr>
                    <a:t>合法</a:t>
                  </a:r>
                </a:p>
                <a:p>
                  <a:pPr algn="ctr">
                    <a:spcBef>
                      <a:spcPct val="50000"/>
                    </a:spcBef>
                  </a:pPr>
                  <a:r>
                    <a:rPr lang="en-US" altLang="zh-CN">
                      <a:solidFill>
                        <a:schemeClr val="tx1"/>
                      </a:solidFill>
                    </a:rPr>
                    <a:t>IP</a:t>
                  </a:r>
                  <a:r>
                    <a:rPr lang="zh-CN" altLang="en-US">
                      <a:solidFill>
                        <a:schemeClr val="tx1"/>
                      </a:solidFill>
                    </a:rPr>
                    <a:t>地址</a:t>
                  </a:r>
                </a:p>
              </p:txBody>
            </p:sp>
            <p:sp>
              <p:nvSpPr>
                <p:cNvPr id="8206" name="Line 17"/>
                <p:cNvSpPr>
                  <a:spLocks noChangeShapeType="1"/>
                </p:cNvSpPr>
                <p:nvPr/>
              </p:nvSpPr>
              <p:spPr bwMode="auto">
                <a:xfrm>
                  <a:off x="1324" y="3395"/>
                  <a:ext cx="943"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7" name="Text Box 18"/>
                <p:cNvSpPr txBox="1">
                  <a:spLocks noChangeArrowheads="1"/>
                </p:cNvSpPr>
                <p:nvPr/>
              </p:nvSpPr>
              <p:spPr bwMode="auto">
                <a:xfrm>
                  <a:off x="1458" y="2929"/>
                  <a:ext cx="699"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en-US" altLang="zh-CN">
                      <a:solidFill>
                        <a:schemeClr val="tx2"/>
                      </a:solidFill>
                    </a:rPr>
                    <a:t>NAT</a:t>
                  </a:r>
                </a:p>
              </p:txBody>
            </p:sp>
          </p:grpSp>
        </p:grpSp>
      </p:gr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84388" y="1897063"/>
            <a:ext cx="8229600" cy="3397250"/>
            <a:chOff x="288" y="1056"/>
            <a:chExt cx="5184" cy="2784"/>
          </a:xfrm>
        </p:grpSpPr>
        <p:sp>
          <p:nvSpPr>
            <p:cNvPr id="9235" name="Rectangle 4"/>
            <p:cNvSpPr>
              <a:spLocks noChangeArrowheads="1"/>
            </p:cNvSpPr>
            <p:nvPr/>
          </p:nvSpPr>
          <p:spPr bwMode="auto">
            <a:xfrm>
              <a:off x="288" y="1056"/>
              <a:ext cx="5184" cy="2784"/>
            </a:xfrm>
            <a:prstGeom prst="rect">
              <a:avLst/>
            </a:prstGeom>
            <a:solidFill>
              <a:srgbClr val="000066"/>
            </a:solidFill>
            <a:ln w="9525">
              <a:solidFill>
                <a:schemeClr val="bg1"/>
              </a:solidFill>
              <a:miter lim="800000"/>
              <a:headEnd/>
              <a:tailEnd/>
            </a:ln>
            <a:effectLst>
              <a:outerShdw dist="233487" dir="2700000" algn="ctr" rotWithShape="0">
                <a:srgbClr val="000066">
                  <a:alpha val="50000"/>
                </a:srgbClr>
              </a:outerShdw>
            </a:effec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9236" name="Rectangle 5"/>
            <p:cNvSpPr>
              <a:spLocks noChangeArrowheads="1"/>
            </p:cNvSpPr>
            <p:nvPr/>
          </p:nvSpPr>
          <p:spPr bwMode="auto">
            <a:xfrm>
              <a:off x="2112" y="2064"/>
              <a:ext cx="672" cy="432"/>
            </a:xfrm>
            <a:prstGeom prst="rect">
              <a:avLst/>
            </a:prstGeom>
            <a:solidFill>
              <a:srgbClr val="0000CC"/>
            </a:solidFill>
            <a:ln w="19050">
              <a:solidFill>
                <a:schemeClr val="bg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路由器</a:t>
              </a:r>
            </a:p>
          </p:txBody>
        </p:sp>
        <p:sp>
          <p:nvSpPr>
            <p:cNvPr id="9237" name="AutoShape 6">
              <a:hlinkHover r:id="" action="ppaction://noaction" highlightClick="1"/>
            </p:cNvPr>
            <p:cNvSpPr>
              <a:spLocks noChangeArrowheads="1"/>
            </p:cNvSpPr>
            <p:nvPr/>
          </p:nvSpPr>
          <p:spPr bwMode="auto">
            <a:xfrm>
              <a:off x="432" y="2496"/>
              <a:ext cx="1200" cy="912"/>
            </a:xfrm>
            <a:prstGeom prst="cloudCallout">
              <a:avLst>
                <a:gd name="adj1" fmla="val 17417"/>
                <a:gd name="adj2" fmla="val 33116"/>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1800">
                  <a:solidFill>
                    <a:schemeClr val="hlink"/>
                  </a:solidFill>
                  <a:latin typeface="Verdana" panose="020B0604030504040204" pitchFamily="34" charset="0"/>
                  <a:ea typeface="隶书" panose="02010509060101010101" pitchFamily="49" charset="-122"/>
                </a:rPr>
                <a:t>网络 </a:t>
              </a:r>
              <a:r>
                <a:rPr kumimoji="1" lang="en-US" altLang="zh-CN" sz="1800">
                  <a:solidFill>
                    <a:schemeClr val="hlink"/>
                  </a:solidFill>
                  <a:latin typeface="Verdana" panose="020B0604030504040204" pitchFamily="34" charset="0"/>
                  <a:ea typeface="隶书" panose="02010509060101010101" pitchFamily="49" charset="-122"/>
                </a:rPr>
                <a:t>2</a:t>
              </a:r>
            </a:p>
            <a:p>
              <a:pPr algn="ctr" eaLnBrk="1" hangingPunct="1"/>
              <a:r>
                <a:rPr kumimoji="1" lang="zh-CN" altLang="en-US" sz="1800">
                  <a:solidFill>
                    <a:schemeClr val="hlink"/>
                  </a:solidFill>
                  <a:latin typeface="Verdana" panose="020B0604030504040204" pitchFamily="34" charset="0"/>
                  <a:ea typeface="隶书" panose="02010509060101010101" pitchFamily="49" charset="-122"/>
                </a:rPr>
                <a:t>令牌环</a:t>
              </a:r>
            </a:p>
          </p:txBody>
        </p:sp>
        <p:sp>
          <p:nvSpPr>
            <p:cNvPr id="9238" name="AutoShape 7">
              <a:hlinkHover r:id="" action="ppaction://noaction" highlightClick="1"/>
            </p:cNvPr>
            <p:cNvSpPr>
              <a:spLocks noChangeArrowheads="1"/>
            </p:cNvSpPr>
            <p:nvPr/>
          </p:nvSpPr>
          <p:spPr bwMode="auto">
            <a:xfrm>
              <a:off x="3120" y="2304"/>
              <a:ext cx="1248" cy="816"/>
            </a:xfrm>
            <a:prstGeom prst="cloudCallout">
              <a:avLst>
                <a:gd name="adj1" fmla="val 29486"/>
                <a:gd name="adj2" fmla="val 21690"/>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hlink"/>
                  </a:solidFill>
                  <a:latin typeface="Verdana" panose="020B0604030504040204" pitchFamily="34" charset="0"/>
                  <a:ea typeface="华文新魏" panose="02010800040101010101" pitchFamily="2" charset="-122"/>
                </a:rPr>
                <a:t>网络</a:t>
              </a:r>
              <a:r>
                <a:rPr kumimoji="1" lang="zh-CN" altLang="en-US" sz="2400">
                  <a:solidFill>
                    <a:schemeClr val="hlink"/>
                  </a:solidFill>
                  <a:latin typeface="Verdana" panose="020B0604030504040204" pitchFamily="34" charset="0"/>
                  <a:ea typeface="华文新魏" panose="02010800040101010101" pitchFamily="2" charset="-122"/>
                </a:rPr>
                <a:t> </a:t>
              </a:r>
              <a:r>
                <a:rPr kumimoji="1" lang="en-US" altLang="zh-CN" sz="2400">
                  <a:solidFill>
                    <a:schemeClr val="hlink"/>
                  </a:solidFill>
                  <a:latin typeface="Verdana" panose="020B0604030504040204" pitchFamily="34" charset="0"/>
                  <a:ea typeface="华文新魏" panose="02010800040101010101" pitchFamily="2" charset="-122"/>
                </a:rPr>
                <a:t>3</a:t>
              </a:r>
            </a:p>
            <a:p>
              <a:pPr algn="ctr" eaLnBrk="1" hangingPunct="1"/>
              <a:r>
                <a:rPr kumimoji="1" lang="en-US" altLang="zh-CN" sz="1800">
                  <a:solidFill>
                    <a:schemeClr val="hlink"/>
                  </a:solidFill>
                  <a:latin typeface="Verdana" panose="020B0604030504040204" pitchFamily="34" charset="0"/>
                  <a:ea typeface="隶书" panose="02010509060101010101" pitchFamily="49" charset="-122"/>
                </a:rPr>
                <a:t>ATM</a:t>
              </a:r>
            </a:p>
          </p:txBody>
        </p:sp>
        <p:sp>
          <p:nvSpPr>
            <p:cNvPr id="9239" name="AutoShape 8">
              <a:hlinkHover r:id="" action="ppaction://noaction" highlightClick="1"/>
            </p:cNvPr>
            <p:cNvSpPr>
              <a:spLocks noChangeArrowheads="1"/>
            </p:cNvSpPr>
            <p:nvPr/>
          </p:nvSpPr>
          <p:spPr bwMode="auto">
            <a:xfrm>
              <a:off x="816" y="1152"/>
              <a:ext cx="1200" cy="912"/>
            </a:xfrm>
            <a:prstGeom prst="cloudCallout">
              <a:avLst>
                <a:gd name="adj1" fmla="val 20167"/>
                <a:gd name="adj2" fmla="val -41556"/>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1800">
                  <a:solidFill>
                    <a:schemeClr val="hlink"/>
                  </a:solidFill>
                  <a:latin typeface="Verdana" panose="020B0604030504040204" pitchFamily="34" charset="0"/>
                  <a:ea typeface="隶书" panose="02010509060101010101" pitchFamily="49" charset="-122"/>
                </a:rPr>
                <a:t>网络 </a:t>
              </a:r>
              <a:r>
                <a:rPr kumimoji="1" lang="en-US" altLang="zh-CN" sz="1800">
                  <a:solidFill>
                    <a:schemeClr val="hlink"/>
                  </a:solidFill>
                  <a:latin typeface="Verdana" panose="020B0604030504040204" pitchFamily="34" charset="0"/>
                  <a:ea typeface="隶书" panose="02010509060101010101" pitchFamily="49" charset="-122"/>
                </a:rPr>
                <a:t>1</a:t>
              </a:r>
            </a:p>
            <a:p>
              <a:pPr algn="ctr" eaLnBrk="1" hangingPunct="1"/>
              <a:r>
                <a:rPr kumimoji="1" lang="zh-CN" altLang="en-US" sz="1800">
                  <a:solidFill>
                    <a:schemeClr val="hlink"/>
                  </a:solidFill>
                  <a:latin typeface="Verdana" panose="020B0604030504040204" pitchFamily="34" charset="0"/>
                  <a:ea typeface="隶书" panose="02010509060101010101" pitchFamily="49" charset="-122"/>
                </a:rPr>
                <a:t>以太网</a:t>
              </a:r>
            </a:p>
          </p:txBody>
        </p:sp>
        <p:sp>
          <p:nvSpPr>
            <p:cNvPr id="9240" name="Rectangle 9"/>
            <p:cNvSpPr>
              <a:spLocks noChangeArrowheads="1"/>
            </p:cNvSpPr>
            <p:nvPr/>
          </p:nvSpPr>
          <p:spPr bwMode="auto">
            <a:xfrm>
              <a:off x="4368" y="1632"/>
              <a:ext cx="672" cy="432"/>
            </a:xfrm>
            <a:prstGeom prst="rect">
              <a:avLst/>
            </a:prstGeom>
            <a:solidFill>
              <a:srgbClr val="0000CC"/>
            </a:solidFill>
            <a:ln w="19050">
              <a:solidFill>
                <a:schemeClr val="bg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路由器</a:t>
              </a:r>
            </a:p>
          </p:txBody>
        </p:sp>
        <p:sp>
          <p:nvSpPr>
            <p:cNvPr id="9241" name="Line 10"/>
            <p:cNvSpPr>
              <a:spLocks noChangeShapeType="1"/>
            </p:cNvSpPr>
            <p:nvPr/>
          </p:nvSpPr>
          <p:spPr bwMode="auto">
            <a:xfrm flipV="1">
              <a:off x="1536" y="2400"/>
              <a:ext cx="576" cy="24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2" name="Line 11"/>
            <p:cNvSpPr>
              <a:spLocks noChangeShapeType="1"/>
            </p:cNvSpPr>
            <p:nvPr/>
          </p:nvSpPr>
          <p:spPr bwMode="auto">
            <a:xfrm>
              <a:off x="1776" y="1920"/>
              <a:ext cx="336" cy="19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3" name="Line 12"/>
            <p:cNvSpPr>
              <a:spLocks noChangeShapeType="1"/>
            </p:cNvSpPr>
            <p:nvPr/>
          </p:nvSpPr>
          <p:spPr bwMode="auto">
            <a:xfrm>
              <a:off x="2784" y="2448"/>
              <a:ext cx="336" cy="19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4" name="Line 13"/>
            <p:cNvSpPr>
              <a:spLocks noChangeShapeType="1"/>
            </p:cNvSpPr>
            <p:nvPr/>
          </p:nvSpPr>
          <p:spPr bwMode="auto">
            <a:xfrm flipV="1">
              <a:off x="3936" y="1920"/>
              <a:ext cx="432" cy="3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5" name="Line 14"/>
            <p:cNvSpPr>
              <a:spLocks noChangeShapeType="1"/>
            </p:cNvSpPr>
            <p:nvPr/>
          </p:nvSpPr>
          <p:spPr bwMode="auto">
            <a:xfrm flipV="1">
              <a:off x="5040" y="1824"/>
              <a:ext cx="192" cy="1"/>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6" name="Rectangle 15"/>
            <p:cNvSpPr>
              <a:spLocks noChangeArrowheads="1"/>
            </p:cNvSpPr>
            <p:nvPr/>
          </p:nvSpPr>
          <p:spPr bwMode="auto">
            <a:xfrm>
              <a:off x="1680" y="3504"/>
              <a:ext cx="2064" cy="288"/>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异种网络互连</a:t>
              </a:r>
            </a:p>
          </p:txBody>
        </p:sp>
      </p:grpSp>
      <p:sp>
        <p:nvSpPr>
          <p:cNvPr id="1408016" name="Text Box 16"/>
          <p:cNvSpPr txBox="1">
            <a:spLocks noChangeArrowheads="1"/>
          </p:cNvSpPr>
          <p:nvPr/>
        </p:nvSpPr>
        <p:spPr bwMode="auto">
          <a:xfrm>
            <a:off x="1846263" y="5719764"/>
            <a:ext cx="626586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20000"/>
              </a:spcBef>
            </a:pPr>
            <a:r>
              <a:rPr kumimoji="1" lang="zh-CN" altLang="en-US" sz="2400">
                <a:solidFill>
                  <a:srgbClr val="000099"/>
                </a:solidFill>
                <a:ea typeface="华文新魏" panose="02010800040101010101" pitchFamily="2" charset="-122"/>
              </a:rPr>
              <a:t>不同的网络具有不同的物理地址！</a:t>
            </a:r>
          </a:p>
          <a:p>
            <a:pPr algn="ctr" eaLnBrk="1" hangingPunct="1">
              <a:spcBef>
                <a:spcPct val="20000"/>
              </a:spcBef>
            </a:pPr>
            <a:r>
              <a:rPr kumimoji="1" lang="zh-CN" altLang="en-US" sz="2400">
                <a:solidFill>
                  <a:srgbClr val="000099"/>
                </a:solidFill>
                <a:ea typeface="华文新魏" panose="02010800040101010101" pitchFamily="2" charset="-122"/>
              </a:rPr>
              <a:t>报文在</a:t>
            </a:r>
            <a:r>
              <a:rPr kumimoji="1" lang="en-US" altLang="zh-CN" sz="2400">
                <a:solidFill>
                  <a:srgbClr val="000099"/>
                </a:solidFill>
                <a:ea typeface="华文新魏" panose="02010800040101010101" pitchFamily="2" charset="-122"/>
              </a:rPr>
              <a:t>Internet</a:t>
            </a:r>
            <a:r>
              <a:rPr kumimoji="1" lang="zh-CN" altLang="en-US" sz="2400">
                <a:solidFill>
                  <a:srgbClr val="000099"/>
                </a:solidFill>
                <a:ea typeface="华文新魏" panose="02010800040101010101" pitchFamily="2" charset="-122"/>
              </a:rPr>
              <a:t>上传送时</a:t>
            </a:r>
            <a:r>
              <a:rPr kumimoji="1" lang="en-US" altLang="zh-CN" sz="2400">
                <a:solidFill>
                  <a:srgbClr val="000099"/>
                </a:solidFill>
                <a:ea typeface="华文新魏" panose="02010800040101010101" pitchFamily="2" charset="-122"/>
              </a:rPr>
              <a:t>,</a:t>
            </a:r>
            <a:r>
              <a:rPr kumimoji="1" lang="zh-CN" altLang="en-US" sz="2400">
                <a:solidFill>
                  <a:srgbClr val="000099"/>
                </a:solidFill>
                <a:ea typeface="华文新魏" panose="02010800040101010101" pitchFamily="2" charset="-122"/>
              </a:rPr>
              <a:t>物理地址不断变化</a:t>
            </a:r>
            <a:r>
              <a:rPr kumimoji="1" lang="en-US" altLang="zh-CN" sz="2400">
                <a:solidFill>
                  <a:srgbClr val="000099"/>
                </a:solidFill>
                <a:ea typeface="华文新魏" panose="02010800040101010101" pitchFamily="2" charset="-122"/>
              </a:rPr>
              <a:t>!</a:t>
            </a:r>
          </a:p>
        </p:txBody>
      </p:sp>
      <p:sp>
        <p:nvSpPr>
          <p:cNvPr id="1408017" name="Text Box 17"/>
          <p:cNvSpPr txBox="1">
            <a:spLocks noChangeArrowheads="1"/>
          </p:cNvSpPr>
          <p:nvPr/>
        </p:nvSpPr>
        <p:spPr bwMode="auto">
          <a:xfrm>
            <a:off x="7866063" y="5821364"/>
            <a:ext cx="2527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3200">
                <a:solidFill>
                  <a:srgbClr val="000099"/>
                </a:solidFill>
                <a:ea typeface="华文新魏" panose="02010800040101010101" pitchFamily="2" charset="-122"/>
              </a:rPr>
              <a:t>→ </a:t>
            </a:r>
            <a:r>
              <a:rPr kumimoji="1" lang="zh-CN" altLang="en-US" sz="3200">
                <a:solidFill>
                  <a:srgbClr val="000099"/>
                </a:solidFill>
                <a:ea typeface="华文新魏" panose="02010800040101010101" pitchFamily="2" charset="-122"/>
              </a:rPr>
              <a:t>地址统一</a:t>
            </a:r>
          </a:p>
        </p:txBody>
      </p:sp>
      <p:sp>
        <p:nvSpPr>
          <p:cNvPr id="9221" name="Text Box 18"/>
          <p:cNvSpPr txBox="1">
            <a:spLocks noChangeArrowheads="1"/>
          </p:cNvSpPr>
          <p:nvPr/>
        </p:nvSpPr>
        <p:spPr bwMode="auto">
          <a:xfrm>
            <a:off x="3232151" y="1244601"/>
            <a:ext cx="6456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zh-CN" altLang="en-US" b="1">
                <a:solidFill>
                  <a:schemeClr val="tx2"/>
                </a:solidFill>
                <a:latin typeface="Verdana" panose="020B0604030504040204" pitchFamily="34" charset="0"/>
                <a:ea typeface="隶书" panose="02010509060101010101" pitchFamily="49" charset="-122"/>
              </a:rPr>
              <a:t>异种网络互连时的地址统一问题</a:t>
            </a:r>
          </a:p>
        </p:txBody>
      </p:sp>
      <p:sp>
        <p:nvSpPr>
          <p:cNvPr id="9222" name="Rectangle 19"/>
          <p:cNvSpPr>
            <a:spLocks noGrp="1" noChangeArrowheads="1"/>
          </p:cNvSpPr>
          <p:nvPr>
            <p:ph type="title"/>
          </p:nvPr>
        </p:nvSpPr>
        <p:spPr bwMode="auto">
          <a:xfrm>
            <a:off x="2268538" y="434976"/>
            <a:ext cx="7772400" cy="69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TCP/IP </a:t>
            </a:r>
            <a:r>
              <a:rPr lang="zh-CN" altLang="en-US" sz="3600">
                <a:solidFill>
                  <a:schemeClr val="hlink"/>
                </a:solidFill>
                <a:ea typeface="华文行楷" panose="02010800040101010101" pitchFamily="2" charset="-122"/>
              </a:rPr>
              <a:t>地址系统</a:t>
            </a:r>
          </a:p>
        </p:txBody>
      </p:sp>
      <p:sp>
        <p:nvSpPr>
          <p:cNvPr id="9223" name="Text Box 20"/>
          <p:cNvSpPr txBox="1">
            <a:spLocks noChangeArrowheads="1"/>
          </p:cNvSpPr>
          <p:nvPr/>
        </p:nvSpPr>
        <p:spPr bwMode="auto">
          <a:xfrm>
            <a:off x="3192463" y="2560638"/>
            <a:ext cx="1325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1</a:t>
            </a:r>
          </a:p>
        </p:txBody>
      </p:sp>
      <p:sp>
        <p:nvSpPr>
          <p:cNvPr id="9224" name="Text Box 21"/>
          <p:cNvSpPr txBox="1">
            <a:spLocks noChangeArrowheads="1"/>
          </p:cNvSpPr>
          <p:nvPr/>
        </p:nvSpPr>
        <p:spPr bwMode="auto">
          <a:xfrm>
            <a:off x="2659063" y="4244975"/>
            <a:ext cx="1325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2</a:t>
            </a:r>
          </a:p>
        </p:txBody>
      </p:sp>
      <p:sp>
        <p:nvSpPr>
          <p:cNvPr id="9225" name="Text Box 22"/>
          <p:cNvSpPr txBox="1">
            <a:spLocks noChangeArrowheads="1"/>
          </p:cNvSpPr>
          <p:nvPr/>
        </p:nvSpPr>
        <p:spPr bwMode="auto">
          <a:xfrm>
            <a:off x="6978651" y="4016375"/>
            <a:ext cx="1325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3</a:t>
            </a:r>
          </a:p>
        </p:txBody>
      </p:sp>
      <p:grpSp>
        <p:nvGrpSpPr>
          <p:cNvPr id="3" name="Group 30"/>
          <p:cNvGrpSpPr>
            <a:grpSpLocks/>
          </p:cNvGrpSpPr>
          <p:nvPr/>
        </p:nvGrpSpPr>
        <p:grpSpPr bwMode="auto">
          <a:xfrm>
            <a:off x="4711701" y="2530476"/>
            <a:ext cx="1306513" cy="760413"/>
            <a:chOff x="2008" y="1594"/>
            <a:chExt cx="823" cy="479"/>
          </a:xfrm>
        </p:grpSpPr>
        <p:sp>
          <p:nvSpPr>
            <p:cNvPr id="9233" name="Text Box 24"/>
            <p:cNvSpPr txBox="1">
              <a:spLocks noChangeArrowheads="1"/>
            </p:cNvSpPr>
            <p:nvPr/>
          </p:nvSpPr>
          <p:spPr bwMode="auto">
            <a:xfrm>
              <a:off x="2022" y="1594"/>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1</a:t>
              </a:r>
            </a:p>
          </p:txBody>
        </p:sp>
        <p:sp>
          <p:nvSpPr>
            <p:cNvPr id="9234" name="Text Box 25"/>
            <p:cNvSpPr txBox="1">
              <a:spLocks noChangeArrowheads="1"/>
            </p:cNvSpPr>
            <p:nvPr/>
          </p:nvSpPr>
          <p:spPr bwMode="auto">
            <a:xfrm>
              <a:off x="2008" y="1861"/>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2</a:t>
              </a:r>
            </a:p>
          </p:txBody>
        </p:sp>
      </p:grpSp>
      <p:grpSp>
        <p:nvGrpSpPr>
          <p:cNvPr id="4" name="Group 31"/>
          <p:cNvGrpSpPr>
            <a:grpSpLocks/>
          </p:cNvGrpSpPr>
          <p:nvPr/>
        </p:nvGrpSpPr>
        <p:grpSpPr bwMode="auto">
          <a:xfrm>
            <a:off x="5081588" y="3967164"/>
            <a:ext cx="2119312" cy="784225"/>
            <a:chOff x="2241" y="2499"/>
            <a:chExt cx="1335" cy="494"/>
          </a:xfrm>
        </p:grpSpPr>
        <p:sp>
          <p:nvSpPr>
            <p:cNvPr id="9231" name="Text Box 26"/>
            <p:cNvSpPr txBox="1">
              <a:spLocks noChangeArrowheads="1"/>
            </p:cNvSpPr>
            <p:nvPr/>
          </p:nvSpPr>
          <p:spPr bwMode="auto">
            <a:xfrm>
              <a:off x="2241" y="2499"/>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3</a:t>
              </a:r>
            </a:p>
          </p:txBody>
        </p:sp>
        <p:sp>
          <p:nvSpPr>
            <p:cNvPr id="9232" name="Text Box 27"/>
            <p:cNvSpPr txBox="1">
              <a:spLocks noChangeArrowheads="1"/>
            </p:cNvSpPr>
            <p:nvPr/>
          </p:nvSpPr>
          <p:spPr bwMode="auto">
            <a:xfrm>
              <a:off x="2767" y="2781"/>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4</a:t>
              </a:r>
            </a:p>
          </p:txBody>
        </p:sp>
      </p:grpSp>
      <p:grpSp>
        <p:nvGrpSpPr>
          <p:cNvPr id="5" name="Group 32"/>
          <p:cNvGrpSpPr>
            <a:grpSpLocks/>
          </p:cNvGrpSpPr>
          <p:nvPr/>
        </p:nvGrpSpPr>
        <p:grpSpPr bwMode="auto">
          <a:xfrm>
            <a:off x="6656389" y="2352676"/>
            <a:ext cx="2219325" cy="1133475"/>
            <a:chOff x="3233" y="1482"/>
            <a:chExt cx="1398" cy="714"/>
          </a:xfrm>
        </p:grpSpPr>
        <p:sp>
          <p:nvSpPr>
            <p:cNvPr id="9229" name="Text Box 28"/>
            <p:cNvSpPr txBox="1">
              <a:spLocks noChangeArrowheads="1"/>
            </p:cNvSpPr>
            <p:nvPr/>
          </p:nvSpPr>
          <p:spPr bwMode="auto">
            <a:xfrm>
              <a:off x="3233" y="1984"/>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5</a:t>
              </a:r>
            </a:p>
          </p:txBody>
        </p:sp>
        <p:sp>
          <p:nvSpPr>
            <p:cNvPr id="9230" name="Text Box 29"/>
            <p:cNvSpPr txBox="1">
              <a:spLocks noChangeArrowheads="1"/>
            </p:cNvSpPr>
            <p:nvPr/>
          </p:nvSpPr>
          <p:spPr bwMode="auto">
            <a:xfrm>
              <a:off x="3822" y="1482"/>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6</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08016">
                                            <p:txEl>
                                              <p:pRg st="0" end="0"/>
                                            </p:txEl>
                                          </p:spTgt>
                                        </p:tgtEl>
                                        <p:attrNameLst>
                                          <p:attrName>style.visibility</p:attrName>
                                        </p:attrNameLst>
                                      </p:cBhvr>
                                      <p:to>
                                        <p:strVal val="visible"/>
                                      </p:to>
                                    </p:set>
                                    <p:anim calcmode="lin" valueType="num">
                                      <p:cBhvr additive="base">
                                        <p:cTn id="12" dur="500" fill="hold"/>
                                        <p:tgtEl>
                                          <p:spTgt spid="1408016">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080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408016">
                                            <p:txEl>
                                              <p:pRg st="1" end="1"/>
                                            </p:txEl>
                                          </p:spTgt>
                                        </p:tgtEl>
                                        <p:attrNameLst>
                                          <p:attrName>style.visibility</p:attrName>
                                        </p:attrNameLst>
                                      </p:cBhvr>
                                      <p:to>
                                        <p:strVal val="visible"/>
                                      </p:to>
                                    </p:set>
                                    <p:anim calcmode="lin" valueType="num">
                                      <p:cBhvr additive="base">
                                        <p:cTn id="18" dur="500" fill="hold"/>
                                        <p:tgtEl>
                                          <p:spTgt spid="1408016">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4080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1+#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2"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1+#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1+#ppt_w/2"/>
                                          </p:val>
                                        </p:tav>
                                        <p:tav tm="100000">
                                          <p:val>
                                            <p:strVal val="#ppt_x"/>
                                          </p:val>
                                        </p:tav>
                                      </p:tavLst>
                                    </p:anim>
                                    <p:anim calcmode="lin" valueType="num">
                                      <p:cBhvr additive="base">
                                        <p:cTn id="37"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408017">
                                            <p:txEl>
                                              <p:pRg st="0" end="0"/>
                                            </p:txEl>
                                          </p:spTgt>
                                        </p:tgtEl>
                                        <p:attrNameLst>
                                          <p:attrName>style.visibility</p:attrName>
                                        </p:attrNameLst>
                                      </p:cBhvr>
                                      <p:to>
                                        <p:strVal val="visible"/>
                                      </p:to>
                                    </p:set>
                                    <p:anim calcmode="lin" valueType="num">
                                      <p:cBhvr additive="base">
                                        <p:cTn id="42" dur="500" fill="hold"/>
                                        <p:tgtEl>
                                          <p:spTgt spid="1408017">
                                            <p:txEl>
                                              <p:pRg st="0" end="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4080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8016" grpId="0" build="p" autoUpdateAnimBg="0"/>
      <p:bldP spid="140801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0051" name="Rectangle 3"/>
          <p:cNvSpPr>
            <a:spLocks noGrp="1" noChangeArrowheads="1"/>
          </p:cNvSpPr>
          <p:nvPr>
            <p:ph type="body" idx="1"/>
          </p:nvPr>
        </p:nvSpPr>
        <p:spPr bwMode="auto">
          <a:xfrm>
            <a:off x="1720850" y="1244600"/>
            <a:ext cx="8763000" cy="5181600"/>
          </a:xfrm>
          <a:solidFill>
            <a:srgbClr val="FFFFFF"/>
          </a:solidFill>
          <a:ln>
            <a:solidFill>
              <a:srgbClr val="CCFFCC"/>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spcBef>
                <a:spcPct val="10000"/>
              </a:spcBef>
            </a:pPr>
            <a:r>
              <a:rPr lang="zh-CN" altLang="en-US">
                <a:latin typeface="新宋体" panose="02010609030101010101" pitchFamily="49" charset="-122"/>
                <a:ea typeface="新宋体" panose="02010609030101010101" pitchFamily="49" charset="-122"/>
              </a:rPr>
              <a:t>实现网际互连必须使用统一的地址形式</a:t>
            </a:r>
          </a:p>
          <a:p>
            <a:pPr marL="958850" lvl="1" indent="-425450">
              <a:spcBef>
                <a:spcPct val="10000"/>
              </a:spcBef>
            </a:pPr>
            <a:r>
              <a:rPr lang="zh-CN" altLang="en-US" sz="2200">
                <a:latin typeface="新宋体" panose="02010609030101010101" pitchFamily="49" charset="-122"/>
                <a:ea typeface="新宋体" panose="02010609030101010101" pitchFamily="49" charset="-122"/>
              </a:rPr>
              <a:t>没有可以直接使用的统一物理地址系统</a:t>
            </a:r>
          </a:p>
          <a:p>
            <a:pPr marL="958850" lvl="1" indent="-425450">
              <a:spcBef>
                <a:spcPct val="10000"/>
              </a:spcBef>
            </a:pPr>
            <a:r>
              <a:rPr lang="zh-CN" altLang="en-US" sz="2200">
                <a:latin typeface="新宋体" panose="02010609030101010101" pitchFamily="49" charset="-122"/>
                <a:ea typeface="新宋体" panose="02010609030101010101" pitchFamily="49" charset="-122"/>
              </a:rPr>
              <a:t>也不可能对现有链路技术的物理地址进行修改</a:t>
            </a:r>
          </a:p>
          <a:p>
            <a:pPr marL="958850" lvl="1" indent="-425450">
              <a:spcBef>
                <a:spcPct val="10000"/>
              </a:spcBef>
            </a:pPr>
            <a:r>
              <a:rPr lang="zh-CN" altLang="en-US" sz="2200">
                <a:latin typeface="新宋体" panose="02010609030101010101" pitchFamily="49" charset="-122"/>
                <a:ea typeface="新宋体" panose="02010609030101010101" pitchFamily="49" charset="-122"/>
              </a:rPr>
              <a:t>必须在更高的层次上（网络层）来实现地址统一</a:t>
            </a:r>
          </a:p>
          <a:p>
            <a:pPr eaLnBrk="1" hangingPunct="1">
              <a:spcBef>
                <a:spcPct val="10000"/>
              </a:spcBef>
            </a:pPr>
            <a:r>
              <a:rPr lang="en-US" altLang="zh-CN">
                <a:latin typeface="新宋体" panose="02010609030101010101" pitchFamily="49" charset="-122"/>
                <a:ea typeface="新宋体" panose="02010609030101010101" pitchFamily="49" charset="-122"/>
              </a:rPr>
              <a:t>IP </a:t>
            </a:r>
            <a:r>
              <a:rPr lang="zh-CN" altLang="en-US">
                <a:latin typeface="新宋体" panose="02010609030101010101" pitchFamily="49" charset="-122"/>
                <a:ea typeface="新宋体" panose="02010609030101010101" pitchFamily="49" charset="-122"/>
              </a:rPr>
              <a:t>地址的引入</a:t>
            </a:r>
          </a:p>
          <a:p>
            <a:pPr marL="958850" lvl="1" indent="-425450">
              <a:spcBef>
                <a:spcPct val="10000"/>
              </a:spcBef>
            </a:pPr>
            <a:r>
              <a:rPr lang="zh-CN" altLang="en-US" sz="2200">
                <a:latin typeface="新宋体" panose="02010609030101010101" pitchFamily="49" charset="-122"/>
                <a:ea typeface="新宋体" panose="02010609030101010101" pitchFamily="49" charset="-122"/>
              </a:rPr>
              <a:t>在 </a:t>
            </a:r>
            <a:r>
              <a:rPr lang="en-US" altLang="zh-CN" sz="2200">
                <a:latin typeface="新宋体" panose="02010609030101010101" pitchFamily="49" charset="-122"/>
                <a:ea typeface="新宋体" panose="02010609030101010101" pitchFamily="49" charset="-122"/>
              </a:rPr>
              <a:t>TCP/IP </a:t>
            </a:r>
            <a:r>
              <a:rPr lang="zh-CN" altLang="en-US" sz="2200">
                <a:latin typeface="新宋体" panose="02010609030101010101" pitchFamily="49" charset="-122"/>
                <a:ea typeface="新宋体" panose="02010609030101010101" pitchFamily="49" charset="-122"/>
              </a:rPr>
              <a:t>体系结构中，实现不同网络的网际互连是通过 </a:t>
            </a:r>
            <a:r>
              <a:rPr lang="en-US" altLang="zh-CN" sz="2200">
                <a:latin typeface="新宋体" panose="02010609030101010101" pitchFamily="49" charset="-122"/>
                <a:ea typeface="新宋体" panose="02010609030101010101" pitchFamily="49" charset="-122"/>
              </a:rPr>
              <a:t>IP </a:t>
            </a:r>
            <a:r>
              <a:rPr lang="zh-CN" altLang="en-US" sz="2200">
                <a:latin typeface="新宋体" panose="02010609030101010101" pitchFamily="49" charset="-122"/>
                <a:ea typeface="新宋体" panose="02010609030101010101" pitchFamily="49" charset="-122"/>
              </a:rPr>
              <a:t>协议完成的</a:t>
            </a:r>
          </a:p>
          <a:p>
            <a:pPr marL="958850" lvl="1" indent="-425450">
              <a:spcBef>
                <a:spcPct val="10000"/>
              </a:spcBef>
            </a:pPr>
            <a:r>
              <a:rPr lang="zh-CN" altLang="en-US" sz="2200">
                <a:latin typeface="新宋体" panose="02010609030101010101" pitchFamily="49" charset="-122"/>
                <a:ea typeface="新宋体" panose="02010609030101010101" pitchFamily="49" charset="-122"/>
              </a:rPr>
              <a:t>为解决互联网（</a:t>
            </a:r>
            <a:r>
              <a:rPr lang="en-US" altLang="zh-CN" sz="2200">
                <a:latin typeface="新宋体" panose="02010609030101010101" pitchFamily="49" charset="-122"/>
                <a:ea typeface="新宋体" panose="02010609030101010101" pitchFamily="49" charset="-122"/>
              </a:rPr>
              <a:t>Internet</a:t>
            </a:r>
            <a:r>
              <a:rPr lang="zh-CN" altLang="en-US" sz="2200">
                <a:latin typeface="新宋体" panose="02010609030101010101" pitchFamily="49" charset="-122"/>
                <a:ea typeface="新宋体" panose="02010609030101010101" pitchFamily="49" charset="-122"/>
              </a:rPr>
              <a:t>）中的寻址问题，</a:t>
            </a:r>
            <a:r>
              <a:rPr lang="en-US" altLang="zh-CN" sz="2200">
                <a:latin typeface="新宋体" panose="02010609030101010101" pitchFamily="49" charset="-122"/>
                <a:ea typeface="新宋体" panose="02010609030101010101" pitchFamily="49" charset="-122"/>
              </a:rPr>
              <a:t>IP </a:t>
            </a:r>
            <a:r>
              <a:rPr lang="zh-CN" altLang="en-US" sz="2200">
                <a:latin typeface="新宋体" panose="02010609030101010101" pitchFamily="49" charset="-122"/>
                <a:ea typeface="新宋体" panose="02010609030101010101" pitchFamily="49" charset="-122"/>
              </a:rPr>
              <a:t>协议定义了在全网唯一的通用 </a:t>
            </a:r>
            <a:r>
              <a:rPr lang="en-US" altLang="zh-CN" sz="2200">
                <a:latin typeface="新宋体" panose="02010609030101010101" pitchFamily="49" charset="-122"/>
                <a:ea typeface="新宋体" panose="02010609030101010101" pitchFamily="49" charset="-122"/>
              </a:rPr>
              <a:t>32 </a:t>
            </a:r>
            <a:r>
              <a:rPr lang="zh-CN" altLang="en-US" sz="2200">
                <a:latin typeface="新宋体" panose="02010609030101010101" pitchFamily="49" charset="-122"/>
                <a:ea typeface="新宋体" panose="02010609030101010101" pitchFamily="49" charset="-122"/>
              </a:rPr>
              <a:t>位地址格式 </a:t>
            </a:r>
            <a:r>
              <a:rPr lang="en-US" altLang="zh-CN" sz="2200">
                <a:latin typeface="Times New Roman" panose="02020603050405020304" pitchFamily="18" charset="0"/>
                <a:ea typeface="新宋体" panose="02010609030101010101" pitchFamily="49" charset="-122"/>
              </a:rPr>
              <a:t>——</a:t>
            </a:r>
            <a:r>
              <a:rPr lang="en-US" altLang="zh-CN" sz="2200">
                <a:latin typeface="新宋体" panose="02010609030101010101" pitchFamily="49" charset="-122"/>
                <a:ea typeface="新宋体" panose="02010609030101010101" pitchFamily="49" charset="-122"/>
              </a:rPr>
              <a:t> IP </a:t>
            </a:r>
            <a:r>
              <a:rPr lang="zh-CN" altLang="en-US" sz="2200">
                <a:latin typeface="新宋体" panose="02010609030101010101" pitchFamily="49" charset="-122"/>
                <a:ea typeface="新宋体" panose="02010609030101010101" pitchFamily="49" charset="-122"/>
              </a:rPr>
              <a:t>地址</a:t>
            </a:r>
          </a:p>
          <a:p>
            <a:pPr eaLnBrk="1" hangingPunct="1">
              <a:spcBef>
                <a:spcPct val="10000"/>
              </a:spcBef>
            </a:pPr>
            <a:r>
              <a:rPr lang="en-US" altLang="zh-CN">
                <a:latin typeface="新宋体" panose="02010609030101010101" pitchFamily="49" charset="-122"/>
                <a:ea typeface="新宋体" panose="02010609030101010101" pitchFamily="49" charset="-122"/>
              </a:rPr>
              <a:t>IP</a:t>
            </a:r>
            <a:r>
              <a:rPr lang="zh-CN" altLang="en-US">
                <a:latin typeface="新宋体" panose="02010609030101010101" pitchFamily="49" charset="-122"/>
                <a:ea typeface="新宋体" panose="02010609030101010101" pitchFamily="49" charset="-122"/>
              </a:rPr>
              <a:t>地址的分配由</a:t>
            </a:r>
            <a:r>
              <a:rPr lang="zh-CN" altLang="en-US" sz="2000">
                <a:latin typeface="新宋体" panose="02010609030101010101" pitchFamily="49" charset="-122"/>
                <a:ea typeface="新宋体" panose="02010609030101010101" pitchFamily="49" charset="-122"/>
              </a:rPr>
              <a:t>（</a:t>
            </a:r>
            <a:r>
              <a:rPr lang="en-US" altLang="zh-CN" sz="2000">
                <a:latin typeface="新宋体" panose="02010609030101010101" pitchFamily="49" charset="-122"/>
                <a:ea typeface="新宋体" panose="02010609030101010101" pitchFamily="49" charset="-122"/>
              </a:rPr>
              <a:t>NIC:</a:t>
            </a:r>
            <a:r>
              <a:rPr lang="zh-CN" altLang="en-US" sz="2000">
                <a:latin typeface="新宋体" panose="02010609030101010101" pitchFamily="49" charset="-122"/>
                <a:ea typeface="新宋体" panose="02010609030101010101" pitchFamily="49" charset="-122"/>
              </a:rPr>
              <a:t>网络信息中心）</a:t>
            </a:r>
            <a:r>
              <a:rPr lang="zh-CN" altLang="en-US">
                <a:latin typeface="新宋体" panose="02010609030101010101" pitchFamily="49" charset="-122"/>
                <a:ea typeface="新宋体" panose="02010609030101010101" pitchFamily="49" charset="-122"/>
              </a:rPr>
              <a:t>统一的管理</a:t>
            </a:r>
          </a:p>
          <a:p>
            <a:pPr eaLnBrk="1" hangingPunct="1">
              <a:spcBef>
                <a:spcPct val="10000"/>
              </a:spcBef>
            </a:pPr>
            <a:r>
              <a:rPr lang="en-US" altLang="zh-CN">
                <a:latin typeface="新宋体" panose="02010609030101010101" pitchFamily="49" charset="-122"/>
                <a:ea typeface="新宋体" panose="02010609030101010101" pitchFamily="49" charset="-122"/>
              </a:rPr>
              <a:t>IP </a:t>
            </a:r>
            <a:r>
              <a:rPr lang="zh-CN" altLang="en-US">
                <a:latin typeface="新宋体" panose="02010609030101010101" pitchFamily="49" charset="-122"/>
                <a:ea typeface="新宋体" panose="02010609030101010101" pitchFamily="49" charset="-122"/>
              </a:rPr>
              <a:t>地址在网络层上屏蔽了异种网络之间物理地址等特性的差异，利于网间通信的实现</a:t>
            </a:r>
          </a:p>
        </p:txBody>
      </p:sp>
      <p:sp>
        <p:nvSpPr>
          <p:cNvPr id="11267" name="Rectangle 4"/>
          <p:cNvSpPr>
            <a:spLocks noGrp="1" noChangeArrowheads="1"/>
          </p:cNvSpPr>
          <p:nvPr>
            <p:ph type="title"/>
          </p:nvPr>
        </p:nvSpPr>
        <p:spPr bwMode="auto">
          <a:xfrm>
            <a:off x="226853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地址的引入</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10051">
                                            <p:txEl>
                                              <p:pRg st="0" end="0"/>
                                            </p:txEl>
                                          </p:spTgt>
                                        </p:tgtEl>
                                        <p:attrNameLst>
                                          <p:attrName>style.visibility</p:attrName>
                                        </p:attrNameLst>
                                      </p:cBhvr>
                                      <p:to>
                                        <p:strVal val="visible"/>
                                      </p:to>
                                    </p:set>
                                    <p:anim calcmode="lin" valueType="num">
                                      <p:cBhvr additive="base">
                                        <p:cTn id="7" dur="500" fill="hold"/>
                                        <p:tgtEl>
                                          <p:spTgt spid="1410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100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10051">
                                            <p:txEl>
                                              <p:pRg st="1" end="1"/>
                                            </p:txEl>
                                          </p:spTgt>
                                        </p:tgtEl>
                                        <p:attrNameLst>
                                          <p:attrName>style.visibility</p:attrName>
                                        </p:attrNameLst>
                                      </p:cBhvr>
                                      <p:to>
                                        <p:strVal val="visible"/>
                                      </p:to>
                                    </p:set>
                                    <p:anim calcmode="lin" valueType="num">
                                      <p:cBhvr additive="base">
                                        <p:cTn id="11" dur="500" fill="hold"/>
                                        <p:tgtEl>
                                          <p:spTgt spid="141005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1005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410051">
                                            <p:txEl>
                                              <p:pRg st="2" end="2"/>
                                            </p:txEl>
                                          </p:spTgt>
                                        </p:tgtEl>
                                        <p:attrNameLst>
                                          <p:attrName>style.visibility</p:attrName>
                                        </p:attrNameLst>
                                      </p:cBhvr>
                                      <p:to>
                                        <p:strVal val="visible"/>
                                      </p:to>
                                    </p:set>
                                    <p:anim calcmode="lin" valueType="num">
                                      <p:cBhvr additive="base">
                                        <p:cTn id="15" dur="500" fill="hold"/>
                                        <p:tgtEl>
                                          <p:spTgt spid="141005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41005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410051">
                                            <p:txEl>
                                              <p:pRg st="3" end="3"/>
                                            </p:txEl>
                                          </p:spTgt>
                                        </p:tgtEl>
                                        <p:attrNameLst>
                                          <p:attrName>style.visibility</p:attrName>
                                        </p:attrNameLst>
                                      </p:cBhvr>
                                      <p:to>
                                        <p:strVal val="visible"/>
                                      </p:to>
                                    </p:set>
                                    <p:anim calcmode="lin" valueType="num">
                                      <p:cBhvr additive="base">
                                        <p:cTn id="19" dur="500" fill="hold"/>
                                        <p:tgtEl>
                                          <p:spTgt spid="141005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10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410051">
                                            <p:txEl>
                                              <p:pRg st="4" end="4"/>
                                            </p:txEl>
                                          </p:spTgt>
                                        </p:tgtEl>
                                        <p:attrNameLst>
                                          <p:attrName>style.visibility</p:attrName>
                                        </p:attrNameLst>
                                      </p:cBhvr>
                                      <p:to>
                                        <p:strVal val="visible"/>
                                      </p:to>
                                    </p:set>
                                    <p:anim calcmode="lin" valueType="num">
                                      <p:cBhvr additive="base">
                                        <p:cTn id="25" dur="500" fill="hold"/>
                                        <p:tgtEl>
                                          <p:spTgt spid="141005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1005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10051">
                                            <p:txEl>
                                              <p:pRg st="5" end="5"/>
                                            </p:txEl>
                                          </p:spTgt>
                                        </p:tgtEl>
                                        <p:attrNameLst>
                                          <p:attrName>style.visibility</p:attrName>
                                        </p:attrNameLst>
                                      </p:cBhvr>
                                      <p:to>
                                        <p:strVal val="visible"/>
                                      </p:to>
                                    </p:set>
                                    <p:anim calcmode="lin" valueType="num">
                                      <p:cBhvr additive="base">
                                        <p:cTn id="29" dur="500" fill="hold"/>
                                        <p:tgtEl>
                                          <p:spTgt spid="141005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10051">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410051">
                                            <p:txEl>
                                              <p:pRg st="6" end="6"/>
                                            </p:txEl>
                                          </p:spTgt>
                                        </p:tgtEl>
                                        <p:attrNameLst>
                                          <p:attrName>style.visibility</p:attrName>
                                        </p:attrNameLst>
                                      </p:cBhvr>
                                      <p:to>
                                        <p:strVal val="visible"/>
                                      </p:to>
                                    </p:set>
                                    <p:anim calcmode="lin" valueType="num">
                                      <p:cBhvr additive="base">
                                        <p:cTn id="33" dur="500" fill="hold"/>
                                        <p:tgtEl>
                                          <p:spTgt spid="141005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41005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410051">
                                            <p:txEl>
                                              <p:pRg st="7" end="7"/>
                                            </p:txEl>
                                          </p:spTgt>
                                        </p:tgtEl>
                                        <p:attrNameLst>
                                          <p:attrName>style.visibility</p:attrName>
                                        </p:attrNameLst>
                                      </p:cBhvr>
                                      <p:to>
                                        <p:strVal val="visible"/>
                                      </p:to>
                                    </p:set>
                                    <p:anim calcmode="lin" valueType="num">
                                      <p:cBhvr additive="base">
                                        <p:cTn id="39" dur="500" fill="hold"/>
                                        <p:tgtEl>
                                          <p:spTgt spid="1410051">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41005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1410051">
                                            <p:txEl>
                                              <p:pRg st="8" end="8"/>
                                            </p:txEl>
                                          </p:spTgt>
                                        </p:tgtEl>
                                        <p:attrNameLst>
                                          <p:attrName>style.visibility</p:attrName>
                                        </p:attrNameLst>
                                      </p:cBhvr>
                                      <p:to>
                                        <p:strVal val="visible"/>
                                      </p:to>
                                    </p:set>
                                    <p:anim calcmode="lin" valueType="num">
                                      <p:cBhvr additive="base">
                                        <p:cTn id="45" dur="500" fill="hold"/>
                                        <p:tgtEl>
                                          <p:spTgt spid="1410051">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41005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0051"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2800">
                <a:solidFill>
                  <a:schemeClr val="hlink"/>
                </a:solidFill>
                <a:ea typeface="华文行楷" panose="02010800040101010101" pitchFamily="2" charset="-122"/>
              </a:rPr>
              <a:t>通过</a:t>
            </a:r>
            <a:r>
              <a:rPr lang="en-US" altLang="zh-CN" sz="2800">
                <a:solidFill>
                  <a:schemeClr val="hlink"/>
                </a:solidFill>
                <a:ea typeface="华文行楷" panose="02010800040101010101" pitchFamily="2" charset="-122"/>
              </a:rPr>
              <a:t>IP</a:t>
            </a:r>
            <a:r>
              <a:rPr lang="zh-CN" altLang="en-US" sz="2800">
                <a:solidFill>
                  <a:schemeClr val="hlink"/>
                </a:solidFill>
                <a:ea typeface="华文行楷" panose="02010800040101010101" pitchFamily="2" charset="-122"/>
              </a:rPr>
              <a:t>地址屏蔽物理网络之间的差异</a:t>
            </a:r>
          </a:p>
        </p:txBody>
      </p:sp>
      <p:grpSp>
        <p:nvGrpSpPr>
          <p:cNvPr id="13315" name="Group 4"/>
          <p:cNvGrpSpPr>
            <a:grpSpLocks/>
          </p:cNvGrpSpPr>
          <p:nvPr/>
        </p:nvGrpSpPr>
        <p:grpSpPr bwMode="auto">
          <a:xfrm>
            <a:off x="4252914" y="1730376"/>
            <a:ext cx="4014787" cy="3730625"/>
            <a:chOff x="3600" y="10800"/>
            <a:chExt cx="3105" cy="3272"/>
          </a:xfrm>
        </p:grpSpPr>
        <p:sp>
          <p:nvSpPr>
            <p:cNvPr id="13316" name="Text Box 5"/>
            <p:cNvSpPr txBox="1">
              <a:spLocks noChangeArrowheads="1"/>
            </p:cNvSpPr>
            <p:nvPr/>
          </p:nvSpPr>
          <p:spPr bwMode="auto">
            <a:xfrm>
              <a:off x="5265" y="11102"/>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IP</a:t>
              </a:r>
              <a:r>
                <a:rPr lang="zh-CN" altLang="en-US" sz="2400">
                  <a:solidFill>
                    <a:schemeClr val="tx1"/>
                  </a:solidFill>
                </a:rPr>
                <a:t>数据报</a:t>
              </a:r>
            </a:p>
          </p:txBody>
        </p:sp>
        <p:sp>
          <p:nvSpPr>
            <p:cNvPr id="13317" name="Text Box 6"/>
            <p:cNvSpPr txBox="1">
              <a:spLocks noChangeArrowheads="1"/>
            </p:cNvSpPr>
            <p:nvPr/>
          </p:nvSpPr>
          <p:spPr bwMode="auto">
            <a:xfrm>
              <a:off x="3600" y="11732"/>
              <a:ext cx="2880" cy="468"/>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IP</a:t>
              </a:r>
            </a:p>
          </p:txBody>
        </p:sp>
        <p:sp>
          <p:nvSpPr>
            <p:cNvPr id="13318" name="Text Box 7"/>
            <p:cNvSpPr txBox="1">
              <a:spLocks noChangeArrowheads="1"/>
            </p:cNvSpPr>
            <p:nvPr/>
          </p:nvSpPr>
          <p:spPr bwMode="auto">
            <a:xfrm>
              <a:off x="360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以太网帧</a:t>
              </a:r>
            </a:p>
          </p:txBody>
        </p:sp>
        <p:sp>
          <p:nvSpPr>
            <p:cNvPr id="13319" name="Text Box 8"/>
            <p:cNvSpPr txBox="1">
              <a:spLocks noChangeArrowheads="1"/>
            </p:cNvSpPr>
            <p:nvPr/>
          </p:nvSpPr>
          <p:spPr bwMode="auto">
            <a:xfrm>
              <a:off x="432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令牌环帧</a:t>
              </a:r>
            </a:p>
          </p:txBody>
        </p:sp>
        <p:sp>
          <p:nvSpPr>
            <p:cNvPr id="13320" name="Text Box 9"/>
            <p:cNvSpPr txBox="1">
              <a:spLocks noChangeArrowheads="1"/>
            </p:cNvSpPr>
            <p:nvPr/>
          </p:nvSpPr>
          <p:spPr bwMode="auto">
            <a:xfrm>
              <a:off x="5040" y="12824"/>
              <a:ext cx="720" cy="10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en-US" altLang="zh-CN" sz="2400">
                <a:solidFill>
                  <a:schemeClr val="tx1"/>
                </a:solidFill>
              </a:endParaRPr>
            </a:p>
            <a:p>
              <a:pPr algn="ctr"/>
              <a:endParaRPr lang="en-US" altLang="zh-CN" sz="2400">
                <a:solidFill>
                  <a:schemeClr val="tx1"/>
                </a:solidFill>
              </a:endParaRPr>
            </a:p>
            <a:p>
              <a:pPr algn="ctr"/>
              <a:r>
                <a:rPr lang="zh-CN" altLang="en-US" sz="2400">
                  <a:solidFill>
                    <a:schemeClr val="tx1"/>
                  </a:solidFill>
                </a:rPr>
                <a:t>。。。</a:t>
              </a:r>
            </a:p>
          </p:txBody>
        </p:sp>
        <p:sp>
          <p:nvSpPr>
            <p:cNvPr id="13321" name="Text Box 10"/>
            <p:cNvSpPr txBox="1">
              <a:spLocks noChangeArrowheads="1"/>
            </p:cNvSpPr>
            <p:nvPr/>
          </p:nvSpPr>
          <p:spPr bwMode="auto">
            <a:xfrm>
              <a:off x="594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P</a:t>
              </a:r>
            </a:p>
            <a:p>
              <a:pPr algn="ctr"/>
              <a:r>
                <a:rPr lang="en-US" altLang="zh-CN" sz="2400">
                  <a:solidFill>
                    <a:schemeClr val="tx1"/>
                  </a:solidFill>
                </a:rPr>
                <a:t>P</a:t>
              </a:r>
            </a:p>
            <a:p>
              <a:pPr algn="ctr"/>
              <a:r>
                <a:rPr lang="en-US" altLang="zh-CN" sz="2400">
                  <a:solidFill>
                    <a:schemeClr val="tx1"/>
                  </a:solidFill>
                </a:rPr>
                <a:t>P</a:t>
              </a:r>
            </a:p>
            <a:p>
              <a:pPr algn="ctr"/>
              <a:r>
                <a:rPr lang="zh-CN" altLang="en-US" sz="2400">
                  <a:solidFill>
                    <a:schemeClr val="tx1"/>
                  </a:solidFill>
                </a:rPr>
                <a:t>帧</a:t>
              </a:r>
            </a:p>
          </p:txBody>
        </p:sp>
        <p:sp>
          <p:nvSpPr>
            <p:cNvPr id="13322" name="AutoShape 11"/>
            <p:cNvSpPr>
              <a:spLocks noChangeArrowheads="1"/>
            </p:cNvSpPr>
            <p:nvPr/>
          </p:nvSpPr>
          <p:spPr bwMode="auto">
            <a:xfrm>
              <a:off x="378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3" name="AutoShape 12"/>
            <p:cNvSpPr>
              <a:spLocks noChangeArrowheads="1"/>
            </p:cNvSpPr>
            <p:nvPr/>
          </p:nvSpPr>
          <p:spPr bwMode="auto">
            <a:xfrm>
              <a:off x="450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4" name="AutoShape 13"/>
            <p:cNvSpPr>
              <a:spLocks noChangeArrowheads="1"/>
            </p:cNvSpPr>
            <p:nvPr/>
          </p:nvSpPr>
          <p:spPr bwMode="auto">
            <a:xfrm>
              <a:off x="612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5" name="AutoShape 14"/>
            <p:cNvSpPr>
              <a:spLocks noChangeArrowheads="1"/>
            </p:cNvSpPr>
            <p:nvPr/>
          </p:nvSpPr>
          <p:spPr bwMode="auto">
            <a:xfrm>
              <a:off x="5040" y="10800"/>
              <a:ext cx="180" cy="936"/>
            </a:xfrm>
            <a:prstGeom prst="upArrow">
              <a:avLst>
                <a:gd name="adj1" fmla="val 50000"/>
                <a:gd name="adj2" fmla="val 130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00250" y="1541463"/>
            <a:ext cx="8229600" cy="4419600"/>
            <a:chOff x="288" y="1056"/>
            <a:chExt cx="5184" cy="2784"/>
          </a:xfrm>
        </p:grpSpPr>
        <p:sp>
          <p:nvSpPr>
            <p:cNvPr id="14357" name="Rectangle 4"/>
            <p:cNvSpPr>
              <a:spLocks noChangeArrowheads="1"/>
            </p:cNvSpPr>
            <p:nvPr/>
          </p:nvSpPr>
          <p:spPr bwMode="auto">
            <a:xfrm>
              <a:off x="288" y="1056"/>
              <a:ext cx="5184" cy="2784"/>
            </a:xfrm>
            <a:prstGeom prst="rect">
              <a:avLst/>
            </a:prstGeom>
            <a:solidFill>
              <a:srgbClr val="000066"/>
            </a:solidFill>
            <a:ln w="9525">
              <a:solidFill>
                <a:srgbClr val="FFFFFF"/>
              </a:solidFill>
              <a:miter lim="800000"/>
              <a:headEnd/>
              <a:tailEnd/>
            </a:ln>
            <a:effectLst>
              <a:outerShdw dist="233487" dir="2700000" algn="ctr" rotWithShape="0">
                <a:srgbClr val="000066">
                  <a:alpha val="50000"/>
                </a:srgbClr>
              </a:outerShdw>
            </a:effec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358" name="Rectangle 5"/>
            <p:cNvSpPr>
              <a:spLocks noChangeArrowheads="1"/>
            </p:cNvSpPr>
            <p:nvPr/>
          </p:nvSpPr>
          <p:spPr bwMode="auto">
            <a:xfrm>
              <a:off x="1344" y="1296"/>
              <a:ext cx="624"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Internet</a:t>
              </a:r>
            </a:p>
          </p:txBody>
        </p:sp>
        <p:sp>
          <p:nvSpPr>
            <p:cNvPr id="14359" name="Rectangle 6"/>
            <p:cNvSpPr>
              <a:spLocks noChangeArrowheads="1"/>
            </p:cNvSpPr>
            <p:nvPr/>
          </p:nvSpPr>
          <p:spPr bwMode="auto">
            <a:xfrm>
              <a:off x="912" y="1872"/>
              <a:ext cx="528"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60" name="Line 7"/>
            <p:cNvSpPr>
              <a:spLocks noChangeShapeType="1"/>
            </p:cNvSpPr>
            <p:nvPr/>
          </p:nvSpPr>
          <p:spPr bwMode="auto">
            <a:xfrm>
              <a:off x="1776" y="1536"/>
              <a:ext cx="528" cy="52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1" name="Rectangle 8"/>
            <p:cNvSpPr>
              <a:spLocks noChangeArrowheads="1"/>
            </p:cNvSpPr>
            <p:nvPr/>
          </p:nvSpPr>
          <p:spPr bwMode="auto">
            <a:xfrm>
              <a:off x="480" y="3552"/>
              <a:ext cx="2064" cy="288"/>
            </a:xfrm>
            <a:prstGeom prst="rect">
              <a:avLst/>
            </a:prstGeom>
            <a:noFill/>
            <a:ln w="1905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Internet</a:t>
              </a:r>
              <a:r>
                <a:rPr kumimoji="1" lang="zh-CN" altLang="en-US">
                  <a:solidFill>
                    <a:schemeClr val="bg1"/>
                  </a:solidFill>
                  <a:ea typeface="华文新魏" panose="02010800040101010101" pitchFamily="2" charset="-122"/>
                </a:rPr>
                <a:t>的概念层次</a:t>
              </a:r>
            </a:p>
          </p:txBody>
        </p:sp>
        <p:sp>
          <p:nvSpPr>
            <p:cNvPr id="14362" name="Rectangle 9"/>
            <p:cNvSpPr>
              <a:spLocks noChangeArrowheads="1"/>
            </p:cNvSpPr>
            <p:nvPr/>
          </p:nvSpPr>
          <p:spPr bwMode="auto">
            <a:xfrm>
              <a:off x="2016" y="2064"/>
              <a:ext cx="528"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63" name="Oval 10"/>
            <p:cNvSpPr>
              <a:spLocks noChangeArrowheads="1"/>
            </p:cNvSpPr>
            <p:nvPr/>
          </p:nvSpPr>
          <p:spPr bwMode="auto">
            <a:xfrm>
              <a:off x="2352"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4" name="Oval 11"/>
            <p:cNvSpPr>
              <a:spLocks noChangeArrowheads="1"/>
            </p:cNvSpPr>
            <p:nvPr/>
          </p:nvSpPr>
          <p:spPr bwMode="auto">
            <a:xfrm>
              <a:off x="129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5" name="Oval 12"/>
            <p:cNvSpPr>
              <a:spLocks noChangeArrowheads="1"/>
            </p:cNvSpPr>
            <p:nvPr/>
          </p:nvSpPr>
          <p:spPr bwMode="auto">
            <a:xfrm>
              <a:off x="1872"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6" name="Oval 13"/>
            <p:cNvSpPr>
              <a:spLocks noChangeArrowheads="1"/>
            </p:cNvSpPr>
            <p:nvPr/>
          </p:nvSpPr>
          <p:spPr bwMode="auto">
            <a:xfrm>
              <a:off x="81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7" name="Line 14"/>
            <p:cNvSpPr>
              <a:spLocks noChangeShapeType="1"/>
            </p:cNvSpPr>
            <p:nvPr/>
          </p:nvSpPr>
          <p:spPr bwMode="auto">
            <a:xfrm>
              <a:off x="2352" y="2304"/>
              <a:ext cx="240" cy="72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8" name="Line 15"/>
            <p:cNvSpPr>
              <a:spLocks noChangeShapeType="1"/>
            </p:cNvSpPr>
            <p:nvPr/>
          </p:nvSpPr>
          <p:spPr bwMode="auto">
            <a:xfrm flipH="1">
              <a:off x="2112" y="2304"/>
              <a:ext cx="48" cy="72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9" name="Line 16"/>
            <p:cNvSpPr>
              <a:spLocks noChangeShapeType="1"/>
            </p:cNvSpPr>
            <p:nvPr/>
          </p:nvSpPr>
          <p:spPr bwMode="auto">
            <a:xfrm flipH="1">
              <a:off x="1056" y="2112"/>
              <a:ext cx="96" cy="91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0" name="Line 17"/>
            <p:cNvSpPr>
              <a:spLocks noChangeShapeType="1"/>
            </p:cNvSpPr>
            <p:nvPr/>
          </p:nvSpPr>
          <p:spPr bwMode="auto">
            <a:xfrm>
              <a:off x="1296" y="2112"/>
              <a:ext cx="192" cy="91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1" name="Line 18"/>
            <p:cNvSpPr>
              <a:spLocks noChangeShapeType="1"/>
            </p:cNvSpPr>
            <p:nvPr/>
          </p:nvSpPr>
          <p:spPr bwMode="auto">
            <a:xfrm flipH="1">
              <a:off x="1200" y="1536"/>
              <a:ext cx="336" cy="336"/>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9"/>
          <p:cNvGrpSpPr>
            <a:grpSpLocks/>
          </p:cNvGrpSpPr>
          <p:nvPr/>
        </p:nvGrpSpPr>
        <p:grpSpPr bwMode="auto">
          <a:xfrm>
            <a:off x="2076450" y="3379788"/>
            <a:ext cx="6629400" cy="2133600"/>
            <a:chOff x="336" y="2112"/>
            <a:chExt cx="4176" cy="1344"/>
          </a:xfrm>
        </p:grpSpPr>
        <p:grpSp>
          <p:nvGrpSpPr>
            <p:cNvPr id="14347" name="Group 20"/>
            <p:cNvGrpSpPr>
              <a:grpSpLocks/>
            </p:cNvGrpSpPr>
            <p:nvPr/>
          </p:nvGrpSpPr>
          <p:grpSpPr bwMode="auto">
            <a:xfrm>
              <a:off x="336" y="2112"/>
              <a:ext cx="720" cy="1344"/>
              <a:chOff x="336" y="2112"/>
              <a:chExt cx="720" cy="1344"/>
            </a:xfrm>
          </p:grpSpPr>
          <p:sp>
            <p:nvSpPr>
              <p:cNvPr id="14353" name="Line 21"/>
              <p:cNvSpPr>
                <a:spLocks noChangeShapeType="1"/>
              </p:cNvSpPr>
              <p:nvPr/>
            </p:nvSpPr>
            <p:spPr bwMode="auto">
              <a:xfrm flipH="1">
                <a:off x="576" y="2736"/>
                <a:ext cx="48" cy="28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4" name="Line 22"/>
              <p:cNvSpPr>
                <a:spLocks noChangeShapeType="1"/>
              </p:cNvSpPr>
              <p:nvPr/>
            </p:nvSpPr>
            <p:spPr bwMode="auto">
              <a:xfrm flipV="1">
                <a:off x="672" y="2112"/>
                <a:ext cx="384" cy="384"/>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5" name="Rectangle 23"/>
              <p:cNvSpPr>
                <a:spLocks noChangeArrowheads="1"/>
              </p:cNvSpPr>
              <p:nvPr/>
            </p:nvSpPr>
            <p:spPr bwMode="auto">
              <a:xfrm>
                <a:off x="432" y="2496"/>
                <a:ext cx="432"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子网</a:t>
                </a:r>
              </a:p>
            </p:txBody>
          </p:sp>
          <p:sp>
            <p:nvSpPr>
              <p:cNvPr id="14356" name="Oval 24"/>
              <p:cNvSpPr>
                <a:spLocks noChangeArrowheads="1"/>
              </p:cNvSpPr>
              <p:nvPr/>
            </p:nvSpPr>
            <p:spPr bwMode="auto">
              <a:xfrm>
                <a:off x="33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grpSp>
        <p:grpSp>
          <p:nvGrpSpPr>
            <p:cNvPr id="14348" name="Group 25"/>
            <p:cNvGrpSpPr>
              <a:grpSpLocks/>
            </p:cNvGrpSpPr>
            <p:nvPr/>
          </p:nvGrpSpPr>
          <p:grpSpPr bwMode="auto">
            <a:xfrm>
              <a:off x="3456" y="2160"/>
              <a:ext cx="1056" cy="672"/>
              <a:chOff x="3456" y="2160"/>
              <a:chExt cx="1056" cy="672"/>
            </a:xfrm>
          </p:grpSpPr>
          <p:sp>
            <p:nvSpPr>
              <p:cNvPr id="14349" name="Rectangle 26"/>
              <p:cNvSpPr>
                <a:spLocks noChangeArrowheads="1"/>
              </p:cNvSpPr>
              <p:nvPr/>
            </p:nvSpPr>
            <p:spPr bwMode="auto">
              <a:xfrm>
                <a:off x="3456" y="2448"/>
                <a:ext cx="624" cy="384"/>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50" name="Rectangle 27"/>
              <p:cNvSpPr>
                <a:spLocks noChangeArrowheads="1"/>
              </p:cNvSpPr>
              <p:nvPr/>
            </p:nvSpPr>
            <p:spPr bwMode="auto">
              <a:xfrm>
                <a:off x="4080" y="2448"/>
                <a:ext cx="432" cy="384"/>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子网</a:t>
                </a:r>
              </a:p>
            </p:txBody>
          </p:sp>
          <p:sp>
            <p:nvSpPr>
              <p:cNvPr id="14351" name="Line 28"/>
              <p:cNvSpPr>
                <a:spLocks noChangeShapeType="1"/>
              </p:cNvSpPr>
              <p:nvPr/>
            </p:nvSpPr>
            <p:spPr bwMode="auto">
              <a:xfrm>
                <a:off x="3456" y="2160"/>
                <a:ext cx="0" cy="288"/>
              </a:xfrm>
              <a:prstGeom prst="line">
                <a:avLst/>
              </a:prstGeom>
              <a:noFill/>
              <a:ln w="1905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Line 29"/>
              <p:cNvSpPr>
                <a:spLocks noChangeShapeType="1"/>
              </p:cNvSpPr>
              <p:nvPr/>
            </p:nvSpPr>
            <p:spPr bwMode="auto">
              <a:xfrm>
                <a:off x="4512" y="2160"/>
                <a:ext cx="0" cy="288"/>
              </a:xfrm>
              <a:prstGeom prst="line">
                <a:avLst/>
              </a:prstGeom>
              <a:noFill/>
              <a:ln w="1905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 name="Group 30"/>
          <p:cNvGrpSpPr>
            <a:grpSpLocks/>
          </p:cNvGrpSpPr>
          <p:nvPr/>
        </p:nvGrpSpPr>
        <p:grpSpPr bwMode="auto">
          <a:xfrm>
            <a:off x="6858000" y="2819400"/>
            <a:ext cx="3276600" cy="2743200"/>
            <a:chOff x="3360" y="1776"/>
            <a:chExt cx="2064" cy="1728"/>
          </a:xfrm>
        </p:grpSpPr>
        <p:sp>
          <p:nvSpPr>
            <p:cNvPr id="14344" name="Rectangle 31"/>
            <p:cNvSpPr>
              <a:spLocks noChangeArrowheads="1"/>
            </p:cNvSpPr>
            <p:nvPr/>
          </p:nvSpPr>
          <p:spPr bwMode="auto">
            <a:xfrm>
              <a:off x="3456" y="1776"/>
              <a:ext cx="1056" cy="384"/>
            </a:xfrm>
            <a:prstGeom prst="rect">
              <a:avLst/>
            </a:prstGeom>
            <a:solidFill>
              <a:srgbClr val="0000CC"/>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网络号</a:t>
              </a:r>
            </a:p>
          </p:txBody>
        </p:sp>
        <p:sp>
          <p:nvSpPr>
            <p:cNvPr id="14345" name="Rectangle 32"/>
            <p:cNvSpPr>
              <a:spLocks noChangeArrowheads="1"/>
            </p:cNvSpPr>
            <p:nvPr/>
          </p:nvSpPr>
          <p:spPr bwMode="auto">
            <a:xfrm>
              <a:off x="4512" y="1776"/>
              <a:ext cx="720" cy="384"/>
            </a:xfrm>
            <a:prstGeom prst="rect">
              <a:avLst/>
            </a:prstGeom>
            <a:solidFill>
              <a:srgbClr val="FF0066"/>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主机号</a:t>
              </a:r>
            </a:p>
          </p:txBody>
        </p:sp>
        <p:sp>
          <p:nvSpPr>
            <p:cNvPr id="14346" name="Rectangle 33"/>
            <p:cNvSpPr>
              <a:spLocks noChangeArrowheads="1"/>
            </p:cNvSpPr>
            <p:nvPr/>
          </p:nvSpPr>
          <p:spPr bwMode="auto">
            <a:xfrm>
              <a:off x="3360" y="3216"/>
              <a:ext cx="20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IP</a:t>
              </a:r>
              <a:r>
                <a:rPr kumimoji="1" lang="en-US" altLang="zh-CN">
                  <a:solidFill>
                    <a:schemeClr val="tx2"/>
                  </a:solidFill>
                  <a:ea typeface="华文新魏" panose="02010800040101010101" pitchFamily="2" charset="-122"/>
                </a:rPr>
                <a:t> </a:t>
              </a:r>
              <a:r>
                <a:rPr kumimoji="1" lang="zh-CN" altLang="en-US">
                  <a:solidFill>
                    <a:schemeClr val="bg1"/>
                  </a:solidFill>
                  <a:ea typeface="华文新魏" panose="02010800040101010101" pitchFamily="2" charset="-122"/>
                </a:rPr>
                <a:t>地址的概念结构</a:t>
              </a:r>
            </a:p>
          </p:txBody>
        </p:sp>
      </p:grpSp>
      <p:sp>
        <p:nvSpPr>
          <p:cNvPr id="14341" name="Text Box 34"/>
          <p:cNvSpPr txBox="1">
            <a:spLocks noChangeArrowheads="1"/>
          </p:cNvSpPr>
          <p:nvPr/>
        </p:nvSpPr>
        <p:spPr bwMode="auto">
          <a:xfrm>
            <a:off x="2197100" y="6184901"/>
            <a:ext cx="7824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a:solidFill>
                  <a:schemeClr val="folHlink"/>
                </a:solidFill>
                <a:ea typeface="楷体_GB2312" pitchFamily="49" charset="-122"/>
              </a:rPr>
              <a:t>网间网在概念上分为</a:t>
            </a:r>
            <a:r>
              <a:rPr kumimoji="1" lang="zh-CN" altLang="en-US">
                <a:solidFill>
                  <a:srgbClr val="FF0000"/>
                </a:solidFill>
                <a:ea typeface="楷体_GB2312" pitchFamily="49" charset="-122"/>
              </a:rPr>
              <a:t>三个层次</a:t>
            </a:r>
            <a:r>
              <a:rPr kumimoji="1" lang="zh-CN" altLang="en-US" b="1">
                <a:solidFill>
                  <a:schemeClr val="folHlink"/>
                </a:solidFill>
                <a:latin typeface="Verdana" panose="020B0604030504040204" pitchFamily="34" charset="0"/>
                <a:ea typeface="隶书" panose="02010509060101010101" pitchFamily="49" charset="-122"/>
              </a:rPr>
              <a:t> </a:t>
            </a:r>
          </a:p>
        </p:txBody>
      </p:sp>
      <p:sp>
        <p:nvSpPr>
          <p:cNvPr id="14342" name="Rectangle 35"/>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网间网层次结构</a:t>
            </a:r>
          </a:p>
        </p:txBody>
      </p:sp>
      <p:sp>
        <p:nvSpPr>
          <p:cNvPr id="1412132" name="Text Box 36"/>
          <p:cNvSpPr txBox="1">
            <a:spLocks noChangeArrowheads="1"/>
          </p:cNvSpPr>
          <p:nvPr/>
        </p:nvSpPr>
        <p:spPr bwMode="auto">
          <a:xfrm>
            <a:off x="6145214" y="1952626"/>
            <a:ext cx="3781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folHlink"/>
                </a:solidFill>
              </a:rPr>
              <a:t>一个网间网地址必须指明两点</a:t>
            </a:r>
            <a:r>
              <a:rPr lang="en-US" altLang="zh-CN" sz="2400">
                <a:solidFill>
                  <a:schemeClr val="folHlink"/>
                </a:solidFill>
              </a:rPr>
              <a:t>:</a:t>
            </a:r>
            <a:r>
              <a:rPr lang="en-US" altLang="zh-CN" sz="2400">
                <a:solidFill>
                  <a:srgbClr val="008000"/>
                </a:solid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12132">
                                            <p:txEl>
                                              <p:pRg st="0" end="0"/>
                                            </p:txEl>
                                          </p:spTgt>
                                        </p:tgtEl>
                                        <p:attrNameLst>
                                          <p:attrName>style.visibility</p:attrName>
                                        </p:attrNameLst>
                                      </p:cBhvr>
                                      <p:to>
                                        <p:strVal val="visible"/>
                                      </p:to>
                                    </p:set>
                                    <p:anim calcmode="lin" valueType="num">
                                      <p:cBhvr additive="base">
                                        <p:cTn id="12" dur="500" fill="hold"/>
                                        <p:tgtEl>
                                          <p:spTgt spid="1412132">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12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2132"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bwMode="auto">
          <a:xfrm>
            <a:off x="2222500" y="1393825"/>
            <a:ext cx="7772400" cy="8016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25000" lnSpcReduction="20000"/>
          </a:bodyPr>
          <a:lstStyle/>
          <a:p>
            <a:pPr eaLnBrk="1" hangingPunct="1">
              <a:lnSpc>
                <a:spcPct val="90000"/>
              </a:lnSpc>
            </a:pPr>
            <a:r>
              <a:rPr lang="zh-CN" altLang="en-US"/>
              <a:t>单播地址</a:t>
            </a:r>
            <a:r>
              <a:rPr lang="en-US" altLang="zh-CN"/>
              <a:t>:</a:t>
            </a:r>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en-US" altLang="zh-CN"/>
              <a:t>Note:</a:t>
            </a:r>
            <a:r>
              <a:rPr lang="zh-CN" altLang="en-US"/>
              <a:t>非单播地址始于 </a:t>
            </a:r>
            <a:r>
              <a:rPr lang="en-US" altLang="zh-CN"/>
              <a:t>111 (i.e., </a:t>
            </a:r>
            <a:r>
              <a:rPr lang="zh-CN" altLang="en-US"/>
              <a:t>第一字节大于等于 </a:t>
            </a:r>
            <a:r>
              <a:rPr lang="en-US" altLang="zh-CN"/>
              <a:t>224)</a:t>
            </a:r>
          </a:p>
        </p:txBody>
      </p:sp>
      <p:sp>
        <p:nvSpPr>
          <p:cNvPr id="16387" name="Rectangle 3"/>
          <p:cNvSpPr>
            <a:spLocks noChangeArrowheads="1"/>
          </p:cNvSpPr>
          <p:nvPr/>
        </p:nvSpPr>
        <p:spPr bwMode="auto">
          <a:xfrm>
            <a:off x="2908300" y="23844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388" name="Rectangle 4"/>
          <p:cNvSpPr>
            <a:spLocks noChangeArrowheads="1"/>
          </p:cNvSpPr>
          <p:nvPr/>
        </p:nvSpPr>
        <p:spPr bwMode="auto">
          <a:xfrm>
            <a:off x="3213100" y="2384425"/>
            <a:ext cx="12192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389" name="Rectangle 5"/>
          <p:cNvSpPr>
            <a:spLocks noChangeArrowheads="1"/>
          </p:cNvSpPr>
          <p:nvPr/>
        </p:nvSpPr>
        <p:spPr bwMode="auto">
          <a:xfrm>
            <a:off x="4432300" y="2384425"/>
            <a:ext cx="37338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390" name="Text Box 6"/>
          <p:cNvSpPr txBox="1">
            <a:spLocks noChangeArrowheads="1"/>
          </p:cNvSpPr>
          <p:nvPr/>
        </p:nvSpPr>
        <p:spPr bwMode="auto">
          <a:xfrm>
            <a:off x="2908300" y="2079625"/>
            <a:ext cx="3613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1          7                                     24</a:t>
            </a:r>
          </a:p>
        </p:txBody>
      </p:sp>
      <p:sp>
        <p:nvSpPr>
          <p:cNvPr id="16391" name="Text Box 7"/>
          <p:cNvSpPr txBox="1">
            <a:spLocks noChangeArrowheads="1"/>
          </p:cNvSpPr>
          <p:nvPr/>
        </p:nvSpPr>
        <p:spPr bwMode="auto">
          <a:xfrm>
            <a:off x="8361219" y="2384426"/>
            <a:ext cx="213013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A 1-127</a:t>
            </a:r>
          </a:p>
        </p:txBody>
      </p:sp>
      <p:sp>
        <p:nvSpPr>
          <p:cNvPr id="16392" name="Rectangle 8"/>
          <p:cNvSpPr>
            <a:spLocks noChangeArrowheads="1"/>
          </p:cNvSpPr>
          <p:nvPr/>
        </p:nvSpPr>
        <p:spPr bwMode="auto">
          <a:xfrm>
            <a:off x="2908300" y="34512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393" name="Rectangle 9"/>
          <p:cNvSpPr>
            <a:spLocks noChangeArrowheads="1"/>
          </p:cNvSpPr>
          <p:nvPr/>
        </p:nvSpPr>
        <p:spPr bwMode="auto">
          <a:xfrm>
            <a:off x="3517900" y="3451225"/>
            <a:ext cx="22098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394" name="Rectangle 10"/>
          <p:cNvSpPr>
            <a:spLocks noChangeArrowheads="1"/>
          </p:cNvSpPr>
          <p:nvPr/>
        </p:nvSpPr>
        <p:spPr bwMode="auto">
          <a:xfrm>
            <a:off x="5727700" y="3451225"/>
            <a:ext cx="24384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395" name="Rectangle 11"/>
          <p:cNvSpPr>
            <a:spLocks noChangeArrowheads="1"/>
          </p:cNvSpPr>
          <p:nvPr/>
        </p:nvSpPr>
        <p:spPr bwMode="auto">
          <a:xfrm>
            <a:off x="3213100" y="34512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396" name="Text Box 12"/>
          <p:cNvSpPr txBox="1">
            <a:spLocks noChangeArrowheads="1"/>
          </p:cNvSpPr>
          <p:nvPr/>
        </p:nvSpPr>
        <p:spPr bwMode="auto">
          <a:xfrm>
            <a:off x="2908300" y="3146425"/>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1   1                 14                                 16</a:t>
            </a:r>
          </a:p>
        </p:txBody>
      </p:sp>
      <p:sp>
        <p:nvSpPr>
          <p:cNvPr id="16397" name="Text Box 13"/>
          <p:cNvSpPr txBox="1">
            <a:spLocks noChangeArrowheads="1"/>
          </p:cNvSpPr>
          <p:nvPr/>
        </p:nvSpPr>
        <p:spPr bwMode="auto">
          <a:xfrm>
            <a:off x="8361218" y="3451225"/>
            <a:ext cx="2130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B 128-191</a:t>
            </a:r>
          </a:p>
        </p:txBody>
      </p:sp>
      <p:sp>
        <p:nvSpPr>
          <p:cNvPr id="16398" name="Rectangle 14"/>
          <p:cNvSpPr>
            <a:spLocks noChangeArrowheads="1"/>
          </p:cNvSpPr>
          <p:nvPr/>
        </p:nvSpPr>
        <p:spPr bwMode="auto">
          <a:xfrm>
            <a:off x="29083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399" name="Rectangle 15"/>
          <p:cNvSpPr>
            <a:spLocks noChangeArrowheads="1"/>
          </p:cNvSpPr>
          <p:nvPr/>
        </p:nvSpPr>
        <p:spPr bwMode="auto">
          <a:xfrm>
            <a:off x="3822700" y="4518025"/>
            <a:ext cx="30480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400" name="Rectangle 16"/>
          <p:cNvSpPr>
            <a:spLocks noChangeArrowheads="1"/>
          </p:cNvSpPr>
          <p:nvPr/>
        </p:nvSpPr>
        <p:spPr bwMode="auto">
          <a:xfrm>
            <a:off x="6870700" y="4518025"/>
            <a:ext cx="12954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401" name="Rectangle 17"/>
          <p:cNvSpPr>
            <a:spLocks noChangeArrowheads="1"/>
          </p:cNvSpPr>
          <p:nvPr/>
        </p:nvSpPr>
        <p:spPr bwMode="auto">
          <a:xfrm>
            <a:off x="32131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402" name="Text Box 18"/>
          <p:cNvSpPr txBox="1">
            <a:spLocks noChangeArrowheads="1"/>
          </p:cNvSpPr>
          <p:nvPr/>
        </p:nvSpPr>
        <p:spPr bwMode="auto">
          <a:xfrm>
            <a:off x="2908300" y="4213225"/>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1   1   1                       21                                 8</a:t>
            </a:r>
          </a:p>
        </p:txBody>
      </p:sp>
      <p:sp>
        <p:nvSpPr>
          <p:cNvPr id="16403" name="Text Box 19"/>
          <p:cNvSpPr txBox="1">
            <a:spLocks noChangeArrowheads="1"/>
          </p:cNvSpPr>
          <p:nvPr/>
        </p:nvSpPr>
        <p:spPr bwMode="auto">
          <a:xfrm>
            <a:off x="8361218" y="4558724"/>
            <a:ext cx="223404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C 192-223</a:t>
            </a:r>
          </a:p>
        </p:txBody>
      </p:sp>
      <p:sp>
        <p:nvSpPr>
          <p:cNvPr id="16404" name="Rectangle 20"/>
          <p:cNvSpPr>
            <a:spLocks noChangeArrowheads="1"/>
          </p:cNvSpPr>
          <p:nvPr/>
        </p:nvSpPr>
        <p:spPr bwMode="auto">
          <a:xfrm>
            <a:off x="35179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405" name="Rectangle 21"/>
          <p:cNvSpPr>
            <a:spLocks noGrp="1" noChangeArrowheads="1"/>
          </p:cNvSpPr>
          <p:nvPr>
            <p:ph type="title"/>
          </p:nvPr>
        </p:nvSpPr>
        <p:spPr bwMode="auto">
          <a:xfrm>
            <a:off x="2287588" y="357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地址的类型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bwMode="auto">
          <a:xfrm>
            <a:off x="2327275" y="1323975"/>
            <a:ext cx="7772400" cy="43830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多播 </a:t>
            </a:r>
            <a:r>
              <a:rPr lang="en-US" altLang="zh-CN"/>
              <a:t>( D</a:t>
            </a:r>
            <a:r>
              <a:rPr lang="zh-CN" altLang="en-US"/>
              <a:t>类</a:t>
            </a:r>
            <a:r>
              <a:rPr lang="en-US" altLang="zh-CN"/>
              <a:t>) </a:t>
            </a:r>
            <a:r>
              <a:rPr lang="zh-CN" altLang="en-US"/>
              <a:t>地址</a:t>
            </a:r>
          </a:p>
          <a:p>
            <a:pPr eaLnBrk="1" hangingPunct="1">
              <a:lnSpc>
                <a:spcPct val="90000"/>
              </a:lnSpc>
            </a:pPr>
            <a:endParaRPr lang="zh-CN" altLang="en-US"/>
          </a:p>
          <a:p>
            <a:pPr eaLnBrk="1" hangingPunct="1">
              <a:lnSpc>
                <a:spcPct val="90000"/>
              </a:lnSpc>
            </a:pPr>
            <a:endParaRPr lang="zh-CN" altLang="en-US"/>
          </a:p>
          <a:p>
            <a:pPr lvl="1" eaLnBrk="1" hangingPunct="1">
              <a:lnSpc>
                <a:spcPct val="90000"/>
              </a:lnSpc>
            </a:pPr>
            <a:r>
              <a:rPr lang="zh-CN" altLang="en-US"/>
              <a:t>分组被送到监听广播地址的所有目的地 </a:t>
            </a:r>
          </a:p>
          <a:p>
            <a:pPr lvl="1" eaLnBrk="1" hangingPunct="1">
              <a:lnSpc>
                <a:spcPct val="90000"/>
              </a:lnSpc>
            </a:pPr>
            <a:r>
              <a:rPr lang="zh-CN" altLang="en-US"/>
              <a:t> </a:t>
            </a:r>
            <a:r>
              <a:rPr lang="en-US" altLang="zh-CN"/>
              <a:t>E </a:t>
            </a:r>
            <a:r>
              <a:rPr lang="zh-CN" altLang="en-US"/>
              <a:t>类地址 </a:t>
            </a:r>
            <a:r>
              <a:rPr lang="en-US" altLang="zh-CN"/>
              <a:t>(</a:t>
            </a:r>
            <a:r>
              <a:rPr lang="zh-CN" altLang="en-US"/>
              <a:t>未用</a:t>
            </a:r>
            <a:r>
              <a:rPr lang="en-US" altLang="zh-CN"/>
              <a:t>)</a:t>
            </a:r>
          </a:p>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zh-CN" altLang="en-US"/>
              <a:t>广播地址</a:t>
            </a:r>
            <a:r>
              <a:rPr lang="en-US" altLang="zh-CN"/>
              <a:t>: 255.255.255.255</a:t>
            </a:r>
          </a:p>
        </p:txBody>
      </p:sp>
      <p:sp>
        <p:nvSpPr>
          <p:cNvPr id="17411" name="Rectangle 3"/>
          <p:cNvSpPr>
            <a:spLocks noChangeArrowheads="1"/>
          </p:cNvSpPr>
          <p:nvPr/>
        </p:nvSpPr>
        <p:spPr bwMode="auto">
          <a:xfrm>
            <a:off x="26685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2" name="Rectangle 4"/>
          <p:cNvSpPr>
            <a:spLocks noChangeArrowheads="1"/>
          </p:cNvSpPr>
          <p:nvPr/>
        </p:nvSpPr>
        <p:spPr bwMode="auto">
          <a:xfrm>
            <a:off x="3887788" y="2201863"/>
            <a:ext cx="40386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Multicast group ID</a:t>
            </a:r>
          </a:p>
        </p:txBody>
      </p:sp>
      <p:sp>
        <p:nvSpPr>
          <p:cNvPr id="17413" name="Rectangle 5"/>
          <p:cNvSpPr>
            <a:spLocks noChangeArrowheads="1"/>
          </p:cNvSpPr>
          <p:nvPr/>
        </p:nvSpPr>
        <p:spPr bwMode="auto">
          <a:xfrm>
            <a:off x="29733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4" name="Text Box 6"/>
          <p:cNvSpPr txBox="1">
            <a:spLocks noChangeArrowheads="1"/>
          </p:cNvSpPr>
          <p:nvPr/>
        </p:nvSpPr>
        <p:spPr bwMode="auto">
          <a:xfrm>
            <a:off x="2668588" y="1897063"/>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1   1   1   1                                28</a:t>
            </a:r>
          </a:p>
        </p:txBody>
      </p:sp>
      <p:sp>
        <p:nvSpPr>
          <p:cNvPr id="17415" name="Text Box 7"/>
          <p:cNvSpPr txBox="1">
            <a:spLocks noChangeArrowheads="1"/>
          </p:cNvSpPr>
          <p:nvPr/>
        </p:nvSpPr>
        <p:spPr bwMode="auto">
          <a:xfrm>
            <a:off x="8307389" y="2201864"/>
            <a:ext cx="1006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D</a:t>
            </a:r>
          </a:p>
        </p:txBody>
      </p:sp>
      <p:sp>
        <p:nvSpPr>
          <p:cNvPr id="17416" name="Rectangle 8"/>
          <p:cNvSpPr>
            <a:spLocks noChangeArrowheads="1"/>
          </p:cNvSpPr>
          <p:nvPr/>
        </p:nvSpPr>
        <p:spPr bwMode="auto">
          <a:xfrm>
            <a:off x="32781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7" name="Rectangle 9"/>
          <p:cNvSpPr>
            <a:spLocks noChangeArrowheads="1"/>
          </p:cNvSpPr>
          <p:nvPr/>
        </p:nvSpPr>
        <p:spPr bwMode="auto">
          <a:xfrm>
            <a:off x="35829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7418" name="Rectangle 10"/>
          <p:cNvSpPr>
            <a:spLocks noChangeArrowheads="1"/>
          </p:cNvSpPr>
          <p:nvPr/>
        </p:nvSpPr>
        <p:spPr bwMode="auto">
          <a:xfrm>
            <a:off x="26685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9" name="Rectangle 11"/>
          <p:cNvSpPr>
            <a:spLocks noChangeArrowheads="1"/>
          </p:cNvSpPr>
          <p:nvPr/>
        </p:nvSpPr>
        <p:spPr bwMode="auto">
          <a:xfrm>
            <a:off x="4192588" y="4335463"/>
            <a:ext cx="37338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Reserved for future use</a:t>
            </a:r>
          </a:p>
        </p:txBody>
      </p:sp>
      <p:sp>
        <p:nvSpPr>
          <p:cNvPr id="17420" name="Rectangle 12"/>
          <p:cNvSpPr>
            <a:spLocks noChangeArrowheads="1"/>
          </p:cNvSpPr>
          <p:nvPr/>
        </p:nvSpPr>
        <p:spPr bwMode="auto">
          <a:xfrm>
            <a:off x="29733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1" name="Text Box 13"/>
          <p:cNvSpPr txBox="1">
            <a:spLocks noChangeArrowheads="1"/>
          </p:cNvSpPr>
          <p:nvPr/>
        </p:nvSpPr>
        <p:spPr bwMode="auto">
          <a:xfrm>
            <a:off x="2668588" y="4030663"/>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1   1   1   1   1                            27</a:t>
            </a:r>
          </a:p>
        </p:txBody>
      </p:sp>
      <p:sp>
        <p:nvSpPr>
          <p:cNvPr id="17422" name="Text Box 14"/>
          <p:cNvSpPr txBox="1">
            <a:spLocks noChangeArrowheads="1"/>
          </p:cNvSpPr>
          <p:nvPr/>
        </p:nvSpPr>
        <p:spPr bwMode="auto">
          <a:xfrm>
            <a:off x="8307388" y="4335464"/>
            <a:ext cx="97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E</a:t>
            </a:r>
          </a:p>
        </p:txBody>
      </p:sp>
      <p:sp>
        <p:nvSpPr>
          <p:cNvPr id="17423" name="Rectangle 15"/>
          <p:cNvSpPr>
            <a:spLocks noChangeArrowheads="1"/>
          </p:cNvSpPr>
          <p:nvPr/>
        </p:nvSpPr>
        <p:spPr bwMode="auto">
          <a:xfrm>
            <a:off x="32781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4" name="Rectangle 16"/>
          <p:cNvSpPr>
            <a:spLocks noChangeArrowheads="1"/>
          </p:cNvSpPr>
          <p:nvPr/>
        </p:nvSpPr>
        <p:spPr bwMode="auto">
          <a:xfrm>
            <a:off x="38877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7425" name="Rectangle 17"/>
          <p:cNvSpPr>
            <a:spLocks noChangeArrowheads="1"/>
          </p:cNvSpPr>
          <p:nvPr/>
        </p:nvSpPr>
        <p:spPr bwMode="auto">
          <a:xfrm>
            <a:off x="35829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6" name="Rectangle 18"/>
          <p:cNvSpPr>
            <a:spLocks noGrp="1" noChangeArrowheads="1"/>
          </p:cNvSpPr>
          <p:nvPr>
            <p:ph type="title"/>
          </p:nvPr>
        </p:nvSpPr>
        <p:spPr bwMode="auto">
          <a:xfrm>
            <a:off x="2209800"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其他 </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a:t>
            </a:r>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2209800" y="396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IP</a:t>
            </a:r>
            <a:r>
              <a:rPr lang="zh-CN" altLang="en-US" sz="3600">
                <a:solidFill>
                  <a:schemeClr val="hlink"/>
                </a:solidFill>
                <a:ea typeface="华文行楷" panose="02010800040101010101" pitchFamily="2" charset="-122"/>
              </a:rPr>
              <a:t>地址范围</a:t>
            </a:r>
            <a:br>
              <a:rPr kumimoji="0" lang="zh-CN" altLang="en-US">
                <a:latin typeface="Arial" panose="020B0604020202020204" pitchFamily="34" charset="0"/>
              </a:rPr>
            </a:br>
            <a:endParaRPr kumimoji="0" lang="zh-CN" altLang="en-US" b="1">
              <a:latin typeface="Times New Roman" panose="02020603050405020304" pitchFamily="18" charset="0"/>
            </a:endParaRPr>
          </a:p>
        </p:txBody>
      </p:sp>
      <p:sp>
        <p:nvSpPr>
          <p:cNvPr id="1848324" name="Text Box 4"/>
          <p:cNvSpPr txBox="1">
            <a:spLocks noChangeArrowheads="1"/>
          </p:cNvSpPr>
          <p:nvPr/>
        </p:nvSpPr>
        <p:spPr bwMode="auto">
          <a:xfrm>
            <a:off x="2897189" y="1304926"/>
            <a:ext cx="6618287"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10000"/>
              </a:spcBef>
            </a:pP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总共有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32</a:t>
            </a:r>
            <a:r>
              <a:rPr lang="en-US" altLang="zh-CN" sz="2600" i="1">
                <a:solidFill>
                  <a:srgbClr val="0000FF"/>
                </a:solidFill>
                <a:latin typeface="Arial" panose="020B0604020202020204" pitchFamily="34" charset="0"/>
              </a:rPr>
              <a:t> = 4,294,967,296  </a:t>
            </a:r>
            <a:r>
              <a:rPr lang="zh-CN" altLang="en-US" sz="2600" i="1">
                <a:solidFill>
                  <a:srgbClr val="0000FF"/>
                </a:solidFill>
                <a:latin typeface="Arial" panose="020B0604020202020204" pitchFamily="34" charset="0"/>
              </a:rPr>
              <a:t>个</a:t>
            </a:r>
            <a:r>
              <a:rPr lang="en-US" altLang="zh-CN" sz="2600">
                <a:solidFill>
                  <a:srgbClr val="000000"/>
                </a:solidFill>
                <a:latin typeface="Arial" panose="020B0604020202020204" pitchFamily="34" charset="0"/>
              </a:rPr>
              <a:t>IP </a:t>
            </a:r>
            <a:r>
              <a:rPr lang="zh-CN" altLang="en-US" sz="2600">
                <a:solidFill>
                  <a:srgbClr val="000000"/>
                </a:solidFill>
                <a:latin typeface="Arial" panose="020B0604020202020204" pitchFamily="34" charset="0"/>
              </a:rPr>
              <a:t>地址</a:t>
            </a:r>
            <a:r>
              <a:rPr lang="en-US" altLang="zh-CN" sz="2600">
                <a:solidFill>
                  <a:srgbClr val="000000"/>
                </a:solidFill>
                <a:latin typeface="Arial" panose="020B0604020202020204" pitchFamily="34" charset="0"/>
              </a:rPr>
              <a:t>.</a:t>
            </a:r>
          </a:p>
          <a:p>
            <a:pPr>
              <a:spcBef>
                <a:spcPct val="10000"/>
              </a:spcBef>
            </a:pPr>
            <a:r>
              <a:rPr lang="en-US" altLang="zh-CN" sz="2600" b="1">
                <a:solidFill>
                  <a:srgbClr val="FF0000"/>
                </a:solidFill>
                <a:latin typeface="Arial" panose="020B0604020202020204" pitchFamily="34" charset="0"/>
              </a:rPr>
              <a:t>A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 </a:t>
            </a:r>
            <a:r>
              <a:rPr lang="en-US" altLang="zh-CN" sz="2600" b="1">
                <a:solidFill>
                  <a:srgbClr val="FF0000"/>
                </a:solidFill>
                <a:latin typeface="Arial" panose="020B0604020202020204" pitchFamily="34" charset="0"/>
              </a:rPr>
              <a:t>/8): </a:t>
            </a:r>
            <a:r>
              <a:rPr lang="en-US" altLang="zh-CN" sz="2600" b="1">
                <a:solidFill>
                  <a:srgbClr val="000000"/>
                </a:solidFill>
                <a:latin typeface="Arial" panose="020B0604020202020204" pitchFamily="34" charset="0"/>
              </a:rPr>
              <a:t>7 </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只有 </a:t>
            </a:r>
            <a:r>
              <a:rPr lang="en-US" altLang="zh-CN" sz="2600">
                <a:solidFill>
                  <a:srgbClr val="000000"/>
                </a:solidFill>
                <a:latin typeface="Arial" panose="020B0604020202020204" pitchFamily="34" charset="0"/>
              </a:rPr>
              <a:t>127 </a:t>
            </a:r>
            <a:r>
              <a:rPr lang="zh-CN" altLang="en-US" sz="2600">
                <a:solidFill>
                  <a:srgbClr val="000000"/>
                </a:solidFill>
                <a:latin typeface="Arial" panose="020B0604020202020204" pitchFamily="34" charset="0"/>
              </a:rPr>
              <a:t>个 </a:t>
            </a:r>
            <a:r>
              <a:rPr lang="en-US" altLang="zh-CN" sz="2600">
                <a:solidFill>
                  <a:srgbClr val="000000"/>
                </a:solidFill>
                <a:latin typeface="Arial" panose="020B0604020202020204" pitchFamily="34" charset="0"/>
              </a:rPr>
              <a:t>A </a:t>
            </a:r>
            <a:r>
              <a:rPr lang="zh-CN" altLang="en-US" sz="2600">
                <a:solidFill>
                  <a:srgbClr val="000000"/>
                </a:solidFill>
                <a:latin typeface="Arial" panose="020B0604020202020204" pitchFamily="34" charset="0"/>
              </a:rPr>
              <a:t>类地址（</a:t>
            </a:r>
            <a:r>
              <a:rPr lang="en-US" altLang="zh-CN" sz="2600">
                <a:solidFill>
                  <a:srgbClr val="000000"/>
                </a:solidFill>
                <a:latin typeface="Arial" panose="020B0604020202020204" pitchFamily="34" charset="0"/>
              </a:rPr>
              <a:t>1~127</a:t>
            </a:r>
            <a:r>
              <a:rPr lang="zh-CN" altLang="en-US" sz="2600">
                <a:solidFill>
                  <a:srgbClr val="000000"/>
                </a:solidFill>
                <a:latin typeface="Arial" panose="020B0604020202020204" pitchFamily="34" charset="0"/>
              </a:rPr>
              <a:t>）</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每个网络有 </a:t>
            </a:r>
            <a:r>
              <a:rPr lang="en-US" altLang="zh-CN" sz="2600">
                <a:solidFill>
                  <a:srgbClr val="0000FF"/>
                </a:solidFill>
                <a:latin typeface="Arial" panose="020B0604020202020204" pitchFamily="34" charset="0"/>
              </a:rPr>
              <a:t>1</a:t>
            </a:r>
            <a:r>
              <a:rPr lang="zh-CN" altLang="en-US" sz="2600">
                <a:solidFill>
                  <a:srgbClr val="0000FF"/>
                </a:solidFill>
                <a:latin typeface="Arial" panose="020B0604020202020204" pitchFamily="34" charset="0"/>
              </a:rPr>
              <a:t>千</a:t>
            </a:r>
            <a:r>
              <a:rPr lang="en-US" altLang="zh-CN" sz="2600">
                <a:solidFill>
                  <a:srgbClr val="0000FF"/>
                </a:solidFill>
                <a:latin typeface="Arial" panose="020B0604020202020204" pitchFamily="34" charset="0"/>
              </a:rPr>
              <a:t>6 </a:t>
            </a:r>
            <a:r>
              <a:rPr lang="zh-CN" altLang="en-US" sz="2600">
                <a:solidFill>
                  <a:srgbClr val="0000FF"/>
                </a:solidFill>
                <a:latin typeface="Arial" panose="020B0604020202020204" pitchFamily="34" charset="0"/>
              </a:rPr>
              <a:t>百万 </a:t>
            </a:r>
            <a:r>
              <a:rPr lang="en-US" altLang="zh-CN" sz="2600">
                <a:solidFill>
                  <a:srgbClr val="000000"/>
                </a:solidFill>
                <a:latin typeface="Arial" panose="020B0604020202020204" pitchFamily="34" charset="0"/>
              </a:rPr>
              <a:t>(</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24</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主机</a:t>
            </a:r>
            <a:r>
              <a:rPr lang="en-US" altLang="zh-CN" sz="2600">
                <a:solidFill>
                  <a:srgbClr val="000000"/>
                </a:solidFill>
                <a:latin typeface="Arial" panose="020B0604020202020204" pitchFamily="34" charset="0"/>
              </a:rPr>
              <a:t>.</a:t>
            </a:r>
          </a:p>
          <a:p>
            <a:pPr>
              <a:spcBef>
                <a:spcPct val="10000"/>
              </a:spcBef>
            </a:pPr>
            <a:r>
              <a:rPr lang="en-US" altLang="zh-CN" sz="2600" b="1">
                <a:solidFill>
                  <a:srgbClr val="FF0000"/>
                </a:solidFill>
                <a:latin typeface="Arial" panose="020B0604020202020204" pitchFamily="34" charset="0"/>
              </a:rPr>
              <a:t>B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a:t>
            </a:r>
            <a:r>
              <a:rPr lang="en-US" altLang="zh-CN" sz="2600" b="1">
                <a:solidFill>
                  <a:srgbClr val="FF0000"/>
                </a:solidFill>
                <a:latin typeface="Arial" panose="020B0604020202020204" pitchFamily="34" charset="0"/>
              </a:rPr>
              <a:t>/16): </a:t>
            </a:r>
            <a:r>
              <a:rPr lang="en-US" altLang="zh-CN" sz="2600" b="1">
                <a:solidFill>
                  <a:srgbClr val="000000"/>
                </a:solidFill>
                <a:latin typeface="Arial" panose="020B0604020202020204" pitchFamily="34" charset="0"/>
              </a:rPr>
              <a:t>14</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大约 </a:t>
            </a:r>
            <a:r>
              <a:rPr lang="en-US" altLang="zh-CN" sz="2600">
                <a:solidFill>
                  <a:srgbClr val="000000"/>
                </a:solidFill>
                <a:latin typeface="Arial" panose="020B0604020202020204" pitchFamily="34" charset="0"/>
              </a:rPr>
              <a:t>16,000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16</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个网络 </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每个网络大约 </a:t>
            </a:r>
            <a:r>
              <a:rPr lang="en-US" altLang="zh-CN" sz="2600">
                <a:solidFill>
                  <a:srgbClr val="000000"/>
                </a:solidFill>
                <a:latin typeface="Arial" panose="020B0604020202020204" pitchFamily="34" charset="0"/>
              </a:rPr>
              <a:t>65,000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16</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个主机</a:t>
            </a:r>
          </a:p>
          <a:p>
            <a:pPr>
              <a:spcBef>
                <a:spcPct val="10000"/>
              </a:spcBef>
            </a:pPr>
            <a:r>
              <a:rPr lang="en-US" altLang="zh-CN" sz="2600" b="1">
                <a:solidFill>
                  <a:srgbClr val="FF0000"/>
                </a:solidFill>
                <a:latin typeface="Arial" panose="020B0604020202020204" pitchFamily="34" charset="0"/>
              </a:rPr>
              <a:t>C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a:t>
            </a:r>
            <a:r>
              <a:rPr lang="en-US" altLang="zh-CN" sz="2600" b="1">
                <a:solidFill>
                  <a:srgbClr val="FF0000"/>
                </a:solidFill>
                <a:latin typeface="Arial" panose="020B0604020202020204" pitchFamily="34" charset="0"/>
              </a:rPr>
              <a:t>/24): </a:t>
            </a:r>
            <a:r>
              <a:rPr lang="en-US" altLang="zh-CN" sz="2600" b="1">
                <a:solidFill>
                  <a:srgbClr val="000000"/>
                </a:solidFill>
                <a:latin typeface="Arial" panose="020B0604020202020204" pitchFamily="34" charset="0"/>
              </a:rPr>
              <a:t>21</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大约 </a:t>
            </a:r>
            <a:r>
              <a:rPr lang="en-US" altLang="zh-CN" sz="2600">
                <a:solidFill>
                  <a:srgbClr val="000000"/>
                </a:solidFill>
                <a:latin typeface="Arial" panose="020B0604020202020204" pitchFamily="34" charset="0"/>
              </a:rPr>
              <a:t>2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24</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个网络</a:t>
            </a:r>
            <a:r>
              <a:rPr lang="en-US" altLang="zh-CN" sz="2600">
                <a:solidFill>
                  <a:srgbClr val="000000"/>
                </a:solidFill>
                <a:latin typeface="Arial" panose="020B0604020202020204" pitchFamily="34" charset="0"/>
              </a:rPr>
              <a:t>(</a:t>
            </a:r>
            <a:r>
              <a:rPr lang="zh-CN" altLang="en-US" sz="2600">
                <a:solidFill>
                  <a:srgbClr val="000000"/>
                </a:solidFill>
                <a:latin typeface="Arial" panose="020B0604020202020204" pitchFamily="34" charset="0"/>
              </a:rPr>
              <a:t>百万级别</a:t>
            </a:r>
            <a:r>
              <a:rPr lang="en-US" altLang="zh-CN" sz="2600">
                <a:solidFill>
                  <a:srgbClr val="000000"/>
                </a:solidFill>
                <a:latin typeface="Arial" panose="020B0604020202020204" pitchFamily="34" charset="0"/>
              </a:rPr>
              <a:t>)</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每个网络只有 </a:t>
            </a:r>
            <a:r>
              <a:rPr lang="en-US" altLang="zh-CN" sz="2600">
                <a:solidFill>
                  <a:srgbClr val="000000"/>
                </a:solidFill>
                <a:latin typeface="Arial" panose="020B0604020202020204" pitchFamily="34" charset="0"/>
              </a:rPr>
              <a:t>254  </a:t>
            </a:r>
            <a:r>
              <a:rPr lang="zh-CN" altLang="en-US" sz="2600">
                <a:solidFill>
                  <a:srgbClr val="000000"/>
                </a:solidFill>
                <a:latin typeface="Arial" panose="020B0604020202020204" pitchFamily="34" charset="0"/>
              </a:rPr>
              <a:t>个主机</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8324">
                                            <p:txEl>
                                              <p:pRg st="0" end="0"/>
                                            </p:txEl>
                                          </p:spTgt>
                                        </p:tgtEl>
                                        <p:attrNameLst>
                                          <p:attrName>style.visibility</p:attrName>
                                        </p:attrNameLst>
                                      </p:cBhvr>
                                      <p:to>
                                        <p:strVal val="visible"/>
                                      </p:to>
                                    </p:set>
                                    <p:anim calcmode="lin" valueType="num">
                                      <p:cBhvr additive="base">
                                        <p:cTn id="7" dur="500" fill="hold"/>
                                        <p:tgtEl>
                                          <p:spTgt spid="18483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83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8324">
                                            <p:txEl>
                                              <p:pRg st="1" end="1"/>
                                            </p:txEl>
                                          </p:spTgt>
                                        </p:tgtEl>
                                        <p:attrNameLst>
                                          <p:attrName>style.visibility</p:attrName>
                                        </p:attrNameLst>
                                      </p:cBhvr>
                                      <p:to>
                                        <p:strVal val="visible"/>
                                      </p:to>
                                    </p:set>
                                    <p:anim calcmode="lin" valueType="num">
                                      <p:cBhvr additive="base">
                                        <p:cTn id="13" dur="500" fill="hold"/>
                                        <p:tgtEl>
                                          <p:spTgt spid="18483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83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8324">
                                            <p:txEl>
                                              <p:pRg st="2" end="2"/>
                                            </p:txEl>
                                          </p:spTgt>
                                        </p:tgtEl>
                                        <p:attrNameLst>
                                          <p:attrName>style.visibility</p:attrName>
                                        </p:attrNameLst>
                                      </p:cBhvr>
                                      <p:to>
                                        <p:strVal val="visible"/>
                                      </p:to>
                                    </p:set>
                                    <p:anim calcmode="lin" valueType="num">
                                      <p:cBhvr additive="base">
                                        <p:cTn id="19" dur="500" fill="hold"/>
                                        <p:tgtEl>
                                          <p:spTgt spid="18483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83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8324">
                                            <p:txEl>
                                              <p:pRg st="3" end="3"/>
                                            </p:txEl>
                                          </p:spTgt>
                                        </p:tgtEl>
                                        <p:attrNameLst>
                                          <p:attrName>style.visibility</p:attrName>
                                        </p:attrNameLst>
                                      </p:cBhvr>
                                      <p:to>
                                        <p:strVal val="visible"/>
                                      </p:to>
                                    </p:set>
                                    <p:anim calcmode="lin" valueType="num">
                                      <p:cBhvr additive="base">
                                        <p:cTn id="25" dur="500" fill="hold"/>
                                        <p:tgtEl>
                                          <p:spTgt spid="18483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483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48324">
                                            <p:txEl>
                                              <p:pRg st="4" end="4"/>
                                            </p:txEl>
                                          </p:spTgt>
                                        </p:tgtEl>
                                        <p:attrNameLst>
                                          <p:attrName>style.visibility</p:attrName>
                                        </p:attrNameLst>
                                      </p:cBhvr>
                                      <p:to>
                                        <p:strVal val="visible"/>
                                      </p:to>
                                    </p:set>
                                    <p:anim calcmode="lin" valueType="num">
                                      <p:cBhvr additive="base">
                                        <p:cTn id="31" dur="500" fill="hold"/>
                                        <p:tgtEl>
                                          <p:spTgt spid="184832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83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8324">
                                            <p:txEl>
                                              <p:pRg st="5" end="5"/>
                                            </p:txEl>
                                          </p:spTgt>
                                        </p:tgtEl>
                                        <p:attrNameLst>
                                          <p:attrName>style.visibility</p:attrName>
                                        </p:attrNameLst>
                                      </p:cBhvr>
                                      <p:to>
                                        <p:strVal val="visible"/>
                                      </p:to>
                                    </p:set>
                                    <p:anim calcmode="lin" valueType="num">
                                      <p:cBhvr additive="base">
                                        <p:cTn id="37" dur="500" fill="hold"/>
                                        <p:tgtEl>
                                          <p:spTgt spid="184832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4832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48324">
                                            <p:txEl>
                                              <p:pRg st="6" end="6"/>
                                            </p:txEl>
                                          </p:spTgt>
                                        </p:tgtEl>
                                        <p:attrNameLst>
                                          <p:attrName>style.visibility</p:attrName>
                                        </p:attrNameLst>
                                      </p:cBhvr>
                                      <p:to>
                                        <p:strVal val="visible"/>
                                      </p:to>
                                    </p:set>
                                    <p:anim calcmode="lin" valueType="num">
                                      <p:cBhvr additive="base">
                                        <p:cTn id="43" dur="500" fill="hold"/>
                                        <p:tgtEl>
                                          <p:spTgt spid="1848324">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4832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48324">
                                            <p:txEl>
                                              <p:pRg st="7" end="7"/>
                                            </p:txEl>
                                          </p:spTgt>
                                        </p:tgtEl>
                                        <p:attrNameLst>
                                          <p:attrName>style.visibility</p:attrName>
                                        </p:attrNameLst>
                                      </p:cBhvr>
                                      <p:to>
                                        <p:strVal val="visible"/>
                                      </p:to>
                                    </p:set>
                                    <p:anim calcmode="lin" valueType="num">
                                      <p:cBhvr additive="base">
                                        <p:cTn id="49" dur="500" fill="hold"/>
                                        <p:tgtEl>
                                          <p:spTgt spid="1848324">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4832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48324">
                                            <p:txEl>
                                              <p:pRg st="8" end="8"/>
                                            </p:txEl>
                                          </p:spTgt>
                                        </p:tgtEl>
                                        <p:attrNameLst>
                                          <p:attrName>style.visibility</p:attrName>
                                        </p:attrNameLst>
                                      </p:cBhvr>
                                      <p:to>
                                        <p:strVal val="visible"/>
                                      </p:to>
                                    </p:set>
                                    <p:anim calcmode="lin" valueType="num">
                                      <p:cBhvr additive="base">
                                        <p:cTn id="55" dur="500" fill="hold"/>
                                        <p:tgtEl>
                                          <p:spTgt spid="1848324">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4832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48324">
                                            <p:txEl>
                                              <p:pRg st="9" end="9"/>
                                            </p:txEl>
                                          </p:spTgt>
                                        </p:tgtEl>
                                        <p:attrNameLst>
                                          <p:attrName>style.visibility</p:attrName>
                                        </p:attrNameLst>
                                      </p:cBhvr>
                                      <p:to>
                                        <p:strVal val="visible"/>
                                      </p:to>
                                    </p:set>
                                    <p:anim calcmode="lin" valueType="num">
                                      <p:cBhvr additive="base">
                                        <p:cTn id="61" dur="500" fill="hold"/>
                                        <p:tgtEl>
                                          <p:spTgt spid="1848324">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48324">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324"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bwMode="auto">
          <a:xfrm>
            <a:off x="2230438" y="357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地址表示法</a:t>
            </a:r>
          </a:p>
        </p:txBody>
      </p:sp>
      <p:sp>
        <p:nvSpPr>
          <p:cNvPr id="19459" name="Text Box 6"/>
          <p:cNvSpPr txBox="1">
            <a:spLocks noChangeArrowheads="1"/>
          </p:cNvSpPr>
          <p:nvPr/>
        </p:nvSpPr>
        <p:spPr bwMode="auto">
          <a:xfrm>
            <a:off x="1906589" y="1277938"/>
            <a:ext cx="813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1867783" name="Rectangle 7"/>
          <p:cNvSpPr>
            <a:spLocks noGrp="1" noChangeArrowheads="1"/>
          </p:cNvSpPr>
          <p:nvPr>
            <p:ph type="body" idx="1"/>
          </p:nvPr>
        </p:nvSpPr>
        <p:spPr bwMode="auto">
          <a:xfrm>
            <a:off x="2105025" y="4452938"/>
            <a:ext cx="8307388" cy="1447800"/>
          </a:xfrm>
          <a:noFill/>
          <a:ln w="12700">
            <a:solidFill>
              <a:srgbClr val="CCFFCC"/>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0488" tIns="44450" rIns="90488" bIns="44450" numCol="1" rtlCol="0" anchor="t" anchorCtr="0" compatLnSpc="1">
            <a:prstTxWarp prst="textNoShape">
              <a:avLst/>
            </a:prstTxWarp>
            <a:normAutofit/>
          </a:bodyPr>
          <a:lstStyle/>
          <a:p>
            <a:pPr eaLnBrk="1" hangingPunct="1"/>
            <a:r>
              <a:rPr lang="zh-CN" altLang="en-US"/>
              <a:t>二进制</a:t>
            </a:r>
            <a:r>
              <a:rPr lang="en-US" altLang="zh-CN"/>
              <a:t>: </a:t>
            </a:r>
            <a:r>
              <a:rPr lang="en-US" altLang="zh-CN" sz="2400"/>
              <a:t>11000000 00000101 00110000 00000011</a:t>
            </a:r>
            <a:br>
              <a:rPr lang="en-US" altLang="zh-CN" sz="2400"/>
            </a:br>
            <a:r>
              <a:rPr lang="zh-CN" altLang="en-US"/>
              <a:t>十六进制</a:t>
            </a:r>
            <a:r>
              <a:rPr lang="en-US" altLang="zh-CN"/>
              <a:t>: C0:05:30:03 </a:t>
            </a:r>
            <a:br>
              <a:rPr lang="en-US" altLang="zh-CN"/>
            </a:br>
            <a:r>
              <a:rPr lang="zh-CN" altLang="en-US"/>
              <a:t>点分十进制</a:t>
            </a:r>
            <a:r>
              <a:rPr lang="en-US" altLang="zh-CN"/>
              <a:t>: 192.5.48.3</a:t>
            </a:r>
          </a:p>
        </p:txBody>
      </p:sp>
      <p:sp>
        <p:nvSpPr>
          <p:cNvPr id="19461" name="Text Box 8"/>
          <p:cNvSpPr txBox="1">
            <a:spLocks noChangeArrowheads="1"/>
          </p:cNvSpPr>
          <p:nvPr/>
        </p:nvSpPr>
        <p:spPr bwMode="auto">
          <a:xfrm>
            <a:off x="2994025" y="1130301"/>
            <a:ext cx="6129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19462" name="Rectangle 9"/>
          <p:cNvSpPr>
            <a:spLocks noChangeArrowheads="1"/>
          </p:cNvSpPr>
          <p:nvPr/>
        </p:nvSpPr>
        <p:spPr bwMode="auto">
          <a:xfrm>
            <a:off x="4073525" y="1420814"/>
            <a:ext cx="1082028"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Class</a:t>
            </a:r>
          </a:p>
        </p:txBody>
      </p:sp>
      <p:sp>
        <p:nvSpPr>
          <p:cNvPr id="19463" name="Rectangle 10"/>
          <p:cNvSpPr>
            <a:spLocks noChangeArrowheads="1"/>
          </p:cNvSpPr>
          <p:nvPr/>
        </p:nvSpPr>
        <p:spPr bwMode="auto">
          <a:xfrm>
            <a:off x="5411789" y="1397000"/>
            <a:ext cx="28400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a:solidFill>
                  <a:schemeClr val="tx1"/>
                </a:solidFill>
                <a:latin typeface="Arial" panose="020B0604020202020204" pitchFamily="34" charset="0"/>
              </a:rPr>
              <a:t>范围</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首字节</a:t>
            </a:r>
            <a:r>
              <a:rPr lang="en-US" altLang="zh-CN">
                <a:solidFill>
                  <a:schemeClr val="tx1"/>
                </a:solidFill>
                <a:latin typeface="Arial" panose="020B0604020202020204" pitchFamily="34" charset="0"/>
              </a:rPr>
              <a:t>)</a:t>
            </a:r>
          </a:p>
        </p:txBody>
      </p:sp>
      <p:sp>
        <p:nvSpPr>
          <p:cNvPr id="19464" name="Rectangle 11"/>
          <p:cNvSpPr>
            <a:spLocks noChangeArrowheads="1"/>
          </p:cNvSpPr>
          <p:nvPr/>
        </p:nvSpPr>
        <p:spPr bwMode="auto">
          <a:xfrm>
            <a:off x="4335464" y="1893889"/>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A</a:t>
            </a:r>
          </a:p>
        </p:txBody>
      </p:sp>
      <p:sp>
        <p:nvSpPr>
          <p:cNvPr id="19465" name="Rectangle 12"/>
          <p:cNvSpPr>
            <a:spLocks noChangeArrowheads="1"/>
          </p:cNvSpPr>
          <p:nvPr/>
        </p:nvSpPr>
        <p:spPr bwMode="auto">
          <a:xfrm>
            <a:off x="5445125" y="1893888"/>
            <a:ext cx="13033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1 - 127</a:t>
            </a:r>
          </a:p>
        </p:txBody>
      </p:sp>
      <p:sp>
        <p:nvSpPr>
          <p:cNvPr id="19466" name="Rectangle 13"/>
          <p:cNvSpPr>
            <a:spLocks noChangeArrowheads="1"/>
          </p:cNvSpPr>
          <p:nvPr/>
        </p:nvSpPr>
        <p:spPr bwMode="auto">
          <a:xfrm>
            <a:off x="4335464" y="2320926"/>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B</a:t>
            </a:r>
          </a:p>
        </p:txBody>
      </p:sp>
      <p:sp>
        <p:nvSpPr>
          <p:cNvPr id="19467" name="Rectangle 14"/>
          <p:cNvSpPr>
            <a:spLocks noChangeArrowheads="1"/>
          </p:cNvSpPr>
          <p:nvPr/>
        </p:nvSpPr>
        <p:spPr bwMode="auto">
          <a:xfrm>
            <a:off x="5445125" y="2320926"/>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128 - 191</a:t>
            </a:r>
          </a:p>
        </p:txBody>
      </p:sp>
      <p:sp>
        <p:nvSpPr>
          <p:cNvPr id="19468" name="Rectangle 15"/>
          <p:cNvSpPr>
            <a:spLocks noChangeArrowheads="1"/>
          </p:cNvSpPr>
          <p:nvPr/>
        </p:nvSpPr>
        <p:spPr bwMode="auto">
          <a:xfrm>
            <a:off x="4335463" y="2746376"/>
            <a:ext cx="4424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C</a:t>
            </a:r>
          </a:p>
        </p:txBody>
      </p:sp>
      <p:sp>
        <p:nvSpPr>
          <p:cNvPr id="19469" name="Rectangle 16"/>
          <p:cNvSpPr>
            <a:spLocks noChangeArrowheads="1"/>
          </p:cNvSpPr>
          <p:nvPr/>
        </p:nvSpPr>
        <p:spPr bwMode="auto">
          <a:xfrm>
            <a:off x="5445125" y="2746376"/>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192 - 223</a:t>
            </a:r>
          </a:p>
        </p:txBody>
      </p:sp>
      <p:sp>
        <p:nvSpPr>
          <p:cNvPr id="19470" name="Rectangle 17"/>
          <p:cNvSpPr>
            <a:spLocks noChangeArrowheads="1"/>
          </p:cNvSpPr>
          <p:nvPr/>
        </p:nvSpPr>
        <p:spPr bwMode="auto">
          <a:xfrm>
            <a:off x="4335463" y="3173414"/>
            <a:ext cx="4424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D</a:t>
            </a:r>
          </a:p>
        </p:txBody>
      </p:sp>
      <p:sp>
        <p:nvSpPr>
          <p:cNvPr id="19471" name="Rectangle 18"/>
          <p:cNvSpPr>
            <a:spLocks noChangeArrowheads="1"/>
          </p:cNvSpPr>
          <p:nvPr/>
        </p:nvSpPr>
        <p:spPr bwMode="auto">
          <a:xfrm>
            <a:off x="5445125" y="3173414"/>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224 - 239</a:t>
            </a:r>
          </a:p>
        </p:txBody>
      </p:sp>
      <p:sp>
        <p:nvSpPr>
          <p:cNvPr id="19472" name="Rectangle 19"/>
          <p:cNvSpPr>
            <a:spLocks noChangeArrowheads="1"/>
          </p:cNvSpPr>
          <p:nvPr/>
        </p:nvSpPr>
        <p:spPr bwMode="auto">
          <a:xfrm>
            <a:off x="4335464" y="3600451"/>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E</a:t>
            </a:r>
          </a:p>
        </p:txBody>
      </p:sp>
      <p:sp>
        <p:nvSpPr>
          <p:cNvPr id="19473" name="Rectangle 20"/>
          <p:cNvSpPr>
            <a:spLocks noChangeArrowheads="1"/>
          </p:cNvSpPr>
          <p:nvPr/>
        </p:nvSpPr>
        <p:spPr bwMode="auto">
          <a:xfrm>
            <a:off x="5445125" y="3600451"/>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240 - 255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67783">
                                            <p:txEl>
                                              <p:pRg st="0" end="0"/>
                                            </p:txEl>
                                          </p:spTgt>
                                        </p:tgtEl>
                                        <p:attrNameLst>
                                          <p:attrName>style.visibility</p:attrName>
                                        </p:attrNameLst>
                                      </p:cBhvr>
                                      <p:to>
                                        <p:strVal val="visible"/>
                                      </p:to>
                                    </p:set>
                                    <p:anim calcmode="lin" valueType="num">
                                      <p:cBhvr additive="base">
                                        <p:cTn id="7" dur="500" fill="hold"/>
                                        <p:tgtEl>
                                          <p:spTgt spid="18677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677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7783"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bwMode="auto">
          <a:xfrm>
            <a:off x="1631950" y="1196975"/>
            <a:ext cx="8891588" cy="5029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直接广播地址</a:t>
            </a:r>
            <a:r>
              <a:rPr lang="zh-CN" altLang="en-US" sz="2400"/>
              <a:t>（</a:t>
            </a:r>
            <a:r>
              <a:rPr lang="en-US" altLang="zh-CN" sz="2400"/>
              <a:t>broadcast address</a:t>
            </a:r>
            <a:r>
              <a:rPr lang="zh-CN" altLang="en-US" sz="2400"/>
              <a:t>）</a:t>
            </a:r>
            <a:endParaRPr lang="zh-CN" altLang="en-US"/>
          </a:p>
          <a:p>
            <a:pPr marL="857250" lvl="1" indent="-323850"/>
            <a:r>
              <a:rPr lang="en-US" altLang="zh-CN"/>
              <a:t>{&lt;Network-number&gt;,-1} </a:t>
            </a:r>
            <a:r>
              <a:rPr lang="zh-CN" altLang="en-US"/>
              <a:t>向指定的网络进行广播。</a:t>
            </a:r>
          </a:p>
          <a:p>
            <a:pPr marL="857250" lvl="1" indent="-323850"/>
            <a:endParaRPr lang="zh-CN" altLang="en-US" sz="1600"/>
          </a:p>
          <a:p>
            <a:pPr eaLnBrk="1" hangingPunct="1">
              <a:lnSpc>
                <a:spcPct val="90000"/>
              </a:lnSpc>
            </a:pPr>
            <a:r>
              <a:rPr lang="zh-CN" altLang="en-US"/>
              <a:t>有限广播地址</a:t>
            </a:r>
            <a:r>
              <a:rPr lang="zh-CN" altLang="en-US" sz="2400"/>
              <a:t>（</a:t>
            </a:r>
            <a:r>
              <a:rPr lang="en-US" altLang="zh-CN" sz="2400"/>
              <a:t>limited broadcast address</a:t>
            </a:r>
            <a:r>
              <a:rPr lang="zh-CN" altLang="en-US" sz="2400"/>
              <a:t>）</a:t>
            </a:r>
            <a:endParaRPr lang="zh-CN" altLang="en-US"/>
          </a:p>
          <a:p>
            <a:pPr marL="857250" lvl="1" indent="-323850"/>
            <a:r>
              <a:rPr lang="en-US" altLang="zh-CN"/>
              <a:t>32 </a:t>
            </a:r>
            <a:r>
              <a:rPr lang="zh-CN" altLang="en-US"/>
              <a:t>位 </a:t>
            </a:r>
            <a:r>
              <a:rPr lang="en-US" altLang="zh-CN"/>
              <a:t>IP </a:t>
            </a:r>
            <a:r>
              <a:rPr lang="zh-CN" altLang="en-US"/>
              <a:t>地址位全 </a:t>
            </a:r>
            <a:r>
              <a:rPr lang="en-US" altLang="zh-CN"/>
              <a:t>1</a:t>
            </a:r>
            <a:r>
              <a:rPr lang="zh-CN" altLang="en-US"/>
              <a:t>（即 </a:t>
            </a:r>
            <a:r>
              <a:rPr lang="en-US" altLang="zh-CN"/>
              <a:t>255.255.255.255</a:t>
            </a:r>
            <a:r>
              <a:rPr lang="zh-CN" altLang="en-US"/>
              <a:t>）表示用于在本网络中广播的有限广播地址。</a:t>
            </a:r>
          </a:p>
          <a:p>
            <a:pPr eaLnBrk="1" hangingPunct="1">
              <a:lnSpc>
                <a:spcPct val="90000"/>
              </a:lnSpc>
            </a:pPr>
            <a:r>
              <a:rPr lang="en-US" altLang="zh-CN"/>
              <a:t>0 </a:t>
            </a:r>
            <a:r>
              <a:rPr lang="zh-CN" altLang="en-US"/>
              <a:t>地址</a:t>
            </a:r>
          </a:p>
          <a:p>
            <a:pPr marL="857250" lvl="1" indent="-323850"/>
            <a:r>
              <a:rPr lang="en-US" altLang="zh-CN"/>
              <a:t>{0</a:t>
            </a:r>
            <a:r>
              <a:rPr lang="zh-CN" altLang="en-US">
                <a:latin typeface="Times New Roman" panose="02020603050405020304" pitchFamily="18" charset="0"/>
              </a:rPr>
              <a:t>，</a:t>
            </a:r>
            <a:r>
              <a:rPr lang="en-US" altLang="zh-CN"/>
              <a:t>0} </a:t>
            </a:r>
            <a:r>
              <a:rPr lang="zh-CN" altLang="en-US">
                <a:latin typeface="Times New Roman" panose="02020603050405020304" pitchFamily="18" charset="0"/>
              </a:rPr>
              <a:t>该主机在该网络上</a:t>
            </a:r>
            <a:r>
              <a:rPr lang="zh-CN" altLang="en-US"/>
              <a:t> </a:t>
            </a:r>
          </a:p>
          <a:p>
            <a:pPr marL="857250" lvl="1" indent="-323850"/>
            <a:r>
              <a:rPr lang="en-US" altLang="zh-CN"/>
              <a:t>{0,&lt;Host-number&gt;} </a:t>
            </a:r>
            <a:r>
              <a:rPr lang="zh-CN" altLang="en-US" sz="2000"/>
              <a:t>特定主机在该网络上，只能做源地址</a:t>
            </a:r>
            <a:r>
              <a:rPr lang="zh-CN" altLang="en-US"/>
              <a:t>。</a:t>
            </a:r>
          </a:p>
          <a:p>
            <a:pPr eaLnBrk="1" hangingPunct="1">
              <a:lnSpc>
                <a:spcPct val="90000"/>
              </a:lnSpc>
            </a:pPr>
            <a:r>
              <a:rPr lang="zh-CN" altLang="en-US"/>
              <a:t>回送地址</a:t>
            </a:r>
            <a:r>
              <a:rPr lang="zh-CN" altLang="en-US" sz="2400"/>
              <a:t>（</a:t>
            </a:r>
            <a:r>
              <a:rPr lang="en-US" altLang="zh-CN" sz="2400"/>
              <a:t>loopback address</a:t>
            </a:r>
            <a:r>
              <a:rPr lang="zh-CN" altLang="en-US" sz="2400"/>
              <a:t>）</a:t>
            </a:r>
          </a:p>
          <a:p>
            <a:pPr marL="857250" lvl="1" indent="-323850"/>
            <a:r>
              <a:rPr lang="zh-CN" altLang="en-US"/>
              <a:t>网络号为 </a:t>
            </a:r>
            <a:r>
              <a:rPr lang="en-US" altLang="zh-CN"/>
              <a:t>127 </a:t>
            </a:r>
            <a:r>
              <a:rPr lang="zh-CN" altLang="en-US"/>
              <a:t>的 </a:t>
            </a:r>
            <a:r>
              <a:rPr lang="en-US" altLang="zh-CN"/>
              <a:t>A </a:t>
            </a:r>
            <a:r>
              <a:rPr lang="zh-CN" altLang="en-US"/>
              <a:t>类地址（如</a:t>
            </a:r>
            <a:r>
              <a:rPr lang="en-US" altLang="zh-CN"/>
              <a:t>127.0.0.1</a:t>
            </a:r>
            <a:r>
              <a:rPr lang="zh-CN" altLang="en-US"/>
              <a:t>）用于本地软件测试（测试应用层与网络软件之间的进程间通信）</a:t>
            </a:r>
          </a:p>
        </p:txBody>
      </p:sp>
      <p:grpSp>
        <p:nvGrpSpPr>
          <p:cNvPr id="21507" name="Group 4"/>
          <p:cNvGrpSpPr>
            <a:grpSpLocks/>
          </p:cNvGrpSpPr>
          <p:nvPr/>
        </p:nvGrpSpPr>
        <p:grpSpPr bwMode="auto">
          <a:xfrm>
            <a:off x="3937000" y="2051050"/>
            <a:ext cx="4800600" cy="381000"/>
            <a:chOff x="1200" y="2976"/>
            <a:chExt cx="2640" cy="192"/>
          </a:xfrm>
        </p:grpSpPr>
        <p:sp>
          <p:nvSpPr>
            <p:cNvPr id="21509" name="Rectangle 5"/>
            <p:cNvSpPr>
              <a:spLocks noChangeArrowheads="1"/>
            </p:cNvSpPr>
            <p:nvPr/>
          </p:nvSpPr>
          <p:spPr bwMode="auto">
            <a:xfrm>
              <a:off x="1200" y="2976"/>
              <a:ext cx="432" cy="192"/>
            </a:xfrm>
            <a:prstGeom prst="rect">
              <a:avLst/>
            </a:prstGeom>
            <a:solidFill>
              <a:schemeClr val="bg1"/>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hlink"/>
                  </a:solidFill>
                  <a:latin typeface="隶书" panose="02010509060101010101" pitchFamily="49" charset="-122"/>
                  <a:ea typeface="隶书" panose="02010509060101010101" pitchFamily="49" charset="-122"/>
                </a:rPr>
                <a:t>类型</a:t>
              </a:r>
            </a:p>
          </p:txBody>
        </p:sp>
        <p:sp>
          <p:nvSpPr>
            <p:cNvPr id="21510" name="Rectangle 6"/>
            <p:cNvSpPr>
              <a:spLocks noChangeArrowheads="1"/>
            </p:cNvSpPr>
            <p:nvPr/>
          </p:nvSpPr>
          <p:spPr bwMode="auto">
            <a:xfrm>
              <a:off x="1632" y="2976"/>
              <a:ext cx="768" cy="192"/>
            </a:xfrm>
            <a:prstGeom prst="rect">
              <a:avLst/>
            </a:prstGeom>
            <a:solidFill>
              <a:srgbClr val="0000CC"/>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tx2"/>
                  </a:solidFill>
                  <a:latin typeface="隶书" panose="02010509060101010101" pitchFamily="49" charset="-122"/>
                  <a:ea typeface="隶书" panose="02010509060101010101" pitchFamily="49" charset="-122"/>
                </a:rPr>
                <a:t>网络前缀</a:t>
              </a:r>
            </a:p>
          </p:txBody>
        </p:sp>
        <p:sp>
          <p:nvSpPr>
            <p:cNvPr id="21511" name="Rectangle 7"/>
            <p:cNvSpPr>
              <a:spLocks noChangeArrowheads="1"/>
            </p:cNvSpPr>
            <p:nvPr/>
          </p:nvSpPr>
          <p:spPr bwMode="auto">
            <a:xfrm>
              <a:off x="2400" y="2976"/>
              <a:ext cx="1440" cy="192"/>
            </a:xfrm>
            <a:prstGeom prst="rect">
              <a:avLst/>
            </a:prstGeom>
            <a:solidFill>
              <a:srgbClr val="FF00FF"/>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隶书" panose="02010509060101010101" pitchFamily="49" charset="-122"/>
                  <a:ea typeface="隶书" panose="02010509060101010101" pitchFamily="49" charset="-122"/>
                </a:rPr>
                <a:t>主机号 全 </a:t>
              </a:r>
              <a:r>
                <a:rPr kumimoji="1" lang="zh-CN" altLang="en-US" sz="2400">
                  <a:solidFill>
                    <a:srgbClr val="000099"/>
                  </a:solidFill>
                  <a:latin typeface="Verdana" panose="020B0604030504040204" pitchFamily="34" charset="0"/>
                  <a:ea typeface="隶书" panose="02010509060101010101" pitchFamily="49" charset="-122"/>
                </a:rPr>
                <a:t>“</a:t>
              </a:r>
              <a:r>
                <a:rPr kumimoji="1" lang="en-US" altLang="zh-CN" sz="2400">
                  <a:solidFill>
                    <a:srgbClr val="000099"/>
                  </a:solidFill>
                  <a:latin typeface="隶书" panose="02010509060101010101" pitchFamily="49" charset="-122"/>
                  <a:ea typeface="隶书" panose="02010509060101010101" pitchFamily="49" charset="-122"/>
                </a:rPr>
                <a:t>1</a:t>
              </a:r>
              <a:r>
                <a:rPr kumimoji="1" lang="en-US" altLang="zh-CN" sz="2400">
                  <a:solidFill>
                    <a:srgbClr val="000099"/>
                  </a:solidFill>
                  <a:latin typeface="Verdana" panose="020B0604030504040204" pitchFamily="34" charset="0"/>
                  <a:ea typeface="隶书" panose="02010509060101010101" pitchFamily="49" charset="-122"/>
                </a:rPr>
                <a:t>”</a:t>
              </a:r>
              <a:endParaRPr kumimoji="1" lang="en-US" altLang="zh-CN" sz="2400">
                <a:solidFill>
                  <a:srgbClr val="000099"/>
                </a:solidFill>
                <a:latin typeface="隶书" panose="02010509060101010101" pitchFamily="49" charset="-122"/>
                <a:ea typeface="隶书" panose="02010509060101010101" pitchFamily="49" charset="-122"/>
              </a:endParaRPr>
            </a:p>
          </p:txBody>
        </p:sp>
      </p:grpSp>
      <p:sp>
        <p:nvSpPr>
          <p:cNvPr id="21508" name="Rectangle 8"/>
          <p:cNvSpPr>
            <a:spLocks noGrp="1" noChangeArrowheads="1"/>
          </p:cNvSpPr>
          <p:nvPr>
            <p:ph type="title"/>
          </p:nvPr>
        </p:nvSpPr>
        <p:spPr bwMode="auto">
          <a:xfrm>
            <a:off x="220980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特殊的 </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a:t>
            </a: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743075" y="1239838"/>
            <a:ext cx="8763000" cy="4559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4"/>
          <p:cNvSpPr>
            <a:spLocks noGrp="1" noChangeArrowheads="1"/>
          </p:cNvSpPr>
          <p:nvPr>
            <p:ph type="title"/>
          </p:nvPr>
        </p:nvSpPr>
        <p:spPr bwMode="auto">
          <a:xfrm>
            <a:off x="2266950" y="236539"/>
            <a:ext cx="7772400" cy="568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zh-CN" altLang="en-US" sz="3600">
                <a:solidFill>
                  <a:schemeClr val="hlink"/>
                </a:solidFill>
                <a:ea typeface="华文行楷" panose="02010800040101010101" pitchFamily="2" charset="-122"/>
              </a:rPr>
              <a:t>直接广播地址</a:t>
            </a:r>
          </a:p>
        </p:txBody>
      </p:sp>
      <p:sp>
        <p:nvSpPr>
          <p:cNvPr id="23556" name="Text Box 6"/>
          <p:cNvSpPr txBox="1">
            <a:spLocks noChangeArrowheads="1"/>
          </p:cNvSpPr>
          <p:nvPr/>
        </p:nvSpPr>
        <p:spPr bwMode="auto">
          <a:xfrm>
            <a:off x="2225676" y="4729163"/>
            <a:ext cx="4454525"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en-US" altLang="zh-CN"/>
          </a:p>
          <a:p>
            <a:pPr>
              <a:spcBef>
                <a:spcPct val="50000"/>
              </a:spcBef>
            </a:pPr>
            <a:endParaRPr lang="en-US" altLang="zh-CN"/>
          </a:p>
        </p:txBody>
      </p:sp>
      <p:sp>
        <p:nvSpPr>
          <p:cNvPr id="23557" name="Text Box 7"/>
          <p:cNvSpPr txBox="1">
            <a:spLocks noChangeArrowheads="1"/>
          </p:cNvSpPr>
          <p:nvPr/>
        </p:nvSpPr>
        <p:spPr bwMode="auto">
          <a:xfrm>
            <a:off x="1952626" y="4672013"/>
            <a:ext cx="4786313"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en-US" altLang="zh-CN">
              <a:solidFill>
                <a:schemeClr val="bg1"/>
              </a:solidFill>
            </a:endParaRPr>
          </a:p>
          <a:p>
            <a:pPr>
              <a:spcBef>
                <a:spcPct val="50000"/>
              </a:spcBef>
            </a:pPr>
            <a:endParaRPr lang="en-US" altLang="zh-CN">
              <a:solidFill>
                <a:schemeClr val="bg1"/>
              </a:solidFill>
            </a:endParaRPr>
          </a:p>
        </p:txBody>
      </p:sp>
      <p:sp>
        <p:nvSpPr>
          <p:cNvPr id="23558" name="Text Box 8"/>
          <p:cNvSpPr txBox="1">
            <a:spLocks noChangeArrowheads="1"/>
          </p:cNvSpPr>
          <p:nvPr/>
        </p:nvSpPr>
        <p:spPr bwMode="auto">
          <a:xfrm>
            <a:off x="1893888" y="5253038"/>
            <a:ext cx="4843462"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bg1"/>
                </a:solidFill>
              </a:rPr>
              <a:t>                                                     </a:t>
            </a:r>
          </a:p>
          <a:p>
            <a:pPr>
              <a:spcBef>
                <a:spcPct val="50000"/>
              </a:spcBef>
            </a:pPr>
            <a:r>
              <a:rPr lang="en-US" altLang="zh-CN">
                <a:solidFill>
                  <a:schemeClr val="bg1"/>
                </a:solidFill>
              </a:rPr>
              <a:t>                                                     </a:t>
            </a:r>
          </a:p>
          <a:p>
            <a:pPr>
              <a:spcBef>
                <a:spcPct val="50000"/>
              </a:spcBef>
            </a:pPr>
            <a:r>
              <a:rPr lang="en-US" altLang="zh-CN">
                <a:solidFill>
                  <a:schemeClr val="bg1"/>
                </a:solidFill>
              </a:rPr>
              <a:t>                                                    </a:t>
            </a:r>
          </a:p>
        </p:txBody>
      </p:sp>
      <p:sp>
        <p:nvSpPr>
          <p:cNvPr id="23559" name="Rectangle 9"/>
          <p:cNvSpPr>
            <a:spLocks noChangeArrowheads="1"/>
          </p:cNvSpPr>
          <p:nvPr/>
        </p:nvSpPr>
        <p:spPr bwMode="auto">
          <a:xfrm>
            <a:off x="2222500" y="4721225"/>
            <a:ext cx="4611688" cy="1244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2341" name="Text Box 5"/>
          <p:cNvSpPr txBox="1">
            <a:spLocks noChangeArrowheads="1"/>
          </p:cNvSpPr>
          <p:nvPr/>
        </p:nvSpPr>
        <p:spPr bwMode="auto">
          <a:xfrm>
            <a:off x="2165350" y="4808539"/>
            <a:ext cx="46497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直接广播地址一般用于路由器向指定网络内的所有主机发送消息，所有的主机</a:t>
            </a:r>
            <a:r>
              <a:rPr lang="en-US" altLang="zh-CN" sz="1800">
                <a:solidFill>
                  <a:schemeClr val="tx1"/>
                </a:solidFill>
              </a:rPr>
              <a:t>/</a:t>
            </a:r>
            <a:r>
              <a:rPr lang="zh-CN" altLang="en-US" sz="1800">
                <a:solidFill>
                  <a:schemeClr val="tx1"/>
                </a:solidFill>
              </a:rPr>
              <a:t>路由器都接收并处理具有直接广播地址的报文分组</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2341">
                                            <p:txEl>
                                              <p:pRg st="0" end="0"/>
                                            </p:txEl>
                                          </p:spTgt>
                                        </p:tgtEl>
                                        <p:attrNameLst>
                                          <p:attrName>style.visibility</p:attrName>
                                        </p:attrNameLst>
                                      </p:cBhvr>
                                      <p:to>
                                        <p:strVal val="visible"/>
                                      </p:to>
                                    </p:set>
                                    <p:anim calcmode="lin" valueType="num">
                                      <p:cBhvr additive="base">
                                        <p:cTn id="7" dur="500" fill="hold"/>
                                        <p:tgtEl>
                                          <p:spTgt spid="14223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234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2341"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698625" y="1233488"/>
            <a:ext cx="8763000" cy="4730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4"/>
          <p:cNvSpPr>
            <a:spLocks noGrp="1" noChangeArrowheads="1"/>
          </p:cNvSpPr>
          <p:nvPr>
            <p:ph type="title"/>
          </p:nvPr>
        </p:nvSpPr>
        <p:spPr bwMode="auto">
          <a:xfrm>
            <a:off x="2268538" y="49371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有限广播地址</a:t>
            </a:r>
          </a:p>
        </p:txBody>
      </p:sp>
      <p:sp>
        <p:nvSpPr>
          <p:cNvPr id="24580" name="Rectangle 7"/>
          <p:cNvSpPr>
            <a:spLocks noChangeArrowheads="1"/>
          </p:cNvSpPr>
          <p:nvPr/>
        </p:nvSpPr>
        <p:spPr bwMode="auto">
          <a:xfrm>
            <a:off x="2690814" y="5622925"/>
            <a:ext cx="4960937" cy="973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3365" name="Text Box 5"/>
          <p:cNvSpPr txBox="1">
            <a:spLocks noChangeArrowheads="1"/>
          </p:cNvSpPr>
          <p:nvPr/>
        </p:nvSpPr>
        <p:spPr bwMode="auto">
          <a:xfrm>
            <a:off x="3081339" y="5661025"/>
            <a:ext cx="46497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有限广播地址一般用于路由器向同一网络内的所有主机发送报文，然而</a:t>
            </a:r>
            <a:r>
              <a:rPr lang="en-US" altLang="zh-CN" sz="1800">
                <a:solidFill>
                  <a:schemeClr val="tx1"/>
                </a:solidFill>
              </a:rPr>
              <a:t>,</a:t>
            </a:r>
            <a:r>
              <a:rPr lang="zh-CN" altLang="en-US" sz="1800">
                <a:solidFill>
                  <a:schemeClr val="tx1"/>
                </a:solidFill>
              </a:rPr>
              <a:t>该报文分组被路由器限制在本地网络之内</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3365">
                                            <p:txEl>
                                              <p:pRg st="0" end="0"/>
                                            </p:txEl>
                                          </p:spTgt>
                                        </p:tgtEl>
                                        <p:attrNameLst>
                                          <p:attrName>style.visibility</p:attrName>
                                        </p:attrNameLst>
                                      </p:cBhvr>
                                      <p:to>
                                        <p:strVal val="visible"/>
                                      </p:to>
                                    </p:set>
                                    <p:anim calcmode="lin" valueType="num">
                                      <p:cBhvr additive="base">
                                        <p:cTn id="7" dur="500" fill="hold"/>
                                        <p:tgtEl>
                                          <p:spTgt spid="142336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336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65"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Grp="1" noChangeAspect="1" noChangeArrowheads="1"/>
          </p:cNvPicPr>
          <p:nvPr>
            <p:ph type="tbl" idx="1"/>
          </p:nvPr>
        </p:nvPicPr>
        <p:blipFill>
          <a:blip r:embed="rId2">
            <a:extLst>
              <a:ext uri="{28A0092B-C50C-407E-A947-70E740481C1C}">
                <a14:useLocalDpi xmlns:a14="http://schemas.microsoft.com/office/drawing/2010/main" val="0"/>
              </a:ext>
            </a:extLst>
          </a:blip>
          <a:srcRect/>
          <a:stretch>
            <a:fillRect/>
          </a:stretch>
        </p:blipFill>
        <p:spPr bwMode="auto">
          <a:xfrm>
            <a:off x="2301875" y="1225550"/>
            <a:ext cx="7913688" cy="4908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4"/>
          <p:cNvSpPr>
            <a:spLocks noGrp="1" noChangeArrowheads="1"/>
          </p:cNvSpPr>
          <p:nvPr>
            <p:ph type="title"/>
          </p:nvPr>
        </p:nvSpPr>
        <p:spPr bwMode="auto">
          <a:xfrm>
            <a:off x="2308225" y="279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本网络</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本主机）</a:t>
            </a:r>
          </a:p>
        </p:txBody>
      </p:sp>
      <p:sp>
        <p:nvSpPr>
          <p:cNvPr id="25604" name="Rectangle 7"/>
          <p:cNvSpPr>
            <a:spLocks noChangeArrowheads="1"/>
          </p:cNvSpPr>
          <p:nvPr/>
        </p:nvSpPr>
        <p:spPr bwMode="auto">
          <a:xfrm>
            <a:off x="3567113" y="5603875"/>
            <a:ext cx="5213350" cy="992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4389" name="Text Box 5"/>
          <p:cNvSpPr txBox="1">
            <a:spLocks noChangeArrowheads="1"/>
          </p:cNvSpPr>
          <p:nvPr/>
        </p:nvSpPr>
        <p:spPr bwMode="auto">
          <a:xfrm>
            <a:off x="3992564" y="5610225"/>
            <a:ext cx="46497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不知道本站</a:t>
            </a:r>
            <a:r>
              <a:rPr lang="en-US" altLang="zh-CN" sz="1800">
                <a:solidFill>
                  <a:schemeClr val="tx1"/>
                </a:solidFill>
              </a:rPr>
              <a:t>IP</a:t>
            </a:r>
            <a:r>
              <a:rPr lang="zh-CN" altLang="en-US" sz="1800">
                <a:solidFill>
                  <a:schemeClr val="tx1"/>
                </a:solidFill>
              </a:rPr>
              <a:t>地址的主机使用</a:t>
            </a:r>
            <a:r>
              <a:rPr lang="en-US" altLang="zh-CN" sz="1800">
                <a:solidFill>
                  <a:schemeClr val="tx1"/>
                </a:solidFill>
              </a:rPr>
              <a:t>0.0.0.0IP</a:t>
            </a:r>
            <a:r>
              <a:rPr lang="zh-CN" altLang="en-US" sz="1800">
                <a:solidFill>
                  <a:schemeClr val="tx1"/>
                </a:solidFill>
              </a:rPr>
              <a:t>地址作为源地址</a:t>
            </a:r>
            <a:r>
              <a:rPr lang="en-US" altLang="zh-CN" sz="1800">
                <a:solidFill>
                  <a:schemeClr val="tx1"/>
                </a:solidFill>
              </a:rPr>
              <a:t>,255.255.255.255</a:t>
            </a:r>
            <a:r>
              <a:rPr lang="zh-CN" altLang="en-US" sz="1800">
                <a:solidFill>
                  <a:schemeClr val="tx1"/>
                </a:solidFill>
              </a:rPr>
              <a:t>为目的地址</a:t>
            </a:r>
            <a:r>
              <a:rPr lang="en-US" altLang="zh-CN" sz="1800">
                <a:solidFill>
                  <a:schemeClr val="tx1"/>
                </a:solidFill>
              </a:rPr>
              <a:t>,</a:t>
            </a:r>
            <a:r>
              <a:rPr lang="zh-CN" altLang="en-US" sz="1800">
                <a:solidFill>
                  <a:schemeClr val="tx1"/>
                </a:solidFill>
              </a:rPr>
              <a:t>向引导服务器发送报文</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4389">
                                            <p:txEl>
                                              <p:pRg st="0" end="0"/>
                                            </p:txEl>
                                          </p:spTgt>
                                        </p:tgtEl>
                                        <p:attrNameLst>
                                          <p:attrName>style.visibility</p:attrName>
                                        </p:attrNameLst>
                                      </p:cBhvr>
                                      <p:to>
                                        <p:strVal val="visible"/>
                                      </p:to>
                                    </p:set>
                                    <p:anim calcmode="lin" valueType="num">
                                      <p:cBhvr additive="base">
                                        <p:cTn id="7" dur="500" fill="hold"/>
                                        <p:tgtEl>
                                          <p:spTgt spid="142438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438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389"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697038" y="1236663"/>
            <a:ext cx="8763000" cy="4787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4"/>
          <p:cNvSpPr>
            <a:spLocks noGrp="1" noChangeArrowheads="1"/>
          </p:cNvSpPr>
          <p:nvPr>
            <p:ph type="title"/>
          </p:nvPr>
        </p:nvSpPr>
        <p:spPr bwMode="auto">
          <a:xfrm>
            <a:off x="230663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本网络）</a:t>
            </a:r>
          </a:p>
        </p:txBody>
      </p:sp>
      <p:sp>
        <p:nvSpPr>
          <p:cNvPr id="26628" name="Rectangle 6"/>
          <p:cNvSpPr>
            <a:spLocks noChangeArrowheads="1"/>
          </p:cNvSpPr>
          <p:nvPr/>
        </p:nvSpPr>
        <p:spPr bwMode="auto">
          <a:xfrm>
            <a:off x="3916364" y="5797550"/>
            <a:ext cx="4962525" cy="700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5413" name="Text Box 5"/>
          <p:cNvSpPr txBox="1">
            <a:spLocks noChangeArrowheads="1"/>
          </p:cNvSpPr>
          <p:nvPr/>
        </p:nvSpPr>
        <p:spPr bwMode="auto">
          <a:xfrm>
            <a:off x="3994150" y="5894388"/>
            <a:ext cx="4649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该地址用于路由器或主机向本网络内指定的目的站发送报文</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5413">
                                            <p:txEl>
                                              <p:pRg st="0" end="0"/>
                                            </p:txEl>
                                          </p:spTgt>
                                        </p:tgtEl>
                                        <p:attrNameLst>
                                          <p:attrName>style.visibility</p:attrName>
                                        </p:attrNameLst>
                                      </p:cBhvr>
                                      <p:to>
                                        <p:strVal val="visible"/>
                                      </p:to>
                                    </p:set>
                                    <p:anim calcmode="lin" valueType="num">
                                      <p:cBhvr additive="base">
                                        <p:cTn id="7" dur="500" fill="hold"/>
                                        <p:tgtEl>
                                          <p:spTgt spid="14254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541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541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2284414" y="1654175"/>
            <a:ext cx="8002587" cy="4637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4"/>
          <p:cNvSpPr>
            <a:spLocks noGrp="1" noChangeArrowheads="1"/>
          </p:cNvSpPr>
          <p:nvPr>
            <p:ph type="title"/>
          </p:nvPr>
        </p:nvSpPr>
        <p:spPr bwMode="auto">
          <a:xfrm>
            <a:off x="228758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本主机）</a:t>
            </a:r>
          </a:p>
        </p:txBody>
      </p:sp>
      <p:sp>
        <p:nvSpPr>
          <p:cNvPr id="1872901" name="Text Box 5"/>
          <p:cNvSpPr txBox="1">
            <a:spLocks noChangeArrowheads="1"/>
          </p:cNvSpPr>
          <p:nvPr/>
        </p:nvSpPr>
        <p:spPr bwMode="auto">
          <a:xfrm>
            <a:off x="6777038" y="5564189"/>
            <a:ext cx="319246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不知道本站</a:t>
            </a:r>
            <a:r>
              <a:rPr lang="en-US" altLang="zh-CN" sz="1800">
                <a:solidFill>
                  <a:schemeClr val="tx1"/>
                </a:solidFill>
              </a:rPr>
              <a:t>IP</a:t>
            </a:r>
            <a:r>
              <a:rPr lang="zh-CN" altLang="en-US" sz="1800">
                <a:solidFill>
                  <a:schemeClr val="tx1"/>
                </a:solidFill>
              </a:rPr>
              <a:t>地址的主机使用</a:t>
            </a:r>
            <a:r>
              <a:rPr lang="en-US" altLang="zh-CN" sz="1800">
                <a:solidFill>
                  <a:schemeClr val="tx1"/>
                </a:solidFill>
              </a:rPr>
              <a:t>0.0.0.0IP</a:t>
            </a:r>
            <a:r>
              <a:rPr lang="zh-CN" altLang="en-US" sz="1800">
                <a:solidFill>
                  <a:schemeClr val="tx1"/>
                </a:solidFill>
              </a:rPr>
              <a:t>地址作为源地址向指定网络的引导服务器发送报文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72901">
                                            <p:txEl>
                                              <p:pRg st="0" end="0"/>
                                            </p:txEl>
                                          </p:spTgt>
                                        </p:tgtEl>
                                        <p:attrNameLst>
                                          <p:attrName>style.visibility</p:attrName>
                                        </p:attrNameLst>
                                      </p:cBhvr>
                                      <p:to>
                                        <p:strVal val="visible"/>
                                      </p:to>
                                    </p:set>
                                    <p:anim calcmode="lin" valueType="num">
                                      <p:cBhvr additive="base">
                                        <p:cTn id="7" dur="500" fill="hold"/>
                                        <p:tgtEl>
                                          <p:spTgt spid="187290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7290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2901"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882776" y="1219200"/>
            <a:ext cx="8132763" cy="4732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4"/>
          <p:cNvSpPr>
            <a:spLocks noGrp="1" noChangeArrowheads="1"/>
          </p:cNvSpPr>
          <p:nvPr>
            <p:ph type="title"/>
          </p:nvPr>
        </p:nvSpPr>
        <p:spPr bwMode="auto">
          <a:xfrm>
            <a:off x="2209800"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回送地址</a:t>
            </a:r>
          </a:p>
        </p:txBody>
      </p:sp>
      <p:sp>
        <p:nvSpPr>
          <p:cNvPr id="28676" name="Rectangle 6"/>
          <p:cNvSpPr>
            <a:spLocks noChangeArrowheads="1"/>
          </p:cNvSpPr>
          <p:nvPr/>
        </p:nvSpPr>
        <p:spPr bwMode="auto">
          <a:xfrm>
            <a:off x="4189414" y="6108701"/>
            <a:ext cx="3502025" cy="447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6437" name="Text Box 5"/>
          <p:cNvSpPr txBox="1">
            <a:spLocks noChangeArrowheads="1"/>
          </p:cNvSpPr>
          <p:nvPr/>
        </p:nvSpPr>
        <p:spPr bwMode="auto">
          <a:xfrm>
            <a:off x="3722689" y="6072188"/>
            <a:ext cx="5214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带有回送地址的报文将不会到达网络</a:t>
            </a:r>
            <a:r>
              <a:rPr lang="en-US" altLang="zh-CN" sz="1800">
                <a:solidFill>
                  <a:schemeClr val="tx1"/>
                </a:solidFill>
              </a:rPr>
              <a:t>,</a:t>
            </a:r>
            <a:r>
              <a:rPr lang="zh-CN" altLang="en-US" sz="1800">
                <a:solidFill>
                  <a:schemeClr val="tx1"/>
                </a:solidFill>
              </a:rPr>
              <a:t>而直接回送</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6437">
                                            <p:txEl>
                                              <p:pRg st="0" end="0"/>
                                            </p:txEl>
                                          </p:spTgt>
                                        </p:tgtEl>
                                        <p:attrNameLst>
                                          <p:attrName>style.visibility</p:attrName>
                                        </p:attrNameLst>
                                      </p:cBhvr>
                                      <p:to>
                                        <p:strVal val="visible"/>
                                      </p:to>
                                    </p:set>
                                    <p:anim calcmode="lin" valueType="num">
                                      <p:cBhvr additive="base">
                                        <p:cTn id="7" dur="500" fill="hold"/>
                                        <p:tgtEl>
                                          <p:spTgt spid="14264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643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643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bwMode="auto">
          <a:xfrm>
            <a:off x="1631950" y="1268413"/>
            <a:ext cx="8839200" cy="27686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marL="293688" indent="-293688"/>
            <a:r>
              <a:rPr lang="zh-CN" altLang="en-US"/>
              <a:t>一类特殊的结点：</a:t>
            </a:r>
            <a:r>
              <a:rPr lang="zh-CN" altLang="en-US" sz="2400"/>
              <a:t>具有多个物理接口、连接到多个网络上</a:t>
            </a:r>
          </a:p>
          <a:p>
            <a:pPr marL="658813" lvl="1" indent="-174625"/>
            <a:r>
              <a:rPr lang="zh-CN" altLang="en-US" sz="2200"/>
              <a:t>路由器、多穴主机（</a:t>
            </a:r>
            <a:r>
              <a:rPr lang="en-US" altLang="zh-CN" sz="2200"/>
              <a:t>multi-homed host</a:t>
            </a:r>
            <a:r>
              <a:rPr lang="zh-CN" altLang="en-US" sz="2200"/>
              <a:t>）</a:t>
            </a:r>
          </a:p>
          <a:p>
            <a:pPr marL="658813" lvl="1" indent="-174625"/>
            <a:r>
              <a:rPr lang="zh-CN" altLang="en-US" sz="2200"/>
              <a:t>该结点同时属于它所连接的多个网络</a:t>
            </a:r>
          </a:p>
          <a:p>
            <a:pPr marL="658813" lvl="1" indent="-174625"/>
            <a:r>
              <a:rPr lang="zh-CN" altLang="en-US" sz="2200"/>
              <a:t>对应于结点所连接的每一个网络，给该结点分配一个 </a:t>
            </a:r>
            <a:r>
              <a:rPr lang="en-US" altLang="zh-CN" sz="2200"/>
              <a:t>IP </a:t>
            </a:r>
            <a:r>
              <a:rPr lang="zh-CN" altLang="en-US" sz="2200"/>
              <a:t>地址</a:t>
            </a:r>
          </a:p>
          <a:p>
            <a:pPr marL="658813" lvl="1" indent="-174625"/>
            <a:r>
              <a:rPr lang="zh-CN" altLang="en-US" sz="2200"/>
              <a:t>结点具有多少个网络连接就拥有多少 个</a:t>
            </a:r>
            <a:r>
              <a:rPr lang="en-US" altLang="zh-CN" sz="2200"/>
              <a:t>IP </a:t>
            </a:r>
            <a:r>
              <a:rPr lang="zh-CN" altLang="en-US" sz="2200"/>
              <a:t>地址</a:t>
            </a:r>
          </a:p>
          <a:p>
            <a:pPr marL="293688" indent="-293688"/>
            <a:r>
              <a:rPr lang="zh-CN" altLang="en-US"/>
              <a:t>可见，</a:t>
            </a:r>
            <a:r>
              <a:rPr lang="zh-CN" altLang="en-US">
                <a:solidFill>
                  <a:srgbClr val="FF0000"/>
                </a:solidFill>
                <a:latin typeface="Times New Roman" panose="02020603050405020304" pitchFamily="18" charset="0"/>
              </a:rPr>
              <a:t>网间网地址真正标识的不是主机</a:t>
            </a:r>
            <a:r>
              <a:rPr lang="en-US" altLang="zh-CN">
                <a:solidFill>
                  <a:srgbClr val="FF0000"/>
                </a:solidFill>
              </a:rPr>
              <a:t>, </a:t>
            </a:r>
            <a:r>
              <a:rPr lang="zh-CN" altLang="en-US">
                <a:solidFill>
                  <a:srgbClr val="FF0000"/>
                </a:solidFill>
                <a:latin typeface="Times New Roman" panose="02020603050405020304" pitchFamily="18" charset="0"/>
              </a:rPr>
              <a:t>而是主机的网络连接</a:t>
            </a:r>
            <a:r>
              <a:rPr lang="en-US" altLang="zh-CN">
                <a:solidFill>
                  <a:srgbClr val="FF0000"/>
                </a:solidFill>
              </a:rPr>
              <a:t>.</a:t>
            </a:r>
            <a:r>
              <a:rPr lang="en-US" altLang="zh-CN"/>
              <a:t> </a:t>
            </a:r>
          </a:p>
        </p:txBody>
      </p:sp>
      <p:grpSp>
        <p:nvGrpSpPr>
          <p:cNvPr id="2" name="Group 4"/>
          <p:cNvGrpSpPr>
            <a:grpSpLocks/>
          </p:cNvGrpSpPr>
          <p:nvPr/>
        </p:nvGrpSpPr>
        <p:grpSpPr bwMode="auto">
          <a:xfrm>
            <a:off x="1781176" y="3973514"/>
            <a:ext cx="8670925" cy="1900237"/>
            <a:chOff x="139" y="2726"/>
            <a:chExt cx="5462" cy="1197"/>
          </a:xfrm>
        </p:grpSpPr>
        <p:sp>
          <p:nvSpPr>
            <p:cNvPr id="29704" name="Line 5"/>
            <p:cNvSpPr>
              <a:spLocks noChangeShapeType="1"/>
            </p:cNvSpPr>
            <p:nvPr/>
          </p:nvSpPr>
          <p:spPr bwMode="auto">
            <a:xfrm>
              <a:off x="1408" y="3474"/>
              <a:ext cx="2970" cy="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5" name="AutoShape 6"/>
            <p:cNvSpPr>
              <a:spLocks noChangeArrowheads="1"/>
            </p:cNvSpPr>
            <p:nvPr/>
          </p:nvSpPr>
          <p:spPr bwMode="auto">
            <a:xfrm>
              <a:off x="139" y="2867"/>
              <a:ext cx="1344" cy="1056"/>
            </a:xfrm>
            <a:prstGeom prst="cloudCallout">
              <a:avLst>
                <a:gd name="adj1" fmla="val -34375"/>
                <a:gd name="adj2" fmla="val 35699"/>
              </a:avLst>
            </a:prstGeom>
            <a:solidFill>
              <a:srgbClr val="0000FF"/>
            </a:solidFill>
            <a:ln w="12700">
              <a:solidFill>
                <a:schemeClr val="tx2"/>
              </a:solidFill>
              <a:round/>
              <a:headEnd/>
              <a:tailEnd/>
            </a:ln>
          </p:spPr>
          <p:txBody>
            <a:bodyPr wrap="none" lIns="0" tIns="0" rIns="0" bIns="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latin typeface="Verdana" panose="020B0604030504040204" pitchFamily="34" charset="0"/>
                </a:rPr>
                <a:t>网络 </a:t>
              </a:r>
              <a:r>
                <a:rPr kumimoji="1" lang="en-US" altLang="zh-CN">
                  <a:solidFill>
                    <a:schemeClr val="bg1"/>
                  </a:solidFill>
                  <a:latin typeface="Verdana" panose="020B0604030504040204" pitchFamily="34" charset="0"/>
                </a:rPr>
                <a:t>1</a:t>
              </a:r>
            </a:p>
            <a:p>
              <a:pPr algn="ctr" eaLnBrk="1" hangingPunct="1"/>
              <a:r>
                <a:rPr kumimoji="1" lang="en-US" altLang="zh-CN" sz="2000">
                  <a:solidFill>
                    <a:schemeClr val="bg1"/>
                  </a:solidFill>
                  <a:latin typeface="Verdana" panose="020B0604030504040204" pitchFamily="34" charset="0"/>
                </a:rPr>
                <a:t>10.0.0.0/8</a:t>
              </a:r>
            </a:p>
          </p:txBody>
        </p:sp>
        <p:sp>
          <p:nvSpPr>
            <p:cNvPr id="29706" name="AutoShape 7"/>
            <p:cNvSpPr>
              <a:spLocks noChangeArrowheads="1"/>
            </p:cNvSpPr>
            <p:nvPr/>
          </p:nvSpPr>
          <p:spPr bwMode="auto">
            <a:xfrm>
              <a:off x="4257" y="2778"/>
              <a:ext cx="1344" cy="1056"/>
            </a:xfrm>
            <a:prstGeom prst="cloudCallout">
              <a:avLst>
                <a:gd name="adj1" fmla="val -34375"/>
                <a:gd name="adj2" fmla="val 35699"/>
              </a:avLst>
            </a:prstGeom>
            <a:solidFill>
              <a:srgbClr val="0000FF"/>
            </a:solidFill>
            <a:ln w="12700">
              <a:solidFill>
                <a:schemeClr val="tx2"/>
              </a:solidFill>
              <a:round/>
              <a:headEnd/>
              <a:tailEnd/>
            </a:ln>
          </p:spPr>
          <p:txBody>
            <a:bodyPr wrap="none" lIns="0" tIns="0" rIns="0" bIns="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000">
                  <a:solidFill>
                    <a:schemeClr val="bg1"/>
                  </a:solidFill>
                  <a:latin typeface="Verdana" panose="020B0604030504040204" pitchFamily="34" charset="0"/>
                </a:rPr>
                <a:t>网络 </a:t>
              </a:r>
              <a:r>
                <a:rPr kumimoji="1" lang="en-US" altLang="zh-CN" sz="2000">
                  <a:solidFill>
                    <a:schemeClr val="bg1"/>
                  </a:solidFill>
                  <a:latin typeface="Verdana" panose="020B0604030504040204" pitchFamily="34" charset="0"/>
                </a:rPr>
                <a:t>2</a:t>
              </a:r>
            </a:p>
            <a:p>
              <a:pPr algn="ctr" eaLnBrk="1" hangingPunct="1"/>
              <a:r>
                <a:rPr kumimoji="1" lang="en-US" altLang="zh-CN" sz="2000">
                  <a:solidFill>
                    <a:schemeClr val="bg1"/>
                  </a:solidFill>
                  <a:latin typeface="Verdana" panose="020B0604030504040204" pitchFamily="34" charset="0"/>
                </a:rPr>
                <a:t>192.0.1.0/24</a:t>
              </a:r>
            </a:p>
          </p:txBody>
        </p:sp>
        <p:grpSp>
          <p:nvGrpSpPr>
            <p:cNvPr id="29707" name="Group 8"/>
            <p:cNvGrpSpPr>
              <a:grpSpLocks/>
            </p:cNvGrpSpPr>
            <p:nvPr/>
          </p:nvGrpSpPr>
          <p:grpSpPr bwMode="auto">
            <a:xfrm>
              <a:off x="2381" y="2726"/>
              <a:ext cx="876" cy="992"/>
              <a:chOff x="2530" y="2726"/>
              <a:chExt cx="876" cy="992"/>
            </a:xfrm>
          </p:grpSpPr>
          <p:sp>
            <p:nvSpPr>
              <p:cNvPr id="29708" name="Rectangle 9"/>
              <p:cNvSpPr>
                <a:spLocks noChangeArrowheads="1"/>
              </p:cNvSpPr>
              <p:nvPr/>
            </p:nvSpPr>
            <p:spPr bwMode="auto">
              <a:xfrm>
                <a:off x="2531" y="2726"/>
                <a:ext cx="875" cy="992"/>
              </a:xfrm>
              <a:prstGeom prst="rect">
                <a:avLst/>
              </a:prstGeom>
              <a:solidFill>
                <a:srgbClr val="0066FF"/>
              </a:solidFill>
              <a:ln w="28575">
                <a:solidFill>
                  <a:schemeClr val="tx2"/>
                </a:solidFill>
                <a:miter lim="800000"/>
                <a:headEnd/>
                <a:tailEnd/>
              </a:ln>
            </p:spPr>
            <p:txBody>
              <a:bodyPr wrap="none"/>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主机</a:t>
                </a:r>
              </a:p>
            </p:txBody>
          </p:sp>
          <p:sp>
            <p:nvSpPr>
              <p:cNvPr id="29709" name="Rectangle 10"/>
              <p:cNvSpPr>
                <a:spLocks noChangeArrowheads="1"/>
              </p:cNvSpPr>
              <p:nvPr/>
            </p:nvSpPr>
            <p:spPr bwMode="auto">
              <a:xfrm>
                <a:off x="2530" y="3046"/>
                <a:ext cx="336" cy="624"/>
              </a:xfrm>
              <a:prstGeom prst="rect">
                <a:avLst/>
              </a:prstGeom>
              <a:solidFill>
                <a:srgbClr val="FF66FF"/>
              </a:solidFill>
              <a:ln w="9525">
                <a:solidFill>
                  <a:schemeClr val="bg2"/>
                </a:solidFill>
                <a:miter lim="800000"/>
                <a:headEnd/>
                <a:tailEnd/>
              </a:ln>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Verdana" panose="020B0604030504040204" pitchFamily="34" charset="0"/>
                    <a:ea typeface="隶书" panose="02010509060101010101" pitchFamily="49" charset="-122"/>
                  </a:rPr>
                  <a:t>接口</a:t>
                </a:r>
                <a:r>
                  <a:rPr kumimoji="1" lang="en-US" altLang="zh-CN" sz="2400">
                    <a:solidFill>
                      <a:srgbClr val="000099"/>
                    </a:solidFill>
                    <a:latin typeface="Verdana" panose="020B0604030504040204" pitchFamily="34" charset="0"/>
                    <a:ea typeface="隶书" panose="02010509060101010101" pitchFamily="49" charset="-122"/>
                  </a:rPr>
                  <a:t>A</a:t>
                </a:r>
              </a:p>
            </p:txBody>
          </p:sp>
          <p:sp>
            <p:nvSpPr>
              <p:cNvPr id="29710" name="Rectangle 11"/>
              <p:cNvSpPr>
                <a:spLocks noChangeArrowheads="1"/>
              </p:cNvSpPr>
              <p:nvPr/>
            </p:nvSpPr>
            <p:spPr bwMode="auto">
              <a:xfrm>
                <a:off x="3070" y="3046"/>
                <a:ext cx="336" cy="624"/>
              </a:xfrm>
              <a:prstGeom prst="rect">
                <a:avLst/>
              </a:prstGeom>
              <a:solidFill>
                <a:srgbClr val="FF66FF"/>
              </a:solidFill>
              <a:ln w="9525">
                <a:solidFill>
                  <a:schemeClr val="bg2"/>
                </a:solidFill>
                <a:miter lim="800000"/>
                <a:headEnd/>
                <a:tailEnd/>
              </a:ln>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Verdana" panose="020B0604030504040204" pitchFamily="34" charset="0"/>
                    <a:ea typeface="隶书" panose="02010509060101010101" pitchFamily="49" charset="-122"/>
                  </a:rPr>
                  <a:t>接口</a:t>
                </a:r>
                <a:r>
                  <a:rPr kumimoji="1" lang="en-US" altLang="zh-CN" sz="2400">
                    <a:solidFill>
                      <a:srgbClr val="000099"/>
                    </a:solidFill>
                    <a:latin typeface="Verdana" panose="020B0604030504040204" pitchFamily="34" charset="0"/>
                    <a:ea typeface="隶书" panose="02010509060101010101" pitchFamily="49" charset="-122"/>
                  </a:rPr>
                  <a:t>B</a:t>
                </a:r>
              </a:p>
            </p:txBody>
          </p:sp>
        </p:grpSp>
      </p:grpSp>
      <p:grpSp>
        <p:nvGrpSpPr>
          <p:cNvPr id="4" name="Group 12"/>
          <p:cNvGrpSpPr>
            <a:grpSpLocks/>
          </p:cNvGrpSpPr>
          <p:nvPr/>
        </p:nvGrpSpPr>
        <p:grpSpPr bwMode="auto">
          <a:xfrm>
            <a:off x="4260851" y="5140326"/>
            <a:ext cx="3535363" cy="315913"/>
            <a:chOff x="1488" y="2544"/>
            <a:chExt cx="2832" cy="288"/>
          </a:xfrm>
        </p:grpSpPr>
        <p:sp>
          <p:nvSpPr>
            <p:cNvPr id="29702" name="Rectangle 13"/>
            <p:cNvSpPr>
              <a:spLocks noChangeArrowheads="1"/>
            </p:cNvSpPr>
            <p:nvPr/>
          </p:nvSpPr>
          <p:spPr bwMode="auto">
            <a:xfrm>
              <a:off x="1488" y="2544"/>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r" eaLnBrk="1" hangingPunct="1"/>
              <a:r>
                <a:rPr kumimoji="1" lang="en-US" altLang="zh-CN">
                  <a:solidFill>
                    <a:schemeClr val="tx2"/>
                  </a:solidFill>
                  <a:ea typeface="华文新魏" panose="02010800040101010101" pitchFamily="2" charset="-122"/>
                </a:rPr>
                <a:t>10.0.0.1</a:t>
              </a:r>
            </a:p>
          </p:txBody>
        </p:sp>
        <p:sp>
          <p:nvSpPr>
            <p:cNvPr id="29703" name="Rectangle 14"/>
            <p:cNvSpPr>
              <a:spLocks noChangeArrowheads="1"/>
            </p:cNvSpPr>
            <p:nvPr/>
          </p:nvSpPr>
          <p:spPr bwMode="auto">
            <a:xfrm>
              <a:off x="3504" y="2592"/>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kumimoji="1" lang="en-US" altLang="zh-CN">
                  <a:solidFill>
                    <a:schemeClr val="tx2"/>
                  </a:solidFill>
                  <a:ea typeface="华文新魏" panose="02010800040101010101" pitchFamily="2" charset="-122"/>
                </a:rPr>
                <a:t>192.0.1.1</a:t>
              </a:r>
            </a:p>
          </p:txBody>
        </p:sp>
      </p:grpSp>
      <p:sp>
        <p:nvSpPr>
          <p:cNvPr id="29701" name="Rectangle 15"/>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200">
                <a:solidFill>
                  <a:schemeClr val="hlink"/>
                </a:solidFill>
                <a:ea typeface="华文行楷" panose="02010800040101010101" pitchFamily="2" charset="-122"/>
              </a:rPr>
              <a:t>路由器和多穴主机的 </a:t>
            </a:r>
            <a:r>
              <a:rPr lang="en-US" altLang="zh-CN" sz="3200">
                <a:solidFill>
                  <a:schemeClr val="hlink"/>
                </a:solidFill>
                <a:ea typeface="华文行楷" panose="02010800040101010101" pitchFamily="2" charset="-122"/>
              </a:rPr>
              <a:t>IP </a:t>
            </a:r>
            <a:r>
              <a:rPr lang="zh-CN" altLang="en-US" sz="3200">
                <a:solidFill>
                  <a:schemeClr val="hlink"/>
                </a:solidFill>
                <a:ea typeface="华文行楷" panose="02010800040101010101" pitchFamily="2" charset="-122"/>
              </a:rPr>
              <a:t>地址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2209800" y="247651"/>
            <a:ext cx="7772400" cy="7350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分类</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地址存在的问题</a:t>
            </a:r>
          </a:p>
        </p:txBody>
      </p:sp>
      <p:sp>
        <p:nvSpPr>
          <p:cNvPr id="1849348" name="Text Box 4"/>
          <p:cNvSpPr txBox="1">
            <a:spLocks noChangeArrowheads="1"/>
          </p:cNvSpPr>
          <p:nvPr/>
        </p:nvSpPr>
        <p:spPr bwMode="auto">
          <a:xfrm>
            <a:off x="2379664" y="1227138"/>
            <a:ext cx="8047037"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分类地址划分存在许多问题：</a:t>
            </a:r>
          </a:p>
          <a:p>
            <a:pPr>
              <a:spcBef>
                <a:spcPct val="20000"/>
              </a:spcBef>
            </a:pPr>
            <a:r>
              <a:rPr lang="zh-CN" altLang="en-US" b="1">
                <a:solidFill>
                  <a:srgbClr val="FF0000"/>
                </a:solidFill>
                <a:latin typeface="Arial" panose="020B0604020202020204" pitchFamily="34" charset="0"/>
              </a:rPr>
              <a:t>问题 </a:t>
            </a:r>
            <a:r>
              <a:rPr lang="en-US" altLang="zh-CN" b="1">
                <a:solidFill>
                  <a:srgbClr val="FF0000"/>
                </a:solidFill>
                <a:latin typeface="Arial" panose="020B0604020202020204" pitchFamily="34" charset="0"/>
              </a:rPr>
              <a:t>1. </a:t>
            </a:r>
            <a:r>
              <a:rPr lang="zh-CN" altLang="en-US" b="1">
                <a:solidFill>
                  <a:srgbClr val="3333CD"/>
                </a:solidFill>
                <a:latin typeface="Arial" panose="020B0604020202020204" pitchFamily="34" charset="0"/>
              </a:rPr>
              <a:t>用于大型网络的地址太少</a:t>
            </a:r>
          </a:p>
          <a:p>
            <a:pPr>
              <a:spcBef>
                <a:spcPct val="20000"/>
              </a:spcBef>
            </a:pPr>
            <a:r>
              <a:rPr lang="en-US" altLang="zh-CN">
                <a:solidFill>
                  <a:srgbClr val="000000"/>
                </a:solidFill>
                <a:latin typeface="Arial" panose="020B0604020202020204" pitchFamily="34" charset="0"/>
              </a:rPr>
              <a:t>	</a:t>
            </a:r>
            <a:r>
              <a:rPr lang="en-US" altLang="zh-CN">
                <a:solidFill>
                  <a:srgbClr val="000000"/>
                </a:solidFill>
              </a:rPr>
              <a:t> – </a:t>
            </a:r>
            <a:r>
              <a:rPr lang="en-US" altLang="zh-CN">
                <a:solidFill>
                  <a:srgbClr val="000000"/>
                </a:solidFill>
                <a:latin typeface="Arial" panose="020B0604020202020204" pitchFamily="34" charset="0"/>
              </a:rPr>
              <a:t>A </a:t>
            </a:r>
            <a:r>
              <a:rPr lang="zh-CN" altLang="en-US">
                <a:solidFill>
                  <a:srgbClr val="000000"/>
                </a:solidFill>
                <a:latin typeface="Arial" panose="020B0604020202020204" pitchFamily="34" charset="0"/>
              </a:rPr>
              <a:t>类和 </a:t>
            </a:r>
            <a:r>
              <a:rPr lang="en-US" altLang="zh-CN">
                <a:solidFill>
                  <a:srgbClr val="000000"/>
                </a:solidFill>
                <a:latin typeface="Arial" panose="020B0604020202020204" pitchFamily="34" charset="0"/>
              </a:rPr>
              <a:t>B </a:t>
            </a:r>
            <a:r>
              <a:rPr lang="zh-CN" altLang="en-US">
                <a:solidFill>
                  <a:srgbClr val="000000"/>
                </a:solidFill>
                <a:latin typeface="Arial" panose="020B0604020202020204" pitchFamily="34" charset="0"/>
              </a:rPr>
              <a:t>类地址快用完了</a:t>
            </a:r>
            <a:r>
              <a:rPr lang="en-US" altLang="zh-CN">
                <a:solidFill>
                  <a:srgbClr val="000000"/>
                </a:solidFill>
                <a:latin typeface="Arial" panose="020B0604020202020204" pitchFamily="34" charset="0"/>
              </a:rPr>
              <a:t>.</a:t>
            </a:r>
          </a:p>
          <a:p>
            <a:pPr algn="just"/>
            <a:r>
              <a:rPr lang="zh-CN" altLang="en-US" b="1">
                <a:solidFill>
                  <a:srgbClr val="FF0000"/>
                </a:solidFill>
              </a:rPr>
              <a:t>问题 </a:t>
            </a:r>
            <a:r>
              <a:rPr lang="en-US" altLang="zh-CN" b="1">
                <a:solidFill>
                  <a:srgbClr val="FF0000"/>
                </a:solidFill>
              </a:rPr>
              <a:t>2. </a:t>
            </a:r>
            <a:r>
              <a:rPr lang="zh-CN" altLang="en-US" b="1">
                <a:solidFill>
                  <a:srgbClr val="3333CD"/>
                </a:solidFill>
              </a:rPr>
              <a:t>两层体系用于具有 </a:t>
            </a:r>
            <a:r>
              <a:rPr lang="en-US" altLang="zh-CN" b="1">
                <a:solidFill>
                  <a:srgbClr val="3333CD"/>
                </a:solidFill>
              </a:rPr>
              <a:t>A </a:t>
            </a:r>
            <a:r>
              <a:rPr lang="zh-CN" altLang="en-US" b="1">
                <a:solidFill>
                  <a:srgbClr val="3333CD"/>
                </a:solidFill>
              </a:rPr>
              <a:t>类和 </a:t>
            </a:r>
            <a:r>
              <a:rPr lang="en-US" altLang="zh-CN" b="1">
                <a:solidFill>
                  <a:srgbClr val="3333CD"/>
                </a:solidFill>
              </a:rPr>
              <a:t>B </a:t>
            </a:r>
            <a:r>
              <a:rPr lang="zh-CN" altLang="en-US" b="1">
                <a:solidFill>
                  <a:srgbClr val="3333CD"/>
                </a:solidFill>
              </a:rPr>
              <a:t>类地址的大 </a:t>
            </a:r>
            <a:endParaRPr lang="en-US" altLang="zh-CN" b="1">
              <a:solidFill>
                <a:srgbClr val="3333CD"/>
              </a:solidFill>
            </a:endParaRPr>
          </a:p>
          <a:p>
            <a:pPr algn="just"/>
            <a:r>
              <a:rPr lang="en-US" altLang="zh-CN" b="1">
                <a:solidFill>
                  <a:srgbClr val="3333CD"/>
                </a:solidFill>
              </a:rPr>
              <a:t>             </a:t>
            </a:r>
            <a:r>
              <a:rPr lang="zh-CN" altLang="en-US" b="1">
                <a:solidFill>
                  <a:srgbClr val="3333CD"/>
                </a:solidFill>
              </a:rPr>
              <a:t>型网络时效率太低</a:t>
            </a:r>
            <a:r>
              <a:rPr lang="en-US" altLang="zh-CN" b="1">
                <a:solidFill>
                  <a:srgbClr val="3333CD"/>
                </a:solidFill>
              </a:rPr>
              <a:t>.</a:t>
            </a:r>
          </a:p>
          <a:p>
            <a:pPr algn="just"/>
            <a:r>
              <a:rPr lang="en-US" altLang="zh-CN">
                <a:solidFill>
                  <a:srgbClr val="000000"/>
                </a:solidFill>
              </a:rPr>
              <a:t>	– </a:t>
            </a:r>
            <a:r>
              <a:rPr lang="zh-CN" altLang="en-US" b="1">
                <a:solidFill>
                  <a:srgbClr val="000000"/>
                </a:solidFill>
              </a:rPr>
              <a:t>解决办法</a:t>
            </a:r>
            <a:r>
              <a:rPr lang="en-US" altLang="zh-CN" b="1">
                <a:solidFill>
                  <a:srgbClr val="000000"/>
                </a:solidFill>
              </a:rPr>
              <a:t>#1: </a:t>
            </a:r>
            <a:r>
              <a:rPr lang="zh-CN" altLang="en-US" b="1">
                <a:solidFill>
                  <a:srgbClr val="FF0000"/>
                </a:solidFill>
              </a:rPr>
              <a:t>子网划分</a:t>
            </a:r>
            <a:endParaRPr lang="en-US" altLang="zh-CN" b="1">
              <a:solidFill>
                <a:srgbClr val="FF0000"/>
              </a:solidFill>
            </a:endParaRPr>
          </a:p>
          <a:p>
            <a:pPr algn="just"/>
            <a:r>
              <a:rPr lang="zh-CN" altLang="en-US" b="1">
                <a:solidFill>
                  <a:srgbClr val="FF0000"/>
                </a:solidFill>
              </a:rPr>
              <a:t>问题 </a:t>
            </a:r>
            <a:r>
              <a:rPr lang="en-US" altLang="zh-CN" b="1">
                <a:solidFill>
                  <a:srgbClr val="FF0000"/>
                </a:solidFill>
              </a:rPr>
              <a:t>3. </a:t>
            </a:r>
            <a:r>
              <a:rPr lang="zh-CN" altLang="en-US" b="1">
                <a:solidFill>
                  <a:srgbClr val="3333CD"/>
                </a:solidFill>
              </a:rPr>
              <a:t>灵活性差</a:t>
            </a:r>
            <a:r>
              <a:rPr lang="en-US" altLang="zh-CN" b="1">
                <a:solidFill>
                  <a:srgbClr val="3333CD"/>
                </a:solidFill>
              </a:rPr>
              <a:t>. </a:t>
            </a:r>
            <a:r>
              <a:rPr lang="zh-CN" altLang="en-US">
                <a:solidFill>
                  <a:srgbClr val="000000"/>
                </a:solidFill>
              </a:rPr>
              <a:t>假设一个公司需要 </a:t>
            </a:r>
            <a:r>
              <a:rPr lang="en-US" altLang="zh-CN">
                <a:solidFill>
                  <a:srgbClr val="000000"/>
                </a:solidFill>
              </a:rPr>
              <a:t>2,000 </a:t>
            </a:r>
            <a:r>
              <a:rPr lang="zh-CN" altLang="en-US">
                <a:solidFill>
                  <a:srgbClr val="000000"/>
                </a:solidFill>
              </a:rPr>
              <a:t>个地址</a:t>
            </a:r>
          </a:p>
          <a:p>
            <a:pPr algn="just"/>
            <a:r>
              <a:rPr lang="zh-CN" altLang="en-US">
                <a:solidFill>
                  <a:srgbClr val="000000"/>
                </a:solidFill>
              </a:rPr>
              <a:t>   </a:t>
            </a:r>
            <a:r>
              <a:rPr lang="en-US" altLang="zh-CN">
                <a:solidFill>
                  <a:srgbClr val="000000"/>
                </a:solidFill>
              </a:rPr>
              <a:t>–A </a:t>
            </a:r>
            <a:r>
              <a:rPr lang="zh-CN" altLang="en-US">
                <a:solidFill>
                  <a:srgbClr val="000000"/>
                </a:solidFill>
              </a:rPr>
              <a:t>类</a:t>
            </a:r>
            <a:r>
              <a:rPr lang="en-US" altLang="zh-CN">
                <a:solidFill>
                  <a:srgbClr val="000000"/>
                </a:solidFill>
              </a:rPr>
              <a:t>(1</a:t>
            </a:r>
            <a:r>
              <a:rPr lang="zh-CN" altLang="en-US">
                <a:solidFill>
                  <a:srgbClr val="000000"/>
                </a:solidFill>
              </a:rPr>
              <a:t>千</a:t>
            </a:r>
            <a:r>
              <a:rPr lang="en-US" altLang="zh-CN">
                <a:solidFill>
                  <a:srgbClr val="000000"/>
                </a:solidFill>
              </a:rPr>
              <a:t>6</a:t>
            </a:r>
            <a:r>
              <a:rPr lang="zh-CN" altLang="en-US">
                <a:solidFill>
                  <a:srgbClr val="000000"/>
                </a:solidFill>
              </a:rPr>
              <a:t>百万</a:t>
            </a:r>
            <a:r>
              <a:rPr lang="en-US" altLang="zh-CN">
                <a:solidFill>
                  <a:srgbClr val="000000"/>
                </a:solidFill>
              </a:rPr>
              <a:t>)</a:t>
            </a:r>
            <a:r>
              <a:rPr lang="zh-CN" altLang="en-US">
                <a:solidFill>
                  <a:srgbClr val="000000"/>
                </a:solidFill>
              </a:rPr>
              <a:t>和 </a:t>
            </a:r>
            <a:r>
              <a:rPr lang="en-US" altLang="zh-CN">
                <a:solidFill>
                  <a:srgbClr val="000000"/>
                </a:solidFill>
              </a:rPr>
              <a:t>B </a:t>
            </a:r>
            <a:r>
              <a:rPr lang="zh-CN" altLang="en-US">
                <a:solidFill>
                  <a:srgbClr val="000000"/>
                </a:solidFill>
              </a:rPr>
              <a:t>类</a:t>
            </a:r>
            <a:r>
              <a:rPr lang="en-US" altLang="zh-CN">
                <a:solidFill>
                  <a:srgbClr val="000000"/>
                </a:solidFill>
              </a:rPr>
              <a:t>(65000)</a:t>
            </a:r>
            <a:r>
              <a:rPr lang="zh-CN" altLang="en-US">
                <a:solidFill>
                  <a:srgbClr val="000000"/>
                </a:solidFill>
              </a:rPr>
              <a:t>地址太浪费</a:t>
            </a:r>
            <a:endParaRPr lang="en-US" altLang="zh-CN">
              <a:solidFill>
                <a:srgbClr val="000000"/>
              </a:solidFill>
            </a:endParaRPr>
          </a:p>
          <a:p>
            <a:pPr algn="just"/>
            <a:r>
              <a:rPr lang="en-US" altLang="zh-CN">
                <a:solidFill>
                  <a:srgbClr val="000000"/>
                </a:solidFill>
              </a:rPr>
              <a:t>	–C </a:t>
            </a:r>
            <a:r>
              <a:rPr lang="zh-CN" altLang="en-US">
                <a:solidFill>
                  <a:srgbClr val="000000"/>
                </a:solidFill>
              </a:rPr>
              <a:t>类地址又不够 </a:t>
            </a:r>
            <a:r>
              <a:rPr lang="en-US" altLang="zh-CN">
                <a:solidFill>
                  <a:srgbClr val="000000"/>
                </a:solidFill>
              </a:rPr>
              <a:t>(</a:t>
            </a:r>
            <a:r>
              <a:rPr lang="zh-CN" altLang="en-US">
                <a:solidFill>
                  <a:srgbClr val="000000"/>
                </a:solidFill>
              </a:rPr>
              <a:t>需要 </a:t>
            </a:r>
            <a:r>
              <a:rPr lang="en-US" altLang="zh-CN">
                <a:solidFill>
                  <a:srgbClr val="000000"/>
                </a:solidFill>
              </a:rPr>
              <a:t>40 </a:t>
            </a:r>
            <a:r>
              <a:rPr lang="zh-CN" altLang="en-US">
                <a:solidFill>
                  <a:srgbClr val="000000"/>
                </a:solidFill>
              </a:rPr>
              <a:t>个</a:t>
            </a:r>
            <a:r>
              <a:rPr lang="en-US" altLang="zh-CN">
                <a:solidFill>
                  <a:srgbClr val="000000"/>
                </a:solidFill>
              </a:rPr>
              <a:t>C </a:t>
            </a:r>
            <a:r>
              <a:rPr lang="zh-CN" altLang="en-US">
                <a:solidFill>
                  <a:srgbClr val="000000"/>
                </a:solidFill>
              </a:rPr>
              <a:t>类地址</a:t>
            </a:r>
            <a:r>
              <a:rPr lang="en-US" altLang="zh-CN">
                <a:solidFill>
                  <a:srgbClr val="000000"/>
                </a:solidFill>
              </a:rPr>
              <a:t>)</a:t>
            </a:r>
          </a:p>
          <a:p>
            <a:pPr algn="just"/>
            <a:r>
              <a:rPr lang="en-US" altLang="zh-CN">
                <a:solidFill>
                  <a:srgbClr val="000000"/>
                </a:solidFill>
              </a:rPr>
              <a:t>	– </a:t>
            </a:r>
            <a:r>
              <a:rPr lang="zh-CN" altLang="en-US" b="1">
                <a:solidFill>
                  <a:srgbClr val="000000"/>
                </a:solidFill>
              </a:rPr>
              <a:t>解决办法 </a:t>
            </a:r>
            <a:r>
              <a:rPr lang="en-US" altLang="zh-CN" b="1">
                <a:solidFill>
                  <a:srgbClr val="000000"/>
                </a:solidFill>
              </a:rPr>
              <a:t>#2: </a:t>
            </a:r>
            <a:r>
              <a:rPr lang="zh-CN" altLang="en-US" b="1">
                <a:solidFill>
                  <a:srgbClr val="FF0000"/>
                </a:solidFill>
              </a:rPr>
              <a:t>无类别域间路由 </a:t>
            </a:r>
            <a:r>
              <a:rPr lang="en-US" altLang="zh-CN" b="1">
                <a:solidFill>
                  <a:srgbClr val="FF0000"/>
                </a:solidFill>
              </a:rPr>
              <a:t>(CIDR)</a:t>
            </a:r>
            <a:endParaRPr lang="en-US" altLang="zh-CN">
              <a:solidFill>
                <a:srgbClr val="000000"/>
              </a:solidFill>
              <a:latin typeface="Arial" panose="020B0604020202020204" pitchFamily="34"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9348">
                                            <p:txEl>
                                              <p:pRg st="0" end="0"/>
                                            </p:txEl>
                                          </p:spTgt>
                                        </p:tgtEl>
                                        <p:attrNameLst>
                                          <p:attrName>style.visibility</p:attrName>
                                        </p:attrNameLst>
                                      </p:cBhvr>
                                      <p:to>
                                        <p:strVal val="visible"/>
                                      </p:to>
                                    </p:set>
                                    <p:anim calcmode="lin" valueType="num">
                                      <p:cBhvr additive="base">
                                        <p:cTn id="7" dur="500" fill="hold"/>
                                        <p:tgtEl>
                                          <p:spTgt spid="18493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93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9348">
                                            <p:txEl>
                                              <p:pRg st="1" end="1"/>
                                            </p:txEl>
                                          </p:spTgt>
                                        </p:tgtEl>
                                        <p:attrNameLst>
                                          <p:attrName>style.visibility</p:attrName>
                                        </p:attrNameLst>
                                      </p:cBhvr>
                                      <p:to>
                                        <p:strVal val="visible"/>
                                      </p:to>
                                    </p:set>
                                    <p:anim calcmode="lin" valueType="num">
                                      <p:cBhvr additive="base">
                                        <p:cTn id="13" dur="500" fill="hold"/>
                                        <p:tgtEl>
                                          <p:spTgt spid="184934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934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9348">
                                            <p:txEl>
                                              <p:pRg st="2" end="2"/>
                                            </p:txEl>
                                          </p:spTgt>
                                        </p:tgtEl>
                                        <p:attrNameLst>
                                          <p:attrName>style.visibility</p:attrName>
                                        </p:attrNameLst>
                                      </p:cBhvr>
                                      <p:to>
                                        <p:strVal val="visible"/>
                                      </p:to>
                                    </p:set>
                                    <p:anim calcmode="lin" valueType="num">
                                      <p:cBhvr additive="base">
                                        <p:cTn id="19" dur="500" fill="hold"/>
                                        <p:tgtEl>
                                          <p:spTgt spid="184934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934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9348">
                                            <p:txEl>
                                              <p:pRg st="3" end="3"/>
                                            </p:txEl>
                                          </p:spTgt>
                                        </p:tgtEl>
                                        <p:attrNameLst>
                                          <p:attrName>style.visibility</p:attrName>
                                        </p:attrNameLst>
                                      </p:cBhvr>
                                      <p:to>
                                        <p:strVal val="visible"/>
                                      </p:to>
                                    </p:set>
                                    <p:anim calcmode="lin" valueType="num">
                                      <p:cBhvr additive="base">
                                        <p:cTn id="25" dur="500" fill="hold"/>
                                        <p:tgtEl>
                                          <p:spTgt spid="184934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4934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49348">
                                            <p:txEl>
                                              <p:pRg st="4" end="4"/>
                                            </p:txEl>
                                          </p:spTgt>
                                        </p:tgtEl>
                                        <p:attrNameLst>
                                          <p:attrName>style.visibility</p:attrName>
                                        </p:attrNameLst>
                                      </p:cBhvr>
                                      <p:to>
                                        <p:strVal val="visible"/>
                                      </p:to>
                                    </p:set>
                                    <p:anim calcmode="lin" valueType="num">
                                      <p:cBhvr additive="base">
                                        <p:cTn id="31" dur="500" fill="hold"/>
                                        <p:tgtEl>
                                          <p:spTgt spid="184934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934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9348">
                                            <p:txEl>
                                              <p:pRg st="5" end="5"/>
                                            </p:txEl>
                                          </p:spTgt>
                                        </p:tgtEl>
                                        <p:attrNameLst>
                                          <p:attrName>style.visibility</p:attrName>
                                        </p:attrNameLst>
                                      </p:cBhvr>
                                      <p:to>
                                        <p:strVal val="visible"/>
                                      </p:to>
                                    </p:set>
                                    <p:anim calcmode="lin" valueType="num">
                                      <p:cBhvr additive="base">
                                        <p:cTn id="37" dur="500" fill="hold"/>
                                        <p:tgtEl>
                                          <p:spTgt spid="184934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4934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49348">
                                            <p:txEl>
                                              <p:pRg st="6" end="6"/>
                                            </p:txEl>
                                          </p:spTgt>
                                        </p:tgtEl>
                                        <p:attrNameLst>
                                          <p:attrName>style.visibility</p:attrName>
                                        </p:attrNameLst>
                                      </p:cBhvr>
                                      <p:to>
                                        <p:strVal val="visible"/>
                                      </p:to>
                                    </p:set>
                                    <p:anim calcmode="lin" valueType="num">
                                      <p:cBhvr additive="base">
                                        <p:cTn id="43" dur="500" fill="hold"/>
                                        <p:tgtEl>
                                          <p:spTgt spid="1849348">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4934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49348">
                                            <p:txEl>
                                              <p:pRg st="7" end="7"/>
                                            </p:txEl>
                                          </p:spTgt>
                                        </p:tgtEl>
                                        <p:attrNameLst>
                                          <p:attrName>style.visibility</p:attrName>
                                        </p:attrNameLst>
                                      </p:cBhvr>
                                      <p:to>
                                        <p:strVal val="visible"/>
                                      </p:to>
                                    </p:set>
                                    <p:anim calcmode="lin" valueType="num">
                                      <p:cBhvr additive="base">
                                        <p:cTn id="49" dur="500" fill="hold"/>
                                        <p:tgtEl>
                                          <p:spTgt spid="1849348">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4934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49348">
                                            <p:txEl>
                                              <p:pRg st="8" end="8"/>
                                            </p:txEl>
                                          </p:spTgt>
                                        </p:tgtEl>
                                        <p:attrNameLst>
                                          <p:attrName>style.visibility</p:attrName>
                                        </p:attrNameLst>
                                      </p:cBhvr>
                                      <p:to>
                                        <p:strVal val="visible"/>
                                      </p:to>
                                    </p:set>
                                    <p:anim calcmode="lin" valueType="num">
                                      <p:cBhvr additive="base">
                                        <p:cTn id="55" dur="500" fill="hold"/>
                                        <p:tgtEl>
                                          <p:spTgt spid="1849348">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4934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49348">
                                            <p:txEl>
                                              <p:pRg st="9" end="9"/>
                                            </p:txEl>
                                          </p:spTgt>
                                        </p:tgtEl>
                                        <p:attrNameLst>
                                          <p:attrName>style.visibility</p:attrName>
                                        </p:attrNameLst>
                                      </p:cBhvr>
                                      <p:to>
                                        <p:strVal val="visible"/>
                                      </p:to>
                                    </p:set>
                                    <p:anim calcmode="lin" valueType="num">
                                      <p:cBhvr additive="base">
                                        <p:cTn id="61" dur="500" fill="hold"/>
                                        <p:tgtEl>
                                          <p:spTgt spid="1849348">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49348">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9348"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050"/>
          <p:cNvSpPr>
            <a:spLocks noGrp="1" noChangeArrowheads="1"/>
          </p:cNvSpPr>
          <p:nvPr>
            <p:ph type="title"/>
          </p:nvPr>
        </p:nvSpPr>
        <p:spPr bwMode="auto">
          <a:xfrm>
            <a:off x="1931988" y="211138"/>
            <a:ext cx="8005762" cy="760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分类</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地址存在的问题</a:t>
            </a:r>
          </a:p>
        </p:txBody>
      </p:sp>
      <p:sp>
        <p:nvSpPr>
          <p:cNvPr id="1852420" name="Text Box 2052"/>
          <p:cNvSpPr txBox="1">
            <a:spLocks noChangeArrowheads="1"/>
          </p:cNvSpPr>
          <p:nvPr/>
        </p:nvSpPr>
        <p:spPr bwMode="auto">
          <a:xfrm>
            <a:off x="2062163" y="1470025"/>
            <a:ext cx="7834312"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b="1">
                <a:solidFill>
                  <a:srgbClr val="FF0000"/>
                </a:solidFill>
              </a:rPr>
              <a:t>问题 </a:t>
            </a:r>
            <a:r>
              <a:rPr lang="en-US" altLang="zh-CN" b="1">
                <a:solidFill>
                  <a:srgbClr val="FF0000"/>
                </a:solidFill>
              </a:rPr>
              <a:t>4: </a:t>
            </a:r>
            <a:r>
              <a:rPr lang="zh-CN" altLang="en-US" b="1">
                <a:solidFill>
                  <a:srgbClr val="3333CD"/>
                </a:solidFill>
              </a:rPr>
              <a:t>路由表膨胀</a:t>
            </a:r>
            <a:r>
              <a:rPr lang="en-US" altLang="zh-CN" b="1">
                <a:solidFill>
                  <a:srgbClr val="3333CD"/>
                </a:solidFill>
              </a:rPr>
              <a:t>: </a:t>
            </a:r>
            <a:r>
              <a:rPr lang="zh-CN" altLang="en-US">
                <a:solidFill>
                  <a:srgbClr val="000000"/>
                </a:solidFill>
              </a:rPr>
              <a:t>主干网路由需要知道每个网络的入口地址</a:t>
            </a:r>
            <a:r>
              <a:rPr lang="en-US" altLang="zh-CN">
                <a:solidFill>
                  <a:srgbClr val="000000"/>
                </a:solidFill>
              </a:rPr>
              <a:t>. </a:t>
            </a:r>
            <a:r>
              <a:rPr lang="zh-CN" altLang="en-US">
                <a:solidFill>
                  <a:srgbClr val="000000"/>
                </a:solidFill>
              </a:rPr>
              <a:t>早在</a:t>
            </a:r>
            <a:r>
              <a:rPr lang="en-US" altLang="zh-CN">
                <a:solidFill>
                  <a:srgbClr val="000000"/>
                </a:solidFill>
              </a:rPr>
              <a:t>1993</a:t>
            </a:r>
            <a:r>
              <a:rPr lang="zh-CN" altLang="en-US">
                <a:solidFill>
                  <a:srgbClr val="000000"/>
                </a:solidFill>
              </a:rPr>
              <a:t>年</a:t>
            </a:r>
            <a:r>
              <a:rPr lang="en-US" altLang="zh-CN">
                <a:solidFill>
                  <a:srgbClr val="000000"/>
                </a:solidFill>
              </a:rPr>
              <a:t>, </a:t>
            </a:r>
            <a:r>
              <a:rPr lang="zh-CN" altLang="en-US">
                <a:solidFill>
                  <a:srgbClr val="000000"/>
                </a:solidFill>
              </a:rPr>
              <a:t>路由表的大小就已经超出了路由器的承受能力</a:t>
            </a:r>
            <a:r>
              <a:rPr lang="en-US" altLang="zh-CN">
                <a:solidFill>
                  <a:srgbClr val="000000"/>
                </a:solidFill>
              </a:rPr>
              <a:t>.</a:t>
            </a:r>
          </a:p>
          <a:p>
            <a:pPr algn="just"/>
            <a:r>
              <a:rPr lang="en-US" altLang="zh-CN">
                <a:solidFill>
                  <a:srgbClr val="000000"/>
                </a:solidFill>
              </a:rPr>
              <a:t>– </a:t>
            </a:r>
            <a:r>
              <a:rPr lang="zh-CN" altLang="en-US" b="1">
                <a:solidFill>
                  <a:srgbClr val="000000"/>
                </a:solidFill>
              </a:rPr>
              <a:t>解决办法 </a:t>
            </a:r>
            <a:r>
              <a:rPr lang="en-US" altLang="zh-CN" b="1">
                <a:solidFill>
                  <a:srgbClr val="000000"/>
                </a:solidFill>
              </a:rPr>
              <a:t>#2: </a:t>
            </a:r>
            <a:r>
              <a:rPr lang="en-US" altLang="zh-CN" b="1">
                <a:solidFill>
                  <a:srgbClr val="FF0000"/>
                </a:solidFill>
              </a:rPr>
              <a:t> (CIDR)</a:t>
            </a:r>
            <a:endParaRPr lang="en-US" altLang="zh-CN"/>
          </a:p>
          <a:p>
            <a:pPr>
              <a:spcBef>
                <a:spcPct val="20000"/>
              </a:spcBef>
            </a:pPr>
            <a:r>
              <a:rPr lang="zh-CN" altLang="en-US" b="1">
                <a:solidFill>
                  <a:srgbClr val="FF0000"/>
                </a:solidFill>
                <a:latin typeface="Arial" panose="020B0604020202020204" pitchFamily="34" charset="0"/>
              </a:rPr>
              <a:t>问题 </a:t>
            </a:r>
            <a:r>
              <a:rPr lang="en-US" altLang="zh-CN" b="1">
                <a:solidFill>
                  <a:srgbClr val="FF0000"/>
                </a:solidFill>
                <a:latin typeface="Arial" panose="020B0604020202020204" pitchFamily="34" charset="0"/>
              </a:rPr>
              <a:t>5. </a:t>
            </a:r>
            <a:r>
              <a:rPr lang="en-US" altLang="zh-CN" b="1">
                <a:solidFill>
                  <a:srgbClr val="3333CD"/>
                </a:solidFill>
                <a:latin typeface="Arial" panose="020B0604020202020204" pitchFamily="34" charset="0"/>
              </a:rPr>
              <a:t>Internet </a:t>
            </a:r>
            <a:r>
              <a:rPr lang="zh-CN" altLang="en-US" b="1">
                <a:solidFill>
                  <a:srgbClr val="3333CD"/>
                </a:solidFill>
                <a:latin typeface="Arial" panose="020B0604020202020204" pitchFamily="34" charset="0"/>
              </a:rPr>
              <a:t>的增长将使 </a:t>
            </a:r>
            <a:r>
              <a:rPr lang="en-US" altLang="zh-CN" b="1">
                <a:solidFill>
                  <a:srgbClr val="3333CD"/>
                </a:solidFill>
                <a:latin typeface="Arial" panose="020B0604020202020204" pitchFamily="34" charset="0"/>
              </a:rPr>
              <a:t>32</a:t>
            </a:r>
            <a:r>
              <a:rPr lang="zh-CN" altLang="en-US" b="1">
                <a:solidFill>
                  <a:srgbClr val="3333CD"/>
                </a:solidFill>
                <a:latin typeface="Arial" panose="020B0604020202020204" pitchFamily="34" charset="0"/>
              </a:rPr>
              <a:t>位地址不够用</a:t>
            </a:r>
          </a:p>
          <a:p>
            <a:pPr>
              <a:spcBef>
                <a:spcPct val="20000"/>
              </a:spcBef>
            </a:pPr>
            <a:r>
              <a:rPr lang="en-US" altLang="zh-CN">
                <a:solidFill>
                  <a:srgbClr val="000000"/>
                </a:solidFill>
                <a:latin typeface="Arial" panose="020B0604020202020204" pitchFamily="34" charset="0"/>
              </a:rPr>
              <a:t>– </a:t>
            </a:r>
            <a:r>
              <a:rPr lang="zh-CN" altLang="en-US" b="1">
                <a:solidFill>
                  <a:srgbClr val="000000"/>
                </a:solidFill>
                <a:latin typeface="Arial" panose="020B0604020202020204" pitchFamily="34" charset="0"/>
              </a:rPr>
              <a:t>解决办法 </a:t>
            </a:r>
            <a:r>
              <a:rPr lang="en-US" altLang="zh-CN" b="1">
                <a:solidFill>
                  <a:srgbClr val="000000"/>
                </a:solidFill>
                <a:latin typeface="Arial" panose="020B0604020202020204" pitchFamily="34" charset="0"/>
              </a:rPr>
              <a:t>#3: </a:t>
            </a:r>
            <a:r>
              <a:rPr lang="en-US" altLang="zh-CN" b="1">
                <a:solidFill>
                  <a:srgbClr val="FF0000"/>
                </a:solidFill>
                <a:latin typeface="Arial" panose="020B0604020202020204" pitchFamily="34" charset="0"/>
              </a:rPr>
              <a:t>IP Version 6</a:t>
            </a:r>
          </a:p>
          <a:p>
            <a:pPr>
              <a:spcBef>
                <a:spcPct val="20000"/>
              </a:spcBef>
            </a:pPr>
            <a:r>
              <a:rPr lang="en-US" altLang="zh-CN" b="1">
                <a:solidFill>
                  <a:srgbClr val="FF0000"/>
                </a:solidFill>
                <a:latin typeface="Arial" panose="020B0604020202020204" pitchFamily="34" charset="0"/>
              </a:rPr>
              <a:t>                          CIDR</a:t>
            </a:r>
          </a:p>
          <a:p>
            <a:pPr>
              <a:spcBef>
                <a:spcPct val="20000"/>
              </a:spcBef>
            </a:pPr>
            <a:r>
              <a:rPr lang="en-US" altLang="zh-CN" b="1">
                <a:solidFill>
                  <a:srgbClr val="FF0000"/>
                </a:solidFill>
                <a:latin typeface="Arial" panose="020B0604020202020204" pitchFamily="34" charset="0"/>
              </a:rPr>
              <a:t>                          NAT</a:t>
            </a:r>
          </a:p>
          <a:p>
            <a:pPr>
              <a:spcBef>
                <a:spcPct val="20000"/>
              </a:spcBef>
            </a:pPr>
            <a:r>
              <a:rPr lang="en-US" altLang="zh-CN" b="1">
                <a:solidFill>
                  <a:srgbClr val="FF0000"/>
                </a:solidFill>
                <a:latin typeface="Arial" panose="020B0604020202020204" pitchFamily="34" charset="0"/>
              </a:rPr>
              <a:t>                          DHCP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2420">
                                            <p:txEl>
                                              <p:pRg st="0" end="0"/>
                                            </p:txEl>
                                          </p:spTgt>
                                        </p:tgtEl>
                                        <p:attrNameLst>
                                          <p:attrName>style.visibility</p:attrName>
                                        </p:attrNameLst>
                                      </p:cBhvr>
                                      <p:to>
                                        <p:strVal val="visible"/>
                                      </p:to>
                                    </p:set>
                                    <p:anim calcmode="lin" valueType="num">
                                      <p:cBhvr additive="base">
                                        <p:cTn id="7" dur="500" fill="hold"/>
                                        <p:tgtEl>
                                          <p:spTgt spid="18524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24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2420">
                                            <p:txEl>
                                              <p:pRg st="1" end="1"/>
                                            </p:txEl>
                                          </p:spTgt>
                                        </p:tgtEl>
                                        <p:attrNameLst>
                                          <p:attrName>style.visibility</p:attrName>
                                        </p:attrNameLst>
                                      </p:cBhvr>
                                      <p:to>
                                        <p:strVal val="visible"/>
                                      </p:to>
                                    </p:set>
                                    <p:anim calcmode="lin" valueType="num">
                                      <p:cBhvr additive="base">
                                        <p:cTn id="13" dur="500" fill="hold"/>
                                        <p:tgtEl>
                                          <p:spTgt spid="185242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524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52420">
                                            <p:txEl>
                                              <p:pRg st="2" end="2"/>
                                            </p:txEl>
                                          </p:spTgt>
                                        </p:tgtEl>
                                        <p:attrNameLst>
                                          <p:attrName>style.visibility</p:attrName>
                                        </p:attrNameLst>
                                      </p:cBhvr>
                                      <p:to>
                                        <p:strVal val="visible"/>
                                      </p:to>
                                    </p:set>
                                    <p:anim calcmode="lin" valueType="num">
                                      <p:cBhvr additive="base">
                                        <p:cTn id="19" dur="500" fill="hold"/>
                                        <p:tgtEl>
                                          <p:spTgt spid="185242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524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52420">
                                            <p:txEl>
                                              <p:pRg st="3" end="3"/>
                                            </p:txEl>
                                          </p:spTgt>
                                        </p:tgtEl>
                                        <p:attrNameLst>
                                          <p:attrName>style.visibility</p:attrName>
                                        </p:attrNameLst>
                                      </p:cBhvr>
                                      <p:to>
                                        <p:strVal val="visible"/>
                                      </p:to>
                                    </p:set>
                                    <p:anim calcmode="lin" valueType="num">
                                      <p:cBhvr additive="base">
                                        <p:cTn id="25" dur="500" fill="hold"/>
                                        <p:tgtEl>
                                          <p:spTgt spid="185242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5242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52420">
                                            <p:txEl>
                                              <p:pRg st="4" end="4"/>
                                            </p:txEl>
                                          </p:spTgt>
                                        </p:tgtEl>
                                        <p:attrNameLst>
                                          <p:attrName>style.visibility</p:attrName>
                                        </p:attrNameLst>
                                      </p:cBhvr>
                                      <p:to>
                                        <p:strVal val="visible"/>
                                      </p:to>
                                    </p:set>
                                    <p:anim calcmode="lin" valueType="num">
                                      <p:cBhvr additive="base">
                                        <p:cTn id="31" dur="500" fill="hold"/>
                                        <p:tgtEl>
                                          <p:spTgt spid="185242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5242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52420">
                                            <p:txEl>
                                              <p:pRg st="5" end="5"/>
                                            </p:txEl>
                                          </p:spTgt>
                                        </p:tgtEl>
                                        <p:attrNameLst>
                                          <p:attrName>style.visibility</p:attrName>
                                        </p:attrNameLst>
                                      </p:cBhvr>
                                      <p:to>
                                        <p:strVal val="visible"/>
                                      </p:to>
                                    </p:set>
                                    <p:anim calcmode="lin" valueType="num">
                                      <p:cBhvr additive="base">
                                        <p:cTn id="37" dur="500" fill="hold"/>
                                        <p:tgtEl>
                                          <p:spTgt spid="185242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5242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52420">
                                            <p:txEl>
                                              <p:pRg st="6" end="6"/>
                                            </p:txEl>
                                          </p:spTgt>
                                        </p:tgtEl>
                                        <p:attrNameLst>
                                          <p:attrName>style.visibility</p:attrName>
                                        </p:attrNameLst>
                                      </p:cBhvr>
                                      <p:to>
                                        <p:strVal val="visible"/>
                                      </p:to>
                                    </p:set>
                                    <p:anim calcmode="lin" valueType="num">
                                      <p:cBhvr additive="base">
                                        <p:cTn id="43" dur="500" fill="hold"/>
                                        <p:tgtEl>
                                          <p:spTgt spid="1852420">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5242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2420"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8723" name="Rectangle 3"/>
          <p:cNvSpPr>
            <a:spLocks noGrp="1" noChangeArrowheads="1"/>
          </p:cNvSpPr>
          <p:nvPr>
            <p:ph type="body" idx="1"/>
          </p:nvPr>
        </p:nvSpPr>
        <p:spPr bwMode="auto">
          <a:xfrm>
            <a:off x="1817689" y="1241426"/>
            <a:ext cx="8624887" cy="46513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spcBef>
                <a:spcPct val="10000"/>
              </a:spcBef>
            </a:pPr>
            <a:r>
              <a:rPr lang="zh-CN" altLang="en-US"/>
              <a:t>子网划分技术：</a:t>
            </a:r>
          </a:p>
          <a:p>
            <a:pPr marL="858838" lvl="1" indent="-325438">
              <a:spcBef>
                <a:spcPct val="10000"/>
              </a:spcBef>
              <a:buNone/>
            </a:pPr>
            <a:r>
              <a:rPr lang="zh-CN" altLang="en-US"/>
              <a:t>将较大的分类地址（</a:t>
            </a:r>
            <a:r>
              <a:rPr lang="en-US" altLang="zh-CN"/>
              <a:t>A/B/C </a:t>
            </a:r>
            <a:r>
              <a:rPr lang="zh-CN" altLang="en-US"/>
              <a:t>类）空间划分成多个小的子网。</a:t>
            </a:r>
          </a:p>
          <a:p>
            <a:pPr eaLnBrk="1" hangingPunct="1">
              <a:spcBef>
                <a:spcPct val="10000"/>
              </a:spcBef>
            </a:pPr>
            <a:r>
              <a:rPr lang="zh-CN" altLang="en-US"/>
              <a:t>地址掩码 </a:t>
            </a:r>
          </a:p>
          <a:p>
            <a:pPr marL="858838" lvl="1" indent="-325438">
              <a:spcBef>
                <a:spcPct val="10000"/>
              </a:spcBef>
            </a:pPr>
            <a:r>
              <a:rPr lang="zh-CN" altLang="en-US" sz="2200"/>
              <a:t>子网划分地址中的主机部分与网络部分（</a:t>
            </a:r>
            <a:r>
              <a:rPr lang="zh-CN" altLang="en-US" sz="2200">
                <a:solidFill>
                  <a:schemeClr val="tx2"/>
                </a:solidFill>
              </a:rPr>
              <a:t>网络</a:t>
            </a:r>
            <a:r>
              <a:rPr lang="en-US" altLang="zh-CN" sz="2200">
                <a:solidFill>
                  <a:schemeClr val="tx2"/>
                </a:solidFill>
              </a:rPr>
              <a:t>+</a:t>
            </a:r>
            <a:r>
              <a:rPr lang="zh-CN" altLang="en-US" sz="2200">
                <a:solidFill>
                  <a:schemeClr val="tx2"/>
                </a:solidFill>
              </a:rPr>
              <a:t>子网</a:t>
            </a:r>
            <a:r>
              <a:rPr lang="zh-CN" altLang="en-US" sz="2200"/>
              <a:t>）的边界由子网掩码来定义。</a:t>
            </a:r>
          </a:p>
          <a:p>
            <a:pPr marL="858838" lvl="1" indent="-325438">
              <a:spcBef>
                <a:spcPct val="10000"/>
              </a:spcBef>
            </a:pPr>
            <a:r>
              <a:rPr lang="zh-CN" altLang="en-US" sz="2200"/>
              <a:t>子网划分时，子网掩码的位数可以根据需要</a:t>
            </a:r>
            <a:r>
              <a:rPr lang="en-US" altLang="zh-CN" sz="2200"/>
              <a:t>(</a:t>
            </a:r>
            <a:r>
              <a:rPr lang="zh-CN" altLang="en-US" sz="2200"/>
              <a:t>子网数和子网内的主机数</a:t>
            </a:r>
            <a:r>
              <a:rPr lang="en-US" altLang="zh-CN" sz="2200"/>
              <a:t>)</a:t>
            </a:r>
            <a:r>
              <a:rPr lang="zh-CN" altLang="en-US" sz="2200"/>
              <a:t>来确定</a:t>
            </a:r>
          </a:p>
          <a:p>
            <a:pPr marL="858838" lvl="1" indent="-325438">
              <a:spcBef>
                <a:spcPct val="10000"/>
              </a:spcBef>
            </a:pPr>
            <a:r>
              <a:rPr lang="zh-CN" altLang="en-US" sz="2200"/>
              <a:t>利用</a:t>
            </a:r>
            <a:r>
              <a:rPr lang="zh-CN" altLang="en-US" sz="2200">
                <a:solidFill>
                  <a:schemeClr val="tx2"/>
                </a:solidFill>
              </a:rPr>
              <a:t>可变长子网掩码（</a:t>
            </a:r>
            <a:r>
              <a:rPr lang="en-US" altLang="zh-CN" sz="2200">
                <a:solidFill>
                  <a:schemeClr val="tx2"/>
                </a:solidFill>
              </a:rPr>
              <a:t>VLSM</a:t>
            </a:r>
            <a:r>
              <a:rPr lang="zh-CN" altLang="en-US" sz="2200">
                <a:solidFill>
                  <a:schemeClr val="tx2"/>
                </a:solidFill>
              </a:rPr>
              <a:t>），</a:t>
            </a:r>
            <a:r>
              <a:rPr lang="zh-CN" altLang="en-US" sz="2200"/>
              <a:t>可把一个地址空间划分为若干大小不同的子网。</a:t>
            </a:r>
          </a:p>
          <a:p>
            <a:pPr marL="858838" lvl="1" indent="-325438">
              <a:spcBef>
                <a:spcPct val="10000"/>
              </a:spcBef>
            </a:pPr>
            <a:r>
              <a:rPr lang="en-US" altLang="zh-CN" sz="2200"/>
              <a:t>VLSM </a:t>
            </a:r>
            <a:r>
              <a:rPr lang="zh-CN" altLang="en-US" sz="2200"/>
              <a:t>的采用能够更有效地管理地址空间：在地址分配时，可实现地址空间容量与子网中主机的数量达到最佳的匹配</a:t>
            </a:r>
            <a:r>
              <a:rPr lang="zh-CN" altLang="en-US"/>
              <a:t>。</a:t>
            </a:r>
          </a:p>
        </p:txBody>
      </p:sp>
      <p:sp>
        <p:nvSpPr>
          <p:cNvPr id="33795" name="Rectangle 4"/>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a:t>
            </a:r>
            <a:r>
              <a:rPr lang="zh-CN" altLang="en-US" sz="2800">
                <a:solidFill>
                  <a:schemeClr val="hlink"/>
                </a:solidFill>
                <a:ea typeface="华文行楷" panose="02010800040101010101" pitchFamily="2" charset="-122"/>
              </a:rPr>
              <a:t>（</a:t>
            </a:r>
            <a:r>
              <a:rPr lang="en-US" altLang="zh-CN" sz="2800">
                <a:solidFill>
                  <a:schemeClr val="hlink"/>
                </a:solidFill>
                <a:ea typeface="华文行楷" panose="02010800040101010101" pitchFamily="2" charset="-122"/>
              </a:rPr>
              <a:t>Subnet</a:t>
            </a:r>
            <a:r>
              <a:rPr lang="zh-CN" altLang="en-US" sz="28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划分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8723">
                                            <p:txEl>
                                              <p:pRg st="0" end="0"/>
                                            </p:txEl>
                                          </p:spTgt>
                                        </p:tgtEl>
                                        <p:attrNameLst>
                                          <p:attrName>style.visibility</p:attrName>
                                        </p:attrNameLst>
                                      </p:cBhvr>
                                      <p:to>
                                        <p:strVal val="visible"/>
                                      </p:to>
                                    </p:set>
                                    <p:anim calcmode="lin" valueType="num">
                                      <p:cBhvr additive="base">
                                        <p:cTn id="7" dur="500" fill="hold"/>
                                        <p:tgtEl>
                                          <p:spTgt spid="14387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387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38723">
                                            <p:txEl>
                                              <p:pRg st="1" end="1"/>
                                            </p:txEl>
                                          </p:spTgt>
                                        </p:tgtEl>
                                        <p:attrNameLst>
                                          <p:attrName>style.visibility</p:attrName>
                                        </p:attrNameLst>
                                      </p:cBhvr>
                                      <p:to>
                                        <p:strVal val="visible"/>
                                      </p:to>
                                    </p:set>
                                    <p:anim calcmode="lin" valueType="num">
                                      <p:cBhvr additive="base">
                                        <p:cTn id="11" dur="500" fill="hold"/>
                                        <p:tgtEl>
                                          <p:spTgt spid="14387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387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38723">
                                            <p:txEl>
                                              <p:pRg st="2" end="2"/>
                                            </p:txEl>
                                          </p:spTgt>
                                        </p:tgtEl>
                                        <p:attrNameLst>
                                          <p:attrName>style.visibility</p:attrName>
                                        </p:attrNameLst>
                                      </p:cBhvr>
                                      <p:to>
                                        <p:strVal val="visible"/>
                                      </p:to>
                                    </p:set>
                                    <p:anim calcmode="lin" valueType="num">
                                      <p:cBhvr additive="base">
                                        <p:cTn id="17" dur="500" fill="hold"/>
                                        <p:tgtEl>
                                          <p:spTgt spid="143872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3872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438723">
                                            <p:txEl>
                                              <p:pRg st="3" end="3"/>
                                            </p:txEl>
                                          </p:spTgt>
                                        </p:tgtEl>
                                        <p:attrNameLst>
                                          <p:attrName>style.visibility</p:attrName>
                                        </p:attrNameLst>
                                      </p:cBhvr>
                                      <p:to>
                                        <p:strVal val="visible"/>
                                      </p:to>
                                    </p:set>
                                    <p:anim calcmode="lin" valueType="num">
                                      <p:cBhvr additive="base">
                                        <p:cTn id="21" dur="500" fill="hold"/>
                                        <p:tgtEl>
                                          <p:spTgt spid="143872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3872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38723">
                                            <p:txEl>
                                              <p:pRg st="4" end="4"/>
                                            </p:txEl>
                                          </p:spTgt>
                                        </p:tgtEl>
                                        <p:attrNameLst>
                                          <p:attrName>style.visibility</p:attrName>
                                        </p:attrNameLst>
                                      </p:cBhvr>
                                      <p:to>
                                        <p:strVal val="visible"/>
                                      </p:to>
                                    </p:set>
                                    <p:anim calcmode="lin" valueType="num">
                                      <p:cBhvr additive="base">
                                        <p:cTn id="25" dur="500" fill="hold"/>
                                        <p:tgtEl>
                                          <p:spTgt spid="143872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3872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38723">
                                            <p:txEl>
                                              <p:pRg st="5" end="5"/>
                                            </p:txEl>
                                          </p:spTgt>
                                        </p:tgtEl>
                                        <p:attrNameLst>
                                          <p:attrName>style.visibility</p:attrName>
                                        </p:attrNameLst>
                                      </p:cBhvr>
                                      <p:to>
                                        <p:strVal val="visible"/>
                                      </p:to>
                                    </p:set>
                                    <p:anim calcmode="lin" valueType="num">
                                      <p:cBhvr additive="base">
                                        <p:cTn id="29" dur="500" fill="hold"/>
                                        <p:tgtEl>
                                          <p:spTgt spid="143872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3872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438723">
                                            <p:txEl>
                                              <p:pRg st="6" end="6"/>
                                            </p:txEl>
                                          </p:spTgt>
                                        </p:tgtEl>
                                        <p:attrNameLst>
                                          <p:attrName>style.visibility</p:attrName>
                                        </p:attrNameLst>
                                      </p:cBhvr>
                                      <p:to>
                                        <p:strVal val="visible"/>
                                      </p:to>
                                    </p:set>
                                    <p:anim calcmode="lin" valueType="num">
                                      <p:cBhvr additive="base">
                                        <p:cTn id="33" dur="500" fill="hold"/>
                                        <p:tgtEl>
                                          <p:spTgt spid="143872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4387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723"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子网划分的基本思路</a:t>
            </a:r>
          </a:p>
        </p:txBody>
      </p:sp>
      <p:sp>
        <p:nvSpPr>
          <p:cNvPr id="1854468" name="Text Box 4"/>
          <p:cNvSpPr txBox="1">
            <a:spLocks noChangeArrowheads="1"/>
          </p:cNvSpPr>
          <p:nvPr/>
        </p:nvSpPr>
        <p:spPr bwMode="auto">
          <a:xfrm>
            <a:off x="3230564" y="1235075"/>
            <a:ext cx="5984875" cy="147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把</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地址主机号部分分成</a:t>
            </a:r>
            <a:r>
              <a:rPr lang="zh-CN" altLang="en-US" b="1">
                <a:solidFill>
                  <a:srgbClr val="3333CD"/>
                </a:solidFill>
                <a:latin typeface="Courier" charset="0"/>
              </a:rPr>
              <a:t>子网号 </a:t>
            </a:r>
            <a:r>
              <a:rPr lang="zh-CN" altLang="en-US">
                <a:solidFill>
                  <a:srgbClr val="000000"/>
                </a:solidFill>
                <a:latin typeface="Arial" panose="020B0604020202020204" pitchFamily="34" charset="0"/>
              </a:rPr>
              <a:t>和一个 </a:t>
            </a:r>
            <a:r>
              <a:rPr lang="en-US" altLang="zh-CN">
                <a:solidFill>
                  <a:srgbClr val="000000"/>
                </a:solidFill>
                <a:latin typeface="Arial" panose="020B0604020202020204" pitchFamily="34" charset="0"/>
              </a:rPr>
              <a:t>(</a:t>
            </a:r>
            <a:r>
              <a:rPr lang="zh-CN" altLang="en-US">
                <a:solidFill>
                  <a:srgbClr val="000000"/>
                </a:solidFill>
                <a:latin typeface="Arial" panose="020B0604020202020204" pitchFamily="34" charset="0"/>
              </a:rPr>
              <a:t>小一点的</a:t>
            </a:r>
            <a:r>
              <a:rPr lang="en-US" altLang="zh-CN">
                <a:solidFill>
                  <a:srgbClr val="000000"/>
                </a:solidFill>
                <a:latin typeface="Arial" panose="020B0604020202020204" pitchFamily="34" charset="0"/>
              </a:rPr>
              <a:t>) </a:t>
            </a:r>
            <a:r>
              <a:rPr lang="zh-CN" altLang="en-US" b="1">
                <a:solidFill>
                  <a:srgbClr val="3333CD"/>
                </a:solidFill>
                <a:latin typeface="Courier" charset="0"/>
              </a:rPr>
              <a:t>主机号</a:t>
            </a:r>
            <a:endParaRPr lang="en-US" altLang="zh-CN">
              <a:solidFill>
                <a:srgbClr val="3333CD"/>
              </a:solidFill>
              <a:latin typeface="Arial" panose="020B0604020202020204" pitchFamily="34" charset="0"/>
            </a:endParaRPr>
          </a:p>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结果是一个三层体系</a:t>
            </a:r>
          </a:p>
        </p:txBody>
      </p:sp>
      <p:pic>
        <p:nvPicPr>
          <p:cNvPr id="18544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513" y="2659063"/>
            <a:ext cx="7340600"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4470" name="Text Box 6"/>
          <p:cNvSpPr txBox="1">
            <a:spLocks noChangeArrowheads="1"/>
          </p:cNvSpPr>
          <p:nvPr/>
        </p:nvSpPr>
        <p:spPr bwMode="auto">
          <a:xfrm>
            <a:off x="2039939" y="4224339"/>
            <a:ext cx="8131175" cy="185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FF0000"/>
                </a:solidFill>
                <a:latin typeface="Arial" panose="020B0604020202020204" pitchFamily="34" charset="0"/>
              </a:rPr>
              <a:t>• </a:t>
            </a:r>
            <a:r>
              <a:rPr lang="zh-CN" altLang="en-US">
                <a:solidFill>
                  <a:srgbClr val="FF0000"/>
                </a:solidFill>
                <a:latin typeface="Arial" panose="020B0604020202020204" pitchFamily="34" charset="0"/>
              </a:rPr>
              <a:t>这样</a:t>
            </a:r>
            <a:r>
              <a:rPr lang="en-US" altLang="zh-CN">
                <a:solidFill>
                  <a:srgbClr val="FF0000"/>
                </a:solidFill>
                <a:latin typeface="Arial" panose="020B0604020202020204" pitchFamily="34" charset="0"/>
              </a:rPr>
              <a:t>:</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组织内能随意分配自己的子网地址</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在内部，子网被视为一个单独的网络</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子网结构对外部不可见</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4468">
                                            <p:txEl>
                                              <p:pRg st="0" end="0"/>
                                            </p:txEl>
                                          </p:spTgt>
                                        </p:tgtEl>
                                        <p:attrNameLst>
                                          <p:attrName>style.visibility</p:attrName>
                                        </p:attrNameLst>
                                      </p:cBhvr>
                                      <p:to>
                                        <p:strVal val="visible"/>
                                      </p:to>
                                    </p:set>
                                    <p:anim calcmode="lin" valueType="num">
                                      <p:cBhvr additive="base">
                                        <p:cTn id="7" dur="500" fill="hold"/>
                                        <p:tgtEl>
                                          <p:spTgt spid="185446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44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4468">
                                            <p:txEl>
                                              <p:pRg st="1" end="1"/>
                                            </p:txEl>
                                          </p:spTgt>
                                        </p:tgtEl>
                                        <p:attrNameLst>
                                          <p:attrName>style.visibility</p:attrName>
                                        </p:attrNameLst>
                                      </p:cBhvr>
                                      <p:to>
                                        <p:strVal val="visible"/>
                                      </p:to>
                                    </p:set>
                                    <p:anim calcmode="lin" valueType="num">
                                      <p:cBhvr additive="base">
                                        <p:cTn id="13" dur="500" fill="hold"/>
                                        <p:tgtEl>
                                          <p:spTgt spid="185446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544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854469"/>
                                        </p:tgtEl>
                                        <p:attrNameLst>
                                          <p:attrName>style.visibility</p:attrName>
                                        </p:attrNameLst>
                                      </p:cBhvr>
                                      <p:to>
                                        <p:strVal val="visible"/>
                                      </p:to>
                                    </p:set>
                                    <p:anim calcmode="lin" valueType="num">
                                      <p:cBhvr additive="base">
                                        <p:cTn id="19" dur="500" fill="hold"/>
                                        <p:tgtEl>
                                          <p:spTgt spid="1854469"/>
                                        </p:tgtEl>
                                        <p:attrNameLst>
                                          <p:attrName>ppt_x</p:attrName>
                                        </p:attrNameLst>
                                      </p:cBhvr>
                                      <p:tavLst>
                                        <p:tav tm="0">
                                          <p:val>
                                            <p:strVal val="1+#ppt_w/2"/>
                                          </p:val>
                                        </p:tav>
                                        <p:tav tm="100000">
                                          <p:val>
                                            <p:strVal val="#ppt_x"/>
                                          </p:val>
                                        </p:tav>
                                      </p:tavLst>
                                    </p:anim>
                                    <p:anim calcmode="lin" valueType="num">
                                      <p:cBhvr additive="base">
                                        <p:cTn id="20" dur="500" fill="hold"/>
                                        <p:tgtEl>
                                          <p:spTgt spid="18544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54470">
                                            <p:txEl>
                                              <p:pRg st="0" end="0"/>
                                            </p:txEl>
                                          </p:spTgt>
                                        </p:tgtEl>
                                        <p:attrNameLst>
                                          <p:attrName>style.visibility</p:attrName>
                                        </p:attrNameLst>
                                      </p:cBhvr>
                                      <p:to>
                                        <p:strVal val="visible"/>
                                      </p:to>
                                    </p:set>
                                    <p:anim calcmode="lin" valueType="num">
                                      <p:cBhvr additive="base">
                                        <p:cTn id="25" dur="500" fill="hold"/>
                                        <p:tgtEl>
                                          <p:spTgt spid="1854470">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544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54470">
                                            <p:txEl>
                                              <p:pRg st="1" end="1"/>
                                            </p:txEl>
                                          </p:spTgt>
                                        </p:tgtEl>
                                        <p:attrNameLst>
                                          <p:attrName>style.visibility</p:attrName>
                                        </p:attrNameLst>
                                      </p:cBhvr>
                                      <p:to>
                                        <p:strVal val="visible"/>
                                      </p:to>
                                    </p:set>
                                    <p:anim calcmode="lin" valueType="num">
                                      <p:cBhvr additive="base">
                                        <p:cTn id="31" dur="500" fill="hold"/>
                                        <p:tgtEl>
                                          <p:spTgt spid="1854470">
                                            <p:txEl>
                                              <p:pRg st="1" end="1"/>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544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54470">
                                            <p:txEl>
                                              <p:pRg st="2" end="2"/>
                                            </p:txEl>
                                          </p:spTgt>
                                        </p:tgtEl>
                                        <p:attrNameLst>
                                          <p:attrName>style.visibility</p:attrName>
                                        </p:attrNameLst>
                                      </p:cBhvr>
                                      <p:to>
                                        <p:strVal val="visible"/>
                                      </p:to>
                                    </p:set>
                                    <p:anim calcmode="lin" valueType="num">
                                      <p:cBhvr additive="base">
                                        <p:cTn id="37" dur="500" fill="hold"/>
                                        <p:tgtEl>
                                          <p:spTgt spid="1854470">
                                            <p:txEl>
                                              <p:pRg st="2" end="2"/>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5447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54470">
                                            <p:txEl>
                                              <p:pRg st="3" end="3"/>
                                            </p:txEl>
                                          </p:spTgt>
                                        </p:tgtEl>
                                        <p:attrNameLst>
                                          <p:attrName>style.visibility</p:attrName>
                                        </p:attrNameLst>
                                      </p:cBhvr>
                                      <p:to>
                                        <p:strVal val="visible"/>
                                      </p:to>
                                    </p:set>
                                    <p:anim calcmode="lin" valueType="num">
                                      <p:cBhvr additive="base">
                                        <p:cTn id="43" dur="500" fill="hold"/>
                                        <p:tgtEl>
                                          <p:spTgt spid="1854470">
                                            <p:txEl>
                                              <p:pRg st="3" end="3"/>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5447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4468" grpId="0" build="p" autoUpdateAnimBg="0"/>
      <p:bldP spid="1854470"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bwMode="auto">
          <a:xfrm>
            <a:off x="3257551" y="1492251"/>
            <a:ext cx="5770563" cy="56991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子网掩码决定</a:t>
            </a:r>
            <a:r>
              <a:rPr lang="en-US" altLang="zh-CN"/>
              <a:t>IP</a:t>
            </a:r>
            <a:r>
              <a:rPr lang="zh-CN" altLang="en-US"/>
              <a:t>地址的子网域</a:t>
            </a:r>
          </a:p>
        </p:txBody>
      </p:sp>
      <p:grpSp>
        <p:nvGrpSpPr>
          <p:cNvPr id="36867" name="Group 3"/>
          <p:cNvGrpSpPr>
            <a:grpSpLocks/>
          </p:cNvGrpSpPr>
          <p:nvPr/>
        </p:nvGrpSpPr>
        <p:grpSpPr bwMode="auto">
          <a:xfrm>
            <a:off x="3779838" y="2241551"/>
            <a:ext cx="4419600" cy="2982771"/>
            <a:chOff x="1492" y="1824"/>
            <a:chExt cx="2780" cy="1967"/>
          </a:xfrm>
        </p:grpSpPr>
        <p:sp>
          <p:nvSpPr>
            <p:cNvPr id="36869" name="Rectangle 4"/>
            <p:cNvSpPr>
              <a:spLocks noChangeArrowheads="1"/>
            </p:cNvSpPr>
            <p:nvPr/>
          </p:nvSpPr>
          <p:spPr bwMode="auto">
            <a:xfrm>
              <a:off x="1675" y="1904"/>
              <a:ext cx="43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网路号</a:t>
              </a:r>
              <a:endParaRPr lang="zh-CN" altLang="en-US" sz="2400">
                <a:solidFill>
                  <a:schemeClr val="tx1"/>
                </a:solidFill>
              </a:endParaRPr>
            </a:p>
          </p:txBody>
        </p:sp>
        <p:sp>
          <p:nvSpPr>
            <p:cNvPr id="36870" name="Rectangle 5"/>
            <p:cNvSpPr>
              <a:spLocks noChangeArrowheads="1"/>
            </p:cNvSpPr>
            <p:nvPr/>
          </p:nvSpPr>
          <p:spPr bwMode="auto">
            <a:xfrm>
              <a:off x="3199" y="1904"/>
              <a:ext cx="5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2400">
                  <a:solidFill>
                    <a:schemeClr val="tx1"/>
                  </a:solidFill>
                </a:rPr>
                <a:t>主机号</a:t>
              </a:r>
            </a:p>
          </p:txBody>
        </p:sp>
        <p:sp>
          <p:nvSpPr>
            <p:cNvPr id="36871" name="Freeform 6"/>
            <p:cNvSpPr>
              <a:spLocks/>
            </p:cNvSpPr>
            <p:nvPr/>
          </p:nvSpPr>
          <p:spPr bwMode="auto">
            <a:xfrm>
              <a:off x="1492" y="1828"/>
              <a:ext cx="2780" cy="322"/>
            </a:xfrm>
            <a:custGeom>
              <a:avLst/>
              <a:gdLst>
                <a:gd name="T0" fmla="*/ 1628 w 2972"/>
                <a:gd name="T1" fmla="*/ 116 h 366"/>
                <a:gd name="T2" fmla="*/ 1629 w 2972"/>
                <a:gd name="T3" fmla="*/ 0 h 366"/>
                <a:gd name="T4" fmla="*/ 0 w 2972"/>
                <a:gd name="T5" fmla="*/ 0 h 366"/>
                <a:gd name="T6" fmla="*/ 0 w 2972"/>
                <a:gd name="T7" fmla="*/ 116 h 366"/>
                <a:gd name="T8" fmla="*/ 1629 w 2972"/>
                <a:gd name="T9" fmla="*/ 116 h 366"/>
                <a:gd name="T10" fmla="*/ 1629 w 2972"/>
                <a:gd name="T11" fmla="*/ 116 h 366"/>
                <a:gd name="T12" fmla="*/ 0 60000 65536"/>
                <a:gd name="T13" fmla="*/ 0 60000 65536"/>
                <a:gd name="T14" fmla="*/ 0 60000 65536"/>
                <a:gd name="T15" fmla="*/ 0 60000 65536"/>
                <a:gd name="T16" fmla="*/ 0 60000 65536"/>
                <a:gd name="T17" fmla="*/ 0 60000 65536"/>
                <a:gd name="T18" fmla="*/ 0 w 2972"/>
                <a:gd name="T19" fmla="*/ 0 h 366"/>
                <a:gd name="T20" fmla="*/ 2972 w 2972"/>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2972" h="366">
                  <a:moveTo>
                    <a:pt x="2968" y="366"/>
                  </a:moveTo>
                  <a:lnTo>
                    <a:pt x="2972" y="0"/>
                  </a:lnTo>
                  <a:lnTo>
                    <a:pt x="0" y="0"/>
                  </a:lnTo>
                  <a:lnTo>
                    <a:pt x="0" y="366"/>
                  </a:lnTo>
                  <a:lnTo>
                    <a:pt x="2972" y="36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2" name="Line 7"/>
            <p:cNvSpPr>
              <a:spLocks noChangeShapeType="1"/>
            </p:cNvSpPr>
            <p:nvPr/>
          </p:nvSpPr>
          <p:spPr bwMode="auto">
            <a:xfrm>
              <a:off x="2884" y="1824"/>
              <a:ext cx="1"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3" name="Rectangle 8"/>
            <p:cNvSpPr>
              <a:spLocks noChangeArrowheads="1"/>
            </p:cNvSpPr>
            <p:nvPr/>
          </p:nvSpPr>
          <p:spPr bwMode="auto">
            <a:xfrm>
              <a:off x="2426" y="2236"/>
              <a:ext cx="5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B </a:t>
              </a:r>
              <a:r>
                <a:rPr lang="zh-CN" altLang="en-US" sz="1800">
                  <a:solidFill>
                    <a:srgbClr val="000000"/>
                  </a:solidFill>
                  <a:latin typeface="Arial" panose="020B0604020202020204" pitchFamily="34" charset="0"/>
                </a:rPr>
                <a:t>类地址</a:t>
              </a:r>
              <a:endParaRPr lang="zh-CN" altLang="en-US" sz="2400">
                <a:solidFill>
                  <a:schemeClr val="tx1"/>
                </a:solidFill>
              </a:endParaRPr>
            </a:p>
          </p:txBody>
        </p:sp>
        <p:sp>
          <p:nvSpPr>
            <p:cNvPr id="36874" name="Rectangle 9"/>
            <p:cNvSpPr>
              <a:spLocks noChangeArrowheads="1"/>
            </p:cNvSpPr>
            <p:nvPr/>
          </p:nvSpPr>
          <p:spPr bwMode="auto">
            <a:xfrm>
              <a:off x="2015" y="2884"/>
              <a:ext cx="163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子网掩码 </a:t>
              </a:r>
              <a:r>
                <a:rPr lang="en-US" altLang="zh-CN" sz="1800">
                  <a:solidFill>
                    <a:srgbClr val="000000"/>
                  </a:solidFill>
                  <a:latin typeface="Arial" panose="020B0604020202020204" pitchFamily="34" charset="0"/>
                </a:rPr>
                <a:t>(255.255.255.0)</a:t>
              </a:r>
              <a:endParaRPr lang="en-US" altLang="zh-CN" sz="2400">
                <a:solidFill>
                  <a:schemeClr val="tx1"/>
                </a:solidFill>
              </a:endParaRPr>
            </a:p>
          </p:txBody>
        </p:sp>
        <p:sp>
          <p:nvSpPr>
            <p:cNvPr id="36875" name="Rectangle 10"/>
            <p:cNvSpPr>
              <a:spLocks noChangeArrowheads="1"/>
            </p:cNvSpPr>
            <p:nvPr/>
          </p:nvSpPr>
          <p:spPr bwMode="auto">
            <a:xfrm>
              <a:off x="2350" y="3608"/>
              <a:ext cx="1162"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划分子网后的地址</a:t>
              </a:r>
              <a:endParaRPr lang="zh-CN" altLang="en-US" sz="2400">
                <a:solidFill>
                  <a:schemeClr val="tx1"/>
                </a:solidFill>
              </a:endParaRPr>
            </a:p>
          </p:txBody>
        </p:sp>
        <p:sp>
          <p:nvSpPr>
            <p:cNvPr id="36876" name="Rectangle 11"/>
            <p:cNvSpPr>
              <a:spLocks noChangeArrowheads="1"/>
            </p:cNvSpPr>
            <p:nvPr/>
          </p:nvSpPr>
          <p:spPr bwMode="auto">
            <a:xfrm>
              <a:off x="1536" y="2585"/>
              <a:ext cx="1688"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11111111111111111</a:t>
              </a:r>
              <a:r>
                <a:rPr lang="en-US" altLang="zh-CN" sz="1800">
                  <a:solidFill>
                    <a:schemeClr val="tx2"/>
                  </a:solidFill>
                  <a:latin typeface="Arial" panose="020B0604020202020204" pitchFamily="34" charset="0"/>
                </a:rPr>
                <a:t>1111111</a:t>
              </a:r>
            </a:p>
          </p:txBody>
        </p:sp>
        <p:sp>
          <p:nvSpPr>
            <p:cNvPr id="36877" name="Rectangle 12"/>
            <p:cNvSpPr>
              <a:spLocks noChangeArrowheads="1"/>
            </p:cNvSpPr>
            <p:nvPr/>
          </p:nvSpPr>
          <p:spPr bwMode="auto">
            <a:xfrm>
              <a:off x="3578" y="2585"/>
              <a:ext cx="64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00000000</a:t>
              </a:r>
              <a:endParaRPr lang="en-US" altLang="zh-CN" sz="2400">
                <a:solidFill>
                  <a:schemeClr val="tx1"/>
                </a:solidFill>
              </a:endParaRPr>
            </a:p>
          </p:txBody>
        </p:sp>
        <p:sp>
          <p:nvSpPr>
            <p:cNvPr id="36878" name="Freeform 13"/>
            <p:cNvSpPr>
              <a:spLocks/>
            </p:cNvSpPr>
            <p:nvPr/>
          </p:nvSpPr>
          <p:spPr bwMode="auto">
            <a:xfrm>
              <a:off x="1492" y="2491"/>
              <a:ext cx="2780" cy="326"/>
            </a:xfrm>
            <a:custGeom>
              <a:avLst/>
              <a:gdLst>
                <a:gd name="T0" fmla="*/ 1628 w 2972"/>
                <a:gd name="T1" fmla="*/ 115 h 371"/>
                <a:gd name="T2" fmla="*/ 1629 w 2972"/>
                <a:gd name="T3" fmla="*/ 0 h 371"/>
                <a:gd name="T4" fmla="*/ 0 w 2972"/>
                <a:gd name="T5" fmla="*/ 0 h 371"/>
                <a:gd name="T6" fmla="*/ 0 w 2972"/>
                <a:gd name="T7" fmla="*/ 115 h 371"/>
                <a:gd name="T8" fmla="*/ 1629 w 2972"/>
                <a:gd name="T9" fmla="*/ 115 h 371"/>
                <a:gd name="T10" fmla="*/ 1629 w 2972"/>
                <a:gd name="T11" fmla="*/ 115 h 371"/>
                <a:gd name="T12" fmla="*/ 0 60000 65536"/>
                <a:gd name="T13" fmla="*/ 0 60000 65536"/>
                <a:gd name="T14" fmla="*/ 0 60000 65536"/>
                <a:gd name="T15" fmla="*/ 0 60000 65536"/>
                <a:gd name="T16" fmla="*/ 0 60000 65536"/>
                <a:gd name="T17" fmla="*/ 0 60000 65536"/>
                <a:gd name="T18" fmla="*/ 0 w 2972"/>
                <a:gd name="T19" fmla="*/ 0 h 371"/>
                <a:gd name="T20" fmla="*/ 2972 w 2972"/>
                <a:gd name="T21" fmla="*/ 371 h 371"/>
              </a:gdLst>
              <a:ahLst/>
              <a:cxnLst>
                <a:cxn ang="T12">
                  <a:pos x="T0" y="T1"/>
                </a:cxn>
                <a:cxn ang="T13">
                  <a:pos x="T2" y="T3"/>
                </a:cxn>
                <a:cxn ang="T14">
                  <a:pos x="T4" y="T5"/>
                </a:cxn>
                <a:cxn ang="T15">
                  <a:pos x="T6" y="T7"/>
                </a:cxn>
                <a:cxn ang="T16">
                  <a:pos x="T8" y="T9"/>
                </a:cxn>
                <a:cxn ang="T17">
                  <a:pos x="T10" y="T11"/>
                </a:cxn>
              </a:cxnLst>
              <a:rect l="T18" t="T19" r="T20" b="T21"/>
              <a:pathLst>
                <a:path w="2972" h="371">
                  <a:moveTo>
                    <a:pt x="2968" y="367"/>
                  </a:moveTo>
                  <a:lnTo>
                    <a:pt x="2972" y="0"/>
                  </a:lnTo>
                  <a:lnTo>
                    <a:pt x="0" y="0"/>
                  </a:lnTo>
                  <a:lnTo>
                    <a:pt x="0" y="371"/>
                  </a:lnTo>
                  <a:lnTo>
                    <a:pt x="2972" y="37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9" name="Line 14"/>
            <p:cNvSpPr>
              <a:spLocks noChangeShapeType="1"/>
            </p:cNvSpPr>
            <p:nvPr/>
          </p:nvSpPr>
          <p:spPr bwMode="auto">
            <a:xfrm>
              <a:off x="3483" y="2491"/>
              <a:ext cx="0"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0" name="Rectangle 15"/>
            <p:cNvSpPr>
              <a:spLocks noChangeArrowheads="1"/>
            </p:cNvSpPr>
            <p:nvPr/>
          </p:nvSpPr>
          <p:spPr bwMode="auto">
            <a:xfrm>
              <a:off x="1647" y="3265"/>
              <a:ext cx="106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Network number</a:t>
              </a:r>
              <a:endParaRPr lang="en-US" altLang="zh-CN" sz="2400">
                <a:solidFill>
                  <a:schemeClr val="tx1"/>
                </a:solidFill>
              </a:endParaRPr>
            </a:p>
          </p:txBody>
        </p:sp>
        <p:sp>
          <p:nvSpPr>
            <p:cNvPr id="36881" name="Rectangle 16"/>
            <p:cNvSpPr>
              <a:spLocks noChangeArrowheads="1"/>
            </p:cNvSpPr>
            <p:nvPr/>
          </p:nvSpPr>
          <p:spPr bwMode="auto">
            <a:xfrm>
              <a:off x="3682" y="3265"/>
              <a:ext cx="484"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Host ID</a:t>
              </a:r>
              <a:endParaRPr lang="en-US" altLang="zh-CN" sz="2400">
                <a:solidFill>
                  <a:schemeClr val="tx1"/>
                </a:solidFill>
              </a:endParaRPr>
            </a:p>
          </p:txBody>
        </p:sp>
        <p:sp>
          <p:nvSpPr>
            <p:cNvPr id="36882" name="Rectangle 17"/>
            <p:cNvSpPr>
              <a:spLocks noChangeArrowheads="1"/>
            </p:cNvSpPr>
            <p:nvPr/>
          </p:nvSpPr>
          <p:spPr bwMode="auto">
            <a:xfrm>
              <a:off x="2876" y="3265"/>
              <a:ext cx="64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Subnet ID</a:t>
              </a:r>
              <a:endParaRPr lang="en-US" altLang="zh-CN" sz="2400">
                <a:solidFill>
                  <a:schemeClr val="tx1"/>
                </a:solidFill>
              </a:endParaRPr>
            </a:p>
          </p:txBody>
        </p:sp>
        <p:sp>
          <p:nvSpPr>
            <p:cNvPr id="36883" name="Freeform 18"/>
            <p:cNvSpPr>
              <a:spLocks/>
            </p:cNvSpPr>
            <p:nvPr/>
          </p:nvSpPr>
          <p:spPr bwMode="auto">
            <a:xfrm>
              <a:off x="1492" y="3192"/>
              <a:ext cx="2780" cy="322"/>
            </a:xfrm>
            <a:custGeom>
              <a:avLst/>
              <a:gdLst>
                <a:gd name="T0" fmla="*/ 1628 w 2972"/>
                <a:gd name="T1" fmla="*/ 116 h 366"/>
                <a:gd name="T2" fmla="*/ 1629 w 2972"/>
                <a:gd name="T3" fmla="*/ 0 h 366"/>
                <a:gd name="T4" fmla="*/ 0 w 2972"/>
                <a:gd name="T5" fmla="*/ 0 h 366"/>
                <a:gd name="T6" fmla="*/ 0 w 2972"/>
                <a:gd name="T7" fmla="*/ 116 h 366"/>
                <a:gd name="T8" fmla="*/ 1629 w 2972"/>
                <a:gd name="T9" fmla="*/ 116 h 366"/>
                <a:gd name="T10" fmla="*/ 1629 w 2972"/>
                <a:gd name="T11" fmla="*/ 116 h 366"/>
                <a:gd name="T12" fmla="*/ 0 60000 65536"/>
                <a:gd name="T13" fmla="*/ 0 60000 65536"/>
                <a:gd name="T14" fmla="*/ 0 60000 65536"/>
                <a:gd name="T15" fmla="*/ 0 60000 65536"/>
                <a:gd name="T16" fmla="*/ 0 60000 65536"/>
                <a:gd name="T17" fmla="*/ 0 60000 65536"/>
                <a:gd name="T18" fmla="*/ 0 w 2972"/>
                <a:gd name="T19" fmla="*/ 0 h 366"/>
                <a:gd name="T20" fmla="*/ 2972 w 2972"/>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2972" h="366">
                  <a:moveTo>
                    <a:pt x="2968" y="366"/>
                  </a:moveTo>
                  <a:lnTo>
                    <a:pt x="2972" y="0"/>
                  </a:lnTo>
                  <a:lnTo>
                    <a:pt x="0" y="0"/>
                  </a:lnTo>
                  <a:lnTo>
                    <a:pt x="0" y="366"/>
                  </a:lnTo>
                  <a:lnTo>
                    <a:pt x="2972" y="36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84" name="Line 19"/>
            <p:cNvSpPr>
              <a:spLocks noChangeShapeType="1"/>
            </p:cNvSpPr>
            <p:nvPr/>
          </p:nvSpPr>
          <p:spPr bwMode="auto">
            <a:xfrm>
              <a:off x="2778" y="3183"/>
              <a:ext cx="4" cy="3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5" name="Line 20"/>
            <p:cNvSpPr>
              <a:spLocks noChangeShapeType="1"/>
            </p:cNvSpPr>
            <p:nvPr/>
          </p:nvSpPr>
          <p:spPr bwMode="auto">
            <a:xfrm>
              <a:off x="3546" y="3188"/>
              <a:ext cx="1"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868" name="Rectangle 21"/>
          <p:cNvSpPr>
            <a:spLocks noGrp="1" noChangeArrowheads="1"/>
          </p:cNvSpPr>
          <p:nvPr>
            <p:ph type="title"/>
          </p:nvPr>
        </p:nvSpPr>
        <p:spPr bwMode="auto">
          <a:xfrm>
            <a:off x="2209800" y="396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子网划分</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524000" y="1927226"/>
            <a:ext cx="8763000" cy="3908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 Box 4"/>
          <p:cNvSpPr txBox="1">
            <a:spLocks noChangeArrowheads="1"/>
          </p:cNvSpPr>
          <p:nvPr/>
        </p:nvSpPr>
        <p:spPr bwMode="auto">
          <a:xfrm>
            <a:off x="4610100" y="5951539"/>
            <a:ext cx="3943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3200">
                <a:solidFill>
                  <a:schemeClr val="tx1"/>
                </a:solidFill>
                <a:ea typeface="华文新魏" panose="02010800040101010101" pitchFamily="2" charset="-122"/>
              </a:rPr>
              <a:t>所有主机在同一层上</a:t>
            </a:r>
            <a:r>
              <a:rPr kumimoji="1" lang="en-US" altLang="zh-CN" sz="3200">
                <a:solidFill>
                  <a:schemeClr val="tx1"/>
                </a:solidFill>
                <a:ea typeface="华文新魏" panose="02010800040101010101" pitchFamily="2" charset="-122"/>
              </a:rPr>
              <a:t>.</a:t>
            </a:r>
          </a:p>
        </p:txBody>
      </p:sp>
      <p:sp>
        <p:nvSpPr>
          <p:cNvPr id="37892" name="Rectangle 5"/>
          <p:cNvSpPr>
            <a:spLocks noGrp="1" noChangeArrowheads="1"/>
          </p:cNvSpPr>
          <p:nvPr>
            <p:ph type="title"/>
          </p:nvPr>
        </p:nvSpPr>
        <p:spPr bwMode="auto">
          <a:xfrm>
            <a:off x="2228850" y="3952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不划分子网</a:t>
            </a: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891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762125" y="1614489"/>
            <a:ext cx="8763000" cy="4892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1796" name="Text Box 4"/>
          <p:cNvSpPr txBox="1">
            <a:spLocks noChangeArrowheads="1"/>
          </p:cNvSpPr>
          <p:nvPr/>
        </p:nvSpPr>
        <p:spPr bwMode="auto">
          <a:xfrm>
            <a:off x="3379788" y="3009900"/>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141.14.2.1</a:t>
            </a:r>
          </a:p>
        </p:txBody>
      </p:sp>
      <p:sp>
        <p:nvSpPr>
          <p:cNvPr id="1441797" name="Text Box 5"/>
          <p:cNvSpPr txBox="1">
            <a:spLocks noChangeArrowheads="1"/>
          </p:cNvSpPr>
          <p:nvPr/>
        </p:nvSpPr>
        <p:spPr bwMode="auto">
          <a:xfrm>
            <a:off x="3962400" y="3541713"/>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141.14.7.2</a:t>
            </a:r>
          </a:p>
        </p:txBody>
      </p:sp>
      <p:sp>
        <p:nvSpPr>
          <p:cNvPr id="1441798" name="Text Box 6"/>
          <p:cNvSpPr txBox="1">
            <a:spLocks noChangeArrowheads="1"/>
          </p:cNvSpPr>
          <p:nvPr/>
        </p:nvSpPr>
        <p:spPr bwMode="auto">
          <a:xfrm>
            <a:off x="3236913" y="4160838"/>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141.14.22.3</a:t>
            </a:r>
          </a:p>
        </p:txBody>
      </p:sp>
      <p:sp>
        <p:nvSpPr>
          <p:cNvPr id="38918" name="Rectangle 7"/>
          <p:cNvSpPr>
            <a:spLocks noGrp="1" noChangeArrowheads="1"/>
          </p:cNvSpPr>
          <p:nvPr>
            <p:ph type="title"/>
          </p:nvPr>
        </p:nvSpPr>
        <p:spPr bwMode="auto">
          <a:xfrm>
            <a:off x="2228850" y="3952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划分子网后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1796">
                                            <p:txEl>
                                              <p:pRg st="0" end="0"/>
                                            </p:txEl>
                                          </p:spTgt>
                                        </p:tgtEl>
                                        <p:attrNameLst>
                                          <p:attrName>style.visibility</p:attrName>
                                        </p:attrNameLst>
                                      </p:cBhvr>
                                      <p:to>
                                        <p:strVal val="visible"/>
                                      </p:to>
                                    </p:set>
                                    <p:anim calcmode="lin" valueType="num">
                                      <p:cBhvr additive="base">
                                        <p:cTn id="7" dur="500" fill="hold"/>
                                        <p:tgtEl>
                                          <p:spTgt spid="144179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417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41797">
                                            <p:txEl>
                                              <p:pRg st="0" end="0"/>
                                            </p:txEl>
                                          </p:spTgt>
                                        </p:tgtEl>
                                        <p:attrNameLst>
                                          <p:attrName>style.visibility</p:attrName>
                                        </p:attrNameLst>
                                      </p:cBhvr>
                                      <p:to>
                                        <p:strVal val="visible"/>
                                      </p:to>
                                    </p:set>
                                    <p:anim calcmode="lin" valueType="num">
                                      <p:cBhvr additive="base">
                                        <p:cTn id="13" dur="500" fill="hold"/>
                                        <p:tgtEl>
                                          <p:spTgt spid="144179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4179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41798">
                                            <p:txEl>
                                              <p:pRg st="0" end="0"/>
                                            </p:txEl>
                                          </p:spTgt>
                                        </p:tgtEl>
                                        <p:attrNameLst>
                                          <p:attrName>style.visibility</p:attrName>
                                        </p:attrNameLst>
                                      </p:cBhvr>
                                      <p:to>
                                        <p:strVal val="visible"/>
                                      </p:to>
                                    </p:set>
                                    <p:anim calcmode="lin" valueType="num">
                                      <p:cBhvr additive="base">
                                        <p:cTn id="19" dur="500" fill="hold"/>
                                        <p:tgtEl>
                                          <p:spTgt spid="144179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4179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1796" grpId="0" build="p" autoUpdateAnimBg="0"/>
      <p:bldP spid="1441797" grpId="0" build="p" autoUpdateAnimBg="0"/>
      <p:bldP spid="1441798"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0500" y="1220789"/>
            <a:ext cx="6916738"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Rectangle 4"/>
          <p:cNvSpPr>
            <a:spLocks noGrp="1" noChangeArrowheads="1"/>
          </p:cNvSpPr>
          <p:nvPr>
            <p:ph type="title"/>
          </p:nvPr>
        </p:nvSpPr>
        <p:spPr bwMode="auto">
          <a:xfrm>
            <a:off x="223043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上例网络中的地址</a:t>
            </a: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43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9" y="1943100"/>
            <a:ext cx="7781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843" name="Picture 3"/>
          <p:cNvPicPr>
            <a:picLocks noGrp="1" noChangeAspect="1" noChangeArrowheads="1"/>
          </p:cNvPicPr>
          <p:nvPr>
            <p:ph type="chart" idx="1"/>
          </p:nvPr>
        </p:nvPicPr>
        <p:blipFill>
          <a:blip r:embed="rId3">
            <a:extLst>
              <a:ext uri="{28A0092B-C50C-407E-A947-70E740481C1C}">
                <a14:useLocalDpi xmlns:a14="http://schemas.microsoft.com/office/drawing/2010/main" val="0"/>
              </a:ext>
            </a:extLst>
          </a:blip>
          <a:srcRect/>
          <a:stretch>
            <a:fillRect/>
          </a:stretch>
        </p:blipFill>
        <p:spPr bwMode="auto">
          <a:xfrm>
            <a:off x="2414588" y="1230313"/>
            <a:ext cx="7650162" cy="4540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5"/>
          <p:cNvSpPr>
            <a:spLocks noGrp="1" noChangeArrowheads="1"/>
          </p:cNvSpPr>
          <p:nvPr>
            <p:ph type="title"/>
          </p:nvPr>
        </p:nvSpPr>
        <p:spPr bwMode="auto">
          <a:xfrm>
            <a:off x="2268538"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子网掩码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43844"/>
                                        </p:tgtEl>
                                        <p:attrNameLst>
                                          <p:attrName>style.visibility</p:attrName>
                                        </p:attrNameLst>
                                      </p:cBhvr>
                                      <p:to>
                                        <p:strVal val="visible"/>
                                      </p:to>
                                    </p:set>
                                    <p:anim calcmode="lin" valueType="num">
                                      <p:cBhvr additive="base">
                                        <p:cTn id="7" dur="500" fill="hold"/>
                                        <p:tgtEl>
                                          <p:spTgt spid="1443844"/>
                                        </p:tgtEl>
                                        <p:attrNameLst>
                                          <p:attrName>ppt_x</p:attrName>
                                        </p:attrNameLst>
                                      </p:cBhvr>
                                      <p:tavLst>
                                        <p:tav tm="0">
                                          <p:val>
                                            <p:strVal val="0-#ppt_w/2"/>
                                          </p:val>
                                        </p:tav>
                                        <p:tav tm="100000">
                                          <p:val>
                                            <p:strVal val="#ppt_x"/>
                                          </p:val>
                                        </p:tav>
                                      </p:tavLst>
                                    </p:anim>
                                    <p:anim calcmode="lin" valueType="num">
                                      <p:cBhvr additive="base">
                                        <p:cTn id="8" dur="500" fill="hold"/>
                                        <p:tgtEl>
                                          <p:spTgt spid="1443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43843"/>
                                        </p:tgtEl>
                                        <p:attrNameLst>
                                          <p:attrName>style.visibility</p:attrName>
                                        </p:attrNameLst>
                                      </p:cBhvr>
                                      <p:to>
                                        <p:strVal val="visible"/>
                                      </p:to>
                                    </p:set>
                                    <p:anim calcmode="lin" valueType="num">
                                      <p:cBhvr additive="base">
                                        <p:cTn id="13" dur="500" fill="hold"/>
                                        <p:tgtEl>
                                          <p:spTgt spid="1443843"/>
                                        </p:tgtEl>
                                        <p:attrNameLst>
                                          <p:attrName>ppt_x</p:attrName>
                                        </p:attrNameLst>
                                      </p:cBhvr>
                                      <p:tavLst>
                                        <p:tav tm="0">
                                          <p:val>
                                            <p:strVal val="0-#ppt_w/2"/>
                                          </p:val>
                                        </p:tav>
                                        <p:tav tm="100000">
                                          <p:val>
                                            <p:strVal val="#ppt_x"/>
                                          </p:val>
                                        </p:tav>
                                      </p:tavLst>
                                    </p:anim>
                                    <p:anim calcmode="lin" valueType="num">
                                      <p:cBhvr additive="base">
                                        <p:cTn id="14" dur="500" fill="hold"/>
                                        <p:tgtEl>
                                          <p:spTgt spid="144384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44384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9987" name="Rectangle 3"/>
          <p:cNvSpPr>
            <a:spLocks noGrp="1" noChangeArrowheads="1"/>
          </p:cNvSpPr>
          <p:nvPr>
            <p:ph type="body" idx="1"/>
          </p:nvPr>
        </p:nvSpPr>
        <p:spPr bwMode="auto">
          <a:xfrm>
            <a:off x="1631950" y="1773239"/>
            <a:ext cx="8839200" cy="4225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利用超网来进行网络汇聚</a:t>
            </a:r>
          </a:p>
          <a:p>
            <a:pPr marL="858838" lvl="1" indent="-325438"/>
            <a:r>
              <a:rPr lang="zh-CN" altLang="en-US"/>
              <a:t>超网：</a:t>
            </a:r>
            <a:r>
              <a:rPr lang="zh-CN" altLang="en-US">
                <a:solidFill>
                  <a:schemeClr val="tx2"/>
                </a:solidFill>
              </a:rPr>
              <a:t>将多个 </a:t>
            </a:r>
            <a:r>
              <a:rPr lang="en-US" altLang="zh-CN">
                <a:solidFill>
                  <a:schemeClr val="tx2"/>
                </a:solidFill>
              </a:rPr>
              <a:t>C </a:t>
            </a:r>
            <a:r>
              <a:rPr lang="zh-CN" altLang="en-US">
                <a:solidFill>
                  <a:schemeClr val="tx2"/>
                </a:solidFill>
              </a:rPr>
              <a:t>类的网络聚合起来，构成一个单一的、具有共同地址前缀的网络</a:t>
            </a:r>
          </a:p>
          <a:p>
            <a:pPr eaLnBrk="1" hangingPunct="1"/>
            <a:r>
              <a:rPr lang="zh-CN" altLang="en-US"/>
              <a:t>优点：</a:t>
            </a:r>
          </a:p>
          <a:p>
            <a:pPr marL="858838" lvl="1" indent="-325438"/>
            <a:r>
              <a:rPr lang="zh-CN" altLang="en-US"/>
              <a:t>可以减少路由表表项的数量，节省路由器中的资源</a:t>
            </a:r>
          </a:p>
          <a:p>
            <a:pPr marL="858838" lvl="1" indent="-325438"/>
            <a:r>
              <a:rPr lang="zh-CN" altLang="en-US"/>
              <a:t>按照实际需要进行网络地址分配，提高地址空间的利用率</a:t>
            </a:r>
          </a:p>
          <a:p>
            <a:pPr marL="858838" lvl="1" indent="-325438">
              <a:buNone/>
            </a:pPr>
            <a:r>
              <a:rPr lang="zh-CN" altLang="en-US"/>
              <a:t>	</a:t>
            </a:r>
            <a:r>
              <a:rPr lang="zh-CN" altLang="en-US">
                <a:solidFill>
                  <a:schemeClr val="tx2"/>
                </a:solidFill>
              </a:rPr>
              <a:t>例如：规模在 </a:t>
            </a:r>
            <a:r>
              <a:rPr lang="en-US" altLang="zh-CN">
                <a:solidFill>
                  <a:schemeClr val="tx2"/>
                </a:solidFill>
              </a:rPr>
              <a:t>254 </a:t>
            </a:r>
            <a:r>
              <a:rPr lang="zh-CN" altLang="en-US">
                <a:solidFill>
                  <a:schemeClr val="tx2"/>
                </a:solidFill>
              </a:rPr>
              <a:t>结点以上（但远小于 </a:t>
            </a:r>
            <a:r>
              <a:rPr lang="en-US" altLang="zh-CN">
                <a:solidFill>
                  <a:schemeClr val="tx2"/>
                </a:solidFill>
              </a:rPr>
              <a:t>64K</a:t>
            </a:r>
            <a:r>
              <a:rPr lang="zh-CN" altLang="en-US">
                <a:solidFill>
                  <a:schemeClr val="tx2"/>
                </a:solidFill>
              </a:rPr>
              <a:t>）的网络，可分配一个由若干 </a:t>
            </a:r>
            <a:r>
              <a:rPr lang="en-US" altLang="zh-CN">
                <a:solidFill>
                  <a:schemeClr val="tx2"/>
                </a:solidFill>
              </a:rPr>
              <a:t>C </a:t>
            </a:r>
            <a:r>
              <a:rPr lang="zh-CN" altLang="en-US">
                <a:solidFill>
                  <a:schemeClr val="tx2"/>
                </a:solidFill>
              </a:rPr>
              <a:t>类地址聚合成的超网地址空间块，而不必占用一个完整的 </a:t>
            </a:r>
            <a:r>
              <a:rPr lang="en-US" altLang="zh-CN">
                <a:solidFill>
                  <a:schemeClr val="tx2"/>
                </a:solidFill>
              </a:rPr>
              <a:t>B </a:t>
            </a:r>
            <a:r>
              <a:rPr lang="zh-CN" altLang="en-US">
                <a:solidFill>
                  <a:schemeClr val="tx2"/>
                </a:solidFill>
              </a:rPr>
              <a:t>类地址空间。</a:t>
            </a:r>
          </a:p>
          <a:p>
            <a:pPr eaLnBrk="1" hangingPunct="1">
              <a:buFont typeface="Wingdings" panose="05000000000000000000" pitchFamily="2" charset="2"/>
              <a:buNone/>
            </a:pPr>
            <a:endParaRPr lang="en-US" altLang="zh-CN" sz="2400"/>
          </a:p>
        </p:txBody>
      </p:sp>
      <p:sp>
        <p:nvSpPr>
          <p:cNvPr id="45059" name="Rectangle 4"/>
          <p:cNvSpPr>
            <a:spLocks noGrp="1" noChangeArrowheads="1"/>
          </p:cNvSpPr>
          <p:nvPr>
            <p:ph type="title"/>
          </p:nvPr>
        </p:nvSpPr>
        <p:spPr bwMode="auto">
          <a:xfrm>
            <a:off x="222885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CIDR</a:t>
            </a:r>
            <a:r>
              <a:rPr lang="zh-CN" altLang="en-US" sz="3600">
                <a:solidFill>
                  <a:schemeClr val="hlink"/>
                </a:solidFill>
                <a:ea typeface="华文行楷" panose="02010800040101010101" pitchFamily="2" charset="-122"/>
              </a:rPr>
              <a:t>（超网）</a:t>
            </a:r>
          </a:p>
        </p:txBody>
      </p:sp>
      <p:sp>
        <p:nvSpPr>
          <p:cNvPr id="45060" name="Text Box 5"/>
          <p:cNvSpPr txBox="1">
            <a:spLocks noChangeArrowheads="1"/>
          </p:cNvSpPr>
          <p:nvPr/>
        </p:nvSpPr>
        <p:spPr bwMode="auto">
          <a:xfrm>
            <a:off x="2224088" y="1271588"/>
            <a:ext cx="7612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2400" b="1">
                <a:solidFill>
                  <a:schemeClr val="folHlink"/>
                </a:solidFill>
                <a:latin typeface="Arial" panose="020B0604020202020204" pitchFamily="34" charset="0"/>
              </a:rPr>
              <a:t>RFC 1519: Classless Inter-Domain Routing (CIDR)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9987">
                                            <p:txEl>
                                              <p:pRg st="0" end="0"/>
                                            </p:txEl>
                                          </p:spTgt>
                                        </p:tgtEl>
                                        <p:attrNameLst>
                                          <p:attrName>style.visibility</p:attrName>
                                        </p:attrNameLst>
                                      </p:cBhvr>
                                      <p:to>
                                        <p:strVal val="visible"/>
                                      </p:to>
                                    </p:set>
                                    <p:anim calcmode="lin" valueType="num">
                                      <p:cBhvr additive="base">
                                        <p:cTn id="7" dur="500" fill="hold"/>
                                        <p:tgtEl>
                                          <p:spTgt spid="14499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499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49987">
                                            <p:txEl>
                                              <p:pRg st="1" end="1"/>
                                            </p:txEl>
                                          </p:spTgt>
                                        </p:tgtEl>
                                        <p:attrNameLst>
                                          <p:attrName>style.visibility</p:attrName>
                                        </p:attrNameLst>
                                      </p:cBhvr>
                                      <p:to>
                                        <p:strVal val="visible"/>
                                      </p:to>
                                    </p:set>
                                    <p:anim calcmode="lin" valueType="num">
                                      <p:cBhvr additive="base">
                                        <p:cTn id="11" dur="500" fill="hold"/>
                                        <p:tgtEl>
                                          <p:spTgt spid="144998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499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49987">
                                            <p:txEl>
                                              <p:pRg st="2" end="2"/>
                                            </p:txEl>
                                          </p:spTgt>
                                        </p:tgtEl>
                                        <p:attrNameLst>
                                          <p:attrName>style.visibility</p:attrName>
                                        </p:attrNameLst>
                                      </p:cBhvr>
                                      <p:to>
                                        <p:strVal val="visible"/>
                                      </p:to>
                                    </p:set>
                                    <p:anim calcmode="lin" valueType="num">
                                      <p:cBhvr additive="base">
                                        <p:cTn id="17" dur="500" fill="hold"/>
                                        <p:tgtEl>
                                          <p:spTgt spid="144998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4998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449987">
                                            <p:txEl>
                                              <p:pRg st="3" end="3"/>
                                            </p:txEl>
                                          </p:spTgt>
                                        </p:tgtEl>
                                        <p:attrNameLst>
                                          <p:attrName>style.visibility</p:attrName>
                                        </p:attrNameLst>
                                      </p:cBhvr>
                                      <p:to>
                                        <p:strVal val="visible"/>
                                      </p:to>
                                    </p:set>
                                    <p:anim calcmode="lin" valueType="num">
                                      <p:cBhvr additive="base">
                                        <p:cTn id="21" dur="500" fill="hold"/>
                                        <p:tgtEl>
                                          <p:spTgt spid="144998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4998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49987">
                                            <p:txEl>
                                              <p:pRg st="4" end="4"/>
                                            </p:txEl>
                                          </p:spTgt>
                                        </p:tgtEl>
                                        <p:attrNameLst>
                                          <p:attrName>style.visibility</p:attrName>
                                        </p:attrNameLst>
                                      </p:cBhvr>
                                      <p:to>
                                        <p:strVal val="visible"/>
                                      </p:to>
                                    </p:set>
                                    <p:anim calcmode="lin" valueType="num">
                                      <p:cBhvr additive="base">
                                        <p:cTn id="25" dur="500" fill="hold"/>
                                        <p:tgtEl>
                                          <p:spTgt spid="144998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4998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49987">
                                            <p:txEl>
                                              <p:pRg st="5" end="5"/>
                                            </p:txEl>
                                          </p:spTgt>
                                        </p:tgtEl>
                                        <p:attrNameLst>
                                          <p:attrName>style.visibility</p:attrName>
                                        </p:attrNameLst>
                                      </p:cBhvr>
                                      <p:to>
                                        <p:strVal val="visible"/>
                                      </p:to>
                                    </p:set>
                                    <p:anim calcmode="lin" valueType="num">
                                      <p:cBhvr additive="base">
                                        <p:cTn id="29" dur="500" fill="hold"/>
                                        <p:tgtEl>
                                          <p:spTgt spid="144998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499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9987"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8"/>
          <p:cNvSpPr>
            <a:spLocks noGrp="1" noChangeArrowheads="1"/>
          </p:cNvSpPr>
          <p:nvPr>
            <p:ph type="title"/>
          </p:nvPr>
        </p:nvSpPr>
        <p:spPr bwMode="auto">
          <a:xfrm>
            <a:off x="224948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超网的作用</a:t>
            </a:r>
          </a:p>
        </p:txBody>
      </p:sp>
      <p:grpSp>
        <p:nvGrpSpPr>
          <p:cNvPr id="2" name="Group 57"/>
          <p:cNvGrpSpPr>
            <a:grpSpLocks/>
          </p:cNvGrpSpPr>
          <p:nvPr/>
        </p:nvGrpSpPr>
        <p:grpSpPr bwMode="auto">
          <a:xfrm>
            <a:off x="2322513" y="1584325"/>
            <a:ext cx="7848600" cy="2425700"/>
            <a:chOff x="192" y="998"/>
            <a:chExt cx="4944" cy="1528"/>
          </a:xfrm>
        </p:grpSpPr>
        <p:sp>
          <p:nvSpPr>
            <p:cNvPr id="47125" name="Oval 21"/>
            <p:cNvSpPr>
              <a:spLocks noChangeArrowheads="1"/>
            </p:cNvSpPr>
            <p:nvPr/>
          </p:nvSpPr>
          <p:spPr bwMode="auto">
            <a:xfrm>
              <a:off x="4224" y="1414"/>
              <a:ext cx="912" cy="986"/>
            </a:xfrm>
            <a:prstGeom prst="ellipse">
              <a:avLst/>
            </a:prstGeom>
            <a:solidFill>
              <a:schemeClr val="fo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000">
                  <a:solidFill>
                    <a:schemeClr val="tx1"/>
                  </a:solidFill>
                </a:rPr>
                <a:t>全局</a:t>
              </a:r>
            </a:p>
            <a:p>
              <a:pPr algn="ctr"/>
              <a:r>
                <a:rPr lang="en-US" altLang="zh-CN" sz="2400">
                  <a:solidFill>
                    <a:schemeClr val="tx1"/>
                  </a:solidFill>
                </a:rPr>
                <a:t>Internet</a:t>
              </a:r>
            </a:p>
            <a:p>
              <a:pPr algn="ctr"/>
              <a:r>
                <a:rPr lang="zh-CN" altLang="en-US" sz="2000">
                  <a:solidFill>
                    <a:schemeClr val="tx1"/>
                  </a:solidFill>
                </a:rPr>
                <a:t>路由网</a:t>
              </a:r>
            </a:p>
          </p:txBody>
        </p:sp>
        <p:sp>
          <p:nvSpPr>
            <p:cNvPr id="47126" name="Oval 23"/>
            <p:cNvSpPr>
              <a:spLocks noChangeArrowheads="1"/>
            </p:cNvSpPr>
            <p:nvPr/>
          </p:nvSpPr>
          <p:spPr bwMode="auto">
            <a:xfrm>
              <a:off x="1440" y="1471"/>
              <a:ext cx="816" cy="828"/>
            </a:xfrm>
            <a:prstGeom prst="ellipse">
              <a:avLst/>
            </a:prstGeom>
            <a:solidFill>
              <a:schemeClr va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服务</a:t>
              </a:r>
            </a:p>
            <a:p>
              <a:pPr algn="ctr"/>
              <a:r>
                <a:rPr lang="zh-CN" altLang="en-US" sz="2400">
                  <a:solidFill>
                    <a:schemeClr val="tx1"/>
                  </a:solidFill>
                </a:rPr>
                <a:t>提供商</a:t>
              </a:r>
            </a:p>
          </p:txBody>
        </p:sp>
        <p:sp>
          <p:nvSpPr>
            <p:cNvPr id="47127" name="Line 24"/>
            <p:cNvSpPr>
              <a:spLocks noChangeShapeType="1"/>
            </p:cNvSpPr>
            <p:nvPr/>
          </p:nvSpPr>
          <p:spPr bwMode="auto">
            <a:xfrm>
              <a:off x="1104" y="1392"/>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8" name="Line 25"/>
            <p:cNvSpPr>
              <a:spLocks noChangeShapeType="1"/>
            </p:cNvSpPr>
            <p:nvPr/>
          </p:nvSpPr>
          <p:spPr bwMode="auto">
            <a:xfrm>
              <a:off x="1104" y="1589"/>
              <a:ext cx="336" cy="1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9" name="Line 26"/>
            <p:cNvSpPr>
              <a:spLocks noChangeShapeType="1"/>
            </p:cNvSpPr>
            <p:nvPr/>
          </p:nvSpPr>
          <p:spPr bwMode="auto">
            <a:xfrm>
              <a:off x="1104" y="1747"/>
              <a:ext cx="336" cy="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0" name="Line 27"/>
            <p:cNvSpPr>
              <a:spLocks noChangeShapeType="1"/>
            </p:cNvSpPr>
            <p:nvPr/>
          </p:nvSpPr>
          <p:spPr bwMode="auto">
            <a:xfrm>
              <a:off x="2256" y="1865"/>
              <a:ext cx="33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1" name="Text Box 28"/>
            <p:cNvSpPr txBox="1">
              <a:spLocks noChangeArrowheads="1"/>
            </p:cNvSpPr>
            <p:nvPr/>
          </p:nvSpPr>
          <p:spPr bwMode="auto">
            <a:xfrm>
              <a:off x="210" y="1256"/>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32" name="Text Box 29"/>
            <p:cNvSpPr txBox="1">
              <a:spLocks noChangeArrowheads="1"/>
            </p:cNvSpPr>
            <p:nvPr/>
          </p:nvSpPr>
          <p:spPr bwMode="auto">
            <a:xfrm>
              <a:off x="200" y="1432"/>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33" name="Text Box 30"/>
            <p:cNvSpPr txBox="1">
              <a:spLocks noChangeArrowheads="1"/>
            </p:cNvSpPr>
            <p:nvPr/>
          </p:nvSpPr>
          <p:spPr bwMode="auto">
            <a:xfrm>
              <a:off x="220" y="1630"/>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34" name="Text Box 31"/>
            <p:cNvSpPr txBox="1">
              <a:spLocks noChangeArrowheads="1"/>
            </p:cNvSpPr>
            <p:nvPr/>
          </p:nvSpPr>
          <p:spPr bwMode="auto">
            <a:xfrm>
              <a:off x="192" y="2141"/>
              <a:ext cx="11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35" name="Text Box 32"/>
            <p:cNvSpPr txBox="1">
              <a:spLocks noChangeArrowheads="1"/>
            </p:cNvSpPr>
            <p:nvPr/>
          </p:nvSpPr>
          <p:spPr bwMode="auto">
            <a:xfrm>
              <a:off x="240" y="1826"/>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36" name="Line 33"/>
            <p:cNvSpPr>
              <a:spLocks noChangeShapeType="1"/>
            </p:cNvSpPr>
            <p:nvPr/>
          </p:nvSpPr>
          <p:spPr bwMode="auto">
            <a:xfrm flipV="1">
              <a:off x="1104" y="1786"/>
              <a:ext cx="336"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7" name="Line 34"/>
            <p:cNvSpPr>
              <a:spLocks noChangeShapeType="1"/>
            </p:cNvSpPr>
            <p:nvPr/>
          </p:nvSpPr>
          <p:spPr bwMode="auto">
            <a:xfrm flipV="1">
              <a:off x="1104" y="1786"/>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8" name="Text Box 35"/>
            <p:cNvSpPr txBox="1">
              <a:spLocks noChangeArrowheads="1"/>
            </p:cNvSpPr>
            <p:nvPr/>
          </p:nvSpPr>
          <p:spPr bwMode="auto">
            <a:xfrm>
              <a:off x="2830" y="1353"/>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39" name="Text Box 36"/>
            <p:cNvSpPr txBox="1">
              <a:spLocks noChangeArrowheads="1"/>
            </p:cNvSpPr>
            <p:nvPr/>
          </p:nvSpPr>
          <p:spPr bwMode="auto">
            <a:xfrm>
              <a:off x="2820" y="1529"/>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40" name="Text Box 37"/>
            <p:cNvSpPr txBox="1">
              <a:spLocks noChangeArrowheads="1"/>
            </p:cNvSpPr>
            <p:nvPr/>
          </p:nvSpPr>
          <p:spPr bwMode="auto">
            <a:xfrm>
              <a:off x="2840" y="1725"/>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41" name="Text Box 38"/>
            <p:cNvSpPr txBox="1">
              <a:spLocks noChangeArrowheads="1"/>
            </p:cNvSpPr>
            <p:nvPr/>
          </p:nvSpPr>
          <p:spPr bwMode="auto">
            <a:xfrm>
              <a:off x="2812" y="2238"/>
              <a:ext cx="11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42" name="Text Box 39"/>
            <p:cNvSpPr txBox="1">
              <a:spLocks noChangeArrowheads="1"/>
            </p:cNvSpPr>
            <p:nvPr/>
          </p:nvSpPr>
          <p:spPr bwMode="auto">
            <a:xfrm>
              <a:off x="2860" y="19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43" name="AutoShape 40"/>
            <p:cNvSpPr>
              <a:spLocks/>
            </p:cNvSpPr>
            <p:nvPr/>
          </p:nvSpPr>
          <p:spPr bwMode="auto">
            <a:xfrm>
              <a:off x="2686" y="1353"/>
              <a:ext cx="240" cy="1143"/>
            </a:xfrm>
            <a:prstGeom prst="leftBrace">
              <a:avLst>
                <a:gd name="adj1" fmla="val 39687"/>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47144" name="Text Box 41"/>
            <p:cNvSpPr txBox="1">
              <a:spLocks noChangeArrowheads="1"/>
            </p:cNvSpPr>
            <p:nvPr/>
          </p:nvSpPr>
          <p:spPr bwMode="auto">
            <a:xfrm>
              <a:off x="240" y="998"/>
              <a:ext cx="23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b="1" u="sng">
                  <a:solidFill>
                    <a:schemeClr val="folHlink"/>
                  </a:solidFill>
                </a:rPr>
                <a:t>不用 </a:t>
              </a:r>
              <a:r>
                <a:rPr lang="en-US" altLang="zh-CN" b="1" u="sng">
                  <a:solidFill>
                    <a:schemeClr val="folHlink"/>
                  </a:solidFill>
                </a:rPr>
                <a:t>CIDR</a:t>
              </a:r>
              <a:r>
                <a:rPr lang="zh-CN" altLang="en-US" b="1" u="sng">
                  <a:solidFill>
                    <a:schemeClr val="folHlink"/>
                  </a:solidFill>
                </a:rPr>
                <a:t>的域间路由</a:t>
              </a:r>
            </a:p>
          </p:txBody>
        </p:sp>
      </p:grpSp>
      <p:grpSp>
        <p:nvGrpSpPr>
          <p:cNvPr id="3" name="Group 58"/>
          <p:cNvGrpSpPr>
            <a:grpSpLocks/>
          </p:cNvGrpSpPr>
          <p:nvPr/>
        </p:nvGrpSpPr>
        <p:grpSpPr bwMode="auto">
          <a:xfrm>
            <a:off x="2425700" y="4029076"/>
            <a:ext cx="7848600" cy="2655879"/>
            <a:chOff x="288" y="2650"/>
            <a:chExt cx="4944" cy="1676"/>
          </a:xfrm>
        </p:grpSpPr>
        <p:sp>
          <p:nvSpPr>
            <p:cNvPr id="47110" name="Oval 42"/>
            <p:cNvSpPr>
              <a:spLocks noChangeArrowheads="1"/>
            </p:cNvSpPr>
            <p:nvPr/>
          </p:nvSpPr>
          <p:spPr bwMode="auto">
            <a:xfrm>
              <a:off x="1536" y="3348"/>
              <a:ext cx="816" cy="828"/>
            </a:xfrm>
            <a:prstGeom prst="ellipse">
              <a:avLst/>
            </a:prstGeom>
            <a:solidFill>
              <a:schemeClr va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Service</a:t>
              </a:r>
            </a:p>
            <a:p>
              <a:pPr algn="ctr"/>
              <a:r>
                <a:rPr lang="en-US" altLang="zh-CN" sz="2400">
                  <a:solidFill>
                    <a:schemeClr val="tx1"/>
                  </a:solidFill>
                </a:rPr>
                <a:t>Provider</a:t>
              </a:r>
            </a:p>
          </p:txBody>
        </p:sp>
        <p:sp>
          <p:nvSpPr>
            <p:cNvPr id="47111" name="Oval 43"/>
            <p:cNvSpPr>
              <a:spLocks noChangeArrowheads="1"/>
            </p:cNvSpPr>
            <p:nvPr/>
          </p:nvSpPr>
          <p:spPr bwMode="auto">
            <a:xfrm>
              <a:off x="4320" y="3334"/>
              <a:ext cx="912" cy="986"/>
            </a:xfrm>
            <a:prstGeom prst="ellipse">
              <a:avLst/>
            </a:prstGeom>
            <a:solidFill>
              <a:schemeClr val="fo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Global </a:t>
              </a:r>
            </a:p>
            <a:p>
              <a:pPr algn="ctr"/>
              <a:r>
                <a:rPr lang="en-US" altLang="zh-CN" sz="2400">
                  <a:solidFill>
                    <a:schemeClr val="tx1"/>
                  </a:solidFill>
                </a:rPr>
                <a:t>Internet</a:t>
              </a:r>
            </a:p>
            <a:p>
              <a:pPr algn="ctr"/>
              <a:r>
                <a:rPr lang="en-US" altLang="zh-CN" sz="2400">
                  <a:solidFill>
                    <a:schemeClr val="tx1"/>
                  </a:solidFill>
                </a:rPr>
                <a:t>Routing </a:t>
              </a:r>
            </a:p>
            <a:p>
              <a:pPr algn="ctr"/>
              <a:r>
                <a:rPr lang="en-US" altLang="zh-CN" sz="2400">
                  <a:solidFill>
                    <a:schemeClr val="tx1"/>
                  </a:solidFill>
                </a:rPr>
                <a:t>Mesh</a:t>
              </a:r>
            </a:p>
          </p:txBody>
        </p:sp>
        <p:sp>
          <p:nvSpPr>
            <p:cNvPr id="47112" name="Line 44"/>
            <p:cNvSpPr>
              <a:spLocks noChangeShapeType="1"/>
            </p:cNvSpPr>
            <p:nvPr/>
          </p:nvSpPr>
          <p:spPr bwMode="auto">
            <a:xfrm>
              <a:off x="1200" y="3149"/>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3" name="Line 45"/>
            <p:cNvSpPr>
              <a:spLocks noChangeShapeType="1"/>
            </p:cNvSpPr>
            <p:nvPr/>
          </p:nvSpPr>
          <p:spPr bwMode="auto">
            <a:xfrm>
              <a:off x="1200" y="3355"/>
              <a:ext cx="336" cy="1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Line 46"/>
            <p:cNvSpPr>
              <a:spLocks noChangeShapeType="1"/>
            </p:cNvSpPr>
            <p:nvPr/>
          </p:nvSpPr>
          <p:spPr bwMode="auto">
            <a:xfrm>
              <a:off x="1200" y="3513"/>
              <a:ext cx="336" cy="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5" name="Line 47"/>
            <p:cNvSpPr>
              <a:spLocks noChangeShapeType="1"/>
            </p:cNvSpPr>
            <p:nvPr/>
          </p:nvSpPr>
          <p:spPr bwMode="auto">
            <a:xfrm>
              <a:off x="2352" y="3648"/>
              <a:ext cx="336" cy="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6" name="Text Box 48"/>
            <p:cNvSpPr txBox="1">
              <a:spLocks noChangeArrowheads="1"/>
            </p:cNvSpPr>
            <p:nvPr/>
          </p:nvSpPr>
          <p:spPr bwMode="auto">
            <a:xfrm>
              <a:off x="306" y="2957"/>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17" name="Text Box 49"/>
            <p:cNvSpPr txBox="1">
              <a:spLocks noChangeArrowheads="1"/>
            </p:cNvSpPr>
            <p:nvPr/>
          </p:nvSpPr>
          <p:spPr bwMode="auto">
            <a:xfrm>
              <a:off x="296" y="3171"/>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18" name="Text Box 50"/>
            <p:cNvSpPr txBox="1">
              <a:spLocks noChangeArrowheads="1"/>
            </p:cNvSpPr>
            <p:nvPr/>
          </p:nvSpPr>
          <p:spPr bwMode="auto">
            <a:xfrm>
              <a:off x="316" y="3411"/>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19" name="Text Box 51"/>
            <p:cNvSpPr txBox="1">
              <a:spLocks noChangeArrowheads="1"/>
            </p:cNvSpPr>
            <p:nvPr/>
          </p:nvSpPr>
          <p:spPr bwMode="auto">
            <a:xfrm>
              <a:off x="288" y="4035"/>
              <a:ext cx="11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20" name="Text Box 52"/>
            <p:cNvSpPr txBox="1">
              <a:spLocks noChangeArrowheads="1"/>
            </p:cNvSpPr>
            <p:nvPr/>
          </p:nvSpPr>
          <p:spPr bwMode="auto">
            <a:xfrm>
              <a:off x="336" y="3651"/>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21" name="Line 53"/>
            <p:cNvSpPr>
              <a:spLocks noChangeShapeType="1"/>
            </p:cNvSpPr>
            <p:nvPr/>
          </p:nvSpPr>
          <p:spPr bwMode="auto">
            <a:xfrm flipV="1">
              <a:off x="1200" y="3586"/>
              <a:ext cx="336"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2" name="Line 54"/>
            <p:cNvSpPr>
              <a:spLocks noChangeShapeType="1"/>
            </p:cNvSpPr>
            <p:nvPr/>
          </p:nvSpPr>
          <p:spPr bwMode="auto">
            <a:xfrm flipV="1">
              <a:off x="1200" y="3629"/>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Text Box 55"/>
            <p:cNvSpPr txBox="1">
              <a:spLocks noChangeArrowheads="1"/>
            </p:cNvSpPr>
            <p:nvPr/>
          </p:nvSpPr>
          <p:spPr bwMode="auto">
            <a:xfrm>
              <a:off x="2736" y="3555"/>
              <a:ext cx="11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204.71.0.0/16</a:t>
              </a:r>
            </a:p>
          </p:txBody>
        </p:sp>
        <p:sp>
          <p:nvSpPr>
            <p:cNvPr id="47124" name="Text Box 56"/>
            <p:cNvSpPr txBox="1">
              <a:spLocks noChangeArrowheads="1"/>
            </p:cNvSpPr>
            <p:nvPr/>
          </p:nvSpPr>
          <p:spPr bwMode="auto">
            <a:xfrm>
              <a:off x="336" y="2650"/>
              <a:ext cx="2095"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b="1" u="sng">
                  <a:solidFill>
                    <a:schemeClr val="folHlink"/>
                  </a:solidFill>
                </a:rPr>
                <a:t>用 </a:t>
              </a:r>
              <a:r>
                <a:rPr lang="en-US" altLang="zh-CN" b="1" u="sng">
                  <a:solidFill>
                    <a:schemeClr val="folHlink"/>
                  </a:solidFill>
                </a:rPr>
                <a:t>CIDR</a:t>
              </a:r>
              <a:r>
                <a:rPr lang="zh-CN" altLang="en-US" b="1" u="sng">
                  <a:solidFill>
                    <a:schemeClr val="folHlink"/>
                  </a:solidFill>
                </a:rPr>
                <a:t>的域间路由</a:t>
              </a:r>
            </a:p>
          </p:txBody>
        </p:sp>
      </p:grpSp>
      <p:sp>
        <p:nvSpPr>
          <p:cNvPr id="1452091" name="AutoShape 59"/>
          <p:cNvSpPr>
            <a:spLocks noChangeArrowheads="1"/>
          </p:cNvSpPr>
          <p:nvPr/>
        </p:nvSpPr>
        <p:spPr bwMode="auto">
          <a:xfrm>
            <a:off x="6308725" y="4202113"/>
            <a:ext cx="2743200" cy="1109662"/>
          </a:xfrm>
          <a:prstGeom prst="wedgeRoundRectCallout">
            <a:avLst>
              <a:gd name="adj1" fmla="val -41375"/>
              <a:gd name="adj2" fmla="val 71745"/>
              <a:gd name="adj3" fmla="val 16667"/>
            </a:avLst>
          </a:prstGeom>
          <a:solidFill>
            <a:schemeClr val="accent1"/>
          </a:solidFill>
          <a:ln w="9525">
            <a:solidFill>
              <a:srgbClr val="CACACA"/>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buFont typeface="Wingdings" panose="05000000000000000000" pitchFamily="2" charset="2"/>
              <a:buChar char="ü"/>
            </a:pPr>
            <a:r>
              <a:rPr lang="zh-CN" altLang="en-US" sz="2000">
                <a:solidFill>
                  <a:schemeClr val="tx2"/>
                </a:solidFill>
              </a:rPr>
              <a:t>减少路由表的条目</a:t>
            </a:r>
          </a:p>
          <a:p>
            <a:pPr>
              <a:buFont typeface="Wingdings" panose="05000000000000000000" pitchFamily="2" charset="2"/>
              <a:buChar char="ü"/>
            </a:pPr>
            <a:r>
              <a:rPr lang="zh-CN" altLang="en-US" sz="2000">
                <a:solidFill>
                  <a:schemeClr val="tx2"/>
                </a:solidFill>
              </a:rPr>
              <a:t>便于</a:t>
            </a:r>
            <a:r>
              <a:rPr lang="en-US" altLang="zh-CN" sz="2000">
                <a:solidFill>
                  <a:schemeClr val="tx2"/>
                </a:solidFill>
              </a:rPr>
              <a:t>(</a:t>
            </a:r>
            <a:r>
              <a:rPr lang="zh-CN" altLang="en-US" sz="2000">
                <a:solidFill>
                  <a:schemeClr val="tx2"/>
                </a:solidFill>
              </a:rPr>
              <a:t>查表）路由</a:t>
            </a:r>
          </a:p>
          <a:p>
            <a:pPr>
              <a:buFont typeface="Wingdings" panose="05000000000000000000" pitchFamily="2" charset="2"/>
              <a:buChar char="ü"/>
            </a:pPr>
            <a:r>
              <a:rPr lang="zh-CN" altLang="en-US" sz="2000">
                <a:solidFill>
                  <a:schemeClr val="tx2"/>
                </a:solidFill>
              </a:rPr>
              <a:t>便于记忆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52091"/>
                                        </p:tgtEl>
                                        <p:attrNameLst>
                                          <p:attrName>style.visibility</p:attrName>
                                        </p:attrNameLst>
                                      </p:cBhvr>
                                      <p:to>
                                        <p:strVal val="visible"/>
                                      </p:to>
                                    </p:set>
                                    <p:anim calcmode="lin" valueType="num">
                                      <p:cBhvr additive="base">
                                        <p:cTn id="19" dur="500" fill="hold"/>
                                        <p:tgtEl>
                                          <p:spTgt spid="1452091"/>
                                        </p:tgtEl>
                                        <p:attrNameLst>
                                          <p:attrName>ppt_x</p:attrName>
                                        </p:attrNameLst>
                                      </p:cBhvr>
                                      <p:tavLst>
                                        <p:tav tm="0">
                                          <p:val>
                                            <p:strVal val="1+#ppt_w/2"/>
                                          </p:val>
                                        </p:tav>
                                        <p:tav tm="100000">
                                          <p:val>
                                            <p:strVal val="#ppt_x"/>
                                          </p:val>
                                        </p:tav>
                                      </p:tavLst>
                                    </p:anim>
                                    <p:anim calcmode="lin" valueType="num">
                                      <p:cBhvr additive="base">
                                        <p:cTn id="20" dur="500" fill="hold"/>
                                        <p:tgtEl>
                                          <p:spTgt spid="1452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091"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4"/>
          <p:cNvSpPr txBox="1">
            <a:spLocks noChangeArrowheads="1"/>
          </p:cNvSpPr>
          <p:nvPr/>
        </p:nvSpPr>
        <p:spPr bwMode="auto">
          <a:xfrm>
            <a:off x="2173288" y="1446213"/>
            <a:ext cx="76374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9600">
                <a:solidFill>
                  <a:schemeClr val="tx2"/>
                </a:solidFill>
                <a:latin typeface="Tahoma" panose="020B0604030504040204" pitchFamily="34" charset="0"/>
              </a:rPr>
              <a:t>网络地址转换</a:t>
            </a:r>
          </a:p>
        </p:txBody>
      </p:sp>
      <p:sp>
        <p:nvSpPr>
          <p:cNvPr id="53251" name="Rectangle 5"/>
          <p:cNvSpPr>
            <a:spLocks noGrp="1" noChangeArrowheads="1"/>
          </p:cNvSpPr>
          <p:nvPr>
            <p:ph type="title"/>
          </p:nvPr>
        </p:nvSpPr>
        <p:spPr bwMode="auto">
          <a:xfrm>
            <a:off x="222885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1331" name="Rectangle 3"/>
          <p:cNvSpPr>
            <a:spLocks noGrp="1" noChangeArrowheads="1"/>
          </p:cNvSpPr>
          <p:nvPr>
            <p:ph type="body" idx="1"/>
          </p:nvPr>
        </p:nvSpPr>
        <p:spPr bwMode="auto">
          <a:xfrm>
            <a:off x="2354263" y="1268413"/>
            <a:ext cx="7772400" cy="40513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a:t>IP </a:t>
            </a:r>
            <a:r>
              <a:rPr lang="zh-CN" altLang="en-US"/>
              <a:t>定义了私有的 </a:t>
            </a:r>
            <a:r>
              <a:rPr lang="en-US" altLang="zh-CN"/>
              <a:t>intranet </a:t>
            </a:r>
            <a:r>
              <a:rPr lang="zh-CN" altLang="en-US"/>
              <a:t>地址范围</a:t>
            </a:r>
          </a:p>
          <a:p>
            <a:pPr lvl="1" eaLnBrk="1" hangingPunct="1"/>
            <a:r>
              <a:rPr lang="en-US" altLang="zh-CN"/>
              <a:t>10.0.0.0 - 10.255.255.255 (Class A)</a:t>
            </a:r>
          </a:p>
          <a:p>
            <a:pPr lvl="1" eaLnBrk="1" hangingPunct="1"/>
            <a:r>
              <a:rPr lang="en-US" altLang="zh-CN">
                <a:solidFill>
                  <a:srgbClr val="FF0000"/>
                </a:solidFill>
              </a:rPr>
              <a:t>172.16.0.0 - 172.31.255.255 (Class B)</a:t>
            </a:r>
          </a:p>
          <a:p>
            <a:pPr lvl="1" eaLnBrk="1" hangingPunct="1"/>
            <a:r>
              <a:rPr lang="en-US" altLang="zh-CN"/>
              <a:t>192.168.0.0 - 192.168.255.255 (Class C)</a:t>
            </a:r>
          </a:p>
          <a:p>
            <a:pPr eaLnBrk="1" hangingPunct="1"/>
            <a:r>
              <a:rPr lang="zh-CN" altLang="en-US"/>
              <a:t>地址可被许多组织重用</a:t>
            </a:r>
          </a:p>
          <a:p>
            <a:pPr eaLnBrk="1" hangingPunct="1"/>
            <a:r>
              <a:rPr lang="zh-CN" altLang="en-US"/>
              <a:t> 地址不能用于</a:t>
            </a:r>
            <a:r>
              <a:rPr lang="en-US" altLang="zh-CN"/>
              <a:t>Internet</a:t>
            </a:r>
            <a:r>
              <a:rPr lang="zh-CN" altLang="en-US"/>
              <a:t>上的通信</a:t>
            </a:r>
            <a:r>
              <a:rPr lang="en-US" altLang="zh-CN"/>
              <a:t>(</a:t>
            </a:r>
            <a:r>
              <a:rPr lang="zh-CN" altLang="en-US"/>
              <a:t>对外必须转换为合法的</a:t>
            </a:r>
            <a:r>
              <a:rPr lang="en-US" altLang="zh-CN"/>
              <a:t>IP</a:t>
            </a:r>
            <a:r>
              <a:rPr lang="zh-CN" altLang="en-US"/>
              <a:t>地址</a:t>
            </a:r>
            <a:r>
              <a:rPr lang="en-US" altLang="zh-CN"/>
              <a:t>)</a:t>
            </a:r>
          </a:p>
        </p:txBody>
      </p:sp>
      <p:sp>
        <p:nvSpPr>
          <p:cNvPr id="54275" name="Rectangle 4"/>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背景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1331">
                                            <p:txEl>
                                              <p:pRg st="0" end="0"/>
                                            </p:txEl>
                                          </p:spTgt>
                                        </p:tgtEl>
                                        <p:attrNameLst>
                                          <p:attrName>style.visibility</p:attrName>
                                        </p:attrNameLst>
                                      </p:cBhvr>
                                      <p:to>
                                        <p:strVal val="visible"/>
                                      </p:to>
                                    </p:set>
                                    <p:anim calcmode="lin" valueType="num">
                                      <p:cBhvr additive="base">
                                        <p:cTn id="7" dur="500" fill="hold"/>
                                        <p:tgtEl>
                                          <p:spTgt spid="18913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133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891331">
                                            <p:txEl>
                                              <p:pRg st="1" end="1"/>
                                            </p:txEl>
                                          </p:spTgt>
                                        </p:tgtEl>
                                        <p:attrNameLst>
                                          <p:attrName>style.visibility</p:attrName>
                                        </p:attrNameLst>
                                      </p:cBhvr>
                                      <p:to>
                                        <p:strVal val="visible"/>
                                      </p:to>
                                    </p:set>
                                    <p:anim calcmode="lin" valueType="num">
                                      <p:cBhvr additive="base">
                                        <p:cTn id="11" dur="500" fill="hold"/>
                                        <p:tgtEl>
                                          <p:spTgt spid="189133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89133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891331">
                                            <p:txEl>
                                              <p:pRg st="2" end="2"/>
                                            </p:txEl>
                                          </p:spTgt>
                                        </p:tgtEl>
                                        <p:attrNameLst>
                                          <p:attrName>style.visibility</p:attrName>
                                        </p:attrNameLst>
                                      </p:cBhvr>
                                      <p:to>
                                        <p:strVal val="visible"/>
                                      </p:to>
                                    </p:set>
                                    <p:anim calcmode="lin" valueType="num">
                                      <p:cBhvr additive="base">
                                        <p:cTn id="15" dur="500" fill="hold"/>
                                        <p:tgtEl>
                                          <p:spTgt spid="189133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89133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891331">
                                            <p:txEl>
                                              <p:pRg st="3" end="3"/>
                                            </p:txEl>
                                          </p:spTgt>
                                        </p:tgtEl>
                                        <p:attrNameLst>
                                          <p:attrName>style.visibility</p:attrName>
                                        </p:attrNameLst>
                                      </p:cBhvr>
                                      <p:to>
                                        <p:strVal val="visible"/>
                                      </p:to>
                                    </p:set>
                                    <p:anim calcmode="lin" valueType="num">
                                      <p:cBhvr additive="base">
                                        <p:cTn id="19" dur="500" fill="hold"/>
                                        <p:tgtEl>
                                          <p:spTgt spid="189133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913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91331">
                                            <p:txEl>
                                              <p:pRg st="4" end="4"/>
                                            </p:txEl>
                                          </p:spTgt>
                                        </p:tgtEl>
                                        <p:attrNameLst>
                                          <p:attrName>style.visibility</p:attrName>
                                        </p:attrNameLst>
                                      </p:cBhvr>
                                      <p:to>
                                        <p:strVal val="visible"/>
                                      </p:to>
                                    </p:set>
                                    <p:anim calcmode="lin" valueType="num">
                                      <p:cBhvr additive="base">
                                        <p:cTn id="25" dur="500" fill="hold"/>
                                        <p:tgtEl>
                                          <p:spTgt spid="189133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913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91331">
                                            <p:txEl>
                                              <p:pRg st="5" end="5"/>
                                            </p:txEl>
                                          </p:spTgt>
                                        </p:tgtEl>
                                        <p:attrNameLst>
                                          <p:attrName>style.visibility</p:attrName>
                                        </p:attrNameLst>
                                      </p:cBhvr>
                                      <p:to>
                                        <p:strVal val="visible"/>
                                      </p:to>
                                    </p:set>
                                    <p:anim calcmode="lin" valueType="num">
                                      <p:cBhvr additive="base">
                                        <p:cTn id="31" dur="500" fill="hold"/>
                                        <p:tgtEl>
                                          <p:spTgt spid="1891331">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9133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1331"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Line 2"/>
          <p:cNvSpPr>
            <a:spLocks noChangeShapeType="1"/>
          </p:cNvSpPr>
          <p:nvPr/>
        </p:nvSpPr>
        <p:spPr bwMode="auto">
          <a:xfrm>
            <a:off x="1801813" y="3403600"/>
            <a:ext cx="83058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5299" name="Freeform 3"/>
          <p:cNvSpPr>
            <a:spLocks/>
          </p:cNvSpPr>
          <p:nvPr/>
        </p:nvSpPr>
        <p:spPr bwMode="auto">
          <a:xfrm>
            <a:off x="2182813" y="4857234"/>
            <a:ext cx="65532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00" name="Rectangle 5"/>
          <p:cNvSpPr>
            <a:spLocks noChangeArrowheads="1"/>
          </p:cNvSpPr>
          <p:nvPr/>
        </p:nvSpPr>
        <p:spPr bwMode="auto">
          <a:xfrm>
            <a:off x="5688013" y="3327400"/>
            <a:ext cx="609600" cy="609600"/>
          </a:xfrm>
          <a:prstGeom prst="rect">
            <a:avLst/>
          </a:prstGeom>
          <a:solidFill>
            <a:srgbClr val="FE7E93"/>
          </a:solidFill>
          <a:ln w="1270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Gateway</a:t>
            </a:r>
          </a:p>
        </p:txBody>
      </p:sp>
      <p:sp>
        <p:nvSpPr>
          <p:cNvPr id="55301" name="Line 6"/>
          <p:cNvSpPr>
            <a:spLocks noChangeShapeType="1"/>
          </p:cNvSpPr>
          <p:nvPr/>
        </p:nvSpPr>
        <p:spPr bwMode="auto">
          <a:xfrm>
            <a:off x="3478213" y="4546600"/>
            <a:ext cx="4267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02" name="Line 7"/>
          <p:cNvSpPr>
            <a:spLocks noChangeShapeType="1"/>
          </p:cNvSpPr>
          <p:nvPr/>
        </p:nvSpPr>
        <p:spPr bwMode="auto">
          <a:xfrm>
            <a:off x="5992813" y="39370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03" name="Line 8"/>
          <p:cNvSpPr>
            <a:spLocks noChangeShapeType="1"/>
          </p:cNvSpPr>
          <p:nvPr/>
        </p:nvSpPr>
        <p:spPr bwMode="auto">
          <a:xfrm>
            <a:off x="34782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nvGrpSpPr>
          <p:cNvPr id="55304" name="Group 9"/>
          <p:cNvGrpSpPr>
            <a:grpSpLocks/>
          </p:cNvGrpSpPr>
          <p:nvPr/>
        </p:nvGrpSpPr>
        <p:grpSpPr bwMode="auto">
          <a:xfrm>
            <a:off x="3249613" y="4825258"/>
            <a:ext cx="457200" cy="690806"/>
            <a:chOff x="528" y="217"/>
            <a:chExt cx="384" cy="621"/>
          </a:xfrm>
        </p:grpSpPr>
        <p:sp>
          <p:nvSpPr>
            <p:cNvPr id="55384" name="Rectangle 10"/>
            <p:cNvSpPr>
              <a:spLocks noChangeArrowheads="1"/>
            </p:cNvSpPr>
            <p:nvPr/>
          </p:nvSpPr>
          <p:spPr bwMode="auto">
            <a:xfrm>
              <a:off x="642" y="221"/>
              <a:ext cx="155"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85" name="Freeform 11"/>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5386" name="Line 12"/>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7" name="Line 13"/>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8" name="Line 14"/>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9" name="Line 15"/>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90" name="Line 16"/>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1" name="Line 17"/>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2" name="Line 18"/>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93" name="Line 19"/>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4" name="Rectangle 20"/>
            <p:cNvSpPr>
              <a:spLocks noChangeArrowheads="1"/>
            </p:cNvSpPr>
            <p:nvPr/>
          </p:nvSpPr>
          <p:spPr bwMode="auto">
            <a:xfrm>
              <a:off x="597" y="217"/>
              <a:ext cx="244"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5305" name="Group 21"/>
          <p:cNvGrpSpPr>
            <a:grpSpLocks/>
          </p:cNvGrpSpPr>
          <p:nvPr/>
        </p:nvGrpSpPr>
        <p:grpSpPr bwMode="auto">
          <a:xfrm>
            <a:off x="5383213" y="4825258"/>
            <a:ext cx="457200" cy="690806"/>
            <a:chOff x="528" y="217"/>
            <a:chExt cx="384" cy="621"/>
          </a:xfrm>
        </p:grpSpPr>
        <p:sp>
          <p:nvSpPr>
            <p:cNvPr id="55373" name="Rectangle 22"/>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74" name="Freeform 23"/>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5375" name="Line 24"/>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6" name="Line 25"/>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7" name="Line 26"/>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8" name="Line 27"/>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79" name="Line 28"/>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0" name="Line 29"/>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1" name="Line 30"/>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82" name="Line 31"/>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3" name="Rectangle 32"/>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5306" name="Group 33"/>
          <p:cNvGrpSpPr>
            <a:grpSpLocks/>
          </p:cNvGrpSpPr>
          <p:nvPr/>
        </p:nvGrpSpPr>
        <p:grpSpPr bwMode="auto">
          <a:xfrm>
            <a:off x="7516813" y="4825258"/>
            <a:ext cx="457200" cy="690806"/>
            <a:chOff x="528" y="217"/>
            <a:chExt cx="384" cy="621"/>
          </a:xfrm>
        </p:grpSpPr>
        <p:sp>
          <p:nvSpPr>
            <p:cNvPr id="55362" name="Rectangle 34"/>
            <p:cNvSpPr>
              <a:spLocks noChangeArrowheads="1"/>
            </p:cNvSpPr>
            <p:nvPr/>
          </p:nvSpPr>
          <p:spPr bwMode="auto">
            <a:xfrm>
              <a:off x="642" y="221"/>
              <a:ext cx="155"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63" name="Freeform 35"/>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5364" name="Line 36"/>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5" name="Line 37"/>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6" name="Line 38"/>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7" name="Line 39"/>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68" name="Line 40"/>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9" name="Line 41"/>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0" name="Line 42"/>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71" name="Line 43"/>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2" name="Rectangle 44"/>
            <p:cNvSpPr>
              <a:spLocks noChangeArrowheads="1"/>
            </p:cNvSpPr>
            <p:nvPr/>
          </p:nvSpPr>
          <p:spPr bwMode="auto">
            <a:xfrm>
              <a:off x="597" y="217"/>
              <a:ext cx="244"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07" name="Line 45"/>
          <p:cNvSpPr>
            <a:spLocks noChangeShapeType="1"/>
          </p:cNvSpPr>
          <p:nvPr/>
        </p:nvSpPr>
        <p:spPr bwMode="auto">
          <a:xfrm>
            <a:off x="56118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08" name="Line 46"/>
          <p:cNvSpPr>
            <a:spLocks noChangeShapeType="1"/>
          </p:cNvSpPr>
          <p:nvPr/>
        </p:nvSpPr>
        <p:spPr bwMode="auto">
          <a:xfrm>
            <a:off x="77454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09" name="Text Box 47"/>
          <p:cNvSpPr txBox="1">
            <a:spLocks noChangeArrowheads="1"/>
          </p:cNvSpPr>
          <p:nvPr/>
        </p:nvSpPr>
        <p:spPr bwMode="auto">
          <a:xfrm>
            <a:off x="5948363" y="392271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10.0.0.1</a:t>
            </a:r>
          </a:p>
        </p:txBody>
      </p:sp>
      <p:sp>
        <p:nvSpPr>
          <p:cNvPr id="55310" name="Text Box 48"/>
          <p:cNvSpPr txBox="1">
            <a:spLocks noChangeArrowheads="1"/>
          </p:cNvSpPr>
          <p:nvPr/>
        </p:nvSpPr>
        <p:spPr bwMode="auto">
          <a:xfrm>
            <a:off x="3433763" y="46672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10.0.0.2</a:t>
            </a:r>
          </a:p>
        </p:txBody>
      </p:sp>
      <p:sp>
        <p:nvSpPr>
          <p:cNvPr id="55311" name="Text Box 49"/>
          <p:cNvSpPr txBox="1">
            <a:spLocks noChangeArrowheads="1"/>
          </p:cNvSpPr>
          <p:nvPr/>
        </p:nvSpPr>
        <p:spPr bwMode="auto">
          <a:xfrm>
            <a:off x="5543550" y="466883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10.0.0.3</a:t>
            </a:r>
          </a:p>
        </p:txBody>
      </p:sp>
      <p:sp>
        <p:nvSpPr>
          <p:cNvPr id="55312" name="Text Box 50"/>
          <p:cNvSpPr txBox="1">
            <a:spLocks noChangeArrowheads="1"/>
          </p:cNvSpPr>
          <p:nvPr/>
        </p:nvSpPr>
        <p:spPr bwMode="auto">
          <a:xfrm>
            <a:off x="7669213" y="46672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10.0.0.4</a:t>
            </a:r>
          </a:p>
        </p:txBody>
      </p:sp>
      <p:sp>
        <p:nvSpPr>
          <p:cNvPr id="55313" name="Text Box 51"/>
          <p:cNvSpPr txBox="1">
            <a:spLocks noChangeArrowheads="1"/>
          </p:cNvSpPr>
          <p:nvPr/>
        </p:nvSpPr>
        <p:spPr bwMode="auto">
          <a:xfrm>
            <a:off x="5305426" y="5400675"/>
            <a:ext cx="619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Host A</a:t>
            </a:r>
          </a:p>
        </p:txBody>
      </p:sp>
      <p:grpSp>
        <p:nvGrpSpPr>
          <p:cNvPr id="55314" name="Group 52"/>
          <p:cNvGrpSpPr>
            <a:grpSpLocks/>
          </p:cNvGrpSpPr>
          <p:nvPr/>
        </p:nvGrpSpPr>
        <p:grpSpPr bwMode="auto">
          <a:xfrm>
            <a:off x="2259013" y="2082058"/>
            <a:ext cx="457200" cy="690806"/>
            <a:chOff x="528" y="217"/>
            <a:chExt cx="384" cy="621"/>
          </a:xfrm>
        </p:grpSpPr>
        <p:sp>
          <p:nvSpPr>
            <p:cNvPr id="55351" name="Rectangle 53"/>
            <p:cNvSpPr>
              <a:spLocks noChangeArrowheads="1"/>
            </p:cNvSpPr>
            <p:nvPr/>
          </p:nvSpPr>
          <p:spPr bwMode="auto">
            <a:xfrm>
              <a:off x="642" y="221"/>
              <a:ext cx="155" cy="470"/>
            </a:xfrm>
            <a:prstGeom prst="rect">
              <a:avLst/>
            </a:prstGeom>
            <a:solidFill>
              <a:srgbClr val="FFFF66"/>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52" name="Freeform 54"/>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FFFF66"/>
            </a:solidFill>
            <a:ln w="12700">
              <a:solidFill>
                <a:schemeClr val="tx1"/>
              </a:solidFill>
              <a:round/>
              <a:headEnd/>
              <a:tailEnd/>
            </a:ln>
          </p:spPr>
          <p:txBody>
            <a:bodyPr anchor="ctr">
              <a:spAutoFit/>
            </a:bodyPr>
            <a:lstStyle/>
            <a:p>
              <a:endParaRPr lang="zh-CN" altLang="en-US"/>
            </a:p>
          </p:txBody>
        </p:sp>
        <p:sp>
          <p:nvSpPr>
            <p:cNvPr id="55353" name="Line 55"/>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4" name="Line 56"/>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5" name="Line 57"/>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6" name="Line 58"/>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57" name="Line 59"/>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8" name="Line 60"/>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9" name="Line 61"/>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60" name="Line 62"/>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1" name="Rectangle 63"/>
            <p:cNvSpPr>
              <a:spLocks noChangeArrowheads="1"/>
            </p:cNvSpPr>
            <p:nvPr/>
          </p:nvSpPr>
          <p:spPr bwMode="auto">
            <a:xfrm>
              <a:off x="597" y="217"/>
              <a:ext cx="244" cy="470"/>
            </a:xfrm>
            <a:prstGeom prst="rect">
              <a:avLst/>
            </a:prstGeom>
            <a:solidFill>
              <a:srgbClr val="FFFF66"/>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15" name="Line 64"/>
          <p:cNvSpPr>
            <a:spLocks noChangeShapeType="1"/>
          </p:cNvSpPr>
          <p:nvPr/>
        </p:nvSpPr>
        <p:spPr bwMode="auto">
          <a:xfrm flipV="1">
            <a:off x="5992813" y="29464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16" name="Freeform 65"/>
          <p:cNvSpPr>
            <a:spLocks/>
          </p:cNvSpPr>
          <p:nvPr/>
        </p:nvSpPr>
        <p:spPr bwMode="auto">
          <a:xfrm>
            <a:off x="5230813" y="2279928"/>
            <a:ext cx="14478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17" name="Freeform 66"/>
          <p:cNvSpPr>
            <a:spLocks/>
          </p:cNvSpPr>
          <p:nvPr/>
        </p:nvSpPr>
        <p:spPr bwMode="auto">
          <a:xfrm>
            <a:off x="3554413" y="2203728"/>
            <a:ext cx="1143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18" name="Line 67"/>
          <p:cNvSpPr>
            <a:spLocks noChangeShapeType="1"/>
          </p:cNvSpPr>
          <p:nvPr/>
        </p:nvSpPr>
        <p:spPr bwMode="auto">
          <a:xfrm>
            <a:off x="4697413" y="2336800"/>
            <a:ext cx="609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19" name="Line 68"/>
          <p:cNvSpPr>
            <a:spLocks noChangeShapeType="1"/>
          </p:cNvSpPr>
          <p:nvPr/>
        </p:nvSpPr>
        <p:spPr bwMode="auto">
          <a:xfrm>
            <a:off x="2640013" y="2336800"/>
            <a:ext cx="990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20" name="Text Box 69"/>
          <p:cNvSpPr txBox="1">
            <a:spLocks noChangeArrowheads="1"/>
          </p:cNvSpPr>
          <p:nvPr/>
        </p:nvSpPr>
        <p:spPr bwMode="auto">
          <a:xfrm>
            <a:off x="2106614" y="2641600"/>
            <a:ext cx="623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BMRC</a:t>
            </a:r>
          </a:p>
          <a:p>
            <a:pPr algn="ctr"/>
            <a:r>
              <a:rPr lang="en-US" altLang="zh-CN" sz="1200">
                <a:solidFill>
                  <a:schemeClr val="tx1"/>
                </a:solidFill>
              </a:rPr>
              <a:t>Server</a:t>
            </a:r>
          </a:p>
        </p:txBody>
      </p:sp>
      <p:sp>
        <p:nvSpPr>
          <p:cNvPr id="55321" name="Text Box 70"/>
          <p:cNvSpPr txBox="1">
            <a:spLocks noChangeArrowheads="1"/>
          </p:cNvSpPr>
          <p:nvPr/>
        </p:nvSpPr>
        <p:spPr bwMode="auto">
          <a:xfrm>
            <a:off x="5965825" y="3057525"/>
            <a:ext cx="1028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24.1.70.210</a:t>
            </a:r>
          </a:p>
        </p:txBody>
      </p:sp>
      <p:grpSp>
        <p:nvGrpSpPr>
          <p:cNvPr id="55322" name="Group 71"/>
          <p:cNvGrpSpPr>
            <a:grpSpLocks/>
          </p:cNvGrpSpPr>
          <p:nvPr/>
        </p:nvGrpSpPr>
        <p:grpSpPr bwMode="auto">
          <a:xfrm>
            <a:off x="9650413" y="2082058"/>
            <a:ext cx="457200" cy="690806"/>
            <a:chOff x="528" y="217"/>
            <a:chExt cx="384" cy="621"/>
          </a:xfrm>
        </p:grpSpPr>
        <p:sp>
          <p:nvSpPr>
            <p:cNvPr id="55340" name="Rectangle 72"/>
            <p:cNvSpPr>
              <a:spLocks noChangeArrowheads="1"/>
            </p:cNvSpPr>
            <p:nvPr/>
          </p:nvSpPr>
          <p:spPr bwMode="auto">
            <a:xfrm>
              <a:off x="642" y="221"/>
              <a:ext cx="155" cy="47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41" name="Freeform 73"/>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chemeClr val="accent2"/>
            </a:solidFill>
            <a:ln w="12700">
              <a:solidFill>
                <a:schemeClr val="tx1"/>
              </a:solidFill>
              <a:round/>
              <a:headEnd/>
              <a:tailEnd/>
            </a:ln>
          </p:spPr>
          <p:txBody>
            <a:bodyPr anchor="ctr">
              <a:spAutoFit/>
            </a:bodyPr>
            <a:lstStyle/>
            <a:p>
              <a:endParaRPr lang="zh-CN" altLang="en-US"/>
            </a:p>
          </p:txBody>
        </p:sp>
        <p:sp>
          <p:nvSpPr>
            <p:cNvPr id="55342" name="Line 74"/>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3" name="Line 75"/>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4" name="Line 76"/>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5" name="Line 77"/>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46" name="Line 78"/>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7" name="Line 79"/>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8" name="Line 80"/>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49" name="Line 81"/>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0" name="Rectangle 82"/>
            <p:cNvSpPr>
              <a:spLocks noChangeArrowheads="1"/>
            </p:cNvSpPr>
            <p:nvPr/>
          </p:nvSpPr>
          <p:spPr bwMode="auto">
            <a:xfrm>
              <a:off x="597" y="217"/>
              <a:ext cx="244" cy="470"/>
            </a:xfrm>
            <a:prstGeom prst="rect">
              <a:avLst/>
            </a:prstGeom>
            <a:solidFill>
              <a:schemeClr val="accent2"/>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23" name="Line 83"/>
          <p:cNvSpPr>
            <a:spLocks noChangeShapeType="1"/>
          </p:cNvSpPr>
          <p:nvPr/>
        </p:nvSpPr>
        <p:spPr bwMode="auto">
          <a:xfrm>
            <a:off x="6678613" y="23368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24" name="Line 84"/>
          <p:cNvSpPr>
            <a:spLocks noChangeShapeType="1"/>
          </p:cNvSpPr>
          <p:nvPr/>
        </p:nvSpPr>
        <p:spPr bwMode="auto">
          <a:xfrm>
            <a:off x="8431213" y="2336800"/>
            <a:ext cx="1295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25" name="Freeform 85"/>
          <p:cNvSpPr>
            <a:spLocks/>
          </p:cNvSpPr>
          <p:nvPr/>
        </p:nvSpPr>
        <p:spPr bwMode="auto">
          <a:xfrm>
            <a:off x="7288213" y="2203728"/>
            <a:ext cx="1143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26" name="Text Box 86"/>
          <p:cNvSpPr txBox="1">
            <a:spLocks noChangeArrowheads="1"/>
          </p:cNvSpPr>
          <p:nvPr/>
        </p:nvSpPr>
        <p:spPr bwMode="auto">
          <a:xfrm>
            <a:off x="2563813" y="2093913"/>
            <a:ext cx="111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128.32.32.68</a:t>
            </a:r>
          </a:p>
        </p:txBody>
      </p:sp>
      <p:grpSp>
        <p:nvGrpSpPr>
          <p:cNvPr id="7" name="Group 87"/>
          <p:cNvGrpSpPr>
            <a:grpSpLocks/>
          </p:cNvGrpSpPr>
          <p:nvPr/>
        </p:nvGrpSpPr>
        <p:grpSpPr bwMode="auto">
          <a:xfrm>
            <a:off x="2335213" y="3281364"/>
            <a:ext cx="3276600" cy="530225"/>
            <a:chOff x="480" y="1843"/>
            <a:chExt cx="2064" cy="334"/>
          </a:xfrm>
        </p:grpSpPr>
        <p:sp>
          <p:nvSpPr>
            <p:cNvPr id="55338" name="Text Box 88"/>
            <p:cNvSpPr txBox="1">
              <a:spLocks noChangeArrowheads="1"/>
            </p:cNvSpPr>
            <p:nvPr/>
          </p:nvSpPr>
          <p:spPr bwMode="auto">
            <a:xfrm>
              <a:off x="480" y="1843"/>
              <a:ext cx="1498" cy="334"/>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对外通信时</a:t>
              </a:r>
              <a:r>
                <a:rPr lang="en-US" altLang="zh-CN" sz="1400">
                  <a:solidFill>
                    <a:srgbClr val="0000FF"/>
                  </a:solidFill>
                </a:rPr>
                <a:t>,</a:t>
              </a:r>
              <a:r>
                <a:rPr lang="zh-CN" altLang="en-US" sz="1400">
                  <a:solidFill>
                    <a:srgbClr val="0000FF"/>
                  </a:solidFill>
                </a:rPr>
                <a:t>所用专用网络上的主机要使用网关的</a:t>
              </a:r>
              <a:r>
                <a:rPr lang="en-US" altLang="zh-CN" sz="1400">
                  <a:solidFill>
                    <a:srgbClr val="0000FF"/>
                  </a:solidFill>
                </a:rPr>
                <a:t>IP</a:t>
              </a:r>
              <a:r>
                <a:rPr lang="zh-CN" altLang="en-US" sz="1400">
                  <a:solidFill>
                    <a:srgbClr val="0000FF"/>
                  </a:solidFill>
                </a:rPr>
                <a:t>地址</a:t>
              </a:r>
            </a:p>
          </p:txBody>
        </p:sp>
        <p:sp>
          <p:nvSpPr>
            <p:cNvPr id="55339" name="Line 89"/>
            <p:cNvSpPr>
              <a:spLocks noChangeShapeType="1"/>
            </p:cNvSpPr>
            <p:nvPr/>
          </p:nvSpPr>
          <p:spPr bwMode="auto">
            <a:xfrm>
              <a:off x="1968" y="2016"/>
              <a:ext cx="576"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55328" name="Text Box 90"/>
          <p:cNvSpPr txBox="1">
            <a:spLocks noChangeArrowheads="1"/>
          </p:cNvSpPr>
          <p:nvPr/>
        </p:nvSpPr>
        <p:spPr bwMode="auto">
          <a:xfrm>
            <a:off x="3629025" y="5873751"/>
            <a:ext cx="180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b="1">
                <a:solidFill>
                  <a:schemeClr val="tx1"/>
                </a:solidFill>
              </a:rPr>
              <a:t>Private Network</a:t>
            </a:r>
          </a:p>
        </p:txBody>
      </p:sp>
      <p:sp>
        <p:nvSpPr>
          <p:cNvPr id="55329" name="Text Box 91"/>
          <p:cNvSpPr txBox="1">
            <a:spLocks noChangeArrowheads="1"/>
          </p:cNvSpPr>
          <p:nvPr/>
        </p:nvSpPr>
        <p:spPr bwMode="auto">
          <a:xfrm>
            <a:off x="7681913" y="2870201"/>
            <a:ext cx="166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b="1">
                <a:solidFill>
                  <a:schemeClr val="tx1"/>
                </a:solidFill>
              </a:rPr>
              <a:t>Public Internet</a:t>
            </a:r>
          </a:p>
        </p:txBody>
      </p:sp>
      <p:grpSp>
        <p:nvGrpSpPr>
          <p:cNvPr id="8" name="Group 92"/>
          <p:cNvGrpSpPr>
            <a:grpSpLocks/>
          </p:cNvGrpSpPr>
          <p:nvPr/>
        </p:nvGrpSpPr>
        <p:grpSpPr bwMode="auto">
          <a:xfrm>
            <a:off x="6602413" y="3327400"/>
            <a:ext cx="3200400" cy="546100"/>
            <a:chOff x="3168" y="1872"/>
            <a:chExt cx="2016" cy="344"/>
          </a:xfrm>
        </p:grpSpPr>
        <p:sp>
          <p:nvSpPr>
            <p:cNvPr id="55336" name="Text Box 93"/>
            <p:cNvSpPr txBox="1">
              <a:spLocks noChangeArrowheads="1"/>
            </p:cNvSpPr>
            <p:nvPr/>
          </p:nvSpPr>
          <p:spPr bwMode="auto">
            <a:xfrm>
              <a:off x="3840" y="2016"/>
              <a:ext cx="1344" cy="200"/>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公用网的</a:t>
              </a:r>
              <a:r>
                <a:rPr lang="en-US" altLang="zh-CN" sz="1400">
                  <a:solidFill>
                    <a:srgbClr val="0000FF"/>
                  </a:solidFill>
                </a:rPr>
                <a:t>IP</a:t>
              </a:r>
              <a:r>
                <a:rPr lang="zh-CN" altLang="en-US" sz="1400">
                  <a:solidFill>
                    <a:srgbClr val="0000FF"/>
                  </a:solidFill>
                </a:rPr>
                <a:t>地址</a:t>
              </a:r>
            </a:p>
          </p:txBody>
        </p:sp>
        <p:sp>
          <p:nvSpPr>
            <p:cNvPr id="55337" name="Line 94"/>
            <p:cNvSpPr>
              <a:spLocks noChangeShapeType="1"/>
            </p:cNvSpPr>
            <p:nvPr/>
          </p:nvSpPr>
          <p:spPr bwMode="auto">
            <a:xfrm flipH="1" flipV="1">
              <a:off x="3168" y="1872"/>
              <a:ext cx="672" cy="24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9" name="Group 95"/>
          <p:cNvGrpSpPr>
            <a:grpSpLocks/>
          </p:cNvGrpSpPr>
          <p:nvPr/>
        </p:nvGrpSpPr>
        <p:grpSpPr bwMode="auto">
          <a:xfrm>
            <a:off x="6221413" y="4165600"/>
            <a:ext cx="3429000" cy="2084388"/>
            <a:chOff x="2928" y="2400"/>
            <a:chExt cx="2160" cy="1313"/>
          </a:xfrm>
        </p:grpSpPr>
        <p:sp>
          <p:nvSpPr>
            <p:cNvPr id="55333" name="Text Box 96"/>
            <p:cNvSpPr txBox="1">
              <a:spLocks noChangeArrowheads="1"/>
            </p:cNvSpPr>
            <p:nvPr/>
          </p:nvSpPr>
          <p:spPr bwMode="auto">
            <a:xfrm>
              <a:off x="3648" y="3379"/>
              <a:ext cx="1440" cy="334"/>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一些专用网的</a:t>
              </a:r>
              <a:r>
                <a:rPr lang="en-US" altLang="zh-CN" sz="1400">
                  <a:solidFill>
                    <a:srgbClr val="0000FF"/>
                  </a:solidFill>
                </a:rPr>
                <a:t>IP</a:t>
              </a:r>
              <a:r>
                <a:rPr lang="zh-CN" altLang="en-US" sz="1400">
                  <a:solidFill>
                    <a:srgbClr val="0000FF"/>
                  </a:solidFill>
                </a:rPr>
                <a:t>地址</a:t>
              </a:r>
              <a:r>
                <a:rPr lang="en-US" altLang="zh-CN" sz="1400">
                  <a:solidFill>
                    <a:srgbClr val="0000FF"/>
                  </a:solidFill>
                </a:rPr>
                <a:t>,</a:t>
              </a:r>
              <a:r>
                <a:rPr lang="zh-CN" altLang="en-US" sz="1400">
                  <a:solidFill>
                    <a:srgbClr val="0000FF"/>
                  </a:solidFill>
                </a:rPr>
                <a:t>可以被许多组织使用</a:t>
              </a:r>
            </a:p>
          </p:txBody>
        </p:sp>
        <p:sp>
          <p:nvSpPr>
            <p:cNvPr id="55334" name="Line 97"/>
            <p:cNvSpPr>
              <a:spLocks noChangeShapeType="1"/>
            </p:cNvSpPr>
            <p:nvPr/>
          </p:nvSpPr>
          <p:spPr bwMode="auto">
            <a:xfrm flipH="1" flipV="1">
              <a:off x="2928" y="2880"/>
              <a:ext cx="720" cy="672"/>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35" name="Line 98"/>
            <p:cNvSpPr>
              <a:spLocks noChangeShapeType="1"/>
            </p:cNvSpPr>
            <p:nvPr/>
          </p:nvSpPr>
          <p:spPr bwMode="auto">
            <a:xfrm flipH="1" flipV="1">
              <a:off x="2928" y="2400"/>
              <a:ext cx="720" cy="1152"/>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55332" name="Rectangle 99"/>
          <p:cNvSpPr>
            <a:spLocks noGrp="1" noChangeArrowheads="1"/>
          </p:cNvSpPr>
          <p:nvPr>
            <p:ph type="title"/>
          </p:nvPr>
        </p:nvSpPr>
        <p:spPr bwMode="auto">
          <a:xfrm>
            <a:off x="2228850" y="47466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Scenario(</a:t>
            </a:r>
            <a:r>
              <a:rPr lang="zh-CN" altLang="en-US" sz="3600">
                <a:solidFill>
                  <a:schemeClr val="hlink"/>
                </a:solidFill>
                <a:ea typeface="华文行楷" panose="02010800040101010101" pitchFamily="2" charset="-122"/>
              </a:rPr>
              <a:t>情景</a:t>
            </a:r>
            <a:r>
              <a:rPr lang="en-US" altLang="zh-CN" sz="3600">
                <a:solidFill>
                  <a:schemeClr val="hlink"/>
                </a:solidFill>
                <a:ea typeface="华文行楷"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4724400" y="2057400"/>
            <a:ext cx="1828800" cy="3429000"/>
          </a:xfrm>
          <a:prstGeom prst="rect">
            <a:avLst/>
          </a:prstGeom>
          <a:solidFill>
            <a:srgbClr val="FE7E93"/>
          </a:solidFill>
          <a:ln w="12700">
            <a:solidFill>
              <a:schemeClr val="tx1"/>
            </a:solidFill>
            <a:miter lim="800000"/>
            <a:headEnd/>
            <a:tailEnd/>
          </a:ln>
        </p:spPr>
        <p:txBody>
          <a:bodyPr wrap="none"/>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b="1">
                <a:solidFill>
                  <a:schemeClr val="tx1"/>
                </a:solidFill>
              </a:rPr>
              <a:t>NAT Gateway</a:t>
            </a:r>
          </a:p>
        </p:txBody>
      </p:sp>
      <p:grpSp>
        <p:nvGrpSpPr>
          <p:cNvPr id="57347" name="Group 4"/>
          <p:cNvGrpSpPr>
            <a:grpSpLocks/>
          </p:cNvGrpSpPr>
          <p:nvPr/>
        </p:nvGrpSpPr>
        <p:grpSpPr bwMode="auto">
          <a:xfrm>
            <a:off x="1981200" y="3250458"/>
            <a:ext cx="457200" cy="690806"/>
            <a:chOff x="528" y="217"/>
            <a:chExt cx="384" cy="621"/>
          </a:xfrm>
        </p:grpSpPr>
        <p:sp>
          <p:nvSpPr>
            <p:cNvPr id="57368" name="Rectangle 5"/>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7369" name="Freeform 6"/>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7370" name="Line 7"/>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1" name="Line 8"/>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2" name="Line 9"/>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3" name="Line 10"/>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74" name="Line 11"/>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5" name="Line 12"/>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6" name="Line 13"/>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77" name="Line 14"/>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8" name="Rectangle 15"/>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7348" name="Group 16"/>
          <p:cNvGrpSpPr>
            <a:grpSpLocks/>
          </p:cNvGrpSpPr>
          <p:nvPr/>
        </p:nvGrpSpPr>
        <p:grpSpPr bwMode="auto">
          <a:xfrm>
            <a:off x="9067798" y="2825750"/>
            <a:ext cx="1268332" cy="1060450"/>
            <a:chOff x="3984" y="868"/>
            <a:chExt cx="711" cy="668"/>
          </a:xfrm>
        </p:grpSpPr>
        <p:sp>
          <p:nvSpPr>
            <p:cNvPr id="57360" name="Freeform 17"/>
            <p:cNvSpPr>
              <a:spLocks/>
            </p:cNvSpPr>
            <p:nvPr/>
          </p:nvSpPr>
          <p:spPr bwMode="auto">
            <a:xfrm>
              <a:off x="3984" y="1204"/>
              <a:ext cx="104" cy="233"/>
            </a:xfrm>
            <a:custGeom>
              <a:avLst/>
              <a:gdLst>
                <a:gd name="T0" fmla="*/ 0 w 288"/>
                <a:gd name="T1" fmla="*/ 0 h 624"/>
                <a:gd name="T2" fmla="*/ 0 w 288"/>
                <a:gd name="T3" fmla="*/ 528 h 624"/>
                <a:gd name="T4" fmla="*/ 288 w 288"/>
                <a:gd name="T5" fmla="*/ 624 h 624"/>
                <a:gd name="T6" fmla="*/ 288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7361" name="Line 18"/>
            <p:cNvSpPr>
              <a:spLocks noChangeShapeType="1"/>
            </p:cNvSpPr>
            <p:nvPr/>
          </p:nvSpPr>
          <p:spPr bwMode="auto">
            <a:xfrm>
              <a:off x="3984" y="1440"/>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2" name="Line 19"/>
            <p:cNvSpPr>
              <a:spLocks noChangeShapeType="1"/>
            </p:cNvSpPr>
            <p:nvPr/>
          </p:nvSpPr>
          <p:spPr bwMode="auto">
            <a:xfrm>
              <a:off x="3984" y="1344"/>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3" name="Line 20"/>
            <p:cNvSpPr>
              <a:spLocks noChangeShapeType="1"/>
            </p:cNvSpPr>
            <p:nvPr/>
          </p:nvSpPr>
          <p:spPr bwMode="auto">
            <a:xfrm>
              <a:off x="3984" y="1248"/>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4" name="Line 21"/>
            <p:cNvSpPr>
              <a:spLocks noChangeShapeType="1"/>
            </p:cNvSpPr>
            <p:nvPr/>
          </p:nvSpPr>
          <p:spPr bwMode="auto">
            <a:xfrm>
              <a:off x="3984" y="1152"/>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5" name="Freeform 22"/>
            <p:cNvSpPr>
              <a:spLocks/>
            </p:cNvSpPr>
            <p:nvPr/>
          </p:nvSpPr>
          <p:spPr bwMode="auto">
            <a:xfrm>
              <a:off x="4272" y="1180"/>
              <a:ext cx="104" cy="233"/>
            </a:xfrm>
            <a:custGeom>
              <a:avLst/>
              <a:gdLst>
                <a:gd name="T0" fmla="*/ 0 w 480"/>
                <a:gd name="T1" fmla="*/ 672 h 672"/>
                <a:gd name="T2" fmla="*/ 480 w 480"/>
                <a:gd name="T3" fmla="*/ 528 h 672"/>
                <a:gd name="T4" fmla="*/ 480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7366" name="Text Box 23"/>
            <p:cNvSpPr txBox="1">
              <a:spLocks noChangeArrowheads="1"/>
            </p:cNvSpPr>
            <p:nvPr/>
          </p:nvSpPr>
          <p:spPr bwMode="auto">
            <a:xfrm>
              <a:off x="4333" y="1200"/>
              <a:ext cx="362" cy="1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1200" b="1">
                  <a:solidFill>
                    <a:schemeClr val="tx1"/>
                  </a:solidFill>
                </a:rPr>
                <a:t>服务器</a:t>
              </a:r>
            </a:p>
          </p:txBody>
        </p:sp>
        <p:sp>
          <p:nvSpPr>
            <p:cNvPr id="57367" name="Freeform 24"/>
            <p:cNvSpPr>
              <a:spLocks/>
            </p:cNvSpPr>
            <p:nvPr/>
          </p:nvSpPr>
          <p:spPr bwMode="auto">
            <a:xfrm>
              <a:off x="3984" y="868"/>
              <a:ext cx="104" cy="233"/>
            </a:xfrm>
            <a:custGeom>
              <a:avLst/>
              <a:gdLst>
                <a:gd name="T0" fmla="*/ 288 w 768"/>
                <a:gd name="T1" fmla="*/ 240 h 240"/>
                <a:gd name="T2" fmla="*/ 0 w 768"/>
                <a:gd name="T3" fmla="*/ 144 h 240"/>
                <a:gd name="T4" fmla="*/ 528 w 768"/>
                <a:gd name="T5" fmla="*/ 0 h 240"/>
                <a:gd name="T6" fmla="*/ 768 w 768"/>
                <a:gd name="T7" fmla="*/ 96 h 240"/>
                <a:gd name="T8" fmla="*/ 288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grpSp>
      <p:sp>
        <p:nvSpPr>
          <p:cNvPr id="57349" name="Rectangle 25"/>
          <p:cNvSpPr>
            <a:spLocks noChangeArrowheads="1"/>
          </p:cNvSpPr>
          <p:nvPr/>
        </p:nvSpPr>
        <p:spPr bwMode="auto">
          <a:xfrm>
            <a:off x="5181600" y="3124200"/>
            <a:ext cx="914400" cy="838200"/>
          </a:xfrm>
          <a:prstGeom prst="rect">
            <a:avLst/>
          </a:prstGeom>
          <a:solidFill>
            <a:srgbClr val="FFFFFF"/>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zh-CN" altLang="en-US" sz="1400">
                <a:solidFill>
                  <a:schemeClr val="tx1"/>
                </a:solidFill>
              </a:rPr>
              <a:t>地址</a:t>
            </a:r>
          </a:p>
          <a:p>
            <a:pPr algn="ctr">
              <a:spcBef>
                <a:spcPct val="20000"/>
              </a:spcBef>
            </a:pPr>
            <a:r>
              <a:rPr lang="zh-CN" altLang="en-US" sz="1400">
                <a:solidFill>
                  <a:schemeClr val="tx1"/>
                </a:solidFill>
              </a:rPr>
              <a:t>转换设备</a:t>
            </a:r>
          </a:p>
        </p:txBody>
      </p:sp>
      <p:sp>
        <p:nvSpPr>
          <p:cNvPr id="57350" name="Text Box 26"/>
          <p:cNvSpPr txBox="1">
            <a:spLocks noChangeArrowheads="1"/>
          </p:cNvSpPr>
          <p:nvPr/>
        </p:nvSpPr>
        <p:spPr bwMode="auto">
          <a:xfrm>
            <a:off x="9525000" y="3581400"/>
            <a:ext cx="984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128.32.32.68</a:t>
            </a:r>
          </a:p>
        </p:txBody>
      </p:sp>
      <p:sp>
        <p:nvSpPr>
          <p:cNvPr id="57351" name="Text Box 27"/>
          <p:cNvSpPr txBox="1">
            <a:spLocks noChangeArrowheads="1"/>
          </p:cNvSpPr>
          <p:nvPr/>
        </p:nvSpPr>
        <p:spPr bwMode="auto">
          <a:xfrm>
            <a:off x="9066286" y="4036807"/>
            <a:ext cx="1507978"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bmrc.berkeley.edu</a:t>
            </a:r>
          </a:p>
        </p:txBody>
      </p:sp>
      <p:grpSp>
        <p:nvGrpSpPr>
          <p:cNvPr id="4" name="Group 28"/>
          <p:cNvGrpSpPr>
            <a:grpSpLocks/>
          </p:cNvGrpSpPr>
          <p:nvPr/>
        </p:nvGrpSpPr>
        <p:grpSpPr bwMode="auto">
          <a:xfrm>
            <a:off x="2362200" y="3122615"/>
            <a:ext cx="6705600" cy="534988"/>
            <a:chOff x="528" y="1967"/>
            <a:chExt cx="4224" cy="337"/>
          </a:xfrm>
        </p:grpSpPr>
        <p:sp>
          <p:nvSpPr>
            <p:cNvPr id="57354" name="Rectangle 29"/>
            <p:cNvSpPr>
              <a:spLocks noChangeArrowheads="1"/>
            </p:cNvSpPr>
            <p:nvPr/>
          </p:nvSpPr>
          <p:spPr bwMode="auto">
            <a:xfrm>
              <a:off x="2880" y="2160"/>
              <a:ext cx="1872" cy="144"/>
            </a:xfrm>
            <a:prstGeom prst="rect">
              <a:avLst/>
            </a:prstGeom>
            <a:solidFill>
              <a:srgbClr val="FFFF66"/>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endParaRPr lang="zh-CN" altLang="zh-CN" sz="1400">
                <a:solidFill>
                  <a:schemeClr val="tx1"/>
                </a:solidFill>
              </a:endParaRPr>
            </a:p>
          </p:txBody>
        </p:sp>
        <p:sp>
          <p:nvSpPr>
            <p:cNvPr id="57355" name="Text Box 30"/>
            <p:cNvSpPr txBox="1">
              <a:spLocks noChangeArrowheads="1"/>
            </p:cNvSpPr>
            <p:nvPr/>
          </p:nvSpPr>
          <p:spPr bwMode="auto">
            <a:xfrm>
              <a:off x="3309" y="1967"/>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TCP Connection 1</a:t>
              </a:r>
            </a:p>
          </p:txBody>
        </p:sp>
        <p:sp>
          <p:nvSpPr>
            <p:cNvPr id="57356" name="Line 31"/>
            <p:cNvSpPr>
              <a:spLocks noChangeShapeType="1"/>
            </p:cNvSpPr>
            <p:nvPr/>
          </p:nvSpPr>
          <p:spPr bwMode="auto">
            <a:xfrm>
              <a:off x="2928" y="2256"/>
              <a:ext cx="28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7357" name="Rectangle 32"/>
            <p:cNvSpPr>
              <a:spLocks noChangeArrowheads="1"/>
            </p:cNvSpPr>
            <p:nvPr/>
          </p:nvSpPr>
          <p:spPr bwMode="auto">
            <a:xfrm>
              <a:off x="528" y="2160"/>
              <a:ext cx="1776" cy="144"/>
            </a:xfrm>
            <a:prstGeom prst="rect">
              <a:avLst/>
            </a:prstGeom>
            <a:solidFill>
              <a:srgbClr val="FFFF66"/>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endParaRPr lang="zh-CN" altLang="zh-CN" sz="1400">
                <a:solidFill>
                  <a:schemeClr val="tx1"/>
                </a:solidFill>
              </a:endParaRPr>
            </a:p>
          </p:txBody>
        </p:sp>
        <p:sp>
          <p:nvSpPr>
            <p:cNvPr id="57358" name="Text Box 33"/>
            <p:cNvSpPr txBox="1">
              <a:spLocks noChangeArrowheads="1"/>
            </p:cNvSpPr>
            <p:nvPr/>
          </p:nvSpPr>
          <p:spPr bwMode="auto">
            <a:xfrm>
              <a:off x="817" y="1967"/>
              <a:ext cx="65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TCP </a:t>
              </a:r>
              <a:r>
                <a:rPr lang="zh-CN" altLang="en-US" sz="1400">
                  <a:solidFill>
                    <a:schemeClr val="tx1"/>
                  </a:solidFill>
                </a:rPr>
                <a:t>连接 </a:t>
              </a:r>
              <a:r>
                <a:rPr lang="en-US" altLang="zh-CN" sz="1400">
                  <a:solidFill>
                    <a:schemeClr val="tx1"/>
                  </a:solidFill>
                </a:rPr>
                <a:t>1</a:t>
              </a:r>
            </a:p>
          </p:txBody>
        </p:sp>
        <p:sp>
          <p:nvSpPr>
            <p:cNvPr id="57359" name="Line 34"/>
            <p:cNvSpPr>
              <a:spLocks noChangeShapeType="1"/>
            </p:cNvSpPr>
            <p:nvPr/>
          </p:nvSpPr>
          <p:spPr bwMode="auto">
            <a:xfrm flipV="1">
              <a:off x="576" y="2256"/>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grpSp>
      <p:sp>
        <p:nvSpPr>
          <p:cNvPr id="57353" name="Rectangle 35"/>
          <p:cNvSpPr>
            <a:spLocks noGrp="1" noChangeArrowheads="1"/>
          </p:cNvSpPr>
          <p:nvPr>
            <p:ph type="title"/>
          </p:nvPr>
        </p:nvSpPr>
        <p:spPr bwMode="auto">
          <a:xfrm>
            <a:off x="2228850"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 </a:t>
            </a:r>
            <a:r>
              <a:rPr lang="zh-CN" altLang="en-US" sz="3600">
                <a:solidFill>
                  <a:schemeClr val="hlink"/>
                </a:solidFill>
                <a:ea typeface="华文行楷" panose="02010800040101010101" pitchFamily="2" charset="-122"/>
              </a:rPr>
              <a:t>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3"/>
          <p:cNvGrpSpPr>
            <a:grpSpLocks/>
          </p:cNvGrpSpPr>
          <p:nvPr/>
        </p:nvGrpSpPr>
        <p:grpSpPr bwMode="auto">
          <a:xfrm>
            <a:off x="2643188" y="3275858"/>
            <a:ext cx="457200" cy="690806"/>
            <a:chOff x="528" y="217"/>
            <a:chExt cx="384" cy="621"/>
          </a:xfrm>
        </p:grpSpPr>
        <p:sp>
          <p:nvSpPr>
            <p:cNvPr id="58462" name="Rectangle 4"/>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63" name="Freeform 5"/>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8464" name="Line 6"/>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5" name="Line 7"/>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6" name="Line 8"/>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7" name="Line 9"/>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68" name="Line 10"/>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9" name="Line 11"/>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70" name="Line 12"/>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71" name="Line 13"/>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72" name="Rectangle 14"/>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cxnSp>
        <p:nvCxnSpPr>
          <p:cNvPr id="58371" name="AutoShape 15"/>
          <p:cNvCxnSpPr>
            <a:cxnSpLocks noChangeShapeType="1"/>
            <a:stCxn id="58472" idx="3"/>
            <a:endCxn id="58381" idx="1"/>
          </p:cNvCxnSpPr>
          <p:nvPr/>
        </p:nvCxnSpPr>
        <p:spPr bwMode="auto">
          <a:xfrm flipV="1">
            <a:off x="3015855" y="3532188"/>
            <a:ext cx="1572021" cy="508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nvGrpSpPr>
          <p:cNvPr id="58372" name="Group 16"/>
          <p:cNvGrpSpPr>
            <a:grpSpLocks/>
          </p:cNvGrpSpPr>
          <p:nvPr/>
        </p:nvGrpSpPr>
        <p:grpSpPr bwMode="auto">
          <a:xfrm>
            <a:off x="8586785" y="2927350"/>
            <a:ext cx="1254060" cy="1060450"/>
            <a:chOff x="3984" y="868"/>
            <a:chExt cx="703" cy="668"/>
          </a:xfrm>
        </p:grpSpPr>
        <p:sp>
          <p:nvSpPr>
            <p:cNvPr id="58454" name="Freeform 17"/>
            <p:cNvSpPr>
              <a:spLocks/>
            </p:cNvSpPr>
            <p:nvPr/>
          </p:nvSpPr>
          <p:spPr bwMode="auto">
            <a:xfrm>
              <a:off x="3984" y="1204"/>
              <a:ext cx="104" cy="233"/>
            </a:xfrm>
            <a:custGeom>
              <a:avLst/>
              <a:gdLst>
                <a:gd name="T0" fmla="*/ 0 w 288"/>
                <a:gd name="T1" fmla="*/ 0 h 624"/>
                <a:gd name="T2" fmla="*/ 0 w 288"/>
                <a:gd name="T3" fmla="*/ 528 h 624"/>
                <a:gd name="T4" fmla="*/ 288 w 288"/>
                <a:gd name="T5" fmla="*/ 624 h 624"/>
                <a:gd name="T6" fmla="*/ 288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8455" name="Line 18"/>
            <p:cNvSpPr>
              <a:spLocks noChangeShapeType="1"/>
            </p:cNvSpPr>
            <p:nvPr/>
          </p:nvSpPr>
          <p:spPr bwMode="auto">
            <a:xfrm>
              <a:off x="3984" y="1440"/>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6" name="Line 19"/>
            <p:cNvSpPr>
              <a:spLocks noChangeShapeType="1"/>
            </p:cNvSpPr>
            <p:nvPr/>
          </p:nvSpPr>
          <p:spPr bwMode="auto">
            <a:xfrm>
              <a:off x="3984" y="1344"/>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7" name="Line 20"/>
            <p:cNvSpPr>
              <a:spLocks noChangeShapeType="1"/>
            </p:cNvSpPr>
            <p:nvPr/>
          </p:nvSpPr>
          <p:spPr bwMode="auto">
            <a:xfrm>
              <a:off x="3984" y="1248"/>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8" name="Line 21"/>
            <p:cNvSpPr>
              <a:spLocks noChangeShapeType="1"/>
            </p:cNvSpPr>
            <p:nvPr/>
          </p:nvSpPr>
          <p:spPr bwMode="auto">
            <a:xfrm>
              <a:off x="3984" y="1152"/>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9" name="Freeform 22"/>
            <p:cNvSpPr>
              <a:spLocks/>
            </p:cNvSpPr>
            <p:nvPr/>
          </p:nvSpPr>
          <p:spPr bwMode="auto">
            <a:xfrm>
              <a:off x="4272" y="1180"/>
              <a:ext cx="104" cy="233"/>
            </a:xfrm>
            <a:custGeom>
              <a:avLst/>
              <a:gdLst>
                <a:gd name="T0" fmla="*/ 0 w 480"/>
                <a:gd name="T1" fmla="*/ 672 h 672"/>
                <a:gd name="T2" fmla="*/ 480 w 480"/>
                <a:gd name="T3" fmla="*/ 528 h 672"/>
                <a:gd name="T4" fmla="*/ 480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8460" name="Text Box 23"/>
            <p:cNvSpPr txBox="1">
              <a:spLocks noChangeArrowheads="1"/>
            </p:cNvSpPr>
            <p:nvPr/>
          </p:nvSpPr>
          <p:spPr bwMode="auto">
            <a:xfrm>
              <a:off x="4341" y="1200"/>
              <a:ext cx="346" cy="1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8461" name="Freeform 24"/>
            <p:cNvSpPr>
              <a:spLocks/>
            </p:cNvSpPr>
            <p:nvPr/>
          </p:nvSpPr>
          <p:spPr bwMode="auto">
            <a:xfrm>
              <a:off x="3984" y="868"/>
              <a:ext cx="104" cy="233"/>
            </a:xfrm>
            <a:custGeom>
              <a:avLst/>
              <a:gdLst>
                <a:gd name="T0" fmla="*/ 288 w 768"/>
                <a:gd name="T1" fmla="*/ 240 h 240"/>
                <a:gd name="T2" fmla="*/ 0 w 768"/>
                <a:gd name="T3" fmla="*/ 144 h 240"/>
                <a:gd name="T4" fmla="*/ 528 w 768"/>
                <a:gd name="T5" fmla="*/ 0 h 240"/>
                <a:gd name="T6" fmla="*/ 768 w 768"/>
                <a:gd name="T7" fmla="*/ 96 h 240"/>
                <a:gd name="T8" fmla="*/ 288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grpSp>
      <p:cxnSp>
        <p:nvCxnSpPr>
          <p:cNvPr id="58373" name="AutoShape 25"/>
          <p:cNvCxnSpPr>
            <a:cxnSpLocks noChangeShapeType="1"/>
            <a:stCxn id="58381" idx="3"/>
            <a:endCxn id="58452" idx="34"/>
          </p:cNvCxnSpPr>
          <p:nvPr/>
        </p:nvCxnSpPr>
        <p:spPr bwMode="auto">
          <a:xfrm>
            <a:off x="5181601" y="3532189"/>
            <a:ext cx="755651" cy="26429"/>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8374" name="AutoShape 26"/>
          <p:cNvCxnSpPr>
            <a:cxnSpLocks noChangeShapeType="1"/>
            <a:stCxn id="58452" idx="14"/>
            <a:endCxn id="58457" idx="0"/>
          </p:cNvCxnSpPr>
          <p:nvPr/>
        </p:nvCxnSpPr>
        <p:spPr bwMode="auto">
          <a:xfrm flipV="1">
            <a:off x="7608889" y="3530600"/>
            <a:ext cx="977897" cy="257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nvGrpSpPr>
          <p:cNvPr id="58375" name="Group 27"/>
          <p:cNvGrpSpPr>
            <a:grpSpLocks/>
          </p:cNvGrpSpPr>
          <p:nvPr/>
        </p:nvGrpSpPr>
        <p:grpSpPr bwMode="auto">
          <a:xfrm>
            <a:off x="5919788" y="3384552"/>
            <a:ext cx="1828800" cy="496888"/>
            <a:chOff x="2784" y="1108"/>
            <a:chExt cx="1152" cy="313"/>
          </a:xfrm>
        </p:grpSpPr>
        <p:sp>
          <p:nvSpPr>
            <p:cNvPr id="58452" name="Freeform 28"/>
            <p:cNvSpPr>
              <a:spLocks/>
            </p:cNvSpPr>
            <p:nvPr/>
          </p:nvSpPr>
          <p:spPr bwMode="auto">
            <a:xfrm>
              <a:off x="2784" y="1108"/>
              <a:ext cx="1152" cy="233"/>
            </a:xfrm>
            <a:custGeom>
              <a:avLst/>
              <a:gdLst>
                <a:gd name="T0" fmla="*/ 412 w 1152"/>
                <a:gd name="T1" fmla="*/ 63 h 816"/>
                <a:gd name="T2" fmla="*/ 441 w 1152"/>
                <a:gd name="T3" fmla="*/ 20 h 816"/>
                <a:gd name="T4" fmla="*/ 477 w 1152"/>
                <a:gd name="T5" fmla="*/ 9 h 816"/>
                <a:gd name="T6" fmla="*/ 501 w 1152"/>
                <a:gd name="T7" fmla="*/ 2 h 816"/>
                <a:gd name="T8" fmla="*/ 669 w 1152"/>
                <a:gd name="T9" fmla="*/ 51 h 816"/>
                <a:gd name="T10" fmla="*/ 735 w 1152"/>
                <a:gd name="T11" fmla="*/ 63 h 816"/>
                <a:gd name="T12" fmla="*/ 848 w 1152"/>
                <a:gd name="T13" fmla="*/ 87 h 816"/>
                <a:gd name="T14" fmla="*/ 908 w 1152"/>
                <a:gd name="T15" fmla="*/ 123 h 816"/>
                <a:gd name="T16" fmla="*/ 926 w 1152"/>
                <a:gd name="T17" fmla="*/ 157 h 816"/>
                <a:gd name="T18" fmla="*/ 933 w 1152"/>
                <a:gd name="T19" fmla="*/ 182 h 816"/>
                <a:gd name="T20" fmla="*/ 986 w 1152"/>
                <a:gd name="T21" fmla="*/ 188 h 816"/>
                <a:gd name="T22" fmla="*/ 1035 w 1152"/>
                <a:gd name="T23" fmla="*/ 200 h 816"/>
                <a:gd name="T24" fmla="*/ 1082 w 1152"/>
                <a:gd name="T25" fmla="*/ 253 h 816"/>
                <a:gd name="T26" fmla="*/ 1113 w 1152"/>
                <a:gd name="T27" fmla="*/ 314 h 816"/>
                <a:gd name="T28" fmla="*/ 1064 w 1152"/>
                <a:gd name="T29" fmla="*/ 379 h 816"/>
                <a:gd name="T30" fmla="*/ 1136 w 1152"/>
                <a:gd name="T31" fmla="*/ 480 h 816"/>
                <a:gd name="T32" fmla="*/ 1064 w 1152"/>
                <a:gd name="T33" fmla="*/ 629 h 816"/>
                <a:gd name="T34" fmla="*/ 1071 w 1152"/>
                <a:gd name="T35" fmla="*/ 695 h 816"/>
                <a:gd name="T36" fmla="*/ 975 w 1152"/>
                <a:gd name="T37" fmla="*/ 790 h 816"/>
                <a:gd name="T38" fmla="*/ 723 w 1152"/>
                <a:gd name="T39" fmla="*/ 772 h 816"/>
                <a:gd name="T40" fmla="*/ 700 w 1152"/>
                <a:gd name="T41" fmla="*/ 761 h 816"/>
                <a:gd name="T42" fmla="*/ 687 w 1152"/>
                <a:gd name="T43" fmla="*/ 779 h 816"/>
                <a:gd name="T44" fmla="*/ 615 w 1152"/>
                <a:gd name="T45" fmla="*/ 815 h 816"/>
                <a:gd name="T46" fmla="*/ 483 w 1152"/>
                <a:gd name="T47" fmla="*/ 808 h 816"/>
                <a:gd name="T48" fmla="*/ 436 w 1152"/>
                <a:gd name="T49" fmla="*/ 785 h 816"/>
                <a:gd name="T50" fmla="*/ 417 w 1152"/>
                <a:gd name="T51" fmla="*/ 761 h 816"/>
                <a:gd name="T52" fmla="*/ 376 w 1152"/>
                <a:gd name="T53" fmla="*/ 731 h 816"/>
                <a:gd name="T54" fmla="*/ 298 w 1152"/>
                <a:gd name="T55" fmla="*/ 754 h 816"/>
                <a:gd name="T56" fmla="*/ 196 w 1152"/>
                <a:gd name="T57" fmla="*/ 731 h 816"/>
                <a:gd name="T58" fmla="*/ 153 w 1152"/>
                <a:gd name="T59" fmla="*/ 689 h 816"/>
                <a:gd name="T60" fmla="*/ 130 w 1152"/>
                <a:gd name="T61" fmla="*/ 653 h 816"/>
                <a:gd name="T62" fmla="*/ 124 w 1152"/>
                <a:gd name="T63" fmla="*/ 546 h 816"/>
                <a:gd name="T64" fmla="*/ 94 w 1152"/>
                <a:gd name="T65" fmla="*/ 534 h 816"/>
                <a:gd name="T66" fmla="*/ 41 w 1152"/>
                <a:gd name="T67" fmla="*/ 492 h 816"/>
                <a:gd name="T68" fmla="*/ 11 w 1152"/>
                <a:gd name="T69" fmla="*/ 384 h 816"/>
                <a:gd name="T70" fmla="*/ 52 w 1152"/>
                <a:gd name="T71" fmla="*/ 319 h 816"/>
                <a:gd name="T72" fmla="*/ 70 w 1152"/>
                <a:gd name="T73" fmla="*/ 218 h 816"/>
                <a:gd name="T74" fmla="*/ 153 w 1152"/>
                <a:gd name="T75" fmla="*/ 105 h 816"/>
                <a:gd name="T76" fmla="*/ 267 w 1152"/>
                <a:gd name="T77" fmla="*/ 15 h 816"/>
                <a:gd name="T78" fmla="*/ 394 w 1152"/>
                <a:gd name="T79" fmla="*/ 45 h 816"/>
                <a:gd name="T80" fmla="*/ 412 w 1152"/>
                <a:gd name="T81" fmla="*/ 63 h 81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2"/>
                <a:gd name="T124" fmla="*/ 0 h 816"/>
                <a:gd name="T125" fmla="*/ 1152 w 1152"/>
                <a:gd name="T126" fmla="*/ 816 h 81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2" h="816">
                  <a:moveTo>
                    <a:pt x="412" y="63"/>
                  </a:moveTo>
                  <a:cubicBezTo>
                    <a:pt x="420" y="46"/>
                    <a:pt x="423" y="30"/>
                    <a:pt x="441" y="20"/>
                  </a:cubicBezTo>
                  <a:cubicBezTo>
                    <a:pt x="452" y="15"/>
                    <a:pt x="465" y="12"/>
                    <a:pt x="477" y="9"/>
                  </a:cubicBezTo>
                  <a:cubicBezTo>
                    <a:pt x="485" y="7"/>
                    <a:pt x="501" y="2"/>
                    <a:pt x="501" y="2"/>
                  </a:cubicBezTo>
                  <a:cubicBezTo>
                    <a:pt x="624" y="10"/>
                    <a:pt x="595" y="0"/>
                    <a:pt x="669" y="51"/>
                  </a:cubicBezTo>
                  <a:cubicBezTo>
                    <a:pt x="681" y="89"/>
                    <a:pt x="704" y="70"/>
                    <a:pt x="735" y="63"/>
                  </a:cubicBezTo>
                  <a:cubicBezTo>
                    <a:pt x="803" y="67"/>
                    <a:pt x="803" y="62"/>
                    <a:pt x="848" y="87"/>
                  </a:cubicBezTo>
                  <a:cubicBezTo>
                    <a:pt x="869" y="98"/>
                    <a:pt x="908" y="123"/>
                    <a:pt x="908" y="123"/>
                  </a:cubicBezTo>
                  <a:cubicBezTo>
                    <a:pt x="922" y="143"/>
                    <a:pt x="920" y="136"/>
                    <a:pt x="926" y="157"/>
                  </a:cubicBezTo>
                  <a:cubicBezTo>
                    <a:pt x="929" y="165"/>
                    <a:pt x="925" y="179"/>
                    <a:pt x="933" y="182"/>
                  </a:cubicBezTo>
                  <a:cubicBezTo>
                    <a:pt x="949" y="190"/>
                    <a:pt x="968" y="185"/>
                    <a:pt x="986" y="188"/>
                  </a:cubicBezTo>
                  <a:cubicBezTo>
                    <a:pt x="992" y="189"/>
                    <a:pt x="1030" y="197"/>
                    <a:pt x="1035" y="200"/>
                  </a:cubicBezTo>
                  <a:cubicBezTo>
                    <a:pt x="1054" y="211"/>
                    <a:pt x="1066" y="238"/>
                    <a:pt x="1082" y="253"/>
                  </a:cubicBezTo>
                  <a:cubicBezTo>
                    <a:pt x="1092" y="274"/>
                    <a:pt x="1106" y="291"/>
                    <a:pt x="1113" y="314"/>
                  </a:cubicBezTo>
                  <a:cubicBezTo>
                    <a:pt x="1102" y="345"/>
                    <a:pt x="1092" y="360"/>
                    <a:pt x="1064" y="379"/>
                  </a:cubicBezTo>
                  <a:cubicBezTo>
                    <a:pt x="1074" y="416"/>
                    <a:pt x="1108" y="452"/>
                    <a:pt x="1136" y="480"/>
                  </a:cubicBezTo>
                  <a:cubicBezTo>
                    <a:pt x="1152" y="566"/>
                    <a:pt x="1150" y="614"/>
                    <a:pt x="1064" y="629"/>
                  </a:cubicBezTo>
                  <a:cubicBezTo>
                    <a:pt x="1057" y="656"/>
                    <a:pt x="1062" y="670"/>
                    <a:pt x="1071" y="695"/>
                  </a:cubicBezTo>
                  <a:cubicBezTo>
                    <a:pt x="1058" y="761"/>
                    <a:pt x="1046" y="780"/>
                    <a:pt x="975" y="790"/>
                  </a:cubicBezTo>
                  <a:cubicBezTo>
                    <a:pt x="810" y="786"/>
                    <a:pt x="821" y="795"/>
                    <a:pt x="723" y="772"/>
                  </a:cubicBezTo>
                  <a:cubicBezTo>
                    <a:pt x="715" y="769"/>
                    <a:pt x="709" y="760"/>
                    <a:pt x="700" y="761"/>
                  </a:cubicBezTo>
                  <a:cubicBezTo>
                    <a:pt x="693" y="762"/>
                    <a:pt x="693" y="773"/>
                    <a:pt x="687" y="779"/>
                  </a:cubicBezTo>
                  <a:cubicBezTo>
                    <a:pt x="667" y="799"/>
                    <a:pt x="641" y="805"/>
                    <a:pt x="615" y="815"/>
                  </a:cubicBezTo>
                  <a:cubicBezTo>
                    <a:pt x="571" y="813"/>
                    <a:pt x="527" y="816"/>
                    <a:pt x="483" y="808"/>
                  </a:cubicBezTo>
                  <a:cubicBezTo>
                    <a:pt x="466" y="805"/>
                    <a:pt x="436" y="785"/>
                    <a:pt x="436" y="785"/>
                  </a:cubicBezTo>
                  <a:cubicBezTo>
                    <a:pt x="430" y="777"/>
                    <a:pt x="425" y="768"/>
                    <a:pt x="417" y="761"/>
                  </a:cubicBezTo>
                  <a:cubicBezTo>
                    <a:pt x="405" y="750"/>
                    <a:pt x="376" y="731"/>
                    <a:pt x="376" y="731"/>
                  </a:cubicBezTo>
                  <a:cubicBezTo>
                    <a:pt x="350" y="740"/>
                    <a:pt x="324" y="746"/>
                    <a:pt x="298" y="754"/>
                  </a:cubicBezTo>
                  <a:cubicBezTo>
                    <a:pt x="229" y="750"/>
                    <a:pt x="234" y="764"/>
                    <a:pt x="196" y="731"/>
                  </a:cubicBezTo>
                  <a:cubicBezTo>
                    <a:pt x="182" y="717"/>
                    <a:pt x="165" y="706"/>
                    <a:pt x="153" y="689"/>
                  </a:cubicBezTo>
                  <a:cubicBezTo>
                    <a:pt x="146" y="677"/>
                    <a:pt x="130" y="653"/>
                    <a:pt x="130" y="653"/>
                  </a:cubicBezTo>
                  <a:cubicBezTo>
                    <a:pt x="122" y="622"/>
                    <a:pt x="148" y="566"/>
                    <a:pt x="124" y="546"/>
                  </a:cubicBezTo>
                  <a:cubicBezTo>
                    <a:pt x="116" y="540"/>
                    <a:pt x="104" y="538"/>
                    <a:pt x="94" y="534"/>
                  </a:cubicBezTo>
                  <a:cubicBezTo>
                    <a:pt x="63" y="518"/>
                    <a:pt x="64" y="516"/>
                    <a:pt x="41" y="492"/>
                  </a:cubicBezTo>
                  <a:cubicBezTo>
                    <a:pt x="32" y="469"/>
                    <a:pt x="20" y="408"/>
                    <a:pt x="11" y="384"/>
                  </a:cubicBezTo>
                  <a:cubicBezTo>
                    <a:pt x="15" y="333"/>
                    <a:pt x="0" y="332"/>
                    <a:pt x="52" y="319"/>
                  </a:cubicBezTo>
                  <a:cubicBezTo>
                    <a:pt x="102" y="293"/>
                    <a:pt x="79" y="266"/>
                    <a:pt x="70" y="218"/>
                  </a:cubicBezTo>
                  <a:cubicBezTo>
                    <a:pt x="78" y="110"/>
                    <a:pt x="65" y="133"/>
                    <a:pt x="153" y="105"/>
                  </a:cubicBezTo>
                  <a:cubicBezTo>
                    <a:pt x="186" y="57"/>
                    <a:pt x="219" y="39"/>
                    <a:pt x="267" y="15"/>
                  </a:cubicBezTo>
                  <a:cubicBezTo>
                    <a:pt x="310" y="25"/>
                    <a:pt x="352" y="33"/>
                    <a:pt x="394" y="45"/>
                  </a:cubicBezTo>
                  <a:cubicBezTo>
                    <a:pt x="414" y="57"/>
                    <a:pt x="412" y="49"/>
                    <a:pt x="412" y="63"/>
                  </a:cubicBezTo>
                  <a:close/>
                </a:path>
              </a:pathLst>
            </a:custGeom>
            <a:solidFill>
              <a:srgbClr val="969696"/>
            </a:solidFill>
            <a:ln w="12700">
              <a:solidFill>
                <a:schemeClr val="tx1"/>
              </a:solidFill>
              <a:round/>
              <a:headEnd/>
              <a:tailEnd/>
            </a:ln>
          </p:spPr>
          <p:txBody>
            <a:bodyPr anchor="ctr">
              <a:spAutoFit/>
            </a:bodyPr>
            <a:lstStyle/>
            <a:p>
              <a:endParaRPr lang="zh-CN" altLang="en-US"/>
            </a:p>
          </p:txBody>
        </p:sp>
        <p:sp>
          <p:nvSpPr>
            <p:cNvPr id="58453" name="Text Box 29"/>
            <p:cNvSpPr txBox="1">
              <a:spLocks noChangeArrowheads="1"/>
            </p:cNvSpPr>
            <p:nvPr/>
          </p:nvSpPr>
          <p:spPr bwMode="auto">
            <a:xfrm>
              <a:off x="3120" y="1248"/>
              <a:ext cx="452" cy="173"/>
            </a:xfrm>
            <a:prstGeom prst="rect">
              <a:avLst/>
            </a:prstGeom>
            <a:solidFill>
              <a:srgbClr val="969696"/>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Internet</a:t>
              </a:r>
            </a:p>
          </p:txBody>
        </p:sp>
      </p:grpSp>
      <p:sp>
        <p:nvSpPr>
          <p:cNvPr id="58376" name="Text Box 30"/>
          <p:cNvSpPr txBox="1">
            <a:spLocks noChangeArrowheads="1"/>
          </p:cNvSpPr>
          <p:nvPr/>
        </p:nvSpPr>
        <p:spPr bwMode="auto">
          <a:xfrm>
            <a:off x="2489200" y="3835400"/>
            <a:ext cx="679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10.0.0.3</a:t>
            </a:r>
          </a:p>
        </p:txBody>
      </p:sp>
      <p:sp>
        <p:nvSpPr>
          <p:cNvPr id="58377" name="Text Box 31"/>
          <p:cNvSpPr txBox="1">
            <a:spLocks noChangeArrowheads="1"/>
          </p:cNvSpPr>
          <p:nvPr/>
        </p:nvSpPr>
        <p:spPr bwMode="auto">
          <a:xfrm>
            <a:off x="4837113" y="3813175"/>
            <a:ext cx="9080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24.1.70.210</a:t>
            </a:r>
          </a:p>
        </p:txBody>
      </p:sp>
      <p:sp>
        <p:nvSpPr>
          <p:cNvPr id="58378" name="Text Box 32"/>
          <p:cNvSpPr txBox="1">
            <a:spLocks noChangeArrowheads="1"/>
          </p:cNvSpPr>
          <p:nvPr/>
        </p:nvSpPr>
        <p:spPr bwMode="auto">
          <a:xfrm>
            <a:off x="9034463" y="3652839"/>
            <a:ext cx="984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128.32.32.68</a:t>
            </a:r>
          </a:p>
        </p:txBody>
      </p:sp>
      <p:sp>
        <p:nvSpPr>
          <p:cNvPr id="1897505" name="Line 33"/>
          <p:cNvSpPr>
            <a:spLocks noChangeShapeType="1"/>
          </p:cNvSpPr>
          <p:nvPr/>
        </p:nvSpPr>
        <p:spPr bwMode="auto">
          <a:xfrm>
            <a:off x="7747000" y="3378200"/>
            <a:ext cx="763588"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97506" name="Line 34"/>
          <p:cNvSpPr>
            <a:spLocks noChangeShapeType="1"/>
          </p:cNvSpPr>
          <p:nvPr/>
        </p:nvSpPr>
        <p:spPr bwMode="auto">
          <a:xfrm flipH="1">
            <a:off x="5232400" y="3683000"/>
            <a:ext cx="68580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381" name="Text Box 35"/>
          <p:cNvSpPr txBox="1">
            <a:spLocks noChangeArrowheads="1"/>
          </p:cNvSpPr>
          <p:nvPr/>
        </p:nvSpPr>
        <p:spPr bwMode="auto">
          <a:xfrm>
            <a:off x="4587876" y="3235326"/>
            <a:ext cx="593725" cy="593725"/>
          </a:xfrm>
          <a:prstGeom prst="rect">
            <a:avLst/>
          </a:prstGeom>
          <a:solidFill>
            <a:srgbClr val="FE7E93"/>
          </a:solidFill>
          <a:ln w="1270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a:t>
            </a:r>
          </a:p>
          <a:p>
            <a:pPr algn="ctr"/>
            <a:r>
              <a:rPr lang="en-US" altLang="zh-CN" sz="1200" b="1">
                <a:solidFill>
                  <a:schemeClr val="tx1"/>
                </a:solidFill>
              </a:rPr>
              <a:t>Gateway</a:t>
            </a:r>
          </a:p>
        </p:txBody>
      </p:sp>
      <p:grpSp>
        <p:nvGrpSpPr>
          <p:cNvPr id="5" name="Group 36"/>
          <p:cNvGrpSpPr>
            <a:grpSpLocks/>
          </p:cNvGrpSpPr>
          <p:nvPr/>
        </p:nvGrpSpPr>
        <p:grpSpPr bwMode="auto">
          <a:xfrm>
            <a:off x="5156200" y="1701800"/>
            <a:ext cx="4800600" cy="1938338"/>
            <a:chOff x="2304" y="816"/>
            <a:chExt cx="3024" cy="1221"/>
          </a:xfrm>
        </p:grpSpPr>
        <p:grpSp>
          <p:nvGrpSpPr>
            <p:cNvPr id="58437" name="Group 37"/>
            <p:cNvGrpSpPr>
              <a:grpSpLocks/>
            </p:cNvGrpSpPr>
            <p:nvPr/>
          </p:nvGrpSpPr>
          <p:grpSpPr bwMode="auto">
            <a:xfrm>
              <a:off x="2784" y="864"/>
              <a:ext cx="918" cy="611"/>
              <a:chOff x="384" y="1632"/>
              <a:chExt cx="918" cy="611"/>
            </a:xfrm>
          </p:grpSpPr>
          <p:sp>
            <p:nvSpPr>
              <p:cNvPr id="58443" name="Text Box 38"/>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44" name="Text Box 39"/>
              <p:cNvSpPr txBox="1">
                <a:spLocks noChangeArrowheads="1"/>
              </p:cNvSpPr>
              <p:nvPr/>
            </p:nvSpPr>
            <p:spPr bwMode="auto">
              <a:xfrm>
                <a:off x="720" y="1632"/>
                <a:ext cx="521"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rgbClr val="0000FF"/>
                    </a:solidFill>
                    <a:latin typeface="Courier New" panose="02070309020205020404" pitchFamily="49" charset="0"/>
                  </a:rPr>
                  <a:t>TCP</a:t>
                </a:r>
              </a:p>
              <a:p>
                <a:r>
                  <a:rPr lang="en-US" altLang="zh-CN" sz="900" b="1">
                    <a:solidFill>
                      <a:schemeClr val="hlink"/>
                    </a:solidFill>
                    <a:latin typeface="Courier New" panose="02070309020205020404" pitchFamily="49" charset="0"/>
                  </a:rPr>
                  <a:t>24.1.70.210</a:t>
                </a:r>
              </a:p>
              <a:p>
                <a:r>
                  <a:rPr lang="en-US" altLang="zh-CN" sz="900" b="1">
                    <a:solidFill>
                      <a:srgbClr val="0000FF"/>
                    </a:solidFill>
                    <a:latin typeface="Courier New" panose="02070309020205020404" pitchFamily="49" charset="0"/>
                  </a:rPr>
                  <a:t>128.32.32.68</a:t>
                </a:r>
              </a:p>
              <a:p>
                <a:r>
                  <a:rPr lang="en-US" altLang="zh-CN" sz="900" b="1">
                    <a:solidFill>
                      <a:schemeClr val="hlink"/>
                    </a:solidFill>
                    <a:latin typeface="Courier New" panose="02070309020205020404" pitchFamily="49" charset="0"/>
                  </a:rPr>
                  <a:t>40960</a:t>
                </a:r>
              </a:p>
              <a:p>
                <a:r>
                  <a:rPr lang="en-US" altLang="zh-CN" sz="900" b="1">
                    <a:solidFill>
                      <a:srgbClr val="0000FF"/>
                    </a:solidFill>
                    <a:latin typeface="Courier New" panose="02070309020205020404" pitchFamily="49" charset="0"/>
                  </a:rPr>
                  <a:t>80</a:t>
                </a:r>
              </a:p>
              <a:p>
                <a:r>
                  <a:rPr lang="en-US" altLang="zh-CN" sz="900" b="1">
                    <a:solidFill>
                      <a:srgbClr val="0000FF"/>
                    </a:solidFill>
                    <a:latin typeface="Courier New" panose="02070309020205020404" pitchFamily="49" charset="0"/>
                  </a:rPr>
                  <a:t>SYN</a:t>
                </a:r>
              </a:p>
              <a:p>
                <a:r>
                  <a:rPr lang="en-US" altLang="zh-CN" sz="900" b="1">
                    <a:solidFill>
                      <a:schemeClr val="hlink"/>
                    </a:solidFill>
                    <a:latin typeface="Courier New" panose="02070309020205020404" pitchFamily="49" charset="0"/>
                  </a:rPr>
                  <a:t>0x2436</a:t>
                </a:r>
              </a:p>
            </p:txBody>
          </p:sp>
          <p:sp>
            <p:nvSpPr>
              <p:cNvPr id="58445" name="Rectangle 40"/>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46" name="Line 41"/>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7" name="Line 42"/>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8" name="Line 43"/>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9" name="Line 44"/>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50" name="Line 45"/>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51" name="Line 46"/>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38" name="Rectangle 47"/>
            <p:cNvSpPr>
              <a:spLocks noChangeArrowheads="1"/>
            </p:cNvSpPr>
            <p:nvPr/>
          </p:nvSpPr>
          <p:spPr bwMode="auto">
            <a:xfrm>
              <a:off x="2343" y="1707"/>
              <a:ext cx="116" cy="33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39" name="Line 48"/>
            <p:cNvSpPr>
              <a:spLocks noChangeShapeType="1"/>
            </p:cNvSpPr>
            <p:nvPr/>
          </p:nvSpPr>
          <p:spPr bwMode="auto">
            <a:xfrm>
              <a:off x="2497" y="1872"/>
              <a:ext cx="336"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cxnSp>
          <p:nvCxnSpPr>
            <p:cNvPr id="58440" name="AutoShape 49"/>
            <p:cNvCxnSpPr>
              <a:cxnSpLocks noChangeShapeType="1"/>
              <a:stCxn id="58438" idx="0"/>
              <a:endCxn id="58445" idx="2"/>
            </p:cNvCxnSpPr>
            <p:nvPr/>
          </p:nvCxnSpPr>
          <p:spPr bwMode="auto">
            <a:xfrm rot="5400000" flipH="1" flipV="1">
              <a:off x="2638" y="1105"/>
              <a:ext cx="366" cy="839"/>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41" name="Oval 50"/>
            <p:cNvSpPr>
              <a:spLocks noChangeArrowheads="1"/>
            </p:cNvSpPr>
            <p:nvPr/>
          </p:nvSpPr>
          <p:spPr bwMode="auto">
            <a:xfrm>
              <a:off x="2304" y="1584"/>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2</a:t>
              </a:r>
              <a:endParaRPr lang="en-US" altLang="zh-CN" sz="1800" b="1">
                <a:solidFill>
                  <a:schemeClr val="tx1"/>
                </a:solidFill>
              </a:endParaRPr>
            </a:p>
          </p:txBody>
        </p:sp>
        <p:sp>
          <p:nvSpPr>
            <p:cNvPr id="58442" name="Text Box 51"/>
            <p:cNvSpPr txBox="1">
              <a:spLocks noChangeArrowheads="1"/>
            </p:cNvSpPr>
            <p:nvPr/>
          </p:nvSpPr>
          <p:spPr bwMode="auto">
            <a:xfrm>
              <a:off x="3792" y="816"/>
              <a:ext cx="153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2. NAT gateway </a:t>
              </a:r>
              <a:r>
                <a:rPr lang="zh-CN" altLang="en-US" sz="1400">
                  <a:solidFill>
                    <a:schemeClr val="tx1"/>
                  </a:solidFill>
                </a:rPr>
                <a:t>发现 </a:t>
              </a:r>
              <a:r>
                <a:rPr lang="en-US" altLang="zh-CN" sz="1400">
                  <a:solidFill>
                    <a:schemeClr val="tx1"/>
                  </a:solidFill>
                </a:rPr>
                <a:t>SYN </a:t>
              </a:r>
              <a:r>
                <a:rPr lang="zh-CN" altLang="en-US" sz="1400">
                  <a:solidFill>
                    <a:schemeClr val="tx1"/>
                  </a:solidFill>
                </a:rPr>
                <a:t>标志置位</a:t>
              </a:r>
              <a:r>
                <a:rPr lang="en-US" altLang="zh-CN" sz="1400">
                  <a:solidFill>
                    <a:schemeClr val="tx1"/>
                  </a:solidFill>
                </a:rPr>
                <a:t>,</a:t>
              </a:r>
              <a:r>
                <a:rPr lang="zh-CN" altLang="en-US" sz="1400">
                  <a:solidFill>
                    <a:schemeClr val="tx1"/>
                  </a:solidFill>
                </a:rPr>
                <a:t>往</a:t>
              </a:r>
              <a:r>
                <a:rPr lang="en-US" altLang="zh-CN" sz="1400">
                  <a:solidFill>
                    <a:schemeClr val="tx1"/>
                  </a:solidFill>
                </a:rPr>
                <a:t>NAT</a:t>
              </a:r>
              <a:r>
                <a:rPr lang="zh-CN" altLang="en-US" sz="1400">
                  <a:solidFill>
                    <a:schemeClr val="tx1"/>
                  </a:solidFill>
                </a:rPr>
                <a:t>地址转换表中增加一个条目</a:t>
              </a:r>
              <a:r>
                <a:rPr lang="en-US" altLang="zh-CN" sz="1400">
                  <a:solidFill>
                    <a:schemeClr val="tx1"/>
                  </a:solidFill>
                </a:rPr>
                <a:t>,</a:t>
              </a:r>
              <a:r>
                <a:rPr lang="zh-CN" altLang="en-US" sz="1400">
                  <a:solidFill>
                    <a:schemeClr val="tx1"/>
                  </a:solidFill>
                </a:rPr>
                <a:t>然后利用网关的外部</a:t>
              </a:r>
              <a:r>
                <a:rPr lang="en-US" altLang="zh-CN" sz="1400">
                  <a:solidFill>
                    <a:schemeClr val="tx1"/>
                  </a:solidFill>
                </a:rPr>
                <a:t>IP</a:t>
              </a:r>
              <a:r>
                <a:rPr lang="zh-CN" altLang="en-US" sz="1400">
                  <a:solidFill>
                    <a:schemeClr val="tx1"/>
                  </a:solidFill>
                </a:rPr>
                <a:t>地址 </a:t>
              </a:r>
              <a:r>
                <a:rPr lang="en-US" altLang="zh-CN" sz="1400">
                  <a:solidFill>
                    <a:schemeClr val="tx1"/>
                  </a:solidFill>
                </a:rPr>
                <a:t>24.1.70.210</a:t>
              </a:r>
              <a:r>
                <a:rPr lang="zh-CN" altLang="en-US" sz="1400">
                  <a:solidFill>
                    <a:schemeClr val="tx1"/>
                  </a:solidFill>
                </a:rPr>
                <a:t>改写报文，更新报文的校验和</a:t>
              </a:r>
              <a:r>
                <a:rPr lang="en-US" altLang="zh-CN" sz="1400">
                  <a:solidFill>
                    <a:schemeClr val="tx1"/>
                  </a:solidFill>
                </a:rPr>
                <a:t>.</a:t>
              </a:r>
              <a:r>
                <a:rPr lang="en-US" altLang="zh-CN" sz="1200" b="1">
                  <a:solidFill>
                    <a:schemeClr val="tx1"/>
                  </a:solidFill>
                </a:rPr>
                <a:t> </a:t>
              </a:r>
            </a:p>
          </p:txBody>
        </p:sp>
      </p:grpSp>
      <p:sp>
        <p:nvSpPr>
          <p:cNvPr id="58383" name="Text Box 52"/>
          <p:cNvSpPr txBox="1">
            <a:spLocks noChangeArrowheads="1"/>
          </p:cNvSpPr>
          <p:nvPr/>
        </p:nvSpPr>
        <p:spPr bwMode="auto">
          <a:xfrm>
            <a:off x="4217988" y="3813175"/>
            <a:ext cx="679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10.0.0.1</a:t>
            </a:r>
          </a:p>
        </p:txBody>
      </p:sp>
      <p:grpSp>
        <p:nvGrpSpPr>
          <p:cNvPr id="7" name="Group 53"/>
          <p:cNvGrpSpPr>
            <a:grpSpLocks/>
          </p:cNvGrpSpPr>
          <p:nvPr/>
        </p:nvGrpSpPr>
        <p:grpSpPr bwMode="auto">
          <a:xfrm>
            <a:off x="7670800" y="3421063"/>
            <a:ext cx="2133600" cy="2928938"/>
            <a:chOff x="3888" y="1899"/>
            <a:chExt cx="1344" cy="1845"/>
          </a:xfrm>
        </p:grpSpPr>
        <p:grpSp>
          <p:nvGrpSpPr>
            <p:cNvPr id="58422" name="Group 54"/>
            <p:cNvGrpSpPr>
              <a:grpSpLocks/>
            </p:cNvGrpSpPr>
            <p:nvPr/>
          </p:nvGrpSpPr>
          <p:grpSpPr bwMode="auto">
            <a:xfrm>
              <a:off x="3888" y="2544"/>
              <a:ext cx="918" cy="611"/>
              <a:chOff x="384" y="1632"/>
              <a:chExt cx="918" cy="611"/>
            </a:xfrm>
          </p:grpSpPr>
          <p:sp>
            <p:nvSpPr>
              <p:cNvPr id="58428" name="Text Box 55"/>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29" name="Text Box 56"/>
              <p:cNvSpPr txBox="1">
                <a:spLocks noChangeArrowheads="1"/>
              </p:cNvSpPr>
              <p:nvPr/>
            </p:nvSpPr>
            <p:spPr bwMode="auto">
              <a:xfrm>
                <a:off x="720" y="1632"/>
                <a:ext cx="56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accent2"/>
                    </a:solidFill>
                    <a:latin typeface="Courier New" panose="02070309020205020404" pitchFamily="49" charset="0"/>
                  </a:rPr>
                  <a:t>TCP</a:t>
                </a:r>
              </a:p>
              <a:p>
                <a:r>
                  <a:rPr lang="en-US" altLang="zh-CN" sz="900" b="1">
                    <a:solidFill>
                      <a:schemeClr val="accent2"/>
                    </a:solidFill>
                    <a:latin typeface="Courier New" panose="02070309020205020404" pitchFamily="49" charset="0"/>
                  </a:rPr>
                  <a:t>128.32.32.68 </a:t>
                </a:r>
              </a:p>
              <a:p>
                <a:r>
                  <a:rPr lang="en-US" altLang="zh-CN" sz="900" b="1">
                    <a:solidFill>
                      <a:schemeClr val="accent2"/>
                    </a:solidFill>
                    <a:latin typeface="Courier New" panose="02070309020205020404" pitchFamily="49" charset="0"/>
                  </a:rPr>
                  <a:t>24.1.70.210</a:t>
                </a:r>
              </a:p>
              <a:p>
                <a:r>
                  <a:rPr lang="en-US" altLang="zh-CN" sz="900" b="1">
                    <a:solidFill>
                      <a:schemeClr val="accent2"/>
                    </a:solidFill>
                    <a:latin typeface="Courier New" panose="02070309020205020404" pitchFamily="49" charset="0"/>
                  </a:rPr>
                  <a:t>80</a:t>
                </a:r>
              </a:p>
              <a:p>
                <a:r>
                  <a:rPr lang="en-US" altLang="zh-CN" sz="900" b="1">
                    <a:solidFill>
                      <a:schemeClr val="accent2"/>
                    </a:solidFill>
                    <a:latin typeface="Courier New" panose="02070309020205020404" pitchFamily="49" charset="0"/>
                  </a:rPr>
                  <a:t>40960</a:t>
                </a:r>
              </a:p>
              <a:p>
                <a:r>
                  <a:rPr lang="en-US" altLang="zh-CN" sz="900" b="1">
                    <a:solidFill>
                      <a:schemeClr val="accent2"/>
                    </a:solidFill>
                    <a:latin typeface="Courier New" panose="02070309020205020404" pitchFamily="49" charset="0"/>
                  </a:rPr>
                  <a:t>SYN, ACK</a:t>
                </a:r>
              </a:p>
              <a:p>
                <a:r>
                  <a:rPr lang="en-US" altLang="zh-CN" sz="900" b="1">
                    <a:solidFill>
                      <a:schemeClr val="accent2"/>
                    </a:solidFill>
                    <a:latin typeface="Courier New" panose="02070309020205020404" pitchFamily="49" charset="0"/>
                  </a:rPr>
                  <a:t>0x8041</a:t>
                </a:r>
              </a:p>
            </p:txBody>
          </p:sp>
          <p:sp>
            <p:nvSpPr>
              <p:cNvPr id="58430" name="Rectangle 57"/>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31" name="Line 58"/>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2" name="Line 59"/>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3" name="Line 60"/>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4" name="Line 61"/>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5" name="Line 62"/>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6" name="Line 63"/>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23" name="Rectangle 64"/>
            <p:cNvSpPr>
              <a:spLocks noChangeArrowheads="1"/>
            </p:cNvSpPr>
            <p:nvPr/>
          </p:nvSpPr>
          <p:spPr bwMode="auto">
            <a:xfrm>
              <a:off x="4310" y="1899"/>
              <a:ext cx="116" cy="33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cxnSp>
          <p:nvCxnSpPr>
            <p:cNvPr id="58424" name="AutoShape 65"/>
            <p:cNvCxnSpPr>
              <a:cxnSpLocks noChangeShapeType="1"/>
              <a:stCxn id="58423" idx="2"/>
              <a:endCxn id="58430" idx="0"/>
            </p:cNvCxnSpPr>
            <p:nvPr/>
          </p:nvCxnSpPr>
          <p:spPr bwMode="auto">
            <a:xfrm rot="5400000">
              <a:off x="4125" y="2448"/>
              <a:ext cx="462" cy="24"/>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25" name="Line 66"/>
            <p:cNvSpPr>
              <a:spLocks noChangeShapeType="1"/>
            </p:cNvSpPr>
            <p:nvPr/>
          </p:nvSpPr>
          <p:spPr bwMode="auto">
            <a:xfrm flipH="1">
              <a:off x="3936" y="2064"/>
              <a:ext cx="336"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6" name="Oval 67"/>
            <p:cNvSpPr>
              <a:spLocks noChangeArrowheads="1"/>
            </p:cNvSpPr>
            <p:nvPr/>
          </p:nvSpPr>
          <p:spPr bwMode="auto">
            <a:xfrm>
              <a:off x="4176" y="2112"/>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3</a:t>
              </a:r>
              <a:endParaRPr lang="en-US" altLang="zh-CN" sz="1800" b="1">
                <a:solidFill>
                  <a:schemeClr val="tx1"/>
                </a:solidFill>
              </a:endParaRPr>
            </a:p>
          </p:txBody>
        </p:sp>
        <p:sp>
          <p:nvSpPr>
            <p:cNvPr id="58427" name="Text Box 68"/>
            <p:cNvSpPr txBox="1">
              <a:spLocks noChangeArrowheads="1"/>
            </p:cNvSpPr>
            <p:nvPr/>
          </p:nvSpPr>
          <p:spPr bwMode="auto">
            <a:xfrm>
              <a:off x="3888" y="3216"/>
              <a:ext cx="1344"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600">
                  <a:solidFill>
                    <a:schemeClr val="tx1"/>
                  </a:solidFill>
                </a:rPr>
                <a:t>3. </a:t>
              </a:r>
              <a:r>
                <a:rPr lang="zh-CN" altLang="en-US" sz="1600">
                  <a:solidFill>
                    <a:schemeClr val="tx1"/>
                  </a:solidFill>
                </a:rPr>
                <a:t>服务器响应</a:t>
              </a:r>
              <a:r>
                <a:rPr lang="en-US" altLang="zh-CN" sz="1600">
                  <a:solidFill>
                    <a:schemeClr val="tx1"/>
                  </a:solidFill>
                </a:rPr>
                <a:t>SYN ACK</a:t>
              </a:r>
              <a:r>
                <a:rPr lang="zh-CN" altLang="en-US" sz="1600">
                  <a:solidFill>
                    <a:schemeClr val="tx1"/>
                  </a:solidFill>
                </a:rPr>
                <a:t>报文，该报文被发送到</a:t>
              </a:r>
              <a:r>
                <a:rPr lang="en-US" altLang="zh-CN" sz="1600">
                  <a:solidFill>
                    <a:schemeClr val="tx1"/>
                  </a:solidFill>
                </a:rPr>
                <a:t>NAT </a:t>
              </a:r>
              <a:r>
                <a:rPr lang="zh-CN" altLang="en-US" sz="1600">
                  <a:solidFill>
                    <a:schemeClr val="tx1"/>
                  </a:solidFill>
                </a:rPr>
                <a:t>网关的</a:t>
              </a:r>
              <a:r>
                <a:rPr lang="en-US" altLang="zh-CN" sz="1600">
                  <a:solidFill>
                    <a:schemeClr val="tx1"/>
                  </a:solidFill>
                </a:rPr>
                <a:t>IP</a:t>
              </a:r>
              <a:r>
                <a:rPr lang="zh-CN" altLang="en-US" sz="1200" b="1">
                  <a:solidFill>
                    <a:schemeClr val="tx1"/>
                  </a:solidFill>
                </a:rPr>
                <a:t>地址 </a:t>
              </a:r>
            </a:p>
          </p:txBody>
        </p:sp>
      </p:grpSp>
      <p:sp>
        <p:nvSpPr>
          <p:cNvPr id="1897541" name="Text Box 69"/>
          <p:cNvSpPr txBox="1">
            <a:spLocks noChangeArrowheads="1"/>
          </p:cNvSpPr>
          <p:nvPr/>
        </p:nvSpPr>
        <p:spPr bwMode="auto">
          <a:xfrm>
            <a:off x="4470400" y="4597401"/>
            <a:ext cx="3170740"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     Client              Server</a:t>
            </a:r>
          </a:p>
          <a:p>
            <a:r>
              <a:rPr lang="en-US" altLang="zh-CN" sz="900" b="1" u="sng">
                <a:solidFill>
                  <a:schemeClr val="tx1"/>
                </a:solidFill>
                <a:latin typeface="Courier New" panose="02070309020205020404" pitchFamily="49" charset="0"/>
              </a:rPr>
              <a:t>  IPAddr   Port      IPAddr    Port   NATPort </a:t>
            </a:r>
            <a:endParaRPr lang="en-US" altLang="zh-CN" sz="900" b="1">
              <a:solidFill>
                <a:schemeClr val="tx1"/>
              </a:solidFill>
              <a:latin typeface="Courier New" panose="02070309020205020404" pitchFamily="49" charset="0"/>
            </a:endParaRPr>
          </a:p>
          <a:p>
            <a:r>
              <a:rPr lang="en-US" altLang="zh-CN" sz="900" b="1">
                <a:solidFill>
                  <a:schemeClr val="tx1"/>
                </a:solidFill>
                <a:latin typeface="Courier New" panose="02070309020205020404" pitchFamily="49" charset="0"/>
              </a:rPr>
              <a:t>10.0.0.3   1049   128.32.32.68  80     40960</a:t>
            </a:r>
          </a:p>
          <a:p>
            <a:r>
              <a:rPr lang="en-US" altLang="zh-CN" sz="900" b="1">
                <a:solidFill>
                  <a:schemeClr val="tx1"/>
                </a:solidFill>
                <a:latin typeface="Courier New" panose="02070309020205020404" pitchFamily="49" charset="0"/>
              </a:rPr>
              <a:t>  . . .     ..        . . .     ..      . .</a:t>
            </a:r>
          </a:p>
          <a:p>
            <a:endParaRPr lang="en-US" altLang="zh-CN" sz="900" b="1">
              <a:solidFill>
                <a:schemeClr val="tx1"/>
              </a:solidFill>
              <a:latin typeface="Courier New" panose="02070309020205020404" pitchFamily="49" charset="0"/>
            </a:endParaRPr>
          </a:p>
        </p:txBody>
      </p:sp>
      <p:sp>
        <p:nvSpPr>
          <p:cNvPr id="58386" name="Rectangle 70"/>
          <p:cNvSpPr>
            <a:spLocks noChangeArrowheads="1"/>
          </p:cNvSpPr>
          <p:nvPr/>
        </p:nvSpPr>
        <p:spPr bwMode="auto">
          <a:xfrm>
            <a:off x="4470400" y="4678690"/>
            <a:ext cx="3124200" cy="523220"/>
          </a:xfrm>
          <a:prstGeom prst="rect">
            <a:avLst/>
          </a:prstGeom>
          <a:noFill/>
          <a:ln w="127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387" name="Text Box 71"/>
          <p:cNvSpPr txBox="1">
            <a:spLocks noChangeArrowheads="1"/>
          </p:cNvSpPr>
          <p:nvPr/>
        </p:nvSpPr>
        <p:spPr bwMode="auto">
          <a:xfrm>
            <a:off x="5003800" y="4292600"/>
            <a:ext cx="17160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 Translation Table</a:t>
            </a:r>
          </a:p>
        </p:txBody>
      </p:sp>
      <p:cxnSp>
        <p:nvCxnSpPr>
          <p:cNvPr id="58388" name="AutoShape 72"/>
          <p:cNvCxnSpPr>
            <a:cxnSpLocks noChangeShapeType="1"/>
            <a:stCxn id="58381" idx="2"/>
            <a:endCxn id="58386" idx="1"/>
          </p:cNvCxnSpPr>
          <p:nvPr/>
        </p:nvCxnSpPr>
        <p:spPr bwMode="auto">
          <a:xfrm rot="5400000">
            <a:off x="4121944" y="4177506"/>
            <a:ext cx="1111250" cy="414338"/>
          </a:xfrm>
          <a:prstGeom prst="curvedConnector4">
            <a:avLst>
              <a:gd name="adj1" fmla="val 38229"/>
              <a:gd name="adj2" fmla="val 155172"/>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cxnSp>
      <p:grpSp>
        <p:nvGrpSpPr>
          <p:cNvPr id="9" name="Group 73"/>
          <p:cNvGrpSpPr>
            <a:grpSpLocks/>
          </p:cNvGrpSpPr>
          <p:nvPr/>
        </p:nvGrpSpPr>
        <p:grpSpPr bwMode="auto">
          <a:xfrm>
            <a:off x="2413000" y="1701800"/>
            <a:ext cx="3124200" cy="1938338"/>
            <a:chOff x="576" y="816"/>
            <a:chExt cx="1968" cy="1221"/>
          </a:xfrm>
        </p:grpSpPr>
        <p:grpSp>
          <p:nvGrpSpPr>
            <p:cNvPr id="58407" name="Group 74"/>
            <p:cNvGrpSpPr>
              <a:grpSpLocks/>
            </p:cNvGrpSpPr>
            <p:nvPr/>
          </p:nvGrpSpPr>
          <p:grpSpPr bwMode="auto">
            <a:xfrm>
              <a:off x="576" y="864"/>
              <a:ext cx="918" cy="611"/>
              <a:chOff x="384" y="1632"/>
              <a:chExt cx="918" cy="611"/>
            </a:xfrm>
          </p:grpSpPr>
          <p:sp>
            <p:nvSpPr>
              <p:cNvPr id="58413" name="Text Box 75"/>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14" name="Text Box 76"/>
              <p:cNvSpPr txBox="1">
                <a:spLocks noChangeArrowheads="1"/>
              </p:cNvSpPr>
              <p:nvPr/>
            </p:nvSpPr>
            <p:spPr bwMode="auto">
              <a:xfrm>
                <a:off x="720" y="1632"/>
                <a:ext cx="521"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rgbClr val="0000FF"/>
                    </a:solidFill>
                    <a:latin typeface="Courier New" panose="02070309020205020404" pitchFamily="49" charset="0"/>
                  </a:rPr>
                  <a:t>TCP</a:t>
                </a:r>
              </a:p>
              <a:p>
                <a:r>
                  <a:rPr lang="en-US" altLang="zh-CN" sz="900" b="1">
                    <a:solidFill>
                      <a:srgbClr val="0000FF"/>
                    </a:solidFill>
                    <a:latin typeface="Courier New" panose="02070309020205020404" pitchFamily="49" charset="0"/>
                  </a:rPr>
                  <a:t>10.0.0.3</a:t>
                </a:r>
              </a:p>
              <a:p>
                <a:r>
                  <a:rPr lang="en-US" altLang="zh-CN" sz="900" b="1">
                    <a:solidFill>
                      <a:srgbClr val="0000FF"/>
                    </a:solidFill>
                    <a:latin typeface="Courier New" panose="02070309020205020404" pitchFamily="49" charset="0"/>
                  </a:rPr>
                  <a:t>128.32.32.68</a:t>
                </a:r>
              </a:p>
              <a:p>
                <a:r>
                  <a:rPr lang="en-US" altLang="zh-CN" sz="900" b="1">
                    <a:solidFill>
                      <a:srgbClr val="0000FF"/>
                    </a:solidFill>
                    <a:latin typeface="Courier New" panose="02070309020205020404" pitchFamily="49" charset="0"/>
                  </a:rPr>
                  <a:t>1049</a:t>
                </a:r>
              </a:p>
              <a:p>
                <a:r>
                  <a:rPr lang="en-US" altLang="zh-CN" sz="900" b="1">
                    <a:solidFill>
                      <a:srgbClr val="0000FF"/>
                    </a:solidFill>
                    <a:latin typeface="Courier New" panose="02070309020205020404" pitchFamily="49" charset="0"/>
                  </a:rPr>
                  <a:t>80</a:t>
                </a:r>
              </a:p>
              <a:p>
                <a:r>
                  <a:rPr lang="en-US" altLang="zh-CN" sz="900" b="1">
                    <a:solidFill>
                      <a:srgbClr val="0000FF"/>
                    </a:solidFill>
                    <a:latin typeface="Courier New" panose="02070309020205020404" pitchFamily="49" charset="0"/>
                  </a:rPr>
                  <a:t>SYN</a:t>
                </a:r>
              </a:p>
              <a:p>
                <a:r>
                  <a:rPr lang="en-US" altLang="zh-CN" sz="900" b="1">
                    <a:solidFill>
                      <a:srgbClr val="0000FF"/>
                    </a:solidFill>
                    <a:latin typeface="Courier New" panose="02070309020205020404" pitchFamily="49" charset="0"/>
                  </a:rPr>
                  <a:t>0x1636</a:t>
                </a:r>
              </a:p>
            </p:txBody>
          </p:sp>
          <p:sp>
            <p:nvSpPr>
              <p:cNvPr id="58415" name="Rectangle 77"/>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16" name="Line 78"/>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7" name="Line 79"/>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8" name="Line 80"/>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9" name="Line 81"/>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0" name="Line 82"/>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1" name="Line 83"/>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08" name="Rectangle 84"/>
            <p:cNvSpPr>
              <a:spLocks noChangeArrowheads="1"/>
            </p:cNvSpPr>
            <p:nvPr/>
          </p:nvSpPr>
          <p:spPr bwMode="auto">
            <a:xfrm>
              <a:off x="998" y="1707"/>
              <a:ext cx="116" cy="33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09" name="Line 85"/>
            <p:cNvSpPr>
              <a:spLocks noChangeShapeType="1"/>
            </p:cNvSpPr>
            <p:nvPr/>
          </p:nvSpPr>
          <p:spPr bwMode="auto">
            <a:xfrm>
              <a:off x="1152" y="1872"/>
              <a:ext cx="721"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cxnSp>
          <p:nvCxnSpPr>
            <p:cNvPr id="58410" name="AutoShape 86"/>
            <p:cNvCxnSpPr>
              <a:cxnSpLocks noChangeShapeType="1"/>
              <a:stCxn id="58408" idx="0"/>
              <a:endCxn id="58415" idx="2"/>
            </p:cNvCxnSpPr>
            <p:nvPr/>
          </p:nvCxnSpPr>
          <p:spPr bwMode="auto">
            <a:xfrm rot="16200000" flipV="1">
              <a:off x="861" y="1512"/>
              <a:ext cx="366" cy="24"/>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11" name="Oval 87"/>
            <p:cNvSpPr>
              <a:spLocks noChangeArrowheads="1"/>
            </p:cNvSpPr>
            <p:nvPr/>
          </p:nvSpPr>
          <p:spPr bwMode="auto">
            <a:xfrm>
              <a:off x="864" y="1632"/>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1</a:t>
              </a:r>
              <a:endParaRPr lang="en-US" altLang="zh-CN" sz="1800" b="1">
                <a:solidFill>
                  <a:schemeClr val="tx1"/>
                </a:solidFill>
              </a:endParaRPr>
            </a:p>
          </p:txBody>
        </p:sp>
        <p:sp>
          <p:nvSpPr>
            <p:cNvPr id="58412" name="Text Box 88"/>
            <p:cNvSpPr txBox="1">
              <a:spLocks noChangeArrowheads="1"/>
            </p:cNvSpPr>
            <p:nvPr/>
          </p:nvSpPr>
          <p:spPr bwMode="auto">
            <a:xfrm>
              <a:off x="1536" y="816"/>
              <a:ext cx="1008"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 </a:t>
              </a:r>
              <a:r>
                <a:rPr lang="zh-CN" altLang="en-US" sz="1400">
                  <a:solidFill>
                    <a:schemeClr val="tx1"/>
                  </a:solidFill>
                </a:rPr>
                <a:t>主机希望与</a:t>
              </a:r>
              <a:r>
                <a:rPr lang="en-US" altLang="zh-CN" sz="1400">
                  <a:solidFill>
                    <a:schemeClr val="tx1"/>
                  </a:solidFill>
                </a:rPr>
                <a:t>web </a:t>
              </a:r>
              <a:r>
                <a:rPr lang="zh-CN" altLang="en-US" sz="1400">
                  <a:solidFill>
                    <a:schemeClr val="tx1"/>
                  </a:solidFill>
                </a:rPr>
                <a:t>服务器 </a:t>
              </a:r>
              <a:r>
                <a:rPr lang="en-US" altLang="zh-CN" sz="1400">
                  <a:solidFill>
                    <a:schemeClr val="tx1"/>
                  </a:solidFill>
                </a:rPr>
                <a:t>128.32.32.68</a:t>
              </a:r>
              <a:r>
                <a:rPr lang="zh-CN" altLang="en-US" sz="1400">
                  <a:solidFill>
                    <a:schemeClr val="tx1"/>
                  </a:solidFill>
                </a:rPr>
                <a:t>建立连接</a:t>
              </a:r>
              <a:r>
                <a:rPr lang="en-US" altLang="zh-CN" sz="1400">
                  <a:solidFill>
                    <a:schemeClr val="tx1"/>
                  </a:solidFill>
                </a:rPr>
                <a:t>,</a:t>
              </a:r>
              <a:r>
                <a:rPr lang="zh-CN" altLang="en-US" sz="1400">
                  <a:solidFill>
                    <a:schemeClr val="tx1"/>
                  </a:solidFill>
                </a:rPr>
                <a:t>它使用它的内部地址</a:t>
              </a:r>
              <a:r>
                <a:rPr lang="en-US" altLang="zh-CN" sz="1400">
                  <a:solidFill>
                    <a:schemeClr val="tx1"/>
                  </a:solidFill>
                </a:rPr>
                <a:t>10.0.0.3</a:t>
              </a:r>
              <a:r>
                <a:rPr lang="zh-CN" altLang="en-US" sz="1400">
                  <a:solidFill>
                    <a:schemeClr val="tx1"/>
                  </a:solidFill>
                </a:rPr>
                <a:t>发送</a:t>
              </a:r>
              <a:r>
                <a:rPr lang="en-US" altLang="zh-CN" sz="1400">
                  <a:solidFill>
                    <a:schemeClr val="tx1"/>
                  </a:solidFill>
                </a:rPr>
                <a:t>SYN</a:t>
              </a:r>
              <a:r>
                <a:rPr lang="zh-CN" altLang="en-US" sz="1400">
                  <a:solidFill>
                    <a:schemeClr val="tx1"/>
                  </a:solidFill>
                </a:rPr>
                <a:t>报文</a:t>
              </a:r>
            </a:p>
          </p:txBody>
        </p:sp>
      </p:grpSp>
      <p:grpSp>
        <p:nvGrpSpPr>
          <p:cNvPr id="11" name="Group 89"/>
          <p:cNvGrpSpPr>
            <a:grpSpLocks/>
          </p:cNvGrpSpPr>
          <p:nvPr/>
        </p:nvGrpSpPr>
        <p:grpSpPr bwMode="auto">
          <a:xfrm>
            <a:off x="2489200" y="3421063"/>
            <a:ext cx="2057400" cy="3309938"/>
            <a:chOff x="624" y="1899"/>
            <a:chExt cx="1296" cy="2085"/>
          </a:xfrm>
        </p:grpSpPr>
        <p:grpSp>
          <p:nvGrpSpPr>
            <p:cNvPr id="58392" name="Group 90"/>
            <p:cNvGrpSpPr>
              <a:grpSpLocks/>
            </p:cNvGrpSpPr>
            <p:nvPr/>
          </p:nvGrpSpPr>
          <p:grpSpPr bwMode="auto">
            <a:xfrm>
              <a:off x="624" y="2544"/>
              <a:ext cx="918" cy="611"/>
              <a:chOff x="1056" y="2448"/>
              <a:chExt cx="918" cy="611"/>
            </a:xfrm>
          </p:grpSpPr>
          <p:sp>
            <p:nvSpPr>
              <p:cNvPr id="58398" name="Text Box 91"/>
              <p:cNvSpPr txBox="1">
                <a:spLocks noChangeArrowheads="1"/>
              </p:cNvSpPr>
              <p:nvPr/>
            </p:nvSpPr>
            <p:spPr bwMode="auto">
              <a:xfrm>
                <a:off x="1104" y="2448"/>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399" name="Text Box 92"/>
              <p:cNvSpPr txBox="1">
                <a:spLocks noChangeArrowheads="1"/>
              </p:cNvSpPr>
              <p:nvPr/>
            </p:nvSpPr>
            <p:spPr bwMode="auto">
              <a:xfrm>
                <a:off x="1392" y="2448"/>
                <a:ext cx="56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accent2"/>
                    </a:solidFill>
                    <a:latin typeface="Courier New" panose="02070309020205020404" pitchFamily="49" charset="0"/>
                  </a:rPr>
                  <a:t>TCP</a:t>
                </a:r>
              </a:p>
              <a:p>
                <a:r>
                  <a:rPr lang="en-US" altLang="zh-CN" sz="900" b="1">
                    <a:solidFill>
                      <a:schemeClr val="accent2"/>
                    </a:solidFill>
                    <a:latin typeface="Courier New" panose="02070309020205020404" pitchFamily="49" charset="0"/>
                  </a:rPr>
                  <a:t>128.32.32.68</a:t>
                </a:r>
                <a:r>
                  <a:rPr lang="en-US" altLang="zh-CN" sz="900" b="1">
                    <a:solidFill>
                      <a:srgbClr val="0000FF"/>
                    </a:solidFill>
                    <a:latin typeface="Courier New" panose="02070309020205020404" pitchFamily="49" charset="0"/>
                  </a:rPr>
                  <a:t> </a:t>
                </a:r>
              </a:p>
              <a:p>
                <a:r>
                  <a:rPr lang="en-US" altLang="zh-CN" sz="900" b="1">
                    <a:solidFill>
                      <a:schemeClr val="hlink"/>
                    </a:solidFill>
                    <a:latin typeface="Courier New" panose="02070309020205020404" pitchFamily="49" charset="0"/>
                  </a:rPr>
                  <a:t>10.0.0.3</a:t>
                </a:r>
              </a:p>
              <a:p>
                <a:r>
                  <a:rPr lang="en-US" altLang="zh-CN" sz="900" b="1">
                    <a:solidFill>
                      <a:schemeClr val="accent2"/>
                    </a:solidFill>
                    <a:latin typeface="Courier New" panose="02070309020205020404" pitchFamily="49" charset="0"/>
                  </a:rPr>
                  <a:t>80</a:t>
                </a:r>
              </a:p>
              <a:p>
                <a:r>
                  <a:rPr lang="en-US" altLang="zh-CN" sz="900" b="1">
                    <a:solidFill>
                      <a:schemeClr val="hlink"/>
                    </a:solidFill>
                    <a:latin typeface="Courier New" panose="02070309020205020404" pitchFamily="49" charset="0"/>
                  </a:rPr>
                  <a:t>1049</a:t>
                </a:r>
              </a:p>
              <a:p>
                <a:r>
                  <a:rPr lang="en-US" altLang="zh-CN" sz="900" b="1">
                    <a:solidFill>
                      <a:schemeClr val="accent2"/>
                    </a:solidFill>
                    <a:latin typeface="Courier New" panose="02070309020205020404" pitchFamily="49" charset="0"/>
                  </a:rPr>
                  <a:t>SYN, ACK</a:t>
                </a:r>
              </a:p>
              <a:p>
                <a:r>
                  <a:rPr lang="en-US" altLang="zh-CN" sz="900" b="1">
                    <a:solidFill>
                      <a:schemeClr val="hlink"/>
                    </a:solidFill>
                    <a:latin typeface="Courier New" panose="02070309020205020404" pitchFamily="49" charset="0"/>
                  </a:rPr>
                  <a:t>0x7841</a:t>
                </a:r>
              </a:p>
            </p:txBody>
          </p:sp>
          <p:sp>
            <p:nvSpPr>
              <p:cNvPr id="58400" name="Rectangle 93"/>
              <p:cNvSpPr>
                <a:spLocks noChangeArrowheads="1"/>
              </p:cNvSpPr>
              <p:nvPr/>
            </p:nvSpPr>
            <p:spPr bwMode="auto">
              <a:xfrm>
                <a:off x="1056" y="2595"/>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01" name="Line 94"/>
              <p:cNvSpPr>
                <a:spLocks noChangeShapeType="1"/>
              </p:cNvSpPr>
              <p:nvPr/>
            </p:nvSpPr>
            <p:spPr bwMode="auto">
              <a:xfrm>
                <a:off x="1062" y="253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2" name="Line 95"/>
              <p:cNvSpPr>
                <a:spLocks noChangeShapeType="1"/>
              </p:cNvSpPr>
              <p:nvPr/>
            </p:nvSpPr>
            <p:spPr bwMode="auto">
              <a:xfrm>
                <a:off x="1056" y="2619"/>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3" name="Line 96"/>
              <p:cNvSpPr>
                <a:spLocks noChangeShapeType="1"/>
              </p:cNvSpPr>
              <p:nvPr/>
            </p:nvSpPr>
            <p:spPr bwMode="auto">
              <a:xfrm>
                <a:off x="1056" y="270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4" name="Line 97"/>
              <p:cNvSpPr>
                <a:spLocks noChangeShapeType="1"/>
              </p:cNvSpPr>
              <p:nvPr/>
            </p:nvSpPr>
            <p:spPr bwMode="auto">
              <a:xfrm>
                <a:off x="1056" y="279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5" name="Line 98"/>
              <p:cNvSpPr>
                <a:spLocks noChangeShapeType="1"/>
              </p:cNvSpPr>
              <p:nvPr/>
            </p:nvSpPr>
            <p:spPr bwMode="auto">
              <a:xfrm>
                <a:off x="1056" y="288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6" name="Line 99"/>
              <p:cNvSpPr>
                <a:spLocks noChangeShapeType="1"/>
              </p:cNvSpPr>
              <p:nvPr/>
            </p:nvSpPr>
            <p:spPr bwMode="auto">
              <a:xfrm>
                <a:off x="1059" y="296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393" name="Rectangle 100"/>
            <p:cNvSpPr>
              <a:spLocks noChangeArrowheads="1"/>
            </p:cNvSpPr>
            <p:nvPr/>
          </p:nvSpPr>
          <p:spPr bwMode="auto">
            <a:xfrm>
              <a:off x="1766" y="1899"/>
              <a:ext cx="116" cy="33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394" name="Line 101"/>
            <p:cNvSpPr>
              <a:spLocks noChangeShapeType="1"/>
            </p:cNvSpPr>
            <p:nvPr/>
          </p:nvSpPr>
          <p:spPr bwMode="auto">
            <a:xfrm flipH="1">
              <a:off x="1008" y="2064"/>
              <a:ext cx="72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395" name="Oval 102"/>
            <p:cNvSpPr>
              <a:spLocks noChangeArrowheads="1"/>
            </p:cNvSpPr>
            <p:nvPr/>
          </p:nvSpPr>
          <p:spPr bwMode="auto">
            <a:xfrm>
              <a:off x="1625" y="2154"/>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4</a:t>
              </a:r>
              <a:endParaRPr lang="en-US" altLang="zh-CN" sz="1800" b="1">
                <a:solidFill>
                  <a:schemeClr val="tx1"/>
                </a:solidFill>
              </a:endParaRPr>
            </a:p>
          </p:txBody>
        </p:sp>
        <p:sp>
          <p:nvSpPr>
            <p:cNvPr id="58396" name="Text Box 103"/>
            <p:cNvSpPr txBox="1">
              <a:spLocks noChangeArrowheads="1"/>
            </p:cNvSpPr>
            <p:nvPr/>
          </p:nvSpPr>
          <p:spPr bwMode="auto">
            <a:xfrm>
              <a:off x="624" y="3216"/>
              <a:ext cx="129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4. NAT </a:t>
              </a:r>
              <a:r>
                <a:rPr lang="zh-CN" altLang="en-US" sz="1400">
                  <a:solidFill>
                    <a:schemeClr val="tx1"/>
                  </a:solidFill>
                </a:rPr>
                <a:t>网关查找地址转换表</a:t>
              </a:r>
              <a:r>
                <a:rPr lang="en-US" altLang="zh-CN" sz="1400">
                  <a:solidFill>
                    <a:schemeClr val="tx1"/>
                  </a:solidFill>
                </a:rPr>
                <a:t>,</a:t>
              </a:r>
              <a:r>
                <a:rPr lang="zh-CN" altLang="en-US" sz="1400">
                  <a:solidFill>
                    <a:schemeClr val="tx1"/>
                  </a:solidFill>
                </a:rPr>
                <a:t>找到匹配的源和目的地址和端口号</a:t>
              </a:r>
              <a:r>
                <a:rPr lang="en-US" altLang="zh-CN" sz="1400">
                  <a:solidFill>
                    <a:schemeClr val="tx1"/>
                  </a:solidFill>
                </a:rPr>
                <a:t>,</a:t>
              </a:r>
              <a:r>
                <a:rPr lang="zh-CN" altLang="en-US" sz="1400">
                  <a:solidFill>
                    <a:schemeClr val="tx1"/>
                  </a:solidFill>
                </a:rPr>
                <a:t>利用内部</a:t>
              </a:r>
              <a:r>
                <a:rPr lang="en-US" altLang="zh-CN" sz="1400">
                  <a:solidFill>
                    <a:schemeClr val="tx1"/>
                  </a:solidFill>
                </a:rPr>
                <a:t>IP</a:t>
              </a:r>
              <a:r>
                <a:rPr lang="zh-CN" altLang="en-US" sz="1400">
                  <a:solidFill>
                    <a:schemeClr val="tx1"/>
                  </a:solidFill>
                </a:rPr>
                <a:t>地址改写报文</a:t>
              </a:r>
              <a:r>
                <a:rPr lang="zh-CN" altLang="en-US" sz="1200" b="1">
                  <a:solidFill>
                    <a:schemeClr val="tx1"/>
                  </a:solidFill>
                </a:rPr>
                <a:t> </a:t>
              </a:r>
            </a:p>
          </p:txBody>
        </p:sp>
        <p:sp>
          <p:nvSpPr>
            <p:cNvPr id="58397" name="Freeform 104"/>
            <p:cNvSpPr>
              <a:spLocks/>
            </p:cNvSpPr>
            <p:nvPr/>
          </p:nvSpPr>
          <p:spPr bwMode="auto">
            <a:xfrm>
              <a:off x="1152" y="2212"/>
              <a:ext cx="116" cy="233"/>
            </a:xfrm>
            <a:custGeom>
              <a:avLst/>
              <a:gdLst>
                <a:gd name="T0" fmla="*/ 672 w 672"/>
                <a:gd name="T1" fmla="*/ 0 h 432"/>
                <a:gd name="T2" fmla="*/ 432 w 672"/>
                <a:gd name="T3" fmla="*/ 48 h 432"/>
                <a:gd name="T4" fmla="*/ 192 w 672"/>
                <a:gd name="T5" fmla="*/ 96 h 432"/>
                <a:gd name="T6" fmla="*/ 48 w 672"/>
                <a:gd name="T7" fmla="*/ 240 h 432"/>
                <a:gd name="T8" fmla="*/ 0 w 672"/>
                <a:gd name="T9" fmla="*/ 432 h 432"/>
                <a:gd name="T10" fmla="*/ 0 60000 65536"/>
                <a:gd name="T11" fmla="*/ 0 60000 65536"/>
                <a:gd name="T12" fmla="*/ 0 60000 65536"/>
                <a:gd name="T13" fmla="*/ 0 60000 65536"/>
                <a:gd name="T14" fmla="*/ 0 60000 65536"/>
                <a:gd name="T15" fmla="*/ 0 w 672"/>
                <a:gd name="T16" fmla="*/ 0 h 432"/>
                <a:gd name="T17" fmla="*/ 672 w 672"/>
                <a:gd name="T18" fmla="*/ 432 h 432"/>
              </a:gdLst>
              <a:ahLst/>
              <a:cxnLst>
                <a:cxn ang="T10">
                  <a:pos x="T0" y="T1"/>
                </a:cxn>
                <a:cxn ang="T11">
                  <a:pos x="T2" y="T3"/>
                </a:cxn>
                <a:cxn ang="T12">
                  <a:pos x="T4" y="T5"/>
                </a:cxn>
                <a:cxn ang="T13">
                  <a:pos x="T6" y="T7"/>
                </a:cxn>
                <a:cxn ang="T14">
                  <a:pos x="T8" y="T9"/>
                </a:cxn>
              </a:cxnLst>
              <a:rect l="T15" t="T16" r="T17" b="T18"/>
              <a:pathLst>
                <a:path w="672" h="432">
                  <a:moveTo>
                    <a:pt x="672" y="0"/>
                  </a:moveTo>
                  <a:cubicBezTo>
                    <a:pt x="592" y="16"/>
                    <a:pt x="512" y="32"/>
                    <a:pt x="432" y="48"/>
                  </a:cubicBezTo>
                  <a:cubicBezTo>
                    <a:pt x="352" y="64"/>
                    <a:pt x="256" y="64"/>
                    <a:pt x="192" y="96"/>
                  </a:cubicBezTo>
                  <a:cubicBezTo>
                    <a:pt x="128" y="128"/>
                    <a:pt x="80" y="184"/>
                    <a:pt x="48" y="240"/>
                  </a:cubicBezTo>
                  <a:cubicBezTo>
                    <a:pt x="16" y="296"/>
                    <a:pt x="8" y="364"/>
                    <a:pt x="0" y="432"/>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sp>
        <p:nvSpPr>
          <p:cNvPr id="58391" name="Rectangle 105"/>
          <p:cNvSpPr>
            <a:spLocks noGrp="1" noChangeArrowheads="1"/>
          </p:cNvSpPr>
          <p:nvPr>
            <p:ph type="title"/>
          </p:nvPr>
        </p:nvSpPr>
        <p:spPr bwMode="auto">
          <a:xfrm>
            <a:off x="2209800" y="396875"/>
            <a:ext cx="7772400" cy="579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TCP NAT </a:t>
            </a:r>
            <a:r>
              <a:rPr lang="zh-CN" altLang="en-US" sz="3600">
                <a:solidFill>
                  <a:schemeClr val="hlink"/>
                </a:solidFill>
                <a:ea typeface="华文行楷" panose="02010800040101010101" pitchFamily="2" charset="-122"/>
              </a:rPr>
              <a:t>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975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8975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89750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7541"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8499" name="Rectangle 3"/>
          <p:cNvSpPr>
            <a:spLocks noGrp="1" noChangeArrowheads="1"/>
          </p:cNvSpPr>
          <p:nvPr>
            <p:ph type="body" idx="1"/>
          </p:nvPr>
        </p:nvSpPr>
        <p:spPr bwMode="auto">
          <a:xfrm>
            <a:off x="2359025" y="5086351"/>
            <a:ext cx="7772400" cy="123666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a:t>web </a:t>
            </a:r>
            <a:r>
              <a:rPr lang="zh-CN" altLang="en-US"/>
              <a:t>服务器（对外）只用一个</a:t>
            </a:r>
            <a:r>
              <a:rPr lang="en-US" altLang="zh-CN"/>
              <a:t>IP</a:t>
            </a:r>
            <a:r>
              <a:rPr lang="zh-CN" altLang="en-US"/>
              <a:t>地址</a:t>
            </a:r>
          </a:p>
          <a:p>
            <a:pPr eaLnBrk="1" hangingPunct="1"/>
            <a:r>
              <a:rPr lang="zh-CN" altLang="en-US"/>
              <a:t>把负载重定向到内部的多个服务器</a:t>
            </a:r>
          </a:p>
        </p:txBody>
      </p:sp>
      <p:sp>
        <p:nvSpPr>
          <p:cNvPr id="59395" name="Freeform 4"/>
          <p:cNvSpPr>
            <a:spLocks/>
          </p:cNvSpPr>
          <p:nvPr/>
        </p:nvSpPr>
        <p:spPr bwMode="auto">
          <a:xfrm>
            <a:off x="6380163" y="3134797"/>
            <a:ext cx="36576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grpSp>
        <p:nvGrpSpPr>
          <p:cNvPr id="59396" name="Group 5"/>
          <p:cNvGrpSpPr>
            <a:grpSpLocks/>
          </p:cNvGrpSpPr>
          <p:nvPr/>
        </p:nvGrpSpPr>
        <p:grpSpPr bwMode="auto">
          <a:xfrm>
            <a:off x="7446964" y="1935165"/>
            <a:ext cx="746125" cy="636588"/>
            <a:chOff x="3168" y="1240"/>
            <a:chExt cx="470" cy="401"/>
          </a:xfrm>
        </p:grpSpPr>
        <p:sp>
          <p:nvSpPr>
            <p:cNvPr id="59455" name="Freeform 6"/>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56" name="Line 7"/>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7" name="Line 8"/>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8" name="Line 9"/>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9" name="Line 10"/>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60" name="Freeform 11"/>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61" name="Text Box 12"/>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62" name="Freeform 13"/>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7" name="Group 14"/>
          <p:cNvGrpSpPr>
            <a:grpSpLocks/>
          </p:cNvGrpSpPr>
          <p:nvPr/>
        </p:nvGrpSpPr>
        <p:grpSpPr bwMode="auto">
          <a:xfrm>
            <a:off x="7446964" y="2544765"/>
            <a:ext cx="746125" cy="636588"/>
            <a:chOff x="3168" y="1240"/>
            <a:chExt cx="470" cy="401"/>
          </a:xfrm>
        </p:grpSpPr>
        <p:sp>
          <p:nvSpPr>
            <p:cNvPr id="59447" name="Freeform 15"/>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8" name="Line 16"/>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9" name="Line 17"/>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0" name="Line 18"/>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1" name="Line 19"/>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2" name="Freeform 20"/>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53" name="Text Box 21"/>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54" name="Freeform 22"/>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8" name="Group 23"/>
          <p:cNvGrpSpPr>
            <a:grpSpLocks/>
          </p:cNvGrpSpPr>
          <p:nvPr/>
        </p:nvGrpSpPr>
        <p:grpSpPr bwMode="auto">
          <a:xfrm>
            <a:off x="7446964" y="3230565"/>
            <a:ext cx="746125" cy="636588"/>
            <a:chOff x="3168" y="1240"/>
            <a:chExt cx="470" cy="401"/>
          </a:xfrm>
        </p:grpSpPr>
        <p:sp>
          <p:nvSpPr>
            <p:cNvPr id="59439" name="Freeform 24"/>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0" name="Line 25"/>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1" name="Line 26"/>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2" name="Line 27"/>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3" name="Line 28"/>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4" name="Freeform 29"/>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5" name="Text Box 30"/>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46" name="Freeform 31"/>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9" name="Group 32"/>
          <p:cNvGrpSpPr>
            <a:grpSpLocks/>
          </p:cNvGrpSpPr>
          <p:nvPr/>
        </p:nvGrpSpPr>
        <p:grpSpPr bwMode="auto">
          <a:xfrm>
            <a:off x="7446964" y="3916365"/>
            <a:ext cx="746125" cy="636588"/>
            <a:chOff x="3168" y="1240"/>
            <a:chExt cx="470" cy="401"/>
          </a:xfrm>
        </p:grpSpPr>
        <p:sp>
          <p:nvSpPr>
            <p:cNvPr id="59431" name="Freeform 33"/>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32" name="Line 34"/>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3" name="Line 35"/>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4" name="Line 36"/>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5" name="Line 37"/>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6" name="Freeform 38"/>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37" name="Text Box 39"/>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38" name="Freeform 40"/>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400" name="Group 41"/>
          <p:cNvGrpSpPr>
            <a:grpSpLocks/>
          </p:cNvGrpSpPr>
          <p:nvPr/>
        </p:nvGrpSpPr>
        <p:grpSpPr bwMode="auto">
          <a:xfrm>
            <a:off x="5541963" y="2563813"/>
            <a:ext cx="1262062" cy="1060450"/>
            <a:chOff x="2400" y="1204"/>
            <a:chExt cx="795" cy="668"/>
          </a:xfrm>
        </p:grpSpPr>
        <p:sp>
          <p:nvSpPr>
            <p:cNvPr id="59423" name="Freeform 42"/>
            <p:cNvSpPr>
              <a:spLocks/>
            </p:cNvSpPr>
            <p:nvPr/>
          </p:nvSpPr>
          <p:spPr bwMode="auto">
            <a:xfrm>
              <a:off x="2400" y="1540"/>
              <a:ext cx="116" cy="233"/>
            </a:xfrm>
            <a:custGeom>
              <a:avLst/>
              <a:gdLst>
                <a:gd name="T0" fmla="*/ 0 w 288"/>
                <a:gd name="T1" fmla="*/ 0 h 624"/>
                <a:gd name="T2" fmla="*/ 0 w 288"/>
                <a:gd name="T3" fmla="*/ 528 h 624"/>
                <a:gd name="T4" fmla="*/ 833 w 288"/>
                <a:gd name="T5" fmla="*/ 624 h 624"/>
                <a:gd name="T6" fmla="*/ 833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24" name="Line 43"/>
            <p:cNvSpPr>
              <a:spLocks noChangeShapeType="1"/>
            </p:cNvSpPr>
            <p:nvPr/>
          </p:nvSpPr>
          <p:spPr bwMode="auto">
            <a:xfrm>
              <a:off x="2400" y="1776"/>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5" name="Line 44"/>
            <p:cNvSpPr>
              <a:spLocks noChangeShapeType="1"/>
            </p:cNvSpPr>
            <p:nvPr/>
          </p:nvSpPr>
          <p:spPr bwMode="auto">
            <a:xfrm>
              <a:off x="2400" y="1680"/>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6" name="Line 45"/>
            <p:cNvSpPr>
              <a:spLocks noChangeShapeType="1"/>
            </p:cNvSpPr>
            <p:nvPr/>
          </p:nvSpPr>
          <p:spPr bwMode="auto">
            <a:xfrm>
              <a:off x="2400" y="1584"/>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7" name="Line 46"/>
            <p:cNvSpPr>
              <a:spLocks noChangeShapeType="1"/>
            </p:cNvSpPr>
            <p:nvPr/>
          </p:nvSpPr>
          <p:spPr bwMode="auto">
            <a:xfrm>
              <a:off x="2400" y="1488"/>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8" name="Freeform 47"/>
            <p:cNvSpPr>
              <a:spLocks/>
            </p:cNvSpPr>
            <p:nvPr/>
          </p:nvSpPr>
          <p:spPr bwMode="auto">
            <a:xfrm>
              <a:off x="2724" y="1516"/>
              <a:ext cx="116" cy="233"/>
            </a:xfrm>
            <a:custGeom>
              <a:avLst/>
              <a:gdLst>
                <a:gd name="T0" fmla="*/ 0 w 480"/>
                <a:gd name="T1" fmla="*/ 672 h 672"/>
                <a:gd name="T2" fmla="*/ 1361 w 480"/>
                <a:gd name="T3" fmla="*/ 528 h 672"/>
                <a:gd name="T4" fmla="*/ 1361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29" name="Text Box 48"/>
            <p:cNvSpPr txBox="1">
              <a:spLocks noChangeArrowheads="1"/>
            </p:cNvSpPr>
            <p:nvPr/>
          </p:nvSpPr>
          <p:spPr bwMode="auto">
            <a:xfrm rot="20820000">
              <a:off x="2754" y="1392"/>
              <a:ext cx="441"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a:t>
              </a:r>
            </a:p>
            <a:p>
              <a:pPr algn="ctr"/>
              <a:r>
                <a:rPr lang="en-US" altLang="zh-CN" sz="1200" b="1">
                  <a:solidFill>
                    <a:schemeClr val="tx1"/>
                  </a:solidFill>
                </a:rPr>
                <a:t>Gateway</a:t>
              </a:r>
            </a:p>
            <a:p>
              <a:pPr algn="ctr"/>
              <a:r>
                <a:rPr lang="en-US" altLang="zh-CN" sz="1200" b="1">
                  <a:solidFill>
                    <a:schemeClr val="tx1"/>
                  </a:solidFill>
                </a:rPr>
                <a:t>(Virtual</a:t>
              </a:r>
            </a:p>
            <a:p>
              <a:pPr algn="ctr"/>
              <a:r>
                <a:rPr lang="en-US" altLang="zh-CN" sz="1200" b="1">
                  <a:solidFill>
                    <a:schemeClr val="tx1"/>
                  </a:solidFill>
                </a:rPr>
                <a:t>Server)</a:t>
              </a:r>
            </a:p>
          </p:txBody>
        </p:sp>
        <p:sp>
          <p:nvSpPr>
            <p:cNvPr id="59430" name="Freeform 49"/>
            <p:cNvSpPr>
              <a:spLocks/>
            </p:cNvSpPr>
            <p:nvPr/>
          </p:nvSpPr>
          <p:spPr bwMode="auto">
            <a:xfrm>
              <a:off x="2400" y="1204"/>
              <a:ext cx="116" cy="233"/>
            </a:xfrm>
            <a:custGeom>
              <a:avLst/>
              <a:gdLst>
                <a:gd name="T0" fmla="*/ 825 w 768"/>
                <a:gd name="T1" fmla="*/ 240 h 240"/>
                <a:gd name="T2" fmla="*/ 0 w 768"/>
                <a:gd name="T3" fmla="*/ 144 h 240"/>
                <a:gd name="T4" fmla="*/ 1507 w 768"/>
                <a:gd name="T5" fmla="*/ 0 h 240"/>
                <a:gd name="T6" fmla="*/ 2195 w 768"/>
                <a:gd name="T7" fmla="*/ 96 h 240"/>
                <a:gd name="T8" fmla="*/ 825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sp>
        <p:nvSpPr>
          <p:cNvPr id="59401" name="Text Box 50"/>
          <p:cNvSpPr txBox="1">
            <a:spLocks noChangeArrowheads="1"/>
          </p:cNvSpPr>
          <p:nvPr/>
        </p:nvSpPr>
        <p:spPr bwMode="auto">
          <a:xfrm>
            <a:off x="8671270" y="2699730"/>
            <a:ext cx="913713" cy="6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600" b="1">
                <a:solidFill>
                  <a:schemeClr val="tx1"/>
                </a:solidFill>
              </a:rPr>
              <a:t>Private</a:t>
            </a:r>
          </a:p>
          <a:p>
            <a:pPr algn="ctr">
              <a:spcBef>
                <a:spcPct val="20000"/>
              </a:spcBef>
            </a:pPr>
            <a:r>
              <a:rPr lang="en-US" altLang="zh-CN" sz="1600" b="1">
                <a:solidFill>
                  <a:schemeClr val="tx1"/>
                </a:solidFill>
              </a:rPr>
              <a:t>Intranet</a:t>
            </a:r>
          </a:p>
        </p:txBody>
      </p:sp>
      <p:sp>
        <p:nvSpPr>
          <p:cNvPr id="59402" name="Line 51"/>
          <p:cNvSpPr>
            <a:spLocks noChangeShapeType="1"/>
          </p:cNvSpPr>
          <p:nvPr/>
        </p:nvSpPr>
        <p:spPr bwMode="auto">
          <a:xfrm flipV="1">
            <a:off x="6913563" y="2405063"/>
            <a:ext cx="53340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3" name="Line 52"/>
          <p:cNvSpPr>
            <a:spLocks noChangeShapeType="1"/>
          </p:cNvSpPr>
          <p:nvPr/>
        </p:nvSpPr>
        <p:spPr bwMode="auto">
          <a:xfrm flipV="1">
            <a:off x="6913563" y="2938463"/>
            <a:ext cx="533400"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4" name="Line 53"/>
          <p:cNvSpPr>
            <a:spLocks noChangeShapeType="1"/>
          </p:cNvSpPr>
          <p:nvPr/>
        </p:nvSpPr>
        <p:spPr bwMode="auto">
          <a:xfrm>
            <a:off x="6913563" y="3090863"/>
            <a:ext cx="53340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5" name="Line 54"/>
          <p:cNvSpPr>
            <a:spLocks noChangeShapeType="1"/>
          </p:cNvSpPr>
          <p:nvPr/>
        </p:nvSpPr>
        <p:spPr bwMode="auto">
          <a:xfrm>
            <a:off x="6913563" y="3167063"/>
            <a:ext cx="533400" cy="1143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6" name="Freeform 55"/>
          <p:cNvSpPr>
            <a:spLocks/>
          </p:cNvSpPr>
          <p:nvPr/>
        </p:nvSpPr>
        <p:spPr bwMode="auto">
          <a:xfrm>
            <a:off x="2417763" y="3096697"/>
            <a:ext cx="2667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9407" name="Text Box 56"/>
          <p:cNvSpPr txBox="1">
            <a:spLocks noChangeArrowheads="1"/>
          </p:cNvSpPr>
          <p:nvPr/>
        </p:nvSpPr>
        <p:spPr bwMode="auto">
          <a:xfrm>
            <a:off x="3254773" y="3006118"/>
            <a:ext cx="902492" cy="6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600" b="1">
                <a:solidFill>
                  <a:schemeClr val="tx1"/>
                </a:solidFill>
              </a:rPr>
              <a:t>Public</a:t>
            </a:r>
          </a:p>
          <a:p>
            <a:pPr algn="ctr">
              <a:spcBef>
                <a:spcPct val="20000"/>
              </a:spcBef>
            </a:pPr>
            <a:r>
              <a:rPr lang="en-US" altLang="zh-CN" sz="1600" b="1">
                <a:solidFill>
                  <a:schemeClr val="tx1"/>
                </a:solidFill>
              </a:rPr>
              <a:t>Internet</a:t>
            </a:r>
          </a:p>
        </p:txBody>
      </p:sp>
      <p:sp>
        <p:nvSpPr>
          <p:cNvPr id="59408" name="Line 57"/>
          <p:cNvSpPr>
            <a:spLocks noChangeShapeType="1"/>
          </p:cNvSpPr>
          <p:nvPr/>
        </p:nvSpPr>
        <p:spPr bwMode="auto">
          <a:xfrm>
            <a:off x="5065713" y="3235325"/>
            <a:ext cx="476250" cy="7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grpSp>
        <p:nvGrpSpPr>
          <p:cNvPr id="59409" name="Group 58"/>
          <p:cNvGrpSpPr>
            <a:grpSpLocks/>
          </p:cNvGrpSpPr>
          <p:nvPr/>
        </p:nvGrpSpPr>
        <p:grpSpPr bwMode="auto">
          <a:xfrm>
            <a:off x="1843088" y="3004396"/>
            <a:ext cx="457200" cy="690806"/>
            <a:chOff x="528" y="217"/>
            <a:chExt cx="384" cy="621"/>
          </a:xfrm>
        </p:grpSpPr>
        <p:sp>
          <p:nvSpPr>
            <p:cNvPr id="59412" name="Rectangle 59"/>
            <p:cNvSpPr>
              <a:spLocks noChangeArrowheads="1"/>
            </p:cNvSpPr>
            <p:nvPr/>
          </p:nvSpPr>
          <p:spPr bwMode="auto">
            <a:xfrm>
              <a:off x="642" y="221"/>
              <a:ext cx="155" cy="47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9413" name="Freeform 60"/>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chemeClr val="accent2"/>
            </a:solidFill>
            <a:ln w="12700">
              <a:solidFill>
                <a:schemeClr val="tx1"/>
              </a:solidFill>
              <a:round/>
              <a:headEnd/>
              <a:tailEnd/>
            </a:ln>
          </p:spPr>
          <p:txBody>
            <a:bodyPr anchor="ctr">
              <a:spAutoFit/>
            </a:bodyPr>
            <a:lstStyle/>
            <a:p>
              <a:endParaRPr lang="zh-CN" altLang="en-US"/>
            </a:p>
          </p:txBody>
        </p:sp>
        <p:sp>
          <p:nvSpPr>
            <p:cNvPr id="59414" name="Line 61"/>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5" name="Line 62"/>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6" name="Line 63"/>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7" name="Line 64"/>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18" name="Line 65"/>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9" name="Line 66"/>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0" name="Line 67"/>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1" name="Line 68"/>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2" name="Rectangle 69"/>
            <p:cNvSpPr>
              <a:spLocks noChangeArrowheads="1"/>
            </p:cNvSpPr>
            <p:nvPr/>
          </p:nvSpPr>
          <p:spPr bwMode="auto">
            <a:xfrm>
              <a:off x="597" y="217"/>
              <a:ext cx="244" cy="470"/>
            </a:xfrm>
            <a:prstGeom prst="rect">
              <a:avLst/>
            </a:prstGeom>
            <a:solidFill>
              <a:schemeClr val="accent2"/>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9410" name="Line 70"/>
          <p:cNvSpPr>
            <a:spLocks noChangeShapeType="1"/>
          </p:cNvSpPr>
          <p:nvPr/>
        </p:nvSpPr>
        <p:spPr bwMode="auto">
          <a:xfrm>
            <a:off x="2224088" y="3259138"/>
            <a:ext cx="609600"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11" name="Rectangle 71"/>
          <p:cNvSpPr>
            <a:spLocks noGrp="1" noChangeArrowheads="1"/>
          </p:cNvSpPr>
          <p:nvPr>
            <p:ph type="title"/>
          </p:nvPr>
        </p:nvSpPr>
        <p:spPr bwMode="auto">
          <a:xfrm>
            <a:off x="2287588"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a:t>
            </a:r>
            <a:r>
              <a:rPr lang="zh-CN" altLang="en-US" sz="3600">
                <a:solidFill>
                  <a:schemeClr val="hlink"/>
                </a:solidFill>
                <a:ea typeface="华文行楷" panose="02010800040101010101" pitchFamily="2" charset="-122"/>
              </a:rPr>
              <a:t>实现负载平衡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8499">
                                            <p:txEl>
                                              <p:pRg st="0" end="0"/>
                                            </p:txEl>
                                          </p:spTgt>
                                        </p:tgtEl>
                                        <p:attrNameLst>
                                          <p:attrName>style.visibility</p:attrName>
                                        </p:attrNameLst>
                                      </p:cBhvr>
                                      <p:to>
                                        <p:strVal val="visible"/>
                                      </p:to>
                                    </p:set>
                                    <p:anim calcmode="lin" valueType="num">
                                      <p:cBhvr additive="base">
                                        <p:cTn id="7" dur="500" fill="hold"/>
                                        <p:tgtEl>
                                          <p:spTgt spid="18984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8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98499">
                                            <p:txEl>
                                              <p:pRg st="1" end="1"/>
                                            </p:txEl>
                                          </p:spTgt>
                                        </p:tgtEl>
                                        <p:attrNameLst>
                                          <p:attrName>style.visibility</p:attrName>
                                        </p:attrNameLst>
                                      </p:cBhvr>
                                      <p:to>
                                        <p:strVal val="visible"/>
                                      </p:to>
                                    </p:set>
                                    <p:anim calcmode="lin" valueType="num">
                                      <p:cBhvr additive="base">
                                        <p:cTn id="13" dur="500" fill="hold"/>
                                        <p:tgtEl>
                                          <p:spTgt spid="189849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9849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8499"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bwMode="auto">
          <a:xfrm>
            <a:off x="2249488"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TCP/IP </a:t>
            </a:r>
            <a:r>
              <a:rPr lang="zh-CN" altLang="en-US" sz="3600">
                <a:solidFill>
                  <a:schemeClr val="hlink"/>
                </a:solidFill>
                <a:ea typeface="华文行楷" panose="02010800040101010101" pitchFamily="2" charset="-122"/>
              </a:rPr>
              <a:t>的地址解析</a:t>
            </a:r>
          </a:p>
        </p:txBody>
      </p:sp>
      <p:sp>
        <p:nvSpPr>
          <p:cNvPr id="60419" name="Text Box 3"/>
          <p:cNvSpPr txBox="1">
            <a:spLocks noChangeArrowheads="1"/>
          </p:cNvSpPr>
          <p:nvPr/>
        </p:nvSpPr>
        <p:spPr bwMode="auto">
          <a:xfrm>
            <a:off x="2117725" y="1854201"/>
            <a:ext cx="7437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60420" name="Text Box 4"/>
          <p:cNvSpPr txBox="1">
            <a:spLocks noChangeArrowheads="1"/>
          </p:cNvSpPr>
          <p:nvPr/>
        </p:nvSpPr>
        <p:spPr bwMode="auto">
          <a:xfrm>
            <a:off x="2206626" y="2244726"/>
            <a:ext cx="8139113"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10000"/>
              </a:spcBef>
            </a:pPr>
            <a:r>
              <a:rPr lang="en-US" altLang="zh-CN">
                <a:solidFill>
                  <a:srgbClr val="000000"/>
                </a:solidFill>
                <a:latin typeface="Arial" panose="020B0604020202020204" pitchFamily="34" charset="0"/>
              </a:rPr>
              <a:t>• Note:</a:t>
            </a:r>
          </a:p>
          <a:p>
            <a:pPr>
              <a:spcBef>
                <a:spcPct val="10000"/>
              </a:spcBef>
            </a:pPr>
            <a:r>
              <a:rPr lang="en-US" altLang="zh-CN">
                <a:solidFill>
                  <a:srgbClr val="000000"/>
                </a:solidFill>
                <a:latin typeface="Arial" panose="020B0604020202020204" pitchFamily="34" charset="0"/>
              </a:rPr>
              <a:t>– Internet </a:t>
            </a:r>
            <a:r>
              <a:rPr lang="zh-CN" altLang="en-US">
                <a:solidFill>
                  <a:srgbClr val="000000"/>
                </a:solidFill>
                <a:latin typeface="Arial" panose="020B0604020202020204" pitchFamily="34" charset="0"/>
              </a:rPr>
              <a:t>基于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地址</a:t>
            </a:r>
          </a:p>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数据链路协议 </a:t>
            </a:r>
            <a:r>
              <a:rPr lang="en-US" altLang="zh-CN">
                <a:solidFill>
                  <a:srgbClr val="000000"/>
                </a:solidFill>
                <a:latin typeface="Arial" panose="020B0604020202020204" pitchFamily="34" charset="0"/>
              </a:rPr>
              <a:t>(Ethernet, FDDI, ATM) </a:t>
            </a:r>
            <a:r>
              <a:rPr lang="zh-CN" altLang="en-US">
                <a:solidFill>
                  <a:srgbClr val="000000"/>
                </a:solidFill>
                <a:latin typeface="Arial" panose="020B0604020202020204" pitchFamily="34" charset="0"/>
              </a:rPr>
              <a:t>具有不同的 </a:t>
            </a:r>
            <a:r>
              <a:rPr lang="en-US" altLang="zh-CN">
                <a:solidFill>
                  <a:srgbClr val="000000"/>
                </a:solidFill>
                <a:latin typeface="Arial" panose="020B0604020202020204" pitchFamily="34" charset="0"/>
              </a:rPr>
              <a:t>(MAC) </a:t>
            </a:r>
            <a:r>
              <a:rPr lang="zh-CN" altLang="en-US">
                <a:solidFill>
                  <a:srgbClr val="000000"/>
                </a:solidFill>
                <a:latin typeface="Arial" panose="020B0604020202020204" pitchFamily="34" charset="0"/>
              </a:rPr>
              <a:t>地址</a:t>
            </a:r>
          </a:p>
          <a:p>
            <a:pPr>
              <a:spcBef>
                <a:spcPct val="10000"/>
              </a:spcBef>
            </a:pPr>
            <a:r>
              <a:rPr lang="en-US" altLang="zh-CN">
                <a:solidFill>
                  <a:srgbClr val="000000"/>
                </a:solidFill>
                <a:latin typeface="Arial" panose="020B0604020202020204" pitchFamily="34" charset="0"/>
              </a:rPr>
              <a:t>• ARP</a:t>
            </a:r>
            <a:r>
              <a:rPr lang="zh-CN" altLang="en-US">
                <a:solidFill>
                  <a:srgbClr val="000000"/>
                </a:solidFill>
                <a:latin typeface="Arial" panose="020B0604020202020204" pitchFamily="34" charset="0"/>
              </a:rPr>
              <a:t>和 </a:t>
            </a:r>
            <a:r>
              <a:rPr lang="en-US" altLang="zh-CN">
                <a:solidFill>
                  <a:srgbClr val="000000"/>
                </a:solidFill>
                <a:latin typeface="Arial" panose="020B0604020202020204" pitchFamily="34" charset="0"/>
              </a:rPr>
              <a:t>RARP </a:t>
            </a:r>
            <a:r>
              <a:rPr lang="zh-CN" altLang="en-US">
                <a:solidFill>
                  <a:srgbClr val="000000"/>
                </a:solidFill>
                <a:latin typeface="Arial" panose="020B0604020202020204" pitchFamily="34" charset="0"/>
              </a:rPr>
              <a:t>协议负责</a:t>
            </a:r>
            <a:r>
              <a:rPr lang="zh-CN" altLang="en-US">
                <a:solidFill>
                  <a:srgbClr val="0000FF"/>
                </a:solidFill>
                <a:latin typeface="Arial" panose="020B0604020202020204" pitchFamily="34" charset="0"/>
              </a:rPr>
              <a:t> </a:t>
            </a:r>
            <a:r>
              <a:rPr lang="en-US" altLang="zh-CN">
                <a:solidFill>
                  <a:srgbClr val="0000FF"/>
                </a:solidFill>
                <a:latin typeface="Arial" panose="020B0604020202020204" pitchFamily="34" charset="0"/>
              </a:rPr>
              <a:t>IP </a:t>
            </a:r>
            <a:r>
              <a:rPr lang="zh-CN" altLang="en-US">
                <a:solidFill>
                  <a:srgbClr val="0000FF"/>
                </a:solidFill>
                <a:latin typeface="Arial" panose="020B0604020202020204" pitchFamily="34" charset="0"/>
              </a:rPr>
              <a:t>地址 和 </a:t>
            </a:r>
            <a:r>
              <a:rPr lang="en-US" altLang="zh-CN">
                <a:solidFill>
                  <a:srgbClr val="0000FF"/>
                </a:solidFill>
                <a:latin typeface="Arial" panose="020B0604020202020204" pitchFamily="34" charset="0"/>
              </a:rPr>
              <a:t>MAC </a:t>
            </a:r>
            <a:r>
              <a:rPr lang="zh-CN" altLang="en-US">
                <a:solidFill>
                  <a:srgbClr val="0000FF"/>
                </a:solidFill>
                <a:latin typeface="Arial" panose="020B0604020202020204" pitchFamily="34" charset="0"/>
              </a:rPr>
              <a:t>地址 之间解释</a:t>
            </a:r>
          </a:p>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我们将讨论 广播 </a:t>
            </a:r>
            <a:r>
              <a:rPr lang="en-US" altLang="zh-CN">
                <a:solidFill>
                  <a:srgbClr val="000000"/>
                </a:solidFill>
                <a:latin typeface="Arial" panose="020B0604020202020204" pitchFamily="34" charset="0"/>
              </a:rPr>
              <a:t>LANs </a:t>
            </a:r>
            <a:r>
              <a:rPr lang="zh-CN" altLang="en-US">
                <a:solidFill>
                  <a:srgbClr val="000000"/>
                </a:solidFill>
                <a:latin typeface="Arial" panose="020B0604020202020204" pitchFamily="34" charset="0"/>
              </a:rPr>
              <a:t>和代理 路由器的 </a:t>
            </a:r>
            <a:r>
              <a:rPr lang="en-US" altLang="zh-CN">
                <a:solidFill>
                  <a:srgbClr val="000000"/>
                </a:solidFill>
                <a:latin typeface="Arial" panose="020B0604020202020204" pitchFamily="34" charset="0"/>
              </a:rPr>
              <a:t>ARP</a:t>
            </a:r>
            <a:r>
              <a:rPr lang="zh-CN" altLang="en-US">
                <a:solidFill>
                  <a:srgbClr val="000000"/>
                </a:solidFill>
                <a:latin typeface="Arial" panose="020B0604020202020204" pitchFamily="34" charset="0"/>
              </a:rPr>
              <a:t>协议</a:t>
            </a:r>
          </a:p>
        </p:txBody>
      </p:sp>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bwMode="auto">
          <a:xfrm>
            <a:off x="1752600" y="3810000"/>
            <a:ext cx="8726488" cy="2630488"/>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None/>
            </a:pPr>
            <a:r>
              <a:rPr lang="en-US" altLang="zh-CN"/>
              <a:t>Step #		Source 	     Destination</a:t>
            </a:r>
          </a:p>
          <a:p>
            <a:pPr eaLnBrk="1" hangingPunct="1">
              <a:buFont typeface="Wingdings" panose="05000000000000000000" pitchFamily="2" charset="2"/>
              <a:buNone/>
            </a:pPr>
            <a:endParaRPr lang="en-US" altLang="zh-CN"/>
          </a:p>
        </p:txBody>
      </p:sp>
      <p:sp>
        <p:nvSpPr>
          <p:cNvPr id="61443" name="Text Box 3"/>
          <p:cNvSpPr txBox="1">
            <a:spLocks noChangeArrowheads="1"/>
          </p:cNvSpPr>
          <p:nvPr/>
        </p:nvSpPr>
        <p:spPr bwMode="auto">
          <a:xfrm>
            <a:off x="4419600" y="42672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IP 	Eth		IP 	  Eth</a:t>
            </a:r>
          </a:p>
        </p:txBody>
      </p:sp>
      <p:sp>
        <p:nvSpPr>
          <p:cNvPr id="61444" name="Rectangle 4"/>
          <p:cNvSpPr>
            <a:spLocks noChangeArrowheads="1"/>
          </p:cNvSpPr>
          <p:nvPr/>
        </p:nvSpPr>
        <p:spPr bwMode="auto">
          <a:xfrm>
            <a:off x="2209800" y="2667000"/>
            <a:ext cx="762000" cy="685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A</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A</a:t>
            </a:r>
          </a:p>
        </p:txBody>
      </p:sp>
      <p:sp>
        <p:nvSpPr>
          <p:cNvPr id="61445" name="Line 5"/>
          <p:cNvSpPr>
            <a:spLocks noChangeShapeType="1"/>
          </p:cNvSpPr>
          <p:nvPr/>
        </p:nvSpPr>
        <p:spPr bwMode="auto">
          <a:xfrm flipV="1">
            <a:off x="29718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6" name="AutoShape 6"/>
          <p:cNvSpPr>
            <a:spLocks noChangeArrowheads="1"/>
          </p:cNvSpPr>
          <p:nvPr/>
        </p:nvSpPr>
        <p:spPr bwMode="auto">
          <a:xfrm>
            <a:off x="4038600" y="2209800"/>
            <a:ext cx="1219200" cy="685800"/>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B</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B   </a:t>
            </a:r>
            <a:r>
              <a:rPr lang="en-US" altLang="zh-CN" sz="1800">
                <a:solidFill>
                  <a:schemeClr val="tx1"/>
                </a:solidFill>
                <a:latin typeface="Tahoma" panose="020B0604030504040204" pitchFamily="34" charset="0"/>
              </a:rPr>
              <a:t>Sonet</a:t>
            </a:r>
            <a:endParaRPr lang="en-US" altLang="zh-CN" sz="1800" baseline="-25000">
              <a:solidFill>
                <a:schemeClr val="tx1"/>
              </a:solidFill>
              <a:latin typeface="Tahoma" panose="020B0604030504040204" pitchFamily="34" charset="0"/>
            </a:endParaRPr>
          </a:p>
        </p:txBody>
      </p:sp>
      <p:sp>
        <p:nvSpPr>
          <p:cNvPr id="61447" name="Line 7"/>
          <p:cNvSpPr>
            <a:spLocks noChangeShapeType="1"/>
          </p:cNvSpPr>
          <p:nvPr/>
        </p:nvSpPr>
        <p:spPr bwMode="auto">
          <a:xfrm flipV="1">
            <a:off x="43434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8" name="Line 8"/>
          <p:cNvSpPr>
            <a:spLocks noChangeShapeType="1"/>
          </p:cNvSpPr>
          <p:nvPr/>
        </p:nvSpPr>
        <p:spPr bwMode="auto">
          <a:xfrm>
            <a:off x="4038600" y="2590800"/>
            <a:ext cx="1219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9" name="Line 9"/>
          <p:cNvSpPr>
            <a:spLocks noChangeShapeType="1"/>
          </p:cNvSpPr>
          <p:nvPr/>
        </p:nvSpPr>
        <p:spPr bwMode="auto">
          <a:xfrm>
            <a:off x="4572000" y="25908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0" name="Line 10"/>
          <p:cNvSpPr>
            <a:spLocks noChangeShapeType="1"/>
          </p:cNvSpPr>
          <p:nvPr/>
        </p:nvSpPr>
        <p:spPr bwMode="auto">
          <a:xfrm>
            <a:off x="49530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1" name="Line 11"/>
          <p:cNvSpPr>
            <a:spLocks noChangeShapeType="1"/>
          </p:cNvSpPr>
          <p:nvPr/>
        </p:nvSpPr>
        <p:spPr bwMode="auto">
          <a:xfrm flipV="1">
            <a:off x="49530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2" name="Line 12"/>
          <p:cNvSpPr>
            <a:spLocks noChangeShapeType="1"/>
          </p:cNvSpPr>
          <p:nvPr/>
        </p:nvSpPr>
        <p:spPr bwMode="auto">
          <a:xfrm flipV="1">
            <a:off x="69342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3" name="AutoShape 13"/>
          <p:cNvSpPr>
            <a:spLocks noChangeArrowheads="1"/>
          </p:cNvSpPr>
          <p:nvPr/>
        </p:nvSpPr>
        <p:spPr bwMode="auto">
          <a:xfrm>
            <a:off x="6019800" y="2209800"/>
            <a:ext cx="1295400" cy="685800"/>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C</a:t>
            </a:r>
          </a:p>
          <a:p>
            <a:pPr algn="ctr" eaLnBrk="1" hangingPunct="1"/>
            <a:r>
              <a:rPr lang="en-US" altLang="zh-CN" sz="1800">
                <a:solidFill>
                  <a:schemeClr val="tx1"/>
                </a:solidFill>
                <a:latin typeface="Tahoma" panose="020B0604030504040204" pitchFamily="34" charset="0"/>
              </a:rPr>
              <a:t>Sonet  Eth</a:t>
            </a:r>
            <a:r>
              <a:rPr lang="en-US" altLang="zh-CN" sz="1800" baseline="-25000">
                <a:solidFill>
                  <a:schemeClr val="tx1"/>
                </a:solidFill>
                <a:latin typeface="Tahoma" panose="020B0604030504040204" pitchFamily="34" charset="0"/>
              </a:rPr>
              <a:t>C </a:t>
            </a:r>
          </a:p>
        </p:txBody>
      </p:sp>
      <p:sp>
        <p:nvSpPr>
          <p:cNvPr id="61454" name="Line 14"/>
          <p:cNvSpPr>
            <a:spLocks noChangeShapeType="1"/>
          </p:cNvSpPr>
          <p:nvPr/>
        </p:nvSpPr>
        <p:spPr bwMode="auto">
          <a:xfrm>
            <a:off x="6019800" y="2590800"/>
            <a:ext cx="1295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5" name="Line 15"/>
          <p:cNvSpPr>
            <a:spLocks noChangeShapeType="1"/>
          </p:cNvSpPr>
          <p:nvPr/>
        </p:nvSpPr>
        <p:spPr bwMode="auto">
          <a:xfrm>
            <a:off x="6705600" y="25908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6" name="Line 16"/>
          <p:cNvSpPr>
            <a:spLocks noChangeShapeType="1"/>
          </p:cNvSpPr>
          <p:nvPr/>
        </p:nvSpPr>
        <p:spPr bwMode="auto">
          <a:xfrm>
            <a:off x="69342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7" name="Line 17"/>
          <p:cNvSpPr>
            <a:spLocks noChangeShapeType="1"/>
          </p:cNvSpPr>
          <p:nvPr/>
        </p:nvSpPr>
        <p:spPr bwMode="auto">
          <a:xfrm>
            <a:off x="63246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8" name="Line 18"/>
          <p:cNvSpPr>
            <a:spLocks noChangeShapeType="1"/>
          </p:cNvSpPr>
          <p:nvPr/>
        </p:nvSpPr>
        <p:spPr bwMode="auto">
          <a:xfrm>
            <a:off x="2209800" y="3048000"/>
            <a:ext cx="762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9" name="Rectangle 19"/>
          <p:cNvSpPr>
            <a:spLocks noChangeArrowheads="1"/>
          </p:cNvSpPr>
          <p:nvPr/>
        </p:nvSpPr>
        <p:spPr bwMode="auto">
          <a:xfrm>
            <a:off x="8305800" y="2667000"/>
            <a:ext cx="762000" cy="685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D</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D</a:t>
            </a:r>
          </a:p>
        </p:txBody>
      </p:sp>
      <p:sp>
        <p:nvSpPr>
          <p:cNvPr id="61460" name="Line 20"/>
          <p:cNvSpPr>
            <a:spLocks noChangeShapeType="1"/>
          </p:cNvSpPr>
          <p:nvPr/>
        </p:nvSpPr>
        <p:spPr bwMode="auto">
          <a:xfrm>
            <a:off x="8305800" y="3048000"/>
            <a:ext cx="762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1" name="Text Box 21"/>
          <p:cNvSpPr txBox="1">
            <a:spLocks noChangeArrowheads="1"/>
          </p:cNvSpPr>
          <p:nvPr/>
        </p:nvSpPr>
        <p:spPr bwMode="auto">
          <a:xfrm>
            <a:off x="2057401" y="3352801"/>
            <a:ext cx="63946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Host A		Router B	   Router C	       Host D</a:t>
            </a:r>
          </a:p>
        </p:txBody>
      </p:sp>
      <p:sp>
        <p:nvSpPr>
          <p:cNvPr id="61462" name="Line 22"/>
          <p:cNvSpPr>
            <a:spLocks noChangeShapeType="1"/>
          </p:cNvSpPr>
          <p:nvPr/>
        </p:nvSpPr>
        <p:spPr bwMode="auto">
          <a:xfrm>
            <a:off x="1752600" y="38100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3" name="Line 23"/>
          <p:cNvSpPr>
            <a:spLocks noChangeShapeType="1"/>
          </p:cNvSpPr>
          <p:nvPr/>
        </p:nvSpPr>
        <p:spPr bwMode="auto">
          <a:xfrm>
            <a:off x="17526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4" name="Line 24"/>
          <p:cNvSpPr>
            <a:spLocks noChangeShapeType="1"/>
          </p:cNvSpPr>
          <p:nvPr/>
        </p:nvSpPr>
        <p:spPr bwMode="auto">
          <a:xfrm>
            <a:off x="5105400" y="4343400"/>
            <a:ext cx="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5" name="Line 25"/>
          <p:cNvSpPr>
            <a:spLocks noChangeShapeType="1"/>
          </p:cNvSpPr>
          <p:nvPr/>
        </p:nvSpPr>
        <p:spPr bwMode="auto">
          <a:xfrm>
            <a:off x="65532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6" name="Line 26"/>
          <p:cNvSpPr>
            <a:spLocks noChangeShapeType="1"/>
          </p:cNvSpPr>
          <p:nvPr/>
        </p:nvSpPr>
        <p:spPr bwMode="auto">
          <a:xfrm>
            <a:off x="36576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7" name="Line 27"/>
          <p:cNvSpPr>
            <a:spLocks noChangeShapeType="1"/>
          </p:cNvSpPr>
          <p:nvPr/>
        </p:nvSpPr>
        <p:spPr bwMode="auto">
          <a:xfrm>
            <a:off x="96012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8" name="Line 28"/>
          <p:cNvSpPr>
            <a:spLocks noChangeShapeType="1"/>
          </p:cNvSpPr>
          <p:nvPr/>
        </p:nvSpPr>
        <p:spPr bwMode="auto">
          <a:xfrm>
            <a:off x="8077200" y="4343400"/>
            <a:ext cx="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9" name="Line 29"/>
          <p:cNvSpPr>
            <a:spLocks noChangeShapeType="1"/>
          </p:cNvSpPr>
          <p:nvPr/>
        </p:nvSpPr>
        <p:spPr bwMode="auto">
          <a:xfrm>
            <a:off x="1752600" y="65532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70" name="Line 30"/>
          <p:cNvSpPr>
            <a:spLocks noChangeShapeType="1"/>
          </p:cNvSpPr>
          <p:nvPr/>
        </p:nvSpPr>
        <p:spPr bwMode="auto">
          <a:xfrm>
            <a:off x="1752600" y="47244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71" name="Rectangle 31"/>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传输过程中的网络地址</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5395913" y="36020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Link/MAC</a:t>
            </a:r>
          </a:p>
        </p:txBody>
      </p:sp>
      <p:sp>
        <p:nvSpPr>
          <p:cNvPr id="62467" name="Rectangle 3"/>
          <p:cNvSpPr>
            <a:spLocks noChangeArrowheads="1"/>
          </p:cNvSpPr>
          <p:nvPr/>
        </p:nvSpPr>
        <p:spPr bwMode="auto">
          <a:xfrm>
            <a:off x="5395913" y="26876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a:t>
            </a:r>
          </a:p>
        </p:txBody>
      </p:sp>
      <p:sp>
        <p:nvSpPr>
          <p:cNvPr id="62468" name="Rectangle 4"/>
          <p:cNvSpPr>
            <a:spLocks noChangeArrowheads="1"/>
          </p:cNvSpPr>
          <p:nvPr/>
        </p:nvSpPr>
        <p:spPr bwMode="auto">
          <a:xfrm>
            <a:off x="6538913" y="17732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TCP</a:t>
            </a:r>
          </a:p>
        </p:txBody>
      </p:sp>
      <p:sp>
        <p:nvSpPr>
          <p:cNvPr id="62469" name="Rectangle 5"/>
          <p:cNvSpPr>
            <a:spLocks noChangeArrowheads="1"/>
          </p:cNvSpPr>
          <p:nvPr/>
        </p:nvSpPr>
        <p:spPr bwMode="auto">
          <a:xfrm>
            <a:off x="4252913" y="17732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62470" name="Line 6"/>
          <p:cNvSpPr>
            <a:spLocks noChangeShapeType="1"/>
          </p:cNvSpPr>
          <p:nvPr/>
        </p:nvSpPr>
        <p:spPr bwMode="auto">
          <a:xfrm>
            <a:off x="5014913" y="2230438"/>
            <a:ext cx="10668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1" name="Line 7"/>
          <p:cNvSpPr>
            <a:spLocks noChangeShapeType="1"/>
          </p:cNvSpPr>
          <p:nvPr/>
        </p:nvSpPr>
        <p:spPr bwMode="auto">
          <a:xfrm flipH="1">
            <a:off x="6234113" y="2230438"/>
            <a:ext cx="11430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2" name="Line 8"/>
          <p:cNvSpPr>
            <a:spLocks noChangeShapeType="1"/>
          </p:cNvSpPr>
          <p:nvPr/>
        </p:nvSpPr>
        <p:spPr bwMode="auto">
          <a:xfrm>
            <a:off x="6157913" y="3144838"/>
            <a:ext cx="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3" name="Rectangle 9"/>
          <p:cNvSpPr>
            <a:spLocks noChangeArrowheads="1"/>
          </p:cNvSpPr>
          <p:nvPr/>
        </p:nvSpPr>
        <p:spPr bwMode="auto">
          <a:xfrm>
            <a:off x="3338513" y="3525838"/>
            <a:ext cx="1371600" cy="457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ARP</a:t>
            </a:r>
          </a:p>
        </p:txBody>
      </p:sp>
      <p:sp>
        <p:nvSpPr>
          <p:cNvPr id="62474" name="Rectangle 10"/>
          <p:cNvSpPr>
            <a:spLocks noChangeArrowheads="1"/>
          </p:cNvSpPr>
          <p:nvPr/>
        </p:nvSpPr>
        <p:spPr bwMode="auto">
          <a:xfrm>
            <a:off x="7758113" y="3525838"/>
            <a:ext cx="13716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RARP</a:t>
            </a:r>
          </a:p>
        </p:txBody>
      </p:sp>
      <p:sp>
        <p:nvSpPr>
          <p:cNvPr id="62475" name="Line 11"/>
          <p:cNvSpPr>
            <a:spLocks noChangeShapeType="1"/>
          </p:cNvSpPr>
          <p:nvPr/>
        </p:nvSpPr>
        <p:spPr bwMode="auto">
          <a:xfrm>
            <a:off x="4710113" y="3754438"/>
            <a:ext cx="6858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6" name="Line 12"/>
          <p:cNvSpPr>
            <a:spLocks noChangeShapeType="1"/>
          </p:cNvSpPr>
          <p:nvPr/>
        </p:nvSpPr>
        <p:spPr bwMode="auto">
          <a:xfrm flipV="1">
            <a:off x="6996113" y="3754438"/>
            <a:ext cx="7620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7" name="Rectangle 13"/>
          <p:cNvSpPr>
            <a:spLocks noGrp="1" noChangeArrowheads="1"/>
          </p:cNvSpPr>
          <p:nvPr>
            <p:ph type="title"/>
          </p:nvPr>
        </p:nvSpPr>
        <p:spPr bwMode="auto">
          <a:xfrm>
            <a:off x="2228850" y="5111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a:t>
            </a:r>
          </a:p>
        </p:txBody>
      </p:sp>
      <p:sp>
        <p:nvSpPr>
          <p:cNvPr id="62478" name="Text Box 14"/>
          <p:cNvSpPr txBox="1">
            <a:spLocks noChangeArrowheads="1"/>
          </p:cNvSpPr>
          <p:nvPr/>
        </p:nvSpPr>
        <p:spPr bwMode="auto">
          <a:xfrm>
            <a:off x="2613025" y="4527551"/>
            <a:ext cx="7685088"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buClr>
                <a:schemeClr val="hlink"/>
              </a:buClr>
              <a:buFont typeface="Wingdings" panose="05000000000000000000" pitchFamily="2" charset="2"/>
              <a:buChar char="Ø"/>
            </a:pPr>
            <a:r>
              <a:rPr kumimoji="1" lang="en-US" altLang="zh-CN">
                <a:solidFill>
                  <a:schemeClr val="tx2"/>
                </a:solidFill>
                <a:latin typeface="Tahoma" panose="020B0604030504040204" pitchFamily="34" charset="0"/>
              </a:rPr>
              <a:t>ARP</a:t>
            </a:r>
            <a:r>
              <a:rPr kumimoji="1" lang="en-US" altLang="zh-CN">
                <a:solidFill>
                  <a:schemeClr val="tx1"/>
                </a:solidFill>
                <a:latin typeface="Tahoma" panose="020B0604030504040204" pitchFamily="34" charset="0"/>
              </a:rPr>
              <a:t>:</a:t>
            </a:r>
            <a:r>
              <a:rPr kumimoji="1" lang="zh-CN" altLang="en-US">
                <a:solidFill>
                  <a:schemeClr val="tx1"/>
                </a:solidFill>
                <a:latin typeface="Tahoma" panose="020B0604030504040204" pitchFamily="34" charset="0"/>
              </a:rPr>
              <a:t>地址解析协议</a:t>
            </a:r>
            <a:r>
              <a:rPr kumimoji="1" lang="en-US" altLang="zh-CN">
                <a:solidFill>
                  <a:schemeClr val="tx1"/>
                </a:solidFill>
                <a:latin typeface="Tahoma" panose="020B0604030504040204" pitchFamily="34" charset="0"/>
              </a:rPr>
              <a:t>(IP→MAC)</a:t>
            </a:r>
          </a:p>
          <a:p>
            <a:pPr>
              <a:spcBef>
                <a:spcPct val="50000"/>
              </a:spcBef>
              <a:buClr>
                <a:schemeClr val="hlink"/>
              </a:buClr>
              <a:buFont typeface="Wingdings" panose="05000000000000000000" pitchFamily="2" charset="2"/>
              <a:buChar char="Ø"/>
            </a:pPr>
            <a:r>
              <a:rPr kumimoji="1" lang="zh-CN" altLang="en-US">
                <a:solidFill>
                  <a:schemeClr val="tx1"/>
                </a:solidFill>
                <a:latin typeface="Tahoma" panose="020B0604030504040204" pitchFamily="34" charset="0"/>
              </a:rPr>
              <a:t>把</a:t>
            </a:r>
            <a:r>
              <a:rPr kumimoji="1" lang="en-US" altLang="zh-CN">
                <a:solidFill>
                  <a:schemeClr val="tx1"/>
                </a:solidFill>
                <a:latin typeface="Tahoma" panose="020B0604030504040204" pitchFamily="34" charset="0"/>
              </a:rPr>
              <a:t>IP</a:t>
            </a:r>
            <a:r>
              <a:rPr kumimoji="1" lang="zh-CN" altLang="en-US">
                <a:solidFill>
                  <a:schemeClr val="tx1"/>
                </a:solidFill>
                <a:latin typeface="Tahoma" panose="020B0604030504040204" pitchFamily="34" charset="0"/>
              </a:rPr>
              <a:t>地址转换成数据链路层</a:t>
            </a:r>
            <a:r>
              <a:rPr kumimoji="1" lang="en-US" altLang="zh-CN">
                <a:solidFill>
                  <a:schemeClr val="tx1"/>
                </a:solidFill>
                <a:latin typeface="Tahoma" panose="020B0604030504040204" pitchFamily="34" charset="0"/>
              </a:rPr>
              <a:t>(</a:t>
            </a:r>
            <a:r>
              <a:rPr kumimoji="1" lang="zh-CN" altLang="en-US">
                <a:solidFill>
                  <a:schemeClr val="tx1"/>
                </a:solidFill>
                <a:latin typeface="Tahoma" panose="020B0604030504040204" pitchFamily="34" charset="0"/>
              </a:rPr>
              <a:t>出口的</a:t>
            </a:r>
            <a:r>
              <a:rPr kumimoji="1" lang="en-US" altLang="zh-CN">
                <a:solidFill>
                  <a:schemeClr val="tx1"/>
                </a:solidFill>
                <a:latin typeface="Tahoma" panose="020B0604030504040204" pitchFamily="34" charset="0"/>
              </a:rPr>
              <a:t>)MAC</a:t>
            </a:r>
            <a:r>
              <a:rPr kumimoji="1" lang="zh-CN" altLang="en-US">
                <a:solidFill>
                  <a:schemeClr val="tx1"/>
                </a:solidFill>
                <a:latin typeface="Tahoma" panose="020B0604030504040204" pitchFamily="34" charset="0"/>
              </a:rPr>
              <a:t>地址</a:t>
            </a:r>
            <a:r>
              <a:rPr kumimoji="1" lang="en-US" altLang="zh-CN">
                <a:solidFill>
                  <a:schemeClr val="tx1"/>
                </a:solidFill>
                <a:latin typeface="Tahoma" panose="020B0604030504040204" pitchFamily="34" charset="0"/>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bwMode="auto">
          <a:xfrm>
            <a:off x="2457450" y="3381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本地 </a:t>
            </a:r>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总结</a:t>
            </a:r>
          </a:p>
        </p:txBody>
      </p:sp>
      <p:sp>
        <p:nvSpPr>
          <p:cNvPr id="1817603" name="Text Box 3"/>
          <p:cNvSpPr txBox="1">
            <a:spLocks noChangeArrowheads="1"/>
          </p:cNvSpPr>
          <p:nvPr/>
        </p:nvSpPr>
        <p:spPr bwMode="auto">
          <a:xfrm>
            <a:off x="6173788" y="2163764"/>
            <a:ext cx="4222750"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sz="2400">
                <a:solidFill>
                  <a:srgbClr val="000000"/>
                </a:solidFill>
                <a:latin typeface="Arial" panose="020B0604020202020204" pitchFamily="34" charset="0"/>
              </a:rPr>
              <a:t>(1) HOST-A </a:t>
            </a:r>
            <a:r>
              <a:rPr lang="zh-CN" altLang="en-US" sz="2400">
                <a:solidFill>
                  <a:srgbClr val="000000"/>
                </a:solidFill>
                <a:latin typeface="Arial" panose="020B0604020202020204" pitchFamily="34" charset="0"/>
              </a:rPr>
              <a:t>想把 </a:t>
            </a:r>
            <a:r>
              <a:rPr lang="en-US" altLang="zh-CN" sz="2400">
                <a:solidFill>
                  <a:srgbClr val="000000"/>
                </a:solidFill>
                <a:latin typeface="Arial" panose="020B0604020202020204" pitchFamily="34" charset="0"/>
              </a:rPr>
              <a:t>IP</a:t>
            </a:r>
            <a:r>
              <a:rPr lang="zh-CN" altLang="en-US" sz="2400">
                <a:solidFill>
                  <a:srgbClr val="000000"/>
                </a:solidFill>
                <a:latin typeface="Arial" panose="020B0604020202020204" pitchFamily="34" charset="0"/>
              </a:rPr>
              <a:t>包文 送给 </a:t>
            </a:r>
            <a:r>
              <a:rPr lang="en-US" altLang="zh-CN" sz="2400">
                <a:solidFill>
                  <a:srgbClr val="000000"/>
                </a:solidFill>
                <a:latin typeface="Arial" panose="020B0604020202020204" pitchFamily="34" charset="0"/>
              </a:rPr>
              <a:t>HOST-B</a:t>
            </a:r>
          </a:p>
          <a:p>
            <a:pPr>
              <a:spcBef>
                <a:spcPct val="20000"/>
              </a:spcBef>
            </a:pPr>
            <a:r>
              <a:rPr lang="en-US" altLang="zh-CN" sz="2400">
                <a:solidFill>
                  <a:srgbClr val="000000"/>
                </a:solidFill>
                <a:latin typeface="Arial" panose="020B0604020202020204" pitchFamily="34" charset="0"/>
              </a:rPr>
              <a:t>(2) HOST-A </a:t>
            </a:r>
            <a:r>
              <a:rPr lang="zh-CN" altLang="en-US" sz="2400">
                <a:solidFill>
                  <a:srgbClr val="000000"/>
                </a:solidFill>
                <a:latin typeface="Arial" panose="020B0604020202020204" pitchFamily="34" charset="0"/>
              </a:rPr>
              <a:t>广播一个 </a:t>
            </a:r>
            <a:r>
              <a:rPr lang="en-US" altLang="zh-CN" sz="2400">
                <a:solidFill>
                  <a:srgbClr val="000000"/>
                </a:solidFill>
                <a:latin typeface="Arial" panose="020B0604020202020204" pitchFamily="34" charset="0"/>
              </a:rPr>
              <a:t>ARP </a:t>
            </a:r>
            <a:r>
              <a:rPr lang="zh-CN" altLang="en-US" sz="2400">
                <a:solidFill>
                  <a:srgbClr val="000000"/>
                </a:solidFill>
                <a:latin typeface="Arial" panose="020B0604020202020204" pitchFamily="34" charset="0"/>
              </a:rPr>
              <a:t>请求到所有的主机</a:t>
            </a:r>
            <a:r>
              <a:rPr lang="en-US" altLang="zh-CN" sz="2400">
                <a:solidFill>
                  <a:srgbClr val="000000"/>
                </a:solidFill>
                <a:latin typeface="Arial" panose="020B0604020202020204" pitchFamily="34" charset="0"/>
              </a:rPr>
              <a:t>: </a:t>
            </a:r>
            <a:r>
              <a:rPr lang="en-US" altLang="zh-CN" sz="2400" b="1">
                <a:solidFill>
                  <a:srgbClr val="3333CD"/>
                </a:solidFill>
                <a:latin typeface="Arial" panose="020B0604020202020204" pitchFamily="34" charset="0"/>
              </a:rPr>
              <a:t>“HOSTB</a:t>
            </a:r>
            <a:r>
              <a:rPr lang="zh-CN" altLang="en-US" sz="2400" b="1">
                <a:solidFill>
                  <a:srgbClr val="3333CD"/>
                </a:solidFill>
                <a:latin typeface="Arial" panose="020B0604020202020204" pitchFamily="34" charset="0"/>
              </a:rPr>
              <a:t>的硬件地址是多少</a:t>
            </a:r>
            <a:r>
              <a:rPr lang="en-US" altLang="zh-CN" sz="2400" b="1">
                <a:solidFill>
                  <a:srgbClr val="3333CD"/>
                </a:solidFill>
                <a:latin typeface="Arial" panose="020B0604020202020204" pitchFamily="34" charset="0"/>
              </a:rPr>
              <a:t>?”</a:t>
            </a:r>
          </a:p>
          <a:p>
            <a:pPr>
              <a:spcBef>
                <a:spcPct val="20000"/>
              </a:spcBef>
            </a:pPr>
            <a:r>
              <a:rPr lang="en-US" altLang="zh-CN" sz="2400">
                <a:solidFill>
                  <a:srgbClr val="000000"/>
                </a:solidFill>
                <a:latin typeface="Arial" panose="020B0604020202020204" pitchFamily="34" charset="0"/>
              </a:rPr>
              <a:t>(3) HOST-B </a:t>
            </a:r>
            <a:r>
              <a:rPr lang="zh-CN" altLang="en-US" sz="2400">
                <a:solidFill>
                  <a:srgbClr val="000000"/>
                </a:solidFill>
                <a:latin typeface="Arial" panose="020B0604020202020204" pitchFamily="34" charset="0"/>
              </a:rPr>
              <a:t>以一个包含了其硬件地址的 </a:t>
            </a:r>
            <a:r>
              <a:rPr lang="en-US" altLang="zh-CN" sz="2400">
                <a:solidFill>
                  <a:srgbClr val="000000"/>
                </a:solidFill>
                <a:latin typeface="Arial" panose="020B0604020202020204" pitchFamily="34" charset="0"/>
              </a:rPr>
              <a:t>ARP </a:t>
            </a:r>
            <a:r>
              <a:rPr lang="zh-CN" altLang="en-US" sz="2400">
                <a:solidFill>
                  <a:srgbClr val="000000"/>
                </a:solidFill>
                <a:latin typeface="Arial" panose="020B0604020202020204" pitchFamily="34" charset="0"/>
              </a:rPr>
              <a:t>作答</a:t>
            </a:r>
          </a:p>
          <a:p>
            <a:pPr>
              <a:spcBef>
                <a:spcPct val="20000"/>
              </a:spcBef>
            </a:pPr>
            <a:r>
              <a:rPr lang="en-US" altLang="zh-CN" sz="2400">
                <a:solidFill>
                  <a:srgbClr val="000000"/>
                </a:solidFill>
                <a:latin typeface="Arial" panose="020B0604020202020204" pitchFamily="34" charset="0"/>
              </a:rPr>
              <a:t>(4) HOST-A </a:t>
            </a:r>
            <a:r>
              <a:rPr lang="zh-CN" altLang="en-US" sz="2400">
                <a:solidFill>
                  <a:srgbClr val="000000"/>
                </a:solidFill>
                <a:latin typeface="Arial" panose="020B0604020202020204" pitchFamily="34" charset="0"/>
              </a:rPr>
              <a:t>把 </a:t>
            </a:r>
            <a:r>
              <a:rPr lang="en-US" altLang="zh-CN" sz="2400">
                <a:solidFill>
                  <a:srgbClr val="000000"/>
                </a:solidFill>
                <a:latin typeface="Arial" panose="020B0604020202020204" pitchFamily="34" charset="0"/>
              </a:rPr>
              <a:t>IP</a:t>
            </a:r>
          </a:p>
          <a:p>
            <a:pPr>
              <a:spcBef>
                <a:spcPct val="20000"/>
              </a:spcBef>
            </a:pPr>
            <a:r>
              <a:rPr lang="zh-CN" altLang="en-US" sz="2400">
                <a:solidFill>
                  <a:srgbClr val="000000"/>
                </a:solidFill>
                <a:latin typeface="Arial" panose="020B0604020202020204" pitchFamily="34" charset="0"/>
              </a:rPr>
              <a:t>数据包传送到 </a:t>
            </a:r>
            <a:r>
              <a:rPr lang="en-US" altLang="zh-CN" sz="2400">
                <a:solidFill>
                  <a:srgbClr val="000000"/>
                </a:solidFill>
                <a:latin typeface="Arial" panose="020B0604020202020204" pitchFamily="34" charset="0"/>
              </a:rPr>
              <a:t>HOST-B</a:t>
            </a:r>
            <a:endParaRPr lang="en-US" altLang="zh-CN" sz="2400"/>
          </a:p>
        </p:txBody>
      </p:sp>
      <p:pic>
        <p:nvPicPr>
          <p:cNvPr id="634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1" y="1565276"/>
            <a:ext cx="435292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17603">
                                            <p:txEl>
                                              <p:pRg st="0" end="0"/>
                                            </p:txEl>
                                          </p:spTgt>
                                        </p:tgtEl>
                                        <p:attrNameLst>
                                          <p:attrName>style.visibility</p:attrName>
                                        </p:attrNameLst>
                                      </p:cBhvr>
                                      <p:to>
                                        <p:strVal val="visible"/>
                                      </p:to>
                                    </p:set>
                                    <p:anim calcmode="lin" valueType="num">
                                      <p:cBhvr additive="base">
                                        <p:cTn id="7" dur="500" fill="hold"/>
                                        <p:tgtEl>
                                          <p:spTgt spid="18176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17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17603">
                                            <p:txEl>
                                              <p:pRg st="1" end="1"/>
                                            </p:txEl>
                                          </p:spTgt>
                                        </p:tgtEl>
                                        <p:attrNameLst>
                                          <p:attrName>style.visibility</p:attrName>
                                        </p:attrNameLst>
                                      </p:cBhvr>
                                      <p:to>
                                        <p:strVal val="visible"/>
                                      </p:to>
                                    </p:set>
                                    <p:anim calcmode="lin" valueType="num">
                                      <p:cBhvr additive="base">
                                        <p:cTn id="13" dur="500" fill="hold"/>
                                        <p:tgtEl>
                                          <p:spTgt spid="18176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17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17603">
                                            <p:txEl>
                                              <p:pRg st="2" end="2"/>
                                            </p:txEl>
                                          </p:spTgt>
                                        </p:tgtEl>
                                        <p:attrNameLst>
                                          <p:attrName>style.visibility</p:attrName>
                                        </p:attrNameLst>
                                      </p:cBhvr>
                                      <p:to>
                                        <p:strVal val="visible"/>
                                      </p:to>
                                    </p:set>
                                    <p:anim calcmode="lin" valueType="num">
                                      <p:cBhvr additive="base">
                                        <p:cTn id="19" dur="500" fill="hold"/>
                                        <p:tgtEl>
                                          <p:spTgt spid="181760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176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17603">
                                            <p:txEl>
                                              <p:pRg st="3" end="3"/>
                                            </p:txEl>
                                          </p:spTgt>
                                        </p:tgtEl>
                                        <p:attrNameLst>
                                          <p:attrName>style.visibility</p:attrName>
                                        </p:attrNameLst>
                                      </p:cBhvr>
                                      <p:to>
                                        <p:strVal val="visible"/>
                                      </p:to>
                                    </p:set>
                                    <p:anim calcmode="lin" valueType="num">
                                      <p:cBhvr additive="base">
                                        <p:cTn id="25" dur="500" fill="hold"/>
                                        <p:tgtEl>
                                          <p:spTgt spid="181760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176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17603">
                                            <p:txEl>
                                              <p:pRg st="4" end="4"/>
                                            </p:txEl>
                                          </p:spTgt>
                                        </p:tgtEl>
                                        <p:attrNameLst>
                                          <p:attrName>style.visibility</p:attrName>
                                        </p:attrNameLst>
                                      </p:cBhvr>
                                      <p:to>
                                        <p:strVal val="visible"/>
                                      </p:to>
                                    </p:set>
                                    <p:anim calcmode="lin" valueType="num">
                                      <p:cBhvr additive="base">
                                        <p:cTn id="31" dur="500" fill="hold"/>
                                        <p:tgtEl>
                                          <p:spTgt spid="181760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1760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7603"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228758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补充说明</a:t>
            </a:r>
          </a:p>
        </p:txBody>
      </p:sp>
      <p:sp>
        <p:nvSpPr>
          <p:cNvPr id="64515" name="Text Box 3"/>
          <p:cNvSpPr txBox="1">
            <a:spLocks noChangeArrowheads="1"/>
          </p:cNvSpPr>
          <p:nvPr/>
        </p:nvSpPr>
        <p:spPr bwMode="auto">
          <a:xfrm>
            <a:off x="2266950" y="2087563"/>
            <a:ext cx="7907338"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3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如果一个</a:t>
            </a:r>
            <a:r>
              <a:rPr lang="en-US" altLang="zh-CN">
                <a:solidFill>
                  <a:srgbClr val="000000"/>
                </a:solidFill>
                <a:latin typeface="Arial" panose="020B0604020202020204" pitchFamily="34" charset="0"/>
              </a:rPr>
              <a:t>ARP </a:t>
            </a:r>
            <a:r>
              <a:rPr lang="zh-CN" altLang="en-US">
                <a:solidFill>
                  <a:srgbClr val="000000"/>
                </a:solidFill>
                <a:latin typeface="Arial" panose="020B0604020202020204" pitchFamily="34" charset="0"/>
              </a:rPr>
              <a:t>请求送给一个 不存在的主机会发生什么情况</a:t>
            </a:r>
            <a:r>
              <a:rPr lang="en-US" altLang="zh-CN">
                <a:solidFill>
                  <a:srgbClr val="000000"/>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由于会超时，最终 </a:t>
            </a:r>
            <a:r>
              <a:rPr lang="en-US" altLang="zh-CN" sz="2400">
                <a:solidFill>
                  <a:srgbClr val="0000FF"/>
                </a:solidFill>
                <a:latin typeface="Arial" panose="020B0604020202020204" pitchFamily="34" charset="0"/>
              </a:rPr>
              <a:t>ARP </a:t>
            </a:r>
            <a:r>
              <a:rPr lang="zh-CN" altLang="en-US" sz="2400">
                <a:solidFill>
                  <a:srgbClr val="0000FF"/>
                </a:solidFill>
                <a:latin typeface="Arial" panose="020B0604020202020204" pitchFamily="34" charset="0"/>
              </a:rPr>
              <a:t>会放弃</a:t>
            </a:r>
            <a:r>
              <a:rPr lang="en-US" altLang="zh-CN" sz="2400">
                <a:solidFill>
                  <a:srgbClr val="0000FF"/>
                </a:solidFill>
                <a:latin typeface="Arial" panose="020B0604020202020204" pitchFamily="34" charset="0"/>
              </a:rPr>
              <a:t>.</a:t>
            </a:r>
          </a:p>
          <a:p>
            <a:pPr>
              <a:spcBef>
                <a:spcPct val="3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一个主机 发送一个 </a:t>
            </a:r>
            <a:r>
              <a:rPr lang="en-US" altLang="zh-CN">
                <a:solidFill>
                  <a:srgbClr val="000000"/>
                </a:solidFill>
                <a:latin typeface="Arial" panose="020B0604020202020204" pitchFamily="34" charset="0"/>
              </a:rPr>
              <a:t>ARP </a:t>
            </a:r>
            <a:r>
              <a:rPr lang="zh-CN" altLang="en-US">
                <a:solidFill>
                  <a:srgbClr val="000000"/>
                </a:solidFill>
                <a:latin typeface="Arial" panose="020B0604020202020204" pitchFamily="34" charset="0"/>
              </a:rPr>
              <a:t>请求给自己的</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地址会怎样</a:t>
            </a:r>
            <a:r>
              <a:rPr lang="en-US" altLang="zh-CN">
                <a:solidFill>
                  <a:srgbClr val="000000"/>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另一台主机（如，服务器）就像处理一个正常的</a:t>
            </a:r>
            <a:r>
              <a:rPr lang="en-US" altLang="zh-CN" sz="2400">
                <a:solidFill>
                  <a:srgbClr val="0000FF"/>
                </a:solidFill>
                <a:latin typeface="Arial" panose="020B0604020202020204" pitchFamily="34" charset="0"/>
              </a:rPr>
              <a:t>ARP</a:t>
            </a:r>
            <a:r>
              <a:rPr lang="zh-CN" altLang="en-US" sz="2400">
                <a:solidFill>
                  <a:srgbClr val="0000FF"/>
                </a:solidFill>
                <a:latin typeface="Arial" panose="020B0604020202020204" pitchFamily="34" charset="0"/>
              </a:rPr>
              <a:t>请求那样回应 </a:t>
            </a:r>
            <a:r>
              <a:rPr lang="en-US" altLang="zh-CN" sz="2400">
                <a:solidFill>
                  <a:srgbClr val="FF0000"/>
                </a:solidFill>
                <a:latin typeface="Arial" panose="020B0604020202020204" pitchFamily="34" charset="0"/>
              </a:rPr>
              <a:t>(</a:t>
            </a:r>
            <a:r>
              <a:rPr lang="zh-CN" altLang="en-US" sz="2400">
                <a:solidFill>
                  <a:srgbClr val="FF0000"/>
                </a:solidFill>
                <a:latin typeface="Arial" panose="020B0604020202020204" pitchFamily="34" charset="0"/>
              </a:rPr>
              <a:t>无偿 </a:t>
            </a:r>
            <a:r>
              <a:rPr lang="en-US" altLang="zh-CN" sz="2400">
                <a:solidFill>
                  <a:srgbClr val="FF0000"/>
                </a:solidFill>
                <a:latin typeface="Arial" panose="020B0604020202020204" pitchFamily="34" charset="0"/>
              </a:rPr>
              <a:t>ARP)</a:t>
            </a:r>
            <a:r>
              <a:rPr lang="en-US" altLang="zh-CN" sz="2400">
                <a:solidFill>
                  <a:srgbClr val="0000FF"/>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这有助于探测一个</a:t>
            </a:r>
            <a:r>
              <a:rPr lang="en-US" altLang="zh-CN" sz="2400">
                <a:solidFill>
                  <a:srgbClr val="0000FF"/>
                </a:solidFill>
                <a:latin typeface="Arial" panose="020B0604020202020204" pitchFamily="34" charset="0"/>
              </a:rPr>
              <a:t>IP</a:t>
            </a:r>
            <a:r>
              <a:rPr lang="zh-CN" altLang="en-US" sz="2400">
                <a:solidFill>
                  <a:srgbClr val="0000FF"/>
                </a:solidFill>
                <a:latin typeface="Arial" panose="020B0604020202020204" pitchFamily="34" charset="0"/>
              </a:rPr>
              <a:t>地址是否已被分配</a:t>
            </a:r>
            <a:endParaRPr lang="zh-CN" altLang="en-US" sz="2400"/>
          </a:p>
        </p:txBody>
      </p:sp>
    </p:spTree>
  </p:cSld>
  <p:clrMapOvr>
    <a:masterClrMapping/>
  </p:clrMapOvr>
  <p:transition spd="med">
    <p:random/>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22" name="Rectangle 2"/>
          <p:cNvSpPr>
            <a:spLocks noGrp="1" noChangeArrowheads="1"/>
          </p:cNvSpPr>
          <p:nvPr>
            <p:ph type="body" idx="1"/>
          </p:nvPr>
        </p:nvSpPr>
        <p:spPr bwMode="auto">
          <a:xfrm>
            <a:off x="2125663" y="1665288"/>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indent="-246063">
              <a:buFont typeface="Wingdings" panose="05000000000000000000" pitchFamily="2" charset="2"/>
              <a:buChar char="q"/>
            </a:pPr>
            <a:r>
              <a:rPr lang="zh-CN" altLang="en-US" sz="2400">
                <a:latin typeface="Times New Roman" panose="02020603050405020304" pitchFamily="18" charset="0"/>
              </a:rPr>
              <a:t>一旦收到</a:t>
            </a:r>
            <a:r>
              <a:rPr lang="en-US" altLang="zh-CN" sz="2400">
                <a:latin typeface="Times New Roman" panose="02020603050405020304" pitchFamily="18" charset="0"/>
              </a:rPr>
              <a:t>ARP</a:t>
            </a:r>
            <a:r>
              <a:rPr lang="zh-CN" altLang="en-US" sz="2400">
                <a:latin typeface="Times New Roman" panose="02020603050405020304" pitchFamily="18" charset="0"/>
              </a:rPr>
              <a:t>应答</a:t>
            </a:r>
            <a:r>
              <a:rPr lang="en-US" altLang="zh-CN" sz="2400">
                <a:latin typeface="Times New Roman" panose="02020603050405020304" pitchFamily="18" charset="0"/>
              </a:rPr>
              <a:t>, </a:t>
            </a:r>
            <a:r>
              <a:rPr lang="zh-CN" altLang="en-US" sz="2400">
                <a:latin typeface="Times New Roman" panose="02020603050405020304" pitchFamily="18" charset="0"/>
              </a:rPr>
              <a:t>主机就将获得的网间网地址和物理地址存入缓存</a:t>
            </a:r>
            <a:r>
              <a:rPr lang="en-US" altLang="zh-CN" sz="2400">
                <a:latin typeface="Times New Roman" panose="02020603050405020304" pitchFamily="18" charset="0"/>
              </a:rPr>
              <a:t>. </a:t>
            </a:r>
            <a:r>
              <a:rPr lang="zh-CN" altLang="en-US" sz="2400">
                <a:latin typeface="Times New Roman" panose="02020603050405020304" pitchFamily="18" charset="0"/>
              </a:rPr>
              <a:t>欲发送报文时</a:t>
            </a:r>
            <a:r>
              <a:rPr lang="en-US" altLang="zh-CN" sz="2400">
                <a:latin typeface="Times New Roman" panose="02020603050405020304" pitchFamily="18" charset="0"/>
              </a:rPr>
              <a:t>, </a:t>
            </a:r>
            <a:r>
              <a:rPr lang="zh-CN" altLang="en-US" sz="2400">
                <a:latin typeface="Times New Roman" panose="02020603050405020304" pitchFamily="18" charset="0"/>
              </a:rPr>
              <a:t>首先去缓存中查找相应的项</a:t>
            </a:r>
            <a:r>
              <a:rPr lang="en-US" altLang="zh-CN" sz="2400">
                <a:latin typeface="Times New Roman" panose="02020603050405020304" pitchFamily="18" charset="0"/>
              </a:rPr>
              <a:t>, </a:t>
            </a:r>
            <a:r>
              <a:rPr lang="zh-CN" altLang="en-US" sz="2400">
                <a:latin typeface="Times New Roman" panose="02020603050405020304" pitchFamily="18" charset="0"/>
              </a:rPr>
              <a:t>若找不到</a:t>
            </a:r>
            <a:r>
              <a:rPr lang="en-US" altLang="zh-CN" sz="2400">
                <a:latin typeface="Times New Roman" panose="02020603050405020304" pitchFamily="18" charset="0"/>
              </a:rPr>
              <a:t>,</a:t>
            </a:r>
            <a:r>
              <a:rPr lang="zh-CN" altLang="en-US" sz="2400">
                <a:latin typeface="Times New Roman" panose="02020603050405020304" pitchFamily="18" charset="0"/>
              </a:rPr>
              <a:t>再利用</a:t>
            </a:r>
            <a:r>
              <a:rPr lang="en-US" altLang="zh-CN" sz="2400">
                <a:latin typeface="Times New Roman" panose="02020603050405020304" pitchFamily="18" charset="0"/>
              </a:rPr>
              <a:t>ARP</a:t>
            </a:r>
            <a:r>
              <a:rPr lang="zh-CN" altLang="en-US" sz="2400">
                <a:latin typeface="Times New Roman" panose="02020603050405020304" pitchFamily="18" charset="0"/>
              </a:rPr>
              <a:t>进行地址解析</a:t>
            </a:r>
            <a:r>
              <a:rPr lang="en-US" altLang="zh-CN" sz="2400">
                <a:latin typeface="Times New Roman" panose="02020603050405020304" pitchFamily="18" charset="0"/>
              </a:rPr>
              <a:t>. </a:t>
            </a:r>
          </a:p>
          <a:p>
            <a:pPr indent="-246063">
              <a:buFont typeface="Wingdings" panose="05000000000000000000" pitchFamily="2" charset="2"/>
              <a:buChar char="q"/>
            </a:pPr>
            <a:r>
              <a:rPr lang="zh-CN" altLang="en-US" sz="2400">
                <a:latin typeface="Times New Roman" panose="02020603050405020304" pitchFamily="18" charset="0"/>
              </a:rPr>
              <a:t>在</a:t>
            </a:r>
            <a:r>
              <a:rPr lang="en-US" altLang="zh-CN" sz="2400">
                <a:latin typeface="Times New Roman" panose="02020603050405020304" pitchFamily="18" charset="0"/>
              </a:rPr>
              <a:t>ARP</a:t>
            </a:r>
            <a:r>
              <a:rPr lang="zh-CN" altLang="en-US" sz="2400">
                <a:latin typeface="Times New Roman" panose="02020603050405020304" pitchFamily="18" charset="0"/>
              </a:rPr>
              <a:t>请求中填上自己的</a:t>
            </a:r>
            <a:r>
              <a:rPr lang="en-US" altLang="zh-CN" sz="2400">
                <a:latin typeface="Times New Roman" panose="02020603050405020304" pitchFamily="18" charset="0"/>
              </a:rPr>
              <a:t>IP</a:t>
            </a:r>
            <a:r>
              <a:rPr lang="zh-CN" altLang="en-US" sz="2400">
                <a:latin typeface="Times New Roman" panose="02020603050405020304" pitchFamily="18" charset="0"/>
              </a:rPr>
              <a:t>地址和硬件地址，以避免其它主机过后再发</a:t>
            </a:r>
            <a:r>
              <a:rPr lang="en-US" altLang="zh-CN" sz="2400">
                <a:latin typeface="Times New Roman" panose="02020603050405020304" pitchFamily="18" charset="0"/>
              </a:rPr>
              <a:t>ARP</a:t>
            </a:r>
            <a:r>
              <a:rPr lang="zh-CN" altLang="en-US" sz="2400">
                <a:latin typeface="Times New Roman" panose="02020603050405020304" pitchFamily="18" charset="0"/>
              </a:rPr>
              <a:t>请求。</a:t>
            </a:r>
          </a:p>
          <a:p>
            <a:pPr indent="-246063">
              <a:buFont typeface="Wingdings" panose="05000000000000000000" pitchFamily="2" charset="2"/>
              <a:buChar char="q"/>
            </a:pPr>
            <a:r>
              <a:rPr lang="zh-CN" altLang="en-US" sz="2400">
                <a:latin typeface="Times New Roman" panose="02020603050405020304" pitchFamily="18" charset="0"/>
              </a:rPr>
              <a:t> 当广播</a:t>
            </a:r>
            <a:r>
              <a:rPr lang="en-US" altLang="zh-CN" sz="2400">
                <a:latin typeface="Times New Roman" panose="02020603050405020304" pitchFamily="18" charset="0"/>
              </a:rPr>
              <a:t>ARP</a:t>
            </a:r>
            <a:r>
              <a:rPr lang="zh-CN" altLang="en-US" sz="2400">
                <a:latin typeface="Times New Roman" panose="02020603050405020304" pitchFamily="18" charset="0"/>
              </a:rPr>
              <a:t>请求时，网上所有的计算机都能收到该报文，此时各站应更新</a:t>
            </a:r>
            <a:r>
              <a:rPr lang="en-US" altLang="zh-CN" sz="2400">
                <a:latin typeface="Times New Roman" panose="02020603050405020304" pitchFamily="18" charset="0"/>
              </a:rPr>
              <a:t>A</a:t>
            </a:r>
            <a:r>
              <a:rPr lang="zh-CN" altLang="en-US" sz="2400">
                <a:latin typeface="Times New Roman" panose="02020603050405020304" pitchFamily="18" charset="0"/>
              </a:rPr>
              <a:t>的</a:t>
            </a:r>
            <a:r>
              <a:rPr lang="en-US" altLang="zh-CN" sz="2400">
                <a:latin typeface="Times New Roman" panose="02020603050405020304" pitchFamily="18" charset="0"/>
              </a:rPr>
              <a:t>IP</a:t>
            </a:r>
            <a:r>
              <a:rPr lang="zh-CN" altLang="en-US" sz="2400">
                <a:latin typeface="Times New Roman" panose="02020603050405020304" pitchFamily="18" charset="0"/>
              </a:rPr>
              <a:t>地址到物理地址之间的绑定</a:t>
            </a:r>
          </a:p>
          <a:p>
            <a:pPr indent="-246063">
              <a:buFont typeface="Wingdings" panose="05000000000000000000" pitchFamily="2" charset="2"/>
              <a:buChar char="q"/>
            </a:pPr>
            <a:r>
              <a:rPr lang="zh-CN" altLang="en-US" sz="2400">
                <a:latin typeface="Times New Roman" panose="02020603050405020304" pitchFamily="18" charset="0"/>
              </a:rPr>
              <a:t>当网上出现一个新的计算机时，该新的计算机尽可能主动广播它的</a:t>
            </a:r>
            <a:r>
              <a:rPr lang="en-US" altLang="zh-CN" sz="2400">
                <a:latin typeface="Times New Roman" panose="02020603050405020304" pitchFamily="18" charset="0"/>
                <a:cs typeface="Times New Roman" panose="02020603050405020304" pitchFamily="18" charset="0"/>
              </a:rPr>
              <a:t>IP</a:t>
            </a:r>
            <a:r>
              <a:rPr lang="zh-CN" altLang="en-US" sz="2400">
                <a:latin typeface="Times New Roman" panose="02020603050405020304" pitchFamily="18" charset="0"/>
              </a:rPr>
              <a:t>地址和物理地址，以避免其它站再都运行</a:t>
            </a:r>
            <a:r>
              <a:rPr lang="en-US" altLang="zh-CN" sz="2400">
                <a:latin typeface="Times New Roman" panose="02020603050405020304" pitchFamily="18" charset="0"/>
                <a:cs typeface="Times New Roman" panose="02020603050405020304" pitchFamily="18" charset="0"/>
              </a:rPr>
              <a:t>ARP</a:t>
            </a:r>
            <a:r>
              <a:rPr lang="zh-CN" altLang="en-US" sz="2400">
                <a:latin typeface="Times New Roman" panose="02020603050405020304" pitchFamily="18" charset="0"/>
              </a:rPr>
              <a:t>。</a:t>
            </a:r>
            <a:r>
              <a:rPr lang="zh-CN" altLang="en-US"/>
              <a:t> </a:t>
            </a:r>
          </a:p>
        </p:txBody>
      </p:sp>
      <p:sp>
        <p:nvSpPr>
          <p:cNvPr id="65539" name="Rectangle 3"/>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优化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22">
                                            <p:txEl>
                                              <p:pRg st="0" end="0"/>
                                            </p:txEl>
                                          </p:spTgt>
                                        </p:tgtEl>
                                        <p:attrNameLst>
                                          <p:attrName>style.visibility</p:attrName>
                                        </p:attrNameLst>
                                      </p:cBhvr>
                                      <p:to>
                                        <p:strVal val="visible"/>
                                      </p:to>
                                    </p:set>
                                    <p:anim calcmode="lin" valueType="num">
                                      <p:cBhvr additive="base">
                                        <p:cTn id="7" dur="500" fill="hold"/>
                                        <p:tgtEl>
                                          <p:spTgt spid="182272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27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2722">
                                            <p:txEl>
                                              <p:pRg st="1" end="1"/>
                                            </p:txEl>
                                          </p:spTgt>
                                        </p:tgtEl>
                                        <p:attrNameLst>
                                          <p:attrName>style.visibility</p:attrName>
                                        </p:attrNameLst>
                                      </p:cBhvr>
                                      <p:to>
                                        <p:strVal val="visible"/>
                                      </p:to>
                                    </p:set>
                                    <p:anim calcmode="lin" valueType="num">
                                      <p:cBhvr additive="base">
                                        <p:cTn id="13" dur="500" fill="hold"/>
                                        <p:tgtEl>
                                          <p:spTgt spid="182272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27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2722">
                                            <p:txEl>
                                              <p:pRg st="2" end="2"/>
                                            </p:txEl>
                                          </p:spTgt>
                                        </p:tgtEl>
                                        <p:attrNameLst>
                                          <p:attrName>style.visibility</p:attrName>
                                        </p:attrNameLst>
                                      </p:cBhvr>
                                      <p:to>
                                        <p:strVal val="visible"/>
                                      </p:to>
                                    </p:set>
                                    <p:anim calcmode="lin" valueType="num">
                                      <p:cBhvr additive="base">
                                        <p:cTn id="19" dur="500" fill="hold"/>
                                        <p:tgtEl>
                                          <p:spTgt spid="182272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272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2722">
                                            <p:txEl>
                                              <p:pRg st="3" end="3"/>
                                            </p:txEl>
                                          </p:spTgt>
                                        </p:tgtEl>
                                        <p:attrNameLst>
                                          <p:attrName>style.visibility</p:attrName>
                                        </p:attrNameLst>
                                      </p:cBhvr>
                                      <p:to>
                                        <p:strVal val="visible"/>
                                      </p:to>
                                    </p:set>
                                    <p:anim calcmode="lin" valueType="num">
                                      <p:cBhvr additive="base">
                                        <p:cTn id="25" dur="500" fill="hold"/>
                                        <p:tgtEl>
                                          <p:spTgt spid="182272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272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2"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bwMode="auto">
          <a:xfrm>
            <a:off x="2230438" y="473075"/>
            <a:ext cx="7772400" cy="5159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DHCP</a:t>
            </a:r>
          </a:p>
        </p:txBody>
      </p:sp>
      <p:sp>
        <p:nvSpPr>
          <p:cNvPr id="1830915" name="Text Box 3"/>
          <p:cNvSpPr txBox="1">
            <a:spLocks noChangeArrowheads="1"/>
          </p:cNvSpPr>
          <p:nvPr/>
        </p:nvSpPr>
        <p:spPr bwMode="auto">
          <a:xfrm>
            <a:off x="2794000" y="1606550"/>
            <a:ext cx="6713538"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1"/>
                </a:solidFill>
                <a:latin typeface="Arial" panose="020B0604020202020204" pitchFamily="34" charset="0"/>
              </a:rPr>
              <a:t>• DHCP = </a:t>
            </a:r>
            <a:r>
              <a:rPr lang="zh-CN" altLang="en-US">
                <a:solidFill>
                  <a:schemeClr val="tx1"/>
                </a:solidFill>
                <a:latin typeface="Arial" panose="020B0604020202020204" pitchFamily="34" charset="0"/>
              </a:rPr>
              <a:t>动态主机配置协议</a:t>
            </a:r>
          </a:p>
          <a:p>
            <a:pPr>
              <a:spcBef>
                <a:spcPct val="50000"/>
              </a:spcBef>
            </a:pP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基于</a:t>
            </a:r>
            <a:r>
              <a:rPr lang="en-US" altLang="zh-CN">
                <a:solidFill>
                  <a:schemeClr val="tx1"/>
                </a:solidFill>
                <a:latin typeface="Arial" panose="020B0604020202020204" pitchFamily="34" charset="0"/>
              </a:rPr>
              <a:t>C/S</a:t>
            </a:r>
            <a:r>
              <a:rPr lang="zh-CN" altLang="en-US">
                <a:solidFill>
                  <a:schemeClr val="tx1"/>
                </a:solidFill>
                <a:latin typeface="Arial" panose="020B0604020202020204" pitchFamily="34" charset="0"/>
              </a:rPr>
              <a:t>的方法来动态分配</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 </a:t>
            </a:r>
          </a:p>
          <a:p>
            <a:pPr>
              <a:spcBef>
                <a:spcPct val="50000"/>
              </a:spcBef>
            </a:pPr>
            <a:r>
              <a:rPr lang="en-US" altLang="zh-CN">
                <a:solidFill>
                  <a:schemeClr val="tx1"/>
                </a:solidFill>
                <a:latin typeface="Arial" panose="020B0604020202020204" pitchFamily="34" charset="0"/>
              </a:rPr>
              <a:t>• DHCP </a:t>
            </a:r>
            <a:r>
              <a:rPr lang="zh-CN" altLang="en-US">
                <a:solidFill>
                  <a:schemeClr val="tx1"/>
                </a:solidFill>
                <a:latin typeface="Arial" panose="020B0604020202020204" pitchFamily="34" charset="0"/>
              </a:rPr>
              <a:t>服务器维持了一个</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地址的缓冲池</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并根据主机的请求来分配它们</a:t>
            </a:r>
            <a:endParaRPr lang="zh-CN" altLang="en-US">
              <a:solidFill>
                <a:schemeClr val="tx1"/>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30915">
                                            <p:txEl>
                                              <p:pRg st="0" end="0"/>
                                            </p:txEl>
                                          </p:spTgt>
                                        </p:tgtEl>
                                        <p:attrNameLst>
                                          <p:attrName>style.visibility</p:attrName>
                                        </p:attrNameLst>
                                      </p:cBhvr>
                                      <p:to>
                                        <p:strVal val="visible"/>
                                      </p:to>
                                    </p:set>
                                    <p:anim calcmode="lin" valueType="num">
                                      <p:cBhvr additive="base">
                                        <p:cTn id="7" dur="500" fill="hold"/>
                                        <p:tgtEl>
                                          <p:spTgt spid="18309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309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30915">
                                            <p:txEl>
                                              <p:pRg st="1" end="1"/>
                                            </p:txEl>
                                          </p:spTgt>
                                        </p:tgtEl>
                                        <p:attrNameLst>
                                          <p:attrName>style.visibility</p:attrName>
                                        </p:attrNameLst>
                                      </p:cBhvr>
                                      <p:to>
                                        <p:strVal val="visible"/>
                                      </p:to>
                                    </p:set>
                                    <p:anim calcmode="lin" valueType="num">
                                      <p:cBhvr additive="base">
                                        <p:cTn id="13" dur="500" fill="hold"/>
                                        <p:tgtEl>
                                          <p:spTgt spid="18309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309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30915">
                                            <p:txEl>
                                              <p:pRg st="2" end="2"/>
                                            </p:txEl>
                                          </p:spTgt>
                                        </p:tgtEl>
                                        <p:attrNameLst>
                                          <p:attrName>style.visibility</p:attrName>
                                        </p:attrNameLst>
                                      </p:cBhvr>
                                      <p:to>
                                        <p:strVal val="visible"/>
                                      </p:to>
                                    </p:set>
                                    <p:anim calcmode="lin" valueType="num">
                                      <p:cBhvr additive="base">
                                        <p:cTn id="19" dur="500" fill="hold"/>
                                        <p:tgtEl>
                                          <p:spTgt spid="18309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3091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body" idx="1"/>
          </p:nvPr>
        </p:nvSpPr>
        <p:spPr bwMode="auto">
          <a:xfrm>
            <a:off x="3640139" y="1541464"/>
            <a:ext cx="6230937" cy="725487"/>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77500" lnSpcReduction="20000"/>
          </a:bodyPr>
          <a:lstStyle/>
          <a:p>
            <a:pPr eaLnBrk="1" hangingPunct="1">
              <a:lnSpc>
                <a:spcPct val="90000"/>
              </a:lnSpc>
            </a:pPr>
            <a:r>
              <a:rPr lang="zh-CN" altLang="en-US"/>
              <a:t>动态主机配置协议 </a:t>
            </a:r>
          </a:p>
          <a:p>
            <a:pPr eaLnBrk="1" hangingPunct="1">
              <a:lnSpc>
                <a:spcPct val="90000"/>
              </a:lnSpc>
            </a:pPr>
            <a:r>
              <a:rPr lang="zh-CN" altLang="en-US"/>
              <a:t>使用</a:t>
            </a:r>
            <a:r>
              <a:rPr lang="en-US" altLang="zh-CN"/>
              <a:t>ARP </a:t>
            </a:r>
            <a:r>
              <a:rPr lang="zh-CN" altLang="en-US"/>
              <a:t>把 地址分配给工作站</a:t>
            </a:r>
          </a:p>
        </p:txBody>
      </p:sp>
      <p:sp>
        <p:nvSpPr>
          <p:cNvPr id="69635" name="Line 3"/>
          <p:cNvSpPr>
            <a:spLocks noChangeShapeType="1"/>
          </p:cNvSpPr>
          <p:nvPr/>
        </p:nvSpPr>
        <p:spPr bwMode="auto">
          <a:xfrm>
            <a:off x="2590800" y="4724400"/>
            <a:ext cx="61722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69636" name="Picture 4"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6"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96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9" name="Line 7"/>
          <p:cNvSpPr>
            <a:spLocks noChangeShapeType="1"/>
          </p:cNvSpPr>
          <p:nvPr/>
        </p:nvSpPr>
        <p:spPr bwMode="auto">
          <a:xfrm>
            <a:off x="34290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0" name="Line 8"/>
          <p:cNvSpPr>
            <a:spLocks noChangeShapeType="1"/>
          </p:cNvSpPr>
          <p:nvPr/>
        </p:nvSpPr>
        <p:spPr bwMode="auto">
          <a:xfrm>
            <a:off x="51054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1" name="Line 9"/>
          <p:cNvSpPr>
            <a:spLocks noChangeShapeType="1"/>
          </p:cNvSpPr>
          <p:nvPr/>
        </p:nvSpPr>
        <p:spPr bwMode="auto">
          <a:xfrm>
            <a:off x="67818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1946" name="Rectangle 10"/>
          <p:cNvSpPr>
            <a:spLocks noChangeArrowheads="1"/>
          </p:cNvSpPr>
          <p:nvPr/>
        </p:nvSpPr>
        <p:spPr bwMode="auto">
          <a:xfrm>
            <a:off x="2209800" y="2667000"/>
            <a:ext cx="1600200" cy="1066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DHCP</a:t>
            </a:r>
          </a:p>
          <a:p>
            <a:pPr algn="ctr" eaLnBrk="1" hangingPunct="1"/>
            <a:r>
              <a:rPr lang="en-US" altLang="zh-CN" sz="2400">
                <a:solidFill>
                  <a:schemeClr val="tx1"/>
                </a:solidFill>
                <a:latin typeface="Tahoma" panose="020B0604030504040204" pitchFamily="34" charset="0"/>
              </a:rPr>
              <a:t>Server</a:t>
            </a:r>
          </a:p>
        </p:txBody>
      </p:sp>
      <p:sp>
        <p:nvSpPr>
          <p:cNvPr id="69643" name="Line 11"/>
          <p:cNvSpPr>
            <a:spLocks noChangeShapeType="1"/>
          </p:cNvSpPr>
          <p:nvPr/>
        </p:nvSpPr>
        <p:spPr bwMode="auto">
          <a:xfrm>
            <a:off x="8077200" y="41910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1948" name="Rectangle 12"/>
          <p:cNvSpPr>
            <a:spLocks noChangeArrowheads="1"/>
          </p:cNvSpPr>
          <p:nvPr/>
        </p:nvSpPr>
        <p:spPr bwMode="auto">
          <a:xfrm>
            <a:off x="4876800" y="5410200"/>
            <a:ext cx="5334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831949" name="AutoShape 13"/>
          <p:cNvSpPr>
            <a:spLocks noChangeArrowheads="1"/>
          </p:cNvSpPr>
          <p:nvPr/>
        </p:nvSpPr>
        <p:spPr bwMode="auto">
          <a:xfrm>
            <a:off x="2362200" y="3810000"/>
            <a:ext cx="2057400" cy="1371600"/>
          </a:xfrm>
          <a:prstGeom prst="wedgeRoundRectCallout">
            <a:avLst>
              <a:gd name="adj1" fmla="val 64815"/>
              <a:gd name="adj2" fmla="val 65856"/>
              <a:gd name="adj3" fmla="val 16667"/>
            </a:avLst>
          </a:prstGeom>
          <a:solidFill>
            <a:srgbClr val="CCFFFF"/>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b="1">
                <a:solidFill>
                  <a:schemeClr val="tx1"/>
                </a:solidFill>
                <a:latin typeface="Tahoma" panose="020B0604030504040204" pitchFamily="34" charset="0"/>
              </a:rPr>
              <a:t>Broadcast:</a:t>
            </a:r>
          </a:p>
          <a:p>
            <a:pPr algn="ctr" eaLnBrk="1" hangingPunct="1"/>
            <a:r>
              <a:rPr lang="en-US" altLang="zh-CN" sz="2000">
                <a:solidFill>
                  <a:schemeClr val="tx1"/>
                </a:solidFill>
                <a:latin typeface="Tahoma" panose="020B0604030504040204" pitchFamily="34" charset="0"/>
              </a:rPr>
              <a:t>My hardware address is </a:t>
            </a:r>
            <a:r>
              <a:rPr lang="en-US" altLang="zh-CN" sz="2000" i="1">
                <a:solidFill>
                  <a:schemeClr val="hlink"/>
                </a:solidFill>
                <a:latin typeface="Tahoma" panose="020B0604030504040204" pitchFamily="34" charset="0"/>
              </a:rPr>
              <a:t>this</a:t>
            </a:r>
            <a:r>
              <a:rPr lang="en-US" altLang="zh-CN" sz="2000">
                <a:solidFill>
                  <a:schemeClr val="tx1"/>
                </a:solidFill>
                <a:latin typeface="Tahoma" panose="020B0604030504040204" pitchFamily="34" charset="0"/>
              </a:rPr>
              <a:t>. Who am I?</a:t>
            </a:r>
          </a:p>
        </p:txBody>
      </p:sp>
      <p:sp>
        <p:nvSpPr>
          <p:cNvPr id="69646" name="Rectangle 14"/>
          <p:cNvSpPr>
            <a:spLocks noChangeArrowheads="1"/>
          </p:cNvSpPr>
          <p:nvPr/>
        </p:nvSpPr>
        <p:spPr bwMode="auto">
          <a:xfrm>
            <a:off x="7772400" y="3352800"/>
            <a:ext cx="990600" cy="838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Relay</a:t>
            </a:r>
          </a:p>
          <a:p>
            <a:pPr algn="ctr" eaLnBrk="1" hangingPunct="1"/>
            <a:r>
              <a:rPr lang="en-US" altLang="zh-CN" sz="2400">
                <a:solidFill>
                  <a:schemeClr val="tx1"/>
                </a:solidFill>
                <a:latin typeface="Tahoma" panose="020B0604030504040204" pitchFamily="34" charset="0"/>
              </a:rPr>
              <a:t>Agent</a:t>
            </a:r>
          </a:p>
        </p:txBody>
      </p:sp>
      <p:sp>
        <p:nvSpPr>
          <p:cNvPr id="1831951" name="Freeform 15"/>
          <p:cNvSpPr>
            <a:spLocks/>
          </p:cNvSpPr>
          <p:nvPr/>
        </p:nvSpPr>
        <p:spPr bwMode="auto">
          <a:xfrm>
            <a:off x="3886200" y="2730500"/>
            <a:ext cx="3733800" cy="698500"/>
          </a:xfrm>
          <a:custGeom>
            <a:avLst/>
            <a:gdLst>
              <a:gd name="T0" fmla="*/ 2147483646 w 2352"/>
              <a:gd name="T1" fmla="*/ 2147483646 h 440"/>
              <a:gd name="T2" fmla="*/ 2147483646 w 2352"/>
              <a:gd name="T3" fmla="*/ 2147483646 h 440"/>
              <a:gd name="T4" fmla="*/ 0 w 2352"/>
              <a:gd name="T5" fmla="*/ 2147483646 h 440"/>
              <a:gd name="T6" fmla="*/ 0 60000 65536"/>
              <a:gd name="T7" fmla="*/ 0 60000 65536"/>
              <a:gd name="T8" fmla="*/ 0 60000 65536"/>
              <a:gd name="T9" fmla="*/ 0 w 2352"/>
              <a:gd name="T10" fmla="*/ 0 h 440"/>
              <a:gd name="T11" fmla="*/ 2352 w 2352"/>
              <a:gd name="T12" fmla="*/ 440 h 440"/>
            </a:gdLst>
            <a:ahLst/>
            <a:cxnLst>
              <a:cxn ang="T6">
                <a:pos x="T0" y="T1"/>
              </a:cxn>
              <a:cxn ang="T7">
                <a:pos x="T2" y="T3"/>
              </a:cxn>
              <a:cxn ang="T8">
                <a:pos x="T4" y="T5"/>
              </a:cxn>
            </a:cxnLst>
            <a:rect l="T9" t="T10" r="T11" b="T12"/>
            <a:pathLst>
              <a:path w="2352" h="440">
                <a:moveTo>
                  <a:pt x="2352" y="440"/>
                </a:moveTo>
                <a:cubicBezTo>
                  <a:pt x="1972" y="276"/>
                  <a:pt x="1592" y="112"/>
                  <a:pt x="1200" y="56"/>
                </a:cubicBezTo>
                <a:cubicBezTo>
                  <a:pt x="808" y="0"/>
                  <a:pt x="200" y="96"/>
                  <a:pt x="0" y="104"/>
                </a:cubicBezTo>
              </a:path>
            </a:pathLst>
          </a:custGeom>
          <a:noFill/>
          <a:ln w="9525">
            <a:solidFill>
              <a:schemeClr val="hlink"/>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31952" name="Text Box 16"/>
          <p:cNvSpPr txBox="1">
            <a:spLocks noChangeArrowheads="1"/>
          </p:cNvSpPr>
          <p:nvPr/>
        </p:nvSpPr>
        <p:spPr bwMode="auto">
          <a:xfrm>
            <a:off x="4648200" y="2700339"/>
            <a:ext cx="2819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Request IP for Eth</a:t>
            </a:r>
          </a:p>
          <a:p>
            <a:pPr eaLnBrk="1" hangingPunct="1"/>
            <a:r>
              <a:rPr lang="en-US" altLang="zh-CN" sz="2400">
                <a:solidFill>
                  <a:schemeClr val="tx1"/>
                </a:solidFill>
                <a:latin typeface="Tahoma" panose="020B0604030504040204" pitchFamily="34" charset="0"/>
              </a:rPr>
              <a:t>address </a:t>
            </a:r>
            <a:r>
              <a:rPr lang="en-US" altLang="zh-CN" sz="2400" i="1">
                <a:solidFill>
                  <a:schemeClr val="hlink"/>
                </a:solidFill>
                <a:latin typeface="Tahoma" panose="020B0604030504040204" pitchFamily="34" charset="0"/>
              </a:rPr>
              <a:t>this</a:t>
            </a:r>
          </a:p>
        </p:txBody>
      </p:sp>
      <p:sp>
        <p:nvSpPr>
          <p:cNvPr id="1831953" name="Freeform 17"/>
          <p:cNvSpPr>
            <a:spLocks/>
          </p:cNvSpPr>
          <p:nvPr/>
        </p:nvSpPr>
        <p:spPr bwMode="auto">
          <a:xfrm>
            <a:off x="3886200" y="3429000"/>
            <a:ext cx="3810000" cy="546100"/>
          </a:xfrm>
          <a:custGeom>
            <a:avLst/>
            <a:gdLst>
              <a:gd name="T0" fmla="*/ 0 w 2400"/>
              <a:gd name="T1" fmla="*/ 0 h 344"/>
              <a:gd name="T2" fmla="*/ 2147483646 w 2400"/>
              <a:gd name="T3" fmla="*/ 2147483646 h 344"/>
              <a:gd name="T4" fmla="*/ 2147483646 w 2400"/>
              <a:gd name="T5" fmla="*/ 2147483646 h 344"/>
              <a:gd name="T6" fmla="*/ 0 60000 65536"/>
              <a:gd name="T7" fmla="*/ 0 60000 65536"/>
              <a:gd name="T8" fmla="*/ 0 60000 65536"/>
              <a:gd name="T9" fmla="*/ 0 w 2400"/>
              <a:gd name="T10" fmla="*/ 0 h 344"/>
              <a:gd name="T11" fmla="*/ 2400 w 2400"/>
              <a:gd name="T12" fmla="*/ 344 h 344"/>
            </a:gdLst>
            <a:ahLst/>
            <a:cxnLst>
              <a:cxn ang="T6">
                <a:pos x="T0" y="T1"/>
              </a:cxn>
              <a:cxn ang="T7">
                <a:pos x="T2" y="T3"/>
              </a:cxn>
              <a:cxn ang="T8">
                <a:pos x="T4" y="T5"/>
              </a:cxn>
            </a:cxnLst>
            <a:rect l="T9" t="T10" r="T11" b="T12"/>
            <a:pathLst>
              <a:path w="2400" h="344">
                <a:moveTo>
                  <a:pt x="0" y="0"/>
                </a:moveTo>
                <a:cubicBezTo>
                  <a:pt x="352" y="116"/>
                  <a:pt x="704" y="232"/>
                  <a:pt x="1104" y="288"/>
                </a:cubicBezTo>
                <a:cubicBezTo>
                  <a:pt x="1504" y="344"/>
                  <a:pt x="2184" y="328"/>
                  <a:pt x="2400" y="336"/>
                </a:cubicBezTo>
              </a:path>
            </a:pathLst>
          </a:custGeom>
          <a:noFill/>
          <a:ln w="9525">
            <a:solidFill>
              <a:schemeClr val="hlink"/>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31954" name="Text Box 18"/>
          <p:cNvSpPr txBox="1">
            <a:spLocks noChangeArrowheads="1"/>
          </p:cNvSpPr>
          <p:nvPr/>
        </p:nvSpPr>
        <p:spPr bwMode="auto">
          <a:xfrm>
            <a:off x="5867400" y="3886200"/>
            <a:ext cx="160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IP address</a:t>
            </a:r>
          </a:p>
        </p:txBody>
      </p:sp>
      <p:sp>
        <p:nvSpPr>
          <p:cNvPr id="69651" name="Rectangle 19"/>
          <p:cNvSpPr>
            <a:spLocks noGrp="1" noChangeArrowheads="1"/>
          </p:cNvSpPr>
          <p:nvPr>
            <p:ph type="title"/>
          </p:nvPr>
        </p:nvSpPr>
        <p:spPr bwMode="auto">
          <a:xfrm>
            <a:off x="2268538"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DHCP</a:t>
            </a:r>
          </a:p>
        </p:txBody>
      </p:sp>
      <p:grpSp>
        <p:nvGrpSpPr>
          <p:cNvPr id="2" name="Group 20"/>
          <p:cNvGrpSpPr>
            <a:grpSpLocks/>
          </p:cNvGrpSpPr>
          <p:nvPr/>
        </p:nvGrpSpPr>
        <p:grpSpPr bwMode="auto">
          <a:xfrm>
            <a:off x="5651500" y="4800600"/>
            <a:ext cx="4178300" cy="990600"/>
            <a:chOff x="2600" y="3024"/>
            <a:chExt cx="2632" cy="624"/>
          </a:xfrm>
        </p:grpSpPr>
        <p:sp>
          <p:nvSpPr>
            <p:cNvPr id="69653" name="AutoShape 21"/>
            <p:cNvSpPr>
              <a:spLocks noChangeArrowheads="1"/>
            </p:cNvSpPr>
            <p:nvPr/>
          </p:nvSpPr>
          <p:spPr bwMode="auto">
            <a:xfrm>
              <a:off x="4560" y="3024"/>
              <a:ext cx="672" cy="624"/>
            </a:xfrm>
            <a:prstGeom prst="wedgeRoundRectCallout">
              <a:avLst>
                <a:gd name="adj1" fmla="val -42412"/>
                <a:gd name="adj2" fmla="val -107370"/>
                <a:gd name="adj3" fmla="val 16667"/>
              </a:avLst>
            </a:prstGeom>
            <a:solidFill>
              <a:srgbClr val="CCFFFF"/>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Your IP is </a:t>
              </a:r>
              <a:r>
                <a:rPr lang="en-US" altLang="zh-CN" sz="2000" i="1">
                  <a:solidFill>
                    <a:schemeClr val="hlink"/>
                  </a:solidFill>
                  <a:latin typeface="Tahoma" panose="020B0604030504040204" pitchFamily="34" charset="0"/>
                </a:rPr>
                <a:t>that</a:t>
              </a:r>
            </a:p>
          </p:txBody>
        </p:sp>
        <p:sp>
          <p:nvSpPr>
            <p:cNvPr id="69654" name="Line 22"/>
            <p:cNvSpPr>
              <a:spLocks noChangeShapeType="1"/>
            </p:cNvSpPr>
            <p:nvPr/>
          </p:nvSpPr>
          <p:spPr bwMode="auto">
            <a:xfrm flipH="1">
              <a:off x="2600" y="3285"/>
              <a:ext cx="1930" cy="218"/>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194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83194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499"/>
                                          </p:stCondLst>
                                        </p:cTn>
                                        <p:tgtEl>
                                          <p:spTgt spid="1831951"/>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831952"/>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183194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831953"/>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18319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1946" grpId="0" animBg="1" autoUpdateAnimBg="0"/>
      <p:bldP spid="1831948" grpId="0" animBg="1"/>
      <p:bldP spid="1831949" grpId="0" animBg="1" autoUpdateAnimBg="0"/>
      <p:bldP spid="1831952" grpId="0" autoUpdateAnimBg="0"/>
      <p:bldP spid="1831954"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bwMode="auto">
          <a:xfrm>
            <a:off x="2249488"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  DHCP</a:t>
            </a:r>
            <a:r>
              <a:rPr lang="zh-CN" altLang="en-US" sz="3600">
                <a:solidFill>
                  <a:schemeClr val="hlink"/>
                </a:solidFill>
                <a:ea typeface="华文行楷" panose="02010800040101010101" pitchFamily="2" charset="-122"/>
              </a:rPr>
              <a:t>说明</a:t>
            </a:r>
          </a:p>
        </p:txBody>
      </p:sp>
      <p:sp>
        <p:nvSpPr>
          <p:cNvPr id="70659" name="Text Box 3"/>
          <p:cNvSpPr txBox="1">
            <a:spLocks noChangeArrowheads="1"/>
          </p:cNvSpPr>
          <p:nvPr/>
        </p:nvSpPr>
        <p:spPr bwMode="auto">
          <a:xfrm>
            <a:off x="2774950" y="1660526"/>
            <a:ext cx="6927850" cy="333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 </a:t>
            </a:r>
            <a:r>
              <a:rPr lang="zh-CN" altLang="en-US">
                <a:solidFill>
                  <a:schemeClr val="tx1"/>
                </a:solidFill>
                <a:latin typeface="Arial" panose="020B0604020202020204" pitchFamily="34" charset="0"/>
              </a:rPr>
              <a:t>基于 </a:t>
            </a:r>
            <a:r>
              <a:rPr lang="en-US" altLang="zh-CN">
                <a:solidFill>
                  <a:schemeClr val="tx2"/>
                </a:solidFill>
                <a:latin typeface="Arial" panose="020B0604020202020204" pitchFamily="34" charset="0"/>
              </a:rPr>
              <a:t>BOOTP</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一个动态分配 </a:t>
            </a:r>
            <a:r>
              <a:rPr lang="en-US" altLang="zh-CN">
                <a:solidFill>
                  <a:schemeClr val="tx1"/>
                </a:solidFill>
                <a:latin typeface="Arial" panose="020B0604020202020204" pitchFamily="34" charset="0"/>
              </a:rPr>
              <a:t>IP </a:t>
            </a:r>
            <a:r>
              <a:rPr lang="zh-CN" altLang="en-US">
                <a:solidFill>
                  <a:schemeClr val="tx1"/>
                </a:solidFill>
                <a:latin typeface="Arial" panose="020B0604020202020204" pitchFamily="34" charset="0"/>
              </a:rPr>
              <a:t>地址的早期协议</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a:t>
            </a:r>
            <a:r>
              <a:rPr lang="zh-CN" altLang="en-US">
                <a:solidFill>
                  <a:schemeClr val="tx1"/>
                </a:solidFill>
                <a:latin typeface="Arial" panose="020B0604020202020204" pitchFamily="34" charset="0"/>
              </a:rPr>
              <a:t>服务器拥有一块可以动态分配给主机的</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 </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 </a:t>
            </a:r>
            <a:r>
              <a:rPr lang="zh-CN" altLang="en-US">
                <a:solidFill>
                  <a:schemeClr val="tx1"/>
                </a:solidFill>
                <a:latin typeface="Arial" panose="020B0604020202020204" pitchFamily="34" charset="0"/>
              </a:rPr>
              <a:t>允许</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地址被租用一段时间</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当租期满时，服务器能重新分配该地址</a:t>
            </a:r>
            <a:r>
              <a:rPr lang="en-US" altLang="zh-CN">
                <a:solidFill>
                  <a:schemeClr val="tx1"/>
                </a:solidFill>
                <a:latin typeface="Arial" panose="020B0604020202020204" pitchFamily="34" charset="0"/>
              </a:rPr>
              <a:t>.</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a:t>
            </a:r>
            <a:r>
              <a:rPr lang="zh-CN" altLang="en-US">
                <a:solidFill>
                  <a:schemeClr val="tx1"/>
                </a:solidFill>
                <a:latin typeface="Arial" panose="020B0604020202020204" pitchFamily="34" charset="0"/>
              </a:rPr>
              <a:t>报文以</a:t>
            </a:r>
            <a:r>
              <a:rPr lang="en-US" altLang="zh-CN">
                <a:solidFill>
                  <a:schemeClr val="tx1"/>
                </a:solidFill>
                <a:latin typeface="Arial" panose="020B0604020202020204" pitchFamily="34" charset="0"/>
              </a:rPr>
              <a:t>UDP/IP</a:t>
            </a:r>
            <a:r>
              <a:rPr lang="zh-CN" altLang="en-US">
                <a:solidFill>
                  <a:schemeClr val="tx1"/>
                </a:solidFill>
                <a:latin typeface="Arial" panose="020B0604020202020204" pitchFamily="34" charset="0"/>
              </a:rPr>
              <a:t>的形式传送</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bwMode="auto">
          <a:xfrm>
            <a:off x="5135563" y="358775"/>
            <a:ext cx="3268662" cy="55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eaLnBrk="1" hangingPunct="1"/>
            <a:r>
              <a:rPr lang="en-US" altLang="zh-CN" sz="3600">
                <a:solidFill>
                  <a:schemeClr val="hlink"/>
                </a:solidFill>
                <a:ea typeface="华文行楷" panose="02010800040101010101" pitchFamily="2" charset="-122"/>
              </a:rPr>
              <a:t>DNS</a:t>
            </a:r>
          </a:p>
        </p:txBody>
      </p:sp>
      <p:sp>
        <p:nvSpPr>
          <p:cNvPr id="71683" name="Text Box 4"/>
          <p:cNvSpPr txBox="1">
            <a:spLocks noChangeArrowheads="1"/>
          </p:cNvSpPr>
          <p:nvPr/>
        </p:nvSpPr>
        <p:spPr bwMode="auto">
          <a:xfrm>
            <a:off x="4244976" y="2746375"/>
            <a:ext cx="40481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7200">
                <a:solidFill>
                  <a:schemeClr val="tx1"/>
                </a:solidFill>
                <a:latin typeface="隶书" panose="02010509060101010101" pitchFamily="49" charset="-122"/>
                <a:ea typeface="隶书" panose="02010509060101010101" pitchFamily="49" charset="-122"/>
              </a:rPr>
              <a:t>域名系统</a:t>
            </a:r>
            <a:r>
              <a:rPr lang="zh-CN" altLang="en-US">
                <a:solidFill>
                  <a:schemeClr val="tx1"/>
                </a:solidFill>
                <a:latin typeface="隶书" panose="02010509060101010101" pitchFamily="49" charset="-122"/>
                <a:ea typeface="隶书" panose="02010509060101010101" pitchFamily="49" charset="-122"/>
              </a:rPr>
              <a:t> </a:t>
            </a:r>
          </a:p>
        </p:txBody>
      </p:sp>
    </p:spTree>
  </p:cSld>
  <p:clrMapOvr>
    <a:masterClrMapping/>
  </p:clrMapOvr>
  <p:transition spd="med">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idx="1"/>
          </p:nvPr>
        </p:nvSpPr>
        <p:spPr bwMode="auto">
          <a:xfrm>
            <a:off x="3121025" y="1311275"/>
            <a:ext cx="6465888"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110000"/>
              </a:lnSpc>
              <a:spcBef>
                <a:spcPct val="0"/>
              </a:spcBef>
            </a:pPr>
            <a:r>
              <a:rPr lang="zh-CN" altLang="en-US"/>
              <a:t>名字</a:t>
            </a:r>
            <a:r>
              <a:rPr lang="en-US" altLang="zh-CN"/>
              <a:t>: www.swjtu.edu.cn</a:t>
            </a:r>
          </a:p>
          <a:p>
            <a:pPr eaLnBrk="1" hangingPunct="1">
              <a:lnSpc>
                <a:spcPct val="110000"/>
              </a:lnSpc>
              <a:spcBef>
                <a:spcPct val="0"/>
              </a:spcBef>
            </a:pPr>
            <a:r>
              <a:rPr lang="en-US" altLang="zh-CN"/>
              <a:t>IP </a:t>
            </a:r>
            <a:r>
              <a:rPr lang="zh-CN" altLang="en-US"/>
              <a:t>地址</a:t>
            </a:r>
            <a:r>
              <a:rPr lang="en-US" altLang="zh-CN"/>
              <a:t>: 202.110.64.146</a:t>
            </a:r>
          </a:p>
          <a:p>
            <a:pPr lvl="1" eaLnBrk="1" hangingPunct="1">
              <a:lnSpc>
                <a:spcPct val="110000"/>
              </a:lnSpc>
              <a:spcBef>
                <a:spcPct val="0"/>
              </a:spcBef>
            </a:pPr>
            <a:r>
              <a:rPr lang="en-US" altLang="zh-CN"/>
              <a:t>(</a:t>
            </a:r>
            <a:r>
              <a:rPr lang="zh-CN" altLang="en-US"/>
              <a:t>也包括</a:t>
            </a:r>
            <a:r>
              <a:rPr lang="en-US" altLang="zh-CN"/>
              <a:t>Ethernet </a:t>
            </a:r>
            <a:r>
              <a:rPr lang="zh-CN" altLang="en-US"/>
              <a:t>或其他 链路层地址</a:t>
            </a:r>
            <a:r>
              <a:rPr lang="en-US" altLang="zh-CN"/>
              <a:t>.)</a:t>
            </a:r>
          </a:p>
          <a:p>
            <a:pPr eaLnBrk="1" hangingPunct="1">
              <a:lnSpc>
                <a:spcPct val="110000"/>
              </a:lnSpc>
              <a:spcBef>
                <a:spcPct val="0"/>
              </a:spcBef>
            </a:pPr>
            <a:r>
              <a:rPr lang="en-US" altLang="zh-CN"/>
              <a:t>IP</a:t>
            </a:r>
            <a:r>
              <a:rPr lang="zh-CN" altLang="en-US"/>
              <a:t>地址是固定长度的数字</a:t>
            </a:r>
            <a:r>
              <a:rPr lang="en-US" altLang="zh-CN"/>
              <a:t>.</a:t>
            </a:r>
          </a:p>
          <a:p>
            <a:pPr lvl="1" eaLnBrk="1" hangingPunct="1">
              <a:lnSpc>
                <a:spcPct val="110000"/>
              </a:lnSpc>
              <a:spcBef>
                <a:spcPct val="0"/>
              </a:spcBef>
            </a:pPr>
            <a:r>
              <a:rPr lang="en-US" altLang="zh-CN"/>
              <a:t>32 bits </a:t>
            </a:r>
          </a:p>
          <a:p>
            <a:pPr eaLnBrk="1" hangingPunct="1">
              <a:lnSpc>
                <a:spcPct val="110000"/>
              </a:lnSpc>
              <a:spcBef>
                <a:spcPct val="0"/>
              </a:spcBef>
            </a:pPr>
            <a:r>
              <a:rPr lang="zh-CN" altLang="en-US"/>
              <a:t>名字便于记忆，灵活</a:t>
            </a:r>
          </a:p>
          <a:p>
            <a:pPr lvl="1" eaLnBrk="1" hangingPunct="1">
              <a:lnSpc>
                <a:spcPct val="110000"/>
              </a:lnSpc>
              <a:spcBef>
                <a:spcPct val="0"/>
              </a:spcBef>
            </a:pPr>
            <a:r>
              <a:rPr lang="zh-CN" altLang="en-US"/>
              <a:t>长度可变</a:t>
            </a:r>
          </a:p>
          <a:p>
            <a:pPr lvl="1" eaLnBrk="1" hangingPunct="1">
              <a:lnSpc>
                <a:spcPct val="110000"/>
              </a:lnSpc>
              <a:spcBef>
                <a:spcPct val="0"/>
              </a:spcBef>
            </a:pPr>
            <a:r>
              <a:rPr lang="zh-CN" altLang="en-US"/>
              <a:t>单个 </a:t>
            </a:r>
            <a:r>
              <a:rPr lang="en-US" altLang="zh-CN"/>
              <a:t>IP</a:t>
            </a:r>
            <a:r>
              <a:rPr lang="zh-CN" altLang="en-US"/>
              <a:t>地址可有多个名字</a:t>
            </a:r>
            <a:r>
              <a:rPr lang="en-US" altLang="zh-CN"/>
              <a:t>. </a:t>
            </a:r>
          </a:p>
          <a:p>
            <a:pPr lvl="1" eaLnBrk="1" hangingPunct="1">
              <a:lnSpc>
                <a:spcPct val="110000"/>
              </a:lnSpc>
              <a:spcBef>
                <a:spcPct val="0"/>
              </a:spcBef>
            </a:pPr>
            <a:r>
              <a:rPr lang="zh-CN" altLang="en-US"/>
              <a:t>地址的改变不意味着改变名字</a:t>
            </a:r>
            <a:r>
              <a:rPr lang="en-US" altLang="zh-CN"/>
              <a:t>.</a:t>
            </a:r>
          </a:p>
          <a:p>
            <a:pPr lvl="1" eaLnBrk="1" hangingPunct="1">
              <a:lnSpc>
                <a:spcPct val="110000"/>
              </a:lnSpc>
              <a:spcBef>
                <a:spcPct val="0"/>
              </a:spcBef>
            </a:pPr>
            <a:r>
              <a:rPr lang="en-US" altLang="zh-CN"/>
              <a:t>iPv6</a:t>
            </a:r>
            <a:r>
              <a:rPr lang="zh-CN" altLang="en-US"/>
              <a:t>地址是 </a:t>
            </a:r>
            <a:r>
              <a:rPr lang="en-US" altLang="zh-CN"/>
              <a:t>128</a:t>
            </a:r>
            <a:r>
              <a:rPr lang="zh-CN" altLang="en-US"/>
              <a:t>位 </a:t>
            </a:r>
            <a:r>
              <a:rPr lang="en-US" altLang="zh-CN">
                <a:latin typeface="Comic Sans MS" panose="030F0702030302020204" pitchFamily="66" charset="0"/>
              </a:rPr>
              <a:t>–</a:t>
            </a:r>
            <a:r>
              <a:rPr lang="en-US" altLang="zh-CN"/>
              <a:t> </a:t>
            </a:r>
            <a:r>
              <a:rPr lang="zh-CN" altLang="en-US"/>
              <a:t>更难记忆</a:t>
            </a:r>
            <a:r>
              <a:rPr lang="en-US" altLang="zh-CN"/>
              <a:t>!</a:t>
            </a:r>
          </a:p>
        </p:txBody>
      </p:sp>
      <p:sp>
        <p:nvSpPr>
          <p:cNvPr id="72707" name="Rectangle 4"/>
          <p:cNvSpPr>
            <a:spLocks noGrp="1" noChangeArrowheads="1"/>
          </p:cNvSpPr>
          <p:nvPr>
            <p:ph type="title"/>
          </p:nvPr>
        </p:nvSpPr>
        <p:spPr bwMode="auto">
          <a:xfrm>
            <a:off x="3251200" y="349250"/>
            <a:ext cx="53419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域名与地址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共存</a:t>
            </a:r>
            <a:r>
              <a:rPr lang="en-US" altLang="zh-CN" sz="3600">
                <a:solidFill>
                  <a:schemeClr val="hlink"/>
                </a:solidFill>
                <a:ea typeface="华文行楷" panose="02010800040101010101" pitchFamily="2" charset="-122"/>
              </a:rPr>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idx="1"/>
          </p:nvPr>
        </p:nvSpPr>
        <p:spPr bwMode="auto">
          <a:xfrm>
            <a:off x="2222500" y="1511300"/>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一个域名可能有多个</a:t>
            </a:r>
            <a:r>
              <a:rPr lang="en-US" altLang="zh-CN"/>
              <a:t>IP</a:t>
            </a:r>
            <a:r>
              <a:rPr lang="zh-CN" altLang="en-US"/>
              <a:t>地址 </a:t>
            </a:r>
          </a:p>
          <a:p>
            <a:pPr lvl="1" eaLnBrk="1" hangingPunct="1">
              <a:lnSpc>
                <a:spcPct val="90000"/>
              </a:lnSpc>
            </a:pPr>
            <a:r>
              <a:rPr lang="zh-CN" altLang="en-US"/>
              <a:t>每个网络接口有一个</a:t>
            </a:r>
            <a:r>
              <a:rPr lang="en-US" altLang="zh-CN"/>
              <a:t>IP</a:t>
            </a:r>
            <a:r>
              <a:rPr lang="zh-CN" altLang="en-US"/>
              <a:t>地址</a:t>
            </a:r>
          </a:p>
          <a:p>
            <a:pPr lvl="1" eaLnBrk="1" hangingPunct="1">
              <a:lnSpc>
                <a:spcPct val="90000"/>
              </a:lnSpc>
            </a:pPr>
            <a:r>
              <a:rPr lang="zh-CN" altLang="en-US"/>
              <a:t>多穴主机有不止一个网络接口 </a:t>
            </a:r>
            <a:r>
              <a:rPr lang="en-US" altLang="zh-CN"/>
              <a:t>-</a:t>
            </a:r>
            <a:r>
              <a:rPr lang="en-US" altLang="zh-CN">
                <a:latin typeface="Comic Sans MS" panose="030F0702030302020204" pitchFamily="66" charset="0"/>
              </a:rPr>
              <a:t>–</a:t>
            </a:r>
            <a:r>
              <a:rPr lang="en-US" altLang="zh-CN"/>
              <a:t> </a:t>
            </a:r>
            <a:r>
              <a:rPr lang="zh-CN" altLang="en-US"/>
              <a:t>每个有一个自己的</a:t>
            </a:r>
            <a:r>
              <a:rPr lang="en-US" altLang="zh-CN"/>
              <a:t>IP </a:t>
            </a:r>
            <a:r>
              <a:rPr lang="zh-CN" altLang="en-US"/>
              <a:t>地址</a:t>
            </a:r>
          </a:p>
          <a:p>
            <a:pPr lvl="1" eaLnBrk="1" hangingPunct="1">
              <a:lnSpc>
                <a:spcPct val="90000"/>
              </a:lnSpc>
            </a:pPr>
            <a:r>
              <a:rPr lang="zh-CN" altLang="en-US"/>
              <a:t>例</a:t>
            </a:r>
            <a:r>
              <a:rPr lang="en-US" altLang="zh-CN"/>
              <a:t>: </a:t>
            </a:r>
            <a:r>
              <a:rPr lang="zh-CN" altLang="en-US"/>
              <a:t>路由器、网关</a:t>
            </a:r>
          </a:p>
          <a:p>
            <a:pPr eaLnBrk="1" hangingPunct="1">
              <a:lnSpc>
                <a:spcPct val="90000"/>
              </a:lnSpc>
            </a:pPr>
            <a:r>
              <a:rPr lang="zh-CN" altLang="en-US"/>
              <a:t>一个</a:t>
            </a:r>
            <a:r>
              <a:rPr lang="en-US" altLang="zh-CN"/>
              <a:t>IP</a:t>
            </a:r>
            <a:r>
              <a:rPr lang="zh-CN" altLang="en-US"/>
              <a:t>地址可能映射到多个名字 </a:t>
            </a:r>
          </a:p>
          <a:p>
            <a:pPr lvl="1" eaLnBrk="1" hangingPunct="1">
              <a:lnSpc>
                <a:spcPct val="90000"/>
              </a:lnSpc>
            </a:pPr>
            <a:r>
              <a:rPr lang="zh-CN" altLang="en-US"/>
              <a:t>一台服务服务器可能是</a:t>
            </a:r>
            <a:r>
              <a:rPr lang="en-US" altLang="zh-CN"/>
              <a:t>web</a:t>
            </a:r>
            <a:r>
              <a:rPr lang="zh-CN" altLang="en-US"/>
              <a:t>服务器</a:t>
            </a:r>
            <a:r>
              <a:rPr lang="en-US" altLang="zh-CN"/>
              <a:t>(www.foo,com) </a:t>
            </a:r>
            <a:r>
              <a:rPr lang="zh-CN" altLang="en-US"/>
              <a:t>，邮件服务器（</a:t>
            </a:r>
            <a:r>
              <a:rPr lang="en-US" altLang="zh-CN"/>
              <a:t>mail server</a:t>
            </a:r>
            <a:r>
              <a:rPr lang="zh-CN" altLang="en-US"/>
              <a:t>） </a:t>
            </a:r>
            <a:r>
              <a:rPr lang="en-US" altLang="zh-CN"/>
              <a:t>(mail.foo.com)</a:t>
            </a:r>
            <a:r>
              <a:rPr lang="zh-CN" altLang="en-US"/>
              <a:t>等等  </a:t>
            </a:r>
          </a:p>
          <a:p>
            <a:pPr eaLnBrk="1" hangingPunct="1">
              <a:lnSpc>
                <a:spcPct val="90000"/>
              </a:lnSpc>
              <a:buFont typeface="Wingdings" panose="05000000000000000000" pitchFamily="2" charset="2"/>
              <a:buNone/>
            </a:pPr>
            <a:endParaRPr lang="en-US" altLang="zh-CN"/>
          </a:p>
        </p:txBody>
      </p:sp>
      <p:sp>
        <p:nvSpPr>
          <p:cNvPr id="73731" name="Rectangle 4"/>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不是一对一的映射</a:t>
            </a:r>
            <a:endParaRPr lang="zh-CN" altLang="en-US"/>
          </a:p>
        </p:txBody>
      </p:sp>
    </p:spTree>
  </p:cSld>
  <p:clrMapOvr>
    <a:masterClrMapping/>
  </p:clrMapOvr>
  <p:transition spd="med">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hlinkClick r:id="rId2" action="ppaction://hlinksldjump"/>
          </p:cNvPr>
          <p:cNvSpPr>
            <a:spLocks noChangeArrowheads="1"/>
          </p:cNvSpPr>
          <p:nvPr/>
        </p:nvSpPr>
        <p:spPr bwMode="auto">
          <a:xfrm>
            <a:off x="1828800" y="13970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5" name="Rectangle 4">
            <a:hlinkClick r:id="rId2" action="ppaction://hlinksldjump"/>
          </p:cNvPr>
          <p:cNvSpPr>
            <a:spLocks noChangeArrowheads="1"/>
          </p:cNvSpPr>
          <p:nvPr/>
        </p:nvSpPr>
        <p:spPr bwMode="auto">
          <a:xfrm>
            <a:off x="1981200" y="15494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6" name="Rectangle 5">
            <a:hlinkClick r:id="rId3" action="ppaction://hlinksldjump"/>
          </p:cNvPr>
          <p:cNvSpPr>
            <a:spLocks noChangeArrowheads="1"/>
          </p:cNvSpPr>
          <p:nvPr/>
        </p:nvSpPr>
        <p:spPr bwMode="auto">
          <a:xfrm>
            <a:off x="1905000" y="2540000"/>
            <a:ext cx="2819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7" name="Rectangle 6">
            <a:hlinkClick r:id="rId4" action="ppaction://hlinksldjump"/>
          </p:cNvPr>
          <p:cNvSpPr>
            <a:spLocks noChangeArrowheads="1"/>
          </p:cNvSpPr>
          <p:nvPr/>
        </p:nvSpPr>
        <p:spPr bwMode="auto">
          <a:xfrm>
            <a:off x="8458200" y="28638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ccTLDs</a:t>
            </a:r>
          </a:p>
        </p:txBody>
      </p:sp>
      <p:sp>
        <p:nvSpPr>
          <p:cNvPr id="74758" name="Text Box 7"/>
          <p:cNvSpPr txBox="1">
            <a:spLocks noChangeArrowheads="1"/>
          </p:cNvSpPr>
          <p:nvPr/>
        </p:nvSpPr>
        <p:spPr bwMode="auto">
          <a:xfrm>
            <a:off x="5029200" y="1473200"/>
            <a:ext cx="207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root (unnamed)</a:t>
            </a:r>
          </a:p>
        </p:txBody>
      </p:sp>
      <p:sp>
        <p:nvSpPr>
          <p:cNvPr id="74759" name="Text Box 8"/>
          <p:cNvSpPr txBox="1">
            <a:spLocks noChangeArrowheads="1"/>
          </p:cNvSpPr>
          <p:nvPr/>
        </p:nvSpPr>
        <p:spPr bwMode="auto">
          <a:xfrm>
            <a:off x="2438401" y="231140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com</a:t>
            </a:r>
          </a:p>
        </p:txBody>
      </p:sp>
      <p:sp>
        <p:nvSpPr>
          <p:cNvPr id="74760" name="Text Box 9"/>
          <p:cNvSpPr txBox="1">
            <a:spLocks noChangeArrowheads="1"/>
          </p:cNvSpPr>
          <p:nvPr/>
        </p:nvSpPr>
        <p:spPr bwMode="auto">
          <a:xfrm>
            <a:off x="4648201" y="2311400"/>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mil</a:t>
            </a:r>
          </a:p>
        </p:txBody>
      </p:sp>
      <p:sp>
        <p:nvSpPr>
          <p:cNvPr id="74761" name="Text Box 10"/>
          <p:cNvSpPr txBox="1">
            <a:spLocks noChangeArrowheads="1"/>
          </p:cNvSpPr>
          <p:nvPr/>
        </p:nvSpPr>
        <p:spPr bwMode="auto">
          <a:xfrm>
            <a:off x="3886200" y="23114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gov</a:t>
            </a:r>
          </a:p>
        </p:txBody>
      </p:sp>
      <p:sp>
        <p:nvSpPr>
          <p:cNvPr id="74762" name="Text Box 11"/>
          <p:cNvSpPr txBox="1">
            <a:spLocks noChangeArrowheads="1"/>
          </p:cNvSpPr>
          <p:nvPr/>
        </p:nvSpPr>
        <p:spPr bwMode="auto">
          <a:xfrm>
            <a:off x="3200400" y="2311400"/>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edu</a:t>
            </a:r>
          </a:p>
        </p:txBody>
      </p:sp>
      <p:sp>
        <p:nvSpPr>
          <p:cNvPr id="74763" name="Text Box 12"/>
          <p:cNvSpPr txBox="1">
            <a:spLocks noChangeArrowheads="1"/>
          </p:cNvSpPr>
          <p:nvPr/>
        </p:nvSpPr>
        <p:spPr bwMode="auto">
          <a:xfrm>
            <a:off x="7924800" y="231140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gr</a:t>
            </a:r>
          </a:p>
        </p:txBody>
      </p:sp>
      <p:sp>
        <p:nvSpPr>
          <p:cNvPr id="74764" name="Text Box 13"/>
          <p:cNvSpPr txBox="1">
            <a:spLocks noChangeArrowheads="1"/>
          </p:cNvSpPr>
          <p:nvPr/>
        </p:nvSpPr>
        <p:spPr bwMode="auto">
          <a:xfrm>
            <a:off x="5943600" y="23114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org</a:t>
            </a:r>
          </a:p>
        </p:txBody>
      </p:sp>
      <p:sp>
        <p:nvSpPr>
          <p:cNvPr id="74765" name="Text Box 14"/>
          <p:cNvSpPr txBox="1">
            <a:spLocks noChangeArrowheads="1"/>
          </p:cNvSpPr>
          <p:nvPr/>
        </p:nvSpPr>
        <p:spPr bwMode="auto">
          <a:xfrm>
            <a:off x="5334001" y="2311400"/>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net</a:t>
            </a:r>
          </a:p>
        </p:txBody>
      </p:sp>
      <p:sp>
        <p:nvSpPr>
          <p:cNvPr id="74766" name="Text Box 15"/>
          <p:cNvSpPr txBox="1">
            <a:spLocks noChangeArrowheads="1"/>
          </p:cNvSpPr>
          <p:nvPr/>
        </p:nvSpPr>
        <p:spPr bwMode="auto">
          <a:xfrm>
            <a:off x="7391400" y="23114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fr</a:t>
            </a:r>
          </a:p>
        </p:txBody>
      </p:sp>
      <p:sp>
        <p:nvSpPr>
          <p:cNvPr id="74767" name="Text Box 16"/>
          <p:cNvSpPr txBox="1">
            <a:spLocks noChangeArrowheads="1"/>
          </p:cNvSpPr>
          <p:nvPr/>
        </p:nvSpPr>
        <p:spPr bwMode="auto">
          <a:xfrm>
            <a:off x="9067800" y="2311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uk</a:t>
            </a:r>
          </a:p>
        </p:txBody>
      </p:sp>
      <p:sp>
        <p:nvSpPr>
          <p:cNvPr id="74768" name="Text Box 17"/>
          <p:cNvSpPr txBox="1">
            <a:spLocks noChangeArrowheads="1"/>
          </p:cNvSpPr>
          <p:nvPr/>
        </p:nvSpPr>
        <p:spPr bwMode="auto">
          <a:xfrm>
            <a:off x="8534401" y="23114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a:t>
            </a:r>
          </a:p>
        </p:txBody>
      </p:sp>
      <p:sp>
        <p:nvSpPr>
          <p:cNvPr id="74769" name="Text Box 18"/>
          <p:cNvSpPr txBox="1">
            <a:spLocks noChangeArrowheads="1"/>
          </p:cNvSpPr>
          <p:nvPr/>
        </p:nvSpPr>
        <p:spPr bwMode="auto">
          <a:xfrm>
            <a:off x="9525000" y="2159000"/>
            <a:ext cx="488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3200">
                <a:solidFill>
                  <a:schemeClr val="tx1"/>
                </a:solidFill>
              </a:rPr>
              <a:t>...</a:t>
            </a:r>
          </a:p>
        </p:txBody>
      </p:sp>
      <p:sp>
        <p:nvSpPr>
          <p:cNvPr id="74770" name="Text Box 19"/>
          <p:cNvSpPr txBox="1">
            <a:spLocks noChangeArrowheads="1"/>
          </p:cNvSpPr>
          <p:nvPr/>
        </p:nvSpPr>
        <p:spPr bwMode="auto">
          <a:xfrm>
            <a:off x="6629400" y="2159000"/>
            <a:ext cx="488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3200">
                <a:solidFill>
                  <a:schemeClr val="tx1"/>
                </a:solidFill>
              </a:rPr>
              <a:t>...</a:t>
            </a:r>
          </a:p>
        </p:txBody>
      </p:sp>
      <p:sp>
        <p:nvSpPr>
          <p:cNvPr id="74771" name="Line 20"/>
          <p:cNvSpPr>
            <a:spLocks noChangeShapeType="1"/>
          </p:cNvSpPr>
          <p:nvPr/>
        </p:nvSpPr>
        <p:spPr bwMode="auto">
          <a:xfrm flipH="1">
            <a:off x="2895600" y="1854200"/>
            <a:ext cx="2133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2" name="Line 21"/>
          <p:cNvSpPr>
            <a:spLocks noChangeShapeType="1"/>
          </p:cNvSpPr>
          <p:nvPr/>
        </p:nvSpPr>
        <p:spPr bwMode="auto">
          <a:xfrm flipH="1">
            <a:off x="3657600" y="19304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3" name="Line 22"/>
          <p:cNvSpPr>
            <a:spLocks noChangeShapeType="1"/>
          </p:cNvSpPr>
          <p:nvPr/>
        </p:nvSpPr>
        <p:spPr bwMode="auto">
          <a:xfrm flipH="1">
            <a:off x="4953000" y="19304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4" name="Line 23"/>
          <p:cNvSpPr>
            <a:spLocks noChangeShapeType="1"/>
          </p:cNvSpPr>
          <p:nvPr/>
        </p:nvSpPr>
        <p:spPr bwMode="auto">
          <a:xfrm flipH="1">
            <a:off x="5638800" y="1854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5" name="Line 24"/>
          <p:cNvSpPr>
            <a:spLocks noChangeShapeType="1"/>
          </p:cNvSpPr>
          <p:nvPr/>
        </p:nvSpPr>
        <p:spPr bwMode="auto">
          <a:xfrm flipH="1">
            <a:off x="6248400" y="1854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6" name="Line 25"/>
          <p:cNvSpPr>
            <a:spLocks noChangeShapeType="1"/>
          </p:cNvSpPr>
          <p:nvPr/>
        </p:nvSpPr>
        <p:spPr bwMode="auto">
          <a:xfrm>
            <a:off x="6477000" y="1930400"/>
            <a:ext cx="1066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7" name="Line 26"/>
          <p:cNvSpPr>
            <a:spLocks noChangeShapeType="1"/>
          </p:cNvSpPr>
          <p:nvPr/>
        </p:nvSpPr>
        <p:spPr bwMode="auto">
          <a:xfrm flipH="1">
            <a:off x="4343400" y="1930400"/>
            <a:ext cx="1143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8" name="Line 27"/>
          <p:cNvSpPr>
            <a:spLocks noChangeShapeType="1"/>
          </p:cNvSpPr>
          <p:nvPr/>
        </p:nvSpPr>
        <p:spPr bwMode="auto">
          <a:xfrm>
            <a:off x="7086600" y="19304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Line 28"/>
          <p:cNvSpPr>
            <a:spLocks noChangeShapeType="1"/>
          </p:cNvSpPr>
          <p:nvPr/>
        </p:nvSpPr>
        <p:spPr bwMode="auto">
          <a:xfrm>
            <a:off x="7086600" y="18542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0" name="Line 29"/>
          <p:cNvSpPr>
            <a:spLocks noChangeShapeType="1"/>
          </p:cNvSpPr>
          <p:nvPr/>
        </p:nvSpPr>
        <p:spPr bwMode="auto">
          <a:xfrm>
            <a:off x="6781800" y="1930400"/>
            <a:ext cx="1371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1" name="Rectangle 30"/>
          <p:cNvSpPr>
            <a:spLocks noChangeArrowheads="1"/>
          </p:cNvSpPr>
          <p:nvPr/>
        </p:nvSpPr>
        <p:spPr bwMode="auto">
          <a:xfrm>
            <a:off x="2266950" y="2463800"/>
            <a:ext cx="4819650" cy="4572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82" name="Text Box 31"/>
          <p:cNvSpPr txBox="1">
            <a:spLocks noChangeArrowheads="1"/>
          </p:cNvSpPr>
          <p:nvPr/>
        </p:nvSpPr>
        <p:spPr bwMode="auto">
          <a:xfrm>
            <a:off x="2971800" y="3454400"/>
            <a:ext cx="1028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cornell</a:t>
            </a:r>
          </a:p>
        </p:txBody>
      </p:sp>
      <p:sp>
        <p:nvSpPr>
          <p:cNvPr id="74783" name="Text Box 32"/>
          <p:cNvSpPr txBox="1">
            <a:spLocks noChangeArrowheads="1"/>
          </p:cNvSpPr>
          <p:nvPr/>
        </p:nvSpPr>
        <p:spPr bwMode="auto">
          <a:xfrm>
            <a:off x="4572000" y="3454400"/>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ustreas</a:t>
            </a:r>
          </a:p>
        </p:txBody>
      </p:sp>
      <p:sp>
        <p:nvSpPr>
          <p:cNvPr id="74784" name="Line 33"/>
          <p:cNvSpPr>
            <a:spLocks noChangeShapeType="1"/>
          </p:cNvSpPr>
          <p:nvPr/>
        </p:nvSpPr>
        <p:spPr bwMode="auto">
          <a:xfrm>
            <a:off x="4267200" y="27686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5" name="AutoShape 34"/>
          <p:cNvSpPr>
            <a:spLocks/>
          </p:cNvSpPr>
          <p:nvPr/>
        </p:nvSpPr>
        <p:spPr bwMode="auto">
          <a:xfrm>
            <a:off x="6019800" y="3454400"/>
            <a:ext cx="152400" cy="533400"/>
          </a:xfrm>
          <a:prstGeom prst="rightBrace">
            <a:avLst>
              <a:gd name="adj1" fmla="val 29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86" name="Rectangle 35">
            <a:hlinkClick r:id="rId4" action="ppaction://hlinksldjump"/>
          </p:cNvPr>
          <p:cNvSpPr>
            <a:spLocks noChangeArrowheads="1"/>
          </p:cNvSpPr>
          <p:nvPr/>
        </p:nvSpPr>
        <p:spPr bwMode="auto">
          <a:xfrm>
            <a:off x="7620000" y="3454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second level (sub-)domains</a:t>
            </a:r>
          </a:p>
        </p:txBody>
      </p:sp>
      <p:sp>
        <p:nvSpPr>
          <p:cNvPr id="74787" name="Text Box 36"/>
          <p:cNvSpPr txBox="1">
            <a:spLocks noChangeArrowheads="1"/>
          </p:cNvSpPr>
          <p:nvPr/>
        </p:nvSpPr>
        <p:spPr bwMode="auto">
          <a:xfrm>
            <a:off x="1676400" y="3454400"/>
            <a:ext cx="92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lucent</a:t>
            </a:r>
          </a:p>
        </p:txBody>
      </p:sp>
      <p:sp>
        <p:nvSpPr>
          <p:cNvPr id="74788" name="Line 37"/>
          <p:cNvSpPr>
            <a:spLocks noChangeShapeType="1"/>
          </p:cNvSpPr>
          <p:nvPr/>
        </p:nvSpPr>
        <p:spPr bwMode="auto">
          <a:xfrm flipH="1">
            <a:off x="2133600" y="2692400"/>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9" name="Line 38"/>
          <p:cNvSpPr>
            <a:spLocks noChangeShapeType="1"/>
          </p:cNvSpPr>
          <p:nvPr/>
        </p:nvSpPr>
        <p:spPr bwMode="auto">
          <a:xfrm flipH="1">
            <a:off x="3505200" y="2844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0" name="Rectangle 39"/>
          <p:cNvSpPr>
            <a:spLocks noChangeArrowheads="1"/>
          </p:cNvSpPr>
          <p:nvPr/>
        </p:nvSpPr>
        <p:spPr bwMode="auto">
          <a:xfrm>
            <a:off x="7315200" y="2444750"/>
            <a:ext cx="3048000" cy="4572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91" name="Rectangle 40">
            <a:hlinkClick r:id="rId4" action="ppaction://hlinksldjump"/>
          </p:cNvPr>
          <p:cNvSpPr>
            <a:spLocks noChangeArrowheads="1"/>
          </p:cNvSpPr>
          <p:nvPr/>
        </p:nvSpPr>
        <p:spPr bwMode="auto">
          <a:xfrm>
            <a:off x="5048250" y="29019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gTLDs</a:t>
            </a:r>
          </a:p>
        </p:txBody>
      </p:sp>
      <p:sp>
        <p:nvSpPr>
          <p:cNvPr id="74792" name="Rectangle 41">
            <a:hlinkClick r:id="rId4" action="ppaction://hlinksldjump"/>
          </p:cNvPr>
          <p:cNvSpPr>
            <a:spLocks noChangeArrowheads="1"/>
          </p:cNvSpPr>
          <p:nvPr/>
        </p:nvSpPr>
        <p:spPr bwMode="auto">
          <a:xfrm>
            <a:off x="2417763" y="4649788"/>
            <a:ext cx="77724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gTLDs= Generic Top Level Domains</a:t>
            </a:r>
          </a:p>
          <a:p>
            <a:pPr algn="ctr"/>
            <a:r>
              <a:rPr lang="zh-CN" altLang="en-US" sz="2400">
                <a:solidFill>
                  <a:schemeClr val="tx1"/>
                </a:solidFill>
                <a:latin typeface="Arial" panose="020B0604020202020204" pitchFamily="34" charset="0"/>
              </a:rPr>
              <a:t>（普通顶级域名） </a:t>
            </a:r>
          </a:p>
          <a:p>
            <a:pPr algn="ctr"/>
            <a:r>
              <a:rPr lang="en-US" altLang="zh-CN" sz="2400">
                <a:solidFill>
                  <a:schemeClr val="tx1"/>
                </a:solidFill>
                <a:latin typeface="Arial" panose="020B0604020202020204" pitchFamily="34" charset="0"/>
              </a:rPr>
              <a:t>ccTLDs = Country Code Top Level Domains</a:t>
            </a:r>
          </a:p>
          <a:p>
            <a:pPr algn="ctr"/>
            <a:r>
              <a:rPr lang="zh-CN" altLang="en-US" sz="2400">
                <a:solidFill>
                  <a:schemeClr val="tx1"/>
                </a:solidFill>
                <a:latin typeface="Arial" panose="020B0604020202020204" pitchFamily="34" charset="0"/>
              </a:rPr>
              <a:t>（国家代码顶级域名）</a:t>
            </a:r>
          </a:p>
        </p:txBody>
      </p:sp>
      <p:sp>
        <p:nvSpPr>
          <p:cNvPr id="74793" name="Rectangle 42"/>
          <p:cNvSpPr>
            <a:spLocks noGrp="1" noChangeArrowheads="1"/>
          </p:cNvSpPr>
          <p:nvPr>
            <p:ph type="title"/>
          </p:nvPr>
        </p:nvSpPr>
        <p:spPr bwMode="auto">
          <a:xfrm>
            <a:off x="2209800"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域名结构</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bwMode="auto">
          <a:xfrm>
            <a:off x="2925764" y="1454150"/>
            <a:ext cx="7107237" cy="48656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普通顶级域名 </a:t>
            </a:r>
            <a:r>
              <a:rPr lang="en-US" altLang="zh-CN"/>
              <a:t>(gTLDs)</a:t>
            </a:r>
          </a:p>
          <a:p>
            <a:pPr lvl="1" eaLnBrk="1" hangingPunct="1">
              <a:lnSpc>
                <a:spcPct val="90000"/>
              </a:lnSpc>
            </a:pPr>
            <a:r>
              <a:rPr lang="en-US" altLang="zh-CN"/>
              <a:t>.com </a:t>
            </a:r>
            <a:r>
              <a:rPr lang="en-US" altLang="zh-CN">
                <a:latin typeface="Comic Sans MS" panose="030F0702030302020204" pitchFamily="66" charset="0"/>
              </a:rPr>
              <a:t>–</a:t>
            </a:r>
            <a:r>
              <a:rPr lang="en-US" altLang="zh-CN"/>
              <a:t> </a:t>
            </a:r>
            <a:r>
              <a:rPr lang="zh-CN" altLang="en-US"/>
              <a:t>商业组织</a:t>
            </a:r>
            <a:r>
              <a:rPr lang="en-US" altLang="zh-CN"/>
              <a:t>(Commercial)</a:t>
            </a:r>
          </a:p>
          <a:p>
            <a:pPr lvl="1" eaLnBrk="1" hangingPunct="1">
              <a:lnSpc>
                <a:spcPct val="90000"/>
              </a:lnSpc>
            </a:pPr>
            <a:r>
              <a:rPr lang="en-US" altLang="zh-CN"/>
              <a:t>.org </a:t>
            </a:r>
            <a:r>
              <a:rPr lang="en-US" altLang="zh-CN">
                <a:latin typeface="Comic Sans MS" panose="030F0702030302020204" pitchFamily="66" charset="0"/>
              </a:rPr>
              <a:t>–</a:t>
            </a:r>
            <a:r>
              <a:rPr lang="en-US" altLang="zh-CN"/>
              <a:t> </a:t>
            </a:r>
            <a:r>
              <a:rPr lang="zh-CN" altLang="en-US"/>
              <a:t>非营利组织</a:t>
            </a:r>
            <a:r>
              <a:rPr lang="en-US" altLang="zh-CN"/>
              <a:t>(organizations)</a:t>
            </a:r>
          </a:p>
          <a:p>
            <a:pPr lvl="1" eaLnBrk="1" hangingPunct="1">
              <a:lnSpc>
                <a:spcPct val="90000"/>
              </a:lnSpc>
            </a:pPr>
            <a:r>
              <a:rPr lang="en-US" altLang="zh-CN"/>
              <a:t>.edu </a:t>
            </a:r>
            <a:r>
              <a:rPr lang="en-US" altLang="zh-CN">
                <a:latin typeface="Comic Sans MS" panose="030F0702030302020204" pitchFamily="66" charset="0"/>
              </a:rPr>
              <a:t>–</a:t>
            </a:r>
            <a:r>
              <a:rPr lang="en-US" altLang="zh-CN"/>
              <a:t> </a:t>
            </a:r>
            <a:r>
              <a:rPr lang="zh-CN" altLang="en-US"/>
              <a:t>教育机构</a:t>
            </a:r>
            <a:r>
              <a:rPr lang="en-US" altLang="zh-CN"/>
              <a:t>(education)</a:t>
            </a:r>
          </a:p>
          <a:p>
            <a:pPr lvl="1" eaLnBrk="1" hangingPunct="1">
              <a:lnSpc>
                <a:spcPct val="90000"/>
              </a:lnSpc>
            </a:pPr>
            <a:r>
              <a:rPr lang="en-US" altLang="zh-CN"/>
              <a:t>.mil </a:t>
            </a:r>
            <a:r>
              <a:rPr lang="en-US" altLang="zh-CN">
                <a:latin typeface="Comic Sans MS" panose="030F0702030302020204" pitchFamily="66" charset="0"/>
              </a:rPr>
              <a:t>–</a:t>
            </a:r>
            <a:r>
              <a:rPr lang="en-US" altLang="zh-CN"/>
              <a:t> </a:t>
            </a:r>
            <a:r>
              <a:rPr lang="zh-CN" altLang="en-US"/>
              <a:t>军事组织</a:t>
            </a:r>
            <a:r>
              <a:rPr lang="en-US" altLang="zh-CN"/>
              <a:t>(military)</a:t>
            </a:r>
          </a:p>
          <a:p>
            <a:pPr lvl="1" eaLnBrk="1" hangingPunct="1">
              <a:lnSpc>
                <a:spcPct val="90000"/>
              </a:lnSpc>
            </a:pPr>
            <a:r>
              <a:rPr lang="en-US" altLang="zh-CN"/>
              <a:t>.gov </a:t>
            </a:r>
            <a:r>
              <a:rPr lang="en-US" altLang="zh-CN">
                <a:latin typeface="Comic Sans MS" panose="030F0702030302020204" pitchFamily="66" charset="0"/>
              </a:rPr>
              <a:t>–</a:t>
            </a:r>
            <a:r>
              <a:rPr lang="en-US" altLang="zh-CN"/>
              <a:t> </a:t>
            </a:r>
            <a:r>
              <a:rPr lang="zh-CN" altLang="en-US"/>
              <a:t>政府机构</a:t>
            </a:r>
            <a:r>
              <a:rPr lang="en-US" altLang="zh-CN"/>
              <a:t>(government)</a:t>
            </a:r>
          </a:p>
          <a:p>
            <a:pPr lvl="1" eaLnBrk="1" hangingPunct="1">
              <a:lnSpc>
                <a:spcPct val="90000"/>
              </a:lnSpc>
            </a:pPr>
            <a:r>
              <a:rPr lang="en-US" altLang="zh-CN"/>
              <a:t>.net </a:t>
            </a:r>
            <a:r>
              <a:rPr lang="en-US" altLang="zh-CN">
                <a:latin typeface="Comic Sans MS" panose="030F0702030302020204" pitchFamily="66" charset="0"/>
              </a:rPr>
              <a:t>–</a:t>
            </a:r>
            <a:r>
              <a:rPr lang="en-US" altLang="zh-CN"/>
              <a:t> </a:t>
            </a:r>
            <a:r>
              <a:rPr lang="zh-CN" altLang="en-US"/>
              <a:t>网络服务提供商</a:t>
            </a:r>
            <a:r>
              <a:rPr lang="en-US" altLang="zh-CN"/>
              <a:t>(network)</a:t>
            </a:r>
          </a:p>
          <a:p>
            <a:pPr lvl="1" eaLnBrk="1" hangingPunct="1">
              <a:lnSpc>
                <a:spcPct val="90000"/>
              </a:lnSpc>
            </a:pPr>
            <a:r>
              <a:rPr lang="en-US" altLang="zh-CN"/>
              <a:t>New: .biz, .info, .name, </a:t>
            </a:r>
            <a:r>
              <a:rPr lang="en-US" altLang="zh-CN">
                <a:latin typeface="Comic Sans MS" panose="030F0702030302020204" pitchFamily="66" charset="0"/>
              </a:rPr>
              <a:t>…</a:t>
            </a:r>
            <a:endParaRPr lang="en-US" altLang="zh-CN"/>
          </a:p>
          <a:p>
            <a:pPr eaLnBrk="1" hangingPunct="1">
              <a:lnSpc>
                <a:spcPct val="90000"/>
              </a:lnSpc>
            </a:pPr>
            <a:r>
              <a:rPr lang="zh-CN" altLang="en-US"/>
              <a:t>国家级顶级域名 </a:t>
            </a:r>
            <a:r>
              <a:rPr lang="en-US" altLang="zh-CN"/>
              <a:t>(ccTLDs)</a:t>
            </a:r>
          </a:p>
          <a:p>
            <a:pPr lvl="1" eaLnBrk="1" hangingPunct="1">
              <a:lnSpc>
                <a:spcPct val="90000"/>
              </a:lnSpc>
            </a:pPr>
            <a:r>
              <a:rPr lang="zh-CN" altLang="en-US"/>
              <a:t>每个国家一个</a:t>
            </a:r>
            <a:r>
              <a:rPr lang="en-US" altLang="zh-CN"/>
              <a:t>(</a:t>
            </a:r>
            <a:r>
              <a:rPr lang="zh-CN" altLang="en-US"/>
              <a:t>如</a:t>
            </a:r>
            <a:r>
              <a:rPr lang="en-US" altLang="zh-CN"/>
              <a:t>cn </a:t>
            </a:r>
            <a:r>
              <a:rPr lang="zh-CN" altLang="en-US"/>
              <a:t>中国</a:t>
            </a:r>
            <a:r>
              <a:rPr lang="en-US" altLang="zh-CN"/>
              <a:t>,uk </a:t>
            </a:r>
            <a:r>
              <a:rPr lang="zh-CN" altLang="en-US"/>
              <a:t>英国</a:t>
            </a:r>
            <a:r>
              <a:rPr lang="en-US" altLang="zh-CN"/>
              <a:t>, </a:t>
            </a:r>
            <a:r>
              <a:rPr lang="en-US" altLang="zh-CN">
                <a:latin typeface="Arial" panose="020B0604020202020204" pitchFamily="34" charset="0"/>
              </a:rPr>
              <a:t>au(</a:t>
            </a:r>
            <a:r>
              <a:rPr lang="zh-CN" altLang="en-US">
                <a:latin typeface="Arial" panose="020B0604020202020204" pitchFamily="34" charset="0"/>
              </a:rPr>
              <a:t>澳大利亚）</a:t>
            </a:r>
            <a:r>
              <a:rPr lang="en-US" altLang="zh-CN">
                <a:latin typeface="Arial" panose="020B0604020202020204" pitchFamily="34" charset="0"/>
              </a:rPr>
              <a:t>, ca(</a:t>
            </a:r>
            <a:r>
              <a:rPr lang="zh-CN" altLang="en-US">
                <a:latin typeface="Arial" panose="020B0604020202020204" pitchFamily="34" charset="0"/>
              </a:rPr>
              <a:t>加拿大）</a:t>
            </a:r>
            <a:r>
              <a:rPr lang="zh-CN" altLang="en-US"/>
              <a:t> </a:t>
            </a:r>
            <a:r>
              <a:rPr lang="en-US" altLang="zh-CN">
                <a:latin typeface="Comic Sans MS" panose="030F0702030302020204" pitchFamily="66" charset="0"/>
              </a:rPr>
              <a:t>……</a:t>
            </a:r>
            <a:r>
              <a:rPr lang="en-US" altLang="zh-CN"/>
              <a:t>)</a:t>
            </a:r>
          </a:p>
        </p:txBody>
      </p:sp>
      <p:sp>
        <p:nvSpPr>
          <p:cNvPr id="75779" name="Rectangle 4"/>
          <p:cNvSpPr>
            <a:spLocks noGrp="1" noChangeArrowheads="1"/>
          </p:cNvSpPr>
          <p:nvPr>
            <p:ph type="title"/>
          </p:nvPr>
        </p:nvSpPr>
        <p:spPr bwMode="auto">
          <a:xfrm>
            <a:off x="2228850"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顶级域名 </a:t>
            </a:r>
            <a:r>
              <a:rPr lang="en-US" altLang="zh-CN" sz="3600">
                <a:solidFill>
                  <a:schemeClr val="hlink"/>
                </a:solidFill>
                <a:ea typeface="华文行楷" panose="02010800040101010101" pitchFamily="2" charset="-122"/>
              </a:rPr>
              <a:t>(TLDs)</a:t>
            </a:r>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1"/>
          </p:nvPr>
        </p:nvSpPr>
        <p:spPr bwMode="auto">
          <a:xfrm>
            <a:off x="2184400" y="1524000"/>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endParaRPr lang="en-US" altLang="zh-CN"/>
          </a:p>
          <a:p>
            <a:pPr eaLnBrk="1" hangingPunct="1"/>
            <a:r>
              <a:rPr lang="en-US" altLang="zh-CN"/>
              <a:t>Answer 1: </a:t>
            </a:r>
            <a:r>
              <a:rPr lang="zh-CN" altLang="en-US"/>
              <a:t>通常通过因特网服务提供商得到</a:t>
            </a:r>
          </a:p>
          <a:p>
            <a:pPr eaLnBrk="1" hangingPunct="1"/>
            <a:r>
              <a:rPr lang="en-US" altLang="zh-CN"/>
              <a:t>Answer 2: </a:t>
            </a:r>
            <a:r>
              <a:rPr lang="zh-CN" altLang="en-US"/>
              <a:t>如果你需要很多</a:t>
            </a:r>
            <a:r>
              <a:rPr lang="en-US" altLang="zh-CN"/>
              <a:t>IP</a:t>
            </a:r>
            <a:r>
              <a:rPr lang="zh-CN" altLang="en-US"/>
              <a:t>地址， </a:t>
            </a:r>
            <a:r>
              <a:rPr lang="en-US" altLang="zh-CN">
                <a:solidFill>
                  <a:schemeClr val="hlink"/>
                </a:solidFill>
                <a:ea typeface="华文行楷" panose="02010800040101010101" pitchFamily="2" charset="-122"/>
              </a:rPr>
              <a:t>Internet </a:t>
            </a:r>
            <a:r>
              <a:rPr lang="zh-CN" altLang="en-US">
                <a:solidFill>
                  <a:schemeClr val="hlink"/>
                </a:solidFill>
                <a:ea typeface="华文行楷" panose="02010800040101010101" pitchFamily="2" charset="-122"/>
              </a:rPr>
              <a:t>注册</a:t>
            </a:r>
            <a:r>
              <a:rPr lang="zh-CN" altLang="en-US" sz="2400"/>
              <a:t>（</a:t>
            </a:r>
            <a:r>
              <a:rPr lang="en-US" altLang="zh-CN" sz="2400"/>
              <a:t>IP </a:t>
            </a:r>
            <a:r>
              <a:rPr lang="zh-CN" altLang="en-US" sz="2400"/>
              <a:t>地址是一种希缺资源 </a:t>
            </a:r>
            <a:r>
              <a:rPr lang="en-US" altLang="zh-CN" sz="2400">
                <a:latin typeface="Comic Sans MS" panose="030F0702030302020204" pitchFamily="66" charset="0"/>
              </a:rPr>
              <a:t>–</a:t>
            </a:r>
            <a:r>
              <a:rPr lang="en-US" altLang="zh-CN" sz="2400"/>
              <a:t> </a:t>
            </a:r>
            <a:r>
              <a:rPr lang="zh-CN" altLang="en-US" sz="2400"/>
              <a:t>除非你原有的地址块已不够用，否则不要要求分配一块大的地址块 ） </a:t>
            </a:r>
            <a:endParaRPr lang="zh-CN" altLang="en-US"/>
          </a:p>
        </p:txBody>
      </p:sp>
      <p:sp>
        <p:nvSpPr>
          <p:cNvPr id="77827" name="Rectangle 4"/>
          <p:cNvSpPr>
            <a:spLocks noGrp="1" noChangeArrowheads="1"/>
          </p:cNvSpPr>
          <p:nvPr>
            <p:ph type="title"/>
          </p:nvPr>
        </p:nvSpPr>
        <p:spPr bwMode="auto">
          <a:xfrm>
            <a:off x="2189163" y="4476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怎样得到一个</a:t>
            </a:r>
            <a:r>
              <a:rPr lang="en-US" altLang="zh-CN" sz="3600">
                <a:solidFill>
                  <a:schemeClr val="hlink"/>
                </a:solidFill>
                <a:ea typeface="华文行楷" panose="02010800040101010101" pitchFamily="2" charset="-122"/>
              </a:rPr>
              <a:t>IP</a:t>
            </a:r>
            <a:r>
              <a:rPr lang="zh-CN" altLang="en-US" sz="3600">
                <a:solidFill>
                  <a:schemeClr val="hlink"/>
                </a:solidFill>
                <a:ea typeface="华文行楷" panose="02010800040101010101" pitchFamily="2" charset="-122"/>
              </a:rPr>
              <a:t>地址</a:t>
            </a: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hlinkClick r:id="rId2" action="ppaction://hlinksldjump"/>
          </p:cNvPr>
          <p:cNvSpPr>
            <a:spLocks noChangeArrowheads="1"/>
          </p:cNvSpPr>
          <p:nvPr/>
        </p:nvSpPr>
        <p:spPr bwMode="auto">
          <a:xfrm>
            <a:off x="1828800" y="16383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75" name="Rectangle 4">
            <a:hlinkClick r:id="rId2" action="ppaction://hlinksldjump"/>
          </p:cNvPr>
          <p:cNvSpPr>
            <a:spLocks noChangeArrowheads="1"/>
          </p:cNvSpPr>
          <p:nvPr/>
        </p:nvSpPr>
        <p:spPr bwMode="auto">
          <a:xfrm>
            <a:off x="1981200" y="17907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76" name="Text Box 5"/>
          <p:cNvSpPr txBox="1">
            <a:spLocks noChangeArrowheads="1"/>
          </p:cNvSpPr>
          <p:nvPr/>
        </p:nvSpPr>
        <p:spPr bwMode="auto">
          <a:xfrm>
            <a:off x="5657850" y="1676400"/>
            <a:ext cx="75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root </a:t>
            </a:r>
          </a:p>
        </p:txBody>
      </p:sp>
      <p:sp>
        <p:nvSpPr>
          <p:cNvPr id="79877" name="Line 6"/>
          <p:cNvSpPr>
            <a:spLocks noChangeShapeType="1"/>
          </p:cNvSpPr>
          <p:nvPr/>
        </p:nvSpPr>
        <p:spPr bwMode="auto">
          <a:xfrm flipH="1">
            <a:off x="2895600" y="2095500"/>
            <a:ext cx="2133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8" name="Line 7"/>
          <p:cNvSpPr>
            <a:spLocks noChangeShapeType="1"/>
          </p:cNvSpPr>
          <p:nvPr/>
        </p:nvSpPr>
        <p:spPr bwMode="auto">
          <a:xfrm flipH="1">
            <a:off x="3657600" y="21717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9" name="Line 8"/>
          <p:cNvSpPr>
            <a:spLocks noChangeShapeType="1"/>
          </p:cNvSpPr>
          <p:nvPr/>
        </p:nvSpPr>
        <p:spPr bwMode="auto">
          <a:xfrm flipH="1">
            <a:off x="4953000" y="21717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9"/>
          <p:cNvSpPr>
            <a:spLocks noChangeShapeType="1"/>
          </p:cNvSpPr>
          <p:nvPr/>
        </p:nvSpPr>
        <p:spPr bwMode="auto">
          <a:xfrm flipH="1">
            <a:off x="5638800" y="20955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10"/>
          <p:cNvSpPr>
            <a:spLocks noChangeShapeType="1"/>
          </p:cNvSpPr>
          <p:nvPr/>
        </p:nvSpPr>
        <p:spPr bwMode="auto">
          <a:xfrm flipH="1">
            <a:off x="6248400" y="20955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2" name="Line 11"/>
          <p:cNvSpPr>
            <a:spLocks noChangeShapeType="1"/>
          </p:cNvSpPr>
          <p:nvPr/>
        </p:nvSpPr>
        <p:spPr bwMode="auto">
          <a:xfrm>
            <a:off x="6477000" y="2171700"/>
            <a:ext cx="1066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Line 12"/>
          <p:cNvSpPr>
            <a:spLocks noChangeShapeType="1"/>
          </p:cNvSpPr>
          <p:nvPr/>
        </p:nvSpPr>
        <p:spPr bwMode="auto">
          <a:xfrm flipH="1">
            <a:off x="4343400" y="2171700"/>
            <a:ext cx="1143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4" name="Line 13"/>
          <p:cNvSpPr>
            <a:spLocks noChangeShapeType="1"/>
          </p:cNvSpPr>
          <p:nvPr/>
        </p:nvSpPr>
        <p:spPr bwMode="auto">
          <a:xfrm>
            <a:off x="7086600" y="21717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5" name="Line 14"/>
          <p:cNvSpPr>
            <a:spLocks noChangeShapeType="1"/>
          </p:cNvSpPr>
          <p:nvPr/>
        </p:nvSpPr>
        <p:spPr bwMode="auto">
          <a:xfrm>
            <a:off x="7086600" y="20955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6" name="Line 15"/>
          <p:cNvSpPr>
            <a:spLocks noChangeShapeType="1"/>
          </p:cNvSpPr>
          <p:nvPr/>
        </p:nvSpPr>
        <p:spPr bwMode="auto">
          <a:xfrm>
            <a:off x="6781800" y="2171700"/>
            <a:ext cx="1371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7" name="Rectangle 16">
            <a:hlinkClick r:id="rId3" action="ppaction://hlinksldjump"/>
          </p:cNvPr>
          <p:cNvSpPr>
            <a:spLocks noChangeArrowheads="1"/>
          </p:cNvSpPr>
          <p:nvPr/>
        </p:nvSpPr>
        <p:spPr bwMode="auto">
          <a:xfrm>
            <a:off x="7620000" y="36957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Structure based on</a:t>
            </a:r>
          </a:p>
          <a:p>
            <a:pPr algn="ctr"/>
            <a:r>
              <a:rPr lang="en-US" altLang="zh-CN" sz="2400" b="1">
                <a:solidFill>
                  <a:schemeClr val="tx1"/>
                </a:solidFill>
                <a:latin typeface="Arial" panose="020B0604020202020204" pitchFamily="34" charset="0"/>
              </a:rPr>
              <a:t>administrative issues.</a:t>
            </a:r>
            <a:endParaRPr lang="en-US" altLang="zh-CN" sz="2400">
              <a:solidFill>
                <a:schemeClr val="tx1"/>
              </a:solidFill>
              <a:latin typeface="Arial" panose="020B0604020202020204" pitchFamily="34" charset="0"/>
            </a:endParaRPr>
          </a:p>
        </p:txBody>
      </p:sp>
      <p:sp>
        <p:nvSpPr>
          <p:cNvPr id="79888" name="Text Box 17"/>
          <p:cNvSpPr txBox="1">
            <a:spLocks noChangeArrowheads="1"/>
          </p:cNvSpPr>
          <p:nvPr/>
        </p:nvSpPr>
        <p:spPr bwMode="auto">
          <a:xfrm>
            <a:off x="1676400" y="3695700"/>
            <a:ext cx="92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lucent</a:t>
            </a:r>
          </a:p>
        </p:txBody>
      </p:sp>
      <p:sp>
        <p:nvSpPr>
          <p:cNvPr id="79889" name="Line 18"/>
          <p:cNvSpPr>
            <a:spLocks noChangeShapeType="1"/>
          </p:cNvSpPr>
          <p:nvPr/>
        </p:nvSpPr>
        <p:spPr bwMode="auto">
          <a:xfrm flipH="1">
            <a:off x="2133600" y="2933700"/>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90" name="Rectangle 19"/>
          <p:cNvSpPr>
            <a:spLocks noChangeArrowheads="1"/>
          </p:cNvSpPr>
          <p:nvPr/>
        </p:nvSpPr>
        <p:spPr bwMode="auto">
          <a:xfrm>
            <a:off x="2286000" y="2628900"/>
            <a:ext cx="7924800" cy="457200"/>
          </a:xfrm>
          <a:prstGeom prst="rect">
            <a:avLst/>
          </a:prstGeom>
          <a:solidFill>
            <a:srgbClr val="66FFFF">
              <a:alpha val="50195"/>
            </a:srgbClr>
          </a:solidFill>
          <a:ln w="9525" cap="rnd">
            <a:solidFill>
              <a:schemeClr val="tx1"/>
            </a:solidFill>
            <a:prstDash val="sysDot"/>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91" name="Text Box 20"/>
          <p:cNvSpPr txBox="1">
            <a:spLocks noChangeArrowheads="1"/>
          </p:cNvSpPr>
          <p:nvPr/>
        </p:nvSpPr>
        <p:spPr bwMode="auto">
          <a:xfrm>
            <a:off x="2514601" y="262890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com</a:t>
            </a:r>
          </a:p>
        </p:txBody>
      </p:sp>
      <p:sp>
        <p:nvSpPr>
          <p:cNvPr id="79892" name="Text Box 21"/>
          <p:cNvSpPr txBox="1">
            <a:spLocks noChangeArrowheads="1"/>
          </p:cNvSpPr>
          <p:nvPr/>
        </p:nvSpPr>
        <p:spPr bwMode="auto">
          <a:xfrm>
            <a:off x="4724401" y="2628900"/>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mil</a:t>
            </a:r>
          </a:p>
        </p:txBody>
      </p:sp>
      <p:sp>
        <p:nvSpPr>
          <p:cNvPr id="79893" name="Text Box 22"/>
          <p:cNvSpPr txBox="1">
            <a:spLocks noChangeArrowheads="1"/>
          </p:cNvSpPr>
          <p:nvPr/>
        </p:nvSpPr>
        <p:spPr bwMode="auto">
          <a:xfrm>
            <a:off x="3962400" y="2628900"/>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edu</a:t>
            </a:r>
          </a:p>
        </p:txBody>
      </p:sp>
      <p:sp>
        <p:nvSpPr>
          <p:cNvPr id="79894" name="Text Box 23"/>
          <p:cNvSpPr txBox="1">
            <a:spLocks noChangeArrowheads="1"/>
          </p:cNvSpPr>
          <p:nvPr/>
        </p:nvSpPr>
        <p:spPr bwMode="auto">
          <a:xfrm>
            <a:off x="3276600" y="26289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gov</a:t>
            </a:r>
          </a:p>
        </p:txBody>
      </p:sp>
      <p:sp>
        <p:nvSpPr>
          <p:cNvPr id="79895" name="Text Box 24"/>
          <p:cNvSpPr txBox="1">
            <a:spLocks noChangeArrowheads="1"/>
          </p:cNvSpPr>
          <p:nvPr/>
        </p:nvSpPr>
        <p:spPr bwMode="auto">
          <a:xfrm>
            <a:off x="8001000" y="262890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gr</a:t>
            </a:r>
          </a:p>
        </p:txBody>
      </p:sp>
      <p:sp>
        <p:nvSpPr>
          <p:cNvPr id="79896" name="Text Box 25"/>
          <p:cNvSpPr txBox="1">
            <a:spLocks noChangeArrowheads="1"/>
          </p:cNvSpPr>
          <p:nvPr/>
        </p:nvSpPr>
        <p:spPr bwMode="auto">
          <a:xfrm>
            <a:off x="6019800" y="26289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org</a:t>
            </a:r>
          </a:p>
        </p:txBody>
      </p:sp>
      <p:sp>
        <p:nvSpPr>
          <p:cNvPr id="79897" name="Text Box 26"/>
          <p:cNvSpPr txBox="1">
            <a:spLocks noChangeArrowheads="1"/>
          </p:cNvSpPr>
          <p:nvPr/>
        </p:nvSpPr>
        <p:spPr bwMode="auto">
          <a:xfrm>
            <a:off x="5410201" y="2628900"/>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net</a:t>
            </a:r>
          </a:p>
        </p:txBody>
      </p:sp>
      <p:sp>
        <p:nvSpPr>
          <p:cNvPr id="79898" name="Text Box 27"/>
          <p:cNvSpPr txBox="1">
            <a:spLocks noChangeArrowheads="1"/>
          </p:cNvSpPr>
          <p:nvPr/>
        </p:nvSpPr>
        <p:spPr bwMode="auto">
          <a:xfrm>
            <a:off x="7467600" y="26289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fr</a:t>
            </a:r>
          </a:p>
        </p:txBody>
      </p:sp>
      <p:sp>
        <p:nvSpPr>
          <p:cNvPr id="79899" name="Text Box 28"/>
          <p:cNvSpPr txBox="1">
            <a:spLocks noChangeArrowheads="1"/>
          </p:cNvSpPr>
          <p:nvPr/>
        </p:nvSpPr>
        <p:spPr bwMode="auto">
          <a:xfrm>
            <a:off x="9144000" y="26289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uk</a:t>
            </a:r>
          </a:p>
        </p:txBody>
      </p:sp>
      <p:sp>
        <p:nvSpPr>
          <p:cNvPr id="79900" name="Text Box 29"/>
          <p:cNvSpPr txBox="1">
            <a:spLocks noChangeArrowheads="1"/>
          </p:cNvSpPr>
          <p:nvPr/>
        </p:nvSpPr>
        <p:spPr bwMode="auto">
          <a:xfrm>
            <a:off x="8610601" y="26289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a:t>
            </a:r>
          </a:p>
        </p:txBody>
      </p:sp>
      <p:sp>
        <p:nvSpPr>
          <p:cNvPr id="79901" name="Freeform 30"/>
          <p:cNvSpPr>
            <a:spLocks/>
          </p:cNvSpPr>
          <p:nvPr/>
        </p:nvSpPr>
        <p:spPr bwMode="auto">
          <a:xfrm>
            <a:off x="2895600" y="3695700"/>
            <a:ext cx="1371600" cy="1295400"/>
          </a:xfrm>
          <a:custGeom>
            <a:avLst/>
            <a:gdLst>
              <a:gd name="T0" fmla="*/ 2147483646 w 864"/>
              <a:gd name="T1" fmla="*/ 2147483646 h 816"/>
              <a:gd name="T2" fmla="*/ 2147483646 w 864"/>
              <a:gd name="T3" fmla="*/ 2147483646 h 816"/>
              <a:gd name="T4" fmla="*/ 2147483646 w 864"/>
              <a:gd name="T5" fmla="*/ 2147483646 h 816"/>
              <a:gd name="T6" fmla="*/ 2147483646 w 864"/>
              <a:gd name="T7" fmla="*/ 2147483646 h 816"/>
              <a:gd name="T8" fmla="*/ 2147483646 w 864"/>
              <a:gd name="T9" fmla="*/ 2147483646 h 816"/>
              <a:gd name="T10" fmla="*/ 0 w 864"/>
              <a:gd name="T11" fmla="*/ 2147483646 h 816"/>
              <a:gd name="T12" fmla="*/ 2147483646 w 864"/>
              <a:gd name="T13" fmla="*/ 2147483646 h 816"/>
              <a:gd name="T14" fmla="*/ 2147483646 w 864"/>
              <a:gd name="T15" fmla="*/ 2147483646 h 816"/>
              <a:gd name="T16" fmla="*/ 2147483646 w 864"/>
              <a:gd name="T17" fmla="*/ 2147483646 h 816"/>
              <a:gd name="T18" fmla="*/ 2147483646 w 864"/>
              <a:gd name="T19" fmla="*/ 2147483646 h 816"/>
              <a:gd name="T20" fmla="*/ 2147483646 w 864"/>
              <a:gd name="T21" fmla="*/ 2147483646 h 816"/>
              <a:gd name="T22" fmla="*/ 2147483646 w 864"/>
              <a:gd name="T23" fmla="*/ 0 h 816"/>
              <a:gd name="T24" fmla="*/ 2147483646 w 864"/>
              <a:gd name="T25" fmla="*/ 2147483646 h 816"/>
              <a:gd name="T26" fmla="*/ 2147483646 w 864"/>
              <a:gd name="T27" fmla="*/ 2147483646 h 8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4"/>
              <a:gd name="T43" fmla="*/ 0 h 816"/>
              <a:gd name="T44" fmla="*/ 864 w 864"/>
              <a:gd name="T45" fmla="*/ 816 h 8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4" h="816">
                <a:moveTo>
                  <a:pt x="239" y="22"/>
                </a:moveTo>
                <a:cubicBezTo>
                  <a:pt x="205" y="33"/>
                  <a:pt x="180" y="71"/>
                  <a:pt x="156" y="99"/>
                </a:cubicBezTo>
                <a:cubicBezTo>
                  <a:pt x="145" y="131"/>
                  <a:pt x="160" y="89"/>
                  <a:pt x="135" y="135"/>
                </a:cubicBezTo>
                <a:cubicBezTo>
                  <a:pt x="116" y="168"/>
                  <a:pt x="102" y="205"/>
                  <a:pt x="85" y="239"/>
                </a:cubicBezTo>
                <a:cubicBezTo>
                  <a:pt x="67" y="272"/>
                  <a:pt x="68" y="255"/>
                  <a:pt x="68" y="270"/>
                </a:cubicBezTo>
                <a:lnTo>
                  <a:pt x="0" y="449"/>
                </a:lnTo>
                <a:lnTo>
                  <a:pt x="75" y="816"/>
                </a:lnTo>
                <a:lnTo>
                  <a:pt x="376" y="734"/>
                </a:lnTo>
                <a:lnTo>
                  <a:pt x="413" y="408"/>
                </a:lnTo>
                <a:lnTo>
                  <a:pt x="826" y="326"/>
                </a:lnTo>
                <a:lnTo>
                  <a:pt x="864" y="41"/>
                </a:lnTo>
                <a:lnTo>
                  <a:pt x="526" y="0"/>
                </a:lnTo>
                <a:lnTo>
                  <a:pt x="283" y="71"/>
                </a:lnTo>
                <a:cubicBezTo>
                  <a:pt x="283" y="71"/>
                  <a:pt x="239" y="22"/>
                  <a:pt x="239" y="22"/>
                </a:cubicBezTo>
                <a:close/>
              </a:path>
            </a:pathLst>
          </a:custGeom>
          <a:solidFill>
            <a:srgbClr val="66FFFF">
              <a:alpha val="50195"/>
            </a:srgbClr>
          </a:solidFill>
          <a:ln w="9525">
            <a:solidFill>
              <a:schemeClr val="tx1"/>
            </a:solidFill>
            <a:round/>
            <a:headEnd/>
            <a:tailEnd/>
          </a:ln>
        </p:spPr>
        <p:txBody>
          <a:bodyPr wrap="none" anchor="ctr"/>
          <a:lstStyle/>
          <a:p>
            <a:endParaRPr lang="zh-CN" altLang="en-US"/>
          </a:p>
        </p:txBody>
      </p:sp>
      <p:sp>
        <p:nvSpPr>
          <p:cNvPr id="79902" name="Text Box 31"/>
          <p:cNvSpPr txBox="1">
            <a:spLocks noChangeArrowheads="1"/>
          </p:cNvSpPr>
          <p:nvPr/>
        </p:nvSpPr>
        <p:spPr bwMode="auto">
          <a:xfrm>
            <a:off x="3048000" y="3771900"/>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ustreas</a:t>
            </a:r>
          </a:p>
        </p:txBody>
      </p:sp>
      <p:sp>
        <p:nvSpPr>
          <p:cNvPr id="79903" name="Line 32"/>
          <p:cNvSpPr>
            <a:spLocks noChangeShapeType="1"/>
          </p:cNvSpPr>
          <p:nvPr/>
        </p:nvSpPr>
        <p:spPr bwMode="auto">
          <a:xfrm>
            <a:off x="3581400" y="30099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4" name="Line 33"/>
          <p:cNvSpPr>
            <a:spLocks noChangeShapeType="1"/>
          </p:cNvSpPr>
          <p:nvPr/>
        </p:nvSpPr>
        <p:spPr bwMode="auto">
          <a:xfrm>
            <a:off x="3962400" y="4229100"/>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5" name="Freeform 34"/>
          <p:cNvSpPr>
            <a:spLocks/>
          </p:cNvSpPr>
          <p:nvPr/>
        </p:nvSpPr>
        <p:spPr bwMode="auto">
          <a:xfrm>
            <a:off x="3759200" y="4749800"/>
            <a:ext cx="1219200" cy="1346200"/>
          </a:xfrm>
          <a:custGeom>
            <a:avLst/>
            <a:gdLst>
              <a:gd name="T0" fmla="*/ 2147483646 w 768"/>
              <a:gd name="T1" fmla="*/ 2147483646 h 848"/>
              <a:gd name="T2" fmla="*/ 2147483646 w 768"/>
              <a:gd name="T3" fmla="*/ 2147483646 h 848"/>
              <a:gd name="T4" fmla="*/ 2147483646 w 768"/>
              <a:gd name="T5" fmla="*/ 2147483646 h 848"/>
              <a:gd name="T6" fmla="*/ 2147483646 w 768"/>
              <a:gd name="T7" fmla="*/ 2147483646 h 848"/>
              <a:gd name="T8" fmla="*/ 2147483646 w 768"/>
              <a:gd name="T9" fmla="*/ 2147483646 h 848"/>
              <a:gd name="T10" fmla="*/ 2147483646 w 768"/>
              <a:gd name="T11" fmla="*/ 2147483646 h 848"/>
              <a:gd name="T12" fmla="*/ 2147483646 w 768"/>
              <a:gd name="T13" fmla="*/ 2147483646 h 848"/>
              <a:gd name="T14" fmla="*/ 0 60000 65536"/>
              <a:gd name="T15" fmla="*/ 0 60000 65536"/>
              <a:gd name="T16" fmla="*/ 0 60000 65536"/>
              <a:gd name="T17" fmla="*/ 0 60000 65536"/>
              <a:gd name="T18" fmla="*/ 0 60000 65536"/>
              <a:gd name="T19" fmla="*/ 0 60000 65536"/>
              <a:gd name="T20" fmla="*/ 0 60000 65536"/>
              <a:gd name="T21" fmla="*/ 0 w 768"/>
              <a:gd name="T22" fmla="*/ 0 h 848"/>
              <a:gd name="T23" fmla="*/ 768 w 768"/>
              <a:gd name="T24" fmla="*/ 848 h 8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8" h="848">
                <a:moveTo>
                  <a:pt x="272" y="8"/>
                </a:moveTo>
                <a:cubicBezTo>
                  <a:pt x="176" y="16"/>
                  <a:pt x="64" y="176"/>
                  <a:pt x="32" y="296"/>
                </a:cubicBezTo>
                <a:cubicBezTo>
                  <a:pt x="0" y="416"/>
                  <a:pt x="0" y="640"/>
                  <a:pt x="80" y="728"/>
                </a:cubicBezTo>
                <a:cubicBezTo>
                  <a:pt x="160" y="816"/>
                  <a:pt x="400" y="848"/>
                  <a:pt x="512" y="824"/>
                </a:cubicBezTo>
                <a:cubicBezTo>
                  <a:pt x="624" y="800"/>
                  <a:pt x="736" y="680"/>
                  <a:pt x="752" y="584"/>
                </a:cubicBezTo>
                <a:cubicBezTo>
                  <a:pt x="768" y="488"/>
                  <a:pt x="688" y="344"/>
                  <a:pt x="608" y="248"/>
                </a:cubicBezTo>
                <a:cubicBezTo>
                  <a:pt x="528" y="152"/>
                  <a:pt x="368" y="0"/>
                  <a:pt x="272" y="8"/>
                </a:cubicBezTo>
                <a:close/>
              </a:path>
            </a:pathLst>
          </a:custGeom>
          <a:solidFill>
            <a:srgbClr val="66FFFF">
              <a:alpha val="50195"/>
            </a:srgbClr>
          </a:solidFill>
          <a:ln w="9525">
            <a:solidFill>
              <a:schemeClr val="tx1"/>
            </a:solidFill>
            <a:round/>
            <a:headEnd/>
            <a:tailEnd/>
          </a:ln>
        </p:spPr>
        <p:txBody>
          <a:bodyPr wrap="none" anchor="ctr"/>
          <a:lstStyle/>
          <a:p>
            <a:endParaRPr lang="zh-CN" altLang="en-US"/>
          </a:p>
        </p:txBody>
      </p:sp>
      <p:grpSp>
        <p:nvGrpSpPr>
          <p:cNvPr id="79906" name="Group 35"/>
          <p:cNvGrpSpPr>
            <a:grpSpLocks/>
          </p:cNvGrpSpPr>
          <p:nvPr/>
        </p:nvGrpSpPr>
        <p:grpSpPr bwMode="auto">
          <a:xfrm>
            <a:off x="2971800" y="4838700"/>
            <a:ext cx="3048000" cy="1219200"/>
            <a:chOff x="864" y="3024"/>
            <a:chExt cx="1920" cy="768"/>
          </a:xfrm>
        </p:grpSpPr>
        <p:sp>
          <p:nvSpPr>
            <p:cNvPr id="79913" name="Rectangle 36">
              <a:hlinkClick r:id="rId4" action="ppaction://hlinksldjump"/>
            </p:cNvPr>
            <p:cNvSpPr>
              <a:spLocks noChangeArrowheads="1"/>
            </p:cNvSpPr>
            <p:nvPr/>
          </p:nvSpPr>
          <p:spPr bwMode="auto">
            <a:xfrm>
              <a:off x="864" y="3456"/>
              <a:ext cx="19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www</a:t>
              </a:r>
            </a:p>
          </p:txBody>
        </p:sp>
        <p:sp>
          <p:nvSpPr>
            <p:cNvPr id="79914" name="Text Box 37"/>
            <p:cNvSpPr txBox="1">
              <a:spLocks noChangeArrowheads="1"/>
            </p:cNvSpPr>
            <p:nvPr/>
          </p:nvSpPr>
          <p:spPr bwMode="auto">
            <a:xfrm>
              <a:off x="1440" y="30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irs</a:t>
              </a:r>
            </a:p>
          </p:txBody>
        </p:sp>
        <p:sp>
          <p:nvSpPr>
            <p:cNvPr id="79915" name="Line 38"/>
            <p:cNvSpPr>
              <a:spLocks noChangeShapeType="1"/>
            </p:cNvSpPr>
            <p:nvPr/>
          </p:nvSpPr>
          <p:spPr bwMode="auto">
            <a:xfrm>
              <a:off x="1680" y="3264"/>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39"/>
          <p:cNvGrpSpPr>
            <a:grpSpLocks/>
          </p:cNvGrpSpPr>
          <p:nvPr/>
        </p:nvGrpSpPr>
        <p:grpSpPr bwMode="auto">
          <a:xfrm>
            <a:off x="4343400" y="2933700"/>
            <a:ext cx="6002338" cy="2438400"/>
            <a:chOff x="1776" y="2016"/>
            <a:chExt cx="3781" cy="1536"/>
          </a:xfrm>
        </p:grpSpPr>
        <p:sp>
          <p:nvSpPr>
            <p:cNvPr id="79909" name="Text Box 40"/>
            <p:cNvSpPr txBox="1">
              <a:spLocks noChangeArrowheads="1"/>
            </p:cNvSpPr>
            <p:nvPr/>
          </p:nvSpPr>
          <p:spPr bwMode="auto">
            <a:xfrm>
              <a:off x="3168" y="3120"/>
              <a:ext cx="2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latin typeface="Arial" panose="020B0604020202020204" pitchFamily="34" charset="0"/>
                </a:rPr>
                <a:t>区</a:t>
              </a: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有共同管理机构的子树</a:t>
              </a:r>
              <a:r>
                <a:rPr lang="en-US" altLang="zh-CN" sz="2400">
                  <a:solidFill>
                    <a:schemeClr val="tx1"/>
                  </a:solidFill>
                  <a:latin typeface="Arial" panose="020B0604020202020204" pitchFamily="34" charset="0"/>
                </a:rPr>
                <a:t>.</a:t>
              </a:r>
            </a:p>
          </p:txBody>
        </p:sp>
        <p:sp>
          <p:nvSpPr>
            <p:cNvPr id="79910" name="Line 41"/>
            <p:cNvSpPr>
              <a:spLocks noChangeShapeType="1"/>
            </p:cNvSpPr>
            <p:nvPr/>
          </p:nvSpPr>
          <p:spPr bwMode="auto">
            <a:xfrm flipH="1">
              <a:off x="2016" y="3264"/>
              <a:ext cx="115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42"/>
            <p:cNvSpPr>
              <a:spLocks noChangeShapeType="1"/>
            </p:cNvSpPr>
            <p:nvPr/>
          </p:nvSpPr>
          <p:spPr bwMode="auto">
            <a:xfrm flipV="1">
              <a:off x="3168" y="2016"/>
              <a:ext cx="144"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43"/>
            <p:cNvSpPr>
              <a:spLocks noChangeShapeType="1"/>
            </p:cNvSpPr>
            <p:nvPr/>
          </p:nvSpPr>
          <p:spPr bwMode="auto">
            <a:xfrm flipH="1" flipV="1">
              <a:off x="1776" y="2832"/>
              <a:ext cx="134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9908" name="Rectangle 44"/>
          <p:cNvSpPr>
            <a:spLocks noGrp="1" noChangeArrowheads="1"/>
          </p:cNvSpPr>
          <p:nvPr>
            <p:ph type="title"/>
          </p:nvPr>
        </p:nvSpPr>
        <p:spPr bwMode="auto">
          <a:xfrm>
            <a:off x="2190750" y="46831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域名服务器的结构</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5130800" y="219075"/>
            <a:ext cx="2647950" cy="712788"/>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的例子</a:t>
            </a:r>
          </a:p>
        </p:txBody>
      </p:sp>
      <p:sp>
        <p:nvSpPr>
          <p:cNvPr id="80899" name="Rectangle 3"/>
          <p:cNvSpPr>
            <a:spLocks noGrp="1" noChangeArrowheads="1"/>
          </p:cNvSpPr>
          <p:nvPr>
            <p:ph type="body" sz="half" idx="1"/>
          </p:nvPr>
        </p:nvSpPr>
        <p:spPr bwMode="auto">
          <a:xfrm>
            <a:off x="1887538" y="1758950"/>
            <a:ext cx="3162300" cy="3448050"/>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None/>
            </a:pPr>
            <a:r>
              <a:rPr lang="zh-CN" altLang="en-US" sz="3200"/>
              <a:t>根域名服务器</a:t>
            </a:r>
            <a:r>
              <a:rPr lang="en-US" altLang="zh-CN" sz="3200"/>
              <a:t>:</a:t>
            </a:r>
            <a:endParaRPr lang="en-US" altLang="zh-CN"/>
          </a:p>
          <a:p>
            <a:pPr eaLnBrk="1" hangingPunct="1"/>
            <a:r>
              <a:rPr lang="zh-CN" altLang="en-US"/>
              <a:t>可能不知道授权域名服务器</a:t>
            </a:r>
          </a:p>
          <a:p>
            <a:pPr eaLnBrk="1" hangingPunct="1"/>
            <a:r>
              <a:rPr lang="zh-CN" altLang="en-US"/>
              <a:t>可能知道中间名字服务器</a:t>
            </a:r>
            <a:r>
              <a:rPr lang="en-US" altLang="zh-CN" i="1">
                <a:solidFill>
                  <a:schemeClr val="accent2"/>
                </a:solidFill>
              </a:rPr>
              <a:t>:</a:t>
            </a:r>
            <a:r>
              <a:rPr lang="en-US" altLang="zh-CN"/>
              <a:t> </a:t>
            </a:r>
            <a:r>
              <a:rPr lang="zh-CN" altLang="en-US"/>
              <a:t>那些与之联系以查找授权域名服务器</a:t>
            </a:r>
          </a:p>
        </p:txBody>
      </p:sp>
      <p:sp>
        <p:nvSpPr>
          <p:cNvPr id="80900" name="Text Box 6"/>
          <p:cNvSpPr txBox="1">
            <a:spLocks noChangeArrowheads="1"/>
          </p:cNvSpPr>
          <p:nvPr/>
        </p:nvSpPr>
        <p:spPr bwMode="auto">
          <a:xfrm>
            <a:off x="7921625" y="6521450"/>
            <a:ext cx="2262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b="1">
                <a:solidFill>
                  <a:schemeClr val="tx1"/>
                </a:solidFill>
                <a:latin typeface="Courier New" panose="02070309020205020404" pitchFamily="49" charset="0"/>
              </a:rPr>
              <a:t>gaia.cs.umass.edu</a:t>
            </a:r>
            <a:endParaRPr lang="en-US" altLang="zh-CN" sz="1600">
              <a:solidFill>
                <a:schemeClr val="tx1"/>
              </a:solidFill>
            </a:endParaRPr>
          </a:p>
        </p:txBody>
      </p:sp>
      <p:grpSp>
        <p:nvGrpSpPr>
          <p:cNvPr id="80901" name="Group 68"/>
          <p:cNvGrpSpPr>
            <a:grpSpLocks/>
          </p:cNvGrpSpPr>
          <p:nvPr/>
        </p:nvGrpSpPr>
        <p:grpSpPr bwMode="auto">
          <a:xfrm>
            <a:off x="5510213" y="1246188"/>
            <a:ext cx="4837112" cy="5346700"/>
            <a:chOff x="2511" y="785"/>
            <a:chExt cx="3047" cy="3368"/>
          </a:xfrm>
        </p:grpSpPr>
        <p:graphicFrame>
          <p:nvGraphicFramePr>
            <p:cNvPr id="80902" name="Object 4"/>
            <p:cNvGraphicFramePr>
              <a:graphicFrameLocks noChangeAspect="1"/>
            </p:cNvGraphicFramePr>
            <p:nvPr/>
          </p:nvGraphicFramePr>
          <p:xfrm>
            <a:off x="3089" y="3247"/>
            <a:ext cx="525" cy="402"/>
          </p:xfrm>
          <a:graphic>
            <a:graphicData uri="http://schemas.openxmlformats.org/presentationml/2006/ole">
              <mc:AlternateContent xmlns:mc="http://schemas.openxmlformats.org/markup-compatibility/2006">
                <mc:Choice xmlns:v="urn:schemas-microsoft-com:vml" Requires="v">
                  <p:oleObj spid="_x0000_s19474" name="Clip" r:id="rId3" imgW="1307263" imgH="1084139" progId="MS_ClipArt_Gallery.2">
                    <p:embed/>
                  </p:oleObj>
                </mc:Choice>
                <mc:Fallback>
                  <p:oleObj name="Clip" r:id="rId3" imgW="1307263" imgH="1084139" progId="MS_ClipArt_Gallery.2">
                    <p:embed/>
                    <p:pic>
                      <p:nvPicPr>
                        <p:cNvPr id="8090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9" y="3247"/>
                          <a:ext cx="525"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3" name="Text Box 5"/>
            <p:cNvSpPr txBox="1">
              <a:spLocks noChangeArrowheads="1"/>
            </p:cNvSpPr>
            <p:nvPr/>
          </p:nvSpPr>
          <p:spPr bwMode="auto">
            <a:xfrm>
              <a:off x="2511" y="3611"/>
              <a:ext cx="1271"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requesting host</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surf.eurecom.fr</a:t>
              </a:r>
              <a:endParaRPr lang="en-US" altLang="zh-CN" sz="1600">
                <a:solidFill>
                  <a:schemeClr val="tx1"/>
                </a:solidFill>
              </a:endParaRPr>
            </a:p>
          </p:txBody>
        </p:sp>
        <p:graphicFrame>
          <p:nvGraphicFramePr>
            <p:cNvPr id="80904" name="Object 7"/>
            <p:cNvGraphicFramePr>
              <a:graphicFrameLocks noChangeAspect="1"/>
            </p:cNvGraphicFramePr>
            <p:nvPr/>
          </p:nvGraphicFramePr>
          <p:xfrm>
            <a:off x="4427" y="3751"/>
            <a:ext cx="525" cy="402"/>
          </p:xfrm>
          <a:graphic>
            <a:graphicData uri="http://schemas.openxmlformats.org/presentationml/2006/ole">
              <mc:AlternateContent xmlns:mc="http://schemas.openxmlformats.org/markup-compatibility/2006">
                <mc:Choice xmlns:v="urn:schemas-microsoft-com:vml" Requires="v">
                  <p:oleObj spid="_x0000_s19475" name="Clip" r:id="rId5" imgW="1307263" imgH="1084139" progId="MS_ClipArt_Gallery.2">
                    <p:embed/>
                  </p:oleObj>
                </mc:Choice>
                <mc:Fallback>
                  <p:oleObj name="Clip" r:id="rId5" imgW="1307263" imgH="1084139" progId="MS_ClipArt_Gallery.2">
                    <p:embed/>
                    <p:pic>
                      <p:nvPicPr>
                        <p:cNvPr id="8090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 y="3751"/>
                          <a:ext cx="525"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0905" name="Group 8"/>
            <p:cNvGrpSpPr>
              <a:grpSpLocks/>
            </p:cNvGrpSpPr>
            <p:nvPr/>
          </p:nvGrpSpPr>
          <p:grpSpPr bwMode="auto">
            <a:xfrm>
              <a:off x="3245" y="1940"/>
              <a:ext cx="233" cy="414"/>
              <a:chOff x="4180" y="783"/>
              <a:chExt cx="150" cy="307"/>
            </a:xfrm>
          </p:grpSpPr>
          <p:sp>
            <p:nvSpPr>
              <p:cNvPr id="80957" name="AutoShape 9"/>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8" name="Rectangle 10"/>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9" name="Rectangle 1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0" name="AutoShape 1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1" name="Line 13"/>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2" name="Line 14"/>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3" name="Rectangle 1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4" name="Rectangle 16"/>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0906" name="Text Box 17"/>
            <p:cNvSpPr txBox="1">
              <a:spLocks noChangeArrowheads="1"/>
            </p:cNvSpPr>
            <p:nvPr/>
          </p:nvSpPr>
          <p:spPr bwMode="auto">
            <a:xfrm>
              <a:off x="3576" y="785"/>
              <a:ext cx="12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root name server</a:t>
              </a:r>
              <a:endParaRPr lang="en-US" altLang="zh-CN" sz="1600">
                <a:solidFill>
                  <a:schemeClr val="tx1"/>
                </a:solidFill>
              </a:endParaRPr>
            </a:p>
          </p:txBody>
        </p:sp>
        <p:sp>
          <p:nvSpPr>
            <p:cNvPr id="80907" name="Line 18"/>
            <p:cNvSpPr>
              <a:spLocks noChangeShapeType="1"/>
            </p:cNvSpPr>
            <p:nvPr/>
          </p:nvSpPr>
          <p:spPr bwMode="auto">
            <a:xfrm flipH="1" flipV="1">
              <a:off x="3276" y="2373"/>
              <a:ext cx="0" cy="82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8" name="Line 19"/>
            <p:cNvSpPr>
              <a:spLocks noChangeShapeType="1"/>
            </p:cNvSpPr>
            <p:nvPr/>
          </p:nvSpPr>
          <p:spPr bwMode="auto">
            <a:xfrm flipV="1">
              <a:off x="3348" y="1305"/>
              <a:ext cx="576" cy="6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9" name="Line 20"/>
            <p:cNvSpPr>
              <a:spLocks noChangeShapeType="1"/>
            </p:cNvSpPr>
            <p:nvPr/>
          </p:nvSpPr>
          <p:spPr bwMode="auto">
            <a:xfrm>
              <a:off x="4170" y="1419"/>
              <a:ext cx="354" cy="50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0" name="Line 21"/>
            <p:cNvSpPr>
              <a:spLocks noChangeShapeType="1"/>
            </p:cNvSpPr>
            <p:nvPr/>
          </p:nvSpPr>
          <p:spPr bwMode="auto">
            <a:xfrm flipH="1" flipV="1">
              <a:off x="4224" y="1311"/>
              <a:ext cx="408" cy="5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1" name="Line 22"/>
            <p:cNvSpPr>
              <a:spLocks noChangeShapeType="1"/>
            </p:cNvSpPr>
            <p:nvPr/>
          </p:nvSpPr>
          <p:spPr bwMode="auto">
            <a:xfrm flipH="1">
              <a:off x="3468" y="1437"/>
              <a:ext cx="462" cy="48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2" name="Line 23"/>
            <p:cNvSpPr>
              <a:spLocks noChangeShapeType="1"/>
            </p:cNvSpPr>
            <p:nvPr/>
          </p:nvSpPr>
          <p:spPr bwMode="auto">
            <a:xfrm>
              <a:off x="3396" y="2391"/>
              <a:ext cx="6" cy="8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913" name="Group 24"/>
            <p:cNvGrpSpPr>
              <a:grpSpLocks/>
            </p:cNvGrpSpPr>
            <p:nvPr/>
          </p:nvGrpSpPr>
          <p:grpSpPr bwMode="auto">
            <a:xfrm>
              <a:off x="2537" y="2465"/>
              <a:ext cx="1280" cy="385"/>
              <a:chOff x="2789" y="2132"/>
              <a:chExt cx="1280" cy="385"/>
            </a:xfrm>
          </p:grpSpPr>
          <p:sp>
            <p:nvSpPr>
              <p:cNvPr id="80955" name="Rectangle 25"/>
              <p:cNvSpPr>
                <a:spLocks noChangeArrowheads="1"/>
              </p:cNvSpPr>
              <p:nvPr/>
            </p:nvSpPr>
            <p:spPr bwMode="auto">
              <a:xfrm>
                <a:off x="2838" y="2178"/>
                <a:ext cx="1182"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6" name="Text Box 26"/>
              <p:cNvSpPr txBox="1">
                <a:spLocks noChangeArrowheads="1"/>
              </p:cNvSpPr>
              <p:nvPr/>
            </p:nvSpPr>
            <p:spPr bwMode="auto">
              <a:xfrm>
                <a:off x="2789" y="2132"/>
                <a:ext cx="1280"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local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dns.eurecom.fr</a:t>
                </a:r>
                <a:endParaRPr lang="en-US" altLang="zh-CN" sz="1600">
                  <a:solidFill>
                    <a:schemeClr val="tx1"/>
                  </a:solidFill>
                </a:endParaRPr>
              </a:p>
            </p:txBody>
          </p:sp>
        </p:grpSp>
        <p:sp>
          <p:nvSpPr>
            <p:cNvPr id="80914" name="Text Box 27"/>
            <p:cNvSpPr txBox="1">
              <a:spLocks noChangeArrowheads="1"/>
            </p:cNvSpPr>
            <p:nvPr/>
          </p:nvSpPr>
          <p:spPr bwMode="auto">
            <a:xfrm>
              <a:off x="3094" y="291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1</a:t>
              </a:r>
              <a:endParaRPr lang="en-US" altLang="zh-CN" sz="2400">
                <a:solidFill>
                  <a:schemeClr val="tx1"/>
                </a:solidFill>
              </a:endParaRPr>
            </a:p>
          </p:txBody>
        </p:sp>
        <p:sp>
          <p:nvSpPr>
            <p:cNvPr id="80915" name="Text Box 28"/>
            <p:cNvSpPr txBox="1">
              <a:spLocks noChangeArrowheads="1"/>
            </p:cNvSpPr>
            <p:nvPr/>
          </p:nvSpPr>
          <p:spPr bwMode="auto">
            <a:xfrm>
              <a:off x="3436" y="144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2</a:t>
              </a:r>
              <a:endParaRPr lang="en-US" altLang="zh-CN" sz="2400">
                <a:solidFill>
                  <a:schemeClr val="tx1"/>
                </a:solidFill>
              </a:endParaRPr>
            </a:p>
          </p:txBody>
        </p:sp>
        <p:sp>
          <p:nvSpPr>
            <p:cNvPr id="80916" name="Text Box 29"/>
            <p:cNvSpPr txBox="1">
              <a:spLocks noChangeArrowheads="1"/>
            </p:cNvSpPr>
            <p:nvPr/>
          </p:nvSpPr>
          <p:spPr bwMode="auto">
            <a:xfrm>
              <a:off x="4156" y="15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3</a:t>
              </a:r>
              <a:endParaRPr lang="en-US" altLang="zh-CN" sz="2400">
                <a:solidFill>
                  <a:schemeClr val="tx1"/>
                </a:solidFill>
              </a:endParaRPr>
            </a:p>
          </p:txBody>
        </p:sp>
        <p:sp>
          <p:nvSpPr>
            <p:cNvPr id="80917" name="Text Box 30"/>
            <p:cNvSpPr txBox="1">
              <a:spLocks noChangeArrowheads="1"/>
            </p:cNvSpPr>
            <p:nvPr/>
          </p:nvSpPr>
          <p:spPr bwMode="auto">
            <a:xfrm>
              <a:off x="4324" y="27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4</a:t>
              </a:r>
              <a:endParaRPr lang="en-US" altLang="zh-CN" sz="2400">
                <a:solidFill>
                  <a:schemeClr val="tx1"/>
                </a:solidFill>
              </a:endParaRPr>
            </a:p>
          </p:txBody>
        </p:sp>
        <p:sp>
          <p:nvSpPr>
            <p:cNvPr id="80918" name="Text Box 31"/>
            <p:cNvSpPr txBox="1">
              <a:spLocks noChangeArrowheads="1"/>
            </p:cNvSpPr>
            <p:nvPr/>
          </p:nvSpPr>
          <p:spPr bwMode="auto">
            <a:xfrm>
              <a:off x="4654" y="27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5</a:t>
              </a:r>
              <a:endParaRPr lang="en-US" altLang="zh-CN" sz="2400">
                <a:solidFill>
                  <a:schemeClr val="tx1"/>
                </a:solidFill>
              </a:endParaRPr>
            </a:p>
          </p:txBody>
        </p:sp>
        <p:sp>
          <p:nvSpPr>
            <p:cNvPr id="80919" name="Text Box 32"/>
            <p:cNvSpPr txBox="1">
              <a:spLocks noChangeArrowheads="1"/>
            </p:cNvSpPr>
            <p:nvPr/>
          </p:nvSpPr>
          <p:spPr bwMode="auto">
            <a:xfrm>
              <a:off x="4408" y="141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6</a:t>
              </a:r>
              <a:endParaRPr lang="en-US" altLang="zh-CN" sz="2400">
                <a:solidFill>
                  <a:schemeClr val="tx1"/>
                </a:solidFill>
              </a:endParaRPr>
            </a:p>
          </p:txBody>
        </p:sp>
        <p:grpSp>
          <p:nvGrpSpPr>
            <p:cNvPr id="80920" name="Group 33"/>
            <p:cNvGrpSpPr>
              <a:grpSpLocks/>
            </p:cNvGrpSpPr>
            <p:nvPr/>
          </p:nvGrpSpPr>
          <p:grpSpPr bwMode="auto">
            <a:xfrm>
              <a:off x="3947" y="1046"/>
              <a:ext cx="233" cy="414"/>
              <a:chOff x="4180" y="783"/>
              <a:chExt cx="150" cy="307"/>
            </a:xfrm>
          </p:grpSpPr>
          <p:sp>
            <p:nvSpPr>
              <p:cNvPr id="80947" name="AutoShape 34"/>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8" name="Rectangle 35"/>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9" name="Rectangle 3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0" name="AutoShape 3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1" name="Line 38"/>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2" name="Line 39"/>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3" name="Rectangle 4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4" name="Rectangle 41"/>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80921" name="Group 42"/>
            <p:cNvGrpSpPr>
              <a:grpSpLocks/>
            </p:cNvGrpSpPr>
            <p:nvPr/>
          </p:nvGrpSpPr>
          <p:grpSpPr bwMode="auto">
            <a:xfrm>
              <a:off x="4469" y="1946"/>
              <a:ext cx="233" cy="414"/>
              <a:chOff x="4180" y="783"/>
              <a:chExt cx="150" cy="307"/>
            </a:xfrm>
          </p:grpSpPr>
          <p:sp>
            <p:nvSpPr>
              <p:cNvPr id="80939" name="AutoShape 43"/>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0" name="Rectangle 44"/>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1" name="Rectangle 4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2" name="AutoShape 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3" name="Line 47"/>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4" name="Line 48"/>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5" name="Rectangle 4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6" name="Rectangle 50"/>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80922" name="Group 51"/>
            <p:cNvGrpSpPr>
              <a:grpSpLocks/>
            </p:cNvGrpSpPr>
            <p:nvPr/>
          </p:nvGrpSpPr>
          <p:grpSpPr bwMode="auto">
            <a:xfrm>
              <a:off x="4457" y="2966"/>
              <a:ext cx="233" cy="414"/>
              <a:chOff x="4180" y="783"/>
              <a:chExt cx="150" cy="307"/>
            </a:xfrm>
          </p:grpSpPr>
          <p:sp>
            <p:nvSpPr>
              <p:cNvPr id="80931" name="AutoShape 52"/>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2" name="Rectangle 53"/>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3" name="Rectangle 5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4"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5" name="Line 56"/>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6" name="Line 57"/>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7" name="Rectangle 5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8" name="Rectangle 59"/>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0923" name="Text Box 60"/>
            <p:cNvSpPr txBox="1">
              <a:spLocks noChangeArrowheads="1"/>
            </p:cNvSpPr>
            <p:nvPr/>
          </p:nvSpPr>
          <p:spPr bwMode="auto">
            <a:xfrm>
              <a:off x="3870" y="3326"/>
              <a:ext cx="166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a:solidFill>
                    <a:schemeClr val="tx1"/>
                  </a:solidFill>
                  <a:latin typeface="Comic Sans MS" panose="030F0702030302020204" pitchFamily="66" charset="0"/>
                </a:rPr>
                <a:t>authoritative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dns.cs.umass.edu</a:t>
              </a:r>
              <a:endParaRPr lang="en-US" altLang="zh-CN" sz="1600">
                <a:solidFill>
                  <a:schemeClr val="tx1"/>
                </a:solidFill>
              </a:endParaRPr>
            </a:p>
          </p:txBody>
        </p:sp>
        <p:sp>
          <p:nvSpPr>
            <p:cNvPr id="80924" name="Line 61"/>
            <p:cNvSpPr>
              <a:spLocks noChangeShapeType="1"/>
            </p:cNvSpPr>
            <p:nvPr/>
          </p:nvSpPr>
          <p:spPr bwMode="auto">
            <a:xfrm>
              <a:off x="4524" y="2391"/>
              <a:ext cx="6" cy="58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5" name="Line 62"/>
            <p:cNvSpPr>
              <a:spLocks noChangeShapeType="1"/>
            </p:cNvSpPr>
            <p:nvPr/>
          </p:nvSpPr>
          <p:spPr bwMode="auto">
            <a:xfrm flipH="1" flipV="1">
              <a:off x="4644" y="2397"/>
              <a:ext cx="0" cy="5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926" name="Group 63"/>
            <p:cNvGrpSpPr>
              <a:grpSpLocks/>
            </p:cNvGrpSpPr>
            <p:nvPr/>
          </p:nvGrpSpPr>
          <p:grpSpPr bwMode="auto">
            <a:xfrm>
              <a:off x="3905" y="2480"/>
              <a:ext cx="1653" cy="366"/>
              <a:chOff x="4115" y="2147"/>
              <a:chExt cx="1653" cy="366"/>
            </a:xfrm>
          </p:grpSpPr>
          <p:sp>
            <p:nvSpPr>
              <p:cNvPr id="80929" name="Rectangle 64"/>
              <p:cNvSpPr>
                <a:spLocks noChangeArrowheads="1"/>
              </p:cNvSpPr>
              <p:nvPr/>
            </p:nvSpPr>
            <p:spPr bwMode="auto">
              <a:xfrm>
                <a:off x="4170" y="2196"/>
                <a:ext cx="1512"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0" name="Text Box 65"/>
              <p:cNvSpPr txBox="1">
                <a:spLocks noChangeArrowheads="1"/>
              </p:cNvSpPr>
              <p:nvPr/>
            </p:nvSpPr>
            <p:spPr bwMode="auto">
              <a:xfrm>
                <a:off x="4115" y="2147"/>
                <a:ext cx="165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a:solidFill>
                      <a:schemeClr val="tx1"/>
                    </a:solidFill>
                    <a:latin typeface="Comic Sans MS" panose="030F0702030302020204" pitchFamily="66" charset="0"/>
                  </a:rPr>
                  <a:t>intermediate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dns.umass.edu</a:t>
                </a:r>
                <a:endParaRPr lang="en-US" altLang="zh-CN" sz="1600">
                  <a:solidFill>
                    <a:schemeClr val="tx1"/>
                  </a:solidFill>
                </a:endParaRPr>
              </a:p>
            </p:txBody>
          </p:sp>
        </p:grpSp>
        <p:sp>
          <p:nvSpPr>
            <p:cNvPr id="80927" name="Text Box 66"/>
            <p:cNvSpPr txBox="1">
              <a:spLocks noChangeArrowheads="1"/>
            </p:cNvSpPr>
            <p:nvPr/>
          </p:nvSpPr>
          <p:spPr bwMode="auto">
            <a:xfrm>
              <a:off x="3706" y="162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7</a:t>
              </a:r>
              <a:endParaRPr lang="en-US" altLang="zh-CN" sz="2400">
                <a:solidFill>
                  <a:schemeClr val="tx1"/>
                </a:solidFill>
              </a:endParaRPr>
            </a:p>
          </p:txBody>
        </p:sp>
        <p:sp>
          <p:nvSpPr>
            <p:cNvPr id="80928" name="Text Box 67"/>
            <p:cNvSpPr txBox="1">
              <a:spLocks noChangeArrowheads="1"/>
            </p:cNvSpPr>
            <p:nvPr/>
          </p:nvSpPr>
          <p:spPr bwMode="auto">
            <a:xfrm>
              <a:off x="3442" y="292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8</a:t>
              </a:r>
              <a:endParaRPr lang="en-US" altLang="zh-CN" sz="2400">
                <a:solidFill>
                  <a:schemeClr val="tx1"/>
                </a:solidFill>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sz="half" idx="1"/>
          </p:nvPr>
        </p:nvSpPr>
        <p:spPr bwMode="auto">
          <a:xfrm>
            <a:off x="2327276" y="1627189"/>
            <a:ext cx="7515225" cy="3336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一旦 </a:t>
            </a:r>
            <a:r>
              <a:rPr lang="en-US" altLang="zh-CN"/>
              <a:t>(</a:t>
            </a:r>
            <a:r>
              <a:rPr lang="zh-CN" altLang="en-US"/>
              <a:t>任何</a:t>
            </a:r>
            <a:r>
              <a:rPr lang="en-US" altLang="zh-CN"/>
              <a:t>) </a:t>
            </a:r>
            <a:r>
              <a:rPr lang="zh-CN" altLang="en-US"/>
              <a:t>域名服务器 知道了映射</a:t>
            </a:r>
            <a:r>
              <a:rPr lang="en-US" altLang="zh-CN"/>
              <a:t>, </a:t>
            </a:r>
            <a:r>
              <a:rPr lang="zh-CN" altLang="en-US"/>
              <a:t>就把映射缓存起来</a:t>
            </a:r>
          </a:p>
          <a:p>
            <a:pPr lvl="4" eaLnBrk="1" hangingPunct="1"/>
            <a:r>
              <a:rPr lang="zh-CN" altLang="en-US" sz="2400"/>
              <a:t>缓存条目在一段时间后超时</a:t>
            </a:r>
          </a:p>
          <a:p>
            <a:pPr eaLnBrk="1" hangingPunct="1"/>
            <a:r>
              <a:rPr lang="en-US" altLang="zh-CN"/>
              <a:t>IETF</a:t>
            </a:r>
            <a:r>
              <a:rPr lang="zh-CN" altLang="en-US"/>
              <a:t>设计的更新</a:t>
            </a:r>
            <a:r>
              <a:rPr lang="en-US" altLang="zh-CN"/>
              <a:t>/</a:t>
            </a:r>
            <a:r>
              <a:rPr lang="zh-CN" altLang="en-US"/>
              <a:t>通知 机制 </a:t>
            </a:r>
          </a:p>
          <a:p>
            <a:pPr lvl="1" eaLnBrk="1" hangingPunct="1"/>
            <a:r>
              <a:rPr lang="zh-CN" altLang="en-US"/>
              <a:t>建议标准</a:t>
            </a:r>
            <a:r>
              <a:rPr lang="en-US" altLang="zh-CN"/>
              <a:t>: RFC 2136 </a:t>
            </a:r>
          </a:p>
        </p:txBody>
      </p:sp>
      <p:sp>
        <p:nvSpPr>
          <p:cNvPr id="81923" name="Rectangle 4"/>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缓存与更新纪录</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230663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IPv6</a:t>
            </a:r>
          </a:p>
        </p:txBody>
      </p:sp>
      <p:sp>
        <p:nvSpPr>
          <p:cNvPr id="82947" name="Text Box 3"/>
          <p:cNvSpPr txBox="1">
            <a:spLocks noChangeArrowheads="1"/>
          </p:cNvSpPr>
          <p:nvPr/>
        </p:nvSpPr>
        <p:spPr bwMode="auto">
          <a:xfrm>
            <a:off x="2789239" y="1841501"/>
            <a:ext cx="6751637"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hlink"/>
                </a:solidFill>
              </a:rPr>
              <a:t>       IP</a:t>
            </a:r>
            <a:r>
              <a:rPr lang="zh-CN" altLang="en-US">
                <a:solidFill>
                  <a:schemeClr val="hlink"/>
                </a:solidFill>
              </a:rPr>
              <a:t>地址严重不足</a:t>
            </a:r>
            <a:r>
              <a:rPr lang="en-US" altLang="zh-CN">
                <a:solidFill>
                  <a:schemeClr val="tx1"/>
                </a:solidFill>
              </a:rPr>
              <a:t>:</a:t>
            </a:r>
            <a:r>
              <a:rPr lang="zh-CN" altLang="en-US">
                <a:solidFill>
                  <a:schemeClr val="tx1"/>
                </a:solidFill>
              </a:rPr>
              <a:t>有预测表明，以目前</a:t>
            </a:r>
            <a:r>
              <a:rPr lang="en-US" altLang="zh-CN">
                <a:solidFill>
                  <a:schemeClr val="tx1"/>
                </a:solidFill>
              </a:rPr>
              <a:t>Internet</a:t>
            </a:r>
            <a:r>
              <a:rPr lang="zh-CN" altLang="en-US">
                <a:solidFill>
                  <a:schemeClr val="tx1"/>
                </a:solidFill>
              </a:rPr>
              <a:t>发展速度计算，所有</a:t>
            </a:r>
            <a:r>
              <a:rPr lang="en-US" altLang="zh-CN">
                <a:solidFill>
                  <a:schemeClr val="tx1"/>
                </a:solidFill>
              </a:rPr>
              <a:t>IPv4</a:t>
            </a:r>
            <a:r>
              <a:rPr lang="zh-CN" altLang="en-US">
                <a:solidFill>
                  <a:schemeClr val="tx1"/>
                </a:solidFill>
              </a:rPr>
              <a:t>地址将在</a:t>
            </a:r>
            <a:r>
              <a:rPr lang="en-US" altLang="zh-CN">
                <a:solidFill>
                  <a:schemeClr val="tx1"/>
                </a:solidFill>
              </a:rPr>
              <a:t>2005</a:t>
            </a:r>
            <a:r>
              <a:rPr lang="zh-CN" altLang="en-US">
                <a:solidFill>
                  <a:schemeClr val="tx1"/>
                </a:solidFill>
              </a:rPr>
              <a:t>～</a:t>
            </a:r>
            <a:r>
              <a:rPr lang="en-US" altLang="zh-CN">
                <a:solidFill>
                  <a:schemeClr val="tx1"/>
                </a:solidFill>
              </a:rPr>
              <a:t>2010</a:t>
            </a:r>
            <a:r>
              <a:rPr lang="zh-CN" altLang="en-US">
                <a:solidFill>
                  <a:schemeClr val="tx1"/>
                </a:solidFill>
              </a:rPr>
              <a:t>年间分配完毕。为了彻底解决</a:t>
            </a:r>
            <a:r>
              <a:rPr lang="en-US" altLang="zh-CN">
                <a:solidFill>
                  <a:schemeClr val="tx1"/>
                </a:solidFill>
              </a:rPr>
              <a:t>IPv4</a:t>
            </a:r>
            <a:r>
              <a:rPr lang="zh-CN" altLang="en-US">
                <a:solidFill>
                  <a:schemeClr val="tx1"/>
                </a:solidFill>
              </a:rPr>
              <a:t>存在的问题，</a:t>
            </a:r>
            <a:r>
              <a:rPr lang="en-US" altLang="zh-CN">
                <a:solidFill>
                  <a:schemeClr val="tx1"/>
                </a:solidFill>
              </a:rPr>
              <a:t>IETF</a:t>
            </a:r>
            <a:r>
              <a:rPr lang="zh-CN" altLang="en-US">
                <a:solidFill>
                  <a:schemeClr val="tx1"/>
                </a:solidFill>
              </a:rPr>
              <a:t>从</a:t>
            </a:r>
            <a:r>
              <a:rPr lang="en-US" altLang="zh-CN">
                <a:solidFill>
                  <a:schemeClr val="tx1"/>
                </a:solidFill>
              </a:rPr>
              <a:t>1995</a:t>
            </a:r>
            <a:r>
              <a:rPr lang="zh-CN" altLang="en-US">
                <a:solidFill>
                  <a:schemeClr val="tx1"/>
                </a:solidFill>
              </a:rPr>
              <a:t>年开始，着手研究开发下一代</a:t>
            </a:r>
            <a:r>
              <a:rPr lang="en-US" altLang="zh-CN">
                <a:solidFill>
                  <a:schemeClr val="tx1"/>
                </a:solidFill>
              </a:rPr>
              <a:t>IP</a:t>
            </a:r>
            <a:r>
              <a:rPr lang="zh-CN" altLang="en-US">
                <a:solidFill>
                  <a:schemeClr val="tx1"/>
                </a:solidFill>
              </a:rPr>
              <a:t>协议，即</a:t>
            </a:r>
            <a:r>
              <a:rPr lang="en-US" altLang="zh-CN">
                <a:solidFill>
                  <a:schemeClr val="tx1"/>
                </a:solidFill>
              </a:rPr>
              <a:t>IPv6</a:t>
            </a:r>
            <a:r>
              <a:rPr lang="zh-CN" altLang="en-US">
                <a:solidFill>
                  <a:schemeClr val="tx1"/>
                </a:solidFill>
              </a:rPr>
              <a:t>。</a:t>
            </a:r>
            <a:r>
              <a:rPr lang="zh-CN" altLang="en-US"/>
              <a:t> </a:t>
            </a:r>
          </a:p>
        </p:txBody>
      </p:sp>
    </p:spTree>
  </p:cSld>
  <p:clrMapOvr>
    <a:masterClrMapping/>
  </p:clrMapOvr>
  <p:transition spd="med">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IPv6 </a:t>
            </a:r>
            <a:r>
              <a:rPr lang="zh-CN" altLang="en-US" sz="3600">
                <a:solidFill>
                  <a:schemeClr val="hlink"/>
                </a:solidFill>
                <a:ea typeface="华文行楷" panose="02010800040101010101" pitchFamily="2" charset="-122"/>
              </a:rPr>
              <a:t>的目标</a:t>
            </a:r>
          </a:p>
        </p:txBody>
      </p:sp>
      <p:sp>
        <p:nvSpPr>
          <p:cNvPr id="83971" name="Text Box 3"/>
          <p:cNvSpPr txBox="1">
            <a:spLocks noChangeArrowheads="1"/>
          </p:cNvSpPr>
          <p:nvPr/>
        </p:nvSpPr>
        <p:spPr bwMode="auto">
          <a:xfrm>
            <a:off x="2605089" y="1392239"/>
            <a:ext cx="7439025"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8938" indent="-38893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地址容量的扩展</a:t>
            </a:r>
            <a:r>
              <a:rPr kumimoji="1" lang="en-US" altLang="zh-CN">
                <a:solidFill>
                  <a:schemeClr val="tx1"/>
                </a:solidFill>
                <a:latin typeface="Tahoma" panose="020B0604030504040204" pitchFamily="34" charset="0"/>
              </a:rPr>
              <a:t>:</a:t>
            </a:r>
            <a:r>
              <a:rPr kumimoji="1" lang="en-US" altLang="zh-CN" sz="2400">
                <a:solidFill>
                  <a:schemeClr val="tx1"/>
                </a:solidFill>
                <a:latin typeface="Tahoma" panose="020B0604030504040204" pitchFamily="34" charset="0"/>
              </a:rPr>
              <a:t>IPv6</a:t>
            </a:r>
            <a:r>
              <a:rPr kumimoji="1" lang="zh-CN" altLang="en-US" sz="2400">
                <a:solidFill>
                  <a:schemeClr val="tx1"/>
                </a:solidFill>
                <a:latin typeface="Tahoma" panose="020B0604030504040204" pitchFamily="34" charset="0"/>
              </a:rPr>
              <a:t>具有长达</a:t>
            </a:r>
            <a:r>
              <a:rPr kumimoji="1" lang="en-US" altLang="zh-CN" sz="2400">
                <a:solidFill>
                  <a:schemeClr val="tx1"/>
                </a:solidFill>
                <a:latin typeface="Tahoma" panose="020B0604030504040204" pitchFamily="34" charset="0"/>
              </a:rPr>
              <a:t>128</a:t>
            </a:r>
            <a:r>
              <a:rPr kumimoji="1" lang="zh-CN" altLang="en-US" sz="2400">
                <a:solidFill>
                  <a:schemeClr val="tx1"/>
                </a:solidFill>
                <a:latin typeface="Tahoma" panose="020B0604030504040204" pitchFamily="34" charset="0"/>
              </a:rPr>
              <a:t>位的地址空间，可以彻底解决</a:t>
            </a:r>
            <a:r>
              <a:rPr kumimoji="1" lang="en-US" altLang="zh-CN" sz="2400">
                <a:solidFill>
                  <a:schemeClr val="tx1"/>
                </a:solidFill>
                <a:latin typeface="Tahoma" panose="020B0604030504040204" pitchFamily="34" charset="0"/>
              </a:rPr>
              <a:t>IPv4</a:t>
            </a:r>
            <a:r>
              <a:rPr kumimoji="1" lang="zh-CN" altLang="en-US" sz="2400">
                <a:solidFill>
                  <a:schemeClr val="tx1"/>
                </a:solidFill>
                <a:latin typeface="Tahoma" panose="020B0604030504040204" pitchFamily="34" charset="0"/>
              </a:rPr>
              <a:t>地址不足的问题</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支持扩展和选项的改进</a:t>
            </a:r>
            <a:r>
              <a:rPr kumimoji="1" lang="zh-CN" altLang="en-US">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首部格式的简化</a:t>
            </a:r>
            <a:r>
              <a:rPr kumimoji="1" lang="en-US" altLang="zh-CN">
                <a:solidFill>
                  <a:schemeClr val="tx1"/>
                </a:solidFill>
              </a:rPr>
              <a:t>:</a:t>
            </a:r>
            <a:r>
              <a:rPr kumimoji="1" lang="zh-CN" altLang="en-US" sz="2400">
                <a:solidFill>
                  <a:schemeClr val="tx1"/>
                </a:solidFill>
              </a:rPr>
              <a:t>一些 </a:t>
            </a:r>
            <a:r>
              <a:rPr kumimoji="1" lang="en-US" altLang="zh-CN" sz="2400">
                <a:solidFill>
                  <a:schemeClr val="tx1"/>
                </a:solidFill>
              </a:rPr>
              <a:t>IPv4 </a:t>
            </a:r>
            <a:r>
              <a:rPr kumimoji="1" lang="zh-CN" altLang="en-US" sz="2400">
                <a:solidFill>
                  <a:schemeClr val="tx1"/>
                </a:solidFill>
              </a:rPr>
              <a:t>首部字段被删除或者成为可选字段 </a:t>
            </a:r>
            <a:r>
              <a:rPr kumimoji="1" lang="zh-CN" altLang="en-US" sz="2400">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数据流标签的能力</a:t>
            </a:r>
            <a:r>
              <a:rPr kumimoji="1" lang="en-US" altLang="zh-CN">
                <a:solidFill>
                  <a:schemeClr val="tx1"/>
                </a:solidFill>
              </a:rPr>
              <a:t>:</a:t>
            </a:r>
            <a:r>
              <a:rPr kumimoji="1" lang="zh-CN" altLang="en-US" sz="2400">
                <a:solidFill>
                  <a:schemeClr val="tx1"/>
                </a:solidFill>
                <a:latin typeface="Tahoma" panose="020B0604030504040204" pitchFamily="34" charset="0"/>
              </a:rPr>
              <a:t>服务质量</a:t>
            </a:r>
            <a:r>
              <a:rPr kumimoji="1" lang="zh-CN" altLang="en-US" sz="2400">
                <a:solidFill>
                  <a:schemeClr val="tx1"/>
                </a:solidFill>
              </a:rPr>
              <a:t>或者</a:t>
            </a:r>
            <a:r>
              <a:rPr kumimoji="1" lang="en-US" altLang="zh-CN" sz="2400">
                <a:solidFill>
                  <a:schemeClr val="tx1"/>
                </a:solidFill>
                <a:cs typeface="Times New Roman" panose="02020603050405020304" pitchFamily="18" charset="0"/>
              </a:rPr>
              <a:t>"</a:t>
            </a:r>
            <a:r>
              <a:rPr kumimoji="1" lang="zh-CN" altLang="en-US" sz="2400">
                <a:solidFill>
                  <a:schemeClr val="tx1"/>
                </a:solidFill>
              </a:rPr>
              <a:t>实时</a:t>
            </a:r>
            <a:r>
              <a:rPr kumimoji="1" lang="en-US" altLang="zh-CN" sz="2400">
                <a:solidFill>
                  <a:schemeClr val="tx1"/>
                </a:solidFill>
                <a:cs typeface="Times New Roman" panose="02020603050405020304" pitchFamily="18" charset="0"/>
              </a:rPr>
              <a:t>"</a:t>
            </a:r>
            <a:r>
              <a:rPr kumimoji="1" lang="zh-CN" altLang="en-US" sz="2400">
                <a:solidFill>
                  <a:schemeClr val="tx1"/>
                </a:solidFill>
              </a:rPr>
              <a:t>服务</a:t>
            </a:r>
            <a:r>
              <a:rPr kumimoji="1" lang="zh-CN" altLang="en-US">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主机地址自动配置</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认证和加密（</a:t>
            </a:r>
            <a:r>
              <a:rPr kumimoji="1" lang="en-US" altLang="zh-CN">
                <a:solidFill>
                  <a:schemeClr val="tx1"/>
                </a:solidFill>
                <a:cs typeface="Times New Roman" panose="02020603050405020304" pitchFamily="18" charset="0"/>
              </a:rPr>
              <a:t>IPSec</a:t>
            </a:r>
            <a:r>
              <a:rPr kumimoji="1" lang="zh-CN" altLang="en-US">
                <a:solidFill>
                  <a:schemeClr val="tx1"/>
                </a:solidFill>
              </a:rPr>
              <a:t>是</a:t>
            </a:r>
            <a:r>
              <a:rPr kumimoji="1" lang="en-US" altLang="zh-CN">
                <a:solidFill>
                  <a:schemeClr val="tx1"/>
                </a:solidFill>
                <a:cs typeface="Times New Roman" panose="02020603050405020304" pitchFamily="18" charset="0"/>
              </a:rPr>
              <a:t>IPv6</a:t>
            </a:r>
            <a:r>
              <a:rPr kumimoji="1" lang="zh-CN" altLang="en-US">
                <a:solidFill>
                  <a:schemeClr val="tx1"/>
                </a:solidFill>
              </a:rPr>
              <a:t>的一个组成部分</a:t>
            </a:r>
            <a:r>
              <a:rPr kumimoji="1" lang="zh-CN" altLang="en-US">
                <a:solidFill>
                  <a:schemeClr val="tx1"/>
                </a:solidFill>
                <a:latin typeface="Tahoma" panose="020B0604030504040204" pitchFamily="34" charset="0"/>
              </a:rPr>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bwMode="auto">
          <a:xfrm>
            <a:off x="2189163"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IPv4 </a:t>
            </a:r>
            <a:r>
              <a:rPr lang="zh-CN" altLang="en-US" sz="3600">
                <a:solidFill>
                  <a:schemeClr val="hlink"/>
                </a:solidFill>
                <a:ea typeface="华文行楷" panose="02010800040101010101" pitchFamily="2" charset="-122"/>
              </a:rPr>
              <a:t>到 </a:t>
            </a:r>
            <a:r>
              <a:rPr lang="en-US" altLang="zh-CN" sz="3600">
                <a:solidFill>
                  <a:schemeClr val="hlink"/>
                </a:solidFill>
                <a:ea typeface="华文行楷" panose="02010800040101010101" pitchFamily="2" charset="-122"/>
              </a:rPr>
              <a:t>IPv6</a:t>
            </a:r>
            <a:r>
              <a:rPr lang="zh-CN" altLang="en-US" sz="3600">
                <a:solidFill>
                  <a:schemeClr val="hlink"/>
                </a:solidFill>
                <a:ea typeface="华文行楷" panose="02010800040101010101" pitchFamily="2" charset="-122"/>
              </a:rPr>
              <a:t>变迁</a:t>
            </a:r>
          </a:p>
        </p:txBody>
      </p:sp>
      <p:sp>
        <p:nvSpPr>
          <p:cNvPr id="1987587" name="Text Box 3"/>
          <p:cNvSpPr txBox="1">
            <a:spLocks noChangeArrowheads="1"/>
          </p:cNvSpPr>
          <p:nvPr/>
        </p:nvSpPr>
        <p:spPr bwMode="auto">
          <a:xfrm>
            <a:off x="2055813" y="1520826"/>
            <a:ext cx="8132762"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rPr>
              <a:t>尽管</a:t>
            </a:r>
            <a:r>
              <a:rPr lang="en-US" altLang="zh-CN" sz="2400">
                <a:solidFill>
                  <a:schemeClr val="tx1"/>
                </a:solidFill>
              </a:rPr>
              <a:t>IPv6</a:t>
            </a:r>
            <a:r>
              <a:rPr lang="zh-CN" altLang="en-US" sz="2400">
                <a:solidFill>
                  <a:schemeClr val="tx1"/>
                </a:solidFill>
              </a:rPr>
              <a:t>比</a:t>
            </a:r>
            <a:r>
              <a:rPr lang="en-US" altLang="zh-CN" sz="2400">
                <a:solidFill>
                  <a:schemeClr val="tx1"/>
                </a:solidFill>
              </a:rPr>
              <a:t>IPv4</a:t>
            </a:r>
            <a:r>
              <a:rPr lang="zh-CN" altLang="en-US" sz="2400">
                <a:solidFill>
                  <a:schemeClr val="tx1"/>
                </a:solidFill>
              </a:rPr>
              <a:t>具有明显的先进性，但是</a:t>
            </a:r>
            <a:r>
              <a:rPr lang="en-US" altLang="zh-CN" sz="2400">
                <a:solidFill>
                  <a:schemeClr val="tx1"/>
                </a:solidFill>
              </a:rPr>
              <a:t>IETF</a:t>
            </a:r>
            <a:r>
              <a:rPr lang="zh-CN" altLang="en-US" sz="2400">
                <a:solidFill>
                  <a:schemeClr val="tx1"/>
                </a:solidFill>
              </a:rPr>
              <a:t>认识到，要想在短时间内将</a:t>
            </a:r>
            <a:r>
              <a:rPr lang="en-US" altLang="zh-CN" sz="2400">
                <a:solidFill>
                  <a:schemeClr val="tx1"/>
                </a:solidFill>
              </a:rPr>
              <a:t>Internet</a:t>
            </a:r>
            <a:r>
              <a:rPr lang="zh-CN" altLang="en-US" sz="2400">
                <a:solidFill>
                  <a:schemeClr val="tx1"/>
                </a:solidFill>
              </a:rPr>
              <a:t>和各个企业网络中的所有系统全部从 </a:t>
            </a:r>
            <a:r>
              <a:rPr lang="en-US" altLang="zh-CN" sz="2400">
                <a:solidFill>
                  <a:schemeClr val="tx1"/>
                </a:solidFill>
              </a:rPr>
              <a:t>IPv4</a:t>
            </a:r>
            <a:r>
              <a:rPr lang="zh-CN" altLang="en-US" sz="2400">
                <a:solidFill>
                  <a:schemeClr val="tx1"/>
                </a:solidFill>
              </a:rPr>
              <a:t>升级到</a:t>
            </a:r>
            <a:r>
              <a:rPr lang="en-US" altLang="zh-CN" sz="2400">
                <a:solidFill>
                  <a:schemeClr val="tx1"/>
                </a:solidFill>
              </a:rPr>
              <a:t>IPv6</a:t>
            </a:r>
            <a:r>
              <a:rPr lang="zh-CN" altLang="en-US" sz="2400">
                <a:solidFill>
                  <a:schemeClr val="tx1"/>
                </a:solidFill>
              </a:rPr>
              <a:t>是不可能的，换言之，</a:t>
            </a:r>
            <a:r>
              <a:rPr lang="en-US" altLang="zh-CN" sz="2400">
                <a:solidFill>
                  <a:schemeClr val="tx1"/>
                </a:solidFill>
              </a:rPr>
              <a:t>IPv6</a:t>
            </a:r>
            <a:r>
              <a:rPr lang="zh-CN" altLang="en-US" sz="2400">
                <a:solidFill>
                  <a:schemeClr val="tx1"/>
                </a:solidFill>
              </a:rPr>
              <a:t>与</a:t>
            </a:r>
            <a:r>
              <a:rPr lang="en-US" altLang="zh-CN" sz="2400">
                <a:solidFill>
                  <a:schemeClr val="tx1"/>
                </a:solidFill>
              </a:rPr>
              <a:t>IPv4</a:t>
            </a:r>
            <a:r>
              <a:rPr lang="zh-CN" altLang="en-US" sz="2400">
                <a:solidFill>
                  <a:schemeClr val="tx1"/>
                </a:solidFill>
              </a:rPr>
              <a:t>系统在</a:t>
            </a:r>
            <a:r>
              <a:rPr lang="en-US" altLang="zh-CN" sz="2400">
                <a:solidFill>
                  <a:schemeClr val="tx1"/>
                </a:solidFill>
              </a:rPr>
              <a:t>Internet</a:t>
            </a:r>
            <a:r>
              <a:rPr lang="zh-CN" altLang="en-US" sz="2400">
                <a:solidFill>
                  <a:schemeClr val="tx1"/>
                </a:solidFill>
              </a:rPr>
              <a:t>中长期共存是不可避免的现实。为此，做为</a:t>
            </a:r>
            <a:r>
              <a:rPr lang="en-US" altLang="zh-CN" sz="2400">
                <a:solidFill>
                  <a:schemeClr val="tx1"/>
                </a:solidFill>
              </a:rPr>
              <a:t>IPv6</a:t>
            </a:r>
            <a:r>
              <a:rPr lang="zh-CN" altLang="en-US" sz="2400">
                <a:solidFill>
                  <a:schemeClr val="tx1"/>
                </a:solidFill>
              </a:rPr>
              <a:t>研究工作的一个部分，</a:t>
            </a:r>
            <a:r>
              <a:rPr lang="en-US" altLang="zh-CN" sz="2400">
                <a:solidFill>
                  <a:schemeClr val="tx1"/>
                </a:solidFill>
              </a:rPr>
              <a:t>IETF</a:t>
            </a:r>
            <a:r>
              <a:rPr lang="zh-CN" altLang="en-US" sz="2400">
                <a:solidFill>
                  <a:schemeClr val="tx1"/>
                </a:solidFill>
              </a:rPr>
              <a:t>制定了推动</a:t>
            </a:r>
            <a:r>
              <a:rPr lang="en-US" altLang="zh-CN" sz="2400">
                <a:solidFill>
                  <a:schemeClr val="tx1"/>
                </a:solidFill>
              </a:rPr>
              <a:t>IPv4</a:t>
            </a:r>
            <a:r>
              <a:rPr lang="zh-CN" altLang="en-US" sz="2400">
                <a:solidFill>
                  <a:schemeClr val="tx1"/>
                </a:solidFill>
              </a:rPr>
              <a:t>向</a:t>
            </a:r>
            <a:r>
              <a:rPr lang="en-US" altLang="zh-CN" sz="2400">
                <a:solidFill>
                  <a:schemeClr val="tx1"/>
                </a:solidFill>
              </a:rPr>
              <a:t>IPv6</a:t>
            </a:r>
            <a:r>
              <a:rPr lang="zh-CN" altLang="en-US" sz="2400">
                <a:solidFill>
                  <a:schemeClr val="tx1"/>
                </a:solidFill>
              </a:rPr>
              <a:t>过渡的方案，其中包括三个机制：</a:t>
            </a:r>
          </a:p>
          <a:p>
            <a:pPr>
              <a:spcBef>
                <a:spcPct val="20000"/>
              </a:spcBef>
              <a:buClr>
                <a:schemeClr val="hlink"/>
              </a:buClr>
              <a:buFont typeface="Wingdings" panose="05000000000000000000" pitchFamily="2" charset="2"/>
              <a:buChar char="ü"/>
            </a:pPr>
            <a:r>
              <a:rPr lang="zh-CN" altLang="en-US" sz="2400">
                <a:solidFill>
                  <a:schemeClr val="tx1"/>
                </a:solidFill>
              </a:rPr>
              <a:t>  </a:t>
            </a:r>
            <a:r>
              <a:rPr lang="zh-CN" altLang="en-US" sz="2400">
                <a:solidFill>
                  <a:schemeClr val="tx2"/>
                </a:solidFill>
              </a:rPr>
              <a:t>兼容</a:t>
            </a:r>
            <a:r>
              <a:rPr lang="en-US" altLang="zh-CN" sz="2400">
                <a:solidFill>
                  <a:schemeClr val="tx2"/>
                </a:solidFill>
              </a:rPr>
              <a:t>IPv4</a:t>
            </a:r>
            <a:r>
              <a:rPr lang="zh-CN" altLang="en-US" sz="2400">
                <a:solidFill>
                  <a:schemeClr val="tx2"/>
                </a:solidFill>
              </a:rPr>
              <a:t>的</a:t>
            </a:r>
            <a:r>
              <a:rPr lang="en-US" altLang="zh-CN" sz="2400">
                <a:solidFill>
                  <a:schemeClr val="tx2"/>
                </a:solidFill>
              </a:rPr>
              <a:t>IPv6</a:t>
            </a:r>
            <a:r>
              <a:rPr lang="zh-CN" altLang="en-US" sz="2400">
                <a:solidFill>
                  <a:schemeClr val="tx2"/>
                </a:solidFill>
              </a:rPr>
              <a:t>地址</a:t>
            </a:r>
          </a:p>
          <a:p>
            <a:pPr>
              <a:spcBef>
                <a:spcPct val="20000"/>
              </a:spcBef>
              <a:buClr>
                <a:schemeClr val="hlink"/>
              </a:buClr>
              <a:buFont typeface="Wingdings" panose="05000000000000000000" pitchFamily="2" charset="2"/>
              <a:buChar char="ü"/>
            </a:pPr>
            <a:r>
              <a:rPr lang="zh-CN" altLang="en-US" sz="2400">
                <a:solidFill>
                  <a:schemeClr val="tx2"/>
                </a:solidFill>
              </a:rPr>
              <a:t>  双</a:t>
            </a:r>
            <a:r>
              <a:rPr lang="en-US" altLang="zh-CN" sz="2400">
                <a:solidFill>
                  <a:schemeClr val="tx2"/>
                </a:solidFill>
              </a:rPr>
              <a:t>IP</a:t>
            </a:r>
            <a:r>
              <a:rPr lang="zh-CN" altLang="en-US" sz="2400">
                <a:solidFill>
                  <a:schemeClr val="tx2"/>
                </a:solidFill>
              </a:rPr>
              <a:t>协议栈</a:t>
            </a:r>
          </a:p>
          <a:p>
            <a:pPr>
              <a:spcBef>
                <a:spcPct val="20000"/>
              </a:spcBef>
              <a:buClr>
                <a:schemeClr val="hlink"/>
              </a:buClr>
              <a:buFont typeface="Wingdings" panose="05000000000000000000" pitchFamily="2" charset="2"/>
              <a:buChar char="ü"/>
            </a:pPr>
            <a:r>
              <a:rPr lang="zh-CN" altLang="en-US" sz="2400">
                <a:solidFill>
                  <a:schemeClr val="tx2"/>
                </a:solidFill>
              </a:rPr>
              <a:t>  基于</a:t>
            </a:r>
            <a:r>
              <a:rPr lang="en-US" altLang="zh-CN" sz="2400">
                <a:solidFill>
                  <a:schemeClr val="tx2"/>
                </a:solidFill>
              </a:rPr>
              <a:t>IPv4</a:t>
            </a:r>
            <a:r>
              <a:rPr lang="zh-CN" altLang="en-US" sz="2400">
                <a:solidFill>
                  <a:schemeClr val="tx2"/>
                </a:solidFill>
              </a:rPr>
              <a:t>隧道的</a:t>
            </a:r>
            <a:r>
              <a:rPr lang="en-US" altLang="zh-CN" sz="2400">
                <a:solidFill>
                  <a:schemeClr val="tx2"/>
                </a:solidFill>
              </a:rPr>
              <a:t>IPv6</a:t>
            </a:r>
            <a:r>
              <a:rPr lang="zh-CN" altLang="en-US" sz="2400">
                <a:solidFill>
                  <a:schemeClr val="tx1"/>
                </a:solidFill>
              </a:rPr>
              <a:t>。</a:t>
            </a:r>
            <a:r>
              <a:rPr lang="zh-CN" altLang="en-US">
                <a:solidFill>
                  <a:schemeClr val="tx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87587">
                                            <p:txEl>
                                              <p:pRg st="0" end="0"/>
                                            </p:txEl>
                                          </p:spTgt>
                                        </p:tgtEl>
                                        <p:attrNameLst>
                                          <p:attrName>style.visibility</p:attrName>
                                        </p:attrNameLst>
                                      </p:cBhvr>
                                      <p:to>
                                        <p:strVal val="visible"/>
                                      </p:to>
                                    </p:set>
                                    <p:anim calcmode="lin" valueType="num">
                                      <p:cBhvr additive="base">
                                        <p:cTn id="7" dur="500" fill="hold"/>
                                        <p:tgtEl>
                                          <p:spTgt spid="19875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875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87587">
                                            <p:txEl>
                                              <p:pRg st="1" end="1"/>
                                            </p:txEl>
                                          </p:spTgt>
                                        </p:tgtEl>
                                        <p:attrNameLst>
                                          <p:attrName>style.visibility</p:attrName>
                                        </p:attrNameLst>
                                      </p:cBhvr>
                                      <p:to>
                                        <p:strVal val="visible"/>
                                      </p:to>
                                    </p:set>
                                    <p:anim calcmode="lin" valueType="num">
                                      <p:cBhvr additive="base">
                                        <p:cTn id="13" dur="500" fill="hold"/>
                                        <p:tgtEl>
                                          <p:spTgt spid="19875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87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87587">
                                            <p:txEl>
                                              <p:pRg st="2" end="2"/>
                                            </p:txEl>
                                          </p:spTgt>
                                        </p:tgtEl>
                                        <p:attrNameLst>
                                          <p:attrName>style.visibility</p:attrName>
                                        </p:attrNameLst>
                                      </p:cBhvr>
                                      <p:to>
                                        <p:strVal val="visible"/>
                                      </p:to>
                                    </p:set>
                                    <p:anim calcmode="lin" valueType="num">
                                      <p:cBhvr additive="base">
                                        <p:cTn id="19" dur="500" fill="hold"/>
                                        <p:tgtEl>
                                          <p:spTgt spid="19875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875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87587">
                                            <p:txEl>
                                              <p:pRg st="3" end="3"/>
                                            </p:txEl>
                                          </p:spTgt>
                                        </p:tgtEl>
                                        <p:attrNameLst>
                                          <p:attrName>style.visibility</p:attrName>
                                        </p:attrNameLst>
                                      </p:cBhvr>
                                      <p:to>
                                        <p:strVal val="visible"/>
                                      </p:to>
                                    </p:set>
                                    <p:anim calcmode="lin" valueType="num">
                                      <p:cBhvr additive="base">
                                        <p:cTn id="25" dur="500" fill="hold"/>
                                        <p:tgtEl>
                                          <p:spTgt spid="19875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8758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7587"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2278063" y="381000"/>
            <a:ext cx="7772400" cy="55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Summary</a:t>
            </a:r>
          </a:p>
        </p:txBody>
      </p:sp>
      <p:graphicFrame>
        <p:nvGraphicFramePr>
          <p:cNvPr id="86019" name="Object 3">
            <a:hlinkClick r:id="" action="ppaction://ole?verb=0"/>
          </p:cNvPr>
          <p:cNvGraphicFramePr>
            <a:graphicFrameLocks/>
          </p:cNvGraphicFramePr>
          <p:nvPr/>
        </p:nvGraphicFramePr>
        <p:xfrm>
          <a:off x="4821239" y="1468439"/>
          <a:ext cx="2439987" cy="1254125"/>
        </p:xfrm>
        <a:graphic>
          <a:graphicData uri="http://schemas.openxmlformats.org/presentationml/2006/ole">
            <mc:AlternateContent xmlns:mc="http://schemas.openxmlformats.org/markup-compatibility/2006">
              <mc:Choice xmlns:v="urn:schemas-microsoft-com:vml" Requires="v">
                <p:oleObj spid="_x0000_s20490" name="Clip" r:id="rId3" imgW="4054475" imgH="3549650" progId="MS_ClipArt_Gallery.2">
                  <p:embed/>
                </p:oleObj>
              </mc:Choice>
              <mc:Fallback>
                <p:oleObj name="Clip" r:id="rId3" imgW="4054475" imgH="3549650" progId="MS_ClipArt_Gallery.2">
                  <p:embed/>
                  <p:pic>
                    <p:nvPicPr>
                      <p:cNvPr id="86019"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239" y="1468439"/>
                        <a:ext cx="2439987"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0" name="Text Box 4"/>
          <p:cNvSpPr txBox="1">
            <a:spLocks noChangeArrowheads="1"/>
          </p:cNvSpPr>
          <p:nvPr/>
        </p:nvSpPr>
        <p:spPr bwMode="auto">
          <a:xfrm>
            <a:off x="4824414" y="2946401"/>
            <a:ext cx="5513387"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5763" indent="-3857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buClr>
                <a:schemeClr val="folHlink"/>
              </a:buClr>
              <a:buSzPct val="60000"/>
              <a:buFont typeface="Wingdings" panose="05000000000000000000" pitchFamily="2" charset="2"/>
              <a:buChar char="q"/>
            </a:pPr>
            <a:r>
              <a:rPr kumimoji="1" lang="zh-CN" altLang="en-US" b="1">
                <a:solidFill>
                  <a:schemeClr val="tx1"/>
                </a:solidFill>
                <a:latin typeface="Tahoma" panose="020B0604030504040204" pitchFamily="34" charset="0"/>
              </a:rPr>
              <a:t>网络</a:t>
            </a:r>
            <a:r>
              <a:rPr kumimoji="1" lang="zh-CN" altLang="en-US" sz="2400">
                <a:solidFill>
                  <a:schemeClr val="tx1"/>
                </a:solidFill>
                <a:latin typeface="Tahoma" panose="020B0604030504040204" pitchFamily="34" charset="0"/>
              </a:rPr>
              <a:t>地址类型</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子网</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特殊 </a:t>
            </a: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专用 </a:t>
            </a: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CIDR</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地址转换</a:t>
            </a:r>
            <a:r>
              <a:rPr kumimoji="1" lang="en-US" altLang="zh-CN" sz="2400">
                <a:solidFill>
                  <a:schemeClr val="tx1"/>
                </a:solidFill>
                <a:latin typeface="Tahoma" panose="020B0604030504040204" pitchFamily="34" charset="0"/>
              </a:rPr>
              <a:t>(ARP/RARP/DNS)</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网络地址转换</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IP V6</a:t>
            </a:r>
            <a:r>
              <a:rPr kumimoji="1" lang="zh-CN" altLang="en-US" sz="2400">
                <a:solidFill>
                  <a:schemeClr val="tx1"/>
                </a:solidFill>
                <a:latin typeface="Tahoma" panose="020B0604030504040204" pitchFamily="34" charset="0"/>
              </a:rPr>
              <a:t>，</a:t>
            </a:r>
            <a:r>
              <a:rPr kumimoji="1" lang="en-US" altLang="zh-CN" sz="2400">
                <a:solidFill>
                  <a:schemeClr val="tx1"/>
                </a:solidFill>
                <a:latin typeface="Tahoma" panose="020B0604030504040204" pitchFamily="34" charset="0"/>
              </a:rPr>
              <a:t>DHCP</a:t>
            </a:r>
          </a:p>
        </p:txBody>
      </p:sp>
    </p:spTree>
  </p:cSld>
  <p:clrMapOvr>
    <a:masterClrMapping/>
  </p:clrMapOvr>
  <p:transition spd="med">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a:solidFill>
                  <a:schemeClr val="tx1"/>
                </a:solidFill>
              </a:rPr>
              <a:t>    </a:t>
            </a:r>
            <a:endParaRPr kumimoji="1" lang="en-US" altLang="zh-CN">
              <a:solidFill>
                <a:schemeClr val="tx1"/>
              </a:solidFill>
            </a:endParaRPr>
          </a:p>
        </p:txBody>
      </p:sp>
      <p:sp>
        <p:nvSpPr>
          <p:cNvPr id="5123" name="Text Box 3"/>
          <p:cNvSpPr txBox="1">
            <a:spLocks noChangeArrowheads="1"/>
          </p:cNvSpPr>
          <p:nvPr/>
        </p:nvSpPr>
        <p:spPr bwMode="auto">
          <a:xfrm>
            <a:off x="4483100" y="1289051"/>
            <a:ext cx="31464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6000" b="1">
                <a:solidFill>
                  <a:schemeClr val="folHlink"/>
                </a:solidFill>
                <a:latin typeface="新宋体" panose="02010609030101010101" pitchFamily="49" charset="-122"/>
                <a:ea typeface="新宋体" panose="02010609030101010101" pitchFamily="49" charset="-122"/>
              </a:rPr>
              <a:t>5.3</a:t>
            </a:r>
          </a:p>
        </p:txBody>
      </p:sp>
      <p:sp>
        <p:nvSpPr>
          <p:cNvPr id="5124" name="WordArt 6"/>
          <p:cNvSpPr>
            <a:spLocks noChangeArrowheads="1" noChangeShapeType="1" noTextEdit="1"/>
          </p:cNvSpPr>
          <p:nvPr/>
        </p:nvSpPr>
        <p:spPr bwMode="auto">
          <a:xfrm>
            <a:off x="2932113" y="2776538"/>
            <a:ext cx="6248400" cy="1143000"/>
          </a:xfrm>
          <a:prstGeom prst="rect">
            <a:avLst/>
          </a:prstGeom>
        </p:spPr>
        <p:txBody>
          <a:bodyPr wrap="none" fromWordArt="1">
            <a:prstTxWarp prst="textPlain">
              <a:avLst>
                <a:gd name="adj" fmla="val 50000"/>
              </a:avLst>
            </a:prstTxWarp>
          </a:bodyPr>
          <a:lstStyle/>
          <a:p>
            <a:pPr algn="ctr"/>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panose="02010509060101010101" pitchFamily="49" charset="-122"/>
                <a:ea typeface="隶书" panose="02010509060101010101" pitchFamily="49" charset="-122"/>
              </a:rPr>
              <a:t>路由</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2182811" y="1246188"/>
            <a:ext cx="6686550" cy="1649412"/>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eaLnBrk="1" hangingPunct="1">
              <a:lnSpc>
                <a:spcPct val="90000"/>
              </a:lnSpc>
            </a:pPr>
            <a:r>
              <a:rPr lang="zh-CN" altLang="en-US"/>
              <a:t>数据平面</a:t>
            </a:r>
            <a:r>
              <a:rPr lang="en-US" altLang="zh-CN"/>
              <a:t>: </a:t>
            </a:r>
            <a:r>
              <a:rPr lang="zh-CN" altLang="en-US"/>
              <a:t>利用路由表来转发报文分组 </a:t>
            </a:r>
          </a:p>
          <a:p>
            <a:pPr eaLnBrk="1" hangingPunct="1">
              <a:lnSpc>
                <a:spcPct val="90000"/>
              </a:lnSpc>
            </a:pPr>
            <a:r>
              <a:rPr lang="zh-CN" altLang="en-US"/>
              <a:t>控制平面</a:t>
            </a:r>
            <a:r>
              <a:rPr lang="en-US" altLang="zh-CN"/>
              <a:t>: </a:t>
            </a:r>
            <a:r>
              <a:rPr lang="zh-CN" altLang="en-US"/>
              <a:t>构造和维护路由表 </a:t>
            </a:r>
            <a:r>
              <a:rPr lang="en-US" altLang="zh-CN" sz="2400"/>
              <a:t>(e.g., </a:t>
            </a:r>
            <a:r>
              <a:rPr lang="zh-CN" altLang="en-US" sz="2400"/>
              <a:t>路由算法，路由协议</a:t>
            </a:r>
            <a:r>
              <a:rPr lang="en-US" altLang="zh-CN" sz="2400"/>
              <a:t>)</a:t>
            </a:r>
            <a:r>
              <a:rPr lang="zh-CN" altLang="en-US" sz="2400"/>
              <a:t>。</a:t>
            </a:r>
            <a:endParaRPr lang="en-US" altLang="zh-CN" sz="2400"/>
          </a:p>
          <a:p>
            <a:pPr eaLnBrk="1" hangingPunct="1">
              <a:lnSpc>
                <a:spcPct val="90000"/>
              </a:lnSpc>
            </a:pPr>
            <a:r>
              <a:rPr lang="zh-CN" altLang="en-US" sz="2400">
                <a:solidFill>
                  <a:srgbClr val="FF0000"/>
                </a:solidFill>
              </a:rPr>
              <a:t>注意：表里面的主机指网络号</a:t>
            </a:r>
            <a:endParaRPr lang="en-US" altLang="zh-CN" sz="2400">
              <a:solidFill>
                <a:srgbClr val="FF0000"/>
              </a:solidFill>
            </a:endParaRPr>
          </a:p>
        </p:txBody>
      </p:sp>
      <p:sp>
        <p:nvSpPr>
          <p:cNvPr id="6147" name="Rectangle 4"/>
          <p:cNvSpPr>
            <a:spLocks noChangeArrowheads="1"/>
          </p:cNvSpPr>
          <p:nvPr/>
        </p:nvSpPr>
        <p:spPr bwMode="auto">
          <a:xfrm>
            <a:off x="4138613" y="45561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48" name="Rectangle 5"/>
          <p:cNvSpPr>
            <a:spLocks noChangeArrowheads="1"/>
          </p:cNvSpPr>
          <p:nvPr/>
        </p:nvSpPr>
        <p:spPr bwMode="auto">
          <a:xfrm>
            <a:off x="5510213" y="51657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49" name="Rectangle 6"/>
          <p:cNvSpPr>
            <a:spLocks noChangeArrowheads="1"/>
          </p:cNvSpPr>
          <p:nvPr/>
        </p:nvSpPr>
        <p:spPr bwMode="auto">
          <a:xfrm>
            <a:off x="6577013" y="44037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0" name="Rectangle 7"/>
          <p:cNvSpPr>
            <a:spLocks noChangeArrowheads="1"/>
          </p:cNvSpPr>
          <p:nvPr/>
        </p:nvSpPr>
        <p:spPr bwMode="auto">
          <a:xfrm>
            <a:off x="7034213" y="5867400"/>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1" name="Rectangle 8"/>
          <p:cNvSpPr>
            <a:spLocks noChangeArrowheads="1"/>
          </p:cNvSpPr>
          <p:nvPr/>
        </p:nvSpPr>
        <p:spPr bwMode="auto">
          <a:xfrm>
            <a:off x="4291013" y="5715000"/>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2" name="Rectangle 9"/>
          <p:cNvSpPr>
            <a:spLocks noChangeArrowheads="1"/>
          </p:cNvSpPr>
          <p:nvPr/>
        </p:nvSpPr>
        <p:spPr bwMode="auto">
          <a:xfrm>
            <a:off x="7643813" y="52419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3" name="Oval 10"/>
          <p:cNvSpPr>
            <a:spLocks noChangeArrowheads="1"/>
          </p:cNvSpPr>
          <p:nvPr/>
        </p:nvSpPr>
        <p:spPr bwMode="auto">
          <a:xfrm>
            <a:off x="2919413" y="4251325"/>
            <a:ext cx="381000" cy="381000"/>
          </a:xfrm>
          <a:prstGeom prst="ellipse">
            <a:avLst/>
          </a:prstGeom>
          <a:solidFill>
            <a:srgbClr val="FFFFCC"/>
          </a:solidFill>
          <a:ln w="1905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4" name="Oval 11"/>
          <p:cNvSpPr>
            <a:spLocks noChangeArrowheads="1"/>
          </p:cNvSpPr>
          <p:nvPr/>
        </p:nvSpPr>
        <p:spPr bwMode="auto">
          <a:xfrm>
            <a:off x="8939213" y="4479925"/>
            <a:ext cx="381000" cy="381000"/>
          </a:xfrm>
          <a:prstGeom prst="ellipse">
            <a:avLst/>
          </a:prstGeom>
          <a:solidFill>
            <a:srgbClr val="FFFFCC"/>
          </a:solidFill>
          <a:ln w="1905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5" name="Line 12"/>
          <p:cNvSpPr>
            <a:spLocks noChangeShapeType="1"/>
          </p:cNvSpPr>
          <p:nvPr/>
        </p:nvSpPr>
        <p:spPr bwMode="auto">
          <a:xfrm>
            <a:off x="3300413" y="4479925"/>
            <a:ext cx="83820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Line 13"/>
          <p:cNvSpPr>
            <a:spLocks noChangeShapeType="1"/>
          </p:cNvSpPr>
          <p:nvPr/>
        </p:nvSpPr>
        <p:spPr bwMode="auto">
          <a:xfrm flipV="1">
            <a:off x="4595813" y="4556125"/>
            <a:ext cx="19812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7" name="Line 14"/>
          <p:cNvSpPr>
            <a:spLocks noChangeShapeType="1"/>
          </p:cNvSpPr>
          <p:nvPr/>
        </p:nvSpPr>
        <p:spPr bwMode="auto">
          <a:xfrm>
            <a:off x="4595813" y="4708525"/>
            <a:ext cx="914400"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8" name="Line 15"/>
          <p:cNvSpPr>
            <a:spLocks noChangeShapeType="1"/>
          </p:cNvSpPr>
          <p:nvPr/>
        </p:nvSpPr>
        <p:spPr bwMode="auto">
          <a:xfrm flipV="1">
            <a:off x="4748213" y="5394325"/>
            <a:ext cx="762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9" name="Line 16"/>
          <p:cNvSpPr>
            <a:spLocks noChangeShapeType="1"/>
          </p:cNvSpPr>
          <p:nvPr/>
        </p:nvSpPr>
        <p:spPr bwMode="auto">
          <a:xfrm>
            <a:off x="5967413" y="5318125"/>
            <a:ext cx="16764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0" name="Line 17"/>
          <p:cNvSpPr>
            <a:spLocks noChangeShapeType="1"/>
          </p:cNvSpPr>
          <p:nvPr/>
        </p:nvSpPr>
        <p:spPr bwMode="auto">
          <a:xfrm flipV="1">
            <a:off x="8101013" y="4784725"/>
            <a:ext cx="8382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1" name="Line 18"/>
          <p:cNvSpPr>
            <a:spLocks noChangeShapeType="1"/>
          </p:cNvSpPr>
          <p:nvPr/>
        </p:nvSpPr>
        <p:spPr bwMode="auto">
          <a:xfrm>
            <a:off x="5967413" y="5318125"/>
            <a:ext cx="1066800" cy="762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2" name="Line 19"/>
          <p:cNvSpPr>
            <a:spLocks noChangeShapeType="1"/>
          </p:cNvSpPr>
          <p:nvPr/>
        </p:nvSpPr>
        <p:spPr bwMode="auto">
          <a:xfrm flipV="1">
            <a:off x="5967413" y="4632325"/>
            <a:ext cx="609600"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3" name="Text Box 20"/>
          <p:cNvSpPr txBox="1">
            <a:spLocks noChangeArrowheads="1"/>
          </p:cNvSpPr>
          <p:nvPr/>
        </p:nvSpPr>
        <p:spPr bwMode="auto">
          <a:xfrm>
            <a:off x="2867025" y="3854451"/>
            <a:ext cx="509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H1</a:t>
            </a:r>
          </a:p>
        </p:txBody>
      </p:sp>
      <p:sp>
        <p:nvSpPr>
          <p:cNvPr id="6164" name="Text Box 21"/>
          <p:cNvSpPr txBox="1">
            <a:spLocks noChangeArrowheads="1"/>
          </p:cNvSpPr>
          <p:nvPr/>
        </p:nvSpPr>
        <p:spPr bwMode="auto">
          <a:xfrm>
            <a:off x="8863014" y="40989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a:t>
            </a:r>
          </a:p>
        </p:txBody>
      </p:sp>
      <p:sp>
        <p:nvSpPr>
          <p:cNvPr id="6165" name="Text Box 22"/>
          <p:cNvSpPr txBox="1">
            <a:spLocks noChangeArrowheads="1"/>
          </p:cNvSpPr>
          <p:nvPr/>
        </p:nvSpPr>
        <p:spPr bwMode="auto">
          <a:xfrm>
            <a:off x="4138614" y="4540251"/>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R1</a:t>
            </a:r>
          </a:p>
        </p:txBody>
      </p:sp>
      <p:sp>
        <p:nvSpPr>
          <p:cNvPr id="6166" name="Text Box 23"/>
          <p:cNvSpPr txBox="1">
            <a:spLocks noChangeArrowheads="1"/>
          </p:cNvSpPr>
          <p:nvPr/>
        </p:nvSpPr>
        <p:spPr bwMode="auto">
          <a:xfrm>
            <a:off x="4291014" y="56991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R2</a:t>
            </a:r>
          </a:p>
        </p:txBody>
      </p:sp>
      <p:sp>
        <p:nvSpPr>
          <p:cNvPr id="6167" name="Text Box 24"/>
          <p:cNvSpPr txBox="1">
            <a:spLocks noChangeArrowheads="1"/>
          </p:cNvSpPr>
          <p:nvPr/>
        </p:nvSpPr>
        <p:spPr bwMode="auto">
          <a:xfrm>
            <a:off x="5510214" y="51657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R3</a:t>
            </a:r>
          </a:p>
        </p:txBody>
      </p:sp>
      <p:sp>
        <p:nvSpPr>
          <p:cNvPr id="6168" name="Text Box 25"/>
          <p:cNvSpPr txBox="1">
            <a:spLocks noChangeArrowheads="1"/>
          </p:cNvSpPr>
          <p:nvPr/>
        </p:nvSpPr>
        <p:spPr bwMode="auto">
          <a:xfrm>
            <a:off x="6577014" y="44037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R4</a:t>
            </a:r>
          </a:p>
        </p:txBody>
      </p:sp>
      <p:sp>
        <p:nvSpPr>
          <p:cNvPr id="6169" name="Text Box 26"/>
          <p:cNvSpPr txBox="1">
            <a:spLocks noChangeArrowheads="1"/>
          </p:cNvSpPr>
          <p:nvPr/>
        </p:nvSpPr>
        <p:spPr bwMode="auto">
          <a:xfrm>
            <a:off x="7034214" y="58515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R5</a:t>
            </a:r>
          </a:p>
        </p:txBody>
      </p:sp>
      <p:sp>
        <p:nvSpPr>
          <p:cNvPr id="6170" name="Text Box 27"/>
          <p:cNvSpPr txBox="1">
            <a:spLocks noChangeArrowheads="1"/>
          </p:cNvSpPr>
          <p:nvPr/>
        </p:nvSpPr>
        <p:spPr bwMode="auto">
          <a:xfrm>
            <a:off x="7643814" y="52419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R6</a:t>
            </a:r>
          </a:p>
        </p:txBody>
      </p:sp>
      <p:sp>
        <p:nvSpPr>
          <p:cNvPr id="6171" name="Rectangle 28"/>
          <p:cNvSpPr>
            <a:spLocks noChangeArrowheads="1"/>
          </p:cNvSpPr>
          <p:nvPr/>
        </p:nvSpPr>
        <p:spPr bwMode="auto">
          <a:xfrm>
            <a:off x="4367213" y="3336925"/>
            <a:ext cx="9144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72" name="Line 29"/>
          <p:cNvSpPr>
            <a:spLocks noChangeShapeType="1"/>
          </p:cNvSpPr>
          <p:nvPr/>
        </p:nvSpPr>
        <p:spPr bwMode="auto">
          <a:xfrm>
            <a:off x="4367213" y="35655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3" name="Text Box 30"/>
          <p:cNvSpPr txBox="1">
            <a:spLocks noChangeArrowheads="1"/>
          </p:cNvSpPr>
          <p:nvPr/>
        </p:nvSpPr>
        <p:spPr bwMode="auto">
          <a:xfrm>
            <a:off x="4367213" y="3549650"/>
            <a:ext cx="1043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  R4</a:t>
            </a:r>
          </a:p>
        </p:txBody>
      </p:sp>
      <p:sp>
        <p:nvSpPr>
          <p:cNvPr id="6174" name="Line 31"/>
          <p:cNvSpPr>
            <a:spLocks noChangeShapeType="1"/>
          </p:cNvSpPr>
          <p:nvPr/>
        </p:nvSpPr>
        <p:spPr bwMode="auto">
          <a:xfrm>
            <a:off x="4367213" y="39465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5" name="Line 32"/>
          <p:cNvSpPr>
            <a:spLocks noChangeShapeType="1"/>
          </p:cNvSpPr>
          <p:nvPr/>
        </p:nvSpPr>
        <p:spPr bwMode="auto">
          <a:xfrm>
            <a:off x="4824413" y="3489325"/>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6" name="Text Box 33"/>
          <p:cNvSpPr txBox="1">
            <a:spLocks noChangeArrowheads="1"/>
          </p:cNvSpPr>
          <p:nvPr/>
        </p:nvSpPr>
        <p:spPr bwMode="auto">
          <a:xfrm>
            <a:off x="4614863" y="377825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a:t>
            </a:r>
          </a:p>
        </p:txBody>
      </p:sp>
      <p:sp>
        <p:nvSpPr>
          <p:cNvPr id="6177" name="Line 34"/>
          <p:cNvSpPr>
            <a:spLocks noChangeShapeType="1"/>
          </p:cNvSpPr>
          <p:nvPr/>
        </p:nvSpPr>
        <p:spPr bwMode="auto">
          <a:xfrm>
            <a:off x="7034213" y="4632325"/>
            <a:ext cx="762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8" name="Rectangle 35"/>
          <p:cNvSpPr>
            <a:spLocks noChangeArrowheads="1"/>
          </p:cNvSpPr>
          <p:nvPr/>
        </p:nvSpPr>
        <p:spPr bwMode="auto">
          <a:xfrm>
            <a:off x="6897688" y="3184525"/>
            <a:ext cx="9144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79" name="Line 36"/>
          <p:cNvSpPr>
            <a:spLocks noChangeShapeType="1"/>
          </p:cNvSpPr>
          <p:nvPr/>
        </p:nvSpPr>
        <p:spPr bwMode="auto">
          <a:xfrm>
            <a:off x="6897688" y="34131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0" name="Text Box 37"/>
          <p:cNvSpPr txBox="1">
            <a:spLocks noChangeArrowheads="1"/>
          </p:cNvSpPr>
          <p:nvPr/>
        </p:nvSpPr>
        <p:spPr bwMode="auto">
          <a:xfrm>
            <a:off x="6897688" y="3397250"/>
            <a:ext cx="1043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  R6</a:t>
            </a:r>
          </a:p>
        </p:txBody>
      </p:sp>
      <p:sp>
        <p:nvSpPr>
          <p:cNvPr id="6181" name="Line 38"/>
          <p:cNvSpPr>
            <a:spLocks noChangeShapeType="1"/>
          </p:cNvSpPr>
          <p:nvPr/>
        </p:nvSpPr>
        <p:spPr bwMode="auto">
          <a:xfrm>
            <a:off x="6897688" y="37941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2" name="Line 39"/>
          <p:cNvSpPr>
            <a:spLocks noChangeShapeType="1"/>
          </p:cNvSpPr>
          <p:nvPr/>
        </p:nvSpPr>
        <p:spPr bwMode="auto">
          <a:xfrm>
            <a:off x="7354888" y="3336925"/>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3" name="Text Box 40"/>
          <p:cNvSpPr txBox="1">
            <a:spLocks noChangeArrowheads="1"/>
          </p:cNvSpPr>
          <p:nvPr/>
        </p:nvSpPr>
        <p:spPr bwMode="auto">
          <a:xfrm>
            <a:off x="7145338" y="362585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a:t>
            </a:r>
          </a:p>
        </p:txBody>
      </p:sp>
      <p:sp>
        <p:nvSpPr>
          <p:cNvPr id="6184" name="AutoShape 41"/>
          <p:cNvSpPr>
            <a:spLocks noChangeArrowheads="1"/>
          </p:cNvSpPr>
          <p:nvPr/>
        </p:nvSpPr>
        <p:spPr bwMode="auto">
          <a:xfrm>
            <a:off x="4214813" y="2955925"/>
            <a:ext cx="1295400" cy="1371600"/>
          </a:xfrm>
          <a:prstGeom prst="wedgeRoundRectCallout">
            <a:avLst>
              <a:gd name="adj1" fmla="val -38602"/>
              <a:gd name="adj2" fmla="val 61111"/>
              <a:gd name="adj3" fmla="val 16667"/>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zh-CN" sz="2000" b="1">
              <a:solidFill>
                <a:schemeClr val="tx1"/>
              </a:solidFill>
              <a:latin typeface="Arial" panose="020B0604020202020204" pitchFamily="34" charset="0"/>
            </a:endParaRPr>
          </a:p>
        </p:txBody>
      </p:sp>
      <p:sp>
        <p:nvSpPr>
          <p:cNvPr id="6185" name="Text Box 42"/>
          <p:cNvSpPr txBox="1">
            <a:spLocks noChangeArrowheads="1"/>
          </p:cNvSpPr>
          <p:nvPr/>
        </p:nvSpPr>
        <p:spPr bwMode="auto">
          <a:xfrm>
            <a:off x="4232275" y="2971801"/>
            <a:ext cx="1354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Fwd table</a:t>
            </a:r>
          </a:p>
        </p:txBody>
      </p:sp>
      <p:sp>
        <p:nvSpPr>
          <p:cNvPr id="6186" name="AutoShape 43"/>
          <p:cNvSpPr>
            <a:spLocks noChangeArrowheads="1"/>
          </p:cNvSpPr>
          <p:nvPr/>
        </p:nvSpPr>
        <p:spPr bwMode="auto">
          <a:xfrm>
            <a:off x="6729413" y="2803525"/>
            <a:ext cx="1295400" cy="1371600"/>
          </a:xfrm>
          <a:prstGeom prst="wedgeRoundRectCallout">
            <a:avLst>
              <a:gd name="adj1" fmla="val -38602"/>
              <a:gd name="adj2" fmla="val 61111"/>
              <a:gd name="adj3" fmla="val 16667"/>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zh-CN" sz="2000" b="1">
              <a:solidFill>
                <a:schemeClr val="tx1"/>
              </a:solidFill>
              <a:latin typeface="Arial" panose="020B0604020202020204" pitchFamily="34" charset="0"/>
            </a:endParaRPr>
          </a:p>
        </p:txBody>
      </p:sp>
      <p:sp>
        <p:nvSpPr>
          <p:cNvPr id="6187" name="Text Box 44"/>
          <p:cNvSpPr txBox="1">
            <a:spLocks noChangeArrowheads="1"/>
          </p:cNvSpPr>
          <p:nvPr/>
        </p:nvSpPr>
        <p:spPr bwMode="auto">
          <a:xfrm>
            <a:off x="6729414" y="2819401"/>
            <a:ext cx="1354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Fwd table</a:t>
            </a:r>
          </a:p>
        </p:txBody>
      </p:sp>
      <p:sp>
        <p:nvSpPr>
          <p:cNvPr id="1961005" name="Line 45"/>
          <p:cNvSpPr>
            <a:spLocks noChangeShapeType="1"/>
          </p:cNvSpPr>
          <p:nvPr/>
        </p:nvSpPr>
        <p:spPr bwMode="auto">
          <a:xfrm>
            <a:off x="3376613" y="4403725"/>
            <a:ext cx="685800" cy="152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6" name="Line 46"/>
          <p:cNvSpPr>
            <a:spLocks noChangeShapeType="1"/>
          </p:cNvSpPr>
          <p:nvPr/>
        </p:nvSpPr>
        <p:spPr bwMode="auto">
          <a:xfrm flipV="1">
            <a:off x="4672013" y="4479925"/>
            <a:ext cx="1828800" cy="152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7" name="Line 47"/>
          <p:cNvSpPr>
            <a:spLocks noChangeShapeType="1"/>
          </p:cNvSpPr>
          <p:nvPr/>
        </p:nvSpPr>
        <p:spPr bwMode="auto">
          <a:xfrm>
            <a:off x="7110413" y="4556125"/>
            <a:ext cx="762000" cy="609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8" name="Line 48"/>
          <p:cNvSpPr>
            <a:spLocks noChangeShapeType="1"/>
          </p:cNvSpPr>
          <p:nvPr/>
        </p:nvSpPr>
        <p:spPr bwMode="auto">
          <a:xfrm flipV="1">
            <a:off x="8177213" y="4708525"/>
            <a:ext cx="762000" cy="533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92" name="Rectangle 49"/>
          <p:cNvSpPr>
            <a:spLocks noGrp="1" noChangeArrowheads="1"/>
          </p:cNvSpPr>
          <p:nvPr>
            <p:ph type="title"/>
          </p:nvPr>
        </p:nvSpPr>
        <p:spPr bwMode="auto">
          <a:xfrm>
            <a:off x="2178050" y="268288"/>
            <a:ext cx="7772400" cy="603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610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9610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61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96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bwMode="auto">
          <a:xfrm>
            <a:off x="2209800" y="204788"/>
            <a:ext cx="7772400" cy="576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zh-CN" altLang="en-US" sz="3600" b="1">
                <a:latin typeface="新宋体" panose="02010609030101010101" pitchFamily="49" charset="-122"/>
                <a:ea typeface="新宋体" panose="02010609030101010101" pitchFamily="49" charset="-122"/>
              </a:rPr>
              <a:t>路由</a:t>
            </a:r>
          </a:p>
        </p:txBody>
      </p:sp>
      <p:sp>
        <p:nvSpPr>
          <p:cNvPr id="7171" name="Rectangle 1029"/>
          <p:cNvSpPr>
            <a:spLocks noChangeArrowheads="1"/>
          </p:cNvSpPr>
          <p:nvPr/>
        </p:nvSpPr>
        <p:spPr bwMode="auto">
          <a:xfrm>
            <a:off x="5200650" y="274320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7172" name="Picture 1028" descr="http://www.lhtelecom.com.cn/dxjs/jiao/images/051002.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619500" y="1790700"/>
            <a:ext cx="56769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1030"/>
          <p:cNvSpPr txBox="1">
            <a:spLocks noChangeArrowheads="1"/>
          </p:cNvSpPr>
          <p:nvPr/>
        </p:nvSpPr>
        <p:spPr bwMode="auto">
          <a:xfrm>
            <a:off x="5467350" y="1504950"/>
            <a:ext cx="173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ea typeface="华文楷体" panose="02010600040101010101" pitchFamily="2" charset="-122"/>
              </a:rPr>
              <a:t>路由算法</a:t>
            </a:r>
          </a:p>
        </p:txBody>
      </p:sp>
      <p:sp>
        <p:nvSpPr>
          <p:cNvPr id="7174" name="Text Box 1031"/>
          <p:cNvSpPr txBox="1">
            <a:spLocks noChangeArrowheads="1"/>
          </p:cNvSpPr>
          <p:nvPr/>
        </p:nvSpPr>
        <p:spPr bwMode="auto">
          <a:xfrm>
            <a:off x="3505200" y="4419601"/>
            <a:ext cx="5295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7175" name="Text Box 1032"/>
          <p:cNvSpPr txBox="1">
            <a:spLocks noChangeArrowheads="1"/>
          </p:cNvSpPr>
          <p:nvPr/>
        </p:nvSpPr>
        <p:spPr bwMode="auto">
          <a:xfrm>
            <a:off x="3502025" y="4438650"/>
            <a:ext cx="63246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tx2"/>
              </a:buClr>
              <a:buFont typeface="Wingdings" panose="05000000000000000000" pitchFamily="2" charset="2"/>
              <a:buChar char="ü"/>
            </a:pPr>
            <a:r>
              <a:rPr lang="zh-CN" altLang="en-US">
                <a:solidFill>
                  <a:schemeClr val="tx1"/>
                </a:solidFill>
              </a:rPr>
              <a:t>路由表</a:t>
            </a:r>
          </a:p>
          <a:p>
            <a:pPr>
              <a:spcBef>
                <a:spcPct val="20000"/>
              </a:spcBef>
              <a:buClr>
                <a:schemeClr val="tx2"/>
              </a:buClr>
              <a:buFont typeface="Wingdings" panose="05000000000000000000" pitchFamily="2" charset="2"/>
              <a:buChar char="ü"/>
            </a:pPr>
            <a:r>
              <a:rPr lang="zh-CN" altLang="en-US">
                <a:solidFill>
                  <a:schemeClr val="tx1"/>
                </a:solidFill>
              </a:rPr>
              <a:t>路由算法（节点之间交换路由信息）</a:t>
            </a:r>
          </a:p>
          <a:p>
            <a:pPr>
              <a:spcBef>
                <a:spcPct val="20000"/>
              </a:spcBef>
              <a:buClr>
                <a:schemeClr val="tx2"/>
              </a:buClr>
              <a:buFont typeface="Wingdings" panose="05000000000000000000" pitchFamily="2" charset="2"/>
              <a:buChar char="ü"/>
            </a:pPr>
            <a:r>
              <a:rPr lang="zh-CN" altLang="en-US">
                <a:solidFill>
                  <a:schemeClr val="tx1"/>
                </a:solidFill>
              </a:rPr>
              <a:t>路由协议（路由算法的具体实现）</a:t>
            </a:r>
          </a:p>
        </p:txBody>
      </p:sp>
    </p:spTree>
  </p:cSld>
  <p:clrMapOvr>
    <a:masterClrMapping/>
  </p:clrMapOvr>
  <p:transition spd="med">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25675"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转发与路由</a:t>
            </a:r>
          </a:p>
        </p:txBody>
      </p:sp>
      <p:sp>
        <p:nvSpPr>
          <p:cNvPr id="1822724" name="Text Box 4"/>
          <p:cNvSpPr txBox="1">
            <a:spLocks noChangeArrowheads="1"/>
          </p:cNvSpPr>
          <p:nvPr/>
        </p:nvSpPr>
        <p:spPr bwMode="auto">
          <a:xfrm>
            <a:off x="2449513" y="1344614"/>
            <a:ext cx="7593012"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95263" indent="-1952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路由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分组包括两部分</a:t>
            </a:r>
            <a:r>
              <a:rPr lang="en-US" altLang="zh-CN">
                <a:solidFill>
                  <a:srgbClr val="000000"/>
                </a:solidFill>
                <a:latin typeface="Arial" panose="020B0604020202020204" pitchFamily="34" charset="0"/>
              </a:rPr>
              <a:t>:</a:t>
            </a:r>
          </a:p>
          <a:p>
            <a:pPr>
              <a:spcBef>
                <a:spcPct val="50000"/>
              </a:spcBef>
            </a:pPr>
            <a:r>
              <a:rPr lang="en-US" altLang="zh-CN" sz="2400">
                <a:solidFill>
                  <a:srgbClr val="FF0000"/>
                </a:solidFill>
                <a:latin typeface="Arial" panose="020B0604020202020204" pitchFamily="34" charset="0"/>
              </a:rPr>
              <a:t>    </a:t>
            </a:r>
            <a:r>
              <a:rPr lang="en-US" altLang="zh-CN" sz="2400">
                <a:solidFill>
                  <a:schemeClr val="tx1"/>
                </a:solidFill>
                <a:latin typeface="Arial" panose="020B0604020202020204" pitchFamily="34" charset="0"/>
              </a:rPr>
              <a:t>1.</a:t>
            </a:r>
            <a:r>
              <a:rPr lang="zh-CN" altLang="en-US" sz="2400">
                <a:solidFill>
                  <a:schemeClr val="tx1"/>
                </a:solidFill>
                <a:latin typeface="Arial" panose="020B0604020202020204" pitchFamily="34" charset="0"/>
              </a:rPr>
              <a:t>怎样将报文从路由器的输入接口送到输出接口</a:t>
            </a:r>
            <a:r>
              <a:rPr lang="zh-CN" altLang="en-US" sz="2400">
                <a:solidFill>
                  <a:srgbClr val="FF0000"/>
                </a:solidFill>
                <a:latin typeface="Arial" panose="020B0604020202020204" pitchFamily="34" charset="0"/>
              </a:rPr>
              <a:t>     </a:t>
            </a:r>
          </a:p>
          <a:p>
            <a:pPr>
              <a:spcBef>
                <a:spcPct val="50000"/>
              </a:spcBef>
            </a:pPr>
            <a:r>
              <a:rPr lang="zh-CN" altLang="en-US" sz="2400">
                <a:solidFill>
                  <a:srgbClr val="FF0000"/>
                </a:solidFill>
                <a:latin typeface="Arial" panose="020B0604020202020204" pitchFamily="34" charset="0"/>
              </a:rPr>
              <a:t>        </a:t>
            </a:r>
            <a:r>
              <a:rPr lang="en-US" altLang="zh-CN" sz="2400">
                <a:solidFill>
                  <a:schemeClr val="tx1"/>
                </a:solidFill>
                <a:latin typeface="Arial" panose="020B0604020202020204" pitchFamily="34" charset="0"/>
              </a:rPr>
              <a:t>(</a:t>
            </a:r>
            <a:r>
              <a:rPr lang="en-US" altLang="zh-CN" sz="2400">
                <a:solidFill>
                  <a:srgbClr val="FF0000"/>
                </a:solidFill>
                <a:latin typeface="Arial" panose="020B0604020202020204" pitchFamily="34" charset="0"/>
              </a:rPr>
              <a:t>“IP </a:t>
            </a:r>
            <a:r>
              <a:rPr lang="zh-CN" altLang="en-US" sz="2400">
                <a:solidFill>
                  <a:srgbClr val="FF0000"/>
                </a:solidFill>
                <a:latin typeface="Arial" panose="020B0604020202020204" pitchFamily="34" charset="0"/>
              </a:rPr>
              <a:t>转发”</a:t>
            </a:r>
            <a:r>
              <a:rPr lang="en-US" altLang="zh-CN" sz="2400">
                <a:solidFill>
                  <a:schemeClr val="tx1"/>
                </a:solidFill>
                <a:latin typeface="Arial" panose="020B0604020202020204" pitchFamily="34" charset="0"/>
              </a:rPr>
              <a:t>) ?</a:t>
            </a:r>
          </a:p>
          <a:p>
            <a:pPr>
              <a:spcBef>
                <a:spcPct val="50000"/>
              </a:spcBef>
            </a:pPr>
            <a:r>
              <a:rPr lang="en-US" altLang="zh-CN" sz="2400">
                <a:solidFill>
                  <a:schemeClr val="tx1"/>
                </a:solidFill>
                <a:latin typeface="Arial" panose="020B0604020202020204" pitchFamily="34" charset="0"/>
              </a:rPr>
              <a:t>    2. </a:t>
            </a:r>
            <a:r>
              <a:rPr lang="zh-CN" altLang="en-US" sz="2400">
                <a:solidFill>
                  <a:schemeClr val="tx1"/>
                </a:solidFill>
                <a:latin typeface="Arial" panose="020B0604020202020204" pitchFamily="34" charset="0"/>
              </a:rPr>
              <a:t>怎样查找和建立路由 </a:t>
            </a:r>
            <a:r>
              <a:rPr lang="en-US" altLang="zh-CN" sz="2400">
                <a:solidFill>
                  <a:schemeClr val="tx1"/>
                </a:solidFill>
                <a:latin typeface="Arial" panose="020B0604020202020204" pitchFamily="34" charset="0"/>
              </a:rPr>
              <a:t>(</a:t>
            </a:r>
            <a:r>
              <a:rPr lang="en-US" altLang="zh-CN" sz="2400">
                <a:solidFill>
                  <a:srgbClr val="FF0000"/>
                </a:solidFill>
                <a:latin typeface="Arial" panose="020B0604020202020204" pitchFamily="34" charset="0"/>
              </a:rPr>
              <a:t>“IP </a:t>
            </a:r>
            <a:r>
              <a:rPr lang="zh-CN" altLang="en-US" sz="2400">
                <a:solidFill>
                  <a:srgbClr val="FF0000"/>
                </a:solidFill>
                <a:latin typeface="Arial" panose="020B0604020202020204" pitchFamily="34" charset="0"/>
              </a:rPr>
              <a:t>路由”</a:t>
            </a:r>
            <a:r>
              <a:rPr lang="en-US" altLang="zh-CN" sz="2400">
                <a:solidFill>
                  <a:schemeClr val="tx1"/>
                </a:solidFill>
                <a:latin typeface="Arial" panose="020B0604020202020204" pitchFamily="34" charset="0"/>
              </a:rPr>
              <a:t>)?</a:t>
            </a:r>
          </a:p>
          <a:p>
            <a:pPr>
              <a:spcBef>
                <a:spcPct val="50000"/>
              </a:spcBef>
            </a:pPr>
            <a:r>
              <a:rPr lang="en-US" altLang="zh-CN">
                <a:solidFill>
                  <a:srgbClr val="000000"/>
                </a:solidFill>
                <a:latin typeface="Arial" panose="020B0604020202020204" pitchFamily="34" charset="0"/>
              </a:rPr>
              <a:t>• IP</a:t>
            </a:r>
            <a:r>
              <a:rPr lang="zh-CN" altLang="en-US">
                <a:solidFill>
                  <a:srgbClr val="000000"/>
                </a:solidFill>
                <a:latin typeface="Arial" panose="020B0604020202020204" pitchFamily="34" charset="0"/>
              </a:rPr>
              <a:t>转发由</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协议完成 </a:t>
            </a:r>
          </a:p>
          <a:p>
            <a:pPr>
              <a:spcBef>
                <a:spcPct val="50000"/>
              </a:spcBef>
            </a:pPr>
            <a:r>
              <a:rPr lang="en-US" altLang="zh-CN">
                <a:solidFill>
                  <a:srgbClr val="000000"/>
                </a:solidFill>
                <a:latin typeface="Arial" panose="020B0604020202020204" pitchFamily="34" charset="0"/>
              </a:rPr>
              <a:t>• IP</a:t>
            </a:r>
            <a:r>
              <a:rPr lang="zh-CN" altLang="en-US">
                <a:solidFill>
                  <a:srgbClr val="000000"/>
                </a:solidFill>
                <a:latin typeface="Arial" panose="020B0604020202020204" pitchFamily="34" charset="0"/>
              </a:rPr>
              <a:t>路由由路由算法和路由协议完成</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24">
                                            <p:txEl>
                                              <p:pRg st="0" end="0"/>
                                            </p:txEl>
                                          </p:spTgt>
                                        </p:tgtEl>
                                        <p:attrNameLst>
                                          <p:attrName>style.visibility</p:attrName>
                                        </p:attrNameLst>
                                      </p:cBhvr>
                                      <p:to>
                                        <p:strVal val="visible"/>
                                      </p:to>
                                    </p:set>
                                    <p:anim calcmode="lin" valueType="num">
                                      <p:cBhvr additive="base">
                                        <p:cTn id="7" dur="500" fill="hold"/>
                                        <p:tgtEl>
                                          <p:spTgt spid="18227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27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2724">
                                            <p:txEl>
                                              <p:pRg st="1" end="1"/>
                                            </p:txEl>
                                          </p:spTgt>
                                        </p:tgtEl>
                                        <p:attrNameLst>
                                          <p:attrName>style.visibility</p:attrName>
                                        </p:attrNameLst>
                                      </p:cBhvr>
                                      <p:to>
                                        <p:strVal val="visible"/>
                                      </p:to>
                                    </p:set>
                                    <p:anim calcmode="lin" valueType="num">
                                      <p:cBhvr additive="base">
                                        <p:cTn id="13" dur="500" fill="hold"/>
                                        <p:tgtEl>
                                          <p:spTgt spid="18227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27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2724">
                                            <p:txEl>
                                              <p:pRg st="2" end="2"/>
                                            </p:txEl>
                                          </p:spTgt>
                                        </p:tgtEl>
                                        <p:attrNameLst>
                                          <p:attrName>style.visibility</p:attrName>
                                        </p:attrNameLst>
                                      </p:cBhvr>
                                      <p:to>
                                        <p:strVal val="visible"/>
                                      </p:to>
                                    </p:set>
                                    <p:anim calcmode="lin" valueType="num">
                                      <p:cBhvr additive="base">
                                        <p:cTn id="19" dur="500" fill="hold"/>
                                        <p:tgtEl>
                                          <p:spTgt spid="18227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27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2724">
                                            <p:txEl>
                                              <p:pRg st="3" end="3"/>
                                            </p:txEl>
                                          </p:spTgt>
                                        </p:tgtEl>
                                        <p:attrNameLst>
                                          <p:attrName>style.visibility</p:attrName>
                                        </p:attrNameLst>
                                      </p:cBhvr>
                                      <p:to>
                                        <p:strVal val="visible"/>
                                      </p:to>
                                    </p:set>
                                    <p:anim calcmode="lin" valueType="num">
                                      <p:cBhvr additive="base">
                                        <p:cTn id="25" dur="500" fill="hold"/>
                                        <p:tgtEl>
                                          <p:spTgt spid="18227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27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22724">
                                            <p:txEl>
                                              <p:pRg st="4" end="4"/>
                                            </p:txEl>
                                          </p:spTgt>
                                        </p:tgtEl>
                                        <p:attrNameLst>
                                          <p:attrName>style.visibility</p:attrName>
                                        </p:attrNameLst>
                                      </p:cBhvr>
                                      <p:to>
                                        <p:strVal val="visible"/>
                                      </p:to>
                                    </p:set>
                                    <p:anim calcmode="lin" valueType="num">
                                      <p:cBhvr additive="base">
                                        <p:cTn id="31" dur="500" fill="hold"/>
                                        <p:tgtEl>
                                          <p:spTgt spid="182272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227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22724">
                                            <p:txEl>
                                              <p:pRg st="5" end="5"/>
                                            </p:txEl>
                                          </p:spTgt>
                                        </p:tgtEl>
                                        <p:attrNameLst>
                                          <p:attrName>style.visibility</p:attrName>
                                        </p:attrNameLst>
                                      </p:cBhvr>
                                      <p:to>
                                        <p:strVal val="visible"/>
                                      </p:to>
                                    </p:set>
                                    <p:anim calcmode="lin" valueType="num">
                                      <p:cBhvr additive="base">
                                        <p:cTn id="37" dur="500" fill="hold"/>
                                        <p:tgtEl>
                                          <p:spTgt spid="182272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2272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4"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bwMode="auto">
          <a:xfrm>
            <a:off x="2249488" y="4476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4.3.1 </a:t>
            </a:r>
            <a:r>
              <a:rPr lang="zh-CN" altLang="en-US" sz="3600" b="1">
                <a:latin typeface="新宋体" panose="02010609030101010101" pitchFamily="49" charset="-122"/>
                <a:ea typeface="新宋体" panose="02010609030101010101" pitchFamily="49" charset="-122"/>
              </a:rPr>
              <a:t>报文转发</a:t>
            </a:r>
          </a:p>
        </p:txBody>
      </p:sp>
      <p:sp>
        <p:nvSpPr>
          <p:cNvPr id="9219" name="Text Box 1027"/>
          <p:cNvSpPr txBox="1">
            <a:spLocks noChangeArrowheads="1"/>
          </p:cNvSpPr>
          <p:nvPr/>
        </p:nvSpPr>
        <p:spPr bwMode="auto">
          <a:xfrm>
            <a:off x="3532189" y="1527175"/>
            <a:ext cx="532288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hlink"/>
              </a:buClr>
              <a:buFont typeface="Wingdings" panose="05000000000000000000" pitchFamily="2" charset="2"/>
              <a:buChar char="Ø"/>
            </a:pPr>
            <a:r>
              <a:rPr kumimoji="1" lang="zh-CN" altLang="en-US" sz="4400">
                <a:solidFill>
                  <a:schemeClr val="tx1"/>
                </a:solidFill>
                <a:latin typeface="Tahoma" panose="020B0604030504040204" pitchFamily="34" charset="0"/>
              </a:rPr>
              <a:t>路由表</a:t>
            </a:r>
          </a:p>
          <a:p>
            <a:pPr>
              <a:spcBef>
                <a:spcPct val="50000"/>
              </a:spcBef>
              <a:buClr>
                <a:schemeClr val="hlink"/>
              </a:buClr>
              <a:buFont typeface="Wingdings" panose="05000000000000000000" pitchFamily="2" charset="2"/>
              <a:buChar char="Ø"/>
            </a:pPr>
            <a:r>
              <a:rPr kumimoji="1" lang="zh-CN" altLang="en-US" sz="4400">
                <a:solidFill>
                  <a:schemeClr val="tx1"/>
                </a:solidFill>
                <a:latin typeface="Tahoma" panose="020B0604030504040204" pitchFamily="34" charset="0"/>
              </a:rPr>
              <a:t>报文转发</a:t>
            </a:r>
          </a:p>
        </p:txBody>
      </p:sp>
    </p:spTree>
  </p:cSld>
  <p:clrMapOvr>
    <a:masterClrMapping/>
  </p:clrMapOvr>
  <p:transition spd="med">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064000" y="436564"/>
            <a:ext cx="4064000" cy="6238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a:t>
            </a:r>
          </a:p>
        </p:txBody>
      </p:sp>
      <p:pic>
        <p:nvPicPr>
          <p:cNvPr id="194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964" y="1255714"/>
            <a:ext cx="71850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2532" name="Text Box 4"/>
          <p:cNvSpPr txBox="1">
            <a:spLocks noChangeArrowheads="1"/>
          </p:cNvSpPr>
          <p:nvPr/>
        </p:nvSpPr>
        <p:spPr bwMode="auto">
          <a:xfrm>
            <a:off x="1784350" y="3021013"/>
            <a:ext cx="8402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8425" indent="-984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分组在到达目的主机前需要经过很多路由器的转发</a:t>
            </a:r>
            <a:endParaRPr lang="zh-CN" altLang="en-US">
              <a:solidFill>
                <a:schemeClr val="tx1"/>
              </a:solidFill>
            </a:endParaRPr>
          </a:p>
        </p:txBody>
      </p:sp>
      <p:sp>
        <p:nvSpPr>
          <p:cNvPr id="1942533" name="Text Box 5"/>
          <p:cNvSpPr txBox="1">
            <a:spLocks noChangeArrowheads="1"/>
          </p:cNvSpPr>
          <p:nvPr/>
        </p:nvSpPr>
        <p:spPr bwMode="auto">
          <a:xfrm>
            <a:off x="2176464" y="3854450"/>
            <a:ext cx="81311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chemeClr val="tx1"/>
                </a:solidFill>
                <a:latin typeface="Arial" panose="020B0604020202020204" pitchFamily="34" charset="0"/>
              </a:rPr>
              <a:t>IP </a:t>
            </a:r>
            <a:r>
              <a:rPr lang="zh-CN" altLang="en-US">
                <a:solidFill>
                  <a:schemeClr val="tx1"/>
                </a:solidFill>
                <a:latin typeface="Arial" panose="020B0604020202020204" pitchFamily="34" charset="0"/>
              </a:rPr>
              <a:t>转发是通过</a:t>
            </a:r>
            <a:r>
              <a:rPr lang="en-US" altLang="zh-CN">
                <a:solidFill>
                  <a:schemeClr val="tx1"/>
                </a:solidFill>
                <a:latin typeface="Arial" panose="020B0604020202020204" pitchFamily="34" charset="0"/>
              </a:rPr>
              <a:t>hop-by-hop</a:t>
            </a:r>
            <a:r>
              <a:rPr lang="zh-CN" altLang="en-US">
                <a:solidFill>
                  <a:schemeClr val="tx1"/>
                </a:solidFill>
                <a:latin typeface="Arial" panose="020B0604020202020204" pitchFamily="34" charset="0"/>
              </a:rPr>
              <a:t>方式实现的</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没有哪个节点知道完整的路由 </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转发的目的是把报文送到离目的节点尽可能近的下一个节点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2532">
                                            <p:txEl>
                                              <p:pRg st="0" end="0"/>
                                            </p:txEl>
                                          </p:spTgt>
                                        </p:tgtEl>
                                        <p:attrNameLst>
                                          <p:attrName>style.visibility</p:attrName>
                                        </p:attrNameLst>
                                      </p:cBhvr>
                                      <p:to>
                                        <p:strVal val="visible"/>
                                      </p:to>
                                    </p:set>
                                    <p:anim calcmode="lin" valueType="num">
                                      <p:cBhvr additive="base">
                                        <p:cTn id="7" dur="500" fill="hold"/>
                                        <p:tgtEl>
                                          <p:spTgt spid="19425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25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42531"/>
                                        </p:tgtEl>
                                        <p:attrNameLst>
                                          <p:attrName>style.visibility</p:attrName>
                                        </p:attrNameLst>
                                      </p:cBhvr>
                                      <p:to>
                                        <p:strVal val="visible"/>
                                      </p:to>
                                    </p:set>
                                    <p:anim calcmode="lin" valueType="num">
                                      <p:cBhvr additive="base">
                                        <p:cTn id="13" dur="500" fill="hold"/>
                                        <p:tgtEl>
                                          <p:spTgt spid="1942531"/>
                                        </p:tgtEl>
                                        <p:attrNameLst>
                                          <p:attrName>ppt_x</p:attrName>
                                        </p:attrNameLst>
                                      </p:cBhvr>
                                      <p:tavLst>
                                        <p:tav tm="0">
                                          <p:val>
                                            <p:strVal val="1+#ppt_w/2"/>
                                          </p:val>
                                        </p:tav>
                                        <p:tav tm="100000">
                                          <p:val>
                                            <p:strVal val="#ppt_x"/>
                                          </p:val>
                                        </p:tav>
                                      </p:tavLst>
                                    </p:anim>
                                    <p:anim calcmode="lin" valueType="num">
                                      <p:cBhvr additive="base">
                                        <p:cTn id="14" dur="500" fill="hold"/>
                                        <p:tgtEl>
                                          <p:spTgt spid="194253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2533">
                                            <p:txEl>
                                              <p:pRg st="0" end="0"/>
                                            </p:txEl>
                                          </p:spTgt>
                                        </p:tgtEl>
                                        <p:attrNameLst>
                                          <p:attrName>style.visibility</p:attrName>
                                        </p:attrNameLst>
                                      </p:cBhvr>
                                      <p:to>
                                        <p:strVal val="visible"/>
                                      </p:to>
                                    </p:set>
                                    <p:anim calcmode="lin" valueType="num">
                                      <p:cBhvr additive="base">
                                        <p:cTn id="19" dur="500" fill="hold"/>
                                        <p:tgtEl>
                                          <p:spTgt spid="194253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253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2532" grpId="0" build="p" autoUpdateAnimBg="0"/>
      <p:bldP spid="1942533"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ChangeArrowheads="1"/>
          </p:cNvSpPr>
          <p:nvPr/>
        </p:nvSpPr>
        <p:spPr bwMode="auto">
          <a:xfrm>
            <a:off x="4724400" y="1473200"/>
            <a:ext cx="3581400" cy="36576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7" name="Line 1027"/>
          <p:cNvSpPr>
            <a:spLocks noChangeShapeType="1"/>
          </p:cNvSpPr>
          <p:nvPr/>
        </p:nvSpPr>
        <p:spPr bwMode="auto">
          <a:xfrm>
            <a:off x="4876800" y="2616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8" name="Line 1028"/>
          <p:cNvSpPr>
            <a:spLocks noChangeShapeType="1"/>
          </p:cNvSpPr>
          <p:nvPr/>
        </p:nvSpPr>
        <p:spPr bwMode="auto">
          <a:xfrm>
            <a:off x="6019800" y="2616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9" name="Line 1029"/>
          <p:cNvSpPr>
            <a:spLocks noChangeShapeType="1"/>
          </p:cNvSpPr>
          <p:nvPr/>
        </p:nvSpPr>
        <p:spPr bwMode="auto">
          <a:xfrm flipH="1">
            <a:off x="4876800" y="2997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0" name="Line 1030"/>
          <p:cNvSpPr>
            <a:spLocks noChangeShapeType="1"/>
          </p:cNvSpPr>
          <p:nvPr/>
        </p:nvSpPr>
        <p:spPr bwMode="auto">
          <a:xfrm>
            <a:off x="4876800" y="3530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1" name="Line 1031"/>
          <p:cNvSpPr>
            <a:spLocks noChangeShapeType="1"/>
          </p:cNvSpPr>
          <p:nvPr/>
        </p:nvSpPr>
        <p:spPr bwMode="auto">
          <a:xfrm>
            <a:off x="6019800" y="353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2" name="Line 1032"/>
          <p:cNvSpPr>
            <a:spLocks noChangeShapeType="1"/>
          </p:cNvSpPr>
          <p:nvPr/>
        </p:nvSpPr>
        <p:spPr bwMode="auto">
          <a:xfrm flipH="1">
            <a:off x="4876800" y="3911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3" name="Line 1033"/>
          <p:cNvSpPr>
            <a:spLocks noChangeShapeType="1"/>
          </p:cNvSpPr>
          <p:nvPr/>
        </p:nvSpPr>
        <p:spPr bwMode="auto">
          <a:xfrm>
            <a:off x="4876800" y="4445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4" name="Line 1034"/>
          <p:cNvSpPr>
            <a:spLocks noChangeShapeType="1"/>
          </p:cNvSpPr>
          <p:nvPr/>
        </p:nvSpPr>
        <p:spPr bwMode="auto">
          <a:xfrm>
            <a:off x="6019800" y="44450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5" name="Line 1035"/>
          <p:cNvSpPr>
            <a:spLocks noChangeShapeType="1"/>
          </p:cNvSpPr>
          <p:nvPr/>
        </p:nvSpPr>
        <p:spPr bwMode="auto">
          <a:xfrm flipH="1">
            <a:off x="4876800" y="4826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6" name="Line 1036"/>
          <p:cNvSpPr>
            <a:spLocks noChangeShapeType="1"/>
          </p:cNvSpPr>
          <p:nvPr/>
        </p:nvSpPr>
        <p:spPr bwMode="auto">
          <a:xfrm>
            <a:off x="6934200" y="2616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7" name="Line 1037"/>
          <p:cNvSpPr>
            <a:spLocks noChangeShapeType="1"/>
          </p:cNvSpPr>
          <p:nvPr/>
        </p:nvSpPr>
        <p:spPr bwMode="auto">
          <a:xfrm>
            <a:off x="8077200" y="2616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8" name="Line 1038"/>
          <p:cNvSpPr>
            <a:spLocks noChangeShapeType="1"/>
          </p:cNvSpPr>
          <p:nvPr/>
        </p:nvSpPr>
        <p:spPr bwMode="auto">
          <a:xfrm flipH="1">
            <a:off x="6934200" y="2997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9" name="Line 1039"/>
          <p:cNvSpPr>
            <a:spLocks noChangeShapeType="1"/>
          </p:cNvSpPr>
          <p:nvPr/>
        </p:nvSpPr>
        <p:spPr bwMode="auto">
          <a:xfrm>
            <a:off x="6934200" y="3530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0" name="Line 1040"/>
          <p:cNvSpPr>
            <a:spLocks noChangeShapeType="1"/>
          </p:cNvSpPr>
          <p:nvPr/>
        </p:nvSpPr>
        <p:spPr bwMode="auto">
          <a:xfrm>
            <a:off x="8077200" y="353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1" name="Line 1041"/>
          <p:cNvSpPr>
            <a:spLocks noChangeShapeType="1"/>
          </p:cNvSpPr>
          <p:nvPr/>
        </p:nvSpPr>
        <p:spPr bwMode="auto">
          <a:xfrm flipH="1">
            <a:off x="6934200" y="3911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2" name="Line 1042"/>
          <p:cNvSpPr>
            <a:spLocks noChangeShapeType="1"/>
          </p:cNvSpPr>
          <p:nvPr/>
        </p:nvSpPr>
        <p:spPr bwMode="auto">
          <a:xfrm>
            <a:off x="6934200" y="4445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3" name="Line 1043"/>
          <p:cNvSpPr>
            <a:spLocks noChangeShapeType="1"/>
          </p:cNvSpPr>
          <p:nvPr/>
        </p:nvSpPr>
        <p:spPr bwMode="auto">
          <a:xfrm>
            <a:off x="8077200" y="44450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4" name="Line 1044"/>
          <p:cNvSpPr>
            <a:spLocks noChangeShapeType="1"/>
          </p:cNvSpPr>
          <p:nvPr/>
        </p:nvSpPr>
        <p:spPr bwMode="auto">
          <a:xfrm flipH="1">
            <a:off x="6934200" y="4826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5" name="Text Box 1045"/>
          <p:cNvSpPr txBox="1">
            <a:spLocks noChangeArrowheads="1"/>
          </p:cNvSpPr>
          <p:nvPr/>
        </p:nvSpPr>
        <p:spPr bwMode="auto">
          <a:xfrm>
            <a:off x="3108326" y="3411539"/>
            <a:ext cx="9141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Input</a:t>
            </a:r>
          </a:p>
          <a:p>
            <a:pPr eaLnBrk="1" hangingPunct="1"/>
            <a:r>
              <a:rPr lang="en-US" altLang="zh-CN" sz="2400">
                <a:solidFill>
                  <a:schemeClr val="tx1"/>
                </a:solidFill>
                <a:latin typeface="Tahoma" panose="020B0604030504040204" pitchFamily="34" charset="0"/>
              </a:rPr>
              <a:t>Links</a:t>
            </a:r>
          </a:p>
        </p:txBody>
      </p:sp>
      <p:sp>
        <p:nvSpPr>
          <p:cNvPr id="11286" name="Text Box 1046"/>
          <p:cNvSpPr txBox="1">
            <a:spLocks noChangeArrowheads="1"/>
          </p:cNvSpPr>
          <p:nvPr/>
        </p:nvSpPr>
        <p:spPr bwMode="auto">
          <a:xfrm>
            <a:off x="8899525" y="3182939"/>
            <a:ext cx="11208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Output</a:t>
            </a:r>
          </a:p>
          <a:p>
            <a:pPr eaLnBrk="1" hangingPunct="1"/>
            <a:r>
              <a:rPr lang="en-US" altLang="zh-CN" sz="2400">
                <a:solidFill>
                  <a:schemeClr val="tx1"/>
                </a:solidFill>
                <a:latin typeface="Tahoma" panose="020B0604030504040204" pitchFamily="34" charset="0"/>
              </a:rPr>
              <a:t>Links</a:t>
            </a:r>
          </a:p>
        </p:txBody>
      </p:sp>
      <p:sp>
        <p:nvSpPr>
          <p:cNvPr id="11287" name="Rectangle 1047"/>
          <p:cNvSpPr>
            <a:spLocks noChangeArrowheads="1"/>
          </p:cNvSpPr>
          <p:nvPr/>
        </p:nvSpPr>
        <p:spPr bwMode="auto">
          <a:xfrm>
            <a:off x="4953000" y="1625600"/>
            <a:ext cx="2971800" cy="762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Forwarding Table</a:t>
            </a:r>
          </a:p>
        </p:txBody>
      </p:sp>
      <p:sp>
        <p:nvSpPr>
          <p:cNvPr id="11288" name="Line 1048"/>
          <p:cNvSpPr>
            <a:spLocks noChangeShapeType="1"/>
          </p:cNvSpPr>
          <p:nvPr/>
        </p:nvSpPr>
        <p:spPr bwMode="auto">
          <a:xfrm>
            <a:off x="5181600" y="1625600"/>
            <a:ext cx="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9" name="Line 1049"/>
          <p:cNvSpPr>
            <a:spLocks noChangeShapeType="1"/>
          </p:cNvSpPr>
          <p:nvPr/>
        </p:nvSpPr>
        <p:spPr bwMode="auto">
          <a:xfrm>
            <a:off x="4953000" y="1778000"/>
            <a:ext cx="2971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90" name="Rectangle 1050"/>
          <p:cNvSpPr>
            <a:spLocks noChangeArrowheads="1"/>
          </p:cNvSpPr>
          <p:nvPr/>
        </p:nvSpPr>
        <p:spPr bwMode="auto">
          <a:xfrm>
            <a:off x="4038600" y="27686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1" name="Rectangle 1051"/>
          <p:cNvSpPr>
            <a:spLocks noChangeArrowheads="1"/>
          </p:cNvSpPr>
          <p:nvPr/>
        </p:nvSpPr>
        <p:spPr bwMode="auto">
          <a:xfrm>
            <a:off x="4038600" y="45974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2" name="Rectangle 1052"/>
          <p:cNvSpPr>
            <a:spLocks noChangeArrowheads="1"/>
          </p:cNvSpPr>
          <p:nvPr/>
        </p:nvSpPr>
        <p:spPr bwMode="auto">
          <a:xfrm>
            <a:off x="4038600" y="36830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3" name="Rectangle 1053"/>
          <p:cNvSpPr>
            <a:spLocks noChangeArrowheads="1"/>
          </p:cNvSpPr>
          <p:nvPr/>
        </p:nvSpPr>
        <p:spPr bwMode="auto">
          <a:xfrm>
            <a:off x="8305800" y="36830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4" name="Rectangle 1054"/>
          <p:cNvSpPr>
            <a:spLocks noChangeArrowheads="1"/>
          </p:cNvSpPr>
          <p:nvPr/>
        </p:nvSpPr>
        <p:spPr bwMode="auto">
          <a:xfrm>
            <a:off x="8305800" y="27686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5" name="Rectangle 1055"/>
          <p:cNvSpPr>
            <a:spLocks noChangeArrowheads="1"/>
          </p:cNvSpPr>
          <p:nvPr/>
        </p:nvSpPr>
        <p:spPr bwMode="auto">
          <a:xfrm>
            <a:off x="8305800" y="45974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6" name="AutoShape 1056"/>
          <p:cNvSpPr>
            <a:spLocks/>
          </p:cNvSpPr>
          <p:nvPr/>
        </p:nvSpPr>
        <p:spPr bwMode="auto">
          <a:xfrm>
            <a:off x="8534400" y="2540000"/>
            <a:ext cx="304800" cy="2438400"/>
          </a:xfrm>
          <a:prstGeom prst="rightBrace">
            <a:avLst>
              <a:gd name="adj1" fmla="val 66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7" name="AutoShape 1057"/>
          <p:cNvSpPr>
            <a:spLocks/>
          </p:cNvSpPr>
          <p:nvPr/>
        </p:nvSpPr>
        <p:spPr bwMode="auto">
          <a:xfrm>
            <a:off x="4191000" y="2540000"/>
            <a:ext cx="304800" cy="2362200"/>
          </a:xfrm>
          <a:prstGeom prst="leftBrace">
            <a:avLst>
              <a:gd name="adj1" fmla="val 64583"/>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8" name="Text Box 1058"/>
          <p:cNvSpPr txBox="1">
            <a:spLocks noChangeArrowheads="1"/>
          </p:cNvSpPr>
          <p:nvPr/>
        </p:nvSpPr>
        <p:spPr bwMode="auto">
          <a:xfrm>
            <a:off x="5165725" y="5087938"/>
            <a:ext cx="229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Router</a:t>
            </a:r>
          </a:p>
        </p:txBody>
      </p:sp>
      <p:pic>
        <p:nvPicPr>
          <p:cNvPr id="11299" name="Picture 1059" descr="BD0491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2311401"/>
            <a:ext cx="98583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0" name="Line 1060"/>
          <p:cNvSpPr>
            <a:spLocks noChangeShapeType="1"/>
          </p:cNvSpPr>
          <p:nvPr/>
        </p:nvSpPr>
        <p:spPr bwMode="auto">
          <a:xfrm>
            <a:off x="2895600" y="2997200"/>
            <a:ext cx="1371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301" name="Text Box 1061"/>
          <p:cNvSpPr txBox="1">
            <a:spLocks noChangeArrowheads="1"/>
          </p:cNvSpPr>
          <p:nvPr/>
        </p:nvSpPr>
        <p:spPr bwMode="auto">
          <a:xfrm>
            <a:off x="2819400" y="1778000"/>
            <a:ext cx="81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Addr</a:t>
            </a:r>
          </a:p>
        </p:txBody>
      </p:sp>
      <p:graphicFrame>
        <p:nvGraphicFramePr>
          <p:cNvPr id="11302" name="Object 1062"/>
          <p:cNvGraphicFramePr>
            <a:graphicFrameLocks noChangeAspect="1"/>
          </p:cNvGraphicFramePr>
          <p:nvPr/>
        </p:nvGraphicFramePr>
        <p:xfrm>
          <a:off x="3505200" y="1320800"/>
          <a:ext cx="1328738" cy="1828800"/>
        </p:xfrm>
        <a:graphic>
          <a:graphicData uri="http://schemas.openxmlformats.org/presentationml/2006/ole">
            <mc:AlternateContent xmlns:mc="http://schemas.openxmlformats.org/markup-compatibility/2006">
              <mc:Choice xmlns:v="urn:schemas-microsoft-com:vml" Requires="v">
                <p:oleObj spid="_x0000_s21514" name="Clip" r:id="rId4" imgW="2309813" imgH="3176588" progId="MS_ClipArt_Gallery.2">
                  <p:embed/>
                </p:oleObj>
              </mc:Choice>
              <mc:Fallback>
                <p:oleObj name="Clip" r:id="rId4" imgW="2309813" imgH="3176588" progId="MS_ClipArt_Gallery.2">
                  <p:embed/>
                  <p:pic>
                    <p:nvPicPr>
                      <p:cNvPr id="11302" name="Object 106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1320800"/>
                        <a:ext cx="1328738"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3" name="Text Box 1063"/>
          <p:cNvSpPr txBox="1">
            <a:spLocks noChangeArrowheads="1"/>
          </p:cNvSpPr>
          <p:nvPr/>
        </p:nvSpPr>
        <p:spPr bwMode="auto">
          <a:xfrm rot="21232227">
            <a:off x="3498851" y="1581150"/>
            <a:ext cx="1050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3600">
                <a:solidFill>
                  <a:schemeClr val="tx1"/>
                </a:solidFill>
                <a:latin typeface="Tahoma" panose="020B0604030504040204" pitchFamily="34" charset="0"/>
              </a:rPr>
              <a:t>ess?</a:t>
            </a:r>
          </a:p>
        </p:txBody>
      </p:sp>
      <p:sp>
        <p:nvSpPr>
          <p:cNvPr id="11304" name="Rectangle 1064"/>
          <p:cNvSpPr>
            <a:spLocks noGrp="1" noChangeArrowheads="1"/>
          </p:cNvSpPr>
          <p:nvPr>
            <p:ph type="title"/>
          </p:nvPr>
        </p:nvSpPr>
        <p:spPr bwMode="auto">
          <a:xfrm>
            <a:off x="3819525" y="293688"/>
            <a:ext cx="497998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分组转发</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828800" y="3048000"/>
            <a:ext cx="4114800" cy="3048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endParaRPr lang="zh-CN" altLang="zh-CN" sz="2400">
              <a:solidFill>
                <a:schemeClr val="tx1"/>
              </a:solidFill>
              <a:latin typeface="Tahoma" panose="020B0604030504040204" pitchFamily="34" charset="0"/>
            </a:endParaRPr>
          </a:p>
        </p:txBody>
      </p:sp>
      <p:sp>
        <p:nvSpPr>
          <p:cNvPr id="12291" name="Line 3"/>
          <p:cNvSpPr>
            <a:spLocks noChangeShapeType="1"/>
          </p:cNvSpPr>
          <p:nvPr/>
        </p:nvSpPr>
        <p:spPr bwMode="auto">
          <a:xfrm>
            <a:off x="1828800" y="36576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2" name="Line 4"/>
          <p:cNvSpPr>
            <a:spLocks noChangeShapeType="1"/>
          </p:cNvSpPr>
          <p:nvPr/>
        </p:nvSpPr>
        <p:spPr bwMode="auto">
          <a:xfrm>
            <a:off x="1828800" y="42672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3" name="Line 5"/>
          <p:cNvSpPr>
            <a:spLocks noChangeShapeType="1"/>
          </p:cNvSpPr>
          <p:nvPr/>
        </p:nvSpPr>
        <p:spPr bwMode="auto">
          <a:xfrm>
            <a:off x="1828800" y="54864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4" name="Line 6"/>
          <p:cNvSpPr>
            <a:spLocks noChangeShapeType="1"/>
          </p:cNvSpPr>
          <p:nvPr/>
        </p:nvSpPr>
        <p:spPr bwMode="auto">
          <a:xfrm>
            <a:off x="1828800" y="48768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5" name="Line 7"/>
          <p:cNvSpPr>
            <a:spLocks noChangeShapeType="1"/>
          </p:cNvSpPr>
          <p:nvPr/>
        </p:nvSpPr>
        <p:spPr bwMode="auto">
          <a:xfrm>
            <a:off x="3657600" y="3048000"/>
            <a:ext cx="0" cy="3048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6" name="Text Box 8"/>
          <p:cNvSpPr txBox="1">
            <a:spLocks noChangeArrowheads="1"/>
          </p:cNvSpPr>
          <p:nvPr/>
        </p:nvSpPr>
        <p:spPr bwMode="auto">
          <a:xfrm>
            <a:off x="1905000" y="3124200"/>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Destination</a:t>
            </a:r>
          </a:p>
        </p:txBody>
      </p:sp>
      <p:sp>
        <p:nvSpPr>
          <p:cNvPr id="12297" name="Text Box 9"/>
          <p:cNvSpPr txBox="1">
            <a:spLocks noChangeArrowheads="1"/>
          </p:cNvSpPr>
          <p:nvPr/>
        </p:nvSpPr>
        <p:spPr bwMode="auto">
          <a:xfrm>
            <a:off x="3657600" y="3124200"/>
            <a:ext cx="227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Next hop (port)</a:t>
            </a:r>
          </a:p>
        </p:txBody>
      </p:sp>
      <p:sp>
        <p:nvSpPr>
          <p:cNvPr id="12298" name="Text Box 10"/>
          <p:cNvSpPr txBox="1">
            <a:spLocks noChangeArrowheads="1"/>
          </p:cNvSpPr>
          <p:nvPr/>
        </p:nvSpPr>
        <p:spPr bwMode="auto">
          <a:xfrm>
            <a:off x="1981200" y="3733800"/>
            <a:ext cx="157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X</a:t>
            </a:r>
          </a:p>
        </p:txBody>
      </p:sp>
      <p:sp>
        <p:nvSpPr>
          <p:cNvPr id="12299" name="Text Box 11"/>
          <p:cNvSpPr txBox="1">
            <a:spLocks noChangeArrowheads="1"/>
          </p:cNvSpPr>
          <p:nvPr/>
        </p:nvSpPr>
        <p:spPr bwMode="auto">
          <a:xfrm>
            <a:off x="1981200" y="4343400"/>
            <a:ext cx="157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Y</a:t>
            </a:r>
          </a:p>
        </p:txBody>
      </p:sp>
      <p:sp>
        <p:nvSpPr>
          <p:cNvPr id="12300" name="Text Box 12"/>
          <p:cNvSpPr txBox="1">
            <a:spLocks noChangeArrowheads="1"/>
          </p:cNvSpPr>
          <p:nvPr/>
        </p:nvSpPr>
        <p:spPr bwMode="auto">
          <a:xfrm>
            <a:off x="1981200" y="4953000"/>
            <a:ext cx="156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Z</a:t>
            </a:r>
          </a:p>
        </p:txBody>
      </p:sp>
      <p:sp>
        <p:nvSpPr>
          <p:cNvPr id="12301" name="Text Box 13"/>
          <p:cNvSpPr txBox="1">
            <a:spLocks noChangeArrowheads="1"/>
          </p:cNvSpPr>
          <p:nvPr/>
        </p:nvSpPr>
        <p:spPr bwMode="auto">
          <a:xfrm>
            <a:off x="1981200" y="55626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W</a:t>
            </a:r>
          </a:p>
        </p:txBody>
      </p:sp>
      <p:sp>
        <p:nvSpPr>
          <p:cNvPr id="12302" name="Oval 14"/>
          <p:cNvSpPr>
            <a:spLocks noChangeArrowheads="1"/>
          </p:cNvSpPr>
          <p:nvPr/>
        </p:nvSpPr>
        <p:spPr bwMode="auto">
          <a:xfrm>
            <a:off x="9601200" y="4419600"/>
            <a:ext cx="457200" cy="457200"/>
          </a:xfrm>
          <a:prstGeom prst="ellipse">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tx1"/>
              </a:solidFill>
              <a:latin typeface="Tahoma" panose="020B0604030504040204" pitchFamily="34" charset="0"/>
            </a:endParaRPr>
          </a:p>
        </p:txBody>
      </p:sp>
      <p:sp>
        <p:nvSpPr>
          <p:cNvPr id="12303" name="Oval 15"/>
          <p:cNvSpPr>
            <a:spLocks noChangeArrowheads="1"/>
          </p:cNvSpPr>
          <p:nvPr/>
        </p:nvSpPr>
        <p:spPr bwMode="auto">
          <a:xfrm>
            <a:off x="9067800" y="2819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E</a:t>
            </a:r>
          </a:p>
        </p:txBody>
      </p:sp>
      <p:sp>
        <p:nvSpPr>
          <p:cNvPr id="12304" name="Oval 16"/>
          <p:cNvSpPr>
            <a:spLocks noChangeArrowheads="1"/>
          </p:cNvSpPr>
          <p:nvPr/>
        </p:nvSpPr>
        <p:spPr bwMode="auto">
          <a:xfrm>
            <a:off x="7543800" y="36576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C</a:t>
            </a:r>
          </a:p>
        </p:txBody>
      </p:sp>
      <p:sp>
        <p:nvSpPr>
          <p:cNvPr id="12305" name="Oval 17"/>
          <p:cNvSpPr>
            <a:spLocks noChangeArrowheads="1"/>
          </p:cNvSpPr>
          <p:nvPr/>
        </p:nvSpPr>
        <p:spPr bwMode="auto">
          <a:xfrm>
            <a:off x="8229600" y="53340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A</a:t>
            </a:r>
          </a:p>
        </p:txBody>
      </p:sp>
      <p:sp>
        <p:nvSpPr>
          <p:cNvPr id="12306" name="Line 18"/>
          <p:cNvSpPr>
            <a:spLocks noChangeShapeType="1"/>
          </p:cNvSpPr>
          <p:nvPr/>
        </p:nvSpPr>
        <p:spPr bwMode="auto">
          <a:xfrm flipV="1">
            <a:off x="8610600" y="4724400"/>
            <a:ext cx="106680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7" name="Line 19"/>
          <p:cNvSpPr>
            <a:spLocks noChangeShapeType="1"/>
          </p:cNvSpPr>
          <p:nvPr/>
        </p:nvSpPr>
        <p:spPr bwMode="auto">
          <a:xfrm flipH="1" flipV="1">
            <a:off x="7924800" y="3962400"/>
            <a:ext cx="175260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8" name="Line 20"/>
          <p:cNvSpPr>
            <a:spLocks noChangeShapeType="1"/>
          </p:cNvSpPr>
          <p:nvPr/>
        </p:nvSpPr>
        <p:spPr bwMode="auto">
          <a:xfrm flipH="1" flipV="1">
            <a:off x="9372600" y="3200400"/>
            <a:ext cx="457200" cy="1219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9" name="Line 21"/>
          <p:cNvSpPr>
            <a:spLocks noChangeShapeType="1"/>
          </p:cNvSpPr>
          <p:nvPr/>
        </p:nvSpPr>
        <p:spPr bwMode="auto">
          <a:xfrm>
            <a:off x="7239000" y="6172200"/>
            <a:ext cx="2667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0" name="Line 22"/>
          <p:cNvSpPr>
            <a:spLocks noChangeShapeType="1"/>
          </p:cNvSpPr>
          <p:nvPr/>
        </p:nvSpPr>
        <p:spPr bwMode="auto">
          <a:xfrm>
            <a:off x="6172200" y="5181600"/>
            <a:ext cx="2057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1" name="Line 23"/>
          <p:cNvSpPr>
            <a:spLocks noChangeShapeType="1"/>
          </p:cNvSpPr>
          <p:nvPr/>
        </p:nvSpPr>
        <p:spPr bwMode="auto">
          <a:xfrm>
            <a:off x="8839200" y="2590800"/>
            <a:ext cx="1676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2" name="Oval 24"/>
          <p:cNvSpPr>
            <a:spLocks noChangeArrowheads="1"/>
          </p:cNvSpPr>
          <p:nvPr/>
        </p:nvSpPr>
        <p:spPr bwMode="auto">
          <a:xfrm>
            <a:off x="7162800" y="4343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B</a:t>
            </a:r>
          </a:p>
        </p:txBody>
      </p:sp>
      <p:sp>
        <p:nvSpPr>
          <p:cNvPr id="12313" name="Oval 25"/>
          <p:cNvSpPr>
            <a:spLocks noChangeArrowheads="1"/>
          </p:cNvSpPr>
          <p:nvPr/>
        </p:nvSpPr>
        <p:spPr bwMode="auto">
          <a:xfrm>
            <a:off x="8001000" y="2819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F</a:t>
            </a:r>
          </a:p>
        </p:txBody>
      </p:sp>
      <p:sp>
        <p:nvSpPr>
          <p:cNvPr id="12314" name="Line 26"/>
          <p:cNvSpPr>
            <a:spLocks noChangeShapeType="1"/>
          </p:cNvSpPr>
          <p:nvPr/>
        </p:nvSpPr>
        <p:spPr bwMode="auto">
          <a:xfrm flipH="1">
            <a:off x="7467600" y="4038600"/>
            <a:ext cx="1524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5" name="Line 27"/>
          <p:cNvSpPr>
            <a:spLocks noChangeShapeType="1"/>
          </p:cNvSpPr>
          <p:nvPr/>
        </p:nvSpPr>
        <p:spPr bwMode="auto">
          <a:xfrm flipV="1">
            <a:off x="7848600" y="3200400"/>
            <a:ext cx="2286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6" name="Line 28"/>
          <p:cNvSpPr>
            <a:spLocks noChangeShapeType="1"/>
          </p:cNvSpPr>
          <p:nvPr/>
        </p:nvSpPr>
        <p:spPr bwMode="auto">
          <a:xfrm>
            <a:off x="7391400" y="480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7" name="Line 29"/>
          <p:cNvSpPr>
            <a:spLocks noChangeShapeType="1"/>
          </p:cNvSpPr>
          <p:nvPr/>
        </p:nvSpPr>
        <p:spPr bwMode="auto">
          <a:xfrm flipV="1">
            <a:off x="9296400" y="25908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8" name="Line 30"/>
          <p:cNvSpPr>
            <a:spLocks noChangeShapeType="1"/>
          </p:cNvSpPr>
          <p:nvPr/>
        </p:nvSpPr>
        <p:spPr bwMode="auto">
          <a:xfrm flipH="1">
            <a:off x="6172200" y="3276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9" name="Oval 31"/>
          <p:cNvSpPr>
            <a:spLocks noChangeArrowheads="1"/>
          </p:cNvSpPr>
          <p:nvPr/>
        </p:nvSpPr>
        <p:spPr bwMode="auto">
          <a:xfrm>
            <a:off x="7086600" y="25908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D</a:t>
            </a:r>
          </a:p>
        </p:txBody>
      </p:sp>
      <p:sp>
        <p:nvSpPr>
          <p:cNvPr id="12320" name="Line 32"/>
          <p:cNvSpPr>
            <a:spLocks noChangeShapeType="1"/>
          </p:cNvSpPr>
          <p:nvPr/>
        </p:nvSpPr>
        <p:spPr bwMode="auto">
          <a:xfrm flipH="1" flipV="1">
            <a:off x="7543800" y="2895600"/>
            <a:ext cx="4572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1" name="Line 33"/>
          <p:cNvSpPr>
            <a:spLocks noChangeShapeType="1"/>
          </p:cNvSpPr>
          <p:nvPr/>
        </p:nvSpPr>
        <p:spPr bwMode="auto">
          <a:xfrm>
            <a:off x="7315200" y="30480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2" name="Line 34"/>
          <p:cNvSpPr>
            <a:spLocks noChangeShapeType="1"/>
          </p:cNvSpPr>
          <p:nvPr/>
        </p:nvSpPr>
        <p:spPr bwMode="auto">
          <a:xfrm flipV="1">
            <a:off x="8229600" y="2286000"/>
            <a:ext cx="7620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3" name="Line 35"/>
          <p:cNvSpPr>
            <a:spLocks noChangeShapeType="1"/>
          </p:cNvSpPr>
          <p:nvPr/>
        </p:nvSpPr>
        <p:spPr bwMode="auto">
          <a:xfrm>
            <a:off x="9982200" y="4724400"/>
            <a:ext cx="3810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4" name="Line 36"/>
          <p:cNvSpPr>
            <a:spLocks noChangeShapeType="1"/>
          </p:cNvSpPr>
          <p:nvPr/>
        </p:nvSpPr>
        <p:spPr bwMode="auto">
          <a:xfrm>
            <a:off x="8458200" y="5791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5" name="Text Box 37"/>
          <p:cNvSpPr txBox="1">
            <a:spLocks noChangeArrowheads="1"/>
          </p:cNvSpPr>
          <p:nvPr/>
        </p:nvSpPr>
        <p:spPr bwMode="auto">
          <a:xfrm>
            <a:off x="9439276" y="2590801"/>
            <a:ext cx="1228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X</a:t>
            </a:r>
          </a:p>
        </p:txBody>
      </p:sp>
      <p:sp>
        <p:nvSpPr>
          <p:cNvPr id="12326" name="Text Box 38"/>
          <p:cNvSpPr txBox="1">
            <a:spLocks noChangeArrowheads="1"/>
          </p:cNvSpPr>
          <p:nvPr/>
        </p:nvSpPr>
        <p:spPr bwMode="auto">
          <a:xfrm>
            <a:off x="6629400" y="3276601"/>
            <a:ext cx="1227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Y</a:t>
            </a:r>
          </a:p>
        </p:txBody>
      </p:sp>
      <p:sp>
        <p:nvSpPr>
          <p:cNvPr id="12327" name="Text Box 39"/>
          <p:cNvSpPr txBox="1">
            <a:spLocks noChangeArrowheads="1"/>
          </p:cNvSpPr>
          <p:nvPr/>
        </p:nvSpPr>
        <p:spPr bwMode="auto">
          <a:xfrm>
            <a:off x="6172201" y="4800601"/>
            <a:ext cx="1223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Z</a:t>
            </a:r>
          </a:p>
        </p:txBody>
      </p:sp>
      <p:sp>
        <p:nvSpPr>
          <p:cNvPr id="12328" name="Text Box 40"/>
          <p:cNvSpPr txBox="1">
            <a:spLocks noChangeArrowheads="1"/>
          </p:cNvSpPr>
          <p:nvPr/>
        </p:nvSpPr>
        <p:spPr bwMode="auto">
          <a:xfrm>
            <a:off x="8534400" y="5791201"/>
            <a:ext cx="1301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W</a:t>
            </a:r>
          </a:p>
        </p:txBody>
      </p:sp>
      <p:sp>
        <p:nvSpPr>
          <p:cNvPr id="12329" name="Rectangle 41"/>
          <p:cNvSpPr>
            <a:spLocks noChangeArrowheads="1"/>
          </p:cNvSpPr>
          <p:nvPr/>
        </p:nvSpPr>
        <p:spPr bwMode="auto">
          <a:xfrm>
            <a:off x="8991600" y="20574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0" name="Rectangle 42"/>
          <p:cNvSpPr>
            <a:spLocks noChangeArrowheads="1"/>
          </p:cNvSpPr>
          <p:nvPr/>
        </p:nvSpPr>
        <p:spPr bwMode="auto">
          <a:xfrm>
            <a:off x="9677400" y="20574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1" name="Rectangle 43"/>
          <p:cNvSpPr>
            <a:spLocks noChangeArrowheads="1"/>
          </p:cNvSpPr>
          <p:nvPr/>
        </p:nvSpPr>
        <p:spPr bwMode="auto">
          <a:xfrm>
            <a:off x="6172200" y="3505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2" name="Line 44"/>
          <p:cNvSpPr>
            <a:spLocks noChangeShapeType="1"/>
          </p:cNvSpPr>
          <p:nvPr/>
        </p:nvSpPr>
        <p:spPr bwMode="auto">
          <a:xfrm>
            <a:off x="6400800" y="3276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3" name="Line 45"/>
          <p:cNvSpPr>
            <a:spLocks noChangeShapeType="1"/>
          </p:cNvSpPr>
          <p:nvPr/>
        </p:nvSpPr>
        <p:spPr bwMode="auto">
          <a:xfrm>
            <a:off x="9220200" y="236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4" name="Line 46"/>
          <p:cNvSpPr>
            <a:spLocks noChangeShapeType="1"/>
          </p:cNvSpPr>
          <p:nvPr/>
        </p:nvSpPr>
        <p:spPr bwMode="auto">
          <a:xfrm>
            <a:off x="9906000" y="236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5" name="Rectangle 47"/>
          <p:cNvSpPr>
            <a:spLocks noChangeArrowheads="1"/>
          </p:cNvSpPr>
          <p:nvPr/>
        </p:nvSpPr>
        <p:spPr bwMode="auto">
          <a:xfrm>
            <a:off x="8839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6" name="Rectangle 48"/>
          <p:cNvSpPr>
            <a:spLocks noChangeArrowheads="1"/>
          </p:cNvSpPr>
          <p:nvPr/>
        </p:nvSpPr>
        <p:spPr bwMode="auto">
          <a:xfrm>
            <a:off x="8077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7" name="Rectangle 49"/>
          <p:cNvSpPr>
            <a:spLocks noChangeArrowheads="1"/>
          </p:cNvSpPr>
          <p:nvPr/>
        </p:nvSpPr>
        <p:spPr bwMode="auto">
          <a:xfrm>
            <a:off x="7315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8" name="Line 50"/>
          <p:cNvSpPr>
            <a:spLocks noChangeShapeType="1"/>
          </p:cNvSpPr>
          <p:nvPr/>
        </p:nvSpPr>
        <p:spPr bwMode="auto">
          <a:xfrm>
            <a:off x="7543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9" name="Line 51"/>
          <p:cNvSpPr>
            <a:spLocks noChangeShapeType="1"/>
          </p:cNvSpPr>
          <p:nvPr/>
        </p:nvSpPr>
        <p:spPr bwMode="auto">
          <a:xfrm>
            <a:off x="8305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0" name="Line 52"/>
          <p:cNvSpPr>
            <a:spLocks noChangeShapeType="1"/>
          </p:cNvSpPr>
          <p:nvPr/>
        </p:nvSpPr>
        <p:spPr bwMode="auto">
          <a:xfrm>
            <a:off x="9067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1" name="Rectangle 53"/>
          <p:cNvSpPr>
            <a:spLocks noChangeArrowheads="1"/>
          </p:cNvSpPr>
          <p:nvPr/>
        </p:nvSpPr>
        <p:spPr bwMode="auto">
          <a:xfrm>
            <a:off x="7010400" y="5410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42" name="Rectangle 54"/>
          <p:cNvSpPr>
            <a:spLocks noChangeArrowheads="1"/>
          </p:cNvSpPr>
          <p:nvPr/>
        </p:nvSpPr>
        <p:spPr bwMode="auto">
          <a:xfrm>
            <a:off x="6324600" y="5410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43" name="Line 55"/>
          <p:cNvSpPr>
            <a:spLocks noChangeShapeType="1"/>
          </p:cNvSpPr>
          <p:nvPr/>
        </p:nvSpPr>
        <p:spPr bwMode="auto">
          <a:xfrm>
            <a:off x="6553200" y="5181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4" name="Line 56"/>
          <p:cNvSpPr>
            <a:spLocks noChangeShapeType="1"/>
          </p:cNvSpPr>
          <p:nvPr/>
        </p:nvSpPr>
        <p:spPr bwMode="auto">
          <a:xfrm>
            <a:off x="7239000" y="5181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4633" name="Text Box 57"/>
          <p:cNvSpPr txBox="1">
            <a:spLocks noChangeArrowheads="1"/>
          </p:cNvSpPr>
          <p:nvPr/>
        </p:nvSpPr>
        <p:spPr bwMode="auto">
          <a:xfrm>
            <a:off x="4495800" y="3733800"/>
            <a:ext cx="35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E</a:t>
            </a:r>
          </a:p>
        </p:txBody>
      </p:sp>
      <p:sp>
        <p:nvSpPr>
          <p:cNvPr id="1944634" name="Text Box 58"/>
          <p:cNvSpPr txBox="1">
            <a:spLocks noChangeArrowheads="1"/>
          </p:cNvSpPr>
          <p:nvPr/>
        </p:nvSpPr>
        <p:spPr bwMode="auto">
          <a:xfrm>
            <a:off x="4495801" y="43434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C</a:t>
            </a:r>
          </a:p>
        </p:txBody>
      </p:sp>
      <p:sp>
        <p:nvSpPr>
          <p:cNvPr id="1944635" name="Text Box 59"/>
          <p:cNvSpPr txBox="1">
            <a:spLocks noChangeArrowheads="1"/>
          </p:cNvSpPr>
          <p:nvPr/>
        </p:nvSpPr>
        <p:spPr bwMode="auto">
          <a:xfrm>
            <a:off x="4495801" y="49530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C</a:t>
            </a:r>
          </a:p>
        </p:txBody>
      </p:sp>
      <p:sp>
        <p:nvSpPr>
          <p:cNvPr id="1944636" name="Text Box 60"/>
          <p:cNvSpPr txBox="1">
            <a:spLocks noChangeArrowheads="1"/>
          </p:cNvSpPr>
          <p:nvPr/>
        </p:nvSpPr>
        <p:spPr bwMode="auto">
          <a:xfrm>
            <a:off x="4495801" y="55626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A</a:t>
            </a:r>
          </a:p>
        </p:txBody>
      </p:sp>
      <p:sp>
        <p:nvSpPr>
          <p:cNvPr id="1944637" name="Text Box 61"/>
          <p:cNvSpPr txBox="1">
            <a:spLocks noChangeArrowheads="1"/>
          </p:cNvSpPr>
          <p:nvPr/>
        </p:nvSpPr>
        <p:spPr bwMode="auto">
          <a:xfrm>
            <a:off x="3925888" y="1246189"/>
            <a:ext cx="4551362"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q"/>
            </a:pPr>
            <a:r>
              <a:rPr kumimoji="1" lang="zh-CN" altLang="en-US" sz="2400">
                <a:solidFill>
                  <a:schemeClr val="tx1"/>
                </a:solidFill>
                <a:latin typeface="Tahoma" panose="020B0604030504040204" pitchFamily="34" charset="0"/>
              </a:rPr>
              <a:t>基于网络地址 </a:t>
            </a:r>
          </a:p>
          <a:p>
            <a:pPr>
              <a:spcBef>
                <a:spcPct val="20000"/>
              </a:spcBef>
              <a:buClr>
                <a:schemeClr val="folHlink"/>
              </a:buClr>
              <a:buFont typeface="Wingdings" panose="05000000000000000000" pitchFamily="2" charset="2"/>
              <a:buChar char="q"/>
            </a:pPr>
            <a:r>
              <a:rPr kumimoji="1" lang="zh-CN" altLang="en-US" sz="2400">
                <a:solidFill>
                  <a:schemeClr val="tx1"/>
                </a:solidFill>
                <a:latin typeface="Tahoma" panose="020B0604030504040204" pitchFamily="34" charset="0"/>
              </a:rPr>
              <a:t>路由器找一个匹配的网络地址来决定下一跳</a:t>
            </a:r>
          </a:p>
        </p:txBody>
      </p:sp>
      <p:sp>
        <p:nvSpPr>
          <p:cNvPr id="12350" name="Rectangle 62"/>
          <p:cNvSpPr>
            <a:spLocks noGrp="1" noChangeArrowheads="1"/>
          </p:cNvSpPr>
          <p:nvPr>
            <p:ph type="title"/>
          </p:nvPr>
        </p:nvSpPr>
        <p:spPr bwMode="auto">
          <a:xfrm>
            <a:off x="3495675" y="346075"/>
            <a:ext cx="60912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4637">
                                            <p:txEl>
                                              <p:pRg st="0" end="0"/>
                                            </p:txEl>
                                          </p:spTgt>
                                        </p:tgtEl>
                                        <p:attrNameLst>
                                          <p:attrName>style.visibility</p:attrName>
                                        </p:attrNameLst>
                                      </p:cBhvr>
                                      <p:to>
                                        <p:strVal val="visible"/>
                                      </p:to>
                                    </p:set>
                                    <p:anim calcmode="lin" valueType="num">
                                      <p:cBhvr additive="base">
                                        <p:cTn id="7" dur="500" fill="hold"/>
                                        <p:tgtEl>
                                          <p:spTgt spid="19446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46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44637">
                                            <p:txEl>
                                              <p:pRg st="1" end="1"/>
                                            </p:txEl>
                                          </p:spTgt>
                                        </p:tgtEl>
                                        <p:attrNameLst>
                                          <p:attrName>style.visibility</p:attrName>
                                        </p:attrNameLst>
                                      </p:cBhvr>
                                      <p:to>
                                        <p:strVal val="visible"/>
                                      </p:to>
                                    </p:set>
                                    <p:anim calcmode="lin" valueType="num">
                                      <p:cBhvr additive="base">
                                        <p:cTn id="13" dur="500" fill="hold"/>
                                        <p:tgtEl>
                                          <p:spTgt spid="194463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446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4633"/>
                                        </p:tgtEl>
                                        <p:attrNameLst>
                                          <p:attrName>style.visibility</p:attrName>
                                        </p:attrNameLst>
                                      </p:cBhvr>
                                      <p:to>
                                        <p:strVal val="visible"/>
                                      </p:to>
                                    </p:set>
                                    <p:anim calcmode="lin" valueType="num">
                                      <p:cBhvr additive="base">
                                        <p:cTn id="19" dur="500" fill="hold"/>
                                        <p:tgtEl>
                                          <p:spTgt spid="1944633"/>
                                        </p:tgtEl>
                                        <p:attrNameLst>
                                          <p:attrName>ppt_x</p:attrName>
                                        </p:attrNameLst>
                                      </p:cBhvr>
                                      <p:tavLst>
                                        <p:tav tm="0">
                                          <p:val>
                                            <p:strVal val="0-#ppt_w/2"/>
                                          </p:val>
                                        </p:tav>
                                        <p:tav tm="100000">
                                          <p:val>
                                            <p:strVal val="#ppt_x"/>
                                          </p:val>
                                        </p:tav>
                                      </p:tavLst>
                                    </p:anim>
                                    <p:anim calcmode="lin" valueType="num">
                                      <p:cBhvr additive="base">
                                        <p:cTn id="20" dur="500" fill="hold"/>
                                        <p:tgtEl>
                                          <p:spTgt spid="194463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4634"/>
                                        </p:tgtEl>
                                        <p:attrNameLst>
                                          <p:attrName>style.visibility</p:attrName>
                                        </p:attrNameLst>
                                      </p:cBhvr>
                                      <p:to>
                                        <p:strVal val="visible"/>
                                      </p:to>
                                    </p:set>
                                    <p:anim calcmode="lin" valueType="num">
                                      <p:cBhvr additive="base">
                                        <p:cTn id="25" dur="500" fill="hold"/>
                                        <p:tgtEl>
                                          <p:spTgt spid="1944634"/>
                                        </p:tgtEl>
                                        <p:attrNameLst>
                                          <p:attrName>ppt_x</p:attrName>
                                        </p:attrNameLst>
                                      </p:cBhvr>
                                      <p:tavLst>
                                        <p:tav tm="0">
                                          <p:val>
                                            <p:strVal val="0-#ppt_w/2"/>
                                          </p:val>
                                        </p:tav>
                                        <p:tav tm="100000">
                                          <p:val>
                                            <p:strVal val="#ppt_x"/>
                                          </p:val>
                                        </p:tav>
                                      </p:tavLst>
                                    </p:anim>
                                    <p:anim calcmode="lin" valueType="num">
                                      <p:cBhvr additive="base">
                                        <p:cTn id="26" dur="500" fill="hold"/>
                                        <p:tgtEl>
                                          <p:spTgt spid="194463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44635"/>
                                        </p:tgtEl>
                                        <p:attrNameLst>
                                          <p:attrName>style.visibility</p:attrName>
                                        </p:attrNameLst>
                                      </p:cBhvr>
                                      <p:to>
                                        <p:strVal val="visible"/>
                                      </p:to>
                                    </p:set>
                                    <p:anim calcmode="lin" valueType="num">
                                      <p:cBhvr additive="base">
                                        <p:cTn id="31" dur="500" fill="hold"/>
                                        <p:tgtEl>
                                          <p:spTgt spid="1944635"/>
                                        </p:tgtEl>
                                        <p:attrNameLst>
                                          <p:attrName>ppt_x</p:attrName>
                                        </p:attrNameLst>
                                      </p:cBhvr>
                                      <p:tavLst>
                                        <p:tav tm="0">
                                          <p:val>
                                            <p:strVal val="0-#ppt_w/2"/>
                                          </p:val>
                                        </p:tav>
                                        <p:tav tm="100000">
                                          <p:val>
                                            <p:strVal val="#ppt_x"/>
                                          </p:val>
                                        </p:tav>
                                      </p:tavLst>
                                    </p:anim>
                                    <p:anim calcmode="lin" valueType="num">
                                      <p:cBhvr additive="base">
                                        <p:cTn id="32" dur="500" fill="hold"/>
                                        <p:tgtEl>
                                          <p:spTgt spid="194463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944636"/>
                                        </p:tgtEl>
                                        <p:attrNameLst>
                                          <p:attrName>style.visibility</p:attrName>
                                        </p:attrNameLst>
                                      </p:cBhvr>
                                      <p:to>
                                        <p:strVal val="visible"/>
                                      </p:to>
                                    </p:set>
                                    <p:anim calcmode="lin" valueType="num">
                                      <p:cBhvr additive="base">
                                        <p:cTn id="37" dur="500" fill="hold"/>
                                        <p:tgtEl>
                                          <p:spTgt spid="1944636"/>
                                        </p:tgtEl>
                                        <p:attrNameLst>
                                          <p:attrName>ppt_x</p:attrName>
                                        </p:attrNameLst>
                                      </p:cBhvr>
                                      <p:tavLst>
                                        <p:tav tm="0">
                                          <p:val>
                                            <p:strVal val="0-#ppt_w/2"/>
                                          </p:val>
                                        </p:tav>
                                        <p:tav tm="100000">
                                          <p:val>
                                            <p:strVal val="#ppt_x"/>
                                          </p:val>
                                        </p:tav>
                                      </p:tavLst>
                                    </p:anim>
                                    <p:anim calcmode="lin" valueType="num">
                                      <p:cBhvr additive="base">
                                        <p:cTn id="38" dur="500" fill="hold"/>
                                        <p:tgtEl>
                                          <p:spTgt spid="19446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4633" grpId="0" autoUpdateAnimBg="0"/>
      <p:bldP spid="1944634" grpId="0" autoUpdateAnimBg="0"/>
      <p:bldP spid="1944635" grpId="0" autoUpdateAnimBg="0"/>
      <p:bldP spid="1944636" grpId="0" autoUpdateAnimBg="0"/>
      <p:bldP spid="1944637"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4064001" y="338138"/>
            <a:ext cx="4659313"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转发表样式</a:t>
            </a:r>
          </a:p>
        </p:txBody>
      </p:sp>
      <p:sp>
        <p:nvSpPr>
          <p:cNvPr id="13315" name="Text Box 3"/>
          <p:cNvSpPr txBox="1">
            <a:spLocks noChangeArrowheads="1"/>
          </p:cNvSpPr>
          <p:nvPr/>
        </p:nvSpPr>
        <p:spPr bwMode="auto">
          <a:xfrm>
            <a:off x="2397126" y="4322764"/>
            <a:ext cx="7885113"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sz="2400">
                <a:solidFill>
                  <a:schemeClr val="tx1"/>
                </a:solidFill>
                <a:latin typeface="Arial" panose="020B0604020202020204" pitchFamily="34" charset="0"/>
              </a:rPr>
              <a:t>• IP </a:t>
            </a:r>
            <a:r>
              <a:rPr lang="zh-CN" altLang="en-US" sz="2400">
                <a:solidFill>
                  <a:schemeClr val="tx1"/>
                </a:solidFill>
                <a:latin typeface="Arial" panose="020B0604020202020204" pitchFamily="34" charset="0"/>
              </a:rPr>
              <a:t>转发由主机或路由器完成</a:t>
            </a:r>
            <a:r>
              <a:rPr lang="en-US" altLang="zh-CN" sz="2400">
                <a:solidFill>
                  <a:schemeClr val="tx1"/>
                </a:solidFill>
                <a:latin typeface="Arial" panose="020B0604020202020204" pitchFamily="34" charset="0"/>
              </a:rPr>
              <a:t>.</a:t>
            </a:r>
          </a:p>
          <a:p>
            <a:pPr>
              <a:spcBef>
                <a:spcPct val="20000"/>
              </a:spcBef>
            </a:pPr>
            <a:r>
              <a:rPr lang="en-US" altLang="zh-CN" sz="2400">
                <a:solidFill>
                  <a:schemeClr val="tx1"/>
                </a:solidFill>
                <a:latin typeface="Arial" panose="020B0604020202020204" pitchFamily="34" charset="0"/>
              </a:rPr>
              <a:t>• </a:t>
            </a:r>
            <a:r>
              <a:rPr lang="zh-CN" altLang="en-US" sz="2400">
                <a:solidFill>
                  <a:schemeClr val="tx2"/>
                </a:solidFill>
                <a:latin typeface="Arial" panose="020B0604020202020204" pitchFamily="34" charset="0"/>
              </a:rPr>
              <a:t>主机</a:t>
            </a:r>
            <a:r>
              <a:rPr lang="zh-CN" altLang="en-US" sz="2400">
                <a:solidFill>
                  <a:schemeClr val="tx1"/>
                </a:solidFill>
                <a:latin typeface="Arial" panose="020B0604020202020204" pitchFamily="34" charset="0"/>
              </a:rPr>
              <a:t>不会把任何报文从输入接口送到输出接口</a:t>
            </a:r>
            <a:r>
              <a:rPr lang="en-US" altLang="zh-CN" sz="2400">
                <a:solidFill>
                  <a:schemeClr val="tx1"/>
                </a:solidFill>
                <a:latin typeface="Arial" panose="020B0604020202020204" pitchFamily="34" charset="0"/>
              </a:rPr>
              <a:t>.</a:t>
            </a:r>
          </a:p>
          <a:p>
            <a:pPr>
              <a:spcBef>
                <a:spcPct val="20000"/>
              </a:spcBef>
            </a:pPr>
            <a:r>
              <a:rPr lang="en-US" altLang="zh-CN" sz="2400">
                <a:solidFill>
                  <a:schemeClr val="tx1"/>
                </a:solidFill>
                <a:latin typeface="Arial" panose="020B0604020202020204" pitchFamily="34" charset="0"/>
              </a:rPr>
              <a:t>• </a:t>
            </a:r>
            <a:r>
              <a:rPr lang="zh-CN" altLang="en-US" sz="2400">
                <a:solidFill>
                  <a:schemeClr val="tx2"/>
                </a:solidFill>
                <a:latin typeface="Arial" panose="020B0604020202020204" pitchFamily="34" charset="0"/>
              </a:rPr>
              <a:t>路由器</a:t>
            </a:r>
            <a:r>
              <a:rPr lang="zh-CN" altLang="en-US" sz="2400">
                <a:solidFill>
                  <a:schemeClr val="tx1"/>
                </a:solidFill>
                <a:latin typeface="Arial" panose="020B0604020202020204" pitchFamily="34" charset="0"/>
              </a:rPr>
              <a:t>和</a:t>
            </a:r>
            <a:r>
              <a:rPr lang="zh-CN" altLang="en-US" sz="2400">
                <a:solidFill>
                  <a:schemeClr val="tx2"/>
                </a:solidFill>
                <a:latin typeface="Arial" panose="020B0604020202020204" pitchFamily="34" charset="0"/>
              </a:rPr>
              <a:t>主机</a:t>
            </a:r>
            <a:r>
              <a:rPr lang="zh-CN" altLang="en-US" sz="2400">
                <a:solidFill>
                  <a:schemeClr val="tx1"/>
                </a:solidFill>
                <a:latin typeface="Arial" panose="020B0604020202020204" pitchFamily="34" charset="0"/>
              </a:rPr>
              <a:t>都有一个路由表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见上表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，每个数据包都通过查找该路由表来转发</a:t>
            </a:r>
          </a:p>
        </p:txBody>
      </p:sp>
      <p:graphicFrame>
        <p:nvGraphicFramePr>
          <p:cNvPr id="1945623" name="Group 23"/>
          <p:cNvGraphicFramePr>
            <a:graphicFrameLocks noGrp="1"/>
          </p:cNvGraphicFramePr>
          <p:nvPr/>
        </p:nvGraphicFramePr>
        <p:xfrm>
          <a:off x="2100264" y="1420814"/>
          <a:ext cx="8339137" cy="2530475"/>
        </p:xfrm>
        <a:graphic>
          <a:graphicData uri="http://schemas.openxmlformats.org/drawingml/2006/table">
            <a:tbl>
              <a:tblPr/>
              <a:tblGrid>
                <a:gridCol w="2378075">
                  <a:extLst>
                    <a:ext uri="{9D8B030D-6E8A-4147-A177-3AD203B41FA5}">
                      <a16:colId xmlns:a16="http://schemas.microsoft.com/office/drawing/2014/main" val="20000"/>
                    </a:ext>
                  </a:extLst>
                </a:gridCol>
                <a:gridCol w="2117725">
                  <a:extLst>
                    <a:ext uri="{9D8B030D-6E8A-4147-A177-3AD203B41FA5}">
                      <a16:colId xmlns:a16="http://schemas.microsoft.com/office/drawing/2014/main" val="20001"/>
                    </a:ext>
                  </a:extLst>
                </a:gridCol>
                <a:gridCol w="1857375">
                  <a:extLst>
                    <a:ext uri="{9D8B030D-6E8A-4147-A177-3AD203B41FA5}">
                      <a16:colId xmlns:a16="http://schemas.microsoft.com/office/drawing/2014/main" val="20002"/>
                    </a:ext>
                  </a:extLst>
                </a:gridCol>
                <a:gridCol w="1985962">
                  <a:extLst>
                    <a:ext uri="{9D8B030D-6E8A-4147-A177-3AD203B41FA5}">
                      <a16:colId xmlns:a16="http://schemas.microsoft.com/office/drawing/2014/main" val="20003"/>
                    </a:ext>
                  </a:extLst>
                </a:gridCol>
              </a:tblGrid>
              <a:tr h="1281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Destination IP</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address</a:t>
                      </a:r>
                      <a:endParaRPr kumimoji="1" lang="en-US"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address of</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Next-hop-Router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Flags</a:t>
                      </a:r>
                      <a:endParaRPr kumimoji="1" lang="en-US" altLang="zh-CN" sz="2400" b="0" i="0" u="none" strike="noStrike" cap="none" normalizeH="0" baseline="0">
                        <a:ln>
                          <a:noFill/>
                        </a:ln>
                        <a:solidFill>
                          <a:srgbClr val="000000"/>
                        </a:solidFill>
                        <a:effectLst/>
                        <a:latin typeface="Arial"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en-US"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Specification of an interface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493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目的主机或网络地址</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下一跳路由器或直连网络地址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路由类型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分组传送给的接口</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45623"/>
                                        </p:tgtEl>
                                        <p:attrNameLst>
                                          <p:attrName>style.visibility</p:attrName>
                                        </p:attrNameLst>
                                      </p:cBhvr>
                                      <p:to>
                                        <p:strVal val="visible"/>
                                      </p:to>
                                    </p:set>
                                    <p:anim calcmode="lin" valueType="num">
                                      <p:cBhvr additive="base">
                                        <p:cTn id="7" dur="500" fill="hold"/>
                                        <p:tgtEl>
                                          <p:spTgt spid="1945623"/>
                                        </p:tgtEl>
                                        <p:attrNameLst>
                                          <p:attrName>ppt_x</p:attrName>
                                        </p:attrNameLst>
                                      </p:cBhvr>
                                      <p:tavLst>
                                        <p:tav tm="0">
                                          <p:val>
                                            <p:strVal val="1+#ppt_w/2"/>
                                          </p:val>
                                        </p:tav>
                                        <p:tav tm="100000">
                                          <p:val>
                                            <p:strVal val="#ppt_x"/>
                                          </p:val>
                                        </p:tav>
                                      </p:tavLst>
                                    </p:anim>
                                    <p:anim calcmode="lin" valueType="num">
                                      <p:cBhvr additive="base">
                                        <p:cTn id="8" dur="500" fill="hold"/>
                                        <p:tgtEl>
                                          <p:spTgt spid="19456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bwMode="auto">
          <a:xfrm>
            <a:off x="2120900" y="177801"/>
            <a:ext cx="7772400" cy="728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路由表查找</a:t>
            </a:r>
          </a:p>
        </p:txBody>
      </p:sp>
      <p:sp>
        <p:nvSpPr>
          <p:cNvPr id="1957893" name="Text Box 1029"/>
          <p:cNvSpPr txBox="1">
            <a:spLocks noChangeArrowheads="1"/>
          </p:cNvSpPr>
          <p:nvPr/>
        </p:nvSpPr>
        <p:spPr bwMode="auto">
          <a:xfrm>
            <a:off x="3097214" y="1390651"/>
            <a:ext cx="60420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对每一个</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分组，查找一次路由表</a:t>
            </a:r>
            <a:r>
              <a:rPr lang="en-US" altLang="zh-CN">
                <a:solidFill>
                  <a:schemeClr val="tx1"/>
                </a:solidFill>
                <a:latin typeface="Arial" panose="020B0604020202020204" pitchFamily="34" charset="0"/>
              </a:rPr>
              <a:t>.</a:t>
            </a:r>
          </a:p>
          <a:p>
            <a:r>
              <a:rPr lang="en-US" altLang="zh-CN">
                <a:solidFill>
                  <a:schemeClr val="tx1"/>
                </a:solidFill>
                <a:latin typeface="Arial" panose="020B0604020202020204" pitchFamily="34" charset="0"/>
              </a:rPr>
              <a:t>      1. </a:t>
            </a:r>
            <a:r>
              <a:rPr lang="zh-CN" altLang="en-US">
                <a:solidFill>
                  <a:schemeClr val="tx1"/>
                </a:solidFill>
                <a:latin typeface="Arial" panose="020B0604020202020204" pitchFamily="34" charset="0"/>
              </a:rPr>
              <a:t>找出匹配的主机地址</a:t>
            </a:r>
          </a:p>
          <a:p>
            <a:r>
              <a:rPr lang="zh-CN" altLang="en-US">
                <a:solidFill>
                  <a:schemeClr val="tx1"/>
                </a:solidFill>
                <a:latin typeface="Arial" panose="020B0604020202020204" pitchFamily="34" charset="0"/>
              </a:rPr>
              <a:t>      </a:t>
            </a:r>
            <a:r>
              <a:rPr lang="en-US" altLang="zh-CN">
                <a:solidFill>
                  <a:schemeClr val="tx1"/>
                </a:solidFill>
                <a:latin typeface="Arial" panose="020B0604020202020204" pitchFamily="34" charset="0"/>
              </a:rPr>
              <a:t>2. </a:t>
            </a:r>
            <a:r>
              <a:rPr lang="zh-CN" altLang="en-US">
                <a:solidFill>
                  <a:schemeClr val="tx1"/>
                </a:solidFill>
                <a:latin typeface="Arial" panose="020B0604020202020204" pitchFamily="34" charset="0"/>
              </a:rPr>
              <a:t>找出匹配的网络地址</a:t>
            </a:r>
          </a:p>
          <a:p>
            <a:r>
              <a:rPr lang="zh-CN" altLang="en-US">
                <a:solidFill>
                  <a:schemeClr val="tx1"/>
                </a:solidFill>
                <a:latin typeface="Arial" panose="020B0604020202020204" pitchFamily="34" charset="0"/>
              </a:rPr>
              <a:t>      </a:t>
            </a:r>
            <a:r>
              <a:rPr lang="en-US" altLang="zh-CN">
                <a:solidFill>
                  <a:schemeClr val="tx1"/>
                </a:solidFill>
                <a:latin typeface="Arial" panose="020B0604020202020204" pitchFamily="34" charset="0"/>
              </a:rPr>
              <a:t>3. </a:t>
            </a:r>
            <a:r>
              <a:rPr lang="zh-CN" altLang="en-US">
                <a:solidFill>
                  <a:schemeClr val="tx1"/>
                </a:solidFill>
                <a:latin typeface="Arial" panose="020B0604020202020204" pitchFamily="34" charset="0"/>
              </a:rPr>
              <a:t>找到缺省条目</a:t>
            </a:r>
            <a:r>
              <a:rPr lang="en-US" altLang="zh-CN">
                <a:solidFill>
                  <a:schemeClr val="tx1"/>
                </a:solidFill>
                <a:latin typeface="Arial" panose="020B0604020202020204" pitchFamily="34" charset="0"/>
              </a:rPr>
              <a:t>(entry)</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57893">
                                            <p:txEl>
                                              <p:pRg st="0" end="0"/>
                                            </p:txEl>
                                          </p:spTgt>
                                        </p:tgtEl>
                                        <p:attrNameLst>
                                          <p:attrName>style.visibility</p:attrName>
                                        </p:attrNameLst>
                                      </p:cBhvr>
                                      <p:to>
                                        <p:strVal val="visible"/>
                                      </p:to>
                                    </p:set>
                                    <p:anim calcmode="lin" valueType="num">
                                      <p:cBhvr additive="base">
                                        <p:cTn id="7" dur="500" fill="hold"/>
                                        <p:tgtEl>
                                          <p:spTgt spid="195789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578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57893">
                                            <p:txEl>
                                              <p:pRg st="1" end="1"/>
                                            </p:txEl>
                                          </p:spTgt>
                                        </p:tgtEl>
                                        <p:attrNameLst>
                                          <p:attrName>style.visibility</p:attrName>
                                        </p:attrNameLst>
                                      </p:cBhvr>
                                      <p:to>
                                        <p:strVal val="visible"/>
                                      </p:to>
                                    </p:set>
                                    <p:anim calcmode="lin" valueType="num">
                                      <p:cBhvr additive="base">
                                        <p:cTn id="13" dur="500" fill="hold"/>
                                        <p:tgtEl>
                                          <p:spTgt spid="195789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578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57893">
                                            <p:txEl>
                                              <p:pRg st="2" end="2"/>
                                            </p:txEl>
                                          </p:spTgt>
                                        </p:tgtEl>
                                        <p:attrNameLst>
                                          <p:attrName>style.visibility</p:attrName>
                                        </p:attrNameLst>
                                      </p:cBhvr>
                                      <p:to>
                                        <p:strVal val="visible"/>
                                      </p:to>
                                    </p:set>
                                    <p:anim calcmode="lin" valueType="num">
                                      <p:cBhvr additive="base">
                                        <p:cTn id="19" dur="500" fill="hold"/>
                                        <p:tgtEl>
                                          <p:spTgt spid="195789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5789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57893">
                                            <p:txEl>
                                              <p:pRg st="3" end="3"/>
                                            </p:txEl>
                                          </p:spTgt>
                                        </p:tgtEl>
                                        <p:attrNameLst>
                                          <p:attrName>style.visibility</p:attrName>
                                        </p:attrNameLst>
                                      </p:cBhvr>
                                      <p:to>
                                        <p:strVal val="visible"/>
                                      </p:to>
                                    </p:set>
                                    <p:anim calcmode="lin" valueType="num">
                                      <p:cBhvr additive="base">
                                        <p:cTn id="25" dur="500" fill="hold"/>
                                        <p:tgtEl>
                                          <p:spTgt spid="195789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5789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7893"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bwMode="auto">
          <a:xfrm>
            <a:off x="2205038" y="3905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主机的分组转发</a:t>
            </a:r>
          </a:p>
        </p:txBody>
      </p:sp>
      <p:sp>
        <p:nvSpPr>
          <p:cNvPr id="1948675" name="Text Box 1027"/>
          <p:cNvSpPr txBox="1">
            <a:spLocks noChangeArrowheads="1"/>
          </p:cNvSpPr>
          <p:nvPr/>
        </p:nvSpPr>
        <p:spPr bwMode="auto">
          <a:xfrm>
            <a:off x="1794164" y="1246188"/>
            <a:ext cx="8437418" cy="464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a:t>
            </a:r>
            <a:r>
              <a:rPr lang="en-US" altLang="zh-CN" sz="2400">
                <a:solidFill>
                  <a:srgbClr val="000000"/>
                </a:solidFill>
                <a:latin typeface="Arial" panose="020B0604020202020204" pitchFamily="34" charset="0"/>
              </a:rPr>
              <a:t>(</a:t>
            </a:r>
            <a:r>
              <a:rPr lang="zh-CN" altLang="en-US" sz="2400">
                <a:solidFill>
                  <a:srgbClr val="000000"/>
                </a:solidFill>
                <a:latin typeface="Arial" panose="020B0604020202020204" pitchFamily="34" charset="0"/>
              </a:rPr>
              <a:t>多穴</a:t>
            </a:r>
            <a:r>
              <a:rPr lang="en-US" altLang="zh-CN" sz="2400">
                <a:solidFill>
                  <a:srgbClr val="000000"/>
                </a:solidFill>
                <a:latin typeface="Arial" panose="020B0604020202020204" pitchFamily="34" charset="0"/>
              </a:rPr>
              <a:t>)</a:t>
            </a:r>
            <a:r>
              <a:rPr lang="zh-CN" altLang="en-US">
                <a:solidFill>
                  <a:srgbClr val="000000"/>
                </a:solidFill>
                <a:latin typeface="Arial" panose="020B0604020202020204" pitchFamily="34" charset="0"/>
              </a:rPr>
              <a:t>主机上</a:t>
            </a:r>
            <a:r>
              <a:rPr lang="zh-CN" altLang="en-US">
                <a:solidFill>
                  <a:schemeClr val="tx2"/>
                </a:solidFill>
                <a:latin typeface="Arial" panose="020B0604020202020204" pitchFamily="34" charset="0"/>
              </a:rPr>
              <a:t>转发</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分组</a:t>
            </a:r>
            <a:r>
              <a:rPr lang="en-US" altLang="zh-CN">
                <a:solidFill>
                  <a:srgbClr val="000000"/>
                </a:solidFill>
                <a:latin typeface="Arial" panose="020B0604020202020204" pitchFamily="34" charset="0"/>
              </a:rPr>
              <a:t>:</a:t>
            </a:r>
          </a:p>
          <a:p>
            <a:r>
              <a:rPr lang="en-US" altLang="zh-CN" sz="2400">
                <a:solidFill>
                  <a:srgbClr val="0000FF"/>
                </a:solidFill>
                <a:latin typeface="Courier" charset="0"/>
              </a:rPr>
              <a:t>DestNet = </a:t>
            </a:r>
            <a:r>
              <a:rPr lang="zh-CN" altLang="en-US" sz="2400">
                <a:solidFill>
                  <a:srgbClr val="0000FF"/>
                </a:solidFill>
                <a:latin typeface="Courier" charset="0"/>
              </a:rPr>
              <a:t>目的</a:t>
            </a:r>
            <a:r>
              <a:rPr lang="en-US" altLang="zh-CN" sz="2400">
                <a:solidFill>
                  <a:srgbClr val="0000FF"/>
                </a:solidFill>
                <a:latin typeface="Courier" charset="0"/>
              </a:rPr>
              <a:t>IP</a:t>
            </a:r>
            <a:r>
              <a:rPr lang="zh-CN" altLang="en-US" sz="2400">
                <a:solidFill>
                  <a:srgbClr val="0000FF"/>
                </a:solidFill>
                <a:latin typeface="Courier" charset="0"/>
              </a:rPr>
              <a:t>地址的网络号</a:t>
            </a:r>
          </a:p>
          <a:p>
            <a:r>
              <a:rPr lang="en-US" altLang="zh-CN" sz="2400">
                <a:solidFill>
                  <a:srgbClr val="0000FF"/>
                </a:solidFill>
                <a:latin typeface="Courier" charset="0"/>
              </a:rPr>
              <a:t>If (DestNet == </a:t>
            </a:r>
            <a:r>
              <a:rPr lang="zh-CN" altLang="en-US" sz="2400">
                <a:solidFill>
                  <a:srgbClr val="0000FF"/>
                </a:solidFill>
                <a:latin typeface="Courier" charset="0"/>
              </a:rPr>
              <a:t>本地网络号</a:t>
            </a:r>
            <a:r>
              <a:rPr lang="en-US" altLang="zh-CN" sz="2400">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直接把数据报传送到目的站</a:t>
            </a:r>
            <a:r>
              <a:rPr lang="en-US" altLang="zh-CN" sz="2400">
                <a:solidFill>
                  <a:srgbClr val="FF00FF"/>
                </a:solidFill>
                <a:latin typeface="Arial" panose="020B0604020202020204" pitchFamily="34" charset="0"/>
              </a:rPr>
              <a:t>;</a:t>
            </a:r>
          </a:p>
          <a:p>
            <a:r>
              <a:rPr lang="en-US" altLang="zh-CN" sz="2400">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把数据报发送到默认路由器</a:t>
            </a:r>
            <a:r>
              <a:rPr lang="en-US" altLang="zh-CN" sz="2400">
                <a:solidFill>
                  <a:srgbClr val="FF00FF"/>
                </a:solidFill>
                <a:latin typeface="Arial" panose="020B0604020202020204" pitchFamily="34" charset="0"/>
              </a:rPr>
              <a:t>;</a:t>
            </a:r>
          </a:p>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在主机上</a:t>
            </a:r>
            <a:r>
              <a:rPr lang="zh-CN" altLang="en-US">
                <a:solidFill>
                  <a:schemeClr val="tx2"/>
                </a:solidFill>
                <a:latin typeface="Arial" panose="020B0604020202020204" pitchFamily="34" charset="0"/>
              </a:rPr>
              <a:t>接收</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分组</a:t>
            </a:r>
            <a:r>
              <a:rPr lang="en-US" altLang="zh-CN">
                <a:solidFill>
                  <a:srgbClr val="000000"/>
                </a:solidFill>
                <a:latin typeface="Arial" panose="020B0604020202020204" pitchFamily="34" charset="0"/>
              </a:rPr>
              <a:t>:</a:t>
            </a:r>
          </a:p>
          <a:p>
            <a:r>
              <a:rPr lang="zh-CN" altLang="en-US" sz="2400">
                <a:solidFill>
                  <a:srgbClr val="0000FF"/>
                </a:solidFill>
                <a:latin typeface="Courier" charset="0"/>
              </a:rPr>
              <a:t>从接口上收到数据报</a:t>
            </a:r>
          </a:p>
          <a:p>
            <a:r>
              <a:rPr lang="en-US" altLang="zh-CN" sz="2400">
                <a:solidFill>
                  <a:srgbClr val="0000FF"/>
                </a:solidFill>
                <a:latin typeface="Courier" charset="0"/>
              </a:rPr>
              <a:t>If (</a:t>
            </a:r>
            <a:r>
              <a:rPr lang="zh-CN" altLang="en-US" sz="2400">
                <a:solidFill>
                  <a:srgbClr val="0000FF"/>
                </a:solidFill>
                <a:latin typeface="Courier" charset="0"/>
              </a:rPr>
              <a:t>目的 </a:t>
            </a:r>
            <a:r>
              <a:rPr lang="en-US" altLang="zh-CN" sz="2400">
                <a:solidFill>
                  <a:srgbClr val="0000FF"/>
                </a:solidFill>
                <a:latin typeface="Courier" charset="0"/>
              </a:rPr>
              <a:t>IP </a:t>
            </a:r>
            <a:r>
              <a:rPr lang="zh-CN" altLang="en-US" sz="2400">
                <a:solidFill>
                  <a:srgbClr val="0000FF"/>
                </a:solidFill>
                <a:latin typeface="Courier" charset="0"/>
              </a:rPr>
              <a:t>地址 </a:t>
            </a:r>
            <a:r>
              <a:rPr lang="en-US" altLang="zh-CN" sz="2400">
                <a:solidFill>
                  <a:srgbClr val="0000FF"/>
                </a:solidFill>
                <a:latin typeface="Courier" charset="0"/>
              </a:rPr>
              <a:t>== (</a:t>
            </a:r>
            <a:r>
              <a:rPr lang="zh-CN" altLang="en-US" sz="2400">
                <a:solidFill>
                  <a:srgbClr val="0000FF"/>
                </a:solidFill>
                <a:latin typeface="Courier" charset="0"/>
              </a:rPr>
              <a:t>本地 </a:t>
            </a:r>
            <a:r>
              <a:rPr lang="en-US" altLang="zh-CN" sz="2400">
                <a:solidFill>
                  <a:srgbClr val="0000FF"/>
                </a:solidFill>
                <a:latin typeface="Courier" charset="0"/>
              </a:rPr>
              <a:t>IP </a:t>
            </a:r>
            <a:r>
              <a:rPr lang="zh-CN" altLang="en-US" sz="2400">
                <a:solidFill>
                  <a:srgbClr val="0000FF"/>
                </a:solidFill>
                <a:latin typeface="Courier" charset="0"/>
              </a:rPr>
              <a:t>地址 </a:t>
            </a:r>
            <a:r>
              <a:rPr lang="en-US" altLang="zh-CN" sz="2400">
                <a:solidFill>
                  <a:srgbClr val="0000FF"/>
                </a:solidFill>
                <a:latin typeface="Courier" charset="0"/>
              </a:rPr>
              <a:t>|| </a:t>
            </a:r>
            <a:r>
              <a:rPr lang="zh-CN" altLang="en-US" sz="2400">
                <a:solidFill>
                  <a:srgbClr val="0000FF"/>
                </a:solidFill>
                <a:latin typeface="Courier" charset="0"/>
              </a:rPr>
              <a:t>广播地址</a:t>
            </a:r>
            <a:r>
              <a:rPr lang="en-US" altLang="zh-CN" sz="2400">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把数据报传送到高层</a:t>
            </a:r>
            <a:r>
              <a:rPr lang="en-US" altLang="zh-CN" sz="2400">
                <a:solidFill>
                  <a:srgbClr val="FF00FF"/>
                </a:solidFill>
                <a:latin typeface="Arial" panose="020B0604020202020204" pitchFamily="34" charset="0"/>
              </a:rPr>
              <a:t>;</a:t>
            </a:r>
          </a:p>
          <a:p>
            <a:r>
              <a:rPr lang="en-US" altLang="zh-CN" sz="2400">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丢掉数据报</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8675">
                                            <p:txEl>
                                              <p:pRg st="0" end="0"/>
                                            </p:txEl>
                                          </p:spTgt>
                                        </p:tgtEl>
                                        <p:attrNameLst>
                                          <p:attrName>style.visibility</p:attrName>
                                        </p:attrNameLst>
                                      </p:cBhvr>
                                      <p:to>
                                        <p:strVal val="visible"/>
                                      </p:to>
                                    </p:set>
                                    <p:anim calcmode="lin" valueType="num">
                                      <p:cBhvr additive="base">
                                        <p:cTn id="7" dur="500" fill="hold"/>
                                        <p:tgtEl>
                                          <p:spTgt spid="1948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8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48675">
                                            <p:txEl>
                                              <p:pRg st="1" end="1"/>
                                            </p:txEl>
                                          </p:spTgt>
                                        </p:tgtEl>
                                        <p:attrNameLst>
                                          <p:attrName>style.visibility</p:attrName>
                                        </p:attrNameLst>
                                      </p:cBhvr>
                                      <p:to>
                                        <p:strVal val="visible"/>
                                      </p:to>
                                    </p:set>
                                    <p:anim calcmode="lin" valueType="num">
                                      <p:cBhvr additive="base">
                                        <p:cTn id="13" dur="500" fill="hold"/>
                                        <p:tgtEl>
                                          <p:spTgt spid="194867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48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8675">
                                            <p:txEl>
                                              <p:pRg st="2" end="2"/>
                                            </p:txEl>
                                          </p:spTgt>
                                        </p:tgtEl>
                                        <p:attrNameLst>
                                          <p:attrName>style.visibility</p:attrName>
                                        </p:attrNameLst>
                                      </p:cBhvr>
                                      <p:to>
                                        <p:strVal val="visible"/>
                                      </p:to>
                                    </p:set>
                                    <p:anim calcmode="lin" valueType="num">
                                      <p:cBhvr additive="base">
                                        <p:cTn id="19" dur="500" fill="hold"/>
                                        <p:tgtEl>
                                          <p:spTgt spid="194867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48675">
                                            <p:txEl>
                                              <p:pRg st="3" end="3"/>
                                            </p:txEl>
                                          </p:spTgt>
                                        </p:tgtEl>
                                        <p:attrNameLst>
                                          <p:attrName>style.visibility</p:attrName>
                                        </p:attrNameLst>
                                      </p:cBhvr>
                                      <p:to>
                                        <p:strVal val="visible"/>
                                      </p:to>
                                    </p:set>
                                    <p:anim calcmode="lin" valueType="num">
                                      <p:cBhvr additive="base">
                                        <p:cTn id="25" dur="500" fill="hold"/>
                                        <p:tgtEl>
                                          <p:spTgt spid="194867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48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948675">
                                            <p:txEl>
                                              <p:pRg st="4" end="4"/>
                                            </p:txEl>
                                          </p:spTgt>
                                        </p:tgtEl>
                                        <p:attrNameLst>
                                          <p:attrName>style.visibility</p:attrName>
                                        </p:attrNameLst>
                                      </p:cBhvr>
                                      <p:to>
                                        <p:strVal val="visible"/>
                                      </p:to>
                                    </p:set>
                                    <p:anim calcmode="lin" valueType="num">
                                      <p:cBhvr additive="base">
                                        <p:cTn id="31" dur="500" fill="hold"/>
                                        <p:tgtEl>
                                          <p:spTgt spid="194867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948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948675">
                                            <p:txEl>
                                              <p:pRg st="5" end="5"/>
                                            </p:txEl>
                                          </p:spTgt>
                                        </p:tgtEl>
                                        <p:attrNameLst>
                                          <p:attrName>style.visibility</p:attrName>
                                        </p:attrNameLst>
                                      </p:cBhvr>
                                      <p:to>
                                        <p:strVal val="visible"/>
                                      </p:to>
                                    </p:set>
                                    <p:anim calcmode="lin" valueType="num">
                                      <p:cBhvr additive="base">
                                        <p:cTn id="37" dur="500" fill="hold"/>
                                        <p:tgtEl>
                                          <p:spTgt spid="194867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94867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948675">
                                            <p:txEl>
                                              <p:pRg st="6" end="6"/>
                                            </p:txEl>
                                          </p:spTgt>
                                        </p:tgtEl>
                                        <p:attrNameLst>
                                          <p:attrName>style.visibility</p:attrName>
                                        </p:attrNameLst>
                                      </p:cBhvr>
                                      <p:to>
                                        <p:strVal val="visible"/>
                                      </p:to>
                                    </p:set>
                                    <p:anim calcmode="lin" valueType="num">
                                      <p:cBhvr additive="base">
                                        <p:cTn id="43" dur="500" fill="hold"/>
                                        <p:tgtEl>
                                          <p:spTgt spid="194867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94867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948675">
                                            <p:txEl>
                                              <p:pRg st="7" end="7"/>
                                            </p:txEl>
                                          </p:spTgt>
                                        </p:tgtEl>
                                        <p:attrNameLst>
                                          <p:attrName>style.visibility</p:attrName>
                                        </p:attrNameLst>
                                      </p:cBhvr>
                                      <p:to>
                                        <p:strVal val="visible"/>
                                      </p:to>
                                    </p:set>
                                    <p:anim calcmode="lin" valueType="num">
                                      <p:cBhvr additive="base">
                                        <p:cTn id="49" dur="500" fill="hold"/>
                                        <p:tgtEl>
                                          <p:spTgt spid="1948675">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94867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948675">
                                            <p:txEl>
                                              <p:pRg st="8" end="8"/>
                                            </p:txEl>
                                          </p:spTgt>
                                        </p:tgtEl>
                                        <p:attrNameLst>
                                          <p:attrName>style.visibility</p:attrName>
                                        </p:attrNameLst>
                                      </p:cBhvr>
                                      <p:to>
                                        <p:strVal val="visible"/>
                                      </p:to>
                                    </p:set>
                                    <p:anim calcmode="lin" valueType="num">
                                      <p:cBhvr additive="base">
                                        <p:cTn id="55" dur="500" fill="hold"/>
                                        <p:tgtEl>
                                          <p:spTgt spid="1948675">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94867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948675">
                                            <p:txEl>
                                              <p:pRg st="9" end="9"/>
                                            </p:txEl>
                                          </p:spTgt>
                                        </p:tgtEl>
                                        <p:attrNameLst>
                                          <p:attrName>style.visibility</p:attrName>
                                        </p:attrNameLst>
                                      </p:cBhvr>
                                      <p:to>
                                        <p:strVal val="visible"/>
                                      </p:to>
                                    </p:set>
                                    <p:anim calcmode="lin" valueType="num">
                                      <p:cBhvr additive="base">
                                        <p:cTn id="61" dur="500" fill="hold"/>
                                        <p:tgtEl>
                                          <p:spTgt spid="1948675">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94867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948675">
                                            <p:txEl>
                                              <p:pRg st="10" end="10"/>
                                            </p:txEl>
                                          </p:spTgt>
                                        </p:tgtEl>
                                        <p:attrNameLst>
                                          <p:attrName>style.visibility</p:attrName>
                                        </p:attrNameLst>
                                      </p:cBhvr>
                                      <p:to>
                                        <p:strVal val="visible"/>
                                      </p:to>
                                    </p:set>
                                    <p:anim calcmode="lin" valueType="num">
                                      <p:cBhvr additive="base">
                                        <p:cTn id="67" dur="500" fill="hold"/>
                                        <p:tgtEl>
                                          <p:spTgt spid="1948675">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948675">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948675">
                                            <p:txEl>
                                              <p:pRg st="11" end="11"/>
                                            </p:txEl>
                                          </p:spTgt>
                                        </p:tgtEl>
                                        <p:attrNameLst>
                                          <p:attrName>style.visibility</p:attrName>
                                        </p:attrNameLst>
                                      </p:cBhvr>
                                      <p:to>
                                        <p:strVal val="visible"/>
                                      </p:to>
                                    </p:set>
                                    <p:anim calcmode="lin" valueType="num">
                                      <p:cBhvr additive="base">
                                        <p:cTn id="73" dur="500" fill="hold"/>
                                        <p:tgtEl>
                                          <p:spTgt spid="1948675">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948675">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675"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body" idx="1"/>
          </p:nvPr>
        </p:nvSpPr>
        <p:spPr bwMode="auto">
          <a:xfrm>
            <a:off x="2540001" y="1287463"/>
            <a:ext cx="7446963"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2500" lnSpcReduction="10000"/>
          </a:bodyPr>
          <a:lstStyle/>
          <a:p>
            <a:pPr eaLnBrk="1" hangingPunct="1">
              <a:lnSpc>
                <a:spcPct val="90000"/>
              </a:lnSpc>
              <a:buFont typeface="Wingdings" panose="05000000000000000000" pitchFamily="2" charset="2"/>
              <a:buNone/>
            </a:pPr>
            <a:r>
              <a:rPr lang="zh-CN" altLang="en-US" sz="2400">
                <a:latin typeface="Courier New" panose="02070309020205020404" pitchFamily="49" charset="0"/>
              </a:rPr>
              <a:t>查找报文的目的 </a:t>
            </a:r>
            <a:r>
              <a:rPr lang="en-US" altLang="zh-CN" sz="2400" i="1">
                <a:solidFill>
                  <a:schemeClr val="folHlink"/>
                </a:solidFill>
                <a:latin typeface="Courier New" panose="02070309020205020404" pitchFamily="49" charset="0"/>
              </a:rPr>
              <a:t>network_num</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 </a:t>
            </a:r>
            <a:r>
              <a:rPr lang="zh-CN" altLang="en-US" sz="2400">
                <a:latin typeface="Courier New" panose="02070309020205020404" pitchFamily="49" charset="0"/>
              </a:rPr>
              <a:t>本路由器的接口之一</a:t>
            </a:r>
            <a:r>
              <a:rPr lang="en-US" altLang="zh-CN" sz="2400">
                <a:latin typeface="Courier New" panose="02070309020205020404" pitchFamily="49" charset="0"/>
              </a:rPr>
              <a:t>)</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then</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通过此接口传送到目的站</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else</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a:t>
            </a:r>
            <a:r>
              <a:rPr lang="zh-CN" altLang="en-US" sz="2400">
                <a:latin typeface="Courier New" panose="02070309020205020404" pitchFamily="49" charset="0"/>
              </a:rPr>
              <a:t>在本地转发表中</a:t>
            </a:r>
            <a:r>
              <a:rPr lang="en-US" altLang="zh-CN" sz="2400">
                <a:latin typeface="Courier New" panose="02070309020205020404" pitchFamily="49" charset="0"/>
              </a:rPr>
              <a:t>)</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then</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传送到下一个路由器</a:t>
            </a:r>
          </a:p>
          <a:p>
            <a:pPr eaLnBrk="1" hangingPunct="1">
              <a:lnSpc>
                <a:spcPct val="90000"/>
              </a:lnSpc>
              <a:buFont typeface="Wingdings" panose="05000000000000000000" pitchFamily="2" charset="2"/>
              <a:buNone/>
            </a:pPr>
            <a:r>
              <a:rPr lang="zh-CN" altLang="en-US" sz="2400">
                <a:latin typeface="Courier New" panose="02070309020205020404" pitchFamily="49" charset="0"/>
              </a:rPr>
              <a:t>	</a:t>
            </a:r>
            <a:r>
              <a:rPr lang="en-US" altLang="zh-CN" sz="2400" b="1">
                <a:latin typeface="Courier New" panose="02070309020205020404" pitchFamily="49" charset="0"/>
              </a:rPr>
              <a:t>else</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传送到默认路由器</a:t>
            </a:r>
          </a:p>
        </p:txBody>
      </p:sp>
      <p:sp>
        <p:nvSpPr>
          <p:cNvPr id="18435" name="Rectangle 1027"/>
          <p:cNvSpPr>
            <a:spLocks noGrp="1" noChangeArrowheads="1"/>
          </p:cNvSpPr>
          <p:nvPr>
            <p:ph type="title"/>
          </p:nvPr>
        </p:nvSpPr>
        <p:spPr bwMode="auto">
          <a:xfrm>
            <a:off x="2324100"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路由器的分组转发</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42" name="Rectangle 4098"/>
          <p:cNvSpPr>
            <a:spLocks noGrp="1" noChangeArrowheads="1"/>
          </p:cNvSpPr>
          <p:nvPr>
            <p:ph type="body" idx="1"/>
          </p:nvPr>
        </p:nvSpPr>
        <p:spPr bwMode="auto">
          <a:xfrm>
            <a:off x="2665413" y="1268414"/>
            <a:ext cx="7258050" cy="35782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spcBef>
                <a:spcPct val="40000"/>
              </a:spcBef>
            </a:pPr>
            <a:r>
              <a:rPr lang="zh-CN" altLang="en-US"/>
              <a:t>路由器的功能</a:t>
            </a:r>
          </a:p>
          <a:p>
            <a:pPr lvl="1" eaLnBrk="1" hangingPunct="1">
              <a:lnSpc>
                <a:spcPct val="90000"/>
              </a:lnSpc>
              <a:spcBef>
                <a:spcPct val="40000"/>
              </a:spcBef>
            </a:pPr>
            <a:r>
              <a:rPr lang="zh-CN" altLang="en-US"/>
              <a:t>利用</a:t>
            </a:r>
            <a:r>
              <a:rPr lang="zh-CN" altLang="en-US">
                <a:latin typeface="Times New Roman" panose="02020603050405020304" pitchFamily="18" charset="0"/>
              </a:rPr>
              <a:t>“</a:t>
            </a:r>
            <a:r>
              <a:rPr lang="zh-CN" altLang="en-US"/>
              <a:t>最佳路径</a:t>
            </a:r>
            <a:r>
              <a:rPr lang="zh-CN" altLang="en-US">
                <a:latin typeface="Times New Roman" panose="02020603050405020304" pitchFamily="18" charset="0"/>
              </a:rPr>
              <a:t>”</a:t>
            </a:r>
            <a:r>
              <a:rPr lang="zh-CN" altLang="en-US"/>
              <a:t>将分组从一个网络转发到另一个网络</a:t>
            </a:r>
            <a:r>
              <a:rPr lang="zh-CN" altLang="en-US">
                <a:solidFill>
                  <a:schemeClr val="folHlink"/>
                </a:solidFill>
              </a:rPr>
              <a:t>   </a:t>
            </a:r>
            <a:r>
              <a:rPr lang="en-US" altLang="zh-CN">
                <a:solidFill>
                  <a:schemeClr val="folHlink"/>
                </a:solidFill>
              </a:rPr>
              <a:t>(IP Forwarding)</a:t>
            </a:r>
          </a:p>
          <a:p>
            <a:pPr lvl="1" eaLnBrk="1" hangingPunct="1">
              <a:lnSpc>
                <a:spcPct val="90000"/>
              </a:lnSpc>
              <a:spcBef>
                <a:spcPct val="40000"/>
              </a:spcBef>
            </a:pPr>
            <a:r>
              <a:rPr lang="zh-CN" altLang="en-US"/>
              <a:t>与其它路由器进行路由信息（各网络的位置、可达性等）交换</a:t>
            </a:r>
            <a:r>
              <a:rPr lang="en-US" altLang="zh-CN"/>
              <a:t>.</a:t>
            </a:r>
            <a:r>
              <a:rPr lang="en-US" altLang="zh-CN" i="1" u="sng">
                <a:solidFill>
                  <a:schemeClr val="accent2"/>
                </a:solidFill>
              </a:rPr>
              <a:t>(</a:t>
            </a:r>
            <a:r>
              <a:rPr lang="zh-CN" altLang="en-US" i="1" u="sng">
                <a:solidFill>
                  <a:schemeClr val="accent2"/>
                </a:solidFill>
              </a:rPr>
              <a:t>路由算法</a:t>
            </a:r>
            <a:r>
              <a:rPr lang="en-US" altLang="zh-CN" i="1" u="sng">
                <a:solidFill>
                  <a:schemeClr val="accent2"/>
                </a:solidFill>
              </a:rPr>
              <a:t>)</a:t>
            </a:r>
          </a:p>
          <a:p>
            <a:pPr lvl="1" eaLnBrk="1" hangingPunct="1">
              <a:lnSpc>
                <a:spcPct val="90000"/>
              </a:lnSpc>
              <a:spcBef>
                <a:spcPct val="40000"/>
              </a:spcBef>
            </a:pPr>
            <a:r>
              <a:rPr lang="zh-CN" altLang="en-US"/>
              <a:t>信息交换由特定协议来完成</a:t>
            </a:r>
            <a:r>
              <a:rPr lang="zh-CN" altLang="en-US" i="1" u="sng">
                <a:solidFill>
                  <a:schemeClr val="accent2"/>
                </a:solidFill>
              </a:rPr>
              <a:t>（路由协议）</a:t>
            </a:r>
          </a:p>
          <a:p>
            <a:pPr lvl="1" eaLnBrk="1" hangingPunct="1">
              <a:lnSpc>
                <a:spcPct val="90000"/>
              </a:lnSpc>
              <a:spcBef>
                <a:spcPct val="40000"/>
              </a:spcBef>
            </a:pPr>
            <a:r>
              <a:rPr lang="zh-CN" altLang="en-US"/>
              <a:t>了解了网络结构信息以后</a:t>
            </a:r>
            <a:r>
              <a:rPr lang="en-US" altLang="zh-CN"/>
              <a:t>,</a:t>
            </a:r>
            <a:r>
              <a:rPr lang="zh-CN" altLang="en-US"/>
              <a:t>路由一般采用最佳路径计算</a:t>
            </a:r>
            <a:r>
              <a:rPr lang="zh-CN" altLang="en-US" i="1" u="sng">
                <a:solidFill>
                  <a:schemeClr val="accent2"/>
                </a:solidFill>
              </a:rPr>
              <a:t>（最短路径算法）</a:t>
            </a:r>
          </a:p>
        </p:txBody>
      </p:sp>
      <p:sp>
        <p:nvSpPr>
          <p:cNvPr id="19459" name="Rectangle 4099"/>
          <p:cNvSpPr>
            <a:spLocks noGrp="1" noChangeArrowheads="1"/>
          </p:cNvSpPr>
          <p:nvPr>
            <p:ph type="title"/>
          </p:nvPr>
        </p:nvSpPr>
        <p:spPr bwMode="auto">
          <a:xfrm>
            <a:off x="2665414" y="338138"/>
            <a:ext cx="69929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路由器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5584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5584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95584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5584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558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42"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2951164" y="338138"/>
            <a:ext cx="6288087" cy="722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4.3.2 </a:t>
            </a:r>
            <a:r>
              <a:rPr lang="zh-CN" altLang="en-US" sz="3600" b="1">
                <a:latin typeface="新宋体" panose="02010609030101010101" pitchFamily="49" charset="-122"/>
                <a:ea typeface="新宋体" panose="02010609030101010101" pitchFamily="49" charset="-122"/>
              </a:rPr>
              <a:t>路由策略</a:t>
            </a:r>
          </a:p>
        </p:txBody>
      </p:sp>
      <p:sp>
        <p:nvSpPr>
          <p:cNvPr id="21507" name="Text Box 3"/>
          <p:cNvSpPr txBox="1">
            <a:spLocks noChangeArrowheads="1"/>
          </p:cNvSpPr>
          <p:nvPr/>
        </p:nvSpPr>
        <p:spPr bwMode="auto">
          <a:xfrm>
            <a:off x="3784601" y="1530350"/>
            <a:ext cx="5561013" cy="320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88950" indent="-488950">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固定</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泛洪法</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随机</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自适应</a:t>
            </a:r>
          </a:p>
        </p:txBody>
      </p:sp>
    </p:spTree>
  </p:cSld>
  <p:clrMapOvr>
    <a:masterClrMapping/>
  </p:clrMapOvr>
  <p:transition spd="med">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3889375" y="363538"/>
            <a:ext cx="4706938" cy="747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固定路由</a:t>
            </a:r>
          </a:p>
        </p:txBody>
      </p:sp>
      <p:sp>
        <p:nvSpPr>
          <p:cNvPr id="1786883" name="Text Box 3"/>
          <p:cNvSpPr txBox="1">
            <a:spLocks noChangeArrowheads="1"/>
          </p:cNvSpPr>
          <p:nvPr/>
        </p:nvSpPr>
        <p:spPr bwMode="auto">
          <a:xfrm>
            <a:off x="3106739" y="1858964"/>
            <a:ext cx="6599237"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每个源</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目的对只有一个永久路由</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根据最小代价算法来决定路由</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路由相对固定</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除非网络拓扑改变</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86883">
                                            <p:txEl>
                                              <p:pRg st="0" end="0"/>
                                            </p:txEl>
                                          </p:spTgt>
                                        </p:tgtEl>
                                        <p:attrNameLst>
                                          <p:attrName>style.visibility</p:attrName>
                                        </p:attrNameLst>
                                      </p:cBhvr>
                                      <p:to>
                                        <p:strVal val="visible"/>
                                      </p:to>
                                    </p:set>
                                    <p:anim calcmode="lin" valueType="num">
                                      <p:cBhvr additive="base">
                                        <p:cTn id="7" dur="500" fill="hold"/>
                                        <p:tgtEl>
                                          <p:spTgt spid="17868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86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86883">
                                            <p:txEl>
                                              <p:pRg st="1" end="1"/>
                                            </p:txEl>
                                          </p:spTgt>
                                        </p:tgtEl>
                                        <p:attrNameLst>
                                          <p:attrName>style.visibility</p:attrName>
                                        </p:attrNameLst>
                                      </p:cBhvr>
                                      <p:to>
                                        <p:strVal val="visible"/>
                                      </p:to>
                                    </p:set>
                                    <p:anim calcmode="lin" valueType="num">
                                      <p:cBhvr additive="base">
                                        <p:cTn id="13" dur="500" fill="hold"/>
                                        <p:tgtEl>
                                          <p:spTgt spid="17868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86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86883">
                                            <p:txEl>
                                              <p:pRg st="2" end="2"/>
                                            </p:txEl>
                                          </p:spTgt>
                                        </p:tgtEl>
                                        <p:attrNameLst>
                                          <p:attrName>style.visibility</p:attrName>
                                        </p:attrNameLst>
                                      </p:cBhvr>
                                      <p:to>
                                        <p:strVal val="visible"/>
                                      </p:to>
                                    </p:set>
                                    <p:anim calcmode="lin" valueType="num">
                                      <p:cBhvr additive="base">
                                        <p:cTn id="19" dur="500" fill="hold"/>
                                        <p:tgtEl>
                                          <p:spTgt spid="17868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868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6883"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bwMode="auto">
          <a:xfrm>
            <a:off x="4162426" y="387350"/>
            <a:ext cx="4386263" cy="62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泛洪法</a:t>
            </a:r>
          </a:p>
        </p:txBody>
      </p:sp>
      <p:sp>
        <p:nvSpPr>
          <p:cNvPr id="1788931" name="Text Box 1027"/>
          <p:cNvSpPr txBox="1">
            <a:spLocks noChangeArrowheads="1"/>
          </p:cNvSpPr>
          <p:nvPr/>
        </p:nvSpPr>
        <p:spPr bwMode="auto">
          <a:xfrm>
            <a:off x="2489200" y="1436688"/>
            <a:ext cx="748665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不须知道网络的信息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节点向自己的所有邻接节点发送分组</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进入的报文重传给除了该进入链接以外的每一个连接</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最终很多的副本会到达目的站</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每个报文有一个编号，副本被丢掉</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节点能记住所有已转发的分组以避免报文来回传送</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分组里包括了跳数</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报文的生存期</a:t>
            </a:r>
            <a:r>
              <a:rPr lang="en-US" altLang="zh-CN">
                <a:solidFill>
                  <a:schemeClr val="tx1"/>
                </a:solidFill>
                <a:latin typeface="Arial" panose="020B0604020202020204" pitchFamily="34" charset="0"/>
              </a:rPr>
              <a:t>)</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88931">
                                            <p:txEl>
                                              <p:pRg st="0" end="0"/>
                                            </p:txEl>
                                          </p:spTgt>
                                        </p:tgtEl>
                                        <p:attrNameLst>
                                          <p:attrName>style.visibility</p:attrName>
                                        </p:attrNameLst>
                                      </p:cBhvr>
                                      <p:to>
                                        <p:strVal val="visible"/>
                                      </p:to>
                                    </p:set>
                                    <p:anim calcmode="lin" valueType="num">
                                      <p:cBhvr additive="base">
                                        <p:cTn id="7" dur="500" fill="hold"/>
                                        <p:tgtEl>
                                          <p:spTgt spid="17889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88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88931">
                                            <p:txEl>
                                              <p:pRg st="1" end="1"/>
                                            </p:txEl>
                                          </p:spTgt>
                                        </p:tgtEl>
                                        <p:attrNameLst>
                                          <p:attrName>style.visibility</p:attrName>
                                        </p:attrNameLst>
                                      </p:cBhvr>
                                      <p:to>
                                        <p:strVal val="visible"/>
                                      </p:to>
                                    </p:set>
                                    <p:anim calcmode="lin" valueType="num">
                                      <p:cBhvr additive="base">
                                        <p:cTn id="13" dur="500" fill="hold"/>
                                        <p:tgtEl>
                                          <p:spTgt spid="17889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889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88931">
                                            <p:txEl>
                                              <p:pRg st="2" end="2"/>
                                            </p:txEl>
                                          </p:spTgt>
                                        </p:tgtEl>
                                        <p:attrNameLst>
                                          <p:attrName>style.visibility</p:attrName>
                                        </p:attrNameLst>
                                      </p:cBhvr>
                                      <p:to>
                                        <p:strVal val="visible"/>
                                      </p:to>
                                    </p:set>
                                    <p:anim calcmode="lin" valueType="num">
                                      <p:cBhvr additive="base">
                                        <p:cTn id="19" dur="500" fill="hold"/>
                                        <p:tgtEl>
                                          <p:spTgt spid="178893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889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88931">
                                            <p:txEl>
                                              <p:pRg st="3" end="3"/>
                                            </p:txEl>
                                          </p:spTgt>
                                        </p:tgtEl>
                                        <p:attrNameLst>
                                          <p:attrName>style.visibility</p:attrName>
                                        </p:attrNameLst>
                                      </p:cBhvr>
                                      <p:to>
                                        <p:strVal val="visible"/>
                                      </p:to>
                                    </p:set>
                                    <p:anim calcmode="lin" valueType="num">
                                      <p:cBhvr additive="base">
                                        <p:cTn id="25" dur="500" fill="hold"/>
                                        <p:tgtEl>
                                          <p:spTgt spid="178893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889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88931">
                                            <p:txEl>
                                              <p:pRg st="4" end="4"/>
                                            </p:txEl>
                                          </p:spTgt>
                                        </p:tgtEl>
                                        <p:attrNameLst>
                                          <p:attrName>style.visibility</p:attrName>
                                        </p:attrNameLst>
                                      </p:cBhvr>
                                      <p:to>
                                        <p:strVal val="visible"/>
                                      </p:to>
                                    </p:set>
                                    <p:anim calcmode="lin" valueType="num">
                                      <p:cBhvr additive="base">
                                        <p:cTn id="31" dur="500" fill="hold"/>
                                        <p:tgtEl>
                                          <p:spTgt spid="178893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889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88931">
                                            <p:txEl>
                                              <p:pRg st="5" end="5"/>
                                            </p:txEl>
                                          </p:spTgt>
                                        </p:tgtEl>
                                        <p:attrNameLst>
                                          <p:attrName>style.visibility</p:attrName>
                                        </p:attrNameLst>
                                      </p:cBhvr>
                                      <p:to>
                                        <p:strVal val="visible"/>
                                      </p:to>
                                    </p:set>
                                    <p:anim calcmode="lin" valueType="num">
                                      <p:cBhvr additive="base">
                                        <p:cTn id="37" dur="500" fill="hold"/>
                                        <p:tgtEl>
                                          <p:spTgt spid="178893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889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88931">
                                            <p:txEl>
                                              <p:pRg st="6" end="6"/>
                                            </p:txEl>
                                          </p:spTgt>
                                        </p:tgtEl>
                                        <p:attrNameLst>
                                          <p:attrName>style.visibility</p:attrName>
                                        </p:attrNameLst>
                                      </p:cBhvr>
                                      <p:to>
                                        <p:strVal val="visible"/>
                                      </p:to>
                                    </p:set>
                                    <p:anim calcmode="lin" valueType="num">
                                      <p:cBhvr additive="base">
                                        <p:cTn id="43" dur="500" fill="hold"/>
                                        <p:tgtEl>
                                          <p:spTgt spid="1788931">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8893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8931" grpId="0" build="p"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ChangeAspect="1" noChangeArrowheads="1"/>
          </p:cNvPicPr>
          <p:nvPr/>
        </p:nvPicPr>
        <p:blipFill>
          <a:blip r:embed="rId2">
            <a:extLst>
              <a:ext uri="{28A0092B-C50C-407E-A947-70E740481C1C}">
                <a14:useLocalDpi xmlns:a14="http://schemas.microsoft.com/office/drawing/2010/main" val="0"/>
              </a:ext>
            </a:extLst>
          </a:blip>
          <a:srcRect b="8160"/>
          <a:stretch>
            <a:fillRect/>
          </a:stretch>
        </p:blipFill>
        <p:spPr bwMode="auto">
          <a:xfrm>
            <a:off x="5865814" y="0"/>
            <a:ext cx="48021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 Box 4"/>
          <p:cNvSpPr txBox="1">
            <a:spLocks noChangeArrowheads="1"/>
          </p:cNvSpPr>
          <p:nvPr/>
        </p:nvSpPr>
        <p:spPr bwMode="auto">
          <a:xfrm>
            <a:off x="2265364" y="3756025"/>
            <a:ext cx="31638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zh-CN" altLang="en-US" sz="4400">
                <a:solidFill>
                  <a:schemeClr val="tx2"/>
                </a:solidFill>
                <a:latin typeface="Tahoma" panose="020B0604030504040204" pitchFamily="34" charset="0"/>
              </a:rPr>
              <a:t>泛洪法例子</a:t>
            </a:r>
          </a:p>
        </p:txBody>
      </p:sp>
    </p:spTree>
  </p:cSld>
  <p:clrMapOvr>
    <a:masterClrMapping/>
  </p:clrMapOvr>
  <p:transition spd="med">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title"/>
          </p:nvPr>
        </p:nvSpPr>
        <p:spPr bwMode="auto">
          <a:xfrm>
            <a:off x="2211388" y="3683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泛洪法的性质</a:t>
            </a:r>
          </a:p>
        </p:txBody>
      </p:sp>
      <p:sp>
        <p:nvSpPr>
          <p:cNvPr id="1793027" name="Text Box 1027"/>
          <p:cNvSpPr txBox="1">
            <a:spLocks noChangeArrowheads="1"/>
          </p:cNvSpPr>
          <p:nvPr/>
        </p:nvSpPr>
        <p:spPr bwMode="auto">
          <a:xfrm>
            <a:off x="2927350" y="1320800"/>
            <a:ext cx="6838950" cy="333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尝试所有的路由</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很健壮</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至少一个报文以最短路径到达</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可以用来建立虚电路</a:t>
            </a:r>
            <a:endParaRPr lang="en-US" altLang="zh-CN" sz="2400">
              <a:solidFill>
                <a:schemeClr val="tx1"/>
              </a:solidFill>
              <a:latin typeface="Arial" panose="020B0604020202020204" pitchFamily="34" charset="0"/>
            </a:endParaRP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作为路由算法的评价标准</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访问所有节点</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对分发信息很有用 </a:t>
            </a:r>
            <a:r>
              <a:rPr lang="en-US" altLang="zh-CN" sz="2400">
                <a:solidFill>
                  <a:schemeClr val="tx1"/>
                </a:solidFill>
                <a:latin typeface="Arial" panose="020B0604020202020204" pitchFamily="34" charset="0"/>
              </a:rPr>
              <a:t>(e.g. routing</a:t>
            </a:r>
            <a:r>
              <a:rPr lang="zh-CN" altLang="en-US" sz="2400">
                <a:solidFill>
                  <a:schemeClr val="tx1"/>
                </a:solidFill>
                <a:latin typeface="Arial" panose="020B0604020202020204" pitchFamily="34" charset="0"/>
              </a:rPr>
              <a:t>信息</a:t>
            </a:r>
            <a:r>
              <a:rPr lang="en-US" altLang="zh-CN" sz="2400">
                <a:solidFill>
                  <a:schemeClr val="tx1"/>
                </a:solidFill>
                <a:latin typeface="Arial" panose="020B0604020202020204" pitchFamily="34" charset="0"/>
              </a:rPr>
              <a:t>)</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3027">
                                            <p:txEl>
                                              <p:pRg st="0" end="0"/>
                                            </p:txEl>
                                          </p:spTgt>
                                        </p:tgtEl>
                                        <p:attrNameLst>
                                          <p:attrName>style.visibility</p:attrName>
                                        </p:attrNameLst>
                                      </p:cBhvr>
                                      <p:to>
                                        <p:strVal val="visible"/>
                                      </p:to>
                                    </p:set>
                                    <p:anim calcmode="lin" valueType="num">
                                      <p:cBhvr additive="base">
                                        <p:cTn id="7" dur="500" fill="hold"/>
                                        <p:tgtEl>
                                          <p:spTgt spid="17930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30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93027">
                                            <p:txEl>
                                              <p:pRg st="1" end="1"/>
                                            </p:txEl>
                                          </p:spTgt>
                                        </p:tgtEl>
                                        <p:attrNameLst>
                                          <p:attrName>style.visibility</p:attrName>
                                        </p:attrNameLst>
                                      </p:cBhvr>
                                      <p:to>
                                        <p:strVal val="visible"/>
                                      </p:to>
                                    </p:set>
                                    <p:anim calcmode="lin" valueType="num">
                                      <p:cBhvr additive="base">
                                        <p:cTn id="11" dur="500" fill="hold"/>
                                        <p:tgtEl>
                                          <p:spTgt spid="179302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93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793027">
                                            <p:txEl>
                                              <p:pRg st="2" end="2"/>
                                            </p:txEl>
                                          </p:spTgt>
                                        </p:tgtEl>
                                        <p:attrNameLst>
                                          <p:attrName>style.visibility</p:attrName>
                                        </p:attrNameLst>
                                      </p:cBhvr>
                                      <p:to>
                                        <p:strVal val="visible"/>
                                      </p:to>
                                    </p:set>
                                    <p:anim calcmode="lin" valueType="num">
                                      <p:cBhvr additive="base">
                                        <p:cTn id="17" dur="500" fill="hold"/>
                                        <p:tgtEl>
                                          <p:spTgt spid="179302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79302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793027">
                                            <p:txEl>
                                              <p:pRg st="3" end="3"/>
                                            </p:txEl>
                                          </p:spTgt>
                                        </p:tgtEl>
                                        <p:attrNameLst>
                                          <p:attrName>style.visibility</p:attrName>
                                        </p:attrNameLst>
                                      </p:cBhvr>
                                      <p:to>
                                        <p:strVal val="visible"/>
                                      </p:to>
                                    </p:set>
                                    <p:anim calcmode="lin" valueType="num">
                                      <p:cBhvr additive="base">
                                        <p:cTn id="21" dur="500" fill="hold"/>
                                        <p:tgtEl>
                                          <p:spTgt spid="179302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79302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793027">
                                            <p:txEl>
                                              <p:pRg st="4" end="4"/>
                                            </p:txEl>
                                          </p:spTgt>
                                        </p:tgtEl>
                                        <p:attrNameLst>
                                          <p:attrName>style.visibility</p:attrName>
                                        </p:attrNameLst>
                                      </p:cBhvr>
                                      <p:to>
                                        <p:strVal val="visible"/>
                                      </p:to>
                                    </p:set>
                                    <p:anim calcmode="lin" valueType="num">
                                      <p:cBhvr additive="base">
                                        <p:cTn id="25" dur="500" fill="hold"/>
                                        <p:tgtEl>
                                          <p:spTgt spid="179302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30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93027">
                                            <p:txEl>
                                              <p:pRg st="5" end="5"/>
                                            </p:txEl>
                                          </p:spTgt>
                                        </p:tgtEl>
                                        <p:attrNameLst>
                                          <p:attrName>style.visibility</p:attrName>
                                        </p:attrNameLst>
                                      </p:cBhvr>
                                      <p:to>
                                        <p:strVal val="visible"/>
                                      </p:to>
                                    </p:set>
                                    <p:anim calcmode="lin" valueType="num">
                                      <p:cBhvr additive="base">
                                        <p:cTn id="31" dur="500" fill="hold"/>
                                        <p:tgtEl>
                                          <p:spTgt spid="179302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302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793027">
                                            <p:txEl>
                                              <p:pRg st="6" end="6"/>
                                            </p:txEl>
                                          </p:spTgt>
                                        </p:tgtEl>
                                        <p:attrNameLst>
                                          <p:attrName>style.visibility</p:attrName>
                                        </p:attrNameLst>
                                      </p:cBhvr>
                                      <p:to>
                                        <p:strVal val="visible"/>
                                      </p:to>
                                    </p:set>
                                    <p:anim calcmode="lin" valueType="num">
                                      <p:cBhvr additive="base">
                                        <p:cTn id="35" dur="500" fill="hold"/>
                                        <p:tgtEl>
                                          <p:spTgt spid="179302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79302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3027"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bwMode="auto">
          <a:xfrm>
            <a:off x="3838576" y="273051"/>
            <a:ext cx="4659313" cy="747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随机路由</a:t>
            </a:r>
          </a:p>
        </p:txBody>
      </p:sp>
      <p:sp>
        <p:nvSpPr>
          <p:cNvPr id="1794051" name="Text Box 1027"/>
          <p:cNvSpPr txBox="1">
            <a:spLocks noChangeArrowheads="1"/>
          </p:cNvSpPr>
          <p:nvPr/>
        </p:nvSpPr>
        <p:spPr bwMode="auto">
          <a:xfrm>
            <a:off x="2700339" y="1295400"/>
            <a:ext cx="713898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节点为到来的报文选择一条重传路径</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选择可以是随机的或均等的</a:t>
            </a:r>
          </a:p>
          <a:p>
            <a:pPr eaLnBrk="1" hangingPunct="1">
              <a:lnSpc>
                <a:spcPct val="90000"/>
              </a:lnSpc>
              <a:spcBef>
                <a:spcPct val="20000"/>
              </a:spcBef>
              <a:buClr>
                <a:schemeClr val="tx1"/>
              </a:buClr>
              <a:buSzPct val="75000"/>
              <a:buFont typeface="Wingdings" panose="05000000000000000000" pitchFamily="2" charset="2"/>
              <a:buChar char="l"/>
            </a:pP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对于多条出线</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可以基于概率计算来随机选择一条输出线</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不需要知道关于网络的信息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所选中的路由通常既不是最低代价也不是最小跳段</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4051">
                                            <p:txEl>
                                              <p:pRg st="0" end="0"/>
                                            </p:txEl>
                                          </p:spTgt>
                                        </p:tgtEl>
                                        <p:attrNameLst>
                                          <p:attrName>style.visibility</p:attrName>
                                        </p:attrNameLst>
                                      </p:cBhvr>
                                      <p:to>
                                        <p:strVal val="visible"/>
                                      </p:to>
                                    </p:set>
                                    <p:anim calcmode="lin" valueType="num">
                                      <p:cBhvr additive="base">
                                        <p:cTn id="7" dur="500" fill="hold"/>
                                        <p:tgtEl>
                                          <p:spTgt spid="1794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40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94051">
                                            <p:txEl>
                                              <p:pRg st="1" end="1"/>
                                            </p:txEl>
                                          </p:spTgt>
                                        </p:tgtEl>
                                        <p:attrNameLst>
                                          <p:attrName>style.visibility</p:attrName>
                                        </p:attrNameLst>
                                      </p:cBhvr>
                                      <p:to>
                                        <p:strVal val="visible"/>
                                      </p:to>
                                    </p:set>
                                    <p:anim calcmode="lin" valueType="num">
                                      <p:cBhvr additive="base">
                                        <p:cTn id="13" dur="500" fill="hold"/>
                                        <p:tgtEl>
                                          <p:spTgt spid="17940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940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94051">
                                            <p:txEl>
                                              <p:pRg st="2" end="2"/>
                                            </p:txEl>
                                          </p:spTgt>
                                        </p:tgtEl>
                                        <p:attrNameLst>
                                          <p:attrName>style.visibility</p:attrName>
                                        </p:attrNameLst>
                                      </p:cBhvr>
                                      <p:to>
                                        <p:strVal val="visible"/>
                                      </p:to>
                                    </p:set>
                                    <p:anim calcmode="lin" valueType="num">
                                      <p:cBhvr additive="base">
                                        <p:cTn id="19" dur="500" fill="hold"/>
                                        <p:tgtEl>
                                          <p:spTgt spid="179405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940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94051">
                                            <p:txEl>
                                              <p:pRg st="3" end="3"/>
                                            </p:txEl>
                                          </p:spTgt>
                                        </p:tgtEl>
                                        <p:attrNameLst>
                                          <p:attrName>style.visibility</p:attrName>
                                        </p:attrNameLst>
                                      </p:cBhvr>
                                      <p:to>
                                        <p:strVal val="visible"/>
                                      </p:to>
                                    </p:set>
                                    <p:anim calcmode="lin" valueType="num">
                                      <p:cBhvr additive="base">
                                        <p:cTn id="25" dur="500" fill="hold"/>
                                        <p:tgtEl>
                                          <p:spTgt spid="179405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4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94051">
                                            <p:txEl>
                                              <p:pRg st="4" end="4"/>
                                            </p:txEl>
                                          </p:spTgt>
                                        </p:tgtEl>
                                        <p:attrNameLst>
                                          <p:attrName>style.visibility</p:attrName>
                                        </p:attrNameLst>
                                      </p:cBhvr>
                                      <p:to>
                                        <p:strVal val="visible"/>
                                      </p:to>
                                    </p:set>
                                    <p:anim calcmode="lin" valueType="num">
                                      <p:cBhvr additive="base">
                                        <p:cTn id="31" dur="500" fill="hold"/>
                                        <p:tgtEl>
                                          <p:spTgt spid="179405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40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4051"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bwMode="auto">
          <a:xfrm>
            <a:off x="3963989" y="412750"/>
            <a:ext cx="5102225" cy="62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自适应路由</a:t>
            </a:r>
          </a:p>
        </p:txBody>
      </p:sp>
      <p:sp>
        <p:nvSpPr>
          <p:cNvPr id="27651" name="Text Box 1027"/>
          <p:cNvSpPr txBox="1">
            <a:spLocks noChangeArrowheads="1"/>
          </p:cNvSpPr>
          <p:nvPr/>
        </p:nvSpPr>
        <p:spPr bwMode="auto">
          <a:xfrm>
            <a:off x="2425701" y="1247776"/>
            <a:ext cx="7669213"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几乎所有的分组交换网络均使用该算法</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路由随着网络结构的改变而改变</a:t>
            </a:r>
          </a:p>
          <a:p>
            <a:pPr lvl="1" eaLnBrk="1" hangingPunct="1">
              <a:lnSpc>
                <a:spcPct val="90000"/>
              </a:lnSpc>
              <a:spcBef>
                <a:spcPct val="20000"/>
              </a:spcBef>
              <a:buClr>
                <a:schemeClr val="tx1"/>
              </a:buClr>
              <a:buSzPct val="75000"/>
              <a:buFontTx/>
              <a:buChar char="–"/>
            </a:pPr>
            <a:r>
              <a:rPr lang="zh-CN" altLang="en-US" sz="2400">
                <a:solidFill>
                  <a:schemeClr val="tx1"/>
                </a:solidFill>
                <a:latin typeface="Arial" panose="020B0604020202020204" pitchFamily="34" charset="0"/>
              </a:rPr>
              <a:t>失效</a:t>
            </a:r>
            <a:r>
              <a:rPr lang="en-US" altLang="zh-CN" sz="2400">
                <a:solidFill>
                  <a:schemeClr val="tx1"/>
                </a:solidFill>
                <a:latin typeface="Arial" panose="020B0604020202020204" pitchFamily="34" charset="0"/>
              </a:rPr>
              <a:t>(Failure)</a:t>
            </a:r>
          </a:p>
          <a:p>
            <a:pPr lvl="1" eaLnBrk="1" hangingPunct="1">
              <a:lnSpc>
                <a:spcPct val="90000"/>
              </a:lnSpc>
              <a:spcBef>
                <a:spcPct val="20000"/>
              </a:spcBef>
              <a:buClr>
                <a:schemeClr val="tx1"/>
              </a:buClr>
              <a:buSzPct val="75000"/>
              <a:buFontTx/>
              <a:buChar char="–"/>
            </a:pPr>
            <a:r>
              <a:rPr lang="zh-CN" altLang="en-US" sz="2400">
                <a:solidFill>
                  <a:schemeClr val="tx1"/>
                </a:solidFill>
                <a:latin typeface="Arial" panose="020B0604020202020204" pitchFamily="34" charset="0"/>
              </a:rPr>
              <a:t>阻塞</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需要了解网络结构信息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路由的确定更为复杂</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通常需要在路由质量和开销之间进行折衷</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自适应过于敏捷会导致振动</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反应慢一点比较恰当</a:t>
            </a:r>
            <a:endParaRPr lang="zh-CN" altLang="en-US" sz="2400">
              <a:solidFill>
                <a:schemeClr val="tx1"/>
              </a:solidFill>
              <a:latin typeface="Arial" panose="020B0604020202020204" pitchFamily="34" charset="0"/>
            </a:endParaRPr>
          </a:p>
        </p:txBody>
      </p:sp>
    </p:spTree>
  </p:cSld>
  <p:clrMapOvr>
    <a:masterClrMapping/>
  </p:clrMapOvr>
  <p:transition spd="med">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title"/>
          </p:nvPr>
        </p:nvSpPr>
        <p:spPr bwMode="auto">
          <a:xfrm>
            <a:off x="2165350" y="355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自适应路由的优点</a:t>
            </a:r>
          </a:p>
        </p:txBody>
      </p:sp>
      <p:sp>
        <p:nvSpPr>
          <p:cNvPr id="28675" name="Text Box 1027"/>
          <p:cNvSpPr txBox="1">
            <a:spLocks noChangeArrowheads="1"/>
          </p:cNvSpPr>
          <p:nvPr/>
        </p:nvSpPr>
        <p:spPr bwMode="auto">
          <a:xfrm>
            <a:off x="2808288" y="1428750"/>
            <a:ext cx="7110412"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性能更好</a:t>
            </a:r>
          </a:p>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辅助拥塞控制</a:t>
            </a:r>
          </a:p>
        </p:txBody>
      </p:sp>
    </p:spTree>
  </p:cSld>
  <p:clrMapOvr>
    <a:masterClrMapping/>
  </p:clrMapOvr>
  <p:transition spd="med">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bwMode="auto">
          <a:xfrm>
            <a:off x="3403601" y="295276"/>
            <a:ext cx="4733925" cy="7223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自适应算法信息来源</a:t>
            </a:r>
          </a:p>
        </p:txBody>
      </p:sp>
      <p:sp>
        <p:nvSpPr>
          <p:cNvPr id="1797123" name="Text Box 1027"/>
          <p:cNvSpPr txBox="1">
            <a:spLocks noChangeArrowheads="1"/>
          </p:cNvSpPr>
          <p:nvPr/>
        </p:nvSpPr>
        <p:spPr bwMode="auto">
          <a:xfrm>
            <a:off x="2436814" y="1606551"/>
            <a:ext cx="7805737" cy="343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7763" indent="-200025">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自适应的信息来源</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本地节点</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孤立的</a:t>
            </a:r>
            <a:r>
              <a:rPr lang="en-US" altLang="zh-CN">
                <a:solidFill>
                  <a:schemeClr val="tx1"/>
                </a:solidFill>
                <a:latin typeface="Arial" panose="020B0604020202020204" pitchFamily="34" charset="0"/>
              </a:rPr>
              <a:t>)</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路由到最短队列里的输出线（热土豆法）</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每个目的节点容许一定的偏离</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很少使用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没有充分利用容易获得的信息</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邻接节点</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所有的节点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7123">
                                            <p:txEl>
                                              <p:pRg st="0" end="0"/>
                                            </p:txEl>
                                          </p:spTgt>
                                        </p:tgtEl>
                                        <p:attrNameLst>
                                          <p:attrName>style.visibility</p:attrName>
                                        </p:attrNameLst>
                                      </p:cBhvr>
                                      <p:to>
                                        <p:strVal val="visible"/>
                                      </p:to>
                                    </p:set>
                                    <p:anim calcmode="lin" valueType="num">
                                      <p:cBhvr additive="base">
                                        <p:cTn id="7" dur="500" fill="hold"/>
                                        <p:tgtEl>
                                          <p:spTgt spid="17971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71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97123">
                                            <p:txEl>
                                              <p:pRg st="1" end="1"/>
                                            </p:txEl>
                                          </p:spTgt>
                                        </p:tgtEl>
                                        <p:attrNameLst>
                                          <p:attrName>style.visibility</p:attrName>
                                        </p:attrNameLst>
                                      </p:cBhvr>
                                      <p:to>
                                        <p:strVal val="visible"/>
                                      </p:to>
                                    </p:set>
                                    <p:anim calcmode="lin" valueType="num">
                                      <p:cBhvr additive="base">
                                        <p:cTn id="11" dur="500" fill="hold"/>
                                        <p:tgtEl>
                                          <p:spTgt spid="17971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9712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97123">
                                            <p:txEl>
                                              <p:pRg st="2" end="2"/>
                                            </p:txEl>
                                          </p:spTgt>
                                        </p:tgtEl>
                                        <p:attrNameLst>
                                          <p:attrName>style.visibility</p:attrName>
                                        </p:attrNameLst>
                                      </p:cBhvr>
                                      <p:to>
                                        <p:strVal val="visible"/>
                                      </p:to>
                                    </p:set>
                                    <p:anim calcmode="lin" valueType="num">
                                      <p:cBhvr additive="base">
                                        <p:cTn id="15" dur="500" fill="hold"/>
                                        <p:tgtEl>
                                          <p:spTgt spid="179712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9712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797123">
                                            <p:txEl>
                                              <p:pRg st="3" end="3"/>
                                            </p:txEl>
                                          </p:spTgt>
                                        </p:tgtEl>
                                        <p:attrNameLst>
                                          <p:attrName>style.visibility</p:attrName>
                                        </p:attrNameLst>
                                      </p:cBhvr>
                                      <p:to>
                                        <p:strVal val="visible"/>
                                      </p:to>
                                    </p:set>
                                    <p:anim calcmode="lin" valueType="num">
                                      <p:cBhvr additive="base">
                                        <p:cTn id="19" dur="500" fill="hold"/>
                                        <p:tgtEl>
                                          <p:spTgt spid="179712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9712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797123">
                                            <p:txEl>
                                              <p:pRg st="4" end="4"/>
                                            </p:txEl>
                                          </p:spTgt>
                                        </p:tgtEl>
                                        <p:attrNameLst>
                                          <p:attrName>style.visibility</p:attrName>
                                        </p:attrNameLst>
                                      </p:cBhvr>
                                      <p:to>
                                        <p:strVal val="visible"/>
                                      </p:to>
                                    </p:set>
                                    <p:anim calcmode="lin" valueType="num">
                                      <p:cBhvr additive="base">
                                        <p:cTn id="23" dur="500" fill="hold"/>
                                        <p:tgtEl>
                                          <p:spTgt spid="1797123">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97123">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97123">
                                            <p:txEl>
                                              <p:pRg st="5" end="5"/>
                                            </p:txEl>
                                          </p:spTgt>
                                        </p:tgtEl>
                                        <p:attrNameLst>
                                          <p:attrName>style.visibility</p:attrName>
                                        </p:attrNameLst>
                                      </p:cBhvr>
                                      <p:to>
                                        <p:strVal val="visible"/>
                                      </p:to>
                                    </p:set>
                                    <p:anim calcmode="lin" valueType="num">
                                      <p:cBhvr additive="base">
                                        <p:cTn id="27" dur="500" fill="hold"/>
                                        <p:tgtEl>
                                          <p:spTgt spid="1797123">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97123">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797123">
                                            <p:txEl>
                                              <p:pRg st="6" end="6"/>
                                            </p:txEl>
                                          </p:spTgt>
                                        </p:tgtEl>
                                        <p:attrNameLst>
                                          <p:attrName>style.visibility</p:attrName>
                                        </p:attrNameLst>
                                      </p:cBhvr>
                                      <p:to>
                                        <p:strVal val="visible"/>
                                      </p:to>
                                    </p:set>
                                    <p:anim calcmode="lin" valueType="num">
                                      <p:cBhvr additive="base">
                                        <p:cTn id="31" dur="500" fill="hold"/>
                                        <p:tgtEl>
                                          <p:spTgt spid="1797123">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71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7123" grpId="0" build="p"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5">
            <a:extLst>
              <a:ext uri="{FF2B5EF4-FFF2-40B4-BE49-F238E27FC236}">
                <a16:creationId xmlns:a16="http://schemas.microsoft.com/office/drawing/2014/main" id="{9BCABA7A-6ADA-463F-8454-3AD15534CC59}"/>
              </a:ext>
            </a:extLst>
          </p:cNvPr>
          <p:cNvGrpSpPr>
            <a:grpSpLocks/>
          </p:cNvGrpSpPr>
          <p:nvPr/>
        </p:nvGrpSpPr>
        <p:grpSpPr bwMode="auto">
          <a:xfrm>
            <a:off x="321468" y="1380171"/>
            <a:ext cx="4867900" cy="3048953"/>
            <a:chOff x="1775" y="922"/>
            <a:chExt cx="2771" cy="940"/>
          </a:xfrm>
        </p:grpSpPr>
        <p:grpSp>
          <p:nvGrpSpPr>
            <p:cNvPr id="6148" name="Group 6">
              <a:extLst>
                <a:ext uri="{FF2B5EF4-FFF2-40B4-BE49-F238E27FC236}">
                  <a16:creationId xmlns:a16="http://schemas.microsoft.com/office/drawing/2014/main" id="{FE361C23-D415-4A87-8DEB-208D9D2FCDA5}"/>
                </a:ext>
              </a:extLst>
            </p:cNvPr>
            <p:cNvGrpSpPr>
              <a:grpSpLocks/>
            </p:cNvGrpSpPr>
            <p:nvPr/>
          </p:nvGrpSpPr>
          <p:grpSpPr bwMode="auto">
            <a:xfrm>
              <a:off x="1775" y="922"/>
              <a:ext cx="2666" cy="940"/>
              <a:chOff x="1200" y="194"/>
              <a:chExt cx="3121" cy="1439"/>
            </a:xfrm>
          </p:grpSpPr>
          <p:sp>
            <p:nvSpPr>
              <p:cNvPr id="6150" name="Freeform 7">
                <a:extLst>
                  <a:ext uri="{FF2B5EF4-FFF2-40B4-BE49-F238E27FC236}">
                    <a16:creationId xmlns:a16="http://schemas.microsoft.com/office/drawing/2014/main" id="{986B089A-9EBD-4FFF-A4D2-09229D489B69}"/>
                  </a:ext>
                </a:extLst>
              </p:cNvPr>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1" name="Freeform 8">
                <a:extLst>
                  <a:ext uri="{FF2B5EF4-FFF2-40B4-BE49-F238E27FC236}">
                    <a16:creationId xmlns:a16="http://schemas.microsoft.com/office/drawing/2014/main" id="{A09F87D8-A491-498E-BF94-AAAEE7538284}"/>
                  </a:ext>
                </a:extLst>
              </p:cNvPr>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2" name="Freeform 9">
                <a:extLst>
                  <a:ext uri="{FF2B5EF4-FFF2-40B4-BE49-F238E27FC236}">
                    <a16:creationId xmlns:a16="http://schemas.microsoft.com/office/drawing/2014/main" id="{75CC95C2-14C0-4D24-97F5-2F31FE399D48}"/>
                  </a:ext>
                </a:extLst>
              </p:cNvPr>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3" name="Freeform 10">
                <a:extLst>
                  <a:ext uri="{FF2B5EF4-FFF2-40B4-BE49-F238E27FC236}">
                    <a16:creationId xmlns:a16="http://schemas.microsoft.com/office/drawing/2014/main" id="{E8478AE6-4C95-43B9-91C3-6C7BB2C2CEAE}"/>
                  </a:ext>
                </a:extLst>
              </p:cNvPr>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4" name="Freeform 11">
                <a:extLst>
                  <a:ext uri="{FF2B5EF4-FFF2-40B4-BE49-F238E27FC236}">
                    <a16:creationId xmlns:a16="http://schemas.microsoft.com/office/drawing/2014/main" id="{7E09EDCD-56B3-4299-802C-00BEE54FAE8A}"/>
                  </a:ext>
                </a:extLst>
              </p:cNvPr>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5" name="Freeform 12">
                <a:extLst>
                  <a:ext uri="{FF2B5EF4-FFF2-40B4-BE49-F238E27FC236}">
                    <a16:creationId xmlns:a16="http://schemas.microsoft.com/office/drawing/2014/main" id="{5F0E7AF4-7553-43BE-861A-464F0603DB91}"/>
                  </a:ext>
                </a:extLst>
              </p:cNvPr>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6" name="Freeform 13">
                <a:extLst>
                  <a:ext uri="{FF2B5EF4-FFF2-40B4-BE49-F238E27FC236}">
                    <a16:creationId xmlns:a16="http://schemas.microsoft.com/office/drawing/2014/main" id="{CBB94930-38CD-481A-9A9A-08F8B30A7AF2}"/>
                  </a:ext>
                </a:extLst>
              </p:cNvPr>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7" name="Freeform 14">
                <a:extLst>
                  <a:ext uri="{FF2B5EF4-FFF2-40B4-BE49-F238E27FC236}">
                    <a16:creationId xmlns:a16="http://schemas.microsoft.com/office/drawing/2014/main" id="{BDD605B8-D8C1-4115-B9AD-4CE7A229B205}"/>
                  </a:ext>
                </a:extLst>
              </p:cNvPr>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8" name="Freeform 15">
                <a:extLst>
                  <a:ext uri="{FF2B5EF4-FFF2-40B4-BE49-F238E27FC236}">
                    <a16:creationId xmlns:a16="http://schemas.microsoft.com/office/drawing/2014/main" id="{30D56391-714A-4D69-B7E1-B3C1F74923EE}"/>
                  </a:ext>
                </a:extLst>
              </p:cNvPr>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9" name="Freeform 16">
                <a:extLst>
                  <a:ext uri="{FF2B5EF4-FFF2-40B4-BE49-F238E27FC236}">
                    <a16:creationId xmlns:a16="http://schemas.microsoft.com/office/drawing/2014/main" id="{07E11F9E-B372-4246-8141-BA32EF5AB513}"/>
                  </a:ext>
                </a:extLst>
              </p:cNvPr>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0" name="Freeform 17">
                <a:extLst>
                  <a:ext uri="{FF2B5EF4-FFF2-40B4-BE49-F238E27FC236}">
                    <a16:creationId xmlns:a16="http://schemas.microsoft.com/office/drawing/2014/main" id="{1074B4AE-D4A2-4921-90FC-6E580FA94945}"/>
                  </a:ext>
                </a:extLst>
              </p:cNvPr>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1" name="Freeform 18">
                <a:extLst>
                  <a:ext uri="{FF2B5EF4-FFF2-40B4-BE49-F238E27FC236}">
                    <a16:creationId xmlns:a16="http://schemas.microsoft.com/office/drawing/2014/main" id="{C4A7D73E-6048-4C22-981D-D944FF740040}"/>
                  </a:ext>
                </a:extLst>
              </p:cNvPr>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2" name="Freeform 19">
                <a:extLst>
                  <a:ext uri="{FF2B5EF4-FFF2-40B4-BE49-F238E27FC236}">
                    <a16:creationId xmlns:a16="http://schemas.microsoft.com/office/drawing/2014/main" id="{67D528E6-F245-4E6C-A221-1A4610A50F4B}"/>
                  </a:ext>
                </a:extLst>
              </p:cNvPr>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3" name="Freeform 20">
                <a:extLst>
                  <a:ext uri="{FF2B5EF4-FFF2-40B4-BE49-F238E27FC236}">
                    <a16:creationId xmlns:a16="http://schemas.microsoft.com/office/drawing/2014/main" id="{92C7677B-EF2D-41B5-998A-73A7373858C6}"/>
                  </a:ext>
                </a:extLst>
              </p:cNvPr>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4" name="Freeform 21">
                <a:extLst>
                  <a:ext uri="{FF2B5EF4-FFF2-40B4-BE49-F238E27FC236}">
                    <a16:creationId xmlns:a16="http://schemas.microsoft.com/office/drawing/2014/main" id="{3992FFD7-E67A-4451-9796-4BB4B6F98D23}"/>
                  </a:ext>
                </a:extLst>
              </p:cNvPr>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5" name="Freeform 22">
                <a:extLst>
                  <a:ext uri="{FF2B5EF4-FFF2-40B4-BE49-F238E27FC236}">
                    <a16:creationId xmlns:a16="http://schemas.microsoft.com/office/drawing/2014/main" id="{236EB1B2-491E-4EFA-9B3F-3EDCB0E4B0B3}"/>
                  </a:ext>
                </a:extLst>
              </p:cNvPr>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6" name="Freeform 23">
                <a:extLst>
                  <a:ext uri="{FF2B5EF4-FFF2-40B4-BE49-F238E27FC236}">
                    <a16:creationId xmlns:a16="http://schemas.microsoft.com/office/drawing/2014/main" id="{D20F48EC-CBD4-491E-9577-639A8FCDEF8A}"/>
                  </a:ext>
                </a:extLst>
              </p:cNvPr>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7" name="Freeform 24">
                <a:extLst>
                  <a:ext uri="{FF2B5EF4-FFF2-40B4-BE49-F238E27FC236}">
                    <a16:creationId xmlns:a16="http://schemas.microsoft.com/office/drawing/2014/main" id="{17C34641-7201-442C-B88C-244F15B2663F}"/>
                  </a:ext>
                </a:extLst>
              </p:cNvPr>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8" name="Freeform 25">
                <a:extLst>
                  <a:ext uri="{FF2B5EF4-FFF2-40B4-BE49-F238E27FC236}">
                    <a16:creationId xmlns:a16="http://schemas.microsoft.com/office/drawing/2014/main" id="{2F761CCD-1355-4AB3-A569-01EC91E0D035}"/>
                  </a:ext>
                </a:extLst>
              </p:cNvPr>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9" name="Freeform 26">
                <a:extLst>
                  <a:ext uri="{FF2B5EF4-FFF2-40B4-BE49-F238E27FC236}">
                    <a16:creationId xmlns:a16="http://schemas.microsoft.com/office/drawing/2014/main" id="{38B2A2EB-750E-46FD-A1D8-6DE376148C84}"/>
                  </a:ext>
                </a:extLst>
              </p:cNvPr>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0" name="Freeform 27">
                <a:extLst>
                  <a:ext uri="{FF2B5EF4-FFF2-40B4-BE49-F238E27FC236}">
                    <a16:creationId xmlns:a16="http://schemas.microsoft.com/office/drawing/2014/main" id="{49D4BCF4-98EE-4F46-8FC3-4F1786408C2B}"/>
                  </a:ext>
                </a:extLst>
              </p:cNvPr>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1" name="Freeform 28">
                <a:extLst>
                  <a:ext uri="{FF2B5EF4-FFF2-40B4-BE49-F238E27FC236}">
                    <a16:creationId xmlns:a16="http://schemas.microsoft.com/office/drawing/2014/main" id="{A68AE61C-5C57-4DBD-ABBC-B2A07FB970FD}"/>
                  </a:ext>
                </a:extLst>
              </p:cNvPr>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2" name="Freeform 29">
                <a:extLst>
                  <a:ext uri="{FF2B5EF4-FFF2-40B4-BE49-F238E27FC236}">
                    <a16:creationId xmlns:a16="http://schemas.microsoft.com/office/drawing/2014/main" id="{4A9C4BCF-3795-458F-BF55-464A139388C2}"/>
                  </a:ext>
                </a:extLst>
              </p:cNvPr>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3" name="Freeform 30">
                <a:extLst>
                  <a:ext uri="{FF2B5EF4-FFF2-40B4-BE49-F238E27FC236}">
                    <a16:creationId xmlns:a16="http://schemas.microsoft.com/office/drawing/2014/main" id="{BBDF7F1C-F7C5-486B-A342-0C64BFB6799D}"/>
                  </a:ext>
                </a:extLst>
              </p:cNvPr>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4" name="Freeform 31">
                <a:extLst>
                  <a:ext uri="{FF2B5EF4-FFF2-40B4-BE49-F238E27FC236}">
                    <a16:creationId xmlns:a16="http://schemas.microsoft.com/office/drawing/2014/main" id="{BE26EBEF-C3AB-4E0B-B3FF-FCB493CA72C6}"/>
                  </a:ext>
                </a:extLst>
              </p:cNvPr>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5" name="Freeform 32">
                <a:extLst>
                  <a:ext uri="{FF2B5EF4-FFF2-40B4-BE49-F238E27FC236}">
                    <a16:creationId xmlns:a16="http://schemas.microsoft.com/office/drawing/2014/main" id="{D27D9CF6-AFD1-4606-8799-81CAA1E499B4}"/>
                  </a:ext>
                </a:extLst>
              </p:cNvPr>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6" name="Freeform 33">
                <a:extLst>
                  <a:ext uri="{FF2B5EF4-FFF2-40B4-BE49-F238E27FC236}">
                    <a16:creationId xmlns:a16="http://schemas.microsoft.com/office/drawing/2014/main" id="{34CF641A-9795-46FD-995B-FA966884A1F8}"/>
                  </a:ext>
                </a:extLst>
              </p:cNvPr>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7" name="Freeform 34">
                <a:extLst>
                  <a:ext uri="{FF2B5EF4-FFF2-40B4-BE49-F238E27FC236}">
                    <a16:creationId xmlns:a16="http://schemas.microsoft.com/office/drawing/2014/main" id="{48A35017-B584-4037-9D98-DE075BA166C5}"/>
                  </a:ext>
                </a:extLst>
              </p:cNvPr>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8" name="Freeform 35">
                <a:extLst>
                  <a:ext uri="{FF2B5EF4-FFF2-40B4-BE49-F238E27FC236}">
                    <a16:creationId xmlns:a16="http://schemas.microsoft.com/office/drawing/2014/main" id="{F1E0964D-C881-450B-B622-99D13C5D05DF}"/>
                  </a:ext>
                </a:extLst>
              </p:cNvPr>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9" name="Freeform 36">
                <a:extLst>
                  <a:ext uri="{FF2B5EF4-FFF2-40B4-BE49-F238E27FC236}">
                    <a16:creationId xmlns:a16="http://schemas.microsoft.com/office/drawing/2014/main" id="{DE0A3066-B4FB-4051-B445-66203D37D0AD}"/>
                  </a:ext>
                </a:extLst>
              </p:cNvPr>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0" name="Freeform 37">
                <a:extLst>
                  <a:ext uri="{FF2B5EF4-FFF2-40B4-BE49-F238E27FC236}">
                    <a16:creationId xmlns:a16="http://schemas.microsoft.com/office/drawing/2014/main" id="{BCCF812A-4203-4FD7-A8F6-8E793EEB317C}"/>
                  </a:ext>
                </a:extLst>
              </p:cNvPr>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1" name="Freeform 38">
                <a:extLst>
                  <a:ext uri="{FF2B5EF4-FFF2-40B4-BE49-F238E27FC236}">
                    <a16:creationId xmlns:a16="http://schemas.microsoft.com/office/drawing/2014/main" id="{D214FFEC-0F26-4053-8987-65C3B32C867B}"/>
                  </a:ext>
                </a:extLst>
              </p:cNvPr>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2" name="Freeform 39">
                <a:extLst>
                  <a:ext uri="{FF2B5EF4-FFF2-40B4-BE49-F238E27FC236}">
                    <a16:creationId xmlns:a16="http://schemas.microsoft.com/office/drawing/2014/main" id="{76785EA8-9A23-4A6B-8D25-B1A0306B2ED0}"/>
                  </a:ext>
                </a:extLst>
              </p:cNvPr>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3" name="Freeform 40">
                <a:extLst>
                  <a:ext uri="{FF2B5EF4-FFF2-40B4-BE49-F238E27FC236}">
                    <a16:creationId xmlns:a16="http://schemas.microsoft.com/office/drawing/2014/main" id="{59347B66-A8CE-4CC6-96B1-ABA7EB307BCE}"/>
                  </a:ext>
                </a:extLst>
              </p:cNvPr>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4" name="Freeform 41">
                <a:extLst>
                  <a:ext uri="{FF2B5EF4-FFF2-40B4-BE49-F238E27FC236}">
                    <a16:creationId xmlns:a16="http://schemas.microsoft.com/office/drawing/2014/main" id="{3CC9099D-AC33-4256-A422-0B28D735B1B1}"/>
                  </a:ext>
                </a:extLst>
              </p:cNvPr>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5" name="Freeform 42">
                <a:extLst>
                  <a:ext uri="{FF2B5EF4-FFF2-40B4-BE49-F238E27FC236}">
                    <a16:creationId xmlns:a16="http://schemas.microsoft.com/office/drawing/2014/main" id="{C713991E-D33A-4043-B562-7CB091A3233B}"/>
                  </a:ext>
                </a:extLst>
              </p:cNvPr>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6" name="Freeform 43">
                <a:extLst>
                  <a:ext uri="{FF2B5EF4-FFF2-40B4-BE49-F238E27FC236}">
                    <a16:creationId xmlns:a16="http://schemas.microsoft.com/office/drawing/2014/main" id="{DEBFD0C9-465F-4ED4-87EB-97DF60E0A8F9}"/>
                  </a:ext>
                </a:extLst>
              </p:cNvPr>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7" name="Freeform 44">
                <a:extLst>
                  <a:ext uri="{FF2B5EF4-FFF2-40B4-BE49-F238E27FC236}">
                    <a16:creationId xmlns:a16="http://schemas.microsoft.com/office/drawing/2014/main" id="{67EE75D9-30F3-4838-A08F-C3FDFA087183}"/>
                  </a:ext>
                </a:extLst>
              </p:cNvPr>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8" name="Freeform 45">
                <a:extLst>
                  <a:ext uri="{FF2B5EF4-FFF2-40B4-BE49-F238E27FC236}">
                    <a16:creationId xmlns:a16="http://schemas.microsoft.com/office/drawing/2014/main" id="{7702F009-03F9-4556-828F-15FECA8935A3}"/>
                  </a:ext>
                </a:extLst>
              </p:cNvPr>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9" name="Freeform 46">
                <a:extLst>
                  <a:ext uri="{FF2B5EF4-FFF2-40B4-BE49-F238E27FC236}">
                    <a16:creationId xmlns:a16="http://schemas.microsoft.com/office/drawing/2014/main" id="{7DFCA084-77CB-4793-8D51-E558AF36A4F9}"/>
                  </a:ext>
                </a:extLst>
              </p:cNvPr>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90" name="Freeform 47">
                <a:extLst>
                  <a:ext uri="{FF2B5EF4-FFF2-40B4-BE49-F238E27FC236}">
                    <a16:creationId xmlns:a16="http://schemas.microsoft.com/office/drawing/2014/main" id="{DA37C9E2-07F2-49C8-93D0-34F9A18CE7F5}"/>
                  </a:ext>
                </a:extLst>
              </p:cNvPr>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grpSp>
        <p:sp>
          <p:nvSpPr>
            <p:cNvPr id="6149" name="Text Box 48">
              <a:extLst>
                <a:ext uri="{FF2B5EF4-FFF2-40B4-BE49-F238E27FC236}">
                  <a16:creationId xmlns:a16="http://schemas.microsoft.com/office/drawing/2014/main" id="{66BFDCFB-A401-4334-8C83-57094211F99B}"/>
                </a:ext>
              </a:extLst>
            </p:cNvPr>
            <p:cNvSpPr txBox="1">
              <a:spLocks noChangeArrowheads="1"/>
            </p:cNvSpPr>
            <p:nvPr/>
          </p:nvSpPr>
          <p:spPr bwMode="auto">
            <a:xfrm>
              <a:off x="2893" y="1336"/>
              <a:ext cx="16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4400">
                  <a:solidFill>
                    <a:srgbClr val="DC0081"/>
                  </a:solidFill>
                </a:rPr>
                <a:t>Overview</a:t>
              </a:r>
            </a:p>
          </p:txBody>
        </p:sp>
      </p:grpSp>
      <p:sp>
        <p:nvSpPr>
          <p:cNvPr id="6147" name="Text Box 49">
            <a:extLst>
              <a:ext uri="{FF2B5EF4-FFF2-40B4-BE49-F238E27FC236}">
                <a16:creationId xmlns:a16="http://schemas.microsoft.com/office/drawing/2014/main" id="{6678666F-732E-40B7-B619-83051C39A9B1}"/>
              </a:ext>
            </a:extLst>
          </p:cNvPr>
          <p:cNvSpPr txBox="1">
            <a:spLocks noChangeArrowheads="1"/>
          </p:cNvSpPr>
          <p:nvPr/>
        </p:nvSpPr>
        <p:spPr bwMode="auto">
          <a:xfrm>
            <a:off x="5495614" y="2113051"/>
            <a:ext cx="612087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zh-CN" altLang="en-US" sz="3600">
                <a:solidFill>
                  <a:schemeClr val="tx1"/>
                </a:solidFill>
              </a:rPr>
              <a:t>网际互连基本概念</a:t>
            </a:r>
          </a:p>
          <a:p>
            <a:pPr algn="l">
              <a:spcBef>
                <a:spcPct val="50000"/>
              </a:spcBef>
            </a:pPr>
            <a:r>
              <a:rPr lang="zh-CN" altLang="en-US" sz="3600">
                <a:solidFill>
                  <a:schemeClr val="tx1"/>
                </a:solidFill>
              </a:rPr>
              <a:t>互连设备</a:t>
            </a:r>
          </a:p>
        </p:txBody>
      </p:sp>
      <p:sp>
        <p:nvSpPr>
          <p:cNvPr id="2" name="标题 1">
            <a:extLst>
              <a:ext uri="{FF2B5EF4-FFF2-40B4-BE49-F238E27FC236}">
                <a16:creationId xmlns:a16="http://schemas.microsoft.com/office/drawing/2014/main" id="{7274BEA4-1D23-4A79-A27F-2831E2CD96A5}"/>
              </a:ext>
            </a:extLst>
          </p:cNvPr>
          <p:cNvSpPr>
            <a:spLocks noGrp="1"/>
          </p:cNvSpPr>
          <p:nvPr>
            <p:ph type="ctrTitle"/>
          </p:nvPr>
        </p:nvSpPr>
        <p:spPr>
          <a:xfrm>
            <a:off x="1496821" y="219005"/>
            <a:ext cx="9144000" cy="775803"/>
          </a:xfrm>
        </p:spPr>
        <p:txBody>
          <a:bodyPr>
            <a:normAutofit fontScale="90000"/>
          </a:bodyPr>
          <a:lstStyle/>
          <a:p>
            <a:r>
              <a:rPr lang="en-US" altLang="zh-CN"/>
              <a:t>5.5 </a:t>
            </a:r>
            <a:r>
              <a:rPr lang="zh-CN" altLang="en-US"/>
              <a:t>网际互联</a:t>
            </a: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3ECC017-D1A4-4E3F-9DA4-F3F63864AD50}"/>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Summary</a:t>
            </a:r>
          </a:p>
        </p:txBody>
      </p:sp>
      <p:graphicFrame>
        <p:nvGraphicFramePr>
          <p:cNvPr id="46083" name="Object 3">
            <a:hlinkClick r:id="" action="ppaction://ole?verb=0"/>
            <a:extLst>
              <a:ext uri="{FF2B5EF4-FFF2-40B4-BE49-F238E27FC236}">
                <a16:creationId xmlns:a16="http://schemas.microsoft.com/office/drawing/2014/main" id="{1D44DE59-46DE-49E6-94D3-AF1A45144DCA}"/>
              </a:ext>
            </a:extLst>
          </p:cNvPr>
          <p:cNvGraphicFramePr>
            <a:graphicFrameLocks/>
          </p:cNvGraphicFramePr>
          <p:nvPr/>
        </p:nvGraphicFramePr>
        <p:xfrm>
          <a:off x="4821239" y="1468438"/>
          <a:ext cx="2782888" cy="1687512"/>
        </p:xfrm>
        <a:graphic>
          <a:graphicData uri="http://schemas.openxmlformats.org/presentationml/2006/ole">
            <mc:AlternateContent xmlns:mc="http://schemas.openxmlformats.org/markup-compatibility/2006">
              <mc:Choice xmlns:v="urn:schemas-microsoft-com:vml" Requires="v">
                <p:oleObj spid="_x0000_s22535" name="Clip" r:id="rId3" imgW="4054475" imgH="3549650" progId="MS_ClipArt_Gallery.2">
                  <p:embed/>
                </p:oleObj>
              </mc:Choice>
              <mc:Fallback>
                <p:oleObj name="Clip" r:id="rId3" imgW="4054475" imgH="3549650" progId="MS_ClipArt_Gallery.2">
                  <p:embed/>
                  <p:pic>
                    <p:nvPicPr>
                      <p:cNvPr id="46083" name="Object 3">
                        <a:hlinkClick r:id="" action="ppaction://ole?verb=0"/>
                        <a:extLst>
                          <a:ext uri="{FF2B5EF4-FFF2-40B4-BE49-F238E27FC236}">
                            <a16:creationId xmlns:a16="http://schemas.microsoft.com/office/drawing/2014/main" id="{1D44DE59-46DE-49E6-94D3-AF1A45144DC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239" y="1468438"/>
                        <a:ext cx="2782888" cy="168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32292" name="Text Box 4">
            <a:extLst>
              <a:ext uri="{FF2B5EF4-FFF2-40B4-BE49-F238E27FC236}">
                <a16:creationId xmlns:a16="http://schemas.microsoft.com/office/drawing/2014/main" id="{DEE0A6B0-66EE-48C7-9BE3-4BF148659FB9}"/>
              </a:ext>
            </a:extLst>
          </p:cNvPr>
          <p:cNvSpPr txBox="1">
            <a:spLocks noChangeArrowheads="1"/>
          </p:cNvSpPr>
          <p:nvPr/>
        </p:nvSpPr>
        <p:spPr bwMode="auto">
          <a:xfrm>
            <a:off x="4537076" y="3608388"/>
            <a:ext cx="5386388" cy="2702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90525" indent="-390525"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网络互连的概念</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中继器</a:t>
            </a:r>
            <a:r>
              <a:rPr lang="en-US" altLang="zh-CN" sz="3200" b="1">
                <a:solidFill>
                  <a:schemeClr val="tx1"/>
                </a:solidFill>
                <a:latin typeface="Arial" panose="020B0604020202020204" pitchFamily="34" charset="0"/>
              </a:rPr>
              <a:t>/</a:t>
            </a:r>
            <a:r>
              <a:rPr lang="zh-CN" altLang="en-US" sz="3200" b="1">
                <a:solidFill>
                  <a:schemeClr val="tx1"/>
                </a:solidFill>
                <a:latin typeface="Arial" panose="020B0604020202020204" pitchFamily="34" charset="0"/>
              </a:rPr>
              <a:t>集线器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网桥</a:t>
            </a:r>
            <a:r>
              <a:rPr lang="en-US" altLang="zh-CN" sz="3200" b="1">
                <a:solidFill>
                  <a:schemeClr val="tx1"/>
                </a:solidFill>
                <a:latin typeface="Arial" panose="020B0604020202020204" pitchFamily="34" charset="0"/>
              </a:rPr>
              <a:t>/</a:t>
            </a:r>
            <a:r>
              <a:rPr lang="zh-CN" altLang="en-US" sz="3200" b="1">
                <a:solidFill>
                  <a:schemeClr val="tx1"/>
                </a:solidFill>
                <a:latin typeface="Arial" panose="020B0604020202020204" pitchFamily="34" charset="0"/>
              </a:rPr>
              <a:t>交换器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路由器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网关</a:t>
            </a:r>
          </a:p>
        </p:txBody>
      </p:sp>
    </p:spTree>
    <p:extLst>
      <p:ext uri="{BB962C8B-B14F-4D97-AF65-F5344CB8AC3E}">
        <p14:creationId xmlns:p14="http://schemas.microsoft.com/office/powerpoint/2010/main" val="2291279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32292">
                                            <p:txEl>
                                              <p:pRg st="0" end="0"/>
                                            </p:txEl>
                                          </p:spTgt>
                                        </p:tgtEl>
                                        <p:attrNameLst>
                                          <p:attrName>style.visibility</p:attrName>
                                        </p:attrNameLst>
                                      </p:cBhvr>
                                      <p:to>
                                        <p:strVal val="visible"/>
                                      </p:to>
                                    </p:set>
                                    <p:anim calcmode="lin" valueType="num">
                                      <p:cBhvr additive="base">
                                        <p:cTn id="7" dur="500" fill="hold"/>
                                        <p:tgtEl>
                                          <p:spTgt spid="193229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322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32292">
                                            <p:txEl>
                                              <p:pRg st="1" end="1"/>
                                            </p:txEl>
                                          </p:spTgt>
                                        </p:tgtEl>
                                        <p:attrNameLst>
                                          <p:attrName>style.visibility</p:attrName>
                                        </p:attrNameLst>
                                      </p:cBhvr>
                                      <p:to>
                                        <p:strVal val="visible"/>
                                      </p:to>
                                    </p:set>
                                    <p:anim calcmode="lin" valueType="num">
                                      <p:cBhvr additive="base">
                                        <p:cTn id="13" dur="500" fill="hold"/>
                                        <p:tgtEl>
                                          <p:spTgt spid="193229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3229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32292">
                                            <p:txEl>
                                              <p:pRg st="2" end="2"/>
                                            </p:txEl>
                                          </p:spTgt>
                                        </p:tgtEl>
                                        <p:attrNameLst>
                                          <p:attrName>style.visibility</p:attrName>
                                        </p:attrNameLst>
                                      </p:cBhvr>
                                      <p:to>
                                        <p:strVal val="visible"/>
                                      </p:to>
                                    </p:set>
                                    <p:anim calcmode="lin" valueType="num">
                                      <p:cBhvr additive="base">
                                        <p:cTn id="19" dur="500" fill="hold"/>
                                        <p:tgtEl>
                                          <p:spTgt spid="193229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3229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32292">
                                            <p:txEl>
                                              <p:pRg st="3" end="3"/>
                                            </p:txEl>
                                          </p:spTgt>
                                        </p:tgtEl>
                                        <p:attrNameLst>
                                          <p:attrName>style.visibility</p:attrName>
                                        </p:attrNameLst>
                                      </p:cBhvr>
                                      <p:to>
                                        <p:strVal val="visible"/>
                                      </p:to>
                                    </p:set>
                                    <p:anim calcmode="lin" valueType="num">
                                      <p:cBhvr additive="base">
                                        <p:cTn id="25" dur="500" fill="hold"/>
                                        <p:tgtEl>
                                          <p:spTgt spid="193229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3229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932292">
                                            <p:txEl>
                                              <p:pRg st="4" end="4"/>
                                            </p:txEl>
                                          </p:spTgt>
                                        </p:tgtEl>
                                        <p:attrNameLst>
                                          <p:attrName>style.visibility</p:attrName>
                                        </p:attrNameLst>
                                      </p:cBhvr>
                                      <p:to>
                                        <p:strVal val="visible"/>
                                      </p:to>
                                    </p:set>
                                    <p:anim calcmode="lin" valueType="num">
                                      <p:cBhvr additive="base">
                                        <p:cTn id="31" dur="500" fill="hold"/>
                                        <p:tgtEl>
                                          <p:spTgt spid="193229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93229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2292" grpId="0" build="p"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BEB870BE-D920-40F5-BE2D-597E65B51410}"/>
              </a:ext>
            </a:extLst>
          </p:cNvPr>
          <p:cNvSpPr>
            <a:spLocks noGrp="1" noChangeArrowheads="1"/>
          </p:cNvSpPr>
          <p:nvPr>
            <p:ph type="body" idx="1"/>
          </p:nvPr>
        </p:nvSpPr>
        <p:spPr bwMode="auto">
          <a:xfrm>
            <a:off x="2100263" y="899595"/>
            <a:ext cx="7772400" cy="195908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32500" lnSpcReduction="20000"/>
          </a:bodyPr>
          <a:lstStyle/>
          <a:p>
            <a:pPr marL="285738" indent="-285738"/>
            <a:r>
              <a:rPr lang="en-US" altLang="zh-CN"/>
              <a:t>Before Internet</a:t>
            </a:r>
          </a:p>
          <a:p>
            <a:pPr lvl="1"/>
            <a:r>
              <a:rPr lang="zh-CN" altLang="en-US"/>
              <a:t>存在不同的网络 </a:t>
            </a:r>
            <a:r>
              <a:rPr lang="en-US" altLang="zh-CN" sz="2200"/>
              <a:t>(e.g., ARPANET, ARPA packet radio)</a:t>
            </a:r>
          </a:p>
          <a:p>
            <a:pPr lvl="1"/>
            <a:r>
              <a:rPr lang="zh-CN" altLang="en-US"/>
              <a:t>只有具有相同物理</a:t>
            </a:r>
            <a:r>
              <a:rPr lang="en-US" altLang="zh-CN"/>
              <a:t>/</a:t>
            </a:r>
            <a:r>
              <a:rPr lang="zh-CN" altLang="en-US"/>
              <a:t>链路层网络节点才能相互通信</a:t>
            </a:r>
          </a:p>
          <a:p>
            <a:pPr lvl="1"/>
            <a:r>
              <a:rPr lang="zh-CN" altLang="en-US"/>
              <a:t>用于连接小范围的计算机 </a:t>
            </a:r>
            <a:endParaRPr lang="en-US" altLang="zh-CN"/>
          </a:p>
          <a:p>
            <a:pPr lvl="1"/>
            <a:r>
              <a:rPr lang="zh-CN" altLang="en-US"/>
              <a:t>怎样互连现有的网络</a:t>
            </a:r>
            <a:r>
              <a:rPr lang="en-US" altLang="zh-CN"/>
              <a:t>?</a:t>
            </a:r>
          </a:p>
          <a:p>
            <a:pPr lvl="1"/>
            <a:r>
              <a:rPr lang="en-US" altLang="zh-CN"/>
              <a:t>… </a:t>
            </a:r>
            <a:r>
              <a:rPr lang="zh-CN" altLang="en-US"/>
              <a:t>但</a:t>
            </a:r>
            <a:r>
              <a:rPr lang="en-US" altLang="zh-CN"/>
              <a:t>, </a:t>
            </a:r>
            <a:r>
              <a:rPr lang="zh-CN" altLang="en-US"/>
              <a:t>现存网络之间差异太大</a:t>
            </a:r>
          </a:p>
          <a:p>
            <a:pPr lvl="1"/>
            <a:r>
              <a:rPr lang="zh-CN" altLang="en-US"/>
              <a:t>不同的服务 </a:t>
            </a:r>
          </a:p>
          <a:p>
            <a:pPr lvl="1"/>
            <a:r>
              <a:rPr lang="en-US" altLang="zh-CN"/>
              <a:t>e.g., </a:t>
            </a:r>
            <a:r>
              <a:rPr lang="zh-CN" altLang="en-US"/>
              <a:t>可靠性，时延</a:t>
            </a:r>
          </a:p>
          <a:p>
            <a:pPr lvl="1"/>
            <a:r>
              <a:rPr lang="zh-CN" altLang="en-US"/>
              <a:t>不同的接口 </a:t>
            </a:r>
          </a:p>
          <a:p>
            <a:pPr lvl="1"/>
            <a:r>
              <a:rPr lang="en-US" altLang="zh-CN"/>
              <a:t>e.g., </a:t>
            </a:r>
            <a:r>
              <a:rPr lang="zh-CN" altLang="en-US"/>
              <a:t>所能传输的报文长度、地址格式等 </a:t>
            </a:r>
          </a:p>
          <a:p>
            <a:pPr lvl="1"/>
            <a:r>
              <a:rPr lang="zh-CN" altLang="en-US"/>
              <a:t>不同的协议</a:t>
            </a:r>
          </a:p>
          <a:p>
            <a:pPr lvl="1"/>
            <a:r>
              <a:rPr lang="en-US" altLang="zh-CN"/>
              <a:t>e.g., </a:t>
            </a:r>
            <a:r>
              <a:rPr lang="zh-CN" altLang="en-US"/>
              <a:t>路由协议等 </a:t>
            </a:r>
          </a:p>
          <a:p>
            <a:pPr lvl="1"/>
            <a:endParaRPr lang="zh-CN" altLang="en-US"/>
          </a:p>
          <a:p>
            <a:pPr lvl="1"/>
            <a:endParaRPr lang="zh-CN" altLang="en-US"/>
          </a:p>
          <a:p>
            <a:pPr lvl="1"/>
            <a:endParaRPr lang="zh-CN" altLang="en-US"/>
          </a:p>
        </p:txBody>
      </p:sp>
      <p:grpSp>
        <p:nvGrpSpPr>
          <p:cNvPr id="7171" name="Group 4">
            <a:extLst>
              <a:ext uri="{FF2B5EF4-FFF2-40B4-BE49-F238E27FC236}">
                <a16:creationId xmlns:a16="http://schemas.microsoft.com/office/drawing/2014/main" id="{50322063-8FAC-43D3-ACAB-B0D0E1EFE2FA}"/>
              </a:ext>
            </a:extLst>
          </p:cNvPr>
          <p:cNvGrpSpPr>
            <a:grpSpLocks/>
          </p:cNvGrpSpPr>
          <p:nvPr/>
        </p:nvGrpSpPr>
        <p:grpSpPr bwMode="auto">
          <a:xfrm>
            <a:off x="2667001" y="3962400"/>
            <a:ext cx="1916113" cy="1366838"/>
            <a:chOff x="832" y="1344"/>
            <a:chExt cx="1136" cy="1024"/>
          </a:xfrm>
        </p:grpSpPr>
        <p:sp>
          <p:nvSpPr>
            <p:cNvPr id="7316" name="Oval 5">
              <a:extLst>
                <a:ext uri="{FF2B5EF4-FFF2-40B4-BE49-F238E27FC236}">
                  <a16:creationId xmlns:a16="http://schemas.microsoft.com/office/drawing/2014/main" id="{2AFDCA3F-1A1D-46DC-88B0-7476BB75D498}"/>
                </a:ext>
              </a:extLst>
            </p:cNvPr>
            <p:cNvSpPr>
              <a:spLocks noChangeArrowheads="1"/>
            </p:cNvSpPr>
            <p:nvPr/>
          </p:nvSpPr>
          <p:spPr bwMode="auto">
            <a:xfrm>
              <a:off x="1220" y="1344"/>
              <a:ext cx="495" cy="42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7" name="Oval 6">
              <a:extLst>
                <a:ext uri="{FF2B5EF4-FFF2-40B4-BE49-F238E27FC236}">
                  <a16:creationId xmlns:a16="http://schemas.microsoft.com/office/drawing/2014/main" id="{FD1A5B28-DC28-40C3-90E9-47ABA2C23D31}"/>
                </a:ext>
              </a:extLst>
            </p:cNvPr>
            <p:cNvSpPr>
              <a:spLocks noChangeArrowheads="1"/>
            </p:cNvSpPr>
            <p:nvPr/>
          </p:nvSpPr>
          <p:spPr bwMode="auto">
            <a:xfrm>
              <a:off x="948" y="1455"/>
              <a:ext cx="379" cy="42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8" name="Oval 7">
              <a:extLst>
                <a:ext uri="{FF2B5EF4-FFF2-40B4-BE49-F238E27FC236}">
                  <a16:creationId xmlns:a16="http://schemas.microsoft.com/office/drawing/2014/main" id="{0F9FFED4-CF59-4ADA-957F-A4AA62F8FB88}"/>
                </a:ext>
              </a:extLst>
            </p:cNvPr>
            <p:cNvSpPr>
              <a:spLocks noChangeArrowheads="1"/>
            </p:cNvSpPr>
            <p:nvPr/>
          </p:nvSpPr>
          <p:spPr bwMode="auto">
            <a:xfrm>
              <a:off x="832" y="1710"/>
              <a:ext cx="256" cy="306"/>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9" name="Oval 8">
              <a:extLst>
                <a:ext uri="{FF2B5EF4-FFF2-40B4-BE49-F238E27FC236}">
                  <a16:creationId xmlns:a16="http://schemas.microsoft.com/office/drawing/2014/main" id="{34BC8ADF-4D51-41AE-8209-F5AFD6449C23}"/>
                </a:ext>
              </a:extLst>
            </p:cNvPr>
            <p:cNvSpPr>
              <a:spLocks noChangeArrowheads="1"/>
            </p:cNvSpPr>
            <p:nvPr/>
          </p:nvSpPr>
          <p:spPr bwMode="auto">
            <a:xfrm>
              <a:off x="909" y="1862"/>
              <a:ext cx="435" cy="442"/>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0" name="Oval 9">
              <a:extLst>
                <a:ext uri="{FF2B5EF4-FFF2-40B4-BE49-F238E27FC236}">
                  <a16:creationId xmlns:a16="http://schemas.microsoft.com/office/drawing/2014/main" id="{6579D7A2-9E94-4B1F-B68F-D0CFB15142EF}"/>
                </a:ext>
              </a:extLst>
            </p:cNvPr>
            <p:cNvSpPr>
              <a:spLocks noChangeArrowheads="1"/>
            </p:cNvSpPr>
            <p:nvPr/>
          </p:nvSpPr>
          <p:spPr bwMode="auto">
            <a:xfrm>
              <a:off x="1086" y="1924"/>
              <a:ext cx="671" cy="44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1" name="Oval 10">
              <a:extLst>
                <a:ext uri="{FF2B5EF4-FFF2-40B4-BE49-F238E27FC236}">
                  <a16:creationId xmlns:a16="http://schemas.microsoft.com/office/drawing/2014/main" id="{7CDAEE79-FC37-4967-A460-CC14A12835FD}"/>
                </a:ext>
              </a:extLst>
            </p:cNvPr>
            <p:cNvSpPr>
              <a:spLocks noChangeArrowheads="1"/>
            </p:cNvSpPr>
            <p:nvPr/>
          </p:nvSpPr>
          <p:spPr bwMode="auto">
            <a:xfrm>
              <a:off x="1605" y="1488"/>
              <a:ext cx="311" cy="312"/>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2" name="Oval 11">
              <a:extLst>
                <a:ext uri="{FF2B5EF4-FFF2-40B4-BE49-F238E27FC236}">
                  <a16:creationId xmlns:a16="http://schemas.microsoft.com/office/drawing/2014/main" id="{71A73EC2-04E0-446A-B6E6-2721B4EF9E95}"/>
                </a:ext>
              </a:extLst>
            </p:cNvPr>
            <p:cNvSpPr>
              <a:spLocks noChangeArrowheads="1"/>
            </p:cNvSpPr>
            <p:nvPr/>
          </p:nvSpPr>
          <p:spPr bwMode="auto">
            <a:xfrm>
              <a:off x="1602" y="1681"/>
              <a:ext cx="366" cy="333"/>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3" name="Oval 12">
              <a:extLst>
                <a:ext uri="{FF2B5EF4-FFF2-40B4-BE49-F238E27FC236}">
                  <a16:creationId xmlns:a16="http://schemas.microsoft.com/office/drawing/2014/main" id="{7A73AF2C-CFC4-43DB-9557-761D51E9D958}"/>
                </a:ext>
              </a:extLst>
            </p:cNvPr>
            <p:cNvSpPr>
              <a:spLocks noChangeArrowheads="1"/>
            </p:cNvSpPr>
            <p:nvPr/>
          </p:nvSpPr>
          <p:spPr bwMode="auto">
            <a:xfrm>
              <a:off x="1569" y="1751"/>
              <a:ext cx="364" cy="547"/>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4" name="Oval 13">
              <a:extLst>
                <a:ext uri="{FF2B5EF4-FFF2-40B4-BE49-F238E27FC236}">
                  <a16:creationId xmlns:a16="http://schemas.microsoft.com/office/drawing/2014/main" id="{1D0AE97F-21CB-4CE8-9FC2-C055FD420E8A}"/>
                </a:ext>
              </a:extLst>
            </p:cNvPr>
            <p:cNvSpPr>
              <a:spLocks noChangeArrowheads="1"/>
            </p:cNvSpPr>
            <p:nvPr/>
          </p:nvSpPr>
          <p:spPr bwMode="auto">
            <a:xfrm>
              <a:off x="912" y="1434"/>
              <a:ext cx="1008" cy="918"/>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172" name="Rectangle 14">
            <a:extLst>
              <a:ext uri="{FF2B5EF4-FFF2-40B4-BE49-F238E27FC236}">
                <a16:creationId xmlns:a16="http://schemas.microsoft.com/office/drawing/2014/main" id="{EC00F0F2-889D-470D-9A33-0A76F254B927}"/>
              </a:ext>
            </a:extLst>
          </p:cNvPr>
          <p:cNvSpPr>
            <a:spLocks noChangeArrowheads="1"/>
          </p:cNvSpPr>
          <p:nvPr/>
        </p:nvSpPr>
        <p:spPr bwMode="auto">
          <a:xfrm>
            <a:off x="3243263" y="4303714"/>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3" name="Rectangle 15">
            <a:extLst>
              <a:ext uri="{FF2B5EF4-FFF2-40B4-BE49-F238E27FC236}">
                <a16:creationId xmlns:a16="http://schemas.microsoft.com/office/drawing/2014/main" id="{AB428679-49D7-4DCF-8BBD-0DB889A28B4F}"/>
              </a:ext>
            </a:extLst>
          </p:cNvPr>
          <p:cNvSpPr>
            <a:spLocks noChangeArrowheads="1"/>
          </p:cNvSpPr>
          <p:nvPr/>
        </p:nvSpPr>
        <p:spPr bwMode="auto">
          <a:xfrm>
            <a:off x="2641601" y="465931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4" name="Rectangle 16">
            <a:extLst>
              <a:ext uri="{FF2B5EF4-FFF2-40B4-BE49-F238E27FC236}">
                <a16:creationId xmlns:a16="http://schemas.microsoft.com/office/drawing/2014/main" id="{BD10C240-373F-4EC4-A855-4A2F0479E63C}"/>
              </a:ext>
            </a:extLst>
          </p:cNvPr>
          <p:cNvSpPr>
            <a:spLocks noChangeArrowheads="1"/>
          </p:cNvSpPr>
          <p:nvPr/>
        </p:nvSpPr>
        <p:spPr bwMode="auto">
          <a:xfrm>
            <a:off x="3208339" y="5172075"/>
            <a:ext cx="160337"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5" name="Rectangle 17">
            <a:extLst>
              <a:ext uri="{FF2B5EF4-FFF2-40B4-BE49-F238E27FC236}">
                <a16:creationId xmlns:a16="http://schemas.microsoft.com/office/drawing/2014/main" id="{DF582BC9-DCCC-4415-9103-C72A98F924AA}"/>
              </a:ext>
            </a:extLst>
          </p:cNvPr>
          <p:cNvSpPr>
            <a:spLocks noChangeArrowheads="1"/>
          </p:cNvSpPr>
          <p:nvPr/>
        </p:nvSpPr>
        <p:spPr bwMode="auto">
          <a:xfrm>
            <a:off x="4016375" y="51720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6" name="Rectangle 18">
            <a:extLst>
              <a:ext uri="{FF2B5EF4-FFF2-40B4-BE49-F238E27FC236}">
                <a16:creationId xmlns:a16="http://schemas.microsoft.com/office/drawing/2014/main" id="{2540428B-A60A-439B-B2FB-1084A15881A6}"/>
              </a:ext>
            </a:extLst>
          </p:cNvPr>
          <p:cNvSpPr>
            <a:spLocks noChangeArrowheads="1"/>
          </p:cNvSpPr>
          <p:nvPr/>
        </p:nvSpPr>
        <p:spPr bwMode="auto">
          <a:xfrm>
            <a:off x="4340225" y="44672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7" name="Rectangle 19">
            <a:extLst>
              <a:ext uri="{FF2B5EF4-FFF2-40B4-BE49-F238E27FC236}">
                <a16:creationId xmlns:a16="http://schemas.microsoft.com/office/drawing/2014/main" id="{9185B169-7154-472C-ADDA-DD5490511B52}"/>
              </a:ext>
            </a:extLst>
          </p:cNvPr>
          <p:cNvSpPr>
            <a:spLocks noChangeArrowheads="1"/>
          </p:cNvSpPr>
          <p:nvPr/>
        </p:nvSpPr>
        <p:spPr bwMode="auto">
          <a:xfrm>
            <a:off x="3854450" y="44037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178" name="AutoShape 20">
            <a:extLst>
              <a:ext uri="{FF2B5EF4-FFF2-40B4-BE49-F238E27FC236}">
                <a16:creationId xmlns:a16="http://schemas.microsoft.com/office/drawing/2014/main" id="{AE01409F-7337-4C53-B5F9-AC7306D81C64}"/>
              </a:ext>
            </a:extLst>
          </p:cNvPr>
          <p:cNvCxnSpPr>
            <a:cxnSpLocks noChangeShapeType="1"/>
            <a:stCxn id="7173" idx="3"/>
            <a:endCxn id="7172" idx="1"/>
          </p:cNvCxnSpPr>
          <p:nvPr/>
        </p:nvCxnSpPr>
        <p:spPr bwMode="auto">
          <a:xfrm flipV="1">
            <a:off x="2803525" y="4368801"/>
            <a:ext cx="439738" cy="3556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9" name="AutoShape 21">
            <a:extLst>
              <a:ext uri="{FF2B5EF4-FFF2-40B4-BE49-F238E27FC236}">
                <a16:creationId xmlns:a16="http://schemas.microsoft.com/office/drawing/2014/main" id="{81B3F5C6-8174-4D48-B3DA-88B4C4974387}"/>
              </a:ext>
            </a:extLst>
          </p:cNvPr>
          <p:cNvCxnSpPr>
            <a:cxnSpLocks noChangeShapeType="1"/>
            <a:stCxn id="7172" idx="3"/>
            <a:endCxn id="7177" idx="1"/>
          </p:cNvCxnSpPr>
          <p:nvPr/>
        </p:nvCxnSpPr>
        <p:spPr bwMode="auto">
          <a:xfrm>
            <a:off x="3405189" y="4368801"/>
            <a:ext cx="449262" cy="984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0" name="AutoShape 22">
            <a:extLst>
              <a:ext uri="{FF2B5EF4-FFF2-40B4-BE49-F238E27FC236}">
                <a16:creationId xmlns:a16="http://schemas.microsoft.com/office/drawing/2014/main" id="{A0316F62-98D0-49E1-BE49-55F8757B79EC}"/>
              </a:ext>
            </a:extLst>
          </p:cNvPr>
          <p:cNvCxnSpPr>
            <a:cxnSpLocks noChangeShapeType="1"/>
            <a:stCxn id="7177" idx="3"/>
            <a:endCxn id="7176" idx="1"/>
          </p:cNvCxnSpPr>
          <p:nvPr/>
        </p:nvCxnSpPr>
        <p:spPr bwMode="auto">
          <a:xfrm>
            <a:off x="4016375" y="4467226"/>
            <a:ext cx="323850" cy="6508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1" name="AutoShape 23">
            <a:extLst>
              <a:ext uri="{FF2B5EF4-FFF2-40B4-BE49-F238E27FC236}">
                <a16:creationId xmlns:a16="http://schemas.microsoft.com/office/drawing/2014/main" id="{6EBD11B3-2CF3-4552-9039-E56458B90416}"/>
              </a:ext>
            </a:extLst>
          </p:cNvPr>
          <p:cNvCxnSpPr>
            <a:cxnSpLocks noChangeShapeType="1"/>
            <a:stCxn id="7174" idx="0"/>
            <a:endCxn id="7177" idx="2"/>
          </p:cNvCxnSpPr>
          <p:nvPr/>
        </p:nvCxnSpPr>
        <p:spPr bwMode="auto">
          <a:xfrm flipV="1">
            <a:off x="3287713" y="4532314"/>
            <a:ext cx="647700" cy="6397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2" name="AutoShape 24">
            <a:extLst>
              <a:ext uri="{FF2B5EF4-FFF2-40B4-BE49-F238E27FC236}">
                <a16:creationId xmlns:a16="http://schemas.microsoft.com/office/drawing/2014/main" id="{8E152F3C-F92E-48FA-92A4-0595916953FC}"/>
              </a:ext>
            </a:extLst>
          </p:cNvPr>
          <p:cNvCxnSpPr>
            <a:cxnSpLocks noChangeShapeType="1"/>
            <a:stCxn id="7175" idx="0"/>
            <a:endCxn id="7176" idx="2"/>
          </p:cNvCxnSpPr>
          <p:nvPr/>
        </p:nvCxnSpPr>
        <p:spPr bwMode="auto">
          <a:xfrm flipV="1">
            <a:off x="4097338" y="459581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3" name="AutoShape 25">
            <a:extLst>
              <a:ext uri="{FF2B5EF4-FFF2-40B4-BE49-F238E27FC236}">
                <a16:creationId xmlns:a16="http://schemas.microsoft.com/office/drawing/2014/main" id="{577F0958-4D4C-4C27-8C8D-1EB3BDB3A6A7}"/>
              </a:ext>
            </a:extLst>
          </p:cNvPr>
          <p:cNvCxnSpPr>
            <a:cxnSpLocks noChangeShapeType="1"/>
            <a:stCxn id="7174" idx="3"/>
            <a:endCxn id="7175" idx="1"/>
          </p:cNvCxnSpPr>
          <p:nvPr/>
        </p:nvCxnSpPr>
        <p:spPr bwMode="auto">
          <a:xfrm>
            <a:off x="3368675" y="5237164"/>
            <a:ext cx="6477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4" name="AutoShape 26">
            <a:extLst>
              <a:ext uri="{FF2B5EF4-FFF2-40B4-BE49-F238E27FC236}">
                <a16:creationId xmlns:a16="http://schemas.microsoft.com/office/drawing/2014/main" id="{ECA9C788-38BF-47C1-9FB5-0438A15067FB}"/>
              </a:ext>
            </a:extLst>
          </p:cNvPr>
          <p:cNvCxnSpPr>
            <a:cxnSpLocks noChangeShapeType="1"/>
          </p:cNvCxnSpPr>
          <p:nvPr/>
        </p:nvCxnSpPr>
        <p:spPr bwMode="auto">
          <a:xfrm>
            <a:off x="2774951" y="4702175"/>
            <a:ext cx="404813"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85" name="Group 27">
            <a:extLst>
              <a:ext uri="{FF2B5EF4-FFF2-40B4-BE49-F238E27FC236}">
                <a16:creationId xmlns:a16="http://schemas.microsoft.com/office/drawing/2014/main" id="{2355F7FF-49BB-4B22-B7FF-31AFA2E489E7}"/>
              </a:ext>
            </a:extLst>
          </p:cNvPr>
          <p:cNvGrpSpPr>
            <a:grpSpLocks/>
          </p:cNvGrpSpPr>
          <p:nvPr/>
        </p:nvGrpSpPr>
        <p:grpSpPr bwMode="auto">
          <a:xfrm>
            <a:off x="1912938" y="4475164"/>
            <a:ext cx="460375" cy="365125"/>
            <a:chOff x="1014" y="912"/>
            <a:chExt cx="574" cy="596"/>
          </a:xfrm>
        </p:grpSpPr>
        <p:sp>
          <p:nvSpPr>
            <p:cNvPr id="7304" name="Freeform 28">
              <a:extLst>
                <a:ext uri="{FF2B5EF4-FFF2-40B4-BE49-F238E27FC236}">
                  <a16:creationId xmlns:a16="http://schemas.microsoft.com/office/drawing/2014/main" id="{4EDAF16D-4E6D-4045-98A7-488C563C0655}"/>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305" name="Line 29">
              <a:extLst>
                <a:ext uri="{FF2B5EF4-FFF2-40B4-BE49-F238E27FC236}">
                  <a16:creationId xmlns:a16="http://schemas.microsoft.com/office/drawing/2014/main" id="{E4CD80FD-192A-4531-8943-F292EE7ABE4E}"/>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6" name="Line 30">
              <a:extLst>
                <a:ext uri="{FF2B5EF4-FFF2-40B4-BE49-F238E27FC236}">
                  <a16:creationId xmlns:a16="http://schemas.microsoft.com/office/drawing/2014/main" id="{587756E1-55AF-43F4-A9AD-64AF9E60C12A}"/>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7" name="Freeform 31">
              <a:extLst>
                <a:ext uri="{FF2B5EF4-FFF2-40B4-BE49-F238E27FC236}">
                  <a16:creationId xmlns:a16="http://schemas.microsoft.com/office/drawing/2014/main" id="{629EBDE5-7227-4158-987B-460780942AB9}"/>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308" name="Line 32">
              <a:extLst>
                <a:ext uri="{FF2B5EF4-FFF2-40B4-BE49-F238E27FC236}">
                  <a16:creationId xmlns:a16="http://schemas.microsoft.com/office/drawing/2014/main" id="{5B1C8534-BE58-4131-A939-FA3C1C82548E}"/>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9" name="Line 33">
              <a:extLst>
                <a:ext uri="{FF2B5EF4-FFF2-40B4-BE49-F238E27FC236}">
                  <a16:creationId xmlns:a16="http://schemas.microsoft.com/office/drawing/2014/main" id="{73479DCE-1E3C-4075-A6DF-3A46EF463EC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0" name="Line 34">
              <a:extLst>
                <a:ext uri="{FF2B5EF4-FFF2-40B4-BE49-F238E27FC236}">
                  <a16:creationId xmlns:a16="http://schemas.microsoft.com/office/drawing/2014/main" id="{46EB0B55-B4EE-4663-B3BD-5EBF575F1B74}"/>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1" name="Rectangle 35">
              <a:extLst>
                <a:ext uri="{FF2B5EF4-FFF2-40B4-BE49-F238E27FC236}">
                  <a16:creationId xmlns:a16="http://schemas.microsoft.com/office/drawing/2014/main" id="{AE1F28E7-20A5-4D12-9C74-B4D86E3FFB52}"/>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2" name="Freeform 36">
              <a:extLst>
                <a:ext uri="{FF2B5EF4-FFF2-40B4-BE49-F238E27FC236}">
                  <a16:creationId xmlns:a16="http://schemas.microsoft.com/office/drawing/2014/main" id="{51428D20-7DB1-4173-9BCA-5EAE0FBE8E4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313" name="Line 37">
              <a:extLst>
                <a:ext uri="{FF2B5EF4-FFF2-40B4-BE49-F238E27FC236}">
                  <a16:creationId xmlns:a16="http://schemas.microsoft.com/office/drawing/2014/main" id="{08F99BCC-A115-469E-A9BD-6028E7077B52}"/>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4" name="Line 38">
              <a:extLst>
                <a:ext uri="{FF2B5EF4-FFF2-40B4-BE49-F238E27FC236}">
                  <a16:creationId xmlns:a16="http://schemas.microsoft.com/office/drawing/2014/main" id="{CF8E76D6-7A55-4996-9FFB-D321E3253970}"/>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5" name="Line 39">
              <a:extLst>
                <a:ext uri="{FF2B5EF4-FFF2-40B4-BE49-F238E27FC236}">
                  <a16:creationId xmlns:a16="http://schemas.microsoft.com/office/drawing/2014/main" id="{0F2220A7-901D-43A1-A770-A15E8463D1AC}"/>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186" name="Group 40">
            <a:extLst>
              <a:ext uri="{FF2B5EF4-FFF2-40B4-BE49-F238E27FC236}">
                <a16:creationId xmlns:a16="http://schemas.microsoft.com/office/drawing/2014/main" id="{9FC44817-6230-4B69-B42E-62EFC2217619}"/>
              </a:ext>
            </a:extLst>
          </p:cNvPr>
          <p:cNvGrpSpPr>
            <a:grpSpLocks/>
          </p:cNvGrpSpPr>
          <p:nvPr/>
        </p:nvGrpSpPr>
        <p:grpSpPr bwMode="auto">
          <a:xfrm>
            <a:off x="4657726" y="4246564"/>
            <a:ext cx="460375" cy="366712"/>
            <a:chOff x="1014" y="912"/>
            <a:chExt cx="574" cy="596"/>
          </a:xfrm>
        </p:grpSpPr>
        <p:sp>
          <p:nvSpPr>
            <p:cNvPr id="7292" name="Freeform 41">
              <a:extLst>
                <a:ext uri="{FF2B5EF4-FFF2-40B4-BE49-F238E27FC236}">
                  <a16:creationId xmlns:a16="http://schemas.microsoft.com/office/drawing/2014/main" id="{ABDB2B64-1FDA-40D2-8EB4-0F983797E23E}"/>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93" name="Line 42">
              <a:extLst>
                <a:ext uri="{FF2B5EF4-FFF2-40B4-BE49-F238E27FC236}">
                  <a16:creationId xmlns:a16="http://schemas.microsoft.com/office/drawing/2014/main" id="{03313D2D-2DA6-4A3D-958E-70E01D9AB1EB}"/>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4" name="Line 43">
              <a:extLst>
                <a:ext uri="{FF2B5EF4-FFF2-40B4-BE49-F238E27FC236}">
                  <a16:creationId xmlns:a16="http://schemas.microsoft.com/office/drawing/2014/main" id="{F6B577B8-6FC4-4C9D-95A4-31CFFF507EB0}"/>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5" name="Freeform 44">
              <a:extLst>
                <a:ext uri="{FF2B5EF4-FFF2-40B4-BE49-F238E27FC236}">
                  <a16:creationId xmlns:a16="http://schemas.microsoft.com/office/drawing/2014/main" id="{FCE9E914-E8D8-481E-8CBC-2D1213B73BE3}"/>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96" name="Line 45">
              <a:extLst>
                <a:ext uri="{FF2B5EF4-FFF2-40B4-BE49-F238E27FC236}">
                  <a16:creationId xmlns:a16="http://schemas.microsoft.com/office/drawing/2014/main" id="{105A4175-2485-4035-B379-3D29FFCB1848}"/>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7" name="Line 46">
              <a:extLst>
                <a:ext uri="{FF2B5EF4-FFF2-40B4-BE49-F238E27FC236}">
                  <a16:creationId xmlns:a16="http://schemas.microsoft.com/office/drawing/2014/main" id="{77D2F448-F1E9-45F3-B1E1-A2285E557D01}"/>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8" name="Line 47">
              <a:extLst>
                <a:ext uri="{FF2B5EF4-FFF2-40B4-BE49-F238E27FC236}">
                  <a16:creationId xmlns:a16="http://schemas.microsoft.com/office/drawing/2014/main" id="{E91C8913-5430-45E1-B61E-EAE700CFC366}"/>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9" name="Rectangle 48">
              <a:extLst>
                <a:ext uri="{FF2B5EF4-FFF2-40B4-BE49-F238E27FC236}">
                  <a16:creationId xmlns:a16="http://schemas.microsoft.com/office/drawing/2014/main" id="{888CCC85-9696-4F00-8378-2293C5FD2019}"/>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00" name="Freeform 49">
              <a:extLst>
                <a:ext uri="{FF2B5EF4-FFF2-40B4-BE49-F238E27FC236}">
                  <a16:creationId xmlns:a16="http://schemas.microsoft.com/office/drawing/2014/main" id="{9740A4A7-9C20-4D67-8125-27366EC2886D}"/>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301" name="Line 50">
              <a:extLst>
                <a:ext uri="{FF2B5EF4-FFF2-40B4-BE49-F238E27FC236}">
                  <a16:creationId xmlns:a16="http://schemas.microsoft.com/office/drawing/2014/main" id="{31554860-C662-4A6F-A41C-9CD82981808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2" name="Line 51">
              <a:extLst>
                <a:ext uri="{FF2B5EF4-FFF2-40B4-BE49-F238E27FC236}">
                  <a16:creationId xmlns:a16="http://schemas.microsoft.com/office/drawing/2014/main" id="{B4E6DDA8-BE7E-445D-A61D-42D819F371A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3" name="Line 52">
              <a:extLst>
                <a:ext uri="{FF2B5EF4-FFF2-40B4-BE49-F238E27FC236}">
                  <a16:creationId xmlns:a16="http://schemas.microsoft.com/office/drawing/2014/main" id="{CA187541-3596-4AED-846F-EDA7F3CE3CCC}"/>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187" name="AutoShape 53">
            <a:extLst>
              <a:ext uri="{FF2B5EF4-FFF2-40B4-BE49-F238E27FC236}">
                <a16:creationId xmlns:a16="http://schemas.microsoft.com/office/drawing/2014/main" id="{806D8B7B-4278-46B4-871D-A7903BCF5E2A}"/>
              </a:ext>
            </a:extLst>
          </p:cNvPr>
          <p:cNvCxnSpPr>
            <a:cxnSpLocks noChangeShapeType="1"/>
            <a:stCxn id="7304" idx="4"/>
            <a:endCxn id="7173" idx="1"/>
          </p:cNvCxnSpPr>
          <p:nvPr/>
        </p:nvCxnSpPr>
        <p:spPr bwMode="auto">
          <a:xfrm>
            <a:off x="2381250" y="4714875"/>
            <a:ext cx="260350" cy="952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8" name="AutoShape 54">
            <a:extLst>
              <a:ext uri="{FF2B5EF4-FFF2-40B4-BE49-F238E27FC236}">
                <a16:creationId xmlns:a16="http://schemas.microsoft.com/office/drawing/2014/main" id="{2043DA2E-B184-4DED-8138-3D6A5A5412C4}"/>
              </a:ext>
            </a:extLst>
          </p:cNvPr>
          <p:cNvCxnSpPr>
            <a:cxnSpLocks noChangeShapeType="1"/>
            <a:stCxn id="7176" idx="3"/>
            <a:endCxn id="7300" idx="22"/>
          </p:cNvCxnSpPr>
          <p:nvPr/>
        </p:nvCxnSpPr>
        <p:spPr bwMode="auto">
          <a:xfrm flipV="1">
            <a:off x="4502151" y="4498975"/>
            <a:ext cx="168275" cy="3333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89" name="Group 55">
            <a:extLst>
              <a:ext uri="{FF2B5EF4-FFF2-40B4-BE49-F238E27FC236}">
                <a16:creationId xmlns:a16="http://schemas.microsoft.com/office/drawing/2014/main" id="{0DDFDA92-2AE1-44C3-A4B3-9657425B0507}"/>
              </a:ext>
            </a:extLst>
          </p:cNvPr>
          <p:cNvGrpSpPr>
            <a:grpSpLocks/>
          </p:cNvGrpSpPr>
          <p:nvPr/>
        </p:nvGrpSpPr>
        <p:grpSpPr bwMode="auto">
          <a:xfrm>
            <a:off x="7620001" y="4419600"/>
            <a:ext cx="1916113" cy="1366838"/>
            <a:chOff x="832" y="1344"/>
            <a:chExt cx="1136" cy="1024"/>
          </a:xfrm>
        </p:grpSpPr>
        <p:sp>
          <p:nvSpPr>
            <p:cNvPr id="7283" name="Oval 56">
              <a:extLst>
                <a:ext uri="{FF2B5EF4-FFF2-40B4-BE49-F238E27FC236}">
                  <a16:creationId xmlns:a16="http://schemas.microsoft.com/office/drawing/2014/main" id="{7B6BA9EB-BB27-44F3-AF2F-2578FFD77C7B}"/>
                </a:ext>
              </a:extLst>
            </p:cNvPr>
            <p:cNvSpPr>
              <a:spLocks noChangeArrowheads="1"/>
            </p:cNvSpPr>
            <p:nvPr/>
          </p:nvSpPr>
          <p:spPr bwMode="auto">
            <a:xfrm>
              <a:off x="1220" y="1344"/>
              <a:ext cx="495" cy="42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4" name="Oval 57">
              <a:extLst>
                <a:ext uri="{FF2B5EF4-FFF2-40B4-BE49-F238E27FC236}">
                  <a16:creationId xmlns:a16="http://schemas.microsoft.com/office/drawing/2014/main" id="{4015E260-14A5-4169-8927-3AA2DCFB137D}"/>
                </a:ext>
              </a:extLst>
            </p:cNvPr>
            <p:cNvSpPr>
              <a:spLocks noChangeArrowheads="1"/>
            </p:cNvSpPr>
            <p:nvPr/>
          </p:nvSpPr>
          <p:spPr bwMode="auto">
            <a:xfrm>
              <a:off x="948" y="1455"/>
              <a:ext cx="379" cy="42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5" name="Oval 58">
              <a:extLst>
                <a:ext uri="{FF2B5EF4-FFF2-40B4-BE49-F238E27FC236}">
                  <a16:creationId xmlns:a16="http://schemas.microsoft.com/office/drawing/2014/main" id="{F25DAA98-7708-4C1A-AF2D-07CFE21CE853}"/>
                </a:ext>
              </a:extLst>
            </p:cNvPr>
            <p:cNvSpPr>
              <a:spLocks noChangeArrowheads="1"/>
            </p:cNvSpPr>
            <p:nvPr/>
          </p:nvSpPr>
          <p:spPr bwMode="auto">
            <a:xfrm>
              <a:off x="832" y="1710"/>
              <a:ext cx="256" cy="306"/>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6" name="Oval 59">
              <a:extLst>
                <a:ext uri="{FF2B5EF4-FFF2-40B4-BE49-F238E27FC236}">
                  <a16:creationId xmlns:a16="http://schemas.microsoft.com/office/drawing/2014/main" id="{56785742-EE78-4FAF-A695-0E9787DF14A9}"/>
                </a:ext>
              </a:extLst>
            </p:cNvPr>
            <p:cNvSpPr>
              <a:spLocks noChangeArrowheads="1"/>
            </p:cNvSpPr>
            <p:nvPr/>
          </p:nvSpPr>
          <p:spPr bwMode="auto">
            <a:xfrm>
              <a:off x="909" y="1862"/>
              <a:ext cx="435" cy="442"/>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7" name="Oval 60">
              <a:extLst>
                <a:ext uri="{FF2B5EF4-FFF2-40B4-BE49-F238E27FC236}">
                  <a16:creationId xmlns:a16="http://schemas.microsoft.com/office/drawing/2014/main" id="{03AA3DB8-75EA-41AD-81A6-0B58C4F62009}"/>
                </a:ext>
              </a:extLst>
            </p:cNvPr>
            <p:cNvSpPr>
              <a:spLocks noChangeArrowheads="1"/>
            </p:cNvSpPr>
            <p:nvPr/>
          </p:nvSpPr>
          <p:spPr bwMode="auto">
            <a:xfrm>
              <a:off x="1086" y="1924"/>
              <a:ext cx="671" cy="44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8" name="Oval 61">
              <a:extLst>
                <a:ext uri="{FF2B5EF4-FFF2-40B4-BE49-F238E27FC236}">
                  <a16:creationId xmlns:a16="http://schemas.microsoft.com/office/drawing/2014/main" id="{B4EE5187-19E6-453D-99A4-3C0F63EA8507}"/>
                </a:ext>
              </a:extLst>
            </p:cNvPr>
            <p:cNvSpPr>
              <a:spLocks noChangeArrowheads="1"/>
            </p:cNvSpPr>
            <p:nvPr/>
          </p:nvSpPr>
          <p:spPr bwMode="auto">
            <a:xfrm>
              <a:off x="1605" y="1488"/>
              <a:ext cx="311" cy="312"/>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9" name="Oval 62">
              <a:extLst>
                <a:ext uri="{FF2B5EF4-FFF2-40B4-BE49-F238E27FC236}">
                  <a16:creationId xmlns:a16="http://schemas.microsoft.com/office/drawing/2014/main" id="{17FE507E-9C2B-4F47-8574-A6841EBD5ADE}"/>
                </a:ext>
              </a:extLst>
            </p:cNvPr>
            <p:cNvSpPr>
              <a:spLocks noChangeArrowheads="1"/>
            </p:cNvSpPr>
            <p:nvPr/>
          </p:nvSpPr>
          <p:spPr bwMode="auto">
            <a:xfrm>
              <a:off x="1602" y="1681"/>
              <a:ext cx="366" cy="333"/>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90" name="Oval 63">
              <a:extLst>
                <a:ext uri="{FF2B5EF4-FFF2-40B4-BE49-F238E27FC236}">
                  <a16:creationId xmlns:a16="http://schemas.microsoft.com/office/drawing/2014/main" id="{3BFCCB1C-0362-4F7D-B19D-75338865FDC8}"/>
                </a:ext>
              </a:extLst>
            </p:cNvPr>
            <p:cNvSpPr>
              <a:spLocks noChangeArrowheads="1"/>
            </p:cNvSpPr>
            <p:nvPr/>
          </p:nvSpPr>
          <p:spPr bwMode="auto">
            <a:xfrm>
              <a:off x="1569" y="1751"/>
              <a:ext cx="364" cy="547"/>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91" name="Oval 64">
              <a:extLst>
                <a:ext uri="{FF2B5EF4-FFF2-40B4-BE49-F238E27FC236}">
                  <a16:creationId xmlns:a16="http://schemas.microsoft.com/office/drawing/2014/main" id="{3051B803-0EDB-416D-8489-A704889A8356}"/>
                </a:ext>
              </a:extLst>
            </p:cNvPr>
            <p:cNvSpPr>
              <a:spLocks noChangeArrowheads="1"/>
            </p:cNvSpPr>
            <p:nvPr/>
          </p:nvSpPr>
          <p:spPr bwMode="auto">
            <a:xfrm>
              <a:off x="912" y="1434"/>
              <a:ext cx="1008" cy="918"/>
            </a:xfrm>
            <a:prstGeom prst="ellipse">
              <a:avLst/>
            </a:prstGeom>
            <a:solidFill>
              <a:srgbClr val="CCFFFF"/>
            </a:solidFill>
            <a:ln>
              <a:noFill/>
            </a:ln>
            <a:extLst>
              <a:ext uri="{91240B29-F687-4F45-9708-019B960494DF}">
                <a14:hiddenLine xmlns:a14="http://schemas.microsoft.com/office/drawing/2010/main" w="9525">
                  <a:solidFill>
                    <a:srgbClr val="DDDDDD"/>
                  </a:solidFill>
                  <a:round/>
                  <a:headEnd/>
                  <a:tailEnd/>
                </a14:hiddenLine>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190" name="Rectangle 65">
            <a:extLst>
              <a:ext uri="{FF2B5EF4-FFF2-40B4-BE49-F238E27FC236}">
                <a16:creationId xmlns:a16="http://schemas.microsoft.com/office/drawing/2014/main" id="{1170AA18-3794-4C14-BCB1-A7D4A3C8209F}"/>
              </a:ext>
            </a:extLst>
          </p:cNvPr>
          <p:cNvSpPr>
            <a:spLocks noChangeArrowheads="1"/>
          </p:cNvSpPr>
          <p:nvPr/>
        </p:nvSpPr>
        <p:spPr bwMode="auto">
          <a:xfrm>
            <a:off x="8129588" y="46704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1" name="Rectangle 66">
            <a:extLst>
              <a:ext uri="{FF2B5EF4-FFF2-40B4-BE49-F238E27FC236}">
                <a16:creationId xmlns:a16="http://schemas.microsoft.com/office/drawing/2014/main" id="{353CDC6A-507D-4E75-AFF2-413DD9438869}"/>
              </a:ext>
            </a:extLst>
          </p:cNvPr>
          <p:cNvSpPr>
            <a:spLocks noChangeArrowheads="1"/>
          </p:cNvSpPr>
          <p:nvPr/>
        </p:nvSpPr>
        <p:spPr bwMode="auto">
          <a:xfrm>
            <a:off x="7593013" y="505936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2" name="Rectangle 67">
            <a:extLst>
              <a:ext uri="{FF2B5EF4-FFF2-40B4-BE49-F238E27FC236}">
                <a16:creationId xmlns:a16="http://schemas.microsoft.com/office/drawing/2014/main" id="{FCBBE23C-2A00-4734-A3B6-8C46FC5B4F96}"/>
              </a:ext>
            </a:extLst>
          </p:cNvPr>
          <p:cNvSpPr>
            <a:spLocks noChangeArrowheads="1"/>
          </p:cNvSpPr>
          <p:nvPr/>
        </p:nvSpPr>
        <p:spPr bwMode="auto">
          <a:xfrm>
            <a:off x="8502650" y="55721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3" name="Rectangle 68">
            <a:extLst>
              <a:ext uri="{FF2B5EF4-FFF2-40B4-BE49-F238E27FC236}">
                <a16:creationId xmlns:a16="http://schemas.microsoft.com/office/drawing/2014/main" id="{B6F07053-DD78-4087-97AB-BAD6D7F512E9}"/>
              </a:ext>
            </a:extLst>
          </p:cNvPr>
          <p:cNvSpPr>
            <a:spLocks noChangeArrowheads="1"/>
          </p:cNvSpPr>
          <p:nvPr/>
        </p:nvSpPr>
        <p:spPr bwMode="auto">
          <a:xfrm>
            <a:off x="8969375" y="55721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4" name="Rectangle 69">
            <a:extLst>
              <a:ext uri="{FF2B5EF4-FFF2-40B4-BE49-F238E27FC236}">
                <a16:creationId xmlns:a16="http://schemas.microsoft.com/office/drawing/2014/main" id="{8DC2E83D-00F0-485D-9B80-BEBC49AFAD85}"/>
              </a:ext>
            </a:extLst>
          </p:cNvPr>
          <p:cNvSpPr>
            <a:spLocks noChangeArrowheads="1"/>
          </p:cNvSpPr>
          <p:nvPr/>
        </p:nvSpPr>
        <p:spPr bwMode="auto">
          <a:xfrm>
            <a:off x="9293225" y="48672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5" name="Rectangle 70">
            <a:extLst>
              <a:ext uri="{FF2B5EF4-FFF2-40B4-BE49-F238E27FC236}">
                <a16:creationId xmlns:a16="http://schemas.microsoft.com/office/drawing/2014/main" id="{0760D5A8-9344-4E87-B483-474F36C7DD43}"/>
              </a:ext>
            </a:extLst>
          </p:cNvPr>
          <p:cNvSpPr>
            <a:spLocks noChangeArrowheads="1"/>
          </p:cNvSpPr>
          <p:nvPr/>
        </p:nvSpPr>
        <p:spPr bwMode="auto">
          <a:xfrm>
            <a:off x="8704263" y="461327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196" name="AutoShape 71">
            <a:extLst>
              <a:ext uri="{FF2B5EF4-FFF2-40B4-BE49-F238E27FC236}">
                <a16:creationId xmlns:a16="http://schemas.microsoft.com/office/drawing/2014/main" id="{0F7833AE-BA3C-4071-8C9A-4158970D6BB9}"/>
              </a:ext>
            </a:extLst>
          </p:cNvPr>
          <p:cNvCxnSpPr>
            <a:cxnSpLocks noChangeShapeType="1"/>
            <a:stCxn id="7191" idx="3"/>
            <a:endCxn id="7190" idx="1"/>
          </p:cNvCxnSpPr>
          <p:nvPr/>
        </p:nvCxnSpPr>
        <p:spPr bwMode="auto">
          <a:xfrm flipV="1">
            <a:off x="7754939" y="4735513"/>
            <a:ext cx="374650" cy="3889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7" name="AutoShape 72">
            <a:extLst>
              <a:ext uri="{FF2B5EF4-FFF2-40B4-BE49-F238E27FC236}">
                <a16:creationId xmlns:a16="http://schemas.microsoft.com/office/drawing/2014/main" id="{519B5EC2-81A6-419C-9B82-21C288EBF26A}"/>
              </a:ext>
            </a:extLst>
          </p:cNvPr>
          <p:cNvCxnSpPr>
            <a:cxnSpLocks noChangeShapeType="1"/>
            <a:stCxn id="7190" idx="3"/>
            <a:endCxn id="7195" idx="1"/>
          </p:cNvCxnSpPr>
          <p:nvPr/>
        </p:nvCxnSpPr>
        <p:spPr bwMode="auto">
          <a:xfrm flipV="1">
            <a:off x="8291513" y="4678364"/>
            <a:ext cx="412750" cy="5715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8" name="AutoShape 73">
            <a:extLst>
              <a:ext uri="{FF2B5EF4-FFF2-40B4-BE49-F238E27FC236}">
                <a16:creationId xmlns:a16="http://schemas.microsoft.com/office/drawing/2014/main" id="{B7A322FD-24F0-49C5-A2BB-C7086F26F6A1}"/>
              </a:ext>
            </a:extLst>
          </p:cNvPr>
          <p:cNvCxnSpPr>
            <a:cxnSpLocks noChangeShapeType="1"/>
            <a:stCxn id="7195" idx="3"/>
            <a:endCxn id="7194" idx="1"/>
          </p:cNvCxnSpPr>
          <p:nvPr/>
        </p:nvCxnSpPr>
        <p:spPr bwMode="auto">
          <a:xfrm>
            <a:off x="8866189" y="4678364"/>
            <a:ext cx="427037" cy="2540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9" name="AutoShape 74">
            <a:extLst>
              <a:ext uri="{FF2B5EF4-FFF2-40B4-BE49-F238E27FC236}">
                <a16:creationId xmlns:a16="http://schemas.microsoft.com/office/drawing/2014/main" id="{5823B107-86E7-4863-9003-4F417E284DFF}"/>
              </a:ext>
            </a:extLst>
          </p:cNvPr>
          <p:cNvCxnSpPr>
            <a:cxnSpLocks noChangeShapeType="1"/>
            <a:stCxn id="7192" idx="0"/>
            <a:endCxn id="7195" idx="2"/>
          </p:cNvCxnSpPr>
          <p:nvPr/>
        </p:nvCxnSpPr>
        <p:spPr bwMode="auto">
          <a:xfrm flipV="1">
            <a:off x="8583613" y="4741864"/>
            <a:ext cx="201612" cy="830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0" name="AutoShape 75">
            <a:extLst>
              <a:ext uri="{FF2B5EF4-FFF2-40B4-BE49-F238E27FC236}">
                <a16:creationId xmlns:a16="http://schemas.microsoft.com/office/drawing/2014/main" id="{54103E46-BB76-4817-A14D-7C2EEE9D82DB}"/>
              </a:ext>
            </a:extLst>
          </p:cNvPr>
          <p:cNvCxnSpPr>
            <a:cxnSpLocks noChangeShapeType="1"/>
            <a:stCxn id="7193" idx="0"/>
            <a:endCxn id="7194" idx="2"/>
          </p:cNvCxnSpPr>
          <p:nvPr/>
        </p:nvCxnSpPr>
        <p:spPr bwMode="auto">
          <a:xfrm flipV="1">
            <a:off x="9050338" y="499586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1" name="AutoShape 76">
            <a:extLst>
              <a:ext uri="{FF2B5EF4-FFF2-40B4-BE49-F238E27FC236}">
                <a16:creationId xmlns:a16="http://schemas.microsoft.com/office/drawing/2014/main" id="{A92CF492-5E5F-4B10-ADB2-5978F42382F9}"/>
              </a:ext>
            </a:extLst>
          </p:cNvPr>
          <p:cNvCxnSpPr>
            <a:cxnSpLocks noChangeShapeType="1"/>
            <a:stCxn id="7192" idx="3"/>
            <a:endCxn id="7193" idx="1"/>
          </p:cNvCxnSpPr>
          <p:nvPr/>
        </p:nvCxnSpPr>
        <p:spPr bwMode="auto">
          <a:xfrm>
            <a:off x="8664575" y="5637214"/>
            <a:ext cx="3048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02" name="Group 77">
            <a:extLst>
              <a:ext uri="{FF2B5EF4-FFF2-40B4-BE49-F238E27FC236}">
                <a16:creationId xmlns:a16="http://schemas.microsoft.com/office/drawing/2014/main" id="{E758CA9C-C308-4250-90CF-2B900BFB30DB}"/>
              </a:ext>
            </a:extLst>
          </p:cNvPr>
          <p:cNvGrpSpPr>
            <a:grpSpLocks/>
          </p:cNvGrpSpPr>
          <p:nvPr/>
        </p:nvGrpSpPr>
        <p:grpSpPr bwMode="auto">
          <a:xfrm>
            <a:off x="8062914" y="5786439"/>
            <a:ext cx="460375" cy="365125"/>
            <a:chOff x="1014" y="912"/>
            <a:chExt cx="574" cy="596"/>
          </a:xfrm>
        </p:grpSpPr>
        <p:sp>
          <p:nvSpPr>
            <p:cNvPr id="7271" name="Freeform 78">
              <a:extLst>
                <a:ext uri="{FF2B5EF4-FFF2-40B4-BE49-F238E27FC236}">
                  <a16:creationId xmlns:a16="http://schemas.microsoft.com/office/drawing/2014/main" id="{E1263FC6-D4A4-46B9-BC83-7F6D3D3F6AD0}"/>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72" name="Line 79">
              <a:extLst>
                <a:ext uri="{FF2B5EF4-FFF2-40B4-BE49-F238E27FC236}">
                  <a16:creationId xmlns:a16="http://schemas.microsoft.com/office/drawing/2014/main" id="{7E482730-17C4-40AA-8C65-D9F0A4DD98B0}"/>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3" name="Line 80">
              <a:extLst>
                <a:ext uri="{FF2B5EF4-FFF2-40B4-BE49-F238E27FC236}">
                  <a16:creationId xmlns:a16="http://schemas.microsoft.com/office/drawing/2014/main" id="{4AC46A2D-C5D6-4CAC-BA9A-135C264F3319}"/>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4" name="Freeform 81">
              <a:extLst>
                <a:ext uri="{FF2B5EF4-FFF2-40B4-BE49-F238E27FC236}">
                  <a16:creationId xmlns:a16="http://schemas.microsoft.com/office/drawing/2014/main" id="{05205842-622E-4020-868A-3A6C734108D2}"/>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75" name="Line 82">
              <a:extLst>
                <a:ext uri="{FF2B5EF4-FFF2-40B4-BE49-F238E27FC236}">
                  <a16:creationId xmlns:a16="http://schemas.microsoft.com/office/drawing/2014/main" id="{2CE48A86-C9AB-4979-9DCC-9D381811953C}"/>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6" name="Line 83">
              <a:extLst>
                <a:ext uri="{FF2B5EF4-FFF2-40B4-BE49-F238E27FC236}">
                  <a16:creationId xmlns:a16="http://schemas.microsoft.com/office/drawing/2014/main" id="{427055B5-DBEE-477A-809C-E58E223BBD8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7" name="Line 84">
              <a:extLst>
                <a:ext uri="{FF2B5EF4-FFF2-40B4-BE49-F238E27FC236}">
                  <a16:creationId xmlns:a16="http://schemas.microsoft.com/office/drawing/2014/main" id="{690E1B63-BE37-494C-A8F2-36CEBCBF564A}"/>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8" name="Rectangle 85">
              <a:extLst>
                <a:ext uri="{FF2B5EF4-FFF2-40B4-BE49-F238E27FC236}">
                  <a16:creationId xmlns:a16="http://schemas.microsoft.com/office/drawing/2014/main" id="{D96183CC-C4CE-424F-BB07-7E09654AF158}"/>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79" name="Freeform 86">
              <a:extLst>
                <a:ext uri="{FF2B5EF4-FFF2-40B4-BE49-F238E27FC236}">
                  <a16:creationId xmlns:a16="http://schemas.microsoft.com/office/drawing/2014/main" id="{D0841DF6-741F-4FBA-9834-C0A260293A8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80" name="Line 87">
              <a:extLst>
                <a:ext uri="{FF2B5EF4-FFF2-40B4-BE49-F238E27FC236}">
                  <a16:creationId xmlns:a16="http://schemas.microsoft.com/office/drawing/2014/main" id="{5BDBBAF7-01BF-4230-9021-335188EC36FD}"/>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81" name="Line 88">
              <a:extLst>
                <a:ext uri="{FF2B5EF4-FFF2-40B4-BE49-F238E27FC236}">
                  <a16:creationId xmlns:a16="http://schemas.microsoft.com/office/drawing/2014/main" id="{B48EF265-CC55-4A9F-922E-C203BDD6AC3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82" name="Line 89">
              <a:extLst>
                <a:ext uri="{FF2B5EF4-FFF2-40B4-BE49-F238E27FC236}">
                  <a16:creationId xmlns:a16="http://schemas.microsoft.com/office/drawing/2014/main" id="{D556FD34-BC57-492E-9C2B-E44734F8B673}"/>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203" name="Group 90">
            <a:extLst>
              <a:ext uri="{FF2B5EF4-FFF2-40B4-BE49-F238E27FC236}">
                <a16:creationId xmlns:a16="http://schemas.microsoft.com/office/drawing/2014/main" id="{B6588F94-E9C3-4138-BC42-7F9881803E33}"/>
              </a:ext>
            </a:extLst>
          </p:cNvPr>
          <p:cNvGrpSpPr>
            <a:grpSpLocks/>
          </p:cNvGrpSpPr>
          <p:nvPr/>
        </p:nvGrpSpPr>
        <p:grpSpPr bwMode="auto">
          <a:xfrm>
            <a:off x="9610726" y="4646614"/>
            <a:ext cx="460375" cy="365125"/>
            <a:chOff x="1014" y="912"/>
            <a:chExt cx="574" cy="596"/>
          </a:xfrm>
        </p:grpSpPr>
        <p:sp>
          <p:nvSpPr>
            <p:cNvPr id="7259" name="Freeform 91">
              <a:extLst>
                <a:ext uri="{FF2B5EF4-FFF2-40B4-BE49-F238E27FC236}">
                  <a16:creationId xmlns:a16="http://schemas.microsoft.com/office/drawing/2014/main" id="{3A69D865-AE31-46B7-A1DD-5F38C120B1F0}"/>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60" name="Line 92">
              <a:extLst>
                <a:ext uri="{FF2B5EF4-FFF2-40B4-BE49-F238E27FC236}">
                  <a16:creationId xmlns:a16="http://schemas.microsoft.com/office/drawing/2014/main" id="{95713906-5523-4EE6-AE1E-825D25AF2151}"/>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1" name="Line 93">
              <a:extLst>
                <a:ext uri="{FF2B5EF4-FFF2-40B4-BE49-F238E27FC236}">
                  <a16:creationId xmlns:a16="http://schemas.microsoft.com/office/drawing/2014/main" id="{44ACFB93-A230-4CCC-BE23-30AE6B396E17}"/>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2" name="Freeform 94">
              <a:extLst>
                <a:ext uri="{FF2B5EF4-FFF2-40B4-BE49-F238E27FC236}">
                  <a16:creationId xmlns:a16="http://schemas.microsoft.com/office/drawing/2014/main" id="{94BFAD29-6512-4F32-AB9A-A8A57C577384}"/>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63" name="Line 95">
              <a:extLst>
                <a:ext uri="{FF2B5EF4-FFF2-40B4-BE49-F238E27FC236}">
                  <a16:creationId xmlns:a16="http://schemas.microsoft.com/office/drawing/2014/main" id="{737BBB0A-8120-4F94-AEF9-F8306FB20436}"/>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4" name="Line 96">
              <a:extLst>
                <a:ext uri="{FF2B5EF4-FFF2-40B4-BE49-F238E27FC236}">
                  <a16:creationId xmlns:a16="http://schemas.microsoft.com/office/drawing/2014/main" id="{334A6013-5886-4A7E-8F80-AD5D19CFEB93}"/>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5" name="Line 97">
              <a:extLst>
                <a:ext uri="{FF2B5EF4-FFF2-40B4-BE49-F238E27FC236}">
                  <a16:creationId xmlns:a16="http://schemas.microsoft.com/office/drawing/2014/main" id="{CB7E9747-C228-4091-9F60-34710C23DEDD}"/>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6" name="Rectangle 98">
              <a:extLst>
                <a:ext uri="{FF2B5EF4-FFF2-40B4-BE49-F238E27FC236}">
                  <a16:creationId xmlns:a16="http://schemas.microsoft.com/office/drawing/2014/main" id="{562921CD-2446-4899-9F88-7B41363573EB}"/>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67" name="Freeform 99">
              <a:extLst>
                <a:ext uri="{FF2B5EF4-FFF2-40B4-BE49-F238E27FC236}">
                  <a16:creationId xmlns:a16="http://schemas.microsoft.com/office/drawing/2014/main" id="{7F6B3BC7-2F5C-4425-8B6E-2054548EC58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68" name="Line 100">
              <a:extLst>
                <a:ext uri="{FF2B5EF4-FFF2-40B4-BE49-F238E27FC236}">
                  <a16:creationId xmlns:a16="http://schemas.microsoft.com/office/drawing/2014/main" id="{F69C1895-BE9E-4D48-8ABC-4A2EECB5888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9" name="Line 101">
              <a:extLst>
                <a:ext uri="{FF2B5EF4-FFF2-40B4-BE49-F238E27FC236}">
                  <a16:creationId xmlns:a16="http://schemas.microsoft.com/office/drawing/2014/main" id="{6AD90C53-9205-407A-ADAF-854F36F26B5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0" name="Line 102">
              <a:extLst>
                <a:ext uri="{FF2B5EF4-FFF2-40B4-BE49-F238E27FC236}">
                  <a16:creationId xmlns:a16="http://schemas.microsoft.com/office/drawing/2014/main" id="{F83A12AB-1813-4228-B026-9FABCE7D72C8}"/>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204" name="AutoShape 103">
            <a:extLst>
              <a:ext uri="{FF2B5EF4-FFF2-40B4-BE49-F238E27FC236}">
                <a16:creationId xmlns:a16="http://schemas.microsoft.com/office/drawing/2014/main" id="{3E537951-06AE-4087-8953-CC3E2089A79B}"/>
              </a:ext>
            </a:extLst>
          </p:cNvPr>
          <p:cNvCxnSpPr>
            <a:cxnSpLocks noChangeShapeType="1"/>
            <a:stCxn id="7279" idx="14"/>
            <a:endCxn id="7192" idx="2"/>
          </p:cNvCxnSpPr>
          <p:nvPr/>
        </p:nvCxnSpPr>
        <p:spPr bwMode="auto">
          <a:xfrm flipV="1">
            <a:off x="8432801" y="5700714"/>
            <a:ext cx="150814" cy="1127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5" name="AutoShape 104">
            <a:extLst>
              <a:ext uri="{FF2B5EF4-FFF2-40B4-BE49-F238E27FC236}">
                <a16:creationId xmlns:a16="http://schemas.microsoft.com/office/drawing/2014/main" id="{3B18C048-08DF-439A-9AF3-537FE5B3971C}"/>
              </a:ext>
            </a:extLst>
          </p:cNvPr>
          <p:cNvCxnSpPr>
            <a:cxnSpLocks noChangeShapeType="1"/>
            <a:stCxn id="7194" idx="3"/>
            <a:endCxn id="7267" idx="22"/>
          </p:cNvCxnSpPr>
          <p:nvPr/>
        </p:nvCxnSpPr>
        <p:spPr bwMode="auto">
          <a:xfrm flipV="1">
            <a:off x="9455151" y="4897439"/>
            <a:ext cx="168275" cy="349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6" name="AutoShape 105">
            <a:extLst>
              <a:ext uri="{FF2B5EF4-FFF2-40B4-BE49-F238E27FC236}">
                <a16:creationId xmlns:a16="http://schemas.microsoft.com/office/drawing/2014/main" id="{FD50064C-6B23-4BAD-AFF5-86D8F9610C2B}"/>
              </a:ext>
            </a:extLst>
          </p:cNvPr>
          <p:cNvCxnSpPr>
            <a:cxnSpLocks noChangeShapeType="1"/>
            <a:stCxn id="7191" idx="3"/>
            <a:endCxn id="7192" idx="1"/>
          </p:cNvCxnSpPr>
          <p:nvPr/>
        </p:nvCxnSpPr>
        <p:spPr bwMode="auto">
          <a:xfrm>
            <a:off x="7754939" y="5124450"/>
            <a:ext cx="747712"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07" name="Group 106">
            <a:extLst>
              <a:ext uri="{FF2B5EF4-FFF2-40B4-BE49-F238E27FC236}">
                <a16:creationId xmlns:a16="http://schemas.microsoft.com/office/drawing/2014/main" id="{4BDCD7CE-23E2-41CB-A67A-011BA202E712}"/>
              </a:ext>
            </a:extLst>
          </p:cNvPr>
          <p:cNvGrpSpPr>
            <a:grpSpLocks/>
          </p:cNvGrpSpPr>
          <p:nvPr/>
        </p:nvGrpSpPr>
        <p:grpSpPr bwMode="auto">
          <a:xfrm>
            <a:off x="5410201" y="4495800"/>
            <a:ext cx="1916113" cy="1366838"/>
            <a:chOff x="832" y="1344"/>
            <a:chExt cx="1136" cy="1024"/>
          </a:xfrm>
        </p:grpSpPr>
        <p:sp>
          <p:nvSpPr>
            <p:cNvPr id="7250" name="Oval 107">
              <a:extLst>
                <a:ext uri="{FF2B5EF4-FFF2-40B4-BE49-F238E27FC236}">
                  <a16:creationId xmlns:a16="http://schemas.microsoft.com/office/drawing/2014/main" id="{F08E3510-F5C1-4896-A0FE-898EFBEAEBA1}"/>
                </a:ext>
              </a:extLst>
            </p:cNvPr>
            <p:cNvSpPr>
              <a:spLocks noChangeArrowheads="1"/>
            </p:cNvSpPr>
            <p:nvPr/>
          </p:nvSpPr>
          <p:spPr bwMode="auto">
            <a:xfrm>
              <a:off x="1220" y="1344"/>
              <a:ext cx="495" cy="42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1" name="Oval 108">
              <a:extLst>
                <a:ext uri="{FF2B5EF4-FFF2-40B4-BE49-F238E27FC236}">
                  <a16:creationId xmlns:a16="http://schemas.microsoft.com/office/drawing/2014/main" id="{6978F23B-4E57-4BCB-9879-470699A60747}"/>
                </a:ext>
              </a:extLst>
            </p:cNvPr>
            <p:cNvSpPr>
              <a:spLocks noChangeArrowheads="1"/>
            </p:cNvSpPr>
            <p:nvPr/>
          </p:nvSpPr>
          <p:spPr bwMode="auto">
            <a:xfrm>
              <a:off x="948" y="1455"/>
              <a:ext cx="379" cy="42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2" name="Oval 109">
              <a:extLst>
                <a:ext uri="{FF2B5EF4-FFF2-40B4-BE49-F238E27FC236}">
                  <a16:creationId xmlns:a16="http://schemas.microsoft.com/office/drawing/2014/main" id="{33D08C9C-7A9B-4DA4-BDD9-99DB891FEA01}"/>
                </a:ext>
              </a:extLst>
            </p:cNvPr>
            <p:cNvSpPr>
              <a:spLocks noChangeArrowheads="1"/>
            </p:cNvSpPr>
            <p:nvPr/>
          </p:nvSpPr>
          <p:spPr bwMode="auto">
            <a:xfrm>
              <a:off x="832" y="1710"/>
              <a:ext cx="256" cy="306"/>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3" name="Oval 110">
              <a:extLst>
                <a:ext uri="{FF2B5EF4-FFF2-40B4-BE49-F238E27FC236}">
                  <a16:creationId xmlns:a16="http://schemas.microsoft.com/office/drawing/2014/main" id="{479F683F-095A-4FCE-A7B3-61CC237AAE50}"/>
                </a:ext>
              </a:extLst>
            </p:cNvPr>
            <p:cNvSpPr>
              <a:spLocks noChangeArrowheads="1"/>
            </p:cNvSpPr>
            <p:nvPr/>
          </p:nvSpPr>
          <p:spPr bwMode="auto">
            <a:xfrm>
              <a:off x="909" y="1862"/>
              <a:ext cx="435" cy="442"/>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4" name="Oval 111">
              <a:extLst>
                <a:ext uri="{FF2B5EF4-FFF2-40B4-BE49-F238E27FC236}">
                  <a16:creationId xmlns:a16="http://schemas.microsoft.com/office/drawing/2014/main" id="{6AC116AD-2CCD-488E-B9B5-33084525EFC3}"/>
                </a:ext>
              </a:extLst>
            </p:cNvPr>
            <p:cNvSpPr>
              <a:spLocks noChangeArrowheads="1"/>
            </p:cNvSpPr>
            <p:nvPr/>
          </p:nvSpPr>
          <p:spPr bwMode="auto">
            <a:xfrm>
              <a:off x="1086" y="1924"/>
              <a:ext cx="671" cy="44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5" name="Oval 112">
              <a:extLst>
                <a:ext uri="{FF2B5EF4-FFF2-40B4-BE49-F238E27FC236}">
                  <a16:creationId xmlns:a16="http://schemas.microsoft.com/office/drawing/2014/main" id="{ED8DF387-D91D-4DF5-98F1-9417DCF38FA0}"/>
                </a:ext>
              </a:extLst>
            </p:cNvPr>
            <p:cNvSpPr>
              <a:spLocks noChangeArrowheads="1"/>
            </p:cNvSpPr>
            <p:nvPr/>
          </p:nvSpPr>
          <p:spPr bwMode="auto">
            <a:xfrm>
              <a:off x="1605" y="1488"/>
              <a:ext cx="311" cy="312"/>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6" name="Oval 113">
              <a:extLst>
                <a:ext uri="{FF2B5EF4-FFF2-40B4-BE49-F238E27FC236}">
                  <a16:creationId xmlns:a16="http://schemas.microsoft.com/office/drawing/2014/main" id="{C6F13007-251A-4FED-8B9A-40A925E1DFC0}"/>
                </a:ext>
              </a:extLst>
            </p:cNvPr>
            <p:cNvSpPr>
              <a:spLocks noChangeArrowheads="1"/>
            </p:cNvSpPr>
            <p:nvPr/>
          </p:nvSpPr>
          <p:spPr bwMode="auto">
            <a:xfrm>
              <a:off x="1602" y="1681"/>
              <a:ext cx="366" cy="333"/>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7" name="Oval 114">
              <a:extLst>
                <a:ext uri="{FF2B5EF4-FFF2-40B4-BE49-F238E27FC236}">
                  <a16:creationId xmlns:a16="http://schemas.microsoft.com/office/drawing/2014/main" id="{A20F3C34-8656-4CD3-834A-0D6E0F9634F5}"/>
                </a:ext>
              </a:extLst>
            </p:cNvPr>
            <p:cNvSpPr>
              <a:spLocks noChangeArrowheads="1"/>
            </p:cNvSpPr>
            <p:nvPr/>
          </p:nvSpPr>
          <p:spPr bwMode="auto">
            <a:xfrm>
              <a:off x="1569" y="1751"/>
              <a:ext cx="364" cy="547"/>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8" name="Oval 115">
              <a:extLst>
                <a:ext uri="{FF2B5EF4-FFF2-40B4-BE49-F238E27FC236}">
                  <a16:creationId xmlns:a16="http://schemas.microsoft.com/office/drawing/2014/main" id="{4370E851-39CC-4CF1-9C9B-97074580972D}"/>
                </a:ext>
              </a:extLst>
            </p:cNvPr>
            <p:cNvSpPr>
              <a:spLocks noChangeArrowheads="1"/>
            </p:cNvSpPr>
            <p:nvPr/>
          </p:nvSpPr>
          <p:spPr bwMode="auto">
            <a:xfrm>
              <a:off x="912" y="1434"/>
              <a:ext cx="1008" cy="918"/>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208" name="Rectangle 116">
            <a:extLst>
              <a:ext uri="{FF2B5EF4-FFF2-40B4-BE49-F238E27FC236}">
                <a16:creationId xmlns:a16="http://schemas.microsoft.com/office/drawing/2014/main" id="{E52B4325-C5E8-4E40-ACCA-AF5A8E588B63}"/>
              </a:ext>
            </a:extLst>
          </p:cNvPr>
          <p:cNvSpPr>
            <a:spLocks noChangeArrowheads="1"/>
          </p:cNvSpPr>
          <p:nvPr/>
        </p:nvSpPr>
        <p:spPr bwMode="auto">
          <a:xfrm>
            <a:off x="5986463" y="4779964"/>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09" name="Rectangle 117">
            <a:extLst>
              <a:ext uri="{FF2B5EF4-FFF2-40B4-BE49-F238E27FC236}">
                <a16:creationId xmlns:a16="http://schemas.microsoft.com/office/drawing/2014/main" id="{074042E8-AFE0-49A5-B2F5-E8D7AFE67C87}"/>
              </a:ext>
            </a:extLst>
          </p:cNvPr>
          <p:cNvSpPr>
            <a:spLocks noChangeArrowheads="1"/>
          </p:cNvSpPr>
          <p:nvPr/>
        </p:nvSpPr>
        <p:spPr bwMode="auto">
          <a:xfrm>
            <a:off x="5383213" y="513556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0" name="Rectangle 118">
            <a:extLst>
              <a:ext uri="{FF2B5EF4-FFF2-40B4-BE49-F238E27FC236}">
                <a16:creationId xmlns:a16="http://schemas.microsoft.com/office/drawing/2014/main" id="{B2F01DBB-2957-4261-825F-090326E38136}"/>
              </a:ext>
            </a:extLst>
          </p:cNvPr>
          <p:cNvSpPr>
            <a:spLocks noChangeArrowheads="1"/>
          </p:cNvSpPr>
          <p:nvPr/>
        </p:nvSpPr>
        <p:spPr bwMode="auto">
          <a:xfrm>
            <a:off x="5949950" y="56483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1" name="Rectangle 119">
            <a:extLst>
              <a:ext uri="{FF2B5EF4-FFF2-40B4-BE49-F238E27FC236}">
                <a16:creationId xmlns:a16="http://schemas.microsoft.com/office/drawing/2014/main" id="{7275449B-BB36-4E5D-BE11-9477A936CB29}"/>
              </a:ext>
            </a:extLst>
          </p:cNvPr>
          <p:cNvSpPr>
            <a:spLocks noChangeArrowheads="1"/>
          </p:cNvSpPr>
          <p:nvPr/>
        </p:nvSpPr>
        <p:spPr bwMode="auto">
          <a:xfrm>
            <a:off x="6759575" y="56483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2" name="Rectangle 120">
            <a:extLst>
              <a:ext uri="{FF2B5EF4-FFF2-40B4-BE49-F238E27FC236}">
                <a16:creationId xmlns:a16="http://schemas.microsoft.com/office/drawing/2014/main" id="{C97900A0-7B56-487C-80C7-CF17E02131A3}"/>
              </a:ext>
            </a:extLst>
          </p:cNvPr>
          <p:cNvSpPr>
            <a:spLocks noChangeArrowheads="1"/>
          </p:cNvSpPr>
          <p:nvPr/>
        </p:nvSpPr>
        <p:spPr bwMode="auto">
          <a:xfrm>
            <a:off x="7083425" y="49434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3" name="Rectangle 121">
            <a:extLst>
              <a:ext uri="{FF2B5EF4-FFF2-40B4-BE49-F238E27FC236}">
                <a16:creationId xmlns:a16="http://schemas.microsoft.com/office/drawing/2014/main" id="{4BBCA0A9-9511-49C1-9B5E-CB02EF5208FF}"/>
              </a:ext>
            </a:extLst>
          </p:cNvPr>
          <p:cNvSpPr>
            <a:spLocks noChangeArrowheads="1"/>
          </p:cNvSpPr>
          <p:nvPr/>
        </p:nvSpPr>
        <p:spPr bwMode="auto">
          <a:xfrm>
            <a:off x="6627813" y="47085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214" name="AutoShape 122">
            <a:extLst>
              <a:ext uri="{FF2B5EF4-FFF2-40B4-BE49-F238E27FC236}">
                <a16:creationId xmlns:a16="http://schemas.microsoft.com/office/drawing/2014/main" id="{0EC0B384-2746-443F-B146-1E71FE38D4D0}"/>
              </a:ext>
            </a:extLst>
          </p:cNvPr>
          <p:cNvCxnSpPr>
            <a:cxnSpLocks noChangeShapeType="1"/>
            <a:stCxn id="7209" idx="3"/>
            <a:endCxn id="7208" idx="1"/>
          </p:cNvCxnSpPr>
          <p:nvPr/>
        </p:nvCxnSpPr>
        <p:spPr bwMode="auto">
          <a:xfrm flipV="1">
            <a:off x="5545140" y="4845051"/>
            <a:ext cx="441325" cy="3556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5" name="AutoShape 123">
            <a:extLst>
              <a:ext uri="{FF2B5EF4-FFF2-40B4-BE49-F238E27FC236}">
                <a16:creationId xmlns:a16="http://schemas.microsoft.com/office/drawing/2014/main" id="{6C26A17C-DBD1-480E-97CD-ADFDE6A9BBB6}"/>
              </a:ext>
            </a:extLst>
          </p:cNvPr>
          <p:cNvCxnSpPr>
            <a:cxnSpLocks noChangeShapeType="1"/>
            <a:stCxn id="7208" idx="3"/>
            <a:endCxn id="7213" idx="1"/>
          </p:cNvCxnSpPr>
          <p:nvPr/>
        </p:nvCxnSpPr>
        <p:spPr bwMode="auto">
          <a:xfrm flipV="1">
            <a:off x="6148389" y="4773614"/>
            <a:ext cx="479425" cy="714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6" name="AutoShape 124">
            <a:extLst>
              <a:ext uri="{FF2B5EF4-FFF2-40B4-BE49-F238E27FC236}">
                <a16:creationId xmlns:a16="http://schemas.microsoft.com/office/drawing/2014/main" id="{47EC8316-4FB0-4E86-8784-9A938B72DF71}"/>
              </a:ext>
            </a:extLst>
          </p:cNvPr>
          <p:cNvCxnSpPr>
            <a:cxnSpLocks noChangeShapeType="1"/>
            <a:stCxn id="7213" idx="3"/>
            <a:endCxn id="7212" idx="1"/>
          </p:cNvCxnSpPr>
          <p:nvPr/>
        </p:nvCxnSpPr>
        <p:spPr bwMode="auto">
          <a:xfrm>
            <a:off x="6789740" y="4773613"/>
            <a:ext cx="293687" cy="23495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7" name="AutoShape 125">
            <a:extLst>
              <a:ext uri="{FF2B5EF4-FFF2-40B4-BE49-F238E27FC236}">
                <a16:creationId xmlns:a16="http://schemas.microsoft.com/office/drawing/2014/main" id="{7323E6D7-5E29-407E-924E-26A99E2AB69A}"/>
              </a:ext>
            </a:extLst>
          </p:cNvPr>
          <p:cNvCxnSpPr>
            <a:cxnSpLocks noChangeShapeType="1"/>
            <a:stCxn id="7210" idx="0"/>
            <a:endCxn id="7213" idx="2"/>
          </p:cNvCxnSpPr>
          <p:nvPr/>
        </p:nvCxnSpPr>
        <p:spPr bwMode="auto">
          <a:xfrm flipV="1">
            <a:off x="6030914" y="4837114"/>
            <a:ext cx="677862" cy="8112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8" name="AutoShape 126">
            <a:extLst>
              <a:ext uri="{FF2B5EF4-FFF2-40B4-BE49-F238E27FC236}">
                <a16:creationId xmlns:a16="http://schemas.microsoft.com/office/drawing/2014/main" id="{3FBB9CD0-8C94-4C71-A025-31B4E654C57C}"/>
              </a:ext>
            </a:extLst>
          </p:cNvPr>
          <p:cNvCxnSpPr>
            <a:cxnSpLocks noChangeShapeType="1"/>
            <a:stCxn id="7211" idx="0"/>
            <a:endCxn id="7212" idx="2"/>
          </p:cNvCxnSpPr>
          <p:nvPr/>
        </p:nvCxnSpPr>
        <p:spPr bwMode="auto">
          <a:xfrm flipV="1">
            <a:off x="6840538" y="507206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9" name="AutoShape 127">
            <a:extLst>
              <a:ext uri="{FF2B5EF4-FFF2-40B4-BE49-F238E27FC236}">
                <a16:creationId xmlns:a16="http://schemas.microsoft.com/office/drawing/2014/main" id="{0A3E42D7-38C6-4BD3-BFFE-EDBC8B3C4FA5}"/>
              </a:ext>
            </a:extLst>
          </p:cNvPr>
          <p:cNvCxnSpPr>
            <a:cxnSpLocks noChangeShapeType="1"/>
            <a:stCxn id="7210" idx="3"/>
            <a:endCxn id="7211" idx="1"/>
          </p:cNvCxnSpPr>
          <p:nvPr/>
        </p:nvCxnSpPr>
        <p:spPr bwMode="auto">
          <a:xfrm>
            <a:off x="6111875" y="5713414"/>
            <a:ext cx="6477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20" name="AutoShape 128">
            <a:extLst>
              <a:ext uri="{FF2B5EF4-FFF2-40B4-BE49-F238E27FC236}">
                <a16:creationId xmlns:a16="http://schemas.microsoft.com/office/drawing/2014/main" id="{11C075AA-CCAF-4D4F-B4C3-406E433BBB7F}"/>
              </a:ext>
            </a:extLst>
          </p:cNvPr>
          <p:cNvCxnSpPr>
            <a:cxnSpLocks noChangeShapeType="1"/>
          </p:cNvCxnSpPr>
          <p:nvPr/>
        </p:nvCxnSpPr>
        <p:spPr bwMode="auto">
          <a:xfrm>
            <a:off x="5518151" y="5178425"/>
            <a:ext cx="404813"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21" name="Group 129">
            <a:extLst>
              <a:ext uri="{FF2B5EF4-FFF2-40B4-BE49-F238E27FC236}">
                <a16:creationId xmlns:a16="http://schemas.microsoft.com/office/drawing/2014/main" id="{A95FC294-898F-4A14-A205-CF63D8A28E09}"/>
              </a:ext>
            </a:extLst>
          </p:cNvPr>
          <p:cNvGrpSpPr>
            <a:grpSpLocks/>
          </p:cNvGrpSpPr>
          <p:nvPr/>
        </p:nvGrpSpPr>
        <p:grpSpPr bwMode="auto">
          <a:xfrm>
            <a:off x="4656138" y="4951414"/>
            <a:ext cx="460375" cy="365125"/>
            <a:chOff x="1014" y="912"/>
            <a:chExt cx="574" cy="596"/>
          </a:xfrm>
        </p:grpSpPr>
        <p:sp>
          <p:nvSpPr>
            <p:cNvPr id="7238" name="Freeform 130">
              <a:extLst>
                <a:ext uri="{FF2B5EF4-FFF2-40B4-BE49-F238E27FC236}">
                  <a16:creationId xmlns:a16="http://schemas.microsoft.com/office/drawing/2014/main" id="{6BE84416-F1FF-4A6A-8EC3-B97A19E72708}"/>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39" name="Line 131">
              <a:extLst>
                <a:ext uri="{FF2B5EF4-FFF2-40B4-BE49-F238E27FC236}">
                  <a16:creationId xmlns:a16="http://schemas.microsoft.com/office/drawing/2014/main" id="{FD8E449D-0843-4D80-84A4-DC030A820700}"/>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0" name="Line 132">
              <a:extLst>
                <a:ext uri="{FF2B5EF4-FFF2-40B4-BE49-F238E27FC236}">
                  <a16:creationId xmlns:a16="http://schemas.microsoft.com/office/drawing/2014/main" id="{5F8A0591-1F61-42AD-8A02-6889D2B52ABB}"/>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1" name="Freeform 133">
              <a:extLst>
                <a:ext uri="{FF2B5EF4-FFF2-40B4-BE49-F238E27FC236}">
                  <a16:creationId xmlns:a16="http://schemas.microsoft.com/office/drawing/2014/main" id="{73BCCA11-3E25-482A-AE76-D61797515BEE}"/>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42" name="Line 134">
              <a:extLst>
                <a:ext uri="{FF2B5EF4-FFF2-40B4-BE49-F238E27FC236}">
                  <a16:creationId xmlns:a16="http://schemas.microsoft.com/office/drawing/2014/main" id="{A8DBCBCC-83B9-4DB6-887C-C7347689EBED}"/>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3" name="Line 135">
              <a:extLst>
                <a:ext uri="{FF2B5EF4-FFF2-40B4-BE49-F238E27FC236}">
                  <a16:creationId xmlns:a16="http://schemas.microsoft.com/office/drawing/2014/main" id="{57506D00-BBC8-4354-8CFB-93B59C6CD686}"/>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4" name="Line 136">
              <a:extLst>
                <a:ext uri="{FF2B5EF4-FFF2-40B4-BE49-F238E27FC236}">
                  <a16:creationId xmlns:a16="http://schemas.microsoft.com/office/drawing/2014/main" id="{64C2E91E-6210-45FE-A653-9CFB8463CC7F}"/>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5" name="Rectangle 137">
              <a:extLst>
                <a:ext uri="{FF2B5EF4-FFF2-40B4-BE49-F238E27FC236}">
                  <a16:creationId xmlns:a16="http://schemas.microsoft.com/office/drawing/2014/main" id="{04BC14EF-3235-4809-8FF5-8AAA3B63B5E6}"/>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46" name="Freeform 138">
              <a:extLst>
                <a:ext uri="{FF2B5EF4-FFF2-40B4-BE49-F238E27FC236}">
                  <a16:creationId xmlns:a16="http://schemas.microsoft.com/office/drawing/2014/main" id="{51FA1B0E-5FC1-4C08-90C7-1C916070E13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47" name="Line 139">
              <a:extLst>
                <a:ext uri="{FF2B5EF4-FFF2-40B4-BE49-F238E27FC236}">
                  <a16:creationId xmlns:a16="http://schemas.microsoft.com/office/drawing/2014/main" id="{50D4C78A-F596-4834-B84D-903144C6A304}"/>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8" name="Line 140">
              <a:extLst>
                <a:ext uri="{FF2B5EF4-FFF2-40B4-BE49-F238E27FC236}">
                  <a16:creationId xmlns:a16="http://schemas.microsoft.com/office/drawing/2014/main" id="{0C9638DF-D894-4559-B18B-8461F390A479}"/>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9" name="Line 141">
              <a:extLst>
                <a:ext uri="{FF2B5EF4-FFF2-40B4-BE49-F238E27FC236}">
                  <a16:creationId xmlns:a16="http://schemas.microsoft.com/office/drawing/2014/main" id="{53A20465-7F99-4FA3-9EBC-DDA7048A3C7F}"/>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222" name="Group 142">
            <a:extLst>
              <a:ext uri="{FF2B5EF4-FFF2-40B4-BE49-F238E27FC236}">
                <a16:creationId xmlns:a16="http://schemas.microsoft.com/office/drawing/2014/main" id="{B02C47FE-4000-4622-85C4-15B8F239E64C}"/>
              </a:ext>
            </a:extLst>
          </p:cNvPr>
          <p:cNvGrpSpPr>
            <a:grpSpLocks/>
          </p:cNvGrpSpPr>
          <p:nvPr/>
        </p:nvGrpSpPr>
        <p:grpSpPr bwMode="auto">
          <a:xfrm>
            <a:off x="5526089" y="5862639"/>
            <a:ext cx="460375" cy="365125"/>
            <a:chOff x="1014" y="912"/>
            <a:chExt cx="574" cy="596"/>
          </a:xfrm>
        </p:grpSpPr>
        <p:sp>
          <p:nvSpPr>
            <p:cNvPr id="7226" name="Freeform 143">
              <a:extLst>
                <a:ext uri="{FF2B5EF4-FFF2-40B4-BE49-F238E27FC236}">
                  <a16:creationId xmlns:a16="http://schemas.microsoft.com/office/drawing/2014/main" id="{2003ECCF-BD69-4D37-8615-26730960FC7C}"/>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27" name="Line 144">
              <a:extLst>
                <a:ext uri="{FF2B5EF4-FFF2-40B4-BE49-F238E27FC236}">
                  <a16:creationId xmlns:a16="http://schemas.microsoft.com/office/drawing/2014/main" id="{388FA8F7-0FCE-4721-BA76-FC681446C09C}"/>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28" name="Line 145">
              <a:extLst>
                <a:ext uri="{FF2B5EF4-FFF2-40B4-BE49-F238E27FC236}">
                  <a16:creationId xmlns:a16="http://schemas.microsoft.com/office/drawing/2014/main" id="{32EB46AB-F670-4EC7-946A-B33D161310E7}"/>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29" name="Freeform 146">
              <a:extLst>
                <a:ext uri="{FF2B5EF4-FFF2-40B4-BE49-F238E27FC236}">
                  <a16:creationId xmlns:a16="http://schemas.microsoft.com/office/drawing/2014/main" id="{973FAE77-4493-47D0-AD57-5841EB386398}"/>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30" name="Line 147">
              <a:extLst>
                <a:ext uri="{FF2B5EF4-FFF2-40B4-BE49-F238E27FC236}">
                  <a16:creationId xmlns:a16="http://schemas.microsoft.com/office/drawing/2014/main" id="{EE4286F9-8444-4B51-A14C-B78FF80E226A}"/>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1" name="Line 148">
              <a:extLst>
                <a:ext uri="{FF2B5EF4-FFF2-40B4-BE49-F238E27FC236}">
                  <a16:creationId xmlns:a16="http://schemas.microsoft.com/office/drawing/2014/main" id="{1B7ABACE-7681-4A3D-BE95-70E1149D9E4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2" name="Line 149">
              <a:extLst>
                <a:ext uri="{FF2B5EF4-FFF2-40B4-BE49-F238E27FC236}">
                  <a16:creationId xmlns:a16="http://schemas.microsoft.com/office/drawing/2014/main" id="{9A6E8731-C862-49EB-A7E6-9724F8D92B3D}"/>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3" name="Rectangle 150">
              <a:extLst>
                <a:ext uri="{FF2B5EF4-FFF2-40B4-BE49-F238E27FC236}">
                  <a16:creationId xmlns:a16="http://schemas.microsoft.com/office/drawing/2014/main" id="{368DABE0-EA88-4B21-9372-7B592BA4A97A}"/>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34" name="Freeform 151">
              <a:extLst>
                <a:ext uri="{FF2B5EF4-FFF2-40B4-BE49-F238E27FC236}">
                  <a16:creationId xmlns:a16="http://schemas.microsoft.com/office/drawing/2014/main" id="{18FDD82F-DC5E-4AB7-9B71-D23214BD3BEA}"/>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35" name="Line 152">
              <a:extLst>
                <a:ext uri="{FF2B5EF4-FFF2-40B4-BE49-F238E27FC236}">
                  <a16:creationId xmlns:a16="http://schemas.microsoft.com/office/drawing/2014/main" id="{9A84B28D-2E5F-4042-9876-675B940AD92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6" name="Line 153">
              <a:extLst>
                <a:ext uri="{FF2B5EF4-FFF2-40B4-BE49-F238E27FC236}">
                  <a16:creationId xmlns:a16="http://schemas.microsoft.com/office/drawing/2014/main" id="{54B874E5-C1A9-4FDE-8695-B23725B007A4}"/>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7" name="Line 154">
              <a:extLst>
                <a:ext uri="{FF2B5EF4-FFF2-40B4-BE49-F238E27FC236}">
                  <a16:creationId xmlns:a16="http://schemas.microsoft.com/office/drawing/2014/main" id="{8A9DD932-9755-48DD-B4A6-A54673C14C19}"/>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223" name="AutoShape 155">
            <a:extLst>
              <a:ext uri="{FF2B5EF4-FFF2-40B4-BE49-F238E27FC236}">
                <a16:creationId xmlns:a16="http://schemas.microsoft.com/office/drawing/2014/main" id="{9C238F08-FCDE-4900-AC83-302FFC8C8F67}"/>
              </a:ext>
            </a:extLst>
          </p:cNvPr>
          <p:cNvCxnSpPr>
            <a:cxnSpLocks noChangeShapeType="1"/>
            <a:stCxn id="7234" idx="14"/>
            <a:endCxn id="7210" idx="2"/>
          </p:cNvCxnSpPr>
          <p:nvPr/>
        </p:nvCxnSpPr>
        <p:spPr bwMode="auto">
          <a:xfrm flipV="1">
            <a:off x="5895975" y="5776914"/>
            <a:ext cx="134938" cy="1127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24" name="AutoShape 156">
            <a:extLst>
              <a:ext uri="{FF2B5EF4-FFF2-40B4-BE49-F238E27FC236}">
                <a16:creationId xmlns:a16="http://schemas.microsoft.com/office/drawing/2014/main" id="{05634327-BD46-44B4-8B15-9EB492189A31}"/>
              </a:ext>
            </a:extLst>
          </p:cNvPr>
          <p:cNvCxnSpPr>
            <a:cxnSpLocks noChangeShapeType="1"/>
            <a:stCxn id="7238" idx="4"/>
            <a:endCxn id="7209" idx="1"/>
          </p:cNvCxnSpPr>
          <p:nvPr/>
        </p:nvCxnSpPr>
        <p:spPr bwMode="auto">
          <a:xfrm>
            <a:off x="5124450" y="5191125"/>
            <a:ext cx="258763" cy="952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25" name="Rectangle 157">
            <a:extLst>
              <a:ext uri="{FF2B5EF4-FFF2-40B4-BE49-F238E27FC236}">
                <a16:creationId xmlns:a16="http://schemas.microsoft.com/office/drawing/2014/main" id="{8E5592B6-6993-4D17-9A6E-6F723E2E384D}"/>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问题的提出</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0915" name="Rectangle 1027">
            <a:extLst>
              <a:ext uri="{FF2B5EF4-FFF2-40B4-BE49-F238E27FC236}">
                <a16:creationId xmlns:a16="http://schemas.microsoft.com/office/drawing/2014/main" id="{83539AFD-551F-4713-B05D-C95281AA3899}"/>
              </a:ext>
            </a:extLst>
          </p:cNvPr>
          <p:cNvSpPr>
            <a:spLocks noGrp="1" noChangeArrowheads="1"/>
          </p:cNvSpPr>
          <p:nvPr>
            <p:ph type="body" idx="1"/>
          </p:nvPr>
        </p:nvSpPr>
        <p:spPr bwMode="auto">
          <a:xfrm>
            <a:off x="2352676" y="1431925"/>
            <a:ext cx="7772400" cy="304323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重新制定一个全球范围的分组交换网络标准 </a:t>
            </a:r>
          </a:p>
          <a:p>
            <a:pPr lvl="1" eaLnBrk="1" hangingPunct="1">
              <a:lnSpc>
                <a:spcPct val="90000"/>
              </a:lnSpc>
            </a:pPr>
            <a:r>
              <a:rPr lang="zh-CN" altLang="en-US"/>
              <a:t>经济上不可行</a:t>
            </a:r>
          </a:p>
          <a:p>
            <a:pPr lvl="1" eaLnBrk="1" hangingPunct="1">
              <a:lnSpc>
                <a:spcPct val="90000"/>
              </a:lnSpc>
            </a:pPr>
            <a:r>
              <a:rPr lang="zh-CN" altLang="en-US"/>
              <a:t>推广上不可行</a:t>
            </a:r>
          </a:p>
          <a:p>
            <a:pPr eaLnBrk="1" hangingPunct="1">
              <a:lnSpc>
                <a:spcPct val="90000"/>
              </a:lnSpc>
            </a:pPr>
            <a:r>
              <a:rPr lang="zh-CN" altLang="en-US"/>
              <a:t>让所有的主机都实现与之相连网络协议 </a:t>
            </a:r>
          </a:p>
          <a:p>
            <a:pPr lvl="1" eaLnBrk="1" hangingPunct="1">
              <a:lnSpc>
                <a:spcPct val="90000"/>
              </a:lnSpc>
            </a:pPr>
            <a:r>
              <a:rPr lang="zh-CN" altLang="en-US"/>
              <a:t>复杂性太大</a:t>
            </a:r>
          </a:p>
        </p:txBody>
      </p:sp>
      <p:sp>
        <p:nvSpPr>
          <p:cNvPr id="9219" name="Rectangle 1028">
            <a:extLst>
              <a:ext uri="{FF2B5EF4-FFF2-40B4-BE49-F238E27FC236}">
                <a16:creationId xmlns:a16="http://schemas.microsoft.com/office/drawing/2014/main" id="{41E7118A-DC53-4190-B2C8-CDDFA72B956A}"/>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可能的解决办法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0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30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309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309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309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build="p" bldLvl="2"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3D11AB1-C2BE-4845-A389-72D73DE4B2BB}"/>
              </a:ext>
            </a:extLst>
          </p:cNvPr>
          <p:cNvSpPr>
            <a:spLocks noGrp="1" noChangeArrowheads="1"/>
          </p:cNvSpPr>
          <p:nvPr>
            <p:ph type="title"/>
          </p:nvPr>
        </p:nvSpPr>
        <p:spPr bwMode="auto">
          <a:xfrm>
            <a:off x="2209800" y="3810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3699" name="Text Box 3">
            <a:extLst>
              <a:ext uri="{FF2B5EF4-FFF2-40B4-BE49-F238E27FC236}">
                <a16:creationId xmlns:a16="http://schemas.microsoft.com/office/drawing/2014/main" id="{459AB263-F431-48D8-989A-BB05697DF704}"/>
              </a:ext>
            </a:extLst>
          </p:cNvPr>
          <p:cNvSpPr txBox="1">
            <a:spLocks noChangeArrowheads="1"/>
          </p:cNvSpPr>
          <p:nvPr/>
        </p:nvSpPr>
        <p:spPr bwMode="auto">
          <a:xfrm>
            <a:off x="3152775" y="2152652"/>
            <a:ext cx="6916738" cy="265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zh-CN" altLang="en-US" sz="3200" b="1">
                <a:solidFill>
                  <a:schemeClr val="tx1"/>
                </a:solidFill>
                <a:latin typeface="宋体" panose="02010600030101010101" pitchFamily="2" charset="-122"/>
              </a:rPr>
              <a:t>有许多种不同的网络互连设备：</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中继器（</a:t>
            </a:r>
            <a:r>
              <a:rPr lang="en-US" altLang="zh-CN" sz="2800" b="1">
                <a:solidFill>
                  <a:schemeClr val="tx1"/>
                </a:solidFill>
                <a:latin typeface="宋体" panose="02010600030101010101" pitchFamily="2" charset="-122"/>
              </a:rPr>
              <a:t>Repeater</a:t>
            </a:r>
            <a:r>
              <a:rPr lang="zh-CN" altLang="en-US" sz="2800" b="1">
                <a:solidFill>
                  <a:schemeClr val="tx1"/>
                </a:solidFill>
                <a:latin typeface="宋体" panose="02010600030101010101" pitchFamily="2" charset="-122"/>
              </a:rPr>
              <a:t>）</a:t>
            </a:r>
            <a:r>
              <a:rPr lang="en-US" altLang="zh-CN" sz="2800" b="1">
                <a:solidFill>
                  <a:schemeClr val="tx1"/>
                </a:solidFill>
                <a:latin typeface="宋体" panose="02010600030101010101" pitchFamily="2" charset="-122"/>
              </a:rPr>
              <a:t>/</a:t>
            </a:r>
            <a:r>
              <a:rPr lang="zh-CN" altLang="en-US" sz="2800" b="1">
                <a:solidFill>
                  <a:schemeClr val="tx1"/>
                </a:solidFill>
                <a:latin typeface="宋体" panose="02010600030101010101" pitchFamily="2" charset="-122"/>
              </a:rPr>
              <a:t>集线器（</a:t>
            </a:r>
            <a:r>
              <a:rPr lang="en-US" altLang="zh-CN" sz="2800" b="1">
                <a:solidFill>
                  <a:schemeClr val="tx1"/>
                </a:solidFill>
                <a:latin typeface="宋体" panose="02010600030101010101" pitchFamily="2" charset="-122"/>
              </a:rPr>
              <a:t>Hub</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网桥（</a:t>
            </a:r>
            <a:r>
              <a:rPr lang="en-US" altLang="zh-CN" sz="2800" b="1">
                <a:solidFill>
                  <a:schemeClr val="tx1"/>
                </a:solidFill>
                <a:latin typeface="宋体" panose="02010600030101010101" pitchFamily="2" charset="-122"/>
              </a:rPr>
              <a:t>Bridge</a:t>
            </a:r>
            <a:r>
              <a:rPr lang="zh-CN" altLang="en-US" sz="2800" b="1">
                <a:solidFill>
                  <a:schemeClr val="tx1"/>
                </a:solidFill>
                <a:latin typeface="宋体" panose="02010600030101010101" pitchFamily="2" charset="-122"/>
              </a:rPr>
              <a:t>）</a:t>
            </a:r>
            <a:r>
              <a:rPr lang="en-US" altLang="zh-CN" sz="2800" b="1">
                <a:solidFill>
                  <a:schemeClr val="tx1"/>
                </a:solidFill>
                <a:latin typeface="宋体" panose="02010600030101010101" pitchFamily="2" charset="-122"/>
              </a:rPr>
              <a:t>/</a:t>
            </a:r>
            <a:r>
              <a:rPr lang="zh-CN" altLang="en-US" sz="2800" b="1">
                <a:solidFill>
                  <a:schemeClr val="tx1"/>
                </a:solidFill>
                <a:latin typeface="宋体" panose="02010600030101010101" pitchFamily="2" charset="-122"/>
              </a:rPr>
              <a:t>交换机（</a:t>
            </a:r>
            <a:r>
              <a:rPr lang="en-US" altLang="zh-CN" sz="2800" b="1">
                <a:solidFill>
                  <a:schemeClr val="tx1"/>
                </a:solidFill>
                <a:latin typeface="宋体" panose="02010600030101010101" pitchFamily="2" charset="-122"/>
              </a:rPr>
              <a:t>Switch</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路由器（</a:t>
            </a:r>
            <a:r>
              <a:rPr lang="en-US" altLang="zh-CN" sz="2800" b="1">
                <a:solidFill>
                  <a:schemeClr val="tx1"/>
                </a:solidFill>
                <a:latin typeface="宋体" panose="02010600030101010101" pitchFamily="2" charset="-122"/>
              </a:rPr>
              <a:t>Router</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网关（</a:t>
            </a:r>
            <a:r>
              <a:rPr lang="en-US" altLang="zh-CN" sz="2800" b="1">
                <a:solidFill>
                  <a:schemeClr val="tx1"/>
                </a:solidFill>
                <a:latin typeface="宋体" panose="02010600030101010101" pitchFamily="2" charset="-122"/>
              </a:rPr>
              <a:t>Gateway</a:t>
            </a:r>
            <a:r>
              <a:rPr lang="zh-CN" altLang="en-US" sz="2800" b="1">
                <a:solidFill>
                  <a:schemeClr val="tx1"/>
                </a:solidFill>
                <a:latin typeface="宋体" panose="02010600030101010101" pitchFamily="2" charset="-122"/>
              </a:rPr>
              <a:t>）</a:t>
            </a:r>
          </a:p>
        </p:txBody>
      </p:sp>
      <p:pic>
        <p:nvPicPr>
          <p:cNvPr id="1693700" name="Picture 4">
            <a:extLst>
              <a:ext uri="{FF2B5EF4-FFF2-40B4-BE49-F238E27FC236}">
                <a16:creationId xmlns:a16="http://schemas.microsoft.com/office/drawing/2014/main" id="{6509F633-4A70-4C39-BD42-B55815E0E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5" y="1317625"/>
            <a:ext cx="802798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3704" name="Text Box 8">
            <a:extLst>
              <a:ext uri="{FF2B5EF4-FFF2-40B4-BE49-F238E27FC236}">
                <a16:creationId xmlns:a16="http://schemas.microsoft.com/office/drawing/2014/main" id="{37C4BD4B-D55D-4096-B8AE-D2156378019C}"/>
              </a:ext>
            </a:extLst>
          </p:cNvPr>
          <p:cNvSpPr txBox="1">
            <a:spLocks noChangeArrowheads="1"/>
          </p:cNvSpPr>
          <p:nvPr/>
        </p:nvSpPr>
        <p:spPr bwMode="auto">
          <a:xfrm>
            <a:off x="2052639" y="5321301"/>
            <a:ext cx="82518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400" b="1">
                <a:solidFill>
                  <a:srgbClr val="000000"/>
                </a:solidFill>
              </a:rPr>
              <a:t>这四种设备分别使用</a:t>
            </a:r>
            <a:r>
              <a:rPr kumimoji="1" lang="en-US" altLang="zh-CN" sz="2400" b="1">
                <a:solidFill>
                  <a:srgbClr val="000000"/>
                </a:solidFill>
              </a:rPr>
              <a:t>OSI</a:t>
            </a:r>
            <a:r>
              <a:rPr kumimoji="1" lang="zh-CN" altLang="en-US" sz="2400" b="1">
                <a:solidFill>
                  <a:srgbClr val="000000"/>
                </a:solidFill>
              </a:rPr>
              <a:t>模型的不同层的协议。</a:t>
            </a:r>
            <a:r>
              <a:rPr kumimoji="1" lang="zh-CN" altLang="en-US" sz="3200" b="1">
                <a:solidFill>
                  <a:srgbClr val="000000"/>
                </a:solidFill>
              </a:rPr>
              <a:t> </a:t>
            </a:r>
            <a:endParaRPr kumimoji="1" lang="zh-CN" altLang="en-US" sz="32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3699"/>
                                        </p:tgtEl>
                                        <p:attrNameLst>
                                          <p:attrName>style.visibility</p:attrName>
                                        </p:attrNameLst>
                                      </p:cBhvr>
                                      <p:to>
                                        <p:strVal val="visible"/>
                                      </p:to>
                                    </p:set>
                                    <p:anim calcmode="lin" valueType="num">
                                      <p:cBhvr additive="base">
                                        <p:cTn id="7" dur="500" fill="hold"/>
                                        <p:tgtEl>
                                          <p:spTgt spid="1693699"/>
                                        </p:tgtEl>
                                        <p:attrNameLst>
                                          <p:attrName>ppt_x</p:attrName>
                                        </p:attrNameLst>
                                      </p:cBhvr>
                                      <p:tavLst>
                                        <p:tav tm="0">
                                          <p:val>
                                            <p:strVal val="0-#ppt_w/2"/>
                                          </p:val>
                                        </p:tav>
                                        <p:tav tm="100000">
                                          <p:val>
                                            <p:strVal val="#ppt_x"/>
                                          </p:val>
                                        </p:tav>
                                      </p:tavLst>
                                    </p:anim>
                                    <p:anim calcmode="lin" valueType="num">
                                      <p:cBhvr additive="base">
                                        <p:cTn id="8" dur="500" fill="hold"/>
                                        <p:tgtEl>
                                          <p:spTgt spid="16936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3704">
                                            <p:txEl>
                                              <p:pRg st="0" end="0"/>
                                            </p:txEl>
                                          </p:spTgt>
                                        </p:tgtEl>
                                        <p:attrNameLst>
                                          <p:attrName>style.visibility</p:attrName>
                                        </p:attrNameLst>
                                      </p:cBhvr>
                                      <p:to>
                                        <p:strVal val="visible"/>
                                      </p:to>
                                    </p:set>
                                    <p:anim calcmode="lin" valueType="num">
                                      <p:cBhvr additive="base">
                                        <p:cTn id="13" dur="500" fill="hold"/>
                                        <p:tgtEl>
                                          <p:spTgt spid="1693704">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3704">
                                            <p:txEl>
                                              <p:pRg st="0" end="0"/>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693704">
                                            <p:txEl>
                                              <p:pRg st="0" end="0"/>
                                            </p:txEl>
                                          </p:spTgt>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93700"/>
                                        </p:tgtEl>
                                        <p:attrNameLst>
                                          <p:attrName>style.visibility</p:attrName>
                                        </p:attrNameLst>
                                      </p:cBhvr>
                                      <p:to>
                                        <p:strVal val="visible"/>
                                      </p:to>
                                    </p:set>
                                    <p:anim calcmode="lin" valueType="num">
                                      <p:cBhvr additive="base">
                                        <p:cTn id="19" dur="500" fill="hold"/>
                                        <p:tgtEl>
                                          <p:spTgt spid="1693700"/>
                                        </p:tgtEl>
                                        <p:attrNameLst>
                                          <p:attrName>ppt_x</p:attrName>
                                        </p:attrNameLst>
                                      </p:cBhvr>
                                      <p:tavLst>
                                        <p:tav tm="0">
                                          <p:val>
                                            <p:strVal val="1+#ppt_w/2"/>
                                          </p:val>
                                        </p:tav>
                                        <p:tav tm="100000">
                                          <p:val>
                                            <p:strVal val="#ppt_x"/>
                                          </p:val>
                                        </p:tav>
                                      </p:tavLst>
                                    </p:anim>
                                    <p:anim calcmode="lin" valueType="num">
                                      <p:cBhvr additive="base">
                                        <p:cTn id="20" dur="500" fill="hold"/>
                                        <p:tgtEl>
                                          <p:spTgt spid="16937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3699" grpId="0" autoUpdateAnimBg="0"/>
      <p:bldP spid="1693704"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B8CACC5-21F6-47FA-9FDD-9E548DEF3980}"/>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5747" name="Text Box 3">
            <a:extLst>
              <a:ext uri="{FF2B5EF4-FFF2-40B4-BE49-F238E27FC236}">
                <a16:creationId xmlns:a16="http://schemas.microsoft.com/office/drawing/2014/main" id="{ABAC997D-121A-417C-9273-7DA04783E1C6}"/>
              </a:ext>
            </a:extLst>
          </p:cNvPr>
          <p:cNvSpPr txBox="1">
            <a:spLocks noChangeArrowheads="1"/>
          </p:cNvSpPr>
          <p:nvPr/>
        </p:nvSpPr>
        <p:spPr bwMode="auto">
          <a:xfrm>
            <a:off x="2046288" y="1249363"/>
            <a:ext cx="8253412" cy="454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658813" indent="-201613"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lnSpc>
                <a:spcPct val="90000"/>
              </a:lnSpc>
              <a:spcBef>
                <a:spcPct val="20000"/>
              </a:spcBef>
              <a:buClr>
                <a:schemeClr val="folHlink"/>
              </a:buClr>
              <a:buSzPct val="75000"/>
              <a:buFont typeface="Wingdings" panose="05000000000000000000" pitchFamily="2" charset="2"/>
              <a:buChar char="Ø"/>
            </a:pPr>
            <a:r>
              <a:rPr lang="zh-CN" altLang="en-US" sz="2400" b="1">
                <a:solidFill>
                  <a:schemeClr val="folHlink"/>
                </a:solidFill>
                <a:latin typeface="Arial" panose="020B0604020202020204" pitchFamily="34" charset="0"/>
              </a:rPr>
              <a:t>中继器（</a:t>
            </a:r>
            <a:r>
              <a:rPr lang="en-US" altLang="zh-CN" sz="2400" b="1">
                <a:solidFill>
                  <a:schemeClr val="folHlink"/>
                </a:solidFill>
                <a:latin typeface="Arial" panose="020B0604020202020204" pitchFamily="34" charset="0"/>
              </a:rPr>
              <a:t>Repeater</a:t>
            </a:r>
            <a:r>
              <a:rPr lang="zh-CN" altLang="en-US" sz="2400" b="1">
                <a:solidFill>
                  <a:schemeClr val="folHlink"/>
                </a:solidFill>
                <a:latin typeface="Arial" panose="020B0604020202020204" pitchFamily="34" charset="0"/>
              </a:rPr>
              <a:t>）</a:t>
            </a:r>
            <a:r>
              <a:rPr lang="en-US" altLang="zh-CN" sz="2400" b="1">
                <a:solidFill>
                  <a:schemeClr val="folHlink"/>
                </a:solidFill>
                <a:latin typeface="Arial" panose="020B0604020202020204" pitchFamily="34" charset="0"/>
              </a:rPr>
              <a:t>:</a:t>
            </a:r>
            <a:r>
              <a:rPr lang="en-US" altLang="zh-CN" sz="2400">
                <a:latin typeface="Arial" panose="020B0604020202020204" pitchFamily="34" charset="0"/>
              </a:rPr>
              <a:t> </a:t>
            </a:r>
            <a:r>
              <a:rPr lang="zh-CN" altLang="en-US" sz="2000">
                <a:solidFill>
                  <a:schemeClr val="tx1"/>
                </a:solidFill>
                <a:latin typeface="Arial" panose="020B0604020202020204" pitchFamily="34" charset="0"/>
              </a:rPr>
              <a:t>存储转发数据和冲突信号的物理层设备</a:t>
            </a:r>
            <a:r>
              <a:rPr lang="en-US" altLang="zh-CN" sz="2000">
                <a:solidFill>
                  <a:schemeClr val="tx1"/>
                </a:solidFill>
                <a:latin typeface="Arial" panose="020B0604020202020204" pitchFamily="34" charset="0"/>
              </a:rPr>
              <a:t>---- </a:t>
            </a:r>
            <a:r>
              <a:rPr lang="zh-CN" altLang="en-US" sz="2000">
                <a:solidFill>
                  <a:schemeClr val="tx1"/>
                </a:solidFill>
                <a:latin typeface="Arial" panose="020B0604020202020204" pitchFamily="34" charset="0"/>
              </a:rPr>
              <a:t>一个数字信号放大器。</a:t>
            </a:r>
            <a:r>
              <a:rPr lang="en-US" altLang="zh-CN" sz="2000">
                <a:solidFill>
                  <a:schemeClr val="tx1"/>
                </a:solidFill>
                <a:latin typeface="Arial" panose="020B0604020202020204" pitchFamily="34" charset="0"/>
              </a:rPr>
              <a:t>(</a:t>
            </a:r>
            <a:r>
              <a:rPr lang="zh-CN" altLang="en-US" sz="2000">
                <a:solidFill>
                  <a:schemeClr val="tx1"/>
                </a:solidFill>
                <a:latin typeface="Arial" panose="020B0604020202020204" pitchFamily="34" charset="0"/>
              </a:rPr>
              <a:t>同一个冲突域</a:t>
            </a:r>
            <a:r>
              <a:rPr lang="en-US" altLang="zh-CN" sz="2000">
                <a:solidFill>
                  <a:schemeClr val="tx1"/>
                </a:solidFill>
                <a:latin typeface="Arial" panose="020B0604020202020204" pitchFamily="34" charset="0"/>
              </a:rPr>
              <a:t>)</a:t>
            </a:r>
            <a:endParaRPr lang="en-US" altLang="zh-CN" sz="2000">
              <a:latin typeface="Arial" panose="020B0604020202020204" pitchFamily="34" charset="0"/>
            </a:endParaRPr>
          </a:p>
          <a:p>
            <a:pPr algn="l">
              <a:lnSpc>
                <a:spcPct val="90000"/>
              </a:lnSpc>
              <a:spcBef>
                <a:spcPct val="20000"/>
              </a:spcBef>
              <a:buClr>
                <a:schemeClr val="folHlink"/>
              </a:buClr>
              <a:buSzPct val="75000"/>
              <a:buFont typeface="Wingdings" panose="05000000000000000000" pitchFamily="2" charset="2"/>
              <a:buChar char="Ø"/>
            </a:pPr>
            <a:r>
              <a:rPr lang="zh-CN" altLang="en-US" sz="2400" b="1">
                <a:solidFill>
                  <a:schemeClr val="folHlink"/>
                </a:solidFill>
                <a:latin typeface="Arial" panose="020B0604020202020204" pitchFamily="34" charset="0"/>
              </a:rPr>
              <a:t>集线器（</a:t>
            </a:r>
            <a:r>
              <a:rPr lang="en-US" altLang="zh-CN" sz="2400" b="1" u="sng">
                <a:solidFill>
                  <a:schemeClr val="folHlink"/>
                </a:solidFill>
                <a:latin typeface="Arial" panose="020B0604020202020204" pitchFamily="34" charset="0"/>
              </a:rPr>
              <a:t>Hub</a:t>
            </a:r>
            <a:r>
              <a:rPr lang="zh-CN" altLang="en-US" sz="2400" b="1" u="sng">
                <a:solidFill>
                  <a:schemeClr val="folHlink"/>
                </a:solidFill>
                <a:latin typeface="Arial" panose="020B0604020202020204" pitchFamily="34" charset="0"/>
              </a:rPr>
              <a:t>）</a:t>
            </a:r>
            <a:r>
              <a:rPr lang="en-US" altLang="zh-CN" sz="2400" b="1" u="sng">
                <a:solidFill>
                  <a:schemeClr val="folHlink"/>
                </a:solidFill>
                <a:latin typeface="Arial" panose="020B0604020202020204" pitchFamily="34" charset="0"/>
              </a:rPr>
              <a:t>:</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多端口中继器 </a:t>
            </a: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故障检测</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 集线器中并没有“转发表”，它们简单地在物理层广播信号</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没有过滤功能</a:t>
            </a:r>
            <a:r>
              <a:rPr lang="en-US" altLang="zh-CN" sz="2400">
                <a:solidFill>
                  <a:schemeClr val="tx1"/>
                </a:solidFill>
                <a:latin typeface="Arial" panose="020B0604020202020204" pitchFamily="34" charset="0"/>
              </a:rPr>
              <a:t>.</a:t>
            </a:r>
            <a:endParaRPr lang="en-US" altLang="zh-CN" sz="2400" b="1" u="sng">
              <a:solidFill>
                <a:schemeClr val="folHlink"/>
              </a:solidFill>
              <a:latin typeface="Arial" panose="020B0604020202020204" pitchFamily="34" charset="0"/>
            </a:endParaRPr>
          </a:p>
          <a:p>
            <a:pPr algn="l">
              <a:lnSpc>
                <a:spcPct val="90000"/>
              </a:lnSpc>
              <a:spcBef>
                <a:spcPct val="20000"/>
              </a:spcBef>
              <a:buClr>
                <a:schemeClr val="folHlink"/>
              </a:buClr>
              <a:buSzPct val="75000"/>
              <a:buFont typeface="Wingdings" panose="05000000000000000000" pitchFamily="2" charset="2"/>
              <a:buChar char="Ø"/>
            </a:pPr>
            <a:r>
              <a:rPr lang="zh-CN" altLang="en-US" sz="2400" b="1" u="sng">
                <a:solidFill>
                  <a:schemeClr val="folHlink"/>
                </a:solidFill>
                <a:latin typeface="Arial" panose="020B0604020202020204" pitchFamily="34" charset="0"/>
              </a:rPr>
              <a:t>网桥（</a:t>
            </a:r>
            <a:r>
              <a:rPr lang="en-US" altLang="zh-CN" sz="2400" b="1" u="sng">
                <a:solidFill>
                  <a:schemeClr val="folHlink"/>
                </a:solidFill>
                <a:latin typeface="Arial" panose="020B0604020202020204" pitchFamily="34" charset="0"/>
              </a:rPr>
              <a:t>Bridge):</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连接两个或多个冲突域的数据链路层设备</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一个网桥把分组过滤出来，并把它们从一个冲突域传送到另一个冲突域。</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网桥侦听所有经过的分组，从中了解每个接口所连接的主机的位置，并建立一个链路层的转发表</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a:t>
            </a:r>
            <a:r>
              <a:rPr lang="en-US" altLang="zh-CN" sz="2400">
                <a:solidFill>
                  <a:schemeClr val="tx1"/>
                </a:solidFill>
                <a:latin typeface="Arial" panose="020B0604020202020204" pitchFamily="34" charset="0"/>
              </a:rPr>
              <a:t>MAC</a:t>
            </a:r>
            <a:r>
              <a:rPr lang="zh-CN" altLang="en-US" sz="2400">
                <a:solidFill>
                  <a:schemeClr val="tx1"/>
                </a:solidFill>
                <a:latin typeface="Arial" panose="020B0604020202020204" pitchFamily="34" charset="0"/>
              </a:rPr>
              <a:t>通过广播穿透“扩展</a:t>
            </a:r>
            <a:r>
              <a:rPr lang="en-US" altLang="zh-CN" sz="2400">
                <a:solidFill>
                  <a:schemeClr val="tx1"/>
                </a:solidFill>
                <a:latin typeface="Arial" panose="020B0604020202020204" pitchFamily="34" charset="0"/>
              </a:rPr>
              <a:t>LAN” </a:t>
            </a:r>
            <a:r>
              <a:rPr lang="zh-CN" altLang="en-US" sz="2400">
                <a:solidFill>
                  <a:schemeClr val="tx1"/>
                </a:solidFill>
                <a:latin typeface="Arial" panose="020B0604020202020204" pitchFamily="34" charset="0"/>
              </a:rPr>
              <a:t>。</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网桥具有链路层的有限的筛选智能和转发能力。</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5747">
                                            <p:txEl>
                                              <p:pRg st="0" end="0"/>
                                            </p:txEl>
                                          </p:spTgt>
                                        </p:tgtEl>
                                        <p:attrNameLst>
                                          <p:attrName>style.visibility</p:attrName>
                                        </p:attrNameLst>
                                      </p:cBhvr>
                                      <p:to>
                                        <p:strVal val="visible"/>
                                      </p:to>
                                    </p:set>
                                    <p:anim calcmode="lin" valueType="num">
                                      <p:cBhvr additive="base">
                                        <p:cTn id="7" dur="500" fill="hold"/>
                                        <p:tgtEl>
                                          <p:spTgt spid="16957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5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5747">
                                            <p:txEl>
                                              <p:pRg st="1" end="1"/>
                                            </p:txEl>
                                          </p:spTgt>
                                        </p:tgtEl>
                                        <p:attrNameLst>
                                          <p:attrName>style.visibility</p:attrName>
                                        </p:attrNameLst>
                                      </p:cBhvr>
                                      <p:to>
                                        <p:strVal val="visible"/>
                                      </p:to>
                                    </p:set>
                                    <p:anim calcmode="lin" valueType="num">
                                      <p:cBhvr additive="base">
                                        <p:cTn id="13" dur="500" fill="hold"/>
                                        <p:tgtEl>
                                          <p:spTgt spid="169574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5747">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695747">
                                            <p:txEl>
                                              <p:pRg st="2" end="2"/>
                                            </p:txEl>
                                          </p:spTgt>
                                        </p:tgtEl>
                                        <p:attrNameLst>
                                          <p:attrName>style.visibility</p:attrName>
                                        </p:attrNameLst>
                                      </p:cBhvr>
                                      <p:to>
                                        <p:strVal val="visible"/>
                                      </p:to>
                                    </p:set>
                                    <p:anim calcmode="lin" valueType="num">
                                      <p:cBhvr additive="base">
                                        <p:cTn id="17" dur="500" fill="hold"/>
                                        <p:tgtEl>
                                          <p:spTgt spid="169574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95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95747">
                                            <p:txEl>
                                              <p:pRg st="3" end="3"/>
                                            </p:txEl>
                                          </p:spTgt>
                                        </p:tgtEl>
                                        <p:attrNameLst>
                                          <p:attrName>style.visibility</p:attrName>
                                        </p:attrNameLst>
                                      </p:cBhvr>
                                      <p:to>
                                        <p:strVal val="visible"/>
                                      </p:to>
                                    </p:set>
                                    <p:anim calcmode="lin" valueType="num">
                                      <p:cBhvr additive="base">
                                        <p:cTn id="23" dur="500" fill="hold"/>
                                        <p:tgtEl>
                                          <p:spTgt spid="1695747">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9574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95747">
                                            <p:txEl>
                                              <p:pRg st="4" end="4"/>
                                            </p:txEl>
                                          </p:spTgt>
                                        </p:tgtEl>
                                        <p:attrNameLst>
                                          <p:attrName>style.visibility</p:attrName>
                                        </p:attrNameLst>
                                      </p:cBhvr>
                                      <p:to>
                                        <p:strVal val="visible"/>
                                      </p:to>
                                    </p:set>
                                    <p:anim calcmode="lin" valueType="num">
                                      <p:cBhvr additive="base">
                                        <p:cTn id="27" dur="500" fill="hold"/>
                                        <p:tgtEl>
                                          <p:spTgt spid="1695747">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95747">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95747">
                                            <p:txEl>
                                              <p:pRg st="5" end="5"/>
                                            </p:txEl>
                                          </p:spTgt>
                                        </p:tgtEl>
                                        <p:attrNameLst>
                                          <p:attrName>style.visibility</p:attrName>
                                        </p:attrNameLst>
                                      </p:cBhvr>
                                      <p:to>
                                        <p:strVal val="visible"/>
                                      </p:to>
                                    </p:set>
                                    <p:anim calcmode="lin" valueType="num">
                                      <p:cBhvr additive="base">
                                        <p:cTn id="31" dur="500" fill="hold"/>
                                        <p:tgtEl>
                                          <p:spTgt spid="169574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9574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695747">
                                            <p:txEl>
                                              <p:pRg st="6" end="6"/>
                                            </p:txEl>
                                          </p:spTgt>
                                        </p:tgtEl>
                                        <p:attrNameLst>
                                          <p:attrName>style.visibility</p:attrName>
                                        </p:attrNameLst>
                                      </p:cBhvr>
                                      <p:to>
                                        <p:strVal val="visible"/>
                                      </p:to>
                                    </p:set>
                                    <p:anim calcmode="lin" valueType="num">
                                      <p:cBhvr additive="base">
                                        <p:cTn id="35" dur="500" fill="hold"/>
                                        <p:tgtEl>
                                          <p:spTgt spid="169574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695747">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695747">
                                            <p:txEl>
                                              <p:pRg st="7" end="7"/>
                                            </p:txEl>
                                          </p:spTgt>
                                        </p:tgtEl>
                                        <p:attrNameLst>
                                          <p:attrName>style.visibility</p:attrName>
                                        </p:attrNameLst>
                                      </p:cBhvr>
                                      <p:to>
                                        <p:strVal val="visible"/>
                                      </p:to>
                                    </p:set>
                                    <p:anim calcmode="lin" valueType="num">
                                      <p:cBhvr additive="base">
                                        <p:cTn id="39" dur="500" fill="hold"/>
                                        <p:tgtEl>
                                          <p:spTgt spid="1695747">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69574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5747"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52D8995-AC2D-464F-A373-8216D2137D79}"/>
              </a:ext>
            </a:extLst>
          </p:cNvPr>
          <p:cNvSpPr>
            <a:spLocks noGrp="1" noChangeArrowheads="1"/>
          </p:cNvSpPr>
          <p:nvPr>
            <p:ph type="title"/>
          </p:nvPr>
        </p:nvSpPr>
        <p:spPr bwMode="auto">
          <a:xfrm>
            <a:off x="2324100" y="304801"/>
            <a:ext cx="7772400" cy="6969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6771" name="Text Box 3">
            <a:extLst>
              <a:ext uri="{FF2B5EF4-FFF2-40B4-BE49-F238E27FC236}">
                <a16:creationId xmlns:a16="http://schemas.microsoft.com/office/drawing/2014/main" id="{79658BD0-F32D-478B-9484-AA0A6276634C}"/>
              </a:ext>
            </a:extLst>
          </p:cNvPr>
          <p:cNvSpPr txBox="1">
            <a:spLocks noChangeArrowheads="1"/>
          </p:cNvSpPr>
          <p:nvPr/>
        </p:nvSpPr>
        <p:spPr bwMode="auto">
          <a:xfrm>
            <a:off x="2459039" y="1346201"/>
            <a:ext cx="7616825" cy="349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57238" indent="-2730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buClr>
                <a:schemeClr val="folHlink"/>
              </a:buClr>
              <a:buSzPct val="75000"/>
              <a:buFont typeface="Monotype Sorts" pitchFamily="2" charset="2"/>
              <a:buChar char="q"/>
            </a:pPr>
            <a:r>
              <a:rPr lang="zh-CN" altLang="en-US" sz="2400" b="1" u="sng">
                <a:solidFill>
                  <a:schemeClr val="folHlink"/>
                </a:solidFill>
                <a:latin typeface="Arial" panose="020B0604020202020204" pitchFamily="34" charset="0"/>
              </a:rPr>
              <a:t>路由器</a:t>
            </a:r>
            <a:r>
              <a:rPr lang="en-US" altLang="zh-CN" sz="2400" b="1" u="sng">
                <a:solidFill>
                  <a:schemeClr val="folHlink"/>
                </a:solidFill>
                <a:latin typeface="Arial" panose="020B0604020202020204" pitchFamily="34" charset="0"/>
              </a:rPr>
              <a:t>(router):</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网络层设备</a:t>
            </a:r>
            <a:r>
              <a:rPr lang="en-US" altLang="zh-CN" sz="2000">
                <a:solidFill>
                  <a:schemeClr val="tx1"/>
                </a:solidFill>
                <a:latin typeface="Arial" panose="020B0604020202020204" pitchFamily="34" charset="0"/>
              </a:rPr>
              <a:t>(IP, IPX, AppleTalk</a:t>
            </a:r>
            <a:r>
              <a:rPr lang="zh-CN" altLang="en-US" sz="2000">
                <a:solidFill>
                  <a:schemeClr val="tx1"/>
                </a:solidFill>
                <a:latin typeface="Arial" panose="020B0604020202020204" pitchFamily="34" charset="0"/>
              </a:rPr>
              <a:t>协议</a:t>
            </a:r>
            <a:r>
              <a:rPr lang="en-US" altLang="zh-CN" sz="20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。连接多个广播域。</a:t>
            </a:r>
          </a:p>
          <a:p>
            <a:pPr lvl="1" algn="l">
              <a:spcBef>
                <a:spcPct val="20000"/>
              </a:spcBef>
              <a:buClr>
                <a:schemeClr val="folHlink"/>
              </a:buClr>
              <a:buSzPct val="75000"/>
              <a:buFont typeface="Monotype Sorts" pitchFamily="2" charset="2"/>
              <a:buChar char="q"/>
            </a:pPr>
            <a:r>
              <a:rPr lang="zh-CN" altLang="en-US" sz="2400">
                <a:solidFill>
                  <a:schemeClr val="tx1"/>
                </a:solidFill>
                <a:latin typeface="Arial" panose="020B0604020202020204" pitchFamily="34" charset="0"/>
              </a:rPr>
              <a:t>不传播</a:t>
            </a:r>
            <a:r>
              <a:rPr lang="en-US" altLang="zh-CN" sz="2400">
                <a:solidFill>
                  <a:schemeClr val="tx1"/>
                </a:solidFill>
                <a:latin typeface="Arial" panose="020B0604020202020204" pitchFamily="34" charset="0"/>
              </a:rPr>
              <a:t>MAC</a:t>
            </a:r>
            <a:r>
              <a:rPr lang="zh-CN" altLang="en-US" sz="2400">
                <a:solidFill>
                  <a:schemeClr val="tx1"/>
                </a:solidFill>
                <a:latin typeface="Arial" panose="020B0604020202020204" pitchFamily="34" charset="0"/>
              </a:rPr>
              <a:t>广播</a:t>
            </a:r>
          </a:p>
          <a:p>
            <a:pPr algn="l">
              <a:spcBef>
                <a:spcPct val="20000"/>
              </a:spcBef>
              <a:buClr>
                <a:schemeClr val="folHlink"/>
              </a:buClr>
              <a:buSzPct val="75000"/>
              <a:buFont typeface="Monotype Sorts" pitchFamily="2" charset="2"/>
              <a:buChar char="q"/>
            </a:pPr>
            <a:endParaRPr lang="zh-CN" altLang="en-US" sz="2400">
              <a:solidFill>
                <a:schemeClr val="tx1"/>
              </a:solidFill>
              <a:latin typeface="Arial" panose="020B0604020202020204" pitchFamily="34" charset="0"/>
            </a:endParaRPr>
          </a:p>
          <a:p>
            <a:pPr algn="l">
              <a:spcBef>
                <a:spcPct val="20000"/>
              </a:spcBef>
              <a:buClr>
                <a:schemeClr val="folHlink"/>
              </a:buClr>
              <a:buSzPct val="75000"/>
              <a:buFont typeface="Monotype Sorts" pitchFamily="2" charset="2"/>
              <a:buChar char="q"/>
            </a:pPr>
            <a:r>
              <a:rPr lang="zh-CN" altLang="en-US" sz="2400" b="1" u="sng">
                <a:solidFill>
                  <a:schemeClr val="folHlink"/>
                </a:solidFill>
                <a:latin typeface="Arial" panose="020B0604020202020204" pitchFamily="34" charset="0"/>
              </a:rPr>
              <a:t>交换机</a:t>
            </a:r>
            <a:r>
              <a:rPr lang="en-US" altLang="zh-CN" sz="2400" b="1" u="sng">
                <a:solidFill>
                  <a:schemeClr val="folHlink"/>
                </a:solidFill>
                <a:latin typeface="Arial" panose="020B0604020202020204" pitchFamily="34" charset="0"/>
              </a:rPr>
              <a:t>(switch):</a:t>
            </a:r>
          </a:p>
          <a:p>
            <a:pPr lvl="1" algn="l">
              <a:spcBef>
                <a:spcPct val="20000"/>
              </a:spcBef>
              <a:buClr>
                <a:schemeClr val="folHlink"/>
              </a:buClr>
              <a:buSzPct val="75000"/>
              <a:buFont typeface="Monotype Sorts" pitchFamily="2" charset="2"/>
              <a:buChar char="q"/>
            </a:pPr>
            <a:r>
              <a:rPr lang="zh-CN" altLang="en-US" sz="2400">
                <a:solidFill>
                  <a:schemeClr val="tx1"/>
                </a:solidFill>
                <a:latin typeface="Arial" panose="020B0604020202020204" pitchFamily="34" charset="0"/>
              </a:rPr>
              <a:t>通过交换网格实现帧转发的并行操作。</a:t>
            </a:r>
          </a:p>
          <a:p>
            <a:pPr lvl="1" algn="l">
              <a:spcBef>
                <a:spcPct val="20000"/>
              </a:spcBef>
              <a:buClr>
                <a:schemeClr val="folHlink"/>
              </a:buClr>
              <a:buSzPct val="75000"/>
              <a:buFont typeface="Monotype Sorts" pitchFamily="2" charset="2"/>
              <a:buChar char="q"/>
            </a:pPr>
            <a:r>
              <a:rPr lang="zh-CN" altLang="en-US" sz="2400" i="1" u="sng">
                <a:solidFill>
                  <a:schemeClr val="hlink"/>
                </a:solidFill>
                <a:latin typeface="Arial" panose="020B0604020202020204" pitchFamily="34" charset="0"/>
              </a:rPr>
              <a:t>二层交换机</a:t>
            </a:r>
            <a:r>
              <a:rPr lang="zh-CN" altLang="en-US" sz="2400" i="1">
                <a:solidFill>
                  <a:schemeClr val="hlink"/>
                </a:solidFill>
                <a:latin typeface="Arial" panose="020B0604020202020204" pitchFamily="34" charset="0"/>
              </a:rPr>
              <a:t> ：</a:t>
            </a:r>
            <a:r>
              <a:rPr lang="zh-CN" altLang="en-US" sz="2400">
                <a:solidFill>
                  <a:schemeClr val="tx1"/>
                </a:solidFill>
                <a:latin typeface="Arial" panose="020B0604020202020204" pitchFamily="34" charset="0"/>
              </a:rPr>
              <a:t>  一个多端口网桥</a:t>
            </a:r>
            <a:r>
              <a:rPr lang="zh-CN" altLang="en-US" sz="2400">
                <a:latin typeface="Arial" panose="020B0604020202020204" pitchFamily="34" charset="0"/>
              </a:rPr>
              <a:t> </a:t>
            </a:r>
          </a:p>
          <a:p>
            <a:pPr lvl="1" algn="l">
              <a:spcBef>
                <a:spcPct val="20000"/>
              </a:spcBef>
              <a:buClr>
                <a:schemeClr val="folHlink"/>
              </a:buClr>
              <a:buSzPct val="75000"/>
              <a:buFont typeface="Monotype Sorts" pitchFamily="2" charset="2"/>
              <a:buChar char="q"/>
            </a:pPr>
            <a:r>
              <a:rPr lang="zh-CN" altLang="en-US" sz="2400" i="1" u="sng">
                <a:solidFill>
                  <a:schemeClr val="hlink"/>
                </a:solidFill>
                <a:latin typeface="Arial" panose="020B0604020202020204" pitchFamily="34" charset="0"/>
              </a:rPr>
              <a:t>三层交换机</a:t>
            </a:r>
            <a:r>
              <a:rPr lang="en-US" altLang="zh-CN" sz="2400" i="1" u="sng">
                <a:solidFill>
                  <a:schemeClr val="hlink"/>
                </a:solidFill>
                <a:latin typeface="Arial" panose="020B0604020202020204" pitchFamily="34" charset="0"/>
              </a:rPr>
              <a:t>:</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交换路由器</a:t>
            </a:r>
            <a:endParaRPr lang="zh-CN" altLang="en-US" sz="20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6771">
                                            <p:txEl>
                                              <p:pRg st="0" end="0"/>
                                            </p:txEl>
                                          </p:spTgt>
                                        </p:tgtEl>
                                        <p:attrNameLst>
                                          <p:attrName>style.visibility</p:attrName>
                                        </p:attrNameLst>
                                      </p:cBhvr>
                                      <p:to>
                                        <p:strVal val="visible"/>
                                      </p:to>
                                    </p:set>
                                    <p:anim calcmode="lin" valueType="num">
                                      <p:cBhvr additive="base">
                                        <p:cTn id="7" dur="500" fill="hold"/>
                                        <p:tgtEl>
                                          <p:spTgt spid="16967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677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96771">
                                            <p:txEl>
                                              <p:pRg st="1" end="1"/>
                                            </p:txEl>
                                          </p:spTgt>
                                        </p:tgtEl>
                                        <p:attrNameLst>
                                          <p:attrName>style.visibility</p:attrName>
                                        </p:attrNameLst>
                                      </p:cBhvr>
                                      <p:to>
                                        <p:strVal val="visible"/>
                                      </p:to>
                                    </p:set>
                                    <p:anim calcmode="lin" valueType="num">
                                      <p:cBhvr additive="base">
                                        <p:cTn id="11" dur="500" fill="hold"/>
                                        <p:tgtEl>
                                          <p:spTgt spid="169677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96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696771">
                                            <p:txEl>
                                              <p:pRg st="3" end="3"/>
                                            </p:txEl>
                                          </p:spTgt>
                                        </p:tgtEl>
                                        <p:attrNameLst>
                                          <p:attrName>style.visibility</p:attrName>
                                        </p:attrNameLst>
                                      </p:cBhvr>
                                      <p:to>
                                        <p:strVal val="visible"/>
                                      </p:to>
                                    </p:set>
                                    <p:anim calcmode="lin" valueType="num">
                                      <p:cBhvr additive="base">
                                        <p:cTn id="17" dur="500" fill="hold"/>
                                        <p:tgtEl>
                                          <p:spTgt spid="1696771">
                                            <p:txEl>
                                              <p:pRg st="3" end="3"/>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96771">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696771">
                                            <p:txEl>
                                              <p:pRg st="4" end="4"/>
                                            </p:txEl>
                                          </p:spTgt>
                                        </p:tgtEl>
                                        <p:attrNameLst>
                                          <p:attrName>style.visibility</p:attrName>
                                        </p:attrNameLst>
                                      </p:cBhvr>
                                      <p:to>
                                        <p:strVal val="visible"/>
                                      </p:to>
                                    </p:set>
                                    <p:anim calcmode="lin" valueType="num">
                                      <p:cBhvr additive="base">
                                        <p:cTn id="21" dur="500" fill="hold"/>
                                        <p:tgtEl>
                                          <p:spTgt spid="1696771">
                                            <p:txEl>
                                              <p:pRg st="4" end="4"/>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696771">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696771">
                                            <p:txEl>
                                              <p:pRg st="5" end="5"/>
                                            </p:txEl>
                                          </p:spTgt>
                                        </p:tgtEl>
                                        <p:attrNameLst>
                                          <p:attrName>style.visibility</p:attrName>
                                        </p:attrNameLst>
                                      </p:cBhvr>
                                      <p:to>
                                        <p:strVal val="visible"/>
                                      </p:to>
                                    </p:set>
                                    <p:anim calcmode="lin" valueType="num">
                                      <p:cBhvr additive="base">
                                        <p:cTn id="25" dur="500" fill="hold"/>
                                        <p:tgtEl>
                                          <p:spTgt spid="1696771">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96771">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696771">
                                            <p:txEl>
                                              <p:pRg st="6" end="6"/>
                                            </p:txEl>
                                          </p:spTgt>
                                        </p:tgtEl>
                                        <p:attrNameLst>
                                          <p:attrName>style.visibility</p:attrName>
                                        </p:attrNameLst>
                                      </p:cBhvr>
                                      <p:to>
                                        <p:strVal val="visible"/>
                                      </p:to>
                                    </p:set>
                                    <p:anim calcmode="lin" valueType="num">
                                      <p:cBhvr additive="base">
                                        <p:cTn id="29" dur="500" fill="hold"/>
                                        <p:tgtEl>
                                          <p:spTgt spid="1696771">
                                            <p:txEl>
                                              <p:pRg st="6" end="6"/>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69677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6771"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E13B23-B4BB-47D9-B764-CD56BE8EB335}"/>
              </a:ext>
            </a:extLst>
          </p:cNvPr>
          <p:cNvSpPr>
            <a:spLocks noGrp="1" noChangeArrowheads="1"/>
          </p:cNvSpPr>
          <p:nvPr>
            <p:ph type="title"/>
          </p:nvPr>
        </p:nvSpPr>
        <p:spPr bwMode="auto">
          <a:xfrm>
            <a:off x="2190750" y="285751"/>
            <a:ext cx="7772400" cy="6588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grpSp>
        <p:nvGrpSpPr>
          <p:cNvPr id="1697795" name="Group 3">
            <a:extLst>
              <a:ext uri="{FF2B5EF4-FFF2-40B4-BE49-F238E27FC236}">
                <a16:creationId xmlns:a16="http://schemas.microsoft.com/office/drawing/2014/main" id="{61C561E1-1543-4AAB-9015-BDCCB81C7EB8}"/>
              </a:ext>
            </a:extLst>
          </p:cNvPr>
          <p:cNvGrpSpPr>
            <a:grpSpLocks/>
          </p:cNvGrpSpPr>
          <p:nvPr/>
        </p:nvGrpSpPr>
        <p:grpSpPr bwMode="auto">
          <a:xfrm>
            <a:off x="2322514" y="1201739"/>
            <a:ext cx="7888288" cy="2111375"/>
            <a:chOff x="512" y="979"/>
            <a:chExt cx="4969" cy="1330"/>
          </a:xfrm>
        </p:grpSpPr>
        <p:sp>
          <p:nvSpPr>
            <p:cNvPr id="14363" name="AutoShape 4">
              <a:extLst>
                <a:ext uri="{FF2B5EF4-FFF2-40B4-BE49-F238E27FC236}">
                  <a16:creationId xmlns:a16="http://schemas.microsoft.com/office/drawing/2014/main" id="{31B4CCB3-ED26-43CF-8CF0-E6A486EECBAB}"/>
                </a:ext>
              </a:extLst>
            </p:cNvPr>
            <p:cNvSpPr>
              <a:spLocks noChangeArrowheads="1"/>
            </p:cNvSpPr>
            <p:nvPr/>
          </p:nvSpPr>
          <p:spPr bwMode="auto">
            <a:xfrm>
              <a:off x="1490" y="1165"/>
              <a:ext cx="2440" cy="1144"/>
            </a:xfrm>
            <a:prstGeom prst="roundRect">
              <a:avLst>
                <a:gd name="adj" fmla="val 12495"/>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4" name="Oval 5">
              <a:extLst>
                <a:ext uri="{FF2B5EF4-FFF2-40B4-BE49-F238E27FC236}">
                  <a16:creationId xmlns:a16="http://schemas.microsoft.com/office/drawing/2014/main" id="{DB4ACCB0-DF0F-455D-883D-12F84471983A}"/>
                </a:ext>
              </a:extLst>
            </p:cNvPr>
            <p:cNvSpPr>
              <a:spLocks noChangeArrowheads="1"/>
            </p:cNvSpPr>
            <p:nvPr/>
          </p:nvSpPr>
          <p:spPr bwMode="auto">
            <a:xfrm>
              <a:off x="1538" y="1357"/>
              <a:ext cx="1000" cy="90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365" name="Group 6">
              <a:extLst>
                <a:ext uri="{FF2B5EF4-FFF2-40B4-BE49-F238E27FC236}">
                  <a16:creationId xmlns:a16="http://schemas.microsoft.com/office/drawing/2014/main" id="{24B6A9B5-825F-4238-93DF-8BD544FC4A1A}"/>
                </a:ext>
              </a:extLst>
            </p:cNvPr>
            <p:cNvGrpSpPr>
              <a:grpSpLocks/>
            </p:cNvGrpSpPr>
            <p:nvPr/>
          </p:nvGrpSpPr>
          <p:grpSpPr bwMode="auto">
            <a:xfrm>
              <a:off x="1730" y="1453"/>
              <a:ext cx="376" cy="424"/>
              <a:chOff x="1636" y="1204"/>
              <a:chExt cx="376" cy="424"/>
            </a:xfrm>
          </p:grpSpPr>
          <p:sp>
            <p:nvSpPr>
              <p:cNvPr id="14404" name="Rectangle 7">
                <a:extLst>
                  <a:ext uri="{FF2B5EF4-FFF2-40B4-BE49-F238E27FC236}">
                    <a16:creationId xmlns:a16="http://schemas.microsoft.com/office/drawing/2014/main" id="{454F9486-3324-4D5C-BF1D-8699D288AF38}"/>
                  </a:ext>
                </a:extLst>
              </p:cNvPr>
              <p:cNvSpPr>
                <a:spLocks noChangeArrowheads="1"/>
              </p:cNvSpPr>
              <p:nvPr/>
            </p:nvSpPr>
            <p:spPr bwMode="auto">
              <a:xfrm>
                <a:off x="1732" y="1444"/>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405" name="Oval 8">
                <a:extLst>
                  <a:ext uri="{FF2B5EF4-FFF2-40B4-BE49-F238E27FC236}">
                    <a16:creationId xmlns:a16="http://schemas.microsoft.com/office/drawing/2014/main" id="{7899AE3B-4EC3-41ED-BFBC-DFCFF88D226D}"/>
                  </a:ext>
                </a:extLst>
              </p:cNvPr>
              <p:cNvSpPr>
                <a:spLocks noChangeArrowheads="1"/>
              </p:cNvSpPr>
              <p:nvPr/>
            </p:nvSpPr>
            <p:spPr bwMode="auto">
              <a:xfrm>
                <a:off x="1636"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6" name="Oval 9">
                <a:extLst>
                  <a:ext uri="{FF2B5EF4-FFF2-40B4-BE49-F238E27FC236}">
                    <a16:creationId xmlns:a16="http://schemas.microsoft.com/office/drawing/2014/main" id="{7C5F1207-D4FA-41DD-A053-76B69DDE79F1}"/>
                  </a:ext>
                </a:extLst>
              </p:cNvPr>
              <p:cNvSpPr>
                <a:spLocks noChangeArrowheads="1"/>
              </p:cNvSpPr>
              <p:nvPr/>
            </p:nvSpPr>
            <p:spPr bwMode="auto">
              <a:xfrm>
                <a:off x="1780"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7" name="Oval 10">
                <a:extLst>
                  <a:ext uri="{FF2B5EF4-FFF2-40B4-BE49-F238E27FC236}">
                    <a16:creationId xmlns:a16="http://schemas.microsoft.com/office/drawing/2014/main" id="{0C0992CC-DFBF-4ADA-9A9C-99CF1AC6A702}"/>
                  </a:ext>
                </a:extLst>
              </p:cNvPr>
              <p:cNvSpPr>
                <a:spLocks noChangeArrowheads="1"/>
              </p:cNvSpPr>
              <p:nvPr/>
            </p:nvSpPr>
            <p:spPr bwMode="auto">
              <a:xfrm>
                <a:off x="1924"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8" name="Line 11">
                <a:extLst>
                  <a:ext uri="{FF2B5EF4-FFF2-40B4-BE49-F238E27FC236}">
                    <a16:creationId xmlns:a16="http://schemas.microsoft.com/office/drawing/2014/main" id="{34F096E1-1390-4D8D-9E9D-F6F2BDCC5347}"/>
                  </a:ext>
                </a:extLst>
              </p:cNvPr>
              <p:cNvSpPr>
                <a:spLocks noChangeShapeType="1"/>
              </p:cNvSpPr>
              <p:nvPr/>
            </p:nvSpPr>
            <p:spPr bwMode="auto">
              <a:xfrm>
                <a:off x="1684" y="1300"/>
                <a:ext cx="136"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9" name="Line 12">
                <a:extLst>
                  <a:ext uri="{FF2B5EF4-FFF2-40B4-BE49-F238E27FC236}">
                    <a16:creationId xmlns:a16="http://schemas.microsoft.com/office/drawing/2014/main" id="{A1AEA10B-93C4-4009-9521-4B63C31883A6}"/>
                  </a:ext>
                </a:extLst>
              </p:cNvPr>
              <p:cNvSpPr>
                <a:spLocks noChangeShapeType="1"/>
              </p:cNvSpPr>
              <p:nvPr/>
            </p:nvSpPr>
            <p:spPr bwMode="auto">
              <a:xfrm>
                <a:off x="1824" y="1300"/>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10" name="Line 13">
                <a:extLst>
                  <a:ext uri="{FF2B5EF4-FFF2-40B4-BE49-F238E27FC236}">
                    <a16:creationId xmlns:a16="http://schemas.microsoft.com/office/drawing/2014/main" id="{B4584215-0FC3-48E7-9375-550A714FCEB4}"/>
                  </a:ext>
                </a:extLst>
              </p:cNvPr>
              <p:cNvSpPr>
                <a:spLocks noChangeShapeType="1"/>
              </p:cNvSpPr>
              <p:nvPr/>
            </p:nvSpPr>
            <p:spPr bwMode="auto">
              <a:xfrm flipH="1">
                <a:off x="1820" y="1300"/>
                <a:ext cx="152"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66" name="Rectangle 14">
              <a:extLst>
                <a:ext uri="{FF2B5EF4-FFF2-40B4-BE49-F238E27FC236}">
                  <a16:creationId xmlns:a16="http://schemas.microsoft.com/office/drawing/2014/main" id="{8E951791-4614-4DF4-804E-0B1DF54FEFAE}"/>
                </a:ext>
              </a:extLst>
            </p:cNvPr>
            <p:cNvSpPr>
              <a:spLocks noChangeArrowheads="1"/>
            </p:cNvSpPr>
            <p:nvPr/>
          </p:nvSpPr>
          <p:spPr bwMode="auto">
            <a:xfrm>
              <a:off x="2114" y="1693"/>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67" name="Oval 15">
              <a:extLst>
                <a:ext uri="{FF2B5EF4-FFF2-40B4-BE49-F238E27FC236}">
                  <a16:creationId xmlns:a16="http://schemas.microsoft.com/office/drawing/2014/main" id="{49F30AE5-D8C4-4283-9F61-A31FF25CA499}"/>
                </a:ext>
              </a:extLst>
            </p:cNvPr>
            <p:cNvSpPr>
              <a:spLocks noChangeArrowheads="1"/>
            </p:cNvSpPr>
            <p:nvPr/>
          </p:nvSpPr>
          <p:spPr bwMode="auto">
            <a:xfrm>
              <a:off x="2018"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8" name="Oval 16">
              <a:extLst>
                <a:ext uri="{FF2B5EF4-FFF2-40B4-BE49-F238E27FC236}">
                  <a16:creationId xmlns:a16="http://schemas.microsoft.com/office/drawing/2014/main" id="{F632D0DF-BBB0-4083-A2B8-AF14667E7ECC}"/>
                </a:ext>
              </a:extLst>
            </p:cNvPr>
            <p:cNvSpPr>
              <a:spLocks noChangeArrowheads="1"/>
            </p:cNvSpPr>
            <p:nvPr/>
          </p:nvSpPr>
          <p:spPr bwMode="auto">
            <a:xfrm>
              <a:off x="2162"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9" name="Oval 17">
              <a:extLst>
                <a:ext uri="{FF2B5EF4-FFF2-40B4-BE49-F238E27FC236}">
                  <a16:creationId xmlns:a16="http://schemas.microsoft.com/office/drawing/2014/main" id="{8626D9AA-8263-4C5A-A4AF-882216F63433}"/>
                </a:ext>
              </a:extLst>
            </p:cNvPr>
            <p:cNvSpPr>
              <a:spLocks noChangeArrowheads="1"/>
            </p:cNvSpPr>
            <p:nvPr/>
          </p:nvSpPr>
          <p:spPr bwMode="auto">
            <a:xfrm>
              <a:off x="2306"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0" name="Line 18">
              <a:extLst>
                <a:ext uri="{FF2B5EF4-FFF2-40B4-BE49-F238E27FC236}">
                  <a16:creationId xmlns:a16="http://schemas.microsoft.com/office/drawing/2014/main" id="{4BCD7798-DD85-444E-9E4E-44A959836446}"/>
                </a:ext>
              </a:extLst>
            </p:cNvPr>
            <p:cNvSpPr>
              <a:spLocks noChangeShapeType="1"/>
            </p:cNvSpPr>
            <p:nvPr/>
          </p:nvSpPr>
          <p:spPr bwMode="auto">
            <a:xfrm flipV="1">
              <a:off x="2066" y="1877"/>
              <a:ext cx="136"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1" name="Line 19">
              <a:extLst>
                <a:ext uri="{FF2B5EF4-FFF2-40B4-BE49-F238E27FC236}">
                  <a16:creationId xmlns:a16="http://schemas.microsoft.com/office/drawing/2014/main" id="{1560B1F0-F646-4020-9E4B-3E401A833FF2}"/>
                </a:ext>
              </a:extLst>
            </p:cNvPr>
            <p:cNvSpPr>
              <a:spLocks noChangeShapeType="1"/>
            </p:cNvSpPr>
            <p:nvPr/>
          </p:nvSpPr>
          <p:spPr bwMode="auto">
            <a:xfrm flipV="1">
              <a:off x="2206" y="1877"/>
              <a:ext cx="0"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2" name="Line 20">
              <a:extLst>
                <a:ext uri="{FF2B5EF4-FFF2-40B4-BE49-F238E27FC236}">
                  <a16:creationId xmlns:a16="http://schemas.microsoft.com/office/drawing/2014/main" id="{0707FB90-6226-4601-8FDB-4FD2ED645728}"/>
                </a:ext>
              </a:extLst>
            </p:cNvPr>
            <p:cNvSpPr>
              <a:spLocks noChangeShapeType="1"/>
            </p:cNvSpPr>
            <p:nvPr/>
          </p:nvSpPr>
          <p:spPr bwMode="auto">
            <a:xfrm flipH="1" flipV="1">
              <a:off x="2202" y="1877"/>
              <a:ext cx="152"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3" name="Line 21">
              <a:extLst>
                <a:ext uri="{FF2B5EF4-FFF2-40B4-BE49-F238E27FC236}">
                  <a16:creationId xmlns:a16="http://schemas.microsoft.com/office/drawing/2014/main" id="{E14EEB35-4394-4EAF-828B-84899D267C87}"/>
                </a:ext>
              </a:extLst>
            </p:cNvPr>
            <p:cNvSpPr>
              <a:spLocks noChangeShapeType="1"/>
            </p:cNvSpPr>
            <p:nvPr/>
          </p:nvSpPr>
          <p:spPr bwMode="auto">
            <a:xfrm>
              <a:off x="2018" y="1785"/>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4" name="Rectangle 22">
              <a:extLst>
                <a:ext uri="{FF2B5EF4-FFF2-40B4-BE49-F238E27FC236}">
                  <a16:creationId xmlns:a16="http://schemas.microsoft.com/office/drawing/2014/main" id="{E4F73EB0-FB02-4C56-B4B1-C2EFAD404970}"/>
                </a:ext>
              </a:extLst>
            </p:cNvPr>
            <p:cNvSpPr>
              <a:spLocks noChangeArrowheads="1"/>
            </p:cNvSpPr>
            <p:nvPr/>
          </p:nvSpPr>
          <p:spPr bwMode="auto">
            <a:xfrm>
              <a:off x="2594" y="1645"/>
              <a:ext cx="232" cy="23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B</a:t>
              </a:r>
            </a:p>
          </p:txBody>
        </p:sp>
        <p:sp>
          <p:nvSpPr>
            <p:cNvPr id="14375" name="Oval 23">
              <a:extLst>
                <a:ext uri="{FF2B5EF4-FFF2-40B4-BE49-F238E27FC236}">
                  <a16:creationId xmlns:a16="http://schemas.microsoft.com/office/drawing/2014/main" id="{7BA6056F-5062-4DBB-967D-3194464A002C}"/>
                </a:ext>
              </a:extLst>
            </p:cNvPr>
            <p:cNvSpPr>
              <a:spLocks noChangeArrowheads="1"/>
            </p:cNvSpPr>
            <p:nvPr/>
          </p:nvSpPr>
          <p:spPr bwMode="auto">
            <a:xfrm>
              <a:off x="2882" y="1357"/>
              <a:ext cx="1000" cy="90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376" name="Group 24">
              <a:extLst>
                <a:ext uri="{FF2B5EF4-FFF2-40B4-BE49-F238E27FC236}">
                  <a16:creationId xmlns:a16="http://schemas.microsoft.com/office/drawing/2014/main" id="{76EFA693-B2E9-41B9-96DD-FD66DA68463C}"/>
                </a:ext>
              </a:extLst>
            </p:cNvPr>
            <p:cNvGrpSpPr>
              <a:grpSpLocks/>
            </p:cNvGrpSpPr>
            <p:nvPr/>
          </p:nvGrpSpPr>
          <p:grpSpPr bwMode="auto">
            <a:xfrm>
              <a:off x="3074" y="1453"/>
              <a:ext cx="376" cy="424"/>
              <a:chOff x="2980" y="1204"/>
              <a:chExt cx="376" cy="424"/>
            </a:xfrm>
          </p:grpSpPr>
          <p:sp>
            <p:nvSpPr>
              <p:cNvPr id="14397" name="Rectangle 25">
                <a:extLst>
                  <a:ext uri="{FF2B5EF4-FFF2-40B4-BE49-F238E27FC236}">
                    <a16:creationId xmlns:a16="http://schemas.microsoft.com/office/drawing/2014/main" id="{9E2F5687-2394-4377-9F0E-C7B70E63968C}"/>
                  </a:ext>
                </a:extLst>
              </p:cNvPr>
              <p:cNvSpPr>
                <a:spLocks noChangeArrowheads="1"/>
              </p:cNvSpPr>
              <p:nvPr/>
            </p:nvSpPr>
            <p:spPr bwMode="auto">
              <a:xfrm>
                <a:off x="3076" y="1444"/>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98" name="Oval 26">
                <a:extLst>
                  <a:ext uri="{FF2B5EF4-FFF2-40B4-BE49-F238E27FC236}">
                    <a16:creationId xmlns:a16="http://schemas.microsoft.com/office/drawing/2014/main" id="{2A4294FD-7853-4750-8985-17A5DEDF5819}"/>
                  </a:ext>
                </a:extLst>
              </p:cNvPr>
              <p:cNvSpPr>
                <a:spLocks noChangeArrowheads="1"/>
              </p:cNvSpPr>
              <p:nvPr/>
            </p:nvSpPr>
            <p:spPr bwMode="auto">
              <a:xfrm>
                <a:off x="2980"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9" name="Oval 27">
                <a:extLst>
                  <a:ext uri="{FF2B5EF4-FFF2-40B4-BE49-F238E27FC236}">
                    <a16:creationId xmlns:a16="http://schemas.microsoft.com/office/drawing/2014/main" id="{3236F5E3-A7A7-471B-8CFB-354C2CFF1EAC}"/>
                  </a:ext>
                </a:extLst>
              </p:cNvPr>
              <p:cNvSpPr>
                <a:spLocks noChangeArrowheads="1"/>
              </p:cNvSpPr>
              <p:nvPr/>
            </p:nvSpPr>
            <p:spPr bwMode="auto">
              <a:xfrm>
                <a:off x="3124"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0" name="Oval 28">
                <a:extLst>
                  <a:ext uri="{FF2B5EF4-FFF2-40B4-BE49-F238E27FC236}">
                    <a16:creationId xmlns:a16="http://schemas.microsoft.com/office/drawing/2014/main" id="{1C2A9124-37C6-4440-AD40-07B71FCC615C}"/>
                  </a:ext>
                </a:extLst>
              </p:cNvPr>
              <p:cNvSpPr>
                <a:spLocks noChangeArrowheads="1"/>
              </p:cNvSpPr>
              <p:nvPr/>
            </p:nvSpPr>
            <p:spPr bwMode="auto">
              <a:xfrm>
                <a:off x="3268"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1" name="Line 29">
                <a:extLst>
                  <a:ext uri="{FF2B5EF4-FFF2-40B4-BE49-F238E27FC236}">
                    <a16:creationId xmlns:a16="http://schemas.microsoft.com/office/drawing/2014/main" id="{69E5BA63-7CC7-4569-AC63-7577781F8F72}"/>
                  </a:ext>
                </a:extLst>
              </p:cNvPr>
              <p:cNvSpPr>
                <a:spLocks noChangeShapeType="1"/>
              </p:cNvSpPr>
              <p:nvPr/>
            </p:nvSpPr>
            <p:spPr bwMode="auto">
              <a:xfrm>
                <a:off x="3028" y="1300"/>
                <a:ext cx="136"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2" name="Line 30">
                <a:extLst>
                  <a:ext uri="{FF2B5EF4-FFF2-40B4-BE49-F238E27FC236}">
                    <a16:creationId xmlns:a16="http://schemas.microsoft.com/office/drawing/2014/main" id="{D6CDD923-9B31-44AC-A006-E270AC797C6F}"/>
                  </a:ext>
                </a:extLst>
              </p:cNvPr>
              <p:cNvSpPr>
                <a:spLocks noChangeShapeType="1"/>
              </p:cNvSpPr>
              <p:nvPr/>
            </p:nvSpPr>
            <p:spPr bwMode="auto">
              <a:xfrm>
                <a:off x="3168" y="1300"/>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3" name="Line 31">
                <a:extLst>
                  <a:ext uri="{FF2B5EF4-FFF2-40B4-BE49-F238E27FC236}">
                    <a16:creationId xmlns:a16="http://schemas.microsoft.com/office/drawing/2014/main" id="{DEF34BDF-A68E-4354-9D2D-207B08C72A8A}"/>
                  </a:ext>
                </a:extLst>
              </p:cNvPr>
              <p:cNvSpPr>
                <a:spLocks noChangeShapeType="1"/>
              </p:cNvSpPr>
              <p:nvPr/>
            </p:nvSpPr>
            <p:spPr bwMode="auto">
              <a:xfrm flipH="1">
                <a:off x="3164" y="1300"/>
                <a:ext cx="152"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77" name="Rectangle 32">
              <a:extLst>
                <a:ext uri="{FF2B5EF4-FFF2-40B4-BE49-F238E27FC236}">
                  <a16:creationId xmlns:a16="http://schemas.microsoft.com/office/drawing/2014/main" id="{C0D5C105-BBAC-4CEE-84EB-D5FED8162678}"/>
                </a:ext>
              </a:extLst>
            </p:cNvPr>
            <p:cNvSpPr>
              <a:spLocks noChangeArrowheads="1"/>
            </p:cNvSpPr>
            <p:nvPr/>
          </p:nvSpPr>
          <p:spPr bwMode="auto">
            <a:xfrm>
              <a:off x="3458" y="1693"/>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78" name="Oval 33">
              <a:extLst>
                <a:ext uri="{FF2B5EF4-FFF2-40B4-BE49-F238E27FC236}">
                  <a16:creationId xmlns:a16="http://schemas.microsoft.com/office/drawing/2014/main" id="{FF4FB6C6-2B1E-4DEE-81B3-F43E03687751}"/>
                </a:ext>
              </a:extLst>
            </p:cNvPr>
            <p:cNvSpPr>
              <a:spLocks noChangeArrowheads="1"/>
            </p:cNvSpPr>
            <p:nvPr/>
          </p:nvSpPr>
          <p:spPr bwMode="auto">
            <a:xfrm>
              <a:off x="3362"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9" name="Oval 34">
              <a:extLst>
                <a:ext uri="{FF2B5EF4-FFF2-40B4-BE49-F238E27FC236}">
                  <a16:creationId xmlns:a16="http://schemas.microsoft.com/office/drawing/2014/main" id="{022910EC-6580-4A34-B4F1-022E3CF65068}"/>
                </a:ext>
              </a:extLst>
            </p:cNvPr>
            <p:cNvSpPr>
              <a:spLocks noChangeArrowheads="1"/>
            </p:cNvSpPr>
            <p:nvPr/>
          </p:nvSpPr>
          <p:spPr bwMode="auto">
            <a:xfrm>
              <a:off x="3506"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0" name="Oval 35">
              <a:extLst>
                <a:ext uri="{FF2B5EF4-FFF2-40B4-BE49-F238E27FC236}">
                  <a16:creationId xmlns:a16="http://schemas.microsoft.com/office/drawing/2014/main" id="{98BFD0FF-76F3-4FD2-9F72-19DE72CCB97F}"/>
                </a:ext>
              </a:extLst>
            </p:cNvPr>
            <p:cNvSpPr>
              <a:spLocks noChangeArrowheads="1"/>
            </p:cNvSpPr>
            <p:nvPr/>
          </p:nvSpPr>
          <p:spPr bwMode="auto">
            <a:xfrm>
              <a:off x="3650"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1" name="Line 36">
              <a:extLst>
                <a:ext uri="{FF2B5EF4-FFF2-40B4-BE49-F238E27FC236}">
                  <a16:creationId xmlns:a16="http://schemas.microsoft.com/office/drawing/2014/main" id="{6CB68DC6-683D-40B5-9E66-63D57DD1EEF6}"/>
                </a:ext>
              </a:extLst>
            </p:cNvPr>
            <p:cNvSpPr>
              <a:spLocks noChangeShapeType="1"/>
            </p:cNvSpPr>
            <p:nvPr/>
          </p:nvSpPr>
          <p:spPr bwMode="auto">
            <a:xfrm flipV="1">
              <a:off x="3410" y="1877"/>
              <a:ext cx="136"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2" name="Line 37">
              <a:extLst>
                <a:ext uri="{FF2B5EF4-FFF2-40B4-BE49-F238E27FC236}">
                  <a16:creationId xmlns:a16="http://schemas.microsoft.com/office/drawing/2014/main" id="{08283941-439A-42CC-9B84-DD49AE84E2F9}"/>
                </a:ext>
              </a:extLst>
            </p:cNvPr>
            <p:cNvSpPr>
              <a:spLocks noChangeShapeType="1"/>
            </p:cNvSpPr>
            <p:nvPr/>
          </p:nvSpPr>
          <p:spPr bwMode="auto">
            <a:xfrm flipV="1">
              <a:off x="3550" y="1877"/>
              <a:ext cx="0"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3" name="Line 38">
              <a:extLst>
                <a:ext uri="{FF2B5EF4-FFF2-40B4-BE49-F238E27FC236}">
                  <a16:creationId xmlns:a16="http://schemas.microsoft.com/office/drawing/2014/main" id="{3756A8D7-04DA-4A5B-8A69-C364316458BF}"/>
                </a:ext>
              </a:extLst>
            </p:cNvPr>
            <p:cNvSpPr>
              <a:spLocks noChangeShapeType="1"/>
            </p:cNvSpPr>
            <p:nvPr/>
          </p:nvSpPr>
          <p:spPr bwMode="auto">
            <a:xfrm flipH="1" flipV="1">
              <a:off x="3546" y="1877"/>
              <a:ext cx="152"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4" name="Line 39">
              <a:extLst>
                <a:ext uri="{FF2B5EF4-FFF2-40B4-BE49-F238E27FC236}">
                  <a16:creationId xmlns:a16="http://schemas.microsoft.com/office/drawing/2014/main" id="{72F82C58-9989-4FEA-910C-A8E2DC0F88F9}"/>
                </a:ext>
              </a:extLst>
            </p:cNvPr>
            <p:cNvSpPr>
              <a:spLocks noChangeShapeType="1"/>
            </p:cNvSpPr>
            <p:nvPr/>
          </p:nvSpPr>
          <p:spPr bwMode="auto">
            <a:xfrm>
              <a:off x="3362" y="1785"/>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5" name="Line 40">
              <a:extLst>
                <a:ext uri="{FF2B5EF4-FFF2-40B4-BE49-F238E27FC236}">
                  <a16:creationId xmlns:a16="http://schemas.microsoft.com/office/drawing/2014/main" id="{648947B0-1FAF-4FE6-A9D7-9B7F9B1F25E8}"/>
                </a:ext>
              </a:extLst>
            </p:cNvPr>
            <p:cNvSpPr>
              <a:spLocks noChangeShapeType="1"/>
            </p:cNvSpPr>
            <p:nvPr/>
          </p:nvSpPr>
          <p:spPr bwMode="auto">
            <a:xfrm>
              <a:off x="2546" y="1785"/>
              <a:ext cx="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6" name="Line 41">
              <a:extLst>
                <a:ext uri="{FF2B5EF4-FFF2-40B4-BE49-F238E27FC236}">
                  <a16:creationId xmlns:a16="http://schemas.microsoft.com/office/drawing/2014/main" id="{86BB44FB-4074-4C5F-83E6-102D3A9AC9FB}"/>
                </a:ext>
              </a:extLst>
            </p:cNvPr>
            <p:cNvSpPr>
              <a:spLocks noChangeShapeType="1"/>
            </p:cNvSpPr>
            <p:nvPr/>
          </p:nvSpPr>
          <p:spPr bwMode="auto">
            <a:xfrm>
              <a:off x="2834" y="1785"/>
              <a:ext cx="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7" name="Rectangle 42">
              <a:extLst>
                <a:ext uri="{FF2B5EF4-FFF2-40B4-BE49-F238E27FC236}">
                  <a16:creationId xmlns:a16="http://schemas.microsoft.com/office/drawing/2014/main" id="{1CA798BC-83C2-4536-A54B-B5C896958285}"/>
                </a:ext>
              </a:extLst>
            </p:cNvPr>
            <p:cNvSpPr>
              <a:spLocks noChangeArrowheads="1"/>
            </p:cNvSpPr>
            <p:nvPr/>
          </p:nvSpPr>
          <p:spPr bwMode="auto">
            <a:xfrm>
              <a:off x="4082" y="1885"/>
              <a:ext cx="80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tx1"/>
                  </a:solidFill>
                </a:rPr>
                <a:t>路由器</a:t>
              </a:r>
            </a:p>
          </p:txBody>
        </p:sp>
        <p:grpSp>
          <p:nvGrpSpPr>
            <p:cNvPr id="14388" name="Group 43">
              <a:extLst>
                <a:ext uri="{FF2B5EF4-FFF2-40B4-BE49-F238E27FC236}">
                  <a16:creationId xmlns:a16="http://schemas.microsoft.com/office/drawing/2014/main" id="{A265169E-8004-48E6-9238-32AE025A9B19}"/>
                </a:ext>
              </a:extLst>
            </p:cNvPr>
            <p:cNvGrpSpPr>
              <a:grpSpLocks/>
            </p:cNvGrpSpPr>
            <p:nvPr/>
          </p:nvGrpSpPr>
          <p:grpSpPr bwMode="auto">
            <a:xfrm>
              <a:off x="4866" y="1905"/>
              <a:ext cx="344" cy="96"/>
              <a:chOff x="4772" y="1656"/>
              <a:chExt cx="344" cy="96"/>
            </a:xfrm>
          </p:grpSpPr>
          <p:sp>
            <p:nvSpPr>
              <p:cNvPr id="14394" name="Line 44">
                <a:extLst>
                  <a:ext uri="{FF2B5EF4-FFF2-40B4-BE49-F238E27FC236}">
                    <a16:creationId xmlns:a16="http://schemas.microsoft.com/office/drawing/2014/main" id="{298B7EA1-077B-4404-B19B-8C2A5932D5A9}"/>
                  </a:ext>
                </a:extLst>
              </p:cNvPr>
              <p:cNvSpPr>
                <a:spLocks noChangeShapeType="1"/>
              </p:cNvSpPr>
              <p:nvPr/>
            </p:nvSpPr>
            <p:spPr bwMode="auto">
              <a:xfrm flipH="1">
                <a:off x="4868" y="1656"/>
                <a:ext cx="248"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5" name="Line 45">
                <a:extLst>
                  <a:ext uri="{FF2B5EF4-FFF2-40B4-BE49-F238E27FC236}">
                    <a16:creationId xmlns:a16="http://schemas.microsoft.com/office/drawing/2014/main" id="{F5412D6C-0B68-4D40-9615-B43CEE6F97FD}"/>
                  </a:ext>
                </a:extLst>
              </p:cNvPr>
              <p:cNvSpPr>
                <a:spLocks noChangeShapeType="1"/>
              </p:cNvSpPr>
              <p:nvPr/>
            </p:nvSpPr>
            <p:spPr bwMode="auto">
              <a:xfrm>
                <a:off x="4876" y="1660"/>
                <a:ext cx="88"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6" name="Line 46">
                <a:extLst>
                  <a:ext uri="{FF2B5EF4-FFF2-40B4-BE49-F238E27FC236}">
                    <a16:creationId xmlns:a16="http://schemas.microsoft.com/office/drawing/2014/main" id="{ED2BE9E3-93F8-44BE-91AA-E66FD47B7205}"/>
                  </a:ext>
                </a:extLst>
              </p:cNvPr>
              <p:cNvSpPr>
                <a:spLocks noChangeShapeType="1"/>
              </p:cNvSpPr>
              <p:nvPr/>
            </p:nvSpPr>
            <p:spPr bwMode="auto">
              <a:xfrm flipH="1">
                <a:off x="4772" y="1752"/>
                <a:ext cx="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89" name="Line 47">
              <a:extLst>
                <a:ext uri="{FF2B5EF4-FFF2-40B4-BE49-F238E27FC236}">
                  <a16:creationId xmlns:a16="http://schemas.microsoft.com/office/drawing/2014/main" id="{EF633A49-D43B-461A-AA65-84C5D4CE06E4}"/>
                </a:ext>
              </a:extLst>
            </p:cNvPr>
            <p:cNvSpPr>
              <a:spLocks noChangeShapeType="1"/>
            </p:cNvSpPr>
            <p:nvPr/>
          </p:nvSpPr>
          <p:spPr bwMode="auto">
            <a:xfrm>
              <a:off x="3938" y="2025"/>
              <a:ext cx="1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0" name="Rectangle 48">
              <a:extLst>
                <a:ext uri="{FF2B5EF4-FFF2-40B4-BE49-F238E27FC236}">
                  <a16:creationId xmlns:a16="http://schemas.microsoft.com/office/drawing/2014/main" id="{11366E4C-29DA-4821-AF51-11291C357582}"/>
                </a:ext>
              </a:extLst>
            </p:cNvPr>
            <p:cNvSpPr>
              <a:spLocks noChangeArrowheads="1"/>
            </p:cNvSpPr>
            <p:nvPr/>
          </p:nvSpPr>
          <p:spPr bwMode="auto">
            <a:xfrm>
              <a:off x="3991" y="979"/>
              <a:ext cx="1490" cy="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r>
                <a:rPr lang="en-US" altLang="zh-CN" sz="2800">
                  <a:solidFill>
                    <a:schemeClr val="tx1"/>
                  </a:solidFill>
                </a:rPr>
                <a:t>Extended LAN</a:t>
              </a:r>
            </a:p>
            <a:p>
              <a:pPr algn="l"/>
              <a:r>
                <a:rPr lang="en-US" altLang="zh-CN" sz="2800">
                  <a:solidFill>
                    <a:schemeClr val="tx1"/>
                  </a:solidFill>
                </a:rPr>
                <a:t>=</a:t>
              </a:r>
              <a:r>
                <a:rPr lang="zh-CN" altLang="en-US" sz="2800" b="1">
                  <a:solidFill>
                    <a:schemeClr val="folHlink"/>
                  </a:solidFill>
                </a:rPr>
                <a:t>扩展域</a:t>
              </a:r>
              <a:endParaRPr lang="zh-CN" altLang="en-US" sz="2800">
                <a:solidFill>
                  <a:schemeClr val="folHlink"/>
                </a:solidFill>
              </a:endParaRPr>
            </a:p>
          </p:txBody>
        </p:sp>
        <p:sp>
          <p:nvSpPr>
            <p:cNvPr id="14391" name="Rectangle 49">
              <a:extLst>
                <a:ext uri="{FF2B5EF4-FFF2-40B4-BE49-F238E27FC236}">
                  <a16:creationId xmlns:a16="http://schemas.microsoft.com/office/drawing/2014/main" id="{96B311C5-21EE-4410-948E-9B6A0DEE72C4}"/>
                </a:ext>
              </a:extLst>
            </p:cNvPr>
            <p:cNvSpPr>
              <a:spLocks noChangeArrowheads="1"/>
            </p:cNvSpPr>
            <p:nvPr/>
          </p:nvSpPr>
          <p:spPr bwMode="auto">
            <a:xfrm>
              <a:off x="512" y="1459"/>
              <a:ext cx="797" cy="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LAN=</a:t>
              </a:r>
            </a:p>
            <a:p>
              <a:r>
                <a:rPr lang="zh-CN" altLang="en-US" sz="2800" b="1">
                  <a:solidFill>
                    <a:schemeClr val="folHlink"/>
                  </a:solidFill>
                </a:rPr>
                <a:t>冲突域</a:t>
              </a:r>
              <a:endParaRPr lang="zh-CN" altLang="en-US" sz="2800">
                <a:solidFill>
                  <a:schemeClr val="folHlink"/>
                </a:solidFill>
              </a:endParaRPr>
            </a:p>
          </p:txBody>
        </p:sp>
        <p:sp>
          <p:nvSpPr>
            <p:cNvPr id="14392" name="Line 50">
              <a:extLst>
                <a:ext uri="{FF2B5EF4-FFF2-40B4-BE49-F238E27FC236}">
                  <a16:creationId xmlns:a16="http://schemas.microsoft.com/office/drawing/2014/main" id="{46D02B46-23B0-4B5C-A765-9BB63828C49F}"/>
                </a:ext>
              </a:extLst>
            </p:cNvPr>
            <p:cNvSpPr>
              <a:spLocks noChangeShapeType="1"/>
            </p:cNvSpPr>
            <p:nvPr/>
          </p:nvSpPr>
          <p:spPr bwMode="auto">
            <a:xfrm flipV="1">
              <a:off x="1298" y="1877"/>
              <a:ext cx="328" cy="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3" name="Line 51">
              <a:extLst>
                <a:ext uri="{FF2B5EF4-FFF2-40B4-BE49-F238E27FC236}">
                  <a16:creationId xmlns:a16="http://schemas.microsoft.com/office/drawing/2014/main" id="{22C2AC3C-D418-43EC-820E-95BF82435CB5}"/>
                </a:ext>
              </a:extLst>
            </p:cNvPr>
            <p:cNvSpPr>
              <a:spLocks noChangeShapeType="1"/>
            </p:cNvSpPr>
            <p:nvPr/>
          </p:nvSpPr>
          <p:spPr bwMode="auto">
            <a:xfrm flipV="1">
              <a:off x="3746" y="1157"/>
              <a:ext cx="280" cy="2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grpSp>
        <p:nvGrpSpPr>
          <p:cNvPr id="1697844" name="Group 52">
            <a:extLst>
              <a:ext uri="{FF2B5EF4-FFF2-40B4-BE49-F238E27FC236}">
                <a16:creationId xmlns:a16="http://schemas.microsoft.com/office/drawing/2014/main" id="{3914180D-2190-47F9-93B5-F34EA77EB5B9}"/>
              </a:ext>
            </a:extLst>
          </p:cNvPr>
          <p:cNvGrpSpPr>
            <a:grpSpLocks/>
          </p:cNvGrpSpPr>
          <p:nvPr/>
        </p:nvGrpSpPr>
        <p:grpSpPr bwMode="auto">
          <a:xfrm>
            <a:off x="2098676" y="3754438"/>
            <a:ext cx="7912100" cy="2349500"/>
            <a:chOff x="292" y="2404"/>
            <a:chExt cx="4984" cy="1480"/>
          </a:xfrm>
        </p:grpSpPr>
        <p:sp>
          <p:nvSpPr>
            <p:cNvPr id="14343" name="Line 53">
              <a:extLst>
                <a:ext uri="{FF2B5EF4-FFF2-40B4-BE49-F238E27FC236}">
                  <a16:creationId xmlns:a16="http://schemas.microsoft.com/office/drawing/2014/main" id="{A76287A0-3D1E-4AB6-A397-0FA65F21BEB9}"/>
                </a:ext>
              </a:extLst>
            </p:cNvPr>
            <p:cNvSpPr>
              <a:spLocks noChangeShapeType="1"/>
            </p:cNvSpPr>
            <p:nvPr/>
          </p:nvSpPr>
          <p:spPr bwMode="auto">
            <a:xfrm>
              <a:off x="1588" y="2592"/>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4" name="Line 54">
              <a:extLst>
                <a:ext uri="{FF2B5EF4-FFF2-40B4-BE49-F238E27FC236}">
                  <a16:creationId xmlns:a16="http://schemas.microsoft.com/office/drawing/2014/main" id="{60992032-6643-43B5-A520-B100236EF458}"/>
                </a:ext>
              </a:extLst>
            </p:cNvPr>
            <p:cNvSpPr>
              <a:spLocks noChangeShapeType="1"/>
            </p:cNvSpPr>
            <p:nvPr/>
          </p:nvSpPr>
          <p:spPr bwMode="auto">
            <a:xfrm>
              <a:off x="1588" y="3168"/>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5" name="Line 55">
              <a:extLst>
                <a:ext uri="{FF2B5EF4-FFF2-40B4-BE49-F238E27FC236}">
                  <a16:creationId xmlns:a16="http://schemas.microsoft.com/office/drawing/2014/main" id="{D820BC18-2E4E-4EF0-ACD2-1D04C36DC819}"/>
                </a:ext>
              </a:extLst>
            </p:cNvPr>
            <p:cNvSpPr>
              <a:spLocks noChangeShapeType="1"/>
            </p:cNvSpPr>
            <p:nvPr/>
          </p:nvSpPr>
          <p:spPr bwMode="auto">
            <a:xfrm>
              <a:off x="1588" y="2880"/>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6" name="Line 56">
              <a:extLst>
                <a:ext uri="{FF2B5EF4-FFF2-40B4-BE49-F238E27FC236}">
                  <a16:creationId xmlns:a16="http://schemas.microsoft.com/office/drawing/2014/main" id="{F1E1AD88-9323-49FA-B3D6-114096AB5AFF}"/>
                </a:ext>
              </a:extLst>
            </p:cNvPr>
            <p:cNvSpPr>
              <a:spLocks noChangeShapeType="1"/>
            </p:cNvSpPr>
            <p:nvPr/>
          </p:nvSpPr>
          <p:spPr bwMode="auto">
            <a:xfrm>
              <a:off x="1588" y="3456"/>
              <a:ext cx="2392" cy="0"/>
            </a:xfrm>
            <a:prstGeom prst="line">
              <a:avLst/>
            </a:prstGeom>
            <a:noFill/>
            <a:ln w="127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7" name="Line 57">
              <a:extLst>
                <a:ext uri="{FF2B5EF4-FFF2-40B4-BE49-F238E27FC236}">
                  <a16:creationId xmlns:a16="http://schemas.microsoft.com/office/drawing/2014/main" id="{ABB3C4F4-965F-49EB-85AD-87DD5E458EBB}"/>
                </a:ext>
              </a:extLst>
            </p:cNvPr>
            <p:cNvSpPr>
              <a:spLocks noChangeShapeType="1"/>
            </p:cNvSpPr>
            <p:nvPr/>
          </p:nvSpPr>
          <p:spPr bwMode="auto">
            <a:xfrm>
              <a:off x="1588" y="3744"/>
              <a:ext cx="2392" cy="0"/>
            </a:xfrm>
            <a:prstGeom prst="line">
              <a:avLst/>
            </a:prstGeom>
            <a:noFill/>
            <a:ln w="127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8" name="Rectangle 58">
              <a:extLst>
                <a:ext uri="{FF2B5EF4-FFF2-40B4-BE49-F238E27FC236}">
                  <a16:creationId xmlns:a16="http://schemas.microsoft.com/office/drawing/2014/main" id="{E403607F-84A0-4D2B-9AE7-23A0A4E828B3}"/>
                </a:ext>
              </a:extLst>
            </p:cNvPr>
            <p:cNvSpPr>
              <a:spLocks noChangeArrowheads="1"/>
            </p:cNvSpPr>
            <p:nvPr/>
          </p:nvSpPr>
          <p:spPr bwMode="auto">
            <a:xfrm>
              <a:off x="292" y="3028"/>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网络层</a:t>
              </a:r>
            </a:p>
          </p:txBody>
        </p:sp>
        <p:sp>
          <p:nvSpPr>
            <p:cNvPr id="14349" name="Rectangle 59">
              <a:extLst>
                <a:ext uri="{FF2B5EF4-FFF2-40B4-BE49-F238E27FC236}">
                  <a16:creationId xmlns:a16="http://schemas.microsoft.com/office/drawing/2014/main" id="{9F9B2EB2-1D7C-4A3B-840E-3D80EF86F208}"/>
                </a:ext>
              </a:extLst>
            </p:cNvPr>
            <p:cNvSpPr>
              <a:spLocks noChangeArrowheads="1"/>
            </p:cNvSpPr>
            <p:nvPr/>
          </p:nvSpPr>
          <p:spPr bwMode="auto">
            <a:xfrm>
              <a:off x="292" y="3316"/>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数据链路层</a:t>
              </a:r>
            </a:p>
          </p:txBody>
        </p:sp>
        <p:sp>
          <p:nvSpPr>
            <p:cNvPr id="14350" name="Rectangle 60">
              <a:extLst>
                <a:ext uri="{FF2B5EF4-FFF2-40B4-BE49-F238E27FC236}">
                  <a16:creationId xmlns:a16="http://schemas.microsoft.com/office/drawing/2014/main" id="{3E015318-4C86-496C-85F0-597EC0191CC6}"/>
                </a:ext>
              </a:extLst>
            </p:cNvPr>
            <p:cNvSpPr>
              <a:spLocks noChangeArrowheads="1"/>
            </p:cNvSpPr>
            <p:nvPr/>
          </p:nvSpPr>
          <p:spPr bwMode="auto">
            <a:xfrm>
              <a:off x="292" y="36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物理层</a:t>
              </a:r>
            </a:p>
          </p:txBody>
        </p:sp>
        <p:sp>
          <p:nvSpPr>
            <p:cNvPr id="14351" name="Rectangle 61">
              <a:extLst>
                <a:ext uri="{FF2B5EF4-FFF2-40B4-BE49-F238E27FC236}">
                  <a16:creationId xmlns:a16="http://schemas.microsoft.com/office/drawing/2014/main" id="{22C525A2-4BB9-4A07-8452-08779D1EFD3B}"/>
                </a:ext>
              </a:extLst>
            </p:cNvPr>
            <p:cNvSpPr>
              <a:spLocks noChangeArrowheads="1"/>
            </p:cNvSpPr>
            <p:nvPr/>
          </p:nvSpPr>
          <p:spPr bwMode="auto">
            <a:xfrm>
              <a:off x="292" y="2740"/>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传输层</a:t>
              </a:r>
            </a:p>
          </p:txBody>
        </p:sp>
        <p:grpSp>
          <p:nvGrpSpPr>
            <p:cNvPr id="14352" name="Group 62">
              <a:extLst>
                <a:ext uri="{FF2B5EF4-FFF2-40B4-BE49-F238E27FC236}">
                  <a16:creationId xmlns:a16="http://schemas.microsoft.com/office/drawing/2014/main" id="{6321D928-E3EA-4B6E-A008-3A07038E5ADC}"/>
                </a:ext>
              </a:extLst>
            </p:cNvPr>
            <p:cNvGrpSpPr>
              <a:grpSpLocks/>
            </p:cNvGrpSpPr>
            <p:nvPr/>
          </p:nvGrpSpPr>
          <p:grpSpPr bwMode="auto">
            <a:xfrm>
              <a:off x="2016" y="2448"/>
              <a:ext cx="1432" cy="1432"/>
              <a:chOff x="2020" y="2452"/>
              <a:chExt cx="1432" cy="1432"/>
            </a:xfrm>
          </p:grpSpPr>
          <p:sp>
            <p:nvSpPr>
              <p:cNvPr id="14359" name="Rectangle 63">
                <a:extLst>
                  <a:ext uri="{FF2B5EF4-FFF2-40B4-BE49-F238E27FC236}">
                    <a16:creationId xmlns:a16="http://schemas.microsoft.com/office/drawing/2014/main" id="{BFF81AC6-768E-4EF4-A40A-4944D2F07D2D}"/>
                  </a:ext>
                </a:extLst>
              </p:cNvPr>
              <p:cNvSpPr>
                <a:spLocks noChangeArrowheads="1"/>
              </p:cNvSpPr>
              <p:nvPr/>
            </p:nvSpPr>
            <p:spPr bwMode="auto">
              <a:xfrm>
                <a:off x="2020" y="3076"/>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路由器</a:t>
                </a:r>
              </a:p>
            </p:txBody>
          </p:sp>
          <p:sp>
            <p:nvSpPr>
              <p:cNvPr id="14360" name="Rectangle 64">
                <a:extLst>
                  <a:ext uri="{FF2B5EF4-FFF2-40B4-BE49-F238E27FC236}">
                    <a16:creationId xmlns:a16="http://schemas.microsoft.com/office/drawing/2014/main" id="{DBC2D10A-CFCC-4569-8DDE-E57979031BBA}"/>
                  </a:ext>
                </a:extLst>
              </p:cNvPr>
              <p:cNvSpPr>
                <a:spLocks noChangeArrowheads="1"/>
              </p:cNvSpPr>
              <p:nvPr/>
            </p:nvSpPr>
            <p:spPr bwMode="auto">
              <a:xfrm>
                <a:off x="2020" y="3364"/>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网桥</a:t>
                </a:r>
                <a:r>
                  <a:rPr lang="en-US" altLang="zh-CN" sz="2000" b="1">
                    <a:solidFill>
                      <a:schemeClr val="folHlink"/>
                    </a:solidFill>
                  </a:rPr>
                  <a:t>/</a:t>
                </a:r>
                <a:r>
                  <a:rPr lang="zh-CN" altLang="en-US" sz="2000" b="1">
                    <a:solidFill>
                      <a:schemeClr val="folHlink"/>
                    </a:solidFill>
                  </a:rPr>
                  <a:t>交换机</a:t>
                </a:r>
              </a:p>
            </p:txBody>
          </p:sp>
          <p:sp>
            <p:nvSpPr>
              <p:cNvPr id="14361" name="Rectangle 65">
                <a:extLst>
                  <a:ext uri="{FF2B5EF4-FFF2-40B4-BE49-F238E27FC236}">
                    <a16:creationId xmlns:a16="http://schemas.microsoft.com/office/drawing/2014/main" id="{E65F362D-1A7A-421C-989E-F1E94090BF3C}"/>
                  </a:ext>
                </a:extLst>
              </p:cNvPr>
              <p:cNvSpPr>
                <a:spLocks noChangeArrowheads="1"/>
              </p:cNvSpPr>
              <p:nvPr/>
            </p:nvSpPr>
            <p:spPr bwMode="auto">
              <a:xfrm>
                <a:off x="2020" y="3652"/>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中继器</a:t>
                </a:r>
                <a:r>
                  <a:rPr lang="en-US" altLang="zh-CN" sz="2000" b="1">
                    <a:solidFill>
                      <a:schemeClr val="folHlink"/>
                    </a:solidFill>
                  </a:rPr>
                  <a:t>/</a:t>
                </a:r>
                <a:r>
                  <a:rPr lang="zh-CN" altLang="en-US" sz="2000" b="1">
                    <a:solidFill>
                      <a:schemeClr val="folHlink"/>
                    </a:solidFill>
                  </a:rPr>
                  <a:t>集线器</a:t>
                </a:r>
              </a:p>
            </p:txBody>
          </p:sp>
          <p:sp>
            <p:nvSpPr>
              <p:cNvPr id="14362" name="Rectangle 66">
                <a:extLst>
                  <a:ext uri="{FF2B5EF4-FFF2-40B4-BE49-F238E27FC236}">
                    <a16:creationId xmlns:a16="http://schemas.microsoft.com/office/drawing/2014/main" id="{EF6A9625-3E0F-4D2F-9638-5EDF3191C318}"/>
                  </a:ext>
                </a:extLst>
              </p:cNvPr>
              <p:cNvSpPr>
                <a:spLocks noChangeArrowheads="1"/>
              </p:cNvSpPr>
              <p:nvPr/>
            </p:nvSpPr>
            <p:spPr bwMode="auto">
              <a:xfrm>
                <a:off x="2020" y="2452"/>
                <a:ext cx="1432" cy="5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网关</a:t>
                </a:r>
              </a:p>
            </p:txBody>
          </p:sp>
        </p:grpSp>
        <p:sp>
          <p:nvSpPr>
            <p:cNvPr id="14353" name="Rectangle 67">
              <a:extLst>
                <a:ext uri="{FF2B5EF4-FFF2-40B4-BE49-F238E27FC236}">
                  <a16:creationId xmlns:a16="http://schemas.microsoft.com/office/drawing/2014/main" id="{F2D2ED4D-213D-4865-BC80-3007534AF798}"/>
                </a:ext>
              </a:extLst>
            </p:cNvPr>
            <p:cNvSpPr>
              <a:spLocks noChangeArrowheads="1"/>
            </p:cNvSpPr>
            <p:nvPr/>
          </p:nvSpPr>
          <p:spPr bwMode="auto">
            <a:xfrm>
              <a:off x="292" y="24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应用层</a:t>
              </a:r>
            </a:p>
          </p:txBody>
        </p:sp>
        <p:sp>
          <p:nvSpPr>
            <p:cNvPr id="14354" name="Rectangle 68">
              <a:extLst>
                <a:ext uri="{FF2B5EF4-FFF2-40B4-BE49-F238E27FC236}">
                  <a16:creationId xmlns:a16="http://schemas.microsoft.com/office/drawing/2014/main" id="{CEAF9139-56E6-4175-8D8E-516DD9CC044F}"/>
                </a:ext>
              </a:extLst>
            </p:cNvPr>
            <p:cNvSpPr>
              <a:spLocks noChangeArrowheads="1"/>
            </p:cNvSpPr>
            <p:nvPr/>
          </p:nvSpPr>
          <p:spPr bwMode="auto">
            <a:xfrm>
              <a:off x="3988" y="3028"/>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网络层</a:t>
              </a:r>
            </a:p>
          </p:txBody>
        </p:sp>
        <p:sp>
          <p:nvSpPr>
            <p:cNvPr id="14355" name="Rectangle 69">
              <a:extLst>
                <a:ext uri="{FF2B5EF4-FFF2-40B4-BE49-F238E27FC236}">
                  <a16:creationId xmlns:a16="http://schemas.microsoft.com/office/drawing/2014/main" id="{2A1DDC74-9357-44D0-B31B-233DDD3D7CE8}"/>
                </a:ext>
              </a:extLst>
            </p:cNvPr>
            <p:cNvSpPr>
              <a:spLocks noChangeArrowheads="1"/>
            </p:cNvSpPr>
            <p:nvPr/>
          </p:nvSpPr>
          <p:spPr bwMode="auto">
            <a:xfrm>
              <a:off x="3988" y="3316"/>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数据链路层</a:t>
              </a:r>
            </a:p>
          </p:txBody>
        </p:sp>
        <p:sp>
          <p:nvSpPr>
            <p:cNvPr id="14356" name="Rectangle 70">
              <a:extLst>
                <a:ext uri="{FF2B5EF4-FFF2-40B4-BE49-F238E27FC236}">
                  <a16:creationId xmlns:a16="http://schemas.microsoft.com/office/drawing/2014/main" id="{F8E0D9D6-63DE-4110-B1D7-5FED8A011522}"/>
                </a:ext>
              </a:extLst>
            </p:cNvPr>
            <p:cNvSpPr>
              <a:spLocks noChangeArrowheads="1"/>
            </p:cNvSpPr>
            <p:nvPr/>
          </p:nvSpPr>
          <p:spPr bwMode="auto">
            <a:xfrm>
              <a:off x="3988" y="36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物理层</a:t>
              </a:r>
            </a:p>
          </p:txBody>
        </p:sp>
        <p:sp>
          <p:nvSpPr>
            <p:cNvPr id="14357" name="Rectangle 71">
              <a:extLst>
                <a:ext uri="{FF2B5EF4-FFF2-40B4-BE49-F238E27FC236}">
                  <a16:creationId xmlns:a16="http://schemas.microsoft.com/office/drawing/2014/main" id="{3A6675DE-B516-444F-ACEF-590CC41915DC}"/>
                </a:ext>
              </a:extLst>
            </p:cNvPr>
            <p:cNvSpPr>
              <a:spLocks noChangeArrowheads="1"/>
            </p:cNvSpPr>
            <p:nvPr/>
          </p:nvSpPr>
          <p:spPr bwMode="auto">
            <a:xfrm>
              <a:off x="3988" y="2740"/>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传输层</a:t>
              </a:r>
            </a:p>
          </p:txBody>
        </p:sp>
        <p:sp>
          <p:nvSpPr>
            <p:cNvPr id="14358" name="Rectangle 72">
              <a:extLst>
                <a:ext uri="{FF2B5EF4-FFF2-40B4-BE49-F238E27FC236}">
                  <a16:creationId xmlns:a16="http://schemas.microsoft.com/office/drawing/2014/main" id="{5C1453C5-D9C4-4623-AF8D-CF563DAA9120}"/>
                </a:ext>
              </a:extLst>
            </p:cNvPr>
            <p:cNvSpPr>
              <a:spLocks noChangeArrowheads="1"/>
            </p:cNvSpPr>
            <p:nvPr/>
          </p:nvSpPr>
          <p:spPr bwMode="auto">
            <a:xfrm>
              <a:off x="3988" y="24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应用层</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97844"/>
                                        </p:tgtEl>
                                        <p:attrNameLst>
                                          <p:attrName>style.visibility</p:attrName>
                                        </p:attrNameLst>
                                      </p:cBhvr>
                                      <p:to>
                                        <p:strVal val="visible"/>
                                      </p:to>
                                    </p:set>
                                    <p:anim calcmode="lin" valueType="num">
                                      <p:cBhvr additive="base">
                                        <p:cTn id="7" dur="500" fill="hold"/>
                                        <p:tgtEl>
                                          <p:spTgt spid="1697844"/>
                                        </p:tgtEl>
                                        <p:attrNameLst>
                                          <p:attrName>ppt_x</p:attrName>
                                        </p:attrNameLst>
                                      </p:cBhvr>
                                      <p:tavLst>
                                        <p:tav tm="0">
                                          <p:val>
                                            <p:strVal val="1+#ppt_w/2"/>
                                          </p:val>
                                        </p:tav>
                                        <p:tav tm="100000">
                                          <p:val>
                                            <p:strVal val="#ppt_x"/>
                                          </p:val>
                                        </p:tav>
                                      </p:tavLst>
                                    </p:anim>
                                    <p:anim calcmode="lin" valueType="num">
                                      <p:cBhvr additive="base">
                                        <p:cTn id="8" dur="500" fill="hold"/>
                                        <p:tgtEl>
                                          <p:spTgt spid="1697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97795"/>
                                        </p:tgtEl>
                                        <p:attrNameLst>
                                          <p:attrName>style.visibility</p:attrName>
                                        </p:attrNameLst>
                                      </p:cBhvr>
                                      <p:to>
                                        <p:strVal val="visible"/>
                                      </p:to>
                                    </p:set>
                                    <p:anim calcmode="lin" valueType="num">
                                      <p:cBhvr additive="base">
                                        <p:cTn id="13" dur="500" fill="hold"/>
                                        <p:tgtEl>
                                          <p:spTgt spid="1697795"/>
                                        </p:tgtEl>
                                        <p:attrNameLst>
                                          <p:attrName>ppt_x</p:attrName>
                                        </p:attrNameLst>
                                      </p:cBhvr>
                                      <p:tavLst>
                                        <p:tav tm="0">
                                          <p:val>
                                            <p:strVal val="1+#ppt_w/2"/>
                                          </p:val>
                                        </p:tav>
                                        <p:tav tm="100000">
                                          <p:val>
                                            <p:strVal val="#ppt_x"/>
                                          </p:val>
                                        </p:tav>
                                      </p:tavLst>
                                    </p:anim>
                                    <p:anim calcmode="lin" valueType="num">
                                      <p:cBhvr additive="base">
                                        <p:cTn id="14" dur="500" fill="hold"/>
                                        <p:tgtEl>
                                          <p:spTgt spid="1697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F2D5A22-E71E-451F-92A5-6494AC9B6B9D}"/>
              </a:ext>
            </a:extLst>
          </p:cNvPr>
          <p:cNvSpPr>
            <a:spLocks noGrp="1" noChangeArrowheads="1"/>
          </p:cNvSpPr>
          <p:nvPr>
            <p:ph type="title"/>
          </p:nvPr>
        </p:nvSpPr>
        <p:spPr bwMode="auto">
          <a:xfrm>
            <a:off x="2209800" y="400051"/>
            <a:ext cx="7772400" cy="1352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中继器</a:t>
            </a:r>
          </a:p>
        </p:txBody>
      </p:sp>
      <p:sp>
        <p:nvSpPr>
          <p:cNvPr id="1745923" name="Text Box 3">
            <a:extLst>
              <a:ext uri="{FF2B5EF4-FFF2-40B4-BE49-F238E27FC236}">
                <a16:creationId xmlns:a16="http://schemas.microsoft.com/office/drawing/2014/main" id="{51C49770-B7F7-4221-92EE-3CB9C7D366E7}"/>
              </a:ext>
            </a:extLst>
          </p:cNvPr>
          <p:cNvSpPr txBox="1">
            <a:spLocks noChangeArrowheads="1"/>
          </p:cNvSpPr>
          <p:nvPr/>
        </p:nvSpPr>
        <p:spPr bwMode="auto">
          <a:xfrm>
            <a:off x="3159125" y="1560513"/>
            <a:ext cx="6810376" cy="1557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用来连接多个局域网段</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只能用于扩展基带电缆的距离。</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放大所有的信号，其中也包括冲突干扰。</a:t>
            </a:r>
          </a:p>
        </p:txBody>
      </p:sp>
      <p:pic>
        <p:nvPicPr>
          <p:cNvPr id="1745924" name="Picture 4">
            <a:extLst>
              <a:ext uri="{FF2B5EF4-FFF2-40B4-BE49-F238E27FC236}">
                <a16:creationId xmlns:a16="http://schemas.microsoft.com/office/drawing/2014/main" id="{B0527A12-954E-4959-808D-D1D0BBD5C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539" y="3400426"/>
            <a:ext cx="828357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45924"/>
                                        </p:tgtEl>
                                        <p:attrNameLst>
                                          <p:attrName>style.visibility</p:attrName>
                                        </p:attrNameLst>
                                      </p:cBhvr>
                                      <p:to>
                                        <p:strVal val="visible"/>
                                      </p:to>
                                    </p:set>
                                    <p:anim calcmode="lin" valueType="num">
                                      <p:cBhvr additive="base">
                                        <p:cTn id="7" dur="500" fill="hold"/>
                                        <p:tgtEl>
                                          <p:spTgt spid="1745924"/>
                                        </p:tgtEl>
                                        <p:attrNameLst>
                                          <p:attrName>ppt_x</p:attrName>
                                        </p:attrNameLst>
                                      </p:cBhvr>
                                      <p:tavLst>
                                        <p:tav tm="0">
                                          <p:val>
                                            <p:strVal val="1+#ppt_w/2"/>
                                          </p:val>
                                        </p:tav>
                                        <p:tav tm="100000">
                                          <p:val>
                                            <p:strVal val="#ppt_x"/>
                                          </p:val>
                                        </p:tav>
                                      </p:tavLst>
                                    </p:anim>
                                    <p:anim calcmode="lin" valueType="num">
                                      <p:cBhvr additive="base">
                                        <p:cTn id="8" dur="500" fill="hold"/>
                                        <p:tgtEl>
                                          <p:spTgt spid="17459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5923">
                                            <p:txEl>
                                              <p:pRg st="0" end="0"/>
                                            </p:txEl>
                                          </p:spTgt>
                                        </p:tgtEl>
                                        <p:attrNameLst>
                                          <p:attrName>style.visibility</p:attrName>
                                        </p:attrNameLst>
                                      </p:cBhvr>
                                      <p:to>
                                        <p:strVal val="visible"/>
                                      </p:to>
                                    </p:set>
                                    <p:anim calcmode="lin" valueType="num">
                                      <p:cBhvr additive="base">
                                        <p:cTn id="13" dur="500" fill="hold"/>
                                        <p:tgtEl>
                                          <p:spTgt spid="17459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5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5923">
                                            <p:txEl>
                                              <p:pRg st="1" end="1"/>
                                            </p:txEl>
                                          </p:spTgt>
                                        </p:tgtEl>
                                        <p:attrNameLst>
                                          <p:attrName>style.visibility</p:attrName>
                                        </p:attrNameLst>
                                      </p:cBhvr>
                                      <p:to>
                                        <p:strVal val="visible"/>
                                      </p:to>
                                    </p:set>
                                    <p:anim calcmode="lin" valueType="num">
                                      <p:cBhvr additive="base">
                                        <p:cTn id="19" dur="500" fill="hold"/>
                                        <p:tgtEl>
                                          <p:spTgt spid="17459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5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5923">
                                            <p:txEl>
                                              <p:pRg st="2" end="2"/>
                                            </p:txEl>
                                          </p:spTgt>
                                        </p:tgtEl>
                                        <p:attrNameLst>
                                          <p:attrName>style.visibility</p:attrName>
                                        </p:attrNameLst>
                                      </p:cBhvr>
                                      <p:to>
                                        <p:strVal val="visible"/>
                                      </p:to>
                                    </p:set>
                                    <p:anim calcmode="lin" valueType="num">
                                      <p:cBhvr additive="base">
                                        <p:cTn id="25" dur="500" fill="hold"/>
                                        <p:tgtEl>
                                          <p:spTgt spid="174592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592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923"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861AE7A-D101-4447-8504-D99D31326B9A}"/>
              </a:ext>
            </a:extLst>
          </p:cNvPr>
          <p:cNvSpPr>
            <a:spLocks noGrp="1" noChangeArrowheads="1"/>
          </p:cNvSpPr>
          <p:nvPr>
            <p:ph type="title"/>
          </p:nvPr>
        </p:nvSpPr>
        <p:spPr bwMode="auto">
          <a:xfrm>
            <a:off x="2209800" y="323851"/>
            <a:ext cx="7772400" cy="14287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中继器的功能</a:t>
            </a:r>
            <a:r>
              <a:rPr lang="zh-CN" altLang="en-US" sz="2800">
                <a:solidFill>
                  <a:srgbClr val="063DE9"/>
                </a:solidFill>
                <a:latin typeface="Times New Roman" panose="02020603050405020304" pitchFamily="18" charset="0"/>
              </a:rPr>
              <a:t> </a:t>
            </a:r>
          </a:p>
        </p:txBody>
      </p:sp>
      <p:pic>
        <p:nvPicPr>
          <p:cNvPr id="16387" name="Picture 3">
            <a:extLst>
              <a:ext uri="{FF2B5EF4-FFF2-40B4-BE49-F238E27FC236}">
                <a16:creationId xmlns:a16="http://schemas.microsoft.com/office/drawing/2014/main" id="{F0B498D7-21A1-4E51-B729-EB9AFF973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3" y="2528889"/>
            <a:ext cx="8108950" cy="390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6948" name="Text Box 4">
            <a:extLst>
              <a:ext uri="{FF2B5EF4-FFF2-40B4-BE49-F238E27FC236}">
                <a16:creationId xmlns:a16="http://schemas.microsoft.com/office/drawing/2014/main" id="{86E5EF3B-F7C9-4BD6-8601-8F1B951614A8}"/>
              </a:ext>
            </a:extLst>
          </p:cNvPr>
          <p:cNvSpPr txBox="1">
            <a:spLocks noChangeArrowheads="1"/>
          </p:cNvSpPr>
          <p:nvPr/>
        </p:nvSpPr>
        <p:spPr bwMode="auto">
          <a:xfrm>
            <a:off x="3425825" y="1444625"/>
            <a:ext cx="6929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kumimoji="1" lang="zh-CN" altLang="en-US" sz="2800">
                <a:solidFill>
                  <a:schemeClr val="tx1"/>
                </a:solidFill>
              </a:rPr>
              <a:t>比特信号的放大、整形、再同步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6948">
                                            <p:txEl>
                                              <p:pRg st="0" end="0"/>
                                            </p:txEl>
                                          </p:spTgt>
                                        </p:tgtEl>
                                        <p:attrNameLst>
                                          <p:attrName>style.visibility</p:attrName>
                                        </p:attrNameLst>
                                      </p:cBhvr>
                                      <p:to>
                                        <p:strVal val="visible"/>
                                      </p:to>
                                    </p:set>
                                    <p:anim calcmode="lin" valueType="num">
                                      <p:cBhvr additive="base">
                                        <p:cTn id="7" dur="500" fill="hold"/>
                                        <p:tgtEl>
                                          <p:spTgt spid="17469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694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6948"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EF735D2-C515-44CD-94F6-48D9099903AF}"/>
              </a:ext>
            </a:extLst>
          </p:cNvPr>
          <p:cNvSpPr>
            <a:spLocks noGrp="1" noChangeArrowheads="1"/>
          </p:cNvSpPr>
          <p:nvPr>
            <p:ph type="title"/>
          </p:nvPr>
        </p:nvSpPr>
        <p:spPr bwMode="auto">
          <a:xfrm>
            <a:off x="2263775" y="5207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集线器（</a:t>
            </a:r>
            <a:r>
              <a:rPr lang="en-US" altLang="zh-CN" sz="3600">
                <a:solidFill>
                  <a:schemeClr val="hlink"/>
                </a:solidFill>
                <a:ea typeface="新宋体" panose="02010609030101010101" pitchFamily="49" charset="-122"/>
              </a:rPr>
              <a:t>HUB</a:t>
            </a:r>
            <a:r>
              <a:rPr lang="zh-CN" altLang="en-US" sz="3600">
                <a:solidFill>
                  <a:schemeClr val="hlink"/>
                </a:solidFill>
                <a:ea typeface="新宋体" panose="02010609030101010101" pitchFamily="49" charset="-122"/>
              </a:rPr>
              <a:t>）</a:t>
            </a:r>
            <a:r>
              <a:rPr lang="zh-CN" altLang="en-US" sz="2800">
                <a:solidFill>
                  <a:srgbClr val="063DE9"/>
                </a:solidFill>
                <a:latin typeface="Times New Roman" panose="02020603050405020304" pitchFamily="18" charset="0"/>
              </a:rPr>
              <a:t> </a:t>
            </a:r>
          </a:p>
        </p:txBody>
      </p:sp>
      <p:sp>
        <p:nvSpPr>
          <p:cNvPr id="17411" name="Text Box 5">
            <a:extLst>
              <a:ext uri="{FF2B5EF4-FFF2-40B4-BE49-F238E27FC236}">
                <a16:creationId xmlns:a16="http://schemas.microsoft.com/office/drawing/2014/main" id="{D31FC609-7ED7-4A60-B8F4-C29A421A6021}"/>
              </a:ext>
            </a:extLst>
          </p:cNvPr>
          <p:cNvSpPr txBox="1">
            <a:spLocks noChangeArrowheads="1"/>
          </p:cNvSpPr>
          <p:nvPr/>
        </p:nvSpPr>
        <p:spPr bwMode="auto">
          <a:xfrm>
            <a:off x="3433763" y="1604963"/>
            <a:ext cx="4775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rPr>
              <a:t>集线器又叫多口中继器</a:t>
            </a:r>
            <a:r>
              <a:rPr lang="zh-CN" altLang="en-US" sz="2400"/>
              <a:t> </a:t>
            </a:r>
          </a:p>
        </p:txBody>
      </p:sp>
      <p:sp>
        <p:nvSpPr>
          <p:cNvPr id="17412" name="Rectangle 7">
            <a:extLst>
              <a:ext uri="{FF2B5EF4-FFF2-40B4-BE49-F238E27FC236}">
                <a16:creationId xmlns:a16="http://schemas.microsoft.com/office/drawing/2014/main" id="{36F6170E-8EED-472C-B52F-A967DD54F9B9}"/>
              </a:ext>
            </a:extLst>
          </p:cNvPr>
          <p:cNvSpPr>
            <a:spLocks noChangeArrowheads="1"/>
          </p:cNvSpPr>
          <p:nvPr/>
        </p:nvSpPr>
        <p:spPr bwMode="auto">
          <a:xfrm>
            <a:off x="3810000" y="244316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1816582" name="Picture 6" descr="http://www.zhuoda.org/xiaojf/jichu/img/30.gif">
            <a:extLst>
              <a:ext uri="{FF2B5EF4-FFF2-40B4-BE49-F238E27FC236}">
                <a16:creationId xmlns:a16="http://schemas.microsoft.com/office/drawing/2014/main" id="{BA749209-658B-477E-90CB-DD50B4A89FE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890963" y="2159001"/>
            <a:ext cx="4572000" cy="197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Rectangle 9">
            <a:extLst>
              <a:ext uri="{FF2B5EF4-FFF2-40B4-BE49-F238E27FC236}">
                <a16:creationId xmlns:a16="http://schemas.microsoft.com/office/drawing/2014/main" id="{0046F6F2-B512-4062-BFC1-34042193F6F3}"/>
              </a:ext>
            </a:extLst>
          </p:cNvPr>
          <p:cNvSpPr>
            <a:spLocks noChangeArrowheads="1"/>
          </p:cNvSpPr>
          <p:nvPr/>
        </p:nvSpPr>
        <p:spPr bwMode="auto">
          <a:xfrm>
            <a:off x="3810000" y="223361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1816584" name="Picture 8" descr="http://www.zhuoda.org/xiaojf/jichu/img/31.gif">
            <a:extLst>
              <a:ext uri="{FF2B5EF4-FFF2-40B4-BE49-F238E27FC236}">
                <a16:creationId xmlns:a16="http://schemas.microsoft.com/office/drawing/2014/main" id="{C7A19896-D3B4-448A-8B07-1438EAFC160D}"/>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3708401" y="4062413"/>
            <a:ext cx="4837114" cy="239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816582"/>
                                        </p:tgtEl>
                                        <p:attrNameLst>
                                          <p:attrName>style.visibility</p:attrName>
                                        </p:attrNameLst>
                                      </p:cBhvr>
                                      <p:to>
                                        <p:strVal val="visible"/>
                                      </p:to>
                                    </p:set>
                                    <p:anim calcmode="lin" valueType="num">
                                      <p:cBhvr additive="base">
                                        <p:cTn id="7" dur="500" fill="hold"/>
                                        <p:tgtEl>
                                          <p:spTgt spid="1816582"/>
                                        </p:tgtEl>
                                        <p:attrNameLst>
                                          <p:attrName>ppt_x</p:attrName>
                                        </p:attrNameLst>
                                      </p:cBhvr>
                                      <p:tavLst>
                                        <p:tav tm="0">
                                          <p:val>
                                            <p:strVal val="1+#ppt_w/2"/>
                                          </p:val>
                                        </p:tav>
                                        <p:tav tm="100000">
                                          <p:val>
                                            <p:strVal val="#ppt_x"/>
                                          </p:val>
                                        </p:tav>
                                      </p:tavLst>
                                    </p:anim>
                                    <p:anim calcmode="lin" valueType="num">
                                      <p:cBhvr additive="base">
                                        <p:cTn id="8" dur="500" fill="hold"/>
                                        <p:tgtEl>
                                          <p:spTgt spid="18165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816584"/>
                                        </p:tgtEl>
                                        <p:attrNameLst>
                                          <p:attrName>style.visibility</p:attrName>
                                        </p:attrNameLst>
                                      </p:cBhvr>
                                      <p:to>
                                        <p:strVal val="visible"/>
                                      </p:to>
                                    </p:set>
                                    <p:anim calcmode="lin" valueType="num">
                                      <p:cBhvr additive="base">
                                        <p:cTn id="13" dur="500" fill="hold"/>
                                        <p:tgtEl>
                                          <p:spTgt spid="1816584"/>
                                        </p:tgtEl>
                                        <p:attrNameLst>
                                          <p:attrName>ppt_x</p:attrName>
                                        </p:attrNameLst>
                                      </p:cBhvr>
                                      <p:tavLst>
                                        <p:tav tm="0">
                                          <p:val>
                                            <p:strVal val="1+#ppt_w/2"/>
                                          </p:val>
                                        </p:tav>
                                        <p:tav tm="100000">
                                          <p:val>
                                            <p:strVal val="#ppt_x"/>
                                          </p:val>
                                        </p:tav>
                                      </p:tavLst>
                                    </p:anim>
                                    <p:anim calcmode="lin" valueType="num">
                                      <p:cBhvr additive="base">
                                        <p:cTn id="14" dur="500" fill="hold"/>
                                        <p:tgtEl>
                                          <p:spTgt spid="18165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0868" name="Picture 4">
            <a:extLst>
              <a:ext uri="{FF2B5EF4-FFF2-40B4-BE49-F238E27FC236}">
                <a16:creationId xmlns:a16="http://schemas.microsoft.com/office/drawing/2014/main" id="{F2453897-3E04-4C93-AA11-3C8956660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2315" y="2427288"/>
            <a:ext cx="6035675" cy="133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9" name="Rectangle 2">
            <a:extLst>
              <a:ext uri="{FF2B5EF4-FFF2-40B4-BE49-F238E27FC236}">
                <a16:creationId xmlns:a16="http://schemas.microsoft.com/office/drawing/2014/main" id="{3FAF90F9-3071-443D-8244-4D9B87B4715E}"/>
              </a:ext>
            </a:extLst>
          </p:cNvPr>
          <p:cNvSpPr>
            <a:spLocks noGrp="1" noChangeArrowheads="1"/>
          </p:cNvSpPr>
          <p:nvPr>
            <p:ph type="title"/>
          </p:nvPr>
        </p:nvSpPr>
        <p:spPr bwMode="auto">
          <a:xfrm>
            <a:off x="2228850" y="3429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a:t>
            </a:r>
          </a:p>
        </p:txBody>
      </p:sp>
      <p:sp>
        <p:nvSpPr>
          <p:cNvPr id="19460" name="Text Box 3">
            <a:extLst>
              <a:ext uri="{FF2B5EF4-FFF2-40B4-BE49-F238E27FC236}">
                <a16:creationId xmlns:a16="http://schemas.microsoft.com/office/drawing/2014/main" id="{A7BC79DC-7682-4371-8B7C-26B459C5FF1E}"/>
              </a:ext>
            </a:extLst>
          </p:cNvPr>
          <p:cNvSpPr txBox="1">
            <a:spLocks noChangeArrowheads="1"/>
          </p:cNvSpPr>
          <p:nvPr/>
        </p:nvSpPr>
        <p:spPr bwMode="auto">
          <a:xfrm>
            <a:off x="2813051" y="1398588"/>
            <a:ext cx="7142164"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连接多个局域网</a:t>
            </a:r>
            <a:r>
              <a:rPr lang="en-US" altLang="zh-CN" sz="2800">
                <a:solidFill>
                  <a:schemeClr val="tx1"/>
                </a:solidFill>
                <a:latin typeface="Arial" panose="020B0604020202020204" pitchFamily="34" charset="0"/>
              </a:rPr>
              <a:t>,</a:t>
            </a:r>
            <a:r>
              <a:rPr lang="zh-CN" altLang="en-US" sz="2800">
                <a:solidFill>
                  <a:schemeClr val="tx1"/>
                </a:solidFill>
                <a:latin typeface="Arial" panose="020B0604020202020204" pitchFamily="34" charset="0"/>
              </a:rPr>
              <a:t>这些</a:t>
            </a:r>
            <a:r>
              <a:rPr lang="en-US" altLang="zh-CN" sz="2800">
                <a:solidFill>
                  <a:schemeClr val="tx1"/>
                </a:solidFill>
                <a:latin typeface="Arial" panose="020B0604020202020204" pitchFamily="34" charset="0"/>
              </a:rPr>
              <a:t>LAN</a:t>
            </a:r>
            <a:r>
              <a:rPr lang="zh-CN" altLang="en-US" sz="2800">
                <a:solidFill>
                  <a:schemeClr val="tx1"/>
                </a:solidFill>
                <a:latin typeface="Arial" panose="020B0604020202020204" pitchFamily="34" charset="0"/>
              </a:rPr>
              <a:t>可能不相同。</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网桥工作在数据链路层</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帧的接收</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过滤</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转发</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a:t>
            </a:r>
            <a:endParaRPr lang="zh-CN" altLang="en-US" sz="2400">
              <a:solidFill>
                <a:schemeClr val="tx1"/>
              </a:solidFill>
            </a:endParaRPr>
          </a:p>
        </p:txBody>
      </p:sp>
      <p:pic>
        <p:nvPicPr>
          <p:cNvPr id="1700869" name="Picture 5">
            <a:extLst>
              <a:ext uri="{FF2B5EF4-FFF2-40B4-BE49-F238E27FC236}">
                <a16:creationId xmlns:a16="http://schemas.microsoft.com/office/drawing/2014/main" id="{EC26DBE0-A3CA-4E61-B30C-03E313298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213" y="3994151"/>
            <a:ext cx="6303962"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00868"/>
                                        </p:tgtEl>
                                        <p:attrNameLst>
                                          <p:attrName>style.visibility</p:attrName>
                                        </p:attrNameLst>
                                      </p:cBhvr>
                                      <p:to>
                                        <p:strVal val="visible"/>
                                      </p:to>
                                    </p:set>
                                    <p:anim calcmode="lin" valueType="num">
                                      <p:cBhvr additive="base">
                                        <p:cTn id="7" dur="500" fill="hold"/>
                                        <p:tgtEl>
                                          <p:spTgt spid="1700868"/>
                                        </p:tgtEl>
                                        <p:attrNameLst>
                                          <p:attrName>ppt_x</p:attrName>
                                        </p:attrNameLst>
                                      </p:cBhvr>
                                      <p:tavLst>
                                        <p:tav tm="0">
                                          <p:val>
                                            <p:strVal val="1+#ppt_w/2"/>
                                          </p:val>
                                        </p:tav>
                                        <p:tav tm="100000">
                                          <p:val>
                                            <p:strVal val="#ppt_x"/>
                                          </p:val>
                                        </p:tav>
                                      </p:tavLst>
                                    </p:anim>
                                    <p:anim calcmode="lin" valueType="num">
                                      <p:cBhvr additive="base">
                                        <p:cTn id="8" dur="500" fill="hold"/>
                                        <p:tgtEl>
                                          <p:spTgt spid="17008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00869"/>
                                        </p:tgtEl>
                                        <p:attrNameLst>
                                          <p:attrName>style.visibility</p:attrName>
                                        </p:attrNameLst>
                                      </p:cBhvr>
                                      <p:to>
                                        <p:strVal val="visible"/>
                                      </p:to>
                                    </p:set>
                                    <p:anim calcmode="lin" valueType="num">
                                      <p:cBhvr additive="base">
                                        <p:cTn id="13" dur="500" fill="hold"/>
                                        <p:tgtEl>
                                          <p:spTgt spid="1700869"/>
                                        </p:tgtEl>
                                        <p:attrNameLst>
                                          <p:attrName>ppt_x</p:attrName>
                                        </p:attrNameLst>
                                      </p:cBhvr>
                                      <p:tavLst>
                                        <p:tav tm="0">
                                          <p:val>
                                            <p:strVal val="1+#ppt_w/2"/>
                                          </p:val>
                                        </p:tav>
                                        <p:tav tm="100000">
                                          <p:val>
                                            <p:strVal val="#ppt_x"/>
                                          </p:val>
                                        </p:tav>
                                      </p:tavLst>
                                    </p:anim>
                                    <p:anim calcmode="lin" valueType="num">
                                      <p:cBhvr additive="base">
                                        <p:cTn id="14" dur="500" fill="hold"/>
                                        <p:tgtEl>
                                          <p:spTgt spid="17008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4F00665-CE2B-4327-8753-1FD998F4A689}"/>
              </a:ext>
            </a:extLst>
          </p:cNvPr>
          <p:cNvSpPr>
            <a:spLocks noGrp="1" noChangeArrowheads="1"/>
          </p:cNvSpPr>
          <p:nvPr>
            <p:ph type="title"/>
          </p:nvPr>
        </p:nvSpPr>
        <p:spPr bwMode="auto">
          <a:xfrm>
            <a:off x="2209800" y="342900"/>
            <a:ext cx="7772400" cy="14097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a:t>
            </a:r>
          </a:p>
        </p:txBody>
      </p:sp>
      <p:sp>
        <p:nvSpPr>
          <p:cNvPr id="1747972" name="Text Box 4">
            <a:extLst>
              <a:ext uri="{FF2B5EF4-FFF2-40B4-BE49-F238E27FC236}">
                <a16:creationId xmlns:a16="http://schemas.microsoft.com/office/drawing/2014/main" id="{BF195F72-A174-4361-8E19-6F25A640257D}"/>
              </a:ext>
            </a:extLst>
          </p:cNvPr>
          <p:cNvSpPr txBox="1">
            <a:spLocks noChangeArrowheads="1"/>
          </p:cNvSpPr>
          <p:nvPr/>
        </p:nvSpPr>
        <p:spPr bwMode="auto">
          <a:xfrm>
            <a:off x="2192338" y="1398589"/>
            <a:ext cx="7962900" cy="41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8425" indent="-98425" algn="ctr">
              <a:defRPr sz="1200">
                <a:solidFill>
                  <a:srgbClr val="CACACA"/>
                </a:solidFill>
                <a:latin typeface="Times New Roman" panose="02020603050405020304" pitchFamily="18" charset="0"/>
                <a:ea typeface="宋体" panose="02010600030101010101" pitchFamily="2" charset="-122"/>
              </a:defRPr>
            </a:lvl1pPr>
            <a:lvl2pPr marL="561975" indent="-104775" algn="ctr">
              <a:defRPr sz="1200">
                <a:solidFill>
                  <a:srgbClr val="CACACA"/>
                </a:solidFill>
                <a:latin typeface="Times New Roman" panose="02020603050405020304" pitchFamily="18" charset="0"/>
                <a:ea typeface="宋体" panose="02010600030101010101" pitchFamily="2" charset="-122"/>
              </a:defRPr>
            </a:lvl2pPr>
            <a:lvl3pPr marL="1054100" indent="-284163"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lvl="1" algn="l">
              <a:lnSpc>
                <a:spcPct val="90000"/>
              </a:lnSpc>
              <a:spcBef>
                <a:spcPct val="20000"/>
              </a:spcBef>
              <a:buClr>
                <a:schemeClr val="folHlink"/>
              </a:buClr>
              <a:buSzPct val="75000"/>
              <a:buFont typeface="Wingdings" panose="05000000000000000000" pitchFamily="2" charset="2"/>
              <a:buChar char="Ø"/>
            </a:pP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网桥中拥有“第</a:t>
            </a:r>
            <a:r>
              <a:rPr lang="en-US" altLang="zh-CN" sz="2400">
                <a:solidFill>
                  <a:schemeClr val="tx1"/>
                </a:solidFill>
                <a:latin typeface="Arial" panose="020B0604020202020204" pitchFamily="34" charset="0"/>
              </a:rPr>
              <a:t>2</a:t>
            </a:r>
            <a:r>
              <a:rPr lang="zh-CN" altLang="en-US" sz="2400">
                <a:solidFill>
                  <a:schemeClr val="tx1"/>
                </a:solidFill>
                <a:latin typeface="Arial" panose="020B0604020202020204" pitchFamily="34" charset="0"/>
              </a:rPr>
              <a:t>层路由表”，该表是采用动态学习算法在本地建立起来的。 </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通过限制广播和冲突</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可以使用网桥来连接多个冲突域</a:t>
            </a:r>
            <a:r>
              <a:rPr lang="en-US" altLang="zh-CN" sz="2000">
                <a:solidFill>
                  <a:schemeClr val="tx1"/>
                </a:solidFill>
                <a:latin typeface="Arial" panose="020B0604020202020204" pitchFamily="34" charset="0"/>
              </a:rPr>
              <a:t>(</a:t>
            </a:r>
            <a:r>
              <a:rPr lang="zh-CN" altLang="en-US" sz="2000">
                <a:solidFill>
                  <a:schemeClr val="tx1"/>
                </a:solidFill>
                <a:latin typeface="Arial" panose="020B0604020202020204" pitchFamily="34" charset="0"/>
              </a:rPr>
              <a:t>可减少广播风暴，但不能完全避免  → 路由器</a:t>
            </a:r>
            <a:r>
              <a:rPr lang="en-US" altLang="zh-CN" sz="20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学习算法是纯粹本地的，随机的</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且不依赖于寻址结构 。 </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因此，网桥可能没有到达某些目的地的路由条目。</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在这种情况下，网桥往往采用</a:t>
            </a:r>
            <a:r>
              <a:rPr lang="en-US" altLang="zh-CN" sz="2400">
                <a:solidFill>
                  <a:schemeClr val="hlink"/>
                </a:solidFill>
                <a:latin typeface="Arial" panose="020B0604020202020204" pitchFamily="34" charset="0"/>
              </a:rPr>
              <a:t>flooding</a:t>
            </a:r>
            <a:r>
              <a:rPr lang="zh-CN" altLang="en-US" sz="2400">
                <a:solidFill>
                  <a:schemeClr val="tx1"/>
                </a:solidFill>
                <a:latin typeface="Arial" panose="020B0604020202020204" pitchFamily="34" charset="0"/>
              </a:rPr>
              <a:t>广播－这将导致在线路中传输多个分组的副本。</a:t>
            </a:r>
          </a:p>
          <a:p>
            <a:pPr lvl="2" algn="l">
              <a:lnSpc>
                <a:spcPct val="90000"/>
              </a:lnSpc>
              <a:spcBef>
                <a:spcPct val="20000"/>
              </a:spcBef>
              <a:buClr>
                <a:schemeClr val="folHlink"/>
              </a:buClr>
              <a:buSzPct val="75000"/>
              <a:buFont typeface="Wingdings" panose="05000000000000000000" pitchFamily="2" charset="2"/>
              <a:buChar char="ü"/>
            </a:pP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网桥通过全局配合来建立一个</a:t>
            </a:r>
            <a:r>
              <a:rPr lang="zh-CN" altLang="en-US" sz="2400">
                <a:solidFill>
                  <a:schemeClr val="folHlink"/>
                </a:solidFill>
                <a:latin typeface="Arial" panose="020B0604020202020204" pitchFamily="34" charset="0"/>
              </a:rPr>
              <a:t>生成树</a:t>
            </a:r>
            <a:r>
              <a:rPr lang="zh-CN" altLang="en-US" sz="2400">
                <a:solidFill>
                  <a:schemeClr val="tx1"/>
                </a:solidFill>
                <a:latin typeface="Arial" panose="020B0604020202020204" pitchFamily="34" charset="0"/>
              </a:rPr>
              <a:t>，以便使 </a:t>
            </a:r>
            <a:r>
              <a:rPr lang="en-US" altLang="zh-CN" sz="2400">
                <a:solidFill>
                  <a:schemeClr val="hlink"/>
                </a:solidFill>
                <a:latin typeface="Arial" panose="020B0604020202020204" pitchFamily="34" charset="0"/>
              </a:rPr>
              <a:t>flooding</a:t>
            </a:r>
            <a:r>
              <a:rPr lang="zh-CN" altLang="en-US" sz="2400">
                <a:solidFill>
                  <a:schemeClr val="tx1"/>
                </a:solidFill>
                <a:latin typeface="Arial" panose="020B0604020202020204" pitchFamily="34" charset="0"/>
              </a:rPr>
              <a:t>不会失控。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7972">
                                            <p:txEl>
                                              <p:pRg st="0" end="0"/>
                                            </p:txEl>
                                          </p:spTgt>
                                        </p:tgtEl>
                                        <p:attrNameLst>
                                          <p:attrName>style.visibility</p:attrName>
                                        </p:attrNameLst>
                                      </p:cBhvr>
                                      <p:to>
                                        <p:strVal val="visible"/>
                                      </p:to>
                                    </p:set>
                                    <p:anim calcmode="lin" valueType="num">
                                      <p:cBhvr additive="base">
                                        <p:cTn id="7" dur="500" fill="hold"/>
                                        <p:tgtEl>
                                          <p:spTgt spid="174797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797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47972">
                                            <p:txEl>
                                              <p:pRg st="1" end="1"/>
                                            </p:txEl>
                                          </p:spTgt>
                                        </p:tgtEl>
                                        <p:attrNameLst>
                                          <p:attrName>style.visibility</p:attrName>
                                        </p:attrNameLst>
                                      </p:cBhvr>
                                      <p:to>
                                        <p:strVal val="visible"/>
                                      </p:to>
                                    </p:set>
                                    <p:anim calcmode="lin" valueType="num">
                                      <p:cBhvr additive="base">
                                        <p:cTn id="11" dur="500" fill="hold"/>
                                        <p:tgtEl>
                                          <p:spTgt spid="1747972">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4797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47972">
                                            <p:txEl>
                                              <p:pRg st="2" end="2"/>
                                            </p:txEl>
                                          </p:spTgt>
                                        </p:tgtEl>
                                        <p:attrNameLst>
                                          <p:attrName>style.visibility</p:attrName>
                                        </p:attrNameLst>
                                      </p:cBhvr>
                                      <p:to>
                                        <p:strVal val="visible"/>
                                      </p:to>
                                    </p:set>
                                    <p:anim calcmode="lin" valueType="num">
                                      <p:cBhvr additive="base">
                                        <p:cTn id="15" dur="500" fill="hold"/>
                                        <p:tgtEl>
                                          <p:spTgt spid="1747972">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4797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747972">
                                            <p:txEl>
                                              <p:pRg st="3" end="3"/>
                                            </p:txEl>
                                          </p:spTgt>
                                        </p:tgtEl>
                                        <p:attrNameLst>
                                          <p:attrName>style.visibility</p:attrName>
                                        </p:attrNameLst>
                                      </p:cBhvr>
                                      <p:to>
                                        <p:strVal val="visible"/>
                                      </p:to>
                                    </p:set>
                                    <p:anim calcmode="lin" valueType="num">
                                      <p:cBhvr additive="base">
                                        <p:cTn id="19" dur="500" fill="hold"/>
                                        <p:tgtEl>
                                          <p:spTgt spid="1747972">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4797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747972">
                                            <p:txEl>
                                              <p:pRg st="4" end="4"/>
                                            </p:txEl>
                                          </p:spTgt>
                                        </p:tgtEl>
                                        <p:attrNameLst>
                                          <p:attrName>style.visibility</p:attrName>
                                        </p:attrNameLst>
                                      </p:cBhvr>
                                      <p:to>
                                        <p:strVal val="visible"/>
                                      </p:to>
                                    </p:set>
                                    <p:anim calcmode="lin" valueType="num">
                                      <p:cBhvr additive="base">
                                        <p:cTn id="23" dur="500" fill="hold"/>
                                        <p:tgtEl>
                                          <p:spTgt spid="1747972">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47972">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47972">
                                            <p:txEl>
                                              <p:pRg st="5" end="5"/>
                                            </p:txEl>
                                          </p:spTgt>
                                        </p:tgtEl>
                                        <p:attrNameLst>
                                          <p:attrName>style.visibility</p:attrName>
                                        </p:attrNameLst>
                                      </p:cBhvr>
                                      <p:to>
                                        <p:strVal val="visible"/>
                                      </p:to>
                                    </p:set>
                                    <p:anim calcmode="lin" valueType="num">
                                      <p:cBhvr additive="base">
                                        <p:cTn id="27" dur="500" fill="hold"/>
                                        <p:tgtEl>
                                          <p:spTgt spid="1747972">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4797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7972" grpId="0" build="p"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F904A5A-4484-4B4C-82AD-D492705BE9E6}"/>
              </a:ext>
            </a:extLst>
          </p:cNvPr>
          <p:cNvSpPr>
            <a:spLocks noGrp="1" noChangeArrowheads="1"/>
          </p:cNvSpPr>
          <p:nvPr>
            <p:ph type="title"/>
          </p:nvPr>
        </p:nvSpPr>
        <p:spPr bwMode="auto">
          <a:xfrm>
            <a:off x="2209800" y="304800"/>
            <a:ext cx="7772400" cy="1447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网桥的功能</a:t>
            </a:r>
          </a:p>
        </p:txBody>
      </p:sp>
      <p:sp>
        <p:nvSpPr>
          <p:cNvPr id="1748995" name="Text Box 3">
            <a:extLst>
              <a:ext uri="{FF2B5EF4-FFF2-40B4-BE49-F238E27FC236}">
                <a16:creationId xmlns:a16="http://schemas.microsoft.com/office/drawing/2014/main" id="{4C6BCC00-DCF5-415F-A7B3-C338633868B7}"/>
              </a:ext>
            </a:extLst>
          </p:cNvPr>
          <p:cNvSpPr txBox="1">
            <a:spLocks noChangeArrowheads="1"/>
          </p:cNvSpPr>
          <p:nvPr/>
        </p:nvSpPr>
        <p:spPr bwMode="auto">
          <a:xfrm>
            <a:off x="2768601" y="1308100"/>
            <a:ext cx="7207250" cy="385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163513" algn="ctr">
              <a:defRPr sz="1200">
                <a:solidFill>
                  <a:srgbClr val="CACACA"/>
                </a:solidFill>
                <a:latin typeface="Times New Roman" panose="02020603050405020304" pitchFamily="18" charset="0"/>
                <a:ea typeface="宋体" panose="02010600030101010101" pitchFamily="2" charset="-122"/>
              </a:defRPr>
            </a:lvl1pPr>
            <a:lvl2pPr marL="1209675" indent="-457200" algn="ctr">
              <a:defRPr sz="1200">
                <a:solidFill>
                  <a:srgbClr val="CACACA"/>
                </a:solidFill>
                <a:latin typeface="Times New Roman" panose="02020603050405020304" pitchFamily="18" charset="0"/>
                <a:ea typeface="宋体" panose="02010600030101010101" pitchFamily="2" charset="-122"/>
              </a:defRPr>
            </a:lvl2pPr>
            <a:lvl3pPr marL="1857375" indent="-457200" algn="ctr">
              <a:defRPr sz="1200">
                <a:solidFill>
                  <a:srgbClr val="CACACA"/>
                </a:solidFill>
                <a:latin typeface="Times New Roman" panose="02020603050405020304" pitchFamily="18" charset="0"/>
                <a:ea typeface="宋体" panose="02010600030101010101" pitchFamily="2" charset="-122"/>
              </a:defRPr>
            </a:lvl3pPr>
            <a:lvl4pPr marL="2505075" indent="-457200" algn="ctr">
              <a:defRPr sz="1200">
                <a:solidFill>
                  <a:srgbClr val="CACACA"/>
                </a:solidFill>
                <a:latin typeface="Times New Roman" panose="02020603050405020304" pitchFamily="18" charset="0"/>
                <a:ea typeface="宋体" panose="02010600030101010101" pitchFamily="2" charset="-122"/>
              </a:defRPr>
            </a:lvl4pPr>
            <a:lvl5pPr marL="3152775" indent="-457200" algn="ctr">
              <a:defRPr sz="1200">
                <a:solidFill>
                  <a:srgbClr val="CACACA"/>
                </a:solidFill>
                <a:latin typeface="Times New Roman" panose="02020603050405020304" pitchFamily="18" charset="0"/>
                <a:ea typeface="宋体" panose="02010600030101010101" pitchFamily="2" charset="-122"/>
              </a:defRPr>
            </a:lvl5pPr>
            <a:lvl6pPr marL="36099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40671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45243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49815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帧的转发和过滤</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扩展网络的规模</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距离</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工作站总数</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网段数</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通过网桥能提高网络总的吞吐率 </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存储转发功能可使其适应于连接采用不同</a:t>
            </a:r>
            <a:r>
              <a:rPr kumimoji="1" lang="en-US" altLang="zh-CN" sz="2400">
                <a:solidFill>
                  <a:srgbClr val="000000"/>
                </a:solidFill>
                <a:latin typeface="宋体" panose="02010600030101010101" pitchFamily="2" charset="-122"/>
              </a:rPr>
              <a:t>MAC</a:t>
            </a:r>
            <a:r>
              <a:rPr kumimoji="1" lang="zh-CN" altLang="en-US" sz="2400">
                <a:solidFill>
                  <a:srgbClr val="000000"/>
                </a:solidFill>
                <a:latin typeface="宋体" panose="02010600030101010101" pitchFamily="2" charset="-122"/>
              </a:rPr>
              <a:t>协议的两个</a:t>
            </a:r>
            <a:r>
              <a:rPr kumimoji="1" lang="en-US" altLang="zh-CN" sz="2400">
                <a:solidFill>
                  <a:srgbClr val="000000"/>
                </a:solidFill>
                <a:latin typeface="宋体" panose="02010600030101010101" pitchFamily="2" charset="-122"/>
              </a:rPr>
              <a:t>LAN----</a:t>
            </a:r>
            <a:r>
              <a:rPr kumimoji="1" lang="zh-CN" altLang="en-US" sz="2400">
                <a:solidFill>
                  <a:srgbClr val="000000"/>
                </a:solidFill>
                <a:latin typeface="宋体" panose="02010600030101010101" pitchFamily="2" charset="-122"/>
              </a:rPr>
              <a:t>异构网互连。</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网桥将一个较大的</a:t>
            </a:r>
            <a:r>
              <a:rPr kumimoji="1" lang="en-US" altLang="zh-CN" sz="2400">
                <a:solidFill>
                  <a:srgbClr val="000000"/>
                </a:solidFill>
                <a:latin typeface="宋体" panose="02010600030101010101" pitchFamily="2" charset="-122"/>
              </a:rPr>
              <a:t>LAN</a:t>
            </a:r>
            <a:r>
              <a:rPr kumimoji="1" lang="zh-CN" altLang="en-US" sz="2400">
                <a:solidFill>
                  <a:srgbClr val="000000"/>
                </a:solidFill>
                <a:latin typeface="宋体" panose="02010600030101010101" pitchFamily="2" charset="-122"/>
              </a:rPr>
              <a:t>分成段，有利于改善可靠性、可用性和安全性。</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源地址跟踪</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管理功能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8995">
                                            <p:txEl>
                                              <p:pRg st="0" end="0"/>
                                            </p:txEl>
                                          </p:spTgt>
                                        </p:tgtEl>
                                        <p:attrNameLst>
                                          <p:attrName>style.visibility</p:attrName>
                                        </p:attrNameLst>
                                      </p:cBhvr>
                                      <p:to>
                                        <p:strVal val="visible"/>
                                      </p:to>
                                    </p:set>
                                    <p:anim calcmode="lin" valueType="num">
                                      <p:cBhvr additive="base">
                                        <p:cTn id="7" dur="500" fill="hold"/>
                                        <p:tgtEl>
                                          <p:spTgt spid="17489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8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48995">
                                            <p:txEl>
                                              <p:pRg st="1" end="1"/>
                                            </p:txEl>
                                          </p:spTgt>
                                        </p:tgtEl>
                                        <p:attrNameLst>
                                          <p:attrName>style.visibility</p:attrName>
                                        </p:attrNameLst>
                                      </p:cBhvr>
                                      <p:to>
                                        <p:strVal val="visible"/>
                                      </p:to>
                                    </p:set>
                                    <p:anim calcmode="lin" valueType="num">
                                      <p:cBhvr additive="base">
                                        <p:cTn id="13" dur="500" fill="hold"/>
                                        <p:tgtEl>
                                          <p:spTgt spid="17489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489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48995">
                                            <p:txEl>
                                              <p:pRg st="2" end="2"/>
                                            </p:txEl>
                                          </p:spTgt>
                                        </p:tgtEl>
                                        <p:attrNameLst>
                                          <p:attrName>style.visibility</p:attrName>
                                        </p:attrNameLst>
                                      </p:cBhvr>
                                      <p:to>
                                        <p:strVal val="visible"/>
                                      </p:to>
                                    </p:set>
                                    <p:anim calcmode="lin" valueType="num">
                                      <p:cBhvr additive="base">
                                        <p:cTn id="19" dur="500" fill="hold"/>
                                        <p:tgtEl>
                                          <p:spTgt spid="17489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489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48995">
                                            <p:txEl>
                                              <p:pRg st="3" end="3"/>
                                            </p:txEl>
                                          </p:spTgt>
                                        </p:tgtEl>
                                        <p:attrNameLst>
                                          <p:attrName>style.visibility</p:attrName>
                                        </p:attrNameLst>
                                      </p:cBhvr>
                                      <p:to>
                                        <p:strVal val="visible"/>
                                      </p:to>
                                    </p:set>
                                    <p:anim calcmode="lin" valueType="num">
                                      <p:cBhvr additive="base">
                                        <p:cTn id="25" dur="500" fill="hold"/>
                                        <p:tgtEl>
                                          <p:spTgt spid="17489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489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48995">
                                            <p:txEl>
                                              <p:pRg st="4" end="4"/>
                                            </p:txEl>
                                          </p:spTgt>
                                        </p:tgtEl>
                                        <p:attrNameLst>
                                          <p:attrName>style.visibility</p:attrName>
                                        </p:attrNameLst>
                                      </p:cBhvr>
                                      <p:to>
                                        <p:strVal val="visible"/>
                                      </p:to>
                                    </p:set>
                                    <p:anim calcmode="lin" valueType="num">
                                      <p:cBhvr additive="base">
                                        <p:cTn id="31" dur="500" fill="hold"/>
                                        <p:tgtEl>
                                          <p:spTgt spid="174899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489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48995">
                                            <p:txEl>
                                              <p:pRg st="5" end="5"/>
                                            </p:txEl>
                                          </p:spTgt>
                                        </p:tgtEl>
                                        <p:attrNameLst>
                                          <p:attrName>style.visibility</p:attrName>
                                        </p:attrNameLst>
                                      </p:cBhvr>
                                      <p:to>
                                        <p:strVal val="visible"/>
                                      </p:to>
                                    </p:set>
                                    <p:anim calcmode="lin" valueType="num">
                                      <p:cBhvr additive="base">
                                        <p:cTn id="37" dur="500" fill="hold"/>
                                        <p:tgtEl>
                                          <p:spTgt spid="174899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489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48995">
                                            <p:txEl>
                                              <p:pRg st="6" end="6"/>
                                            </p:txEl>
                                          </p:spTgt>
                                        </p:tgtEl>
                                        <p:attrNameLst>
                                          <p:attrName>style.visibility</p:attrName>
                                        </p:attrNameLst>
                                      </p:cBhvr>
                                      <p:to>
                                        <p:strVal val="visible"/>
                                      </p:to>
                                    </p:set>
                                    <p:anim calcmode="lin" valueType="num">
                                      <p:cBhvr additive="base">
                                        <p:cTn id="43" dur="500" fill="hold"/>
                                        <p:tgtEl>
                                          <p:spTgt spid="174899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4899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8995" grpId="0" build="p"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E52B09D-3BF5-471A-BEE0-2C4414EA986E}"/>
              </a:ext>
            </a:extLst>
          </p:cNvPr>
          <p:cNvSpPr>
            <a:spLocks noGrp="1" noChangeArrowheads="1"/>
          </p:cNvSpPr>
          <p:nvPr>
            <p:ph type="title"/>
          </p:nvPr>
        </p:nvSpPr>
        <p:spPr bwMode="auto">
          <a:xfrm>
            <a:off x="222885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网桥的功能</a:t>
            </a:r>
            <a:r>
              <a:rPr lang="en-US" altLang="zh-CN" sz="3600">
                <a:solidFill>
                  <a:schemeClr val="hlink"/>
                </a:solidFill>
                <a:ea typeface="新宋体" panose="02010609030101010101" pitchFamily="49" charset="-122"/>
              </a:rPr>
              <a:t>--</a:t>
            </a:r>
            <a:r>
              <a:rPr lang="zh-CN" altLang="en-US" sz="3600">
                <a:solidFill>
                  <a:schemeClr val="hlink"/>
                </a:solidFill>
                <a:ea typeface="新宋体" panose="02010609030101010101" pitchFamily="49" charset="-122"/>
              </a:rPr>
              <a:t>提高吞吐率</a:t>
            </a:r>
          </a:p>
        </p:txBody>
      </p:sp>
      <p:pic>
        <p:nvPicPr>
          <p:cNvPr id="22531" name="Picture 3">
            <a:extLst>
              <a:ext uri="{FF2B5EF4-FFF2-40B4-BE49-F238E27FC236}">
                <a16:creationId xmlns:a16="http://schemas.microsoft.com/office/drawing/2014/main" id="{E443E5DE-CE66-4557-9FED-A9A4BDE57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789" y="1758951"/>
            <a:ext cx="8258176" cy="481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50020" name="Text Box 4">
            <a:extLst>
              <a:ext uri="{FF2B5EF4-FFF2-40B4-BE49-F238E27FC236}">
                <a16:creationId xmlns:a16="http://schemas.microsoft.com/office/drawing/2014/main" id="{7851E4AE-B70A-4B29-8DCC-49EE53625795}"/>
              </a:ext>
            </a:extLst>
          </p:cNvPr>
          <p:cNvSpPr txBox="1">
            <a:spLocks noChangeArrowheads="1"/>
          </p:cNvSpPr>
          <p:nvPr/>
        </p:nvSpPr>
        <p:spPr bwMode="auto">
          <a:xfrm>
            <a:off x="4564063" y="3089276"/>
            <a:ext cx="11128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10 M</a:t>
            </a:r>
          </a:p>
        </p:txBody>
      </p:sp>
      <p:sp>
        <p:nvSpPr>
          <p:cNvPr id="1750021" name="Text Box 5">
            <a:extLst>
              <a:ext uri="{FF2B5EF4-FFF2-40B4-BE49-F238E27FC236}">
                <a16:creationId xmlns:a16="http://schemas.microsoft.com/office/drawing/2014/main" id="{114EBE47-8DD4-4989-9396-6C68DCD8E43E}"/>
              </a:ext>
            </a:extLst>
          </p:cNvPr>
          <p:cNvSpPr txBox="1">
            <a:spLocks noChangeArrowheads="1"/>
          </p:cNvSpPr>
          <p:nvPr/>
        </p:nvSpPr>
        <p:spPr bwMode="auto">
          <a:xfrm>
            <a:off x="4641850" y="4230690"/>
            <a:ext cx="1112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10 M</a:t>
            </a:r>
          </a:p>
        </p:txBody>
      </p:sp>
      <p:sp>
        <p:nvSpPr>
          <p:cNvPr id="22534" name="AutoShape 6">
            <a:extLst>
              <a:ext uri="{FF2B5EF4-FFF2-40B4-BE49-F238E27FC236}">
                <a16:creationId xmlns:a16="http://schemas.microsoft.com/office/drawing/2014/main" id="{73BCE12A-7571-4452-BB18-98117C77940B}"/>
              </a:ext>
            </a:extLst>
          </p:cNvPr>
          <p:cNvSpPr>
            <a:spLocks/>
          </p:cNvSpPr>
          <p:nvPr/>
        </p:nvSpPr>
        <p:spPr bwMode="auto">
          <a:xfrm>
            <a:off x="2349501" y="2916240"/>
            <a:ext cx="88900" cy="1976437"/>
          </a:xfrm>
          <a:prstGeom prst="leftBrace">
            <a:avLst>
              <a:gd name="adj1" fmla="val 185268"/>
              <a:gd name="adj2" fmla="val 50000"/>
            </a:avLst>
          </a:prstGeom>
          <a:noFill/>
          <a:ln w="158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50023" name="Text Box 7">
            <a:extLst>
              <a:ext uri="{FF2B5EF4-FFF2-40B4-BE49-F238E27FC236}">
                <a16:creationId xmlns:a16="http://schemas.microsoft.com/office/drawing/2014/main" id="{D80A2C32-394E-49CE-9F9F-CFE01F42567C}"/>
              </a:ext>
            </a:extLst>
          </p:cNvPr>
          <p:cNvSpPr txBox="1">
            <a:spLocks noChangeArrowheads="1"/>
          </p:cNvSpPr>
          <p:nvPr/>
        </p:nvSpPr>
        <p:spPr bwMode="auto">
          <a:xfrm>
            <a:off x="1905001" y="3835401"/>
            <a:ext cx="1112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20 M</a:t>
            </a:r>
          </a:p>
        </p:txBody>
      </p:sp>
      <mc:AlternateContent xmlns:mc="http://schemas.openxmlformats.org/markup-compatibility/2006">
        <mc:Choice xmlns:p14="http://schemas.microsoft.com/office/powerpoint/2010/main" Requires="p14">
          <p:contentPart p14:bwMode="auto" r:id="rId3">
            <p14:nvContentPartPr>
              <p14:cNvPr id="1750024" name="Ink 8">
                <a:extLst>
                  <a:ext uri="{FF2B5EF4-FFF2-40B4-BE49-F238E27FC236}">
                    <a16:creationId xmlns:a16="http://schemas.microsoft.com/office/drawing/2014/main" id="{88129670-8076-4B30-A1BA-C7EE1960F772}"/>
                  </a:ext>
                </a:extLst>
              </p14:cNvPr>
              <p14:cNvContentPartPr>
                <a14:cpLocks xmlns:a14="http://schemas.microsoft.com/office/drawing/2010/main" noRot="1" noChangeAspect="1" noEditPoints="1" noChangeArrowheads="1" noChangeShapeType="1"/>
              </p14:cNvContentPartPr>
              <p14:nvPr/>
            </p14:nvContentPartPr>
            <p14:xfrm>
              <a:off x="2906713" y="2251076"/>
              <a:ext cx="34925" cy="1588"/>
            </p14:xfrm>
          </p:contentPart>
        </mc:Choice>
        <mc:Fallback>
          <p:pic>
            <p:nvPicPr>
              <p:cNvPr id="1750024" name="Ink 8">
                <a:extLst>
                  <a:ext uri="{FF2B5EF4-FFF2-40B4-BE49-F238E27FC236}">
                    <a16:creationId xmlns:a16="http://schemas.microsoft.com/office/drawing/2014/main" id="{88129670-8076-4B30-A1BA-C7EE1960F772}"/>
                  </a:ext>
                </a:extLst>
              </p:cNvPr>
              <p:cNvPicPr>
                <a:picLocks noRot="1" noChangeAspect="1" noEditPoints="1" noChangeArrowheads="1" noChangeShapeType="1"/>
              </p:cNvPicPr>
              <p:nvPr/>
            </p:nvPicPr>
            <p:blipFill>
              <a:blip r:embed="rId4"/>
              <a:stretch>
                <a:fillRect/>
              </a:stretch>
            </p:blipFill>
            <p:spPr>
              <a:xfrm>
                <a:off x="2888887" y="2173264"/>
                <a:ext cx="69850" cy="154036"/>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0020">
                                            <p:txEl>
                                              <p:pRg st="0" end="0"/>
                                            </p:txEl>
                                          </p:spTgt>
                                        </p:tgtEl>
                                        <p:attrNameLst>
                                          <p:attrName>style.visibility</p:attrName>
                                        </p:attrNameLst>
                                      </p:cBhvr>
                                      <p:to>
                                        <p:strVal val="visible"/>
                                      </p:to>
                                    </p:set>
                                    <p:anim calcmode="lin" valueType="num">
                                      <p:cBhvr additive="base">
                                        <p:cTn id="7" dur="500" fill="hold"/>
                                        <p:tgtEl>
                                          <p:spTgt spid="17500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00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0021">
                                            <p:txEl>
                                              <p:pRg st="0" end="0"/>
                                            </p:txEl>
                                          </p:spTgt>
                                        </p:tgtEl>
                                        <p:attrNameLst>
                                          <p:attrName>style.visibility</p:attrName>
                                        </p:attrNameLst>
                                      </p:cBhvr>
                                      <p:to>
                                        <p:strVal val="visible"/>
                                      </p:to>
                                    </p:set>
                                    <p:anim calcmode="lin" valueType="num">
                                      <p:cBhvr additive="base">
                                        <p:cTn id="13" dur="500" fill="hold"/>
                                        <p:tgtEl>
                                          <p:spTgt spid="1750021">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00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0023">
                                            <p:txEl>
                                              <p:pRg st="0" end="0"/>
                                            </p:txEl>
                                          </p:spTgt>
                                        </p:tgtEl>
                                        <p:attrNameLst>
                                          <p:attrName>style.visibility</p:attrName>
                                        </p:attrNameLst>
                                      </p:cBhvr>
                                      <p:to>
                                        <p:strVal val="visible"/>
                                      </p:to>
                                    </p:set>
                                    <p:anim calcmode="lin" valueType="num">
                                      <p:cBhvr additive="base">
                                        <p:cTn id="19" dur="500" fill="hold"/>
                                        <p:tgtEl>
                                          <p:spTgt spid="175002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00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0020" grpId="0" build="p" autoUpdateAnimBg="0"/>
      <p:bldP spid="1750021" grpId="0" build="p" autoUpdateAnimBg="0"/>
      <p:bldP spid="1750023" grpId="0" build="p"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436D57E-A67D-4B33-A7CE-62C1A86E9A37}"/>
              </a:ext>
            </a:extLst>
          </p:cNvPr>
          <p:cNvSpPr>
            <a:spLocks noGrp="1" noChangeArrowheads="1"/>
          </p:cNvSpPr>
          <p:nvPr>
            <p:ph type="title"/>
          </p:nvPr>
        </p:nvSpPr>
        <p:spPr bwMode="auto">
          <a:xfrm>
            <a:off x="2317750" y="30638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帧的转发</a:t>
            </a:r>
          </a:p>
        </p:txBody>
      </p:sp>
      <p:sp>
        <p:nvSpPr>
          <p:cNvPr id="23555" name="Text Box 4">
            <a:extLst>
              <a:ext uri="{FF2B5EF4-FFF2-40B4-BE49-F238E27FC236}">
                <a16:creationId xmlns:a16="http://schemas.microsoft.com/office/drawing/2014/main" id="{0E76F137-BCAF-4E33-A2F2-7A140FEF68B3}"/>
              </a:ext>
            </a:extLst>
          </p:cNvPr>
          <p:cNvSpPr txBox="1">
            <a:spLocks noChangeArrowheads="1"/>
          </p:cNvSpPr>
          <p:nvPr/>
        </p:nvSpPr>
        <p:spPr bwMode="auto">
          <a:xfrm>
            <a:off x="2503488" y="1271589"/>
            <a:ext cx="7180262"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rgbClr val="000000"/>
                </a:solidFill>
                <a:latin typeface="Arial" panose="020B0604020202020204" pitchFamily="34" charset="0"/>
              </a:rPr>
              <a:t>• </a:t>
            </a:r>
            <a:r>
              <a:rPr lang="zh-CN" altLang="en-US" sz="2800">
                <a:solidFill>
                  <a:srgbClr val="000000"/>
                </a:solidFill>
                <a:latin typeface="Arial" panose="020B0604020202020204" pitchFamily="34" charset="0"/>
              </a:rPr>
              <a:t>每个网桥中都有一张转发表，其中的每项条目的内容为： </a:t>
            </a:r>
            <a:r>
              <a:rPr lang="en-US" altLang="zh-CN" sz="2800" b="1">
                <a:solidFill>
                  <a:srgbClr val="FF0000"/>
                </a:solidFill>
                <a:latin typeface="Arial" panose="020B0604020202020204" pitchFamily="34" charset="0"/>
              </a:rPr>
              <a:t>&lt; MAC </a:t>
            </a:r>
            <a:r>
              <a:rPr lang="zh-CN" altLang="en-US" sz="2800" b="1">
                <a:solidFill>
                  <a:srgbClr val="FF0000"/>
                </a:solidFill>
                <a:latin typeface="Arial" panose="020B0604020202020204" pitchFamily="34" charset="0"/>
              </a:rPr>
              <a:t>地址</a:t>
            </a:r>
            <a:r>
              <a:rPr lang="en-US" altLang="zh-CN" sz="2800" b="1">
                <a:solidFill>
                  <a:srgbClr val="FF0000"/>
                </a:solidFill>
                <a:latin typeface="Arial" panose="020B0604020202020204" pitchFamily="34" charset="0"/>
              </a:rPr>
              <a:t>, </a:t>
            </a:r>
            <a:r>
              <a:rPr lang="zh-CN" altLang="en-US" sz="2800" b="1">
                <a:solidFill>
                  <a:srgbClr val="FF0000"/>
                </a:solidFill>
                <a:latin typeface="Arial" panose="020B0604020202020204" pitchFamily="34" charset="0"/>
              </a:rPr>
              <a:t>端口</a:t>
            </a:r>
            <a:r>
              <a:rPr lang="en-US" altLang="zh-CN" sz="2800" b="1">
                <a:solidFill>
                  <a:srgbClr val="FF0000"/>
                </a:solidFill>
                <a:latin typeface="Arial" panose="020B0604020202020204" pitchFamily="34" charset="0"/>
              </a:rPr>
              <a:t>, </a:t>
            </a:r>
            <a:r>
              <a:rPr lang="zh-CN" altLang="en-US" sz="2800" b="1">
                <a:solidFill>
                  <a:srgbClr val="FF0000"/>
                </a:solidFill>
                <a:latin typeface="Arial" panose="020B0604020202020204" pitchFamily="34" charset="0"/>
              </a:rPr>
              <a:t>时间</a:t>
            </a:r>
            <a:r>
              <a:rPr lang="en-US" altLang="zh-CN" sz="2800" b="1">
                <a:solidFill>
                  <a:srgbClr val="FF0000"/>
                </a:solidFill>
                <a:latin typeface="Arial" panose="020B0604020202020204" pitchFamily="34" charset="0"/>
              </a:rPr>
              <a:t>&gt;</a:t>
            </a:r>
          </a:p>
          <a:p>
            <a:pPr algn="l">
              <a:spcBef>
                <a:spcPct val="20000"/>
              </a:spcBef>
            </a:pPr>
            <a:r>
              <a:rPr lang="en-US" altLang="zh-CN" sz="2400" b="1">
                <a:solidFill>
                  <a:srgbClr val="FF0000"/>
                </a:solidFill>
                <a:latin typeface="Arial" panose="020B0604020202020204" pitchFamily="34" charset="0"/>
              </a:rPr>
              <a:t>        MAC address:   </a:t>
            </a:r>
            <a:r>
              <a:rPr lang="zh-CN" altLang="en-US" sz="2400">
                <a:solidFill>
                  <a:srgbClr val="000000"/>
                </a:solidFill>
                <a:latin typeface="Arial" panose="020B0604020202020204" pitchFamily="34" charset="0"/>
              </a:rPr>
              <a:t>主机名或组地址</a:t>
            </a:r>
          </a:p>
          <a:p>
            <a:pPr algn="l">
              <a:spcBef>
                <a:spcPct val="20000"/>
              </a:spcBef>
            </a:pPr>
            <a:r>
              <a:rPr lang="zh-CN" altLang="en-US" sz="2400" b="1">
                <a:solidFill>
                  <a:srgbClr val="FF0000"/>
                </a:solidFill>
                <a:latin typeface="Arial" panose="020B0604020202020204" pitchFamily="34" charset="0"/>
              </a:rPr>
              <a:t>        </a:t>
            </a:r>
            <a:r>
              <a:rPr lang="en-US" altLang="zh-CN" sz="2400" b="1">
                <a:solidFill>
                  <a:srgbClr val="FF0000"/>
                </a:solidFill>
                <a:latin typeface="Arial" panose="020B0604020202020204" pitchFamily="34" charset="0"/>
              </a:rPr>
              <a:t>port:                   </a:t>
            </a:r>
            <a:r>
              <a:rPr lang="zh-CN" altLang="en-US" sz="2400">
                <a:solidFill>
                  <a:srgbClr val="000000"/>
                </a:solidFill>
                <a:latin typeface="Arial" panose="020B0604020202020204" pitchFamily="34" charset="0"/>
              </a:rPr>
              <a:t>网桥的端口号</a:t>
            </a:r>
          </a:p>
          <a:p>
            <a:pPr algn="l">
              <a:spcBef>
                <a:spcPct val="20000"/>
              </a:spcBef>
            </a:pPr>
            <a:r>
              <a:rPr lang="zh-CN" altLang="en-US" sz="2400" b="1">
                <a:solidFill>
                  <a:srgbClr val="FF0000"/>
                </a:solidFill>
                <a:latin typeface="Arial" panose="020B0604020202020204" pitchFamily="34" charset="0"/>
              </a:rPr>
              <a:t>        </a:t>
            </a:r>
            <a:r>
              <a:rPr lang="en-US" altLang="zh-CN" sz="2400" b="1">
                <a:solidFill>
                  <a:srgbClr val="FF0000"/>
                </a:solidFill>
                <a:latin typeface="Arial" panose="020B0604020202020204" pitchFamily="34" charset="0"/>
              </a:rPr>
              <a:t>age:                   </a:t>
            </a:r>
            <a:r>
              <a:rPr lang="zh-CN" altLang="en-US" sz="2400">
                <a:solidFill>
                  <a:schemeClr val="tx1"/>
                </a:solidFill>
                <a:latin typeface="Arial" panose="020B0604020202020204" pitchFamily="34" charset="0"/>
              </a:rPr>
              <a:t>每项条目的寿命</a:t>
            </a:r>
          </a:p>
          <a:p>
            <a:pPr algn="l">
              <a:spcBef>
                <a:spcPct val="20000"/>
              </a:spcBef>
              <a:buFontTx/>
              <a:buChar char="•"/>
            </a:pPr>
            <a:r>
              <a:rPr lang="zh-CN" altLang="en-US" sz="2400">
                <a:solidFill>
                  <a:schemeClr val="tx1"/>
                </a:solidFill>
                <a:cs typeface="Times New Roman" panose="02020603050405020304" pitchFamily="18" charset="0"/>
              </a:rPr>
              <a:t>  </a:t>
            </a:r>
            <a:r>
              <a:rPr lang="zh-CN" altLang="en-US" sz="2400">
                <a:solidFill>
                  <a:schemeClr val="tx1"/>
                </a:solidFill>
              </a:rPr>
              <a:t>帧转发</a:t>
            </a:r>
            <a:r>
              <a:rPr lang="en-US" altLang="zh-CN" sz="2400">
                <a:solidFill>
                  <a:schemeClr val="tx1"/>
                </a:solidFill>
              </a:rPr>
              <a:t>:</a:t>
            </a:r>
          </a:p>
          <a:p>
            <a:pPr algn="l">
              <a:spcBef>
                <a:spcPct val="20000"/>
              </a:spcBef>
            </a:pPr>
            <a:r>
              <a:rPr lang="en-US" altLang="zh-CN" sz="2400">
                <a:solidFill>
                  <a:schemeClr val="tx1"/>
                </a:solidFill>
                <a:cs typeface="Times New Roman" panose="02020603050405020304" pitchFamily="18" charset="0"/>
              </a:rPr>
              <a:t>  1</a:t>
            </a:r>
            <a:r>
              <a:rPr lang="zh-CN" altLang="en-US" sz="2400">
                <a:solidFill>
                  <a:schemeClr val="tx1"/>
                </a:solidFill>
              </a:rPr>
              <a:t>、如果源</a:t>
            </a:r>
            <a:r>
              <a:rPr lang="en-US" altLang="zh-CN" sz="2400">
                <a:solidFill>
                  <a:schemeClr val="tx1"/>
                </a:solidFill>
                <a:cs typeface="Times New Roman" panose="02020603050405020304" pitchFamily="18" charset="0"/>
              </a:rPr>
              <a:t>LAN</a:t>
            </a:r>
            <a:r>
              <a:rPr lang="zh-CN" altLang="en-US" sz="2400">
                <a:solidFill>
                  <a:schemeClr val="tx1"/>
                </a:solidFill>
              </a:rPr>
              <a:t>和目的</a:t>
            </a:r>
            <a:r>
              <a:rPr lang="en-US" altLang="zh-CN" sz="2400">
                <a:solidFill>
                  <a:schemeClr val="tx1"/>
                </a:solidFill>
                <a:cs typeface="Times New Roman" panose="02020603050405020304" pitchFamily="18" charset="0"/>
              </a:rPr>
              <a:t>LAN</a:t>
            </a:r>
            <a:r>
              <a:rPr lang="zh-CN" altLang="en-US" sz="2400">
                <a:solidFill>
                  <a:schemeClr val="tx1"/>
                </a:solidFill>
              </a:rPr>
              <a:t>相同，则</a:t>
            </a:r>
            <a:r>
              <a:rPr lang="zh-CN" altLang="en-US" sz="2400">
                <a:solidFill>
                  <a:srgbClr val="0066FF"/>
                </a:solidFill>
              </a:rPr>
              <a:t>丢弃</a:t>
            </a:r>
            <a:r>
              <a:rPr lang="zh-CN" altLang="en-US" sz="2400">
                <a:solidFill>
                  <a:schemeClr val="tx1"/>
                </a:solidFill>
              </a:rPr>
              <a:t>该帧。</a:t>
            </a:r>
            <a:br>
              <a:rPr lang="zh-CN" altLang="en-US" sz="2400">
                <a:solidFill>
                  <a:schemeClr val="tx1"/>
                </a:solidFill>
                <a:cs typeface="Times New Roman" panose="02020603050405020304" pitchFamily="18" charset="0"/>
              </a:rPr>
            </a:br>
            <a:r>
              <a:rPr lang="en-US" altLang="zh-CN" sz="2400">
                <a:solidFill>
                  <a:schemeClr val="tx1"/>
                </a:solidFill>
                <a:cs typeface="Times New Roman" panose="02020603050405020304" pitchFamily="18" charset="0"/>
              </a:rPr>
              <a:t>2</a:t>
            </a:r>
            <a:r>
              <a:rPr lang="zh-CN" altLang="en-US" sz="2400">
                <a:solidFill>
                  <a:schemeClr val="tx1"/>
                </a:solidFill>
              </a:rPr>
              <a:t>、如果源</a:t>
            </a:r>
            <a:r>
              <a:rPr lang="en-US" altLang="zh-CN" sz="2400">
                <a:solidFill>
                  <a:schemeClr val="tx1"/>
                </a:solidFill>
                <a:cs typeface="Times New Roman" panose="02020603050405020304" pitchFamily="18" charset="0"/>
              </a:rPr>
              <a:t>LAN</a:t>
            </a:r>
            <a:r>
              <a:rPr lang="zh-CN" altLang="en-US" sz="2400">
                <a:solidFill>
                  <a:schemeClr val="tx1"/>
                </a:solidFill>
              </a:rPr>
              <a:t>和目的</a:t>
            </a:r>
            <a:r>
              <a:rPr lang="en-US" altLang="zh-CN" sz="2400">
                <a:solidFill>
                  <a:schemeClr val="tx1"/>
                </a:solidFill>
                <a:cs typeface="Times New Roman" panose="02020603050405020304" pitchFamily="18" charset="0"/>
              </a:rPr>
              <a:t>LAN</a:t>
            </a:r>
            <a:r>
              <a:rPr lang="zh-CN" altLang="en-US" sz="2400">
                <a:solidFill>
                  <a:schemeClr val="tx1"/>
                </a:solidFill>
              </a:rPr>
              <a:t>不同，则</a:t>
            </a:r>
            <a:r>
              <a:rPr lang="zh-CN" altLang="en-US" sz="2400">
                <a:solidFill>
                  <a:srgbClr val="0066FF"/>
                </a:solidFill>
              </a:rPr>
              <a:t>转发</a:t>
            </a:r>
            <a:r>
              <a:rPr lang="zh-CN" altLang="en-US" sz="2400">
                <a:solidFill>
                  <a:schemeClr val="tx1"/>
                </a:solidFill>
              </a:rPr>
              <a:t>该帧。</a:t>
            </a:r>
            <a:br>
              <a:rPr lang="zh-CN" altLang="en-US" sz="2400">
                <a:solidFill>
                  <a:schemeClr val="tx1"/>
                </a:solidFill>
                <a:cs typeface="Times New Roman" panose="02020603050405020304" pitchFamily="18" charset="0"/>
              </a:rPr>
            </a:br>
            <a:r>
              <a:rPr lang="en-US" altLang="zh-CN" sz="2400">
                <a:solidFill>
                  <a:schemeClr val="tx1"/>
                </a:solidFill>
                <a:cs typeface="Times New Roman" panose="02020603050405020304" pitchFamily="18" charset="0"/>
              </a:rPr>
              <a:t>3</a:t>
            </a:r>
            <a:r>
              <a:rPr lang="zh-CN" altLang="en-US" sz="2400">
                <a:solidFill>
                  <a:schemeClr val="tx1"/>
                </a:solidFill>
              </a:rPr>
              <a:t>、如果目的</a:t>
            </a:r>
            <a:r>
              <a:rPr lang="en-US" altLang="zh-CN" sz="2400">
                <a:solidFill>
                  <a:schemeClr val="tx1"/>
                </a:solidFill>
                <a:cs typeface="Times New Roman" panose="02020603050405020304" pitchFamily="18" charset="0"/>
              </a:rPr>
              <a:t>LAN</a:t>
            </a:r>
            <a:r>
              <a:rPr lang="zh-CN" altLang="en-US" sz="2400">
                <a:solidFill>
                  <a:schemeClr val="tx1"/>
                </a:solidFill>
              </a:rPr>
              <a:t>未知，则进行</a:t>
            </a:r>
            <a:r>
              <a:rPr lang="zh-CN" altLang="en-US" sz="2400">
                <a:solidFill>
                  <a:srgbClr val="0066FF"/>
                </a:solidFill>
              </a:rPr>
              <a:t>扩散</a:t>
            </a:r>
            <a:r>
              <a:rPr lang="zh-CN" altLang="en-US" sz="2400">
                <a:solidFill>
                  <a:schemeClr val="tx1"/>
                </a:solidFill>
              </a:rPr>
              <a:t>。</a:t>
            </a:r>
            <a:r>
              <a:rPr lang="zh-CN" altLang="en-US" sz="2400">
                <a:solidFill>
                  <a:schemeClr val="tx1"/>
                </a:solidFill>
                <a:latin typeface="Arial" panose="020B0604020202020204" pitchFamily="34" charset="0"/>
              </a:rPr>
              <a:t> </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887FE71-F991-4B63-971F-AC385F7A3265}"/>
              </a:ext>
            </a:extLst>
          </p:cNvPr>
          <p:cNvSpPr>
            <a:spLocks noGrp="1" noChangeArrowheads="1"/>
          </p:cNvSpPr>
          <p:nvPr>
            <p:ph type="title"/>
          </p:nvPr>
        </p:nvSpPr>
        <p:spPr bwMode="auto">
          <a:xfrm>
            <a:off x="2281238" y="322264"/>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帧的转发</a:t>
            </a:r>
          </a:p>
        </p:txBody>
      </p:sp>
      <p:sp>
        <p:nvSpPr>
          <p:cNvPr id="24579" name="Text Box 4">
            <a:extLst>
              <a:ext uri="{FF2B5EF4-FFF2-40B4-BE49-F238E27FC236}">
                <a16:creationId xmlns:a16="http://schemas.microsoft.com/office/drawing/2014/main" id="{1CCA3371-EC49-492D-AEDE-23237C71E79F}"/>
              </a:ext>
            </a:extLst>
          </p:cNvPr>
          <p:cNvSpPr txBox="1">
            <a:spLocks noChangeArrowheads="1"/>
          </p:cNvSpPr>
          <p:nvPr/>
        </p:nvSpPr>
        <p:spPr bwMode="auto">
          <a:xfrm>
            <a:off x="2952750" y="1317625"/>
            <a:ext cx="68468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假设一个</a:t>
            </a:r>
            <a:r>
              <a:rPr lang="en-US" altLang="zh-CN" sz="2800">
                <a:solidFill>
                  <a:schemeClr val="tx1"/>
                </a:solidFill>
                <a:latin typeface="Arial" panose="020B0604020202020204" pitchFamily="34" charset="0"/>
              </a:rPr>
              <a:t>MAC</a:t>
            </a:r>
            <a:r>
              <a:rPr lang="zh-CN" altLang="en-US" sz="2800">
                <a:solidFill>
                  <a:schemeClr val="tx1"/>
                </a:solidFill>
                <a:latin typeface="Arial" panose="020B0604020202020204" pitchFamily="34" charset="0"/>
              </a:rPr>
              <a:t>帧在</a:t>
            </a:r>
            <a:r>
              <a:rPr lang="en-US" altLang="zh-CN" sz="2800">
                <a:solidFill>
                  <a:schemeClr val="tx1"/>
                </a:solidFill>
                <a:latin typeface="Arial" panose="020B0604020202020204" pitchFamily="34" charset="0"/>
              </a:rPr>
              <a:t>port x</a:t>
            </a:r>
            <a:r>
              <a:rPr lang="zh-CN" altLang="en-US" sz="2800">
                <a:solidFill>
                  <a:schemeClr val="tx1"/>
                </a:solidFill>
                <a:latin typeface="Arial" panose="020B0604020202020204" pitchFamily="34" charset="0"/>
              </a:rPr>
              <a:t>上被接收。</a:t>
            </a:r>
          </a:p>
        </p:txBody>
      </p:sp>
      <p:pic>
        <p:nvPicPr>
          <p:cNvPr id="1793030" name="Picture 6">
            <a:extLst>
              <a:ext uri="{FF2B5EF4-FFF2-40B4-BE49-F238E27FC236}">
                <a16:creationId xmlns:a16="http://schemas.microsoft.com/office/drawing/2014/main" id="{BF9F000B-92C2-444D-9962-13201EEE9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8" y="1881189"/>
            <a:ext cx="8048626"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93030"/>
                                        </p:tgtEl>
                                        <p:attrNameLst>
                                          <p:attrName>style.visibility</p:attrName>
                                        </p:attrNameLst>
                                      </p:cBhvr>
                                      <p:to>
                                        <p:strVal val="visible"/>
                                      </p:to>
                                    </p:set>
                                    <p:anim calcmode="lin" valueType="num">
                                      <p:cBhvr additive="base">
                                        <p:cTn id="7" dur="500" fill="hold"/>
                                        <p:tgtEl>
                                          <p:spTgt spid="1793030"/>
                                        </p:tgtEl>
                                        <p:attrNameLst>
                                          <p:attrName>ppt_x</p:attrName>
                                        </p:attrNameLst>
                                      </p:cBhvr>
                                      <p:tavLst>
                                        <p:tav tm="0">
                                          <p:val>
                                            <p:strVal val="1+#ppt_w/2"/>
                                          </p:val>
                                        </p:tav>
                                        <p:tav tm="100000">
                                          <p:val>
                                            <p:strVal val="#ppt_x"/>
                                          </p:val>
                                        </p:tav>
                                      </p:tavLst>
                                    </p:anim>
                                    <p:anim calcmode="lin" valueType="num">
                                      <p:cBhvr additive="base">
                                        <p:cTn id="8" dur="500" fill="hold"/>
                                        <p:tgtEl>
                                          <p:spTgt spid="17930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42911A9-6037-432B-90E2-B7AF1AA6EC0A}"/>
              </a:ext>
            </a:extLst>
          </p:cNvPr>
          <p:cNvSpPr>
            <a:spLocks noGrp="1" noChangeArrowheads="1"/>
          </p:cNvSpPr>
          <p:nvPr>
            <p:ph type="title"/>
          </p:nvPr>
        </p:nvSpPr>
        <p:spPr bwMode="auto">
          <a:xfrm>
            <a:off x="2263775" y="322264"/>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地址的学习 </a:t>
            </a:r>
            <a:r>
              <a:rPr lang="en-US" altLang="zh-CN" sz="3600">
                <a:solidFill>
                  <a:schemeClr val="hlink"/>
                </a:solidFill>
                <a:ea typeface="新宋体" panose="02010609030101010101" pitchFamily="49" charset="-122"/>
              </a:rPr>
              <a:t>(</a:t>
            </a:r>
            <a:r>
              <a:rPr lang="zh-CN" altLang="en-US" sz="3600">
                <a:solidFill>
                  <a:schemeClr val="hlink"/>
                </a:solidFill>
                <a:ea typeface="新宋体" panose="02010609030101010101" pitchFamily="49" charset="-122"/>
              </a:rPr>
              <a:t>学习网桥</a:t>
            </a:r>
            <a:r>
              <a:rPr lang="en-US" altLang="zh-CN" sz="3600">
                <a:solidFill>
                  <a:schemeClr val="hlink"/>
                </a:solidFill>
                <a:ea typeface="新宋体" panose="02010609030101010101" pitchFamily="49" charset="-122"/>
              </a:rPr>
              <a:t>)</a:t>
            </a:r>
          </a:p>
        </p:txBody>
      </p:sp>
      <p:sp>
        <p:nvSpPr>
          <p:cNvPr id="25603" name="Text Box 4">
            <a:extLst>
              <a:ext uri="{FF2B5EF4-FFF2-40B4-BE49-F238E27FC236}">
                <a16:creationId xmlns:a16="http://schemas.microsoft.com/office/drawing/2014/main" id="{395E4204-338C-4BF4-B1A5-426427A5CCA7}"/>
              </a:ext>
            </a:extLst>
          </p:cNvPr>
          <p:cNvSpPr txBox="1">
            <a:spLocks noChangeArrowheads="1"/>
          </p:cNvSpPr>
          <p:nvPr/>
        </p:nvSpPr>
        <p:spPr bwMode="auto">
          <a:xfrm>
            <a:off x="2090739" y="1316039"/>
            <a:ext cx="818038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zh-CN" altLang="en-US" sz="2800">
                <a:solidFill>
                  <a:srgbClr val="000000"/>
                </a:solidFill>
              </a:rPr>
              <a:t>透明网桥采用的算法是逆向学习法</a:t>
            </a:r>
            <a:r>
              <a:rPr lang="en-US" altLang="zh-CN" sz="2800">
                <a:solidFill>
                  <a:srgbClr val="000000"/>
                </a:solidFill>
                <a:cs typeface="Times New Roman" panose="02020603050405020304" pitchFamily="18" charset="0"/>
              </a:rPr>
              <a:t>(backward learning)</a:t>
            </a:r>
            <a:r>
              <a:rPr lang="zh-CN" altLang="en-US" sz="2800">
                <a:solidFill>
                  <a:srgbClr val="000000"/>
                </a:solidFill>
              </a:rPr>
              <a:t>。网桥按混杂的方式工作，故它能看见所连接的任一</a:t>
            </a:r>
            <a:r>
              <a:rPr lang="en-US" altLang="zh-CN" sz="2800">
                <a:solidFill>
                  <a:srgbClr val="000000"/>
                </a:solidFill>
                <a:cs typeface="Times New Roman" panose="02020603050405020304" pitchFamily="18" charset="0"/>
              </a:rPr>
              <a:t>LAN</a:t>
            </a:r>
            <a:r>
              <a:rPr lang="zh-CN" altLang="en-US" sz="2800">
                <a:solidFill>
                  <a:srgbClr val="000000"/>
                </a:solidFill>
              </a:rPr>
              <a:t>上传送的帧。查看源地址即可知道在哪个</a:t>
            </a:r>
            <a:r>
              <a:rPr lang="en-US" altLang="zh-CN" sz="2800">
                <a:solidFill>
                  <a:srgbClr val="000000"/>
                </a:solidFill>
                <a:cs typeface="Times New Roman" panose="02020603050405020304" pitchFamily="18" charset="0"/>
              </a:rPr>
              <a:t>LAN</a:t>
            </a:r>
            <a:r>
              <a:rPr lang="zh-CN" altLang="en-US" sz="2800">
                <a:solidFill>
                  <a:srgbClr val="000000"/>
                </a:solidFill>
              </a:rPr>
              <a:t>上可访问哪台机器，于是在转发表中添上一项。</a:t>
            </a:r>
            <a:r>
              <a:rPr lang="zh-CN" altLang="en-US" sz="2800">
                <a:solidFill>
                  <a:srgbClr val="000000"/>
                </a:solidFill>
                <a:latin typeface="Arial" panose="020B0604020202020204" pitchFamily="34" charset="0"/>
              </a:rPr>
              <a:t> </a:t>
            </a:r>
          </a:p>
        </p:txBody>
      </p:sp>
      <p:pic>
        <p:nvPicPr>
          <p:cNvPr id="1794053" name="Picture 5">
            <a:extLst>
              <a:ext uri="{FF2B5EF4-FFF2-40B4-BE49-F238E27FC236}">
                <a16:creationId xmlns:a16="http://schemas.microsoft.com/office/drawing/2014/main" id="{944CE6AF-E034-45B9-A1E1-5B86B9D44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089" y="3579814"/>
            <a:ext cx="8056562" cy="2200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94053"/>
                                        </p:tgtEl>
                                        <p:attrNameLst>
                                          <p:attrName>style.visibility</p:attrName>
                                        </p:attrNameLst>
                                      </p:cBhvr>
                                      <p:to>
                                        <p:strVal val="visible"/>
                                      </p:to>
                                    </p:set>
                                    <p:anim calcmode="lin" valueType="num">
                                      <p:cBhvr additive="base">
                                        <p:cTn id="7" dur="500" fill="hold"/>
                                        <p:tgtEl>
                                          <p:spTgt spid="1794053"/>
                                        </p:tgtEl>
                                        <p:attrNameLst>
                                          <p:attrName>ppt_x</p:attrName>
                                        </p:attrNameLst>
                                      </p:cBhvr>
                                      <p:tavLst>
                                        <p:tav tm="0">
                                          <p:val>
                                            <p:strVal val="1+#ppt_w/2"/>
                                          </p:val>
                                        </p:tav>
                                        <p:tav tm="100000">
                                          <p:val>
                                            <p:strVal val="#ppt_x"/>
                                          </p:val>
                                        </p:tav>
                                      </p:tavLst>
                                    </p:anim>
                                    <p:anim calcmode="lin" valueType="num">
                                      <p:cBhvr additive="base">
                                        <p:cTn id="8" dur="500" fill="hold"/>
                                        <p:tgtEl>
                                          <p:spTgt spid="179405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9405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9F45746-B699-4E24-860B-8BC0FC6FDA0E}"/>
              </a:ext>
            </a:extLst>
          </p:cNvPr>
          <p:cNvSpPr>
            <a:spLocks noGrp="1" noChangeArrowheads="1"/>
          </p:cNvSpPr>
          <p:nvPr>
            <p:ph type="title"/>
          </p:nvPr>
        </p:nvSpPr>
        <p:spPr bwMode="auto">
          <a:xfrm>
            <a:off x="220980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透明网桥总结</a:t>
            </a:r>
          </a:p>
        </p:txBody>
      </p:sp>
      <p:sp>
        <p:nvSpPr>
          <p:cNvPr id="1758211" name="Text Box 3">
            <a:extLst>
              <a:ext uri="{FF2B5EF4-FFF2-40B4-BE49-F238E27FC236}">
                <a16:creationId xmlns:a16="http://schemas.microsoft.com/office/drawing/2014/main" id="{BF6D7BAE-B6B0-4A1D-8E26-D8BFF1FC1AFB}"/>
              </a:ext>
            </a:extLst>
          </p:cNvPr>
          <p:cNvSpPr txBox="1">
            <a:spLocks noChangeArrowheads="1"/>
          </p:cNvSpPr>
          <p:nvPr/>
        </p:nvSpPr>
        <p:spPr bwMode="auto">
          <a:xfrm>
            <a:off x="2311400" y="3370262"/>
            <a:ext cx="7426325" cy="176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pPr>
            <a:r>
              <a:rPr kumimoji="1" lang="zh-CN" altLang="en-US" sz="3200">
                <a:solidFill>
                  <a:schemeClr val="hlink"/>
                </a:solidFill>
                <a:latin typeface="宋体" panose="02010600030101010101" pitchFamily="2" charset="-122"/>
              </a:rPr>
              <a:t>透明网桥的优缺点： </a:t>
            </a:r>
          </a:p>
          <a:p>
            <a:pPr algn="l" eaLnBrk="1" hangingPunct="1">
              <a:spcBef>
                <a:spcPct val="20000"/>
              </a:spcBef>
            </a:pPr>
            <a:r>
              <a:rPr kumimoji="1" lang="zh-CN" altLang="en-US" sz="3200">
                <a:solidFill>
                  <a:schemeClr val="hlink"/>
                </a:solidFill>
                <a:latin typeface="宋体" panose="02010600030101010101" pitchFamily="2" charset="-122"/>
              </a:rPr>
              <a:t>优点：</a:t>
            </a:r>
            <a:r>
              <a:rPr kumimoji="1" lang="zh-CN" altLang="en-US" sz="3200">
                <a:solidFill>
                  <a:schemeClr val="tx1"/>
                </a:solidFill>
                <a:latin typeface="宋体" panose="02010600030101010101" pitchFamily="2" charset="-122"/>
              </a:rPr>
              <a:t>容易配置、安装，无需管理</a:t>
            </a:r>
            <a:r>
              <a:rPr kumimoji="1" lang="zh-CN" altLang="en-US" sz="3200">
                <a:solidFill>
                  <a:schemeClr val="hlink"/>
                </a:solidFill>
                <a:latin typeface="宋体" panose="02010600030101010101" pitchFamily="2" charset="-122"/>
              </a:rPr>
              <a:t> </a:t>
            </a:r>
          </a:p>
          <a:p>
            <a:pPr algn="l" eaLnBrk="1" hangingPunct="1">
              <a:spcBef>
                <a:spcPct val="20000"/>
              </a:spcBef>
            </a:pPr>
            <a:r>
              <a:rPr kumimoji="1" lang="zh-CN" altLang="en-US" sz="3200">
                <a:solidFill>
                  <a:schemeClr val="hlink"/>
                </a:solidFill>
                <a:latin typeface="宋体" panose="02010600030101010101" pitchFamily="2" charset="-122"/>
              </a:rPr>
              <a:t>缺点：</a:t>
            </a:r>
            <a:r>
              <a:rPr kumimoji="1" lang="zh-CN" altLang="en-US" sz="3200">
                <a:solidFill>
                  <a:schemeClr val="tx1"/>
                </a:solidFill>
                <a:latin typeface="宋体" panose="02010600030101010101" pitchFamily="2" charset="-122"/>
              </a:rPr>
              <a:t>不能保证最佳路由</a:t>
            </a:r>
          </a:p>
        </p:txBody>
      </p:sp>
      <p:sp>
        <p:nvSpPr>
          <p:cNvPr id="26628" name="Text Box 4">
            <a:extLst>
              <a:ext uri="{FF2B5EF4-FFF2-40B4-BE49-F238E27FC236}">
                <a16:creationId xmlns:a16="http://schemas.microsoft.com/office/drawing/2014/main" id="{AFC51A42-4C28-4E44-BC40-C18C1F9E0D41}"/>
              </a:ext>
            </a:extLst>
          </p:cNvPr>
          <p:cNvSpPr txBox="1">
            <a:spLocks noChangeArrowheads="1"/>
          </p:cNvSpPr>
          <p:nvPr/>
        </p:nvSpPr>
        <p:spPr bwMode="auto">
          <a:xfrm>
            <a:off x="2039940" y="1655764"/>
            <a:ext cx="780573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10000"/>
              </a:spcBef>
            </a:pPr>
            <a:r>
              <a:rPr kumimoji="1" lang="zh-CN" altLang="en-US" sz="2800">
                <a:solidFill>
                  <a:srgbClr val="0000FF"/>
                </a:solidFill>
                <a:latin typeface="宋体" panose="02010600030101010101" pitchFamily="2" charset="-122"/>
              </a:rPr>
              <a:t>透明</a:t>
            </a:r>
            <a:r>
              <a:rPr kumimoji="1" lang="zh-CN" altLang="en-US" sz="3200">
                <a:solidFill>
                  <a:srgbClr val="0000FF"/>
                </a:solidFill>
                <a:latin typeface="宋体" panose="02010600030101010101" pitchFamily="2" charset="-122"/>
              </a:rPr>
              <a:t>网桥工作原理归纳为：</a:t>
            </a:r>
            <a:r>
              <a:rPr kumimoji="1" lang="zh-CN" altLang="en-US" sz="3200">
                <a:solidFill>
                  <a:schemeClr val="tx1"/>
                </a:solidFill>
                <a:latin typeface="宋体" panose="02010600030101010101" pitchFamily="2" charset="-122"/>
              </a:rPr>
              <a:t>学习源地址，丢弃本网端帧，转发异网端帧，广播未知帧。</a:t>
            </a:r>
            <a:r>
              <a:rPr kumimoji="1" lang="zh-CN" altLang="en-US" sz="3200" u="sng">
                <a:solidFill>
                  <a:schemeClr val="tx1"/>
                </a:solidFill>
                <a:latin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8211">
                                            <p:txEl>
                                              <p:pRg st="0" end="0"/>
                                            </p:txEl>
                                          </p:spTgt>
                                        </p:tgtEl>
                                        <p:attrNameLst>
                                          <p:attrName>style.visibility</p:attrName>
                                        </p:attrNameLst>
                                      </p:cBhvr>
                                      <p:to>
                                        <p:strVal val="visible"/>
                                      </p:to>
                                    </p:set>
                                    <p:anim calcmode="lin" valueType="num">
                                      <p:cBhvr additive="base">
                                        <p:cTn id="7" dur="500" fill="hold"/>
                                        <p:tgtEl>
                                          <p:spTgt spid="17582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8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8211">
                                            <p:txEl>
                                              <p:pRg st="1" end="1"/>
                                            </p:txEl>
                                          </p:spTgt>
                                        </p:tgtEl>
                                        <p:attrNameLst>
                                          <p:attrName>style.visibility</p:attrName>
                                        </p:attrNameLst>
                                      </p:cBhvr>
                                      <p:to>
                                        <p:strVal val="visible"/>
                                      </p:to>
                                    </p:set>
                                    <p:anim calcmode="lin" valueType="num">
                                      <p:cBhvr additive="base">
                                        <p:cTn id="13" dur="500" fill="hold"/>
                                        <p:tgtEl>
                                          <p:spTgt spid="175821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82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8211">
                                            <p:txEl>
                                              <p:pRg st="2" end="2"/>
                                            </p:txEl>
                                          </p:spTgt>
                                        </p:tgtEl>
                                        <p:attrNameLst>
                                          <p:attrName>style.visibility</p:attrName>
                                        </p:attrNameLst>
                                      </p:cBhvr>
                                      <p:to>
                                        <p:strVal val="visible"/>
                                      </p:to>
                                    </p:set>
                                    <p:anim calcmode="lin" valueType="num">
                                      <p:cBhvr additive="base">
                                        <p:cTn id="19" dur="500" fill="hold"/>
                                        <p:tgtEl>
                                          <p:spTgt spid="175821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821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8211" grpId="0" build="p"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D1551AA-9348-4BC2-BB62-8D0F7408C506}"/>
              </a:ext>
            </a:extLst>
          </p:cNvPr>
          <p:cNvSpPr>
            <a:spLocks noGrp="1" noChangeArrowheads="1"/>
          </p:cNvSpPr>
          <p:nvPr>
            <p:ph type="title"/>
          </p:nvPr>
        </p:nvSpPr>
        <p:spPr bwMode="auto">
          <a:xfrm>
            <a:off x="2266950" y="212725"/>
            <a:ext cx="7772400" cy="7556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源路由网桥</a:t>
            </a:r>
          </a:p>
        </p:txBody>
      </p:sp>
      <p:sp>
        <p:nvSpPr>
          <p:cNvPr id="1759235" name="Text Box 3">
            <a:extLst>
              <a:ext uri="{FF2B5EF4-FFF2-40B4-BE49-F238E27FC236}">
                <a16:creationId xmlns:a16="http://schemas.microsoft.com/office/drawing/2014/main" id="{71AD4FFF-5BFD-4C85-8188-A7F572DDECB8}"/>
              </a:ext>
            </a:extLst>
          </p:cNvPr>
          <p:cNvSpPr txBox="1">
            <a:spLocks noChangeArrowheads="1"/>
          </p:cNvSpPr>
          <p:nvPr/>
        </p:nvSpPr>
        <p:spPr bwMode="auto">
          <a:xfrm>
            <a:off x="1965326" y="1149351"/>
            <a:ext cx="8251825" cy="517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pPr>
            <a:r>
              <a:rPr kumimoji="1" lang="zh-CN" altLang="en-US" sz="2800">
                <a:solidFill>
                  <a:schemeClr val="hlink"/>
                </a:solidFill>
                <a:latin typeface="宋体" panose="02010600030101010101" pitchFamily="2" charset="-122"/>
              </a:rPr>
              <a:t>特点：</a:t>
            </a:r>
            <a:r>
              <a:rPr kumimoji="1" lang="zh-CN" altLang="en-US" sz="2800">
                <a:solidFill>
                  <a:schemeClr val="tx1"/>
                </a:solidFill>
                <a:latin typeface="隶书" panose="02010509060101010101" pitchFamily="49" charset="-122"/>
                <a:ea typeface="隶书" panose="02010509060101010101" pitchFamily="49" charset="-122"/>
              </a:rPr>
              <a:t>由源站负责路由选择，路由信息放在发送的帧的首部（即把要经过的路径放在帧中，帧按该路径传送） </a:t>
            </a:r>
          </a:p>
          <a:p>
            <a:pPr algn="l" eaLnBrk="1" hangingPunct="1">
              <a:spcBef>
                <a:spcPct val="20000"/>
              </a:spcBef>
            </a:pPr>
            <a:r>
              <a:rPr kumimoji="1" lang="zh-CN" altLang="en-US" sz="2800">
                <a:solidFill>
                  <a:schemeClr val="hlink"/>
                </a:solidFill>
                <a:latin typeface="宋体" panose="02010600030101010101" pitchFamily="2" charset="-122"/>
              </a:rPr>
              <a:t>选路方法：</a:t>
            </a:r>
            <a:r>
              <a:rPr kumimoji="1" lang="zh-CN" altLang="en-US" sz="2800">
                <a:solidFill>
                  <a:schemeClr val="tx1"/>
                </a:solidFill>
                <a:latin typeface="隶书" panose="02010509060101010101" pitchFamily="49" charset="-122"/>
                <a:ea typeface="隶书" panose="02010509060101010101" pitchFamily="49" charset="-122"/>
              </a:rPr>
              <a:t>源站向目的站发送探测帧，该帧在扩展的</a:t>
            </a:r>
            <a:r>
              <a:rPr kumimoji="1" lang="en-US" altLang="zh-CN" sz="2800">
                <a:solidFill>
                  <a:schemeClr val="tx1"/>
                </a:solidFill>
                <a:latin typeface="隶书" panose="02010509060101010101" pitchFamily="49" charset="-122"/>
                <a:ea typeface="隶书" panose="02010509060101010101" pitchFamily="49" charset="-122"/>
              </a:rPr>
              <a:t>LAN</a:t>
            </a:r>
            <a:r>
              <a:rPr kumimoji="1" lang="zh-CN" altLang="en-US" sz="2800">
                <a:solidFill>
                  <a:schemeClr val="tx1"/>
                </a:solidFill>
                <a:latin typeface="隶书" panose="02010509060101010101" pitchFamily="49" charset="-122"/>
                <a:ea typeface="隶书" panose="02010509060101010101" pitchFamily="49" charset="-122"/>
              </a:rPr>
              <a:t>中沿所有可能路由传送；每个探测帧都记录下它所经过的路由；这些探测帧在到达目的站后，再沿各自的路由返回源站；由源站选择其中的最佳路由，作为发送帧中的路由信息。 </a:t>
            </a:r>
          </a:p>
          <a:p>
            <a:pPr algn="l" eaLnBrk="1" hangingPunct="1">
              <a:spcBef>
                <a:spcPct val="20000"/>
              </a:spcBef>
            </a:pPr>
            <a:r>
              <a:rPr kumimoji="1" lang="zh-CN" altLang="en-US" sz="2800">
                <a:solidFill>
                  <a:schemeClr val="hlink"/>
                </a:solidFill>
                <a:latin typeface="宋体" panose="02010600030101010101" pitchFamily="2" charset="-122"/>
              </a:rPr>
              <a:t>源路由网桥的优缺点：</a:t>
            </a:r>
            <a:r>
              <a:rPr kumimoji="1" lang="zh-CN" altLang="en-US" sz="2800">
                <a:solidFill>
                  <a:schemeClr val="tx1"/>
                </a:solidFill>
                <a:latin typeface="宋体" panose="02010600030101010101" pitchFamily="2" charset="-122"/>
              </a:rPr>
              <a:t> </a:t>
            </a:r>
          </a:p>
          <a:p>
            <a:pPr algn="l" eaLnBrk="1" hangingPunct="1">
              <a:spcBef>
                <a:spcPct val="20000"/>
              </a:spcBef>
            </a:pPr>
            <a:r>
              <a:rPr kumimoji="1" lang="zh-CN" altLang="en-US" sz="2800">
                <a:solidFill>
                  <a:schemeClr val="hlink"/>
                </a:solidFill>
                <a:latin typeface="宋体" panose="02010600030101010101" pitchFamily="2" charset="-122"/>
              </a:rPr>
              <a:t>优点</a:t>
            </a:r>
            <a:r>
              <a:rPr kumimoji="1" lang="zh-CN" altLang="en-US" sz="2800">
                <a:solidFill>
                  <a:schemeClr val="tx1"/>
                </a:solidFill>
                <a:latin typeface="宋体" panose="02010600030101010101" pitchFamily="2" charset="-122"/>
              </a:rPr>
              <a:t>：</a:t>
            </a:r>
            <a:r>
              <a:rPr kumimoji="1" lang="zh-CN" altLang="en-US" sz="2800">
                <a:solidFill>
                  <a:schemeClr val="tx1"/>
                </a:solidFill>
                <a:latin typeface="隶书" panose="02010509060101010101" pitchFamily="49" charset="-122"/>
                <a:ea typeface="隶书" panose="02010509060101010101" pitchFamily="49" charset="-122"/>
              </a:rPr>
              <a:t>网桥功能可以很简单；可以用最佳路由传送。</a:t>
            </a:r>
            <a:r>
              <a:rPr kumimoji="1" lang="zh-CN" altLang="en-US" sz="2800">
                <a:solidFill>
                  <a:schemeClr val="tx1"/>
                </a:solidFill>
                <a:latin typeface="宋体" panose="02010600030101010101" pitchFamily="2" charset="-122"/>
              </a:rPr>
              <a:t> </a:t>
            </a:r>
          </a:p>
          <a:p>
            <a:pPr algn="l" eaLnBrk="1" hangingPunct="1">
              <a:spcBef>
                <a:spcPct val="20000"/>
              </a:spcBef>
            </a:pPr>
            <a:r>
              <a:rPr kumimoji="1" lang="zh-CN" altLang="en-US" sz="2800">
                <a:solidFill>
                  <a:schemeClr val="hlink"/>
                </a:solidFill>
                <a:latin typeface="宋体" panose="02010600030101010101" pitchFamily="2" charset="-122"/>
              </a:rPr>
              <a:t>缺点</a:t>
            </a:r>
            <a:r>
              <a:rPr kumimoji="1" lang="zh-CN" altLang="en-US" sz="2800">
                <a:solidFill>
                  <a:schemeClr val="tx1"/>
                </a:solidFill>
                <a:latin typeface="宋体" panose="02010600030101010101" pitchFamily="2" charset="-122"/>
              </a:rPr>
              <a:t>：</a:t>
            </a:r>
            <a:r>
              <a:rPr kumimoji="1" lang="zh-CN" altLang="en-US" sz="2800">
                <a:solidFill>
                  <a:schemeClr val="tx1"/>
                </a:solidFill>
                <a:latin typeface="隶书" panose="02010509060101010101" pitchFamily="49" charset="-122"/>
                <a:ea typeface="隶书" panose="02010509060101010101" pitchFamily="49" charset="-122"/>
              </a:rPr>
              <a:t>源站计算路由费时；主机负担重。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9235">
                                            <p:txEl>
                                              <p:pRg st="0" end="0"/>
                                            </p:txEl>
                                          </p:spTgt>
                                        </p:tgtEl>
                                        <p:attrNameLst>
                                          <p:attrName>style.visibility</p:attrName>
                                        </p:attrNameLst>
                                      </p:cBhvr>
                                      <p:to>
                                        <p:strVal val="visible"/>
                                      </p:to>
                                    </p:set>
                                    <p:anim calcmode="lin" valueType="num">
                                      <p:cBhvr additive="base">
                                        <p:cTn id="7" dur="500" fill="hold"/>
                                        <p:tgtEl>
                                          <p:spTgt spid="175923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9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9235">
                                            <p:txEl>
                                              <p:pRg st="1" end="1"/>
                                            </p:txEl>
                                          </p:spTgt>
                                        </p:tgtEl>
                                        <p:attrNameLst>
                                          <p:attrName>style.visibility</p:attrName>
                                        </p:attrNameLst>
                                      </p:cBhvr>
                                      <p:to>
                                        <p:strVal val="visible"/>
                                      </p:to>
                                    </p:set>
                                    <p:anim calcmode="lin" valueType="num">
                                      <p:cBhvr additive="base">
                                        <p:cTn id="13" dur="500" fill="hold"/>
                                        <p:tgtEl>
                                          <p:spTgt spid="175923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9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9235">
                                            <p:txEl>
                                              <p:pRg st="2" end="2"/>
                                            </p:txEl>
                                          </p:spTgt>
                                        </p:tgtEl>
                                        <p:attrNameLst>
                                          <p:attrName>style.visibility</p:attrName>
                                        </p:attrNameLst>
                                      </p:cBhvr>
                                      <p:to>
                                        <p:strVal val="visible"/>
                                      </p:to>
                                    </p:set>
                                    <p:anim calcmode="lin" valueType="num">
                                      <p:cBhvr additive="base">
                                        <p:cTn id="19" dur="500" fill="hold"/>
                                        <p:tgtEl>
                                          <p:spTgt spid="175923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9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59235">
                                            <p:txEl>
                                              <p:pRg st="3" end="3"/>
                                            </p:txEl>
                                          </p:spTgt>
                                        </p:tgtEl>
                                        <p:attrNameLst>
                                          <p:attrName>style.visibility</p:attrName>
                                        </p:attrNameLst>
                                      </p:cBhvr>
                                      <p:to>
                                        <p:strVal val="visible"/>
                                      </p:to>
                                    </p:set>
                                    <p:anim calcmode="lin" valueType="num">
                                      <p:cBhvr additive="base">
                                        <p:cTn id="25" dur="500" fill="hold"/>
                                        <p:tgtEl>
                                          <p:spTgt spid="175923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592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59235">
                                            <p:txEl>
                                              <p:pRg st="4" end="4"/>
                                            </p:txEl>
                                          </p:spTgt>
                                        </p:tgtEl>
                                        <p:attrNameLst>
                                          <p:attrName>style.visibility</p:attrName>
                                        </p:attrNameLst>
                                      </p:cBhvr>
                                      <p:to>
                                        <p:strVal val="visible"/>
                                      </p:to>
                                    </p:set>
                                    <p:anim calcmode="lin" valueType="num">
                                      <p:cBhvr additive="base">
                                        <p:cTn id="31" dur="500" fill="hold"/>
                                        <p:tgtEl>
                                          <p:spTgt spid="175923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592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9235" grpId="0" build="p"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6028280-581A-4A48-8949-1C2A106FD138}"/>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两种网桥的比较</a:t>
            </a:r>
          </a:p>
        </p:txBody>
      </p:sp>
      <p:sp>
        <p:nvSpPr>
          <p:cNvPr id="28675" name="Text Box 3">
            <a:extLst>
              <a:ext uri="{FF2B5EF4-FFF2-40B4-BE49-F238E27FC236}">
                <a16:creationId xmlns:a16="http://schemas.microsoft.com/office/drawing/2014/main" id="{10F18686-3AA1-46E5-A859-11C9DAD32C7E}"/>
              </a:ext>
            </a:extLst>
          </p:cNvPr>
          <p:cNvSpPr txBox="1">
            <a:spLocks noChangeArrowheads="1"/>
          </p:cNvSpPr>
          <p:nvPr/>
        </p:nvSpPr>
        <p:spPr bwMode="auto">
          <a:xfrm>
            <a:off x="2082800" y="1674814"/>
            <a:ext cx="8229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FD0128"/>
              </a:solidFill>
              <a:latin typeface="宋体" panose="0201060003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FD0128"/>
              </a:solidFill>
              <a:latin typeface="宋体" panose="02010600030101010101" pitchFamily="2" charset="-122"/>
            </a:endParaRPr>
          </a:p>
          <a:p>
            <a:pPr algn="l" eaLnBrk="1" hangingPunct="1">
              <a:spcBef>
                <a:spcPct val="50000"/>
              </a:spcBef>
            </a:pPr>
            <a:endParaRPr kumimoji="1" lang="en-US" altLang="zh-CN" sz="2800">
              <a:solidFill>
                <a:schemeClr val="tx1"/>
              </a:solidFill>
            </a:endParaRPr>
          </a:p>
        </p:txBody>
      </p:sp>
      <p:graphicFrame>
        <p:nvGraphicFramePr>
          <p:cNvPr id="1762308" name="Group 4">
            <a:extLst>
              <a:ext uri="{FF2B5EF4-FFF2-40B4-BE49-F238E27FC236}">
                <a16:creationId xmlns:a16="http://schemas.microsoft.com/office/drawing/2014/main" id="{D713DC5D-EE71-4A03-8241-3C1F19727C2F}"/>
              </a:ext>
            </a:extLst>
          </p:cNvPr>
          <p:cNvGraphicFramePr>
            <a:graphicFrameLocks noGrp="1"/>
          </p:cNvGraphicFramePr>
          <p:nvPr/>
        </p:nvGraphicFramePr>
        <p:xfrm>
          <a:off x="2033589" y="1584326"/>
          <a:ext cx="8221662" cy="4930775"/>
        </p:xfrm>
        <a:graphic>
          <a:graphicData uri="http://schemas.openxmlformats.org/drawingml/2006/table">
            <a:tbl>
              <a:tblPr/>
              <a:tblGrid>
                <a:gridCol w="3468688">
                  <a:extLst>
                    <a:ext uri="{9D8B030D-6E8A-4147-A177-3AD203B41FA5}">
                      <a16:colId xmlns:a16="http://schemas.microsoft.com/office/drawing/2014/main" val="784634262"/>
                    </a:ext>
                  </a:extLst>
                </a:gridCol>
                <a:gridCol w="2011363">
                  <a:extLst>
                    <a:ext uri="{9D8B030D-6E8A-4147-A177-3AD203B41FA5}">
                      <a16:colId xmlns:a16="http://schemas.microsoft.com/office/drawing/2014/main" val="2205823964"/>
                    </a:ext>
                  </a:extLst>
                </a:gridCol>
                <a:gridCol w="2741612">
                  <a:extLst>
                    <a:ext uri="{9D8B030D-6E8A-4147-A177-3AD203B41FA5}">
                      <a16:colId xmlns:a16="http://schemas.microsoft.com/office/drawing/2014/main" val="888391250"/>
                    </a:ext>
                  </a:extLst>
                </a:gridCol>
              </a:tblGrid>
              <a:tr h="66834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透明网桥</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源选径网桥</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669885124"/>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服务类型</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无连接</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面向连接</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25384297"/>
                  </a:ext>
                </a:extLst>
              </a:tr>
              <a:tr h="64135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对源站的透明性</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完全透明</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不透明</a:t>
                      </a:r>
                      <a:endParaRPr kumimoji="1" lang="zh-CN" altLang="en-US"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27332403"/>
                  </a:ext>
                </a:extLst>
              </a:tr>
              <a:tr h="103023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配置、管理</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自动配置，容易管理</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人工方法</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980143993"/>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选择的路由</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次佳</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最佳</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53611898"/>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目的地确定方法</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逆向学习</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探测帧</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30778940"/>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故障处理及拓扑变化</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网桥负责</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主机负责</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959202139"/>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复杂性和开销</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网桥负担</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主机负担</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86471866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3ADF46E-E112-40D7-B6C5-16BC903422A1}"/>
              </a:ext>
            </a:extLst>
          </p:cNvPr>
          <p:cNvSpPr>
            <a:spLocks noGrp="1" noChangeArrowheads="1"/>
          </p:cNvSpPr>
          <p:nvPr>
            <p:ph type="title"/>
          </p:nvPr>
        </p:nvSpPr>
        <p:spPr bwMode="auto">
          <a:xfrm>
            <a:off x="2171700" y="180975"/>
            <a:ext cx="7772400" cy="6921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a:t>
            </a:r>
          </a:p>
        </p:txBody>
      </p:sp>
      <p:sp>
        <p:nvSpPr>
          <p:cNvPr id="29699" name="Text Box 3">
            <a:extLst>
              <a:ext uri="{FF2B5EF4-FFF2-40B4-BE49-F238E27FC236}">
                <a16:creationId xmlns:a16="http://schemas.microsoft.com/office/drawing/2014/main" id="{33F25BE8-810F-4500-B31E-78FC6B1952F1}"/>
              </a:ext>
            </a:extLst>
          </p:cNvPr>
          <p:cNvSpPr txBox="1">
            <a:spLocks noChangeArrowheads="1"/>
          </p:cNvSpPr>
          <p:nvPr/>
        </p:nvSpPr>
        <p:spPr bwMode="auto">
          <a:xfrm>
            <a:off x="3965576" y="1260476"/>
            <a:ext cx="4386263"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路由器工作在网络层。</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连接多个不同的子网。</a:t>
            </a:r>
            <a:endParaRPr lang="zh-CN" altLang="en-US" sz="2800">
              <a:solidFill>
                <a:schemeClr val="tx1"/>
              </a:solidFill>
            </a:endParaRPr>
          </a:p>
        </p:txBody>
      </p:sp>
      <p:pic>
        <p:nvPicPr>
          <p:cNvPr id="1904644" name="Picture 4">
            <a:extLst>
              <a:ext uri="{FF2B5EF4-FFF2-40B4-BE49-F238E27FC236}">
                <a16:creationId xmlns:a16="http://schemas.microsoft.com/office/drawing/2014/main" id="{11DA5C2E-0F04-40E0-903C-8EA137839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4914" y="2282826"/>
            <a:ext cx="6919912"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04645" name="Picture 5">
            <a:extLst>
              <a:ext uri="{FF2B5EF4-FFF2-40B4-BE49-F238E27FC236}">
                <a16:creationId xmlns:a16="http://schemas.microsoft.com/office/drawing/2014/main" id="{F67A6791-FC18-4973-BC80-E19143664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8389" y="3932239"/>
            <a:ext cx="7013575"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Requires="p14">
          <p:contentPart p14:bwMode="auto" r:id="rId4">
            <p14:nvContentPartPr>
              <p14:cNvPr id="1904646" name="Ink 6">
                <a:extLst>
                  <a:ext uri="{FF2B5EF4-FFF2-40B4-BE49-F238E27FC236}">
                    <a16:creationId xmlns:a16="http://schemas.microsoft.com/office/drawing/2014/main" id="{EBD4CC55-2036-4DFC-ABD7-80C8A0BA00B5}"/>
                  </a:ext>
                </a:extLst>
              </p14:cNvPr>
              <p14:cNvContentPartPr>
                <a14:cpLocks xmlns:a14="http://schemas.microsoft.com/office/drawing/2010/main" noRot="1" noChangeAspect="1" noEditPoints="1" noChangeArrowheads="1" noChangeShapeType="1"/>
              </p14:cNvContentPartPr>
              <p14:nvPr/>
            </p14:nvContentPartPr>
            <p14:xfrm>
              <a:off x="2738439" y="3776664"/>
              <a:ext cx="53975" cy="188912"/>
            </p14:xfrm>
          </p:contentPart>
        </mc:Choice>
        <mc:Fallback>
          <p:pic>
            <p:nvPicPr>
              <p:cNvPr id="1904646" name="Ink 6">
                <a:extLst>
                  <a:ext uri="{FF2B5EF4-FFF2-40B4-BE49-F238E27FC236}">
                    <a16:creationId xmlns:a16="http://schemas.microsoft.com/office/drawing/2014/main" id="{EBD4CC55-2036-4DFC-ABD7-80C8A0BA00B5}"/>
                  </a:ext>
                </a:extLst>
              </p:cNvPr>
              <p:cNvPicPr>
                <a:picLocks noRot="1" noChangeAspect="1" noEditPoints="1" noChangeArrowheads="1" noChangeShapeType="1"/>
              </p:cNvPicPr>
              <p:nvPr/>
            </p:nvPicPr>
            <p:blipFill>
              <a:blip r:embed="rId5"/>
              <a:stretch>
                <a:fillRect/>
              </a:stretch>
            </p:blipFill>
            <p:spPr>
              <a:xfrm>
                <a:off x="2720807" y="3759394"/>
                <a:ext cx="88519" cy="222747"/>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904647" name="Ink 7">
                <a:extLst>
                  <a:ext uri="{FF2B5EF4-FFF2-40B4-BE49-F238E27FC236}">
                    <a16:creationId xmlns:a16="http://schemas.microsoft.com/office/drawing/2014/main" id="{1A7B6D26-C617-483C-8085-A570CD2AF056}"/>
                  </a:ext>
                </a:extLst>
              </p14:cNvPr>
              <p14:cNvContentPartPr>
                <a14:cpLocks xmlns:a14="http://schemas.microsoft.com/office/drawing/2010/main" noRot="1" noChangeAspect="1" noEditPoints="1" noChangeArrowheads="1" noChangeShapeType="1"/>
              </p14:cNvContentPartPr>
              <p14:nvPr/>
            </p14:nvContentPartPr>
            <p14:xfrm>
              <a:off x="2809875" y="3776664"/>
              <a:ext cx="6143626" cy="2625725"/>
            </p14:xfrm>
          </p:contentPart>
        </mc:Choice>
        <mc:Fallback>
          <p:pic>
            <p:nvPicPr>
              <p:cNvPr id="1904647" name="Ink 7">
                <a:extLst>
                  <a:ext uri="{FF2B5EF4-FFF2-40B4-BE49-F238E27FC236}">
                    <a16:creationId xmlns:a16="http://schemas.microsoft.com/office/drawing/2014/main" id="{1A7B6D26-C617-483C-8085-A570CD2AF056}"/>
                  </a:ext>
                </a:extLst>
              </p:cNvPr>
              <p:cNvPicPr>
                <a:picLocks noRot="1" noChangeAspect="1" noEditPoints="1" noChangeArrowheads="1" noChangeShapeType="1"/>
              </p:cNvPicPr>
              <p:nvPr/>
            </p:nvPicPr>
            <p:blipFill>
              <a:blip r:embed="rId7"/>
              <a:stretch>
                <a:fillRect/>
              </a:stretch>
            </p:blipFill>
            <p:spPr>
              <a:xfrm>
                <a:off x="2792236" y="3759005"/>
                <a:ext cx="6178183" cy="2660321"/>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904648" name="Ink 8">
                <a:extLst>
                  <a:ext uri="{FF2B5EF4-FFF2-40B4-BE49-F238E27FC236}">
                    <a16:creationId xmlns:a16="http://schemas.microsoft.com/office/drawing/2014/main" id="{DE5B832A-BE72-40CE-8A87-F468FC7E1B4D}"/>
                  </a:ext>
                </a:extLst>
              </p14:cNvPr>
              <p14:cNvContentPartPr>
                <a14:cpLocks xmlns:a14="http://schemas.microsoft.com/office/drawing/2010/main" noRot="1" noChangeAspect="1" noEditPoints="1" noChangeArrowheads="1" noChangeShapeType="1"/>
              </p14:cNvContentPartPr>
              <p14:nvPr/>
            </p14:nvContentPartPr>
            <p14:xfrm>
              <a:off x="8882063" y="3759201"/>
              <a:ext cx="115888" cy="71438"/>
            </p14:xfrm>
          </p:contentPart>
        </mc:Choice>
        <mc:Fallback>
          <p:pic>
            <p:nvPicPr>
              <p:cNvPr id="1904648" name="Ink 8">
                <a:extLst>
                  <a:ext uri="{FF2B5EF4-FFF2-40B4-BE49-F238E27FC236}">
                    <a16:creationId xmlns:a16="http://schemas.microsoft.com/office/drawing/2014/main" id="{DE5B832A-BE72-40CE-8A87-F468FC7E1B4D}"/>
                  </a:ext>
                </a:extLst>
              </p:cNvPr>
              <p:cNvPicPr>
                <a:picLocks noRot="1" noChangeAspect="1" noEditPoints="1" noChangeArrowheads="1" noChangeShapeType="1"/>
              </p:cNvPicPr>
              <p:nvPr/>
            </p:nvPicPr>
            <p:blipFill>
              <a:blip r:embed="rId9"/>
              <a:stretch>
                <a:fillRect/>
              </a:stretch>
            </p:blipFill>
            <p:spPr>
              <a:xfrm>
                <a:off x="8864698" y="3741341"/>
                <a:ext cx="149910" cy="106428"/>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04644"/>
                                        </p:tgtEl>
                                        <p:attrNameLst>
                                          <p:attrName>style.visibility</p:attrName>
                                        </p:attrNameLst>
                                      </p:cBhvr>
                                      <p:to>
                                        <p:strVal val="visible"/>
                                      </p:to>
                                    </p:set>
                                    <p:anim calcmode="lin" valueType="num">
                                      <p:cBhvr additive="base">
                                        <p:cTn id="7" dur="500" fill="hold"/>
                                        <p:tgtEl>
                                          <p:spTgt spid="1904644"/>
                                        </p:tgtEl>
                                        <p:attrNameLst>
                                          <p:attrName>ppt_x</p:attrName>
                                        </p:attrNameLst>
                                      </p:cBhvr>
                                      <p:tavLst>
                                        <p:tav tm="0">
                                          <p:val>
                                            <p:strVal val="1+#ppt_w/2"/>
                                          </p:val>
                                        </p:tav>
                                        <p:tav tm="100000">
                                          <p:val>
                                            <p:strVal val="#ppt_x"/>
                                          </p:val>
                                        </p:tav>
                                      </p:tavLst>
                                    </p:anim>
                                    <p:anim calcmode="lin" valueType="num">
                                      <p:cBhvr additive="base">
                                        <p:cTn id="8" dur="500" fill="hold"/>
                                        <p:tgtEl>
                                          <p:spTgt spid="19046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04645"/>
                                        </p:tgtEl>
                                        <p:attrNameLst>
                                          <p:attrName>style.visibility</p:attrName>
                                        </p:attrNameLst>
                                      </p:cBhvr>
                                      <p:to>
                                        <p:strVal val="visible"/>
                                      </p:to>
                                    </p:set>
                                    <p:anim calcmode="lin" valueType="num">
                                      <p:cBhvr additive="base">
                                        <p:cTn id="13" dur="500" fill="hold"/>
                                        <p:tgtEl>
                                          <p:spTgt spid="1904645"/>
                                        </p:tgtEl>
                                        <p:attrNameLst>
                                          <p:attrName>ppt_x</p:attrName>
                                        </p:attrNameLst>
                                      </p:cBhvr>
                                      <p:tavLst>
                                        <p:tav tm="0">
                                          <p:val>
                                            <p:strVal val="1+#ppt_w/2"/>
                                          </p:val>
                                        </p:tav>
                                        <p:tav tm="100000">
                                          <p:val>
                                            <p:strVal val="#ppt_x"/>
                                          </p:val>
                                        </p:tav>
                                      </p:tavLst>
                                    </p:anim>
                                    <p:anim calcmode="lin" valueType="num">
                                      <p:cBhvr additive="base">
                                        <p:cTn id="14" dur="500" fill="hold"/>
                                        <p:tgtEl>
                                          <p:spTgt spid="1904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BAE30FA-8FDB-47B5-A125-7575F9097BA0}"/>
              </a:ext>
            </a:extLst>
          </p:cNvPr>
          <p:cNvSpPr>
            <a:spLocks noGrp="1" noChangeArrowheads="1"/>
          </p:cNvSpPr>
          <p:nvPr>
            <p:ph type="title"/>
          </p:nvPr>
        </p:nvSpPr>
        <p:spPr bwMode="auto">
          <a:xfrm>
            <a:off x="2228850" y="4762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路由器的作用</a:t>
            </a:r>
          </a:p>
        </p:txBody>
      </p:sp>
      <p:sp>
        <p:nvSpPr>
          <p:cNvPr id="30723" name="Text Box 3">
            <a:extLst>
              <a:ext uri="{FF2B5EF4-FFF2-40B4-BE49-F238E27FC236}">
                <a16:creationId xmlns:a16="http://schemas.microsoft.com/office/drawing/2014/main" id="{CE1D8BAF-3511-43BB-874D-37C2053702EF}"/>
              </a:ext>
            </a:extLst>
          </p:cNvPr>
          <p:cNvSpPr txBox="1">
            <a:spLocks noChangeArrowheads="1"/>
          </p:cNvSpPr>
          <p:nvPr/>
        </p:nvSpPr>
        <p:spPr bwMode="auto">
          <a:xfrm>
            <a:off x="2514601" y="4362452"/>
            <a:ext cx="73342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endParaRPr lang="zh-CN" altLang="zh-CN"/>
          </a:p>
        </p:txBody>
      </p:sp>
      <p:sp>
        <p:nvSpPr>
          <p:cNvPr id="30724" name="Text Box 4">
            <a:extLst>
              <a:ext uri="{FF2B5EF4-FFF2-40B4-BE49-F238E27FC236}">
                <a16:creationId xmlns:a16="http://schemas.microsoft.com/office/drawing/2014/main" id="{EED0C6B0-DEBB-4A89-A255-DCBE6038549B}"/>
              </a:ext>
            </a:extLst>
          </p:cNvPr>
          <p:cNvSpPr txBox="1">
            <a:spLocks noChangeArrowheads="1"/>
          </p:cNvSpPr>
          <p:nvPr/>
        </p:nvSpPr>
        <p:spPr bwMode="auto">
          <a:xfrm>
            <a:off x="2492375" y="1398589"/>
            <a:ext cx="7296150" cy="2763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30000"/>
              </a:spcBef>
              <a:buClr>
                <a:schemeClr val="folHlink"/>
              </a:buClr>
              <a:buFont typeface="Wingdings" panose="05000000000000000000" pitchFamily="2" charset="2"/>
              <a:buChar char="ü"/>
            </a:pPr>
            <a:r>
              <a:rPr lang="zh-CN" altLang="en-US" sz="2800">
                <a:solidFill>
                  <a:schemeClr val="tx1"/>
                </a:solidFill>
              </a:rPr>
              <a:t>将网络划分成独立的网段，阻隔广播风暴；</a:t>
            </a:r>
          </a:p>
          <a:p>
            <a:pPr algn="l">
              <a:spcBef>
                <a:spcPct val="30000"/>
              </a:spcBef>
              <a:buClr>
                <a:schemeClr val="folHlink"/>
              </a:buClr>
              <a:buFont typeface="Wingdings" panose="05000000000000000000" pitchFamily="2" charset="2"/>
              <a:buChar char="ü"/>
            </a:pPr>
            <a:r>
              <a:rPr lang="zh-CN" altLang="en-US" sz="2800">
                <a:solidFill>
                  <a:schemeClr val="tx1"/>
                </a:solidFill>
              </a:rPr>
              <a:t>路由选择；</a:t>
            </a:r>
          </a:p>
          <a:p>
            <a:pPr algn="l">
              <a:spcBef>
                <a:spcPct val="30000"/>
              </a:spcBef>
              <a:buClr>
                <a:schemeClr val="folHlink"/>
              </a:buClr>
              <a:buFont typeface="Wingdings" panose="05000000000000000000" pitchFamily="2" charset="2"/>
              <a:buChar char="ü"/>
            </a:pPr>
            <a:r>
              <a:rPr lang="zh-CN" altLang="en-US" sz="2800">
                <a:solidFill>
                  <a:schemeClr val="tx1"/>
                </a:solidFill>
              </a:rPr>
              <a:t>数据报的差错控制和网络流量控制；</a:t>
            </a:r>
          </a:p>
          <a:p>
            <a:pPr algn="l">
              <a:spcBef>
                <a:spcPct val="30000"/>
              </a:spcBef>
              <a:buClr>
                <a:schemeClr val="folHlink"/>
              </a:buClr>
              <a:buFont typeface="Wingdings" panose="05000000000000000000" pitchFamily="2" charset="2"/>
              <a:buChar char="ü"/>
            </a:pPr>
            <a:r>
              <a:rPr lang="zh-CN" altLang="en-US" sz="2800">
                <a:solidFill>
                  <a:schemeClr val="tx1"/>
                </a:solidFill>
              </a:rPr>
              <a:t>数据包的过滤和记帐功能；</a:t>
            </a:r>
          </a:p>
          <a:p>
            <a:pPr algn="l">
              <a:spcBef>
                <a:spcPct val="30000"/>
              </a:spcBef>
              <a:buClr>
                <a:schemeClr val="folHlink"/>
              </a:buClr>
              <a:buFont typeface="Wingdings" panose="05000000000000000000" pitchFamily="2" charset="2"/>
              <a:buChar char="ü"/>
            </a:pPr>
            <a:r>
              <a:rPr lang="zh-CN" altLang="en-US" sz="2800">
                <a:solidFill>
                  <a:schemeClr val="tx1"/>
                </a:solidFill>
              </a:rPr>
              <a:t>网络安全隔离（防火墙）。</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9C7FE87-44A9-401A-9718-97E00C44F81F}"/>
              </a:ext>
            </a:extLst>
          </p:cNvPr>
          <p:cNvSpPr>
            <a:spLocks noGrp="1" noChangeArrowheads="1"/>
          </p:cNvSpPr>
          <p:nvPr>
            <p:ph type="title"/>
          </p:nvPr>
        </p:nvSpPr>
        <p:spPr bwMode="auto">
          <a:xfrm>
            <a:off x="2230438" y="4064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共享与交换</a:t>
            </a:r>
          </a:p>
        </p:txBody>
      </p:sp>
      <p:sp>
        <p:nvSpPr>
          <p:cNvPr id="32771" name="Rectangle 3">
            <a:extLst>
              <a:ext uri="{FF2B5EF4-FFF2-40B4-BE49-F238E27FC236}">
                <a16:creationId xmlns:a16="http://schemas.microsoft.com/office/drawing/2014/main" id="{5FF62D83-FBB5-4A4C-AF26-09F7A2232031}"/>
              </a:ext>
            </a:extLst>
          </p:cNvPr>
          <p:cNvSpPr>
            <a:spLocks noChangeArrowheads="1"/>
          </p:cNvSpPr>
          <p:nvPr/>
        </p:nvSpPr>
        <p:spPr bwMode="auto">
          <a:xfrm>
            <a:off x="3048000" y="2238376"/>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32772" name="Group 4">
            <a:extLst>
              <a:ext uri="{FF2B5EF4-FFF2-40B4-BE49-F238E27FC236}">
                <a16:creationId xmlns:a16="http://schemas.microsoft.com/office/drawing/2014/main" id="{802F115D-5B3E-432C-AA58-817B4EFB948A}"/>
              </a:ext>
            </a:extLst>
          </p:cNvPr>
          <p:cNvGrpSpPr>
            <a:grpSpLocks/>
          </p:cNvGrpSpPr>
          <p:nvPr/>
        </p:nvGrpSpPr>
        <p:grpSpPr bwMode="auto">
          <a:xfrm>
            <a:off x="1909763" y="2352676"/>
            <a:ext cx="4105276" cy="2908300"/>
            <a:chOff x="-713" y="1366"/>
            <a:chExt cx="3303" cy="2204"/>
          </a:xfrm>
        </p:grpSpPr>
        <p:sp>
          <p:nvSpPr>
            <p:cNvPr id="32782" name="Line 5">
              <a:extLst>
                <a:ext uri="{FF2B5EF4-FFF2-40B4-BE49-F238E27FC236}">
                  <a16:creationId xmlns:a16="http://schemas.microsoft.com/office/drawing/2014/main" id="{96D9D9CB-2C83-442B-A49D-2FF5F06092D4}"/>
                </a:ext>
              </a:extLst>
            </p:cNvPr>
            <p:cNvSpPr>
              <a:spLocks noChangeShapeType="1"/>
            </p:cNvSpPr>
            <p:nvPr/>
          </p:nvSpPr>
          <p:spPr bwMode="auto">
            <a:xfrm flipV="1">
              <a:off x="2035" y="1852"/>
              <a:ext cx="0" cy="651"/>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3" name="Line 6">
              <a:extLst>
                <a:ext uri="{FF2B5EF4-FFF2-40B4-BE49-F238E27FC236}">
                  <a16:creationId xmlns:a16="http://schemas.microsoft.com/office/drawing/2014/main" id="{9DCA40EF-A3B3-45BD-B736-9A6A0F37AFB7}"/>
                </a:ext>
              </a:extLst>
            </p:cNvPr>
            <p:cNvSpPr>
              <a:spLocks noChangeShapeType="1"/>
            </p:cNvSpPr>
            <p:nvPr/>
          </p:nvSpPr>
          <p:spPr bwMode="auto">
            <a:xfrm flipV="1">
              <a:off x="1832" y="2482"/>
              <a:ext cx="0" cy="62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4" name="Line 7">
              <a:extLst>
                <a:ext uri="{FF2B5EF4-FFF2-40B4-BE49-F238E27FC236}">
                  <a16:creationId xmlns:a16="http://schemas.microsoft.com/office/drawing/2014/main" id="{346762D7-5281-4B72-9334-51F72FA42ABF}"/>
                </a:ext>
              </a:extLst>
            </p:cNvPr>
            <p:cNvSpPr>
              <a:spLocks noChangeShapeType="1"/>
            </p:cNvSpPr>
            <p:nvPr/>
          </p:nvSpPr>
          <p:spPr bwMode="auto">
            <a:xfrm flipV="1">
              <a:off x="-299" y="1851"/>
              <a:ext cx="0" cy="627"/>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5" name="Line 8">
              <a:extLst>
                <a:ext uri="{FF2B5EF4-FFF2-40B4-BE49-F238E27FC236}">
                  <a16:creationId xmlns:a16="http://schemas.microsoft.com/office/drawing/2014/main" id="{DAB1F9B3-893E-4D82-90BA-EED0C4956493}"/>
                </a:ext>
              </a:extLst>
            </p:cNvPr>
            <p:cNvSpPr>
              <a:spLocks noChangeShapeType="1"/>
            </p:cNvSpPr>
            <p:nvPr/>
          </p:nvSpPr>
          <p:spPr bwMode="auto">
            <a:xfrm flipV="1">
              <a:off x="310" y="2482"/>
              <a:ext cx="0" cy="62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pic>
          <p:nvPicPr>
            <p:cNvPr id="32786" name="Picture 9">
              <a:extLst>
                <a:ext uri="{FF2B5EF4-FFF2-40B4-BE49-F238E27FC236}">
                  <a16:creationId xmlns:a16="http://schemas.microsoft.com/office/drawing/2014/main" id="{10285953-EF1D-4E89-B506-4D6C5D7C2A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 y="1366"/>
              <a:ext cx="989" cy="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7" name="Picture 10">
              <a:extLst>
                <a:ext uri="{FF2B5EF4-FFF2-40B4-BE49-F238E27FC236}">
                  <a16:creationId xmlns:a16="http://schemas.microsoft.com/office/drawing/2014/main" id="{D7919546-8CCD-4937-8B4F-DA688926D7C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9" y="1366"/>
              <a:ext cx="991" cy="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8" name="Picture 11">
              <a:extLst>
                <a:ext uri="{FF2B5EF4-FFF2-40B4-BE49-F238E27FC236}">
                  <a16:creationId xmlns:a16="http://schemas.microsoft.com/office/drawing/2014/main" id="{46AEEFF1-21B8-46A2-AD2E-9F2D9EDBFD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1" y="2920"/>
              <a:ext cx="989"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9" name="Picture 12">
              <a:extLst>
                <a:ext uri="{FF2B5EF4-FFF2-40B4-BE49-F238E27FC236}">
                  <a16:creationId xmlns:a16="http://schemas.microsoft.com/office/drawing/2014/main" id="{87BC4F66-44DA-4624-A9F8-617F8C0FC59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 y="2920"/>
              <a:ext cx="989"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2790" name="Line 13">
              <a:extLst>
                <a:ext uri="{FF2B5EF4-FFF2-40B4-BE49-F238E27FC236}">
                  <a16:creationId xmlns:a16="http://schemas.microsoft.com/office/drawing/2014/main" id="{FD86B58A-BC67-4FD7-9475-4766AEB85313}"/>
                </a:ext>
              </a:extLst>
            </p:cNvPr>
            <p:cNvSpPr>
              <a:spLocks noChangeShapeType="1"/>
            </p:cNvSpPr>
            <p:nvPr/>
          </p:nvSpPr>
          <p:spPr bwMode="auto">
            <a:xfrm>
              <a:off x="-446" y="2463"/>
              <a:ext cx="2583" cy="0"/>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graphicFrame>
          <p:nvGraphicFramePr>
            <p:cNvPr id="32791" name="Object 14">
              <a:hlinkClick r:id="" action="ppaction://ole?verb=0"/>
              <a:extLst>
                <a:ext uri="{FF2B5EF4-FFF2-40B4-BE49-F238E27FC236}">
                  <a16:creationId xmlns:a16="http://schemas.microsoft.com/office/drawing/2014/main" id="{772F1DB8-A899-4F61-8279-F0BF514F9B1E}"/>
                </a:ext>
              </a:extLst>
            </p:cNvPr>
            <p:cNvGraphicFramePr>
              <a:graphicFrameLocks/>
            </p:cNvGraphicFramePr>
            <p:nvPr/>
          </p:nvGraphicFramePr>
          <p:xfrm>
            <a:off x="-125" y="2183"/>
            <a:ext cx="1843" cy="455"/>
          </p:xfrm>
          <a:graphic>
            <a:graphicData uri="http://schemas.openxmlformats.org/presentationml/2006/ole">
              <mc:AlternateContent xmlns:mc="http://schemas.openxmlformats.org/markup-compatibility/2006">
                <mc:Choice xmlns:v="urn:schemas-microsoft-com:vml" Requires="v">
                  <p:oleObj spid="_x0000_s23559" name="Clip" r:id="rId7" imgW="1381901" imgH="469086" progId="MS_ClipArt_Gallery.2">
                    <p:embed/>
                  </p:oleObj>
                </mc:Choice>
                <mc:Fallback>
                  <p:oleObj name="Clip" r:id="rId7" imgW="1381901" imgH="469086" progId="MS_ClipArt_Gallery.2">
                    <p:embed/>
                    <p:pic>
                      <p:nvPicPr>
                        <p:cNvPr id="32791" name="Object 14">
                          <a:hlinkClick r:id="" action="ppaction://ole?verb=0"/>
                          <a:extLst>
                            <a:ext uri="{FF2B5EF4-FFF2-40B4-BE49-F238E27FC236}">
                              <a16:creationId xmlns:a16="http://schemas.microsoft.com/office/drawing/2014/main" id="{772F1DB8-A899-4F61-8279-F0BF514F9B1E}"/>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 y="2183"/>
                          <a:ext cx="1843" cy="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pSp>
      <p:sp>
        <p:nvSpPr>
          <p:cNvPr id="32773" name="Text Box 15">
            <a:extLst>
              <a:ext uri="{FF2B5EF4-FFF2-40B4-BE49-F238E27FC236}">
                <a16:creationId xmlns:a16="http://schemas.microsoft.com/office/drawing/2014/main" id="{8F6D0636-EFD9-4F66-AF68-AB024EDBC79E}"/>
              </a:ext>
            </a:extLst>
          </p:cNvPr>
          <p:cNvSpPr txBox="1">
            <a:spLocks noChangeArrowheads="1"/>
          </p:cNvSpPr>
          <p:nvPr/>
        </p:nvSpPr>
        <p:spPr bwMode="auto">
          <a:xfrm>
            <a:off x="2560639" y="5689601"/>
            <a:ext cx="29670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800">
                <a:solidFill>
                  <a:schemeClr val="hlink"/>
                </a:solidFill>
              </a:rPr>
              <a:t>（</a:t>
            </a:r>
            <a:r>
              <a:rPr lang="en-US" altLang="zh-CN" sz="2800">
                <a:solidFill>
                  <a:schemeClr val="hlink"/>
                </a:solidFill>
              </a:rPr>
              <a:t>A</a:t>
            </a:r>
            <a:r>
              <a:rPr lang="zh-CN" altLang="en-US" sz="2800">
                <a:solidFill>
                  <a:schemeClr val="hlink"/>
                </a:solidFill>
              </a:rPr>
              <a:t>） 共享</a:t>
            </a:r>
          </a:p>
        </p:txBody>
      </p:sp>
      <p:grpSp>
        <p:nvGrpSpPr>
          <p:cNvPr id="1915920" name="Group 16">
            <a:extLst>
              <a:ext uri="{FF2B5EF4-FFF2-40B4-BE49-F238E27FC236}">
                <a16:creationId xmlns:a16="http://schemas.microsoft.com/office/drawing/2014/main" id="{4D9403DB-F673-4A44-9EE1-F9B3EF3F9ACF}"/>
              </a:ext>
            </a:extLst>
          </p:cNvPr>
          <p:cNvGrpSpPr>
            <a:grpSpLocks/>
          </p:cNvGrpSpPr>
          <p:nvPr/>
        </p:nvGrpSpPr>
        <p:grpSpPr bwMode="auto">
          <a:xfrm>
            <a:off x="6283325" y="2068514"/>
            <a:ext cx="3968750" cy="3870325"/>
            <a:chOff x="2998" y="1303"/>
            <a:chExt cx="2500" cy="2438"/>
          </a:xfrm>
        </p:grpSpPr>
        <p:pic>
          <p:nvPicPr>
            <p:cNvPr id="32780" name="Picture 17">
              <a:extLst>
                <a:ext uri="{FF2B5EF4-FFF2-40B4-BE49-F238E27FC236}">
                  <a16:creationId xmlns:a16="http://schemas.microsoft.com/office/drawing/2014/main" id="{79278834-3A04-4240-8524-6318A630BA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 y="1303"/>
              <a:ext cx="2500" cy="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81" name="Text Box 18">
              <a:extLst>
                <a:ext uri="{FF2B5EF4-FFF2-40B4-BE49-F238E27FC236}">
                  <a16:creationId xmlns:a16="http://schemas.microsoft.com/office/drawing/2014/main" id="{83CB3105-A7D0-427A-9294-3BC5FDBAFF01}"/>
                </a:ext>
              </a:extLst>
            </p:cNvPr>
            <p:cNvSpPr txBox="1">
              <a:spLocks noChangeArrowheads="1"/>
            </p:cNvSpPr>
            <p:nvPr/>
          </p:nvSpPr>
          <p:spPr bwMode="auto">
            <a:xfrm>
              <a:off x="3245" y="3411"/>
              <a:ext cx="186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800">
                  <a:solidFill>
                    <a:schemeClr val="hlink"/>
                  </a:solidFill>
                </a:rPr>
                <a:t>（</a:t>
              </a:r>
              <a:r>
                <a:rPr lang="en-US" altLang="zh-CN" sz="2800">
                  <a:solidFill>
                    <a:schemeClr val="hlink"/>
                  </a:solidFill>
                </a:rPr>
                <a:t>B</a:t>
              </a:r>
              <a:r>
                <a:rPr lang="zh-CN" altLang="en-US" sz="2800">
                  <a:solidFill>
                    <a:schemeClr val="hlink"/>
                  </a:solidFill>
                </a:rPr>
                <a:t>） 交换</a:t>
              </a:r>
            </a:p>
          </p:txBody>
        </p:sp>
      </p:grpSp>
      <mc:AlternateContent xmlns:mc="http://schemas.openxmlformats.org/markup-compatibility/2006">
        <mc:Choice xmlns:p14="http://schemas.microsoft.com/office/powerpoint/2010/main" Requires="p14">
          <p:contentPart p14:bwMode="auto" r:id="rId10">
            <p14:nvContentPartPr>
              <p14:cNvPr id="1915923" name="Ink 19">
                <a:extLst>
                  <a:ext uri="{FF2B5EF4-FFF2-40B4-BE49-F238E27FC236}">
                    <a16:creationId xmlns:a16="http://schemas.microsoft.com/office/drawing/2014/main" id="{5E06F13C-6669-4121-A7C8-832A9F6D60A8}"/>
                  </a:ext>
                </a:extLst>
              </p14:cNvPr>
              <p14:cNvContentPartPr>
                <a14:cpLocks xmlns:a14="http://schemas.microsoft.com/office/drawing/2010/main" noRot="1" noChangeAspect="1" noEditPoints="1" noChangeArrowheads="1" noChangeShapeType="1"/>
              </p14:cNvContentPartPr>
              <p14:nvPr/>
            </p14:nvContentPartPr>
            <p14:xfrm>
              <a:off x="2354264" y="2527301"/>
              <a:ext cx="179387" cy="1330325"/>
            </p14:xfrm>
          </p:contentPart>
        </mc:Choice>
        <mc:Fallback>
          <p:pic>
            <p:nvPicPr>
              <p:cNvPr id="1915923" name="Ink 19">
                <a:extLst>
                  <a:ext uri="{FF2B5EF4-FFF2-40B4-BE49-F238E27FC236}">
                    <a16:creationId xmlns:a16="http://schemas.microsoft.com/office/drawing/2014/main" id="{5E06F13C-6669-4121-A7C8-832A9F6D60A8}"/>
                  </a:ext>
                </a:extLst>
              </p:cNvPr>
              <p:cNvPicPr>
                <a:picLocks noRot="1" noChangeAspect="1" noEditPoints="1" noChangeArrowheads="1" noChangeShapeType="1"/>
              </p:cNvPicPr>
              <p:nvPr/>
            </p:nvPicPr>
            <p:blipFill>
              <a:blip r:embed="rId11"/>
              <a:stretch>
                <a:fillRect/>
              </a:stretch>
            </p:blipFill>
            <p:spPr>
              <a:xfrm>
                <a:off x="2336961" y="2509707"/>
                <a:ext cx="213287" cy="1364795"/>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915925" name="Ink 21">
                <a:extLst>
                  <a:ext uri="{FF2B5EF4-FFF2-40B4-BE49-F238E27FC236}">
                    <a16:creationId xmlns:a16="http://schemas.microsoft.com/office/drawing/2014/main" id="{5B4C19FA-E2C9-4C00-B255-CB8AC59E11B9}"/>
                  </a:ext>
                </a:extLst>
              </p14:cNvPr>
              <p14:cNvContentPartPr>
                <a14:cpLocks xmlns:a14="http://schemas.microsoft.com/office/drawing/2010/main" noRot="1" noChangeAspect="1" noEditPoints="1" noChangeArrowheads="1" noChangeShapeType="1"/>
              </p14:cNvContentPartPr>
              <p14:nvPr/>
            </p14:nvContentPartPr>
            <p14:xfrm>
              <a:off x="5283201" y="3679826"/>
              <a:ext cx="250825" cy="285750"/>
            </p14:xfrm>
          </p:contentPart>
        </mc:Choice>
        <mc:Fallback>
          <p:pic>
            <p:nvPicPr>
              <p:cNvPr id="1915925" name="Ink 21">
                <a:extLst>
                  <a:ext uri="{FF2B5EF4-FFF2-40B4-BE49-F238E27FC236}">
                    <a16:creationId xmlns:a16="http://schemas.microsoft.com/office/drawing/2014/main" id="{5B4C19FA-E2C9-4C00-B255-CB8AC59E11B9}"/>
                  </a:ext>
                </a:extLst>
              </p:cNvPr>
              <p:cNvPicPr>
                <a:picLocks noRot="1" noChangeAspect="1" noEditPoints="1" noChangeArrowheads="1" noChangeShapeType="1"/>
              </p:cNvPicPr>
              <p:nvPr/>
            </p:nvPicPr>
            <p:blipFill>
              <a:blip r:embed="rId13"/>
              <a:stretch>
                <a:fillRect/>
              </a:stretch>
            </p:blipFill>
            <p:spPr>
              <a:xfrm>
                <a:off x="5265743" y="3662411"/>
                <a:ext cx="285028" cy="319869"/>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915926" name="Ink 22">
                <a:extLst>
                  <a:ext uri="{FF2B5EF4-FFF2-40B4-BE49-F238E27FC236}">
                    <a16:creationId xmlns:a16="http://schemas.microsoft.com/office/drawing/2014/main" id="{1FD9D8BC-B000-4564-AC35-1EE77E889A4C}"/>
                  </a:ext>
                </a:extLst>
              </p14:cNvPr>
              <p14:cNvContentPartPr>
                <a14:cpLocks xmlns:a14="http://schemas.microsoft.com/office/drawing/2010/main" noRot="1" noChangeAspect="1" noEditPoints="1" noChangeArrowheads="1" noChangeShapeType="1"/>
              </p14:cNvContentPartPr>
              <p14:nvPr/>
            </p14:nvContentPartPr>
            <p14:xfrm>
              <a:off x="5238750" y="2554288"/>
              <a:ext cx="169864" cy="133350"/>
            </p14:xfrm>
          </p:contentPart>
        </mc:Choice>
        <mc:Fallback>
          <p:pic>
            <p:nvPicPr>
              <p:cNvPr id="1915926" name="Ink 22">
                <a:extLst>
                  <a:ext uri="{FF2B5EF4-FFF2-40B4-BE49-F238E27FC236}">
                    <a16:creationId xmlns:a16="http://schemas.microsoft.com/office/drawing/2014/main" id="{1FD9D8BC-B000-4564-AC35-1EE77E889A4C}"/>
                  </a:ext>
                </a:extLst>
              </p:cNvPr>
              <p:cNvPicPr>
                <a:picLocks noRot="1" noChangeAspect="1" noEditPoints="1" noChangeArrowheads="1" noChangeShapeType="1"/>
              </p:cNvPicPr>
              <p:nvPr/>
            </p:nvPicPr>
            <p:blipFill>
              <a:blip r:embed="rId15"/>
              <a:stretch>
                <a:fillRect/>
              </a:stretch>
            </p:blipFill>
            <p:spPr>
              <a:xfrm>
                <a:off x="5221153" y="2536864"/>
                <a:ext cx="204340" cy="167488"/>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915927" name="Ink 23">
                <a:extLst>
                  <a:ext uri="{FF2B5EF4-FFF2-40B4-BE49-F238E27FC236}">
                    <a16:creationId xmlns:a16="http://schemas.microsoft.com/office/drawing/2014/main" id="{1A6BA2AD-308A-40FA-A87D-AA2F1FB41B53}"/>
                  </a:ext>
                </a:extLst>
              </p14:cNvPr>
              <p14:cNvContentPartPr>
                <a14:cpLocks xmlns:a14="http://schemas.microsoft.com/office/drawing/2010/main" noRot="1" noChangeAspect="1" noEditPoints="1" noChangeArrowheads="1" noChangeShapeType="1"/>
              </p14:cNvContentPartPr>
              <p14:nvPr/>
            </p14:nvContentPartPr>
            <p14:xfrm>
              <a:off x="6729413" y="3732214"/>
              <a:ext cx="277812" cy="295276"/>
            </p14:xfrm>
          </p:contentPart>
        </mc:Choice>
        <mc:Fallback>
          <p:pic>
            <p:nvPicPr>
              <p:cNvPr id="1915927" name="Ink 23">
                <a:extLst>
                  <a:ext uri="{FF2B5EF4-FFF2-40B4-BE49-F238E27FC236}">
                    <a16:creationId xmlns:a16="http://schemas.microsoft.com/office/drawing/2014/main" id="{1A6BA2AD-308A-40FA-A87D-AA2F1FB41B53}"/>
                  </a:ext>
                </a:extLst>
              </p:cNvPr>
              <p:cNvPicPr>
                <a:picLocks noRot="1" noChangeAspect="1" noEditPoints="1" noChangeArrowheads="1" noChangeShapeType="1"/>
              </p:cNvPicPr>
              <p:nvPr/>
            </p:nvPicPr>
            <p:blipFill>
              <a:blip r:embed="rId17"/>
              <a:stretch>
                <a:fillRect/>
              </a:stretch>
            </p:blipFill>
            <p:spPr>
              <a:xfrm>
                <a:off x="6711893" y="3714307"/>
                <a:ext cx="312136" cy="330358"/>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15928" name="Ink 24">
                <a:extLst>
                  <a:ext uri="{FF2B5EF4-FFF2-40B4-BE49-F238E27FC236}">
                    <a16:creationId xmlns:a16="http://schemas.microsoft.com/office/drawing/2014/main" id="{ADB95F94-D8F4-4480-B123-5C16E872CE27}"/>
                  </a:ext>
                </a:extLst>
              </p14:cNvPr>
              <p14:cNvContentPartPr>
                <a14:cpLocks xmlns:a14="http://schemas.microsoft.com/office/drawing/2010/main" noRot="1" noChangeAspect="1" noEditPoints="1" noChangeArrowheads="1" noChangeShapeType="1"/>
              </p14:cNvContentPartPr>
              <p14:nvPr/>
            </p14:nvContentPartPr>
            <p14:xfrm>
              <a:off x="9266238" y="3259139"/>
              <a:ext cx="152400" cy="384175"/>
            </p14:xfrm>
          </p:contentPart>
        </mc:Choice>
        <mc:Fallback>
          <p:pic>
            <p:nvPicPr>
              <p:cNvPr id="1915928" name="Ink 24">
                <a:extLst>
                  <a:ext uri="{FF2B5EF4-FFF2-40B4-BE49-F238E27FC236}">
                    <a16:creationId xmlns:a16="http://schemas.microsoft.com/office/drawing/2014/main" id="{ADB95F94-D8F4-4480-B123-5C16E872CE27}"/>
                  </a:ext>
                </a:extLst>
              </p:cNvPr>
              <p:cNvPicPr>
                <a:picLocks noRot="1" noChangeAspect="1" noEditPoints="1" noChangeArrowheads="1" noChangeShapeType="1"/>
              </p:cNvPicPr>
              <p:nvPr/>
            </p:nvPicPr>
            <p:blipFill>
              <a:blip r:embed="rId19"/>
              <a:stretch>
                <a:fillRect/>
              </a:stretch>
            </p:blipFill>
            <p:spPr>
              <a:xfrm>
                <a:off x="9248542" y="3241496"/>
                <a:ext cx="187069" cy="41874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15920"/>
                                        </p:tgtEl>
                                        <p:attrNameLst>
                                          <p:attrName>style.visibility</p:attrName>
                                        </p:attrNameLst>
                                      </p:cBhvr>
                                      <p:to>
                                        <p:strVal val="visible"/>
                                      </p:to>
                                    </p:set>
                                    <p:anim calcmode="lin" valueType="num">
                                      <p:cBhvr additive="base">
                                        <p:cTn id="7" dur="500" fill="hold"/>
                                        <p:tgtEl>
                                          <p:spTgt spid="1915920"/>
                                        </p:tgtEl>
                                        <p:attrNameLst>
                                          <p:attrName>ppt_x</p:attrName>
                                        </p:attrNameLst>
                                      </p:cBhvr>
                                      <p:tavLst>
                                        <p:tav tm="0">
                                          <p:val>
                                            <p:strVal val="1+#ppt_w/2"/>
                                          </p:val>
                                        </p:tav>
                                        <p:tav tm="100000">
                                          <p:val>
                                            <p:strVal val="#ppt_x"/>
                                          </p:val>
                                        </p:tav>
                                      </p:tavLst>
                                    </p:anim>
                                    <p:anim calcmode="lin" valueType="num">
                                      <p:cBhvr additive="base">
                                        <p:cTn id="8" dur="500" fill="hold"/>
                                        <p:tgtEl>
                                          <p:spTgt spid="19159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CF089AA-C90C-4A9A-80AE-587AAD183E81}"/>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交换机的特点</a:t>
            </a:r>
          </a:p>
        </p:txBody>
      </p:sp>
      <p:sp>
        <p:nvSpPr>
          <p:cNvPr id="1917955" name="Text Box 3">
            <a:extLst>
              <a:ext uri="{FF2B5EF4-FFF2-40B4-BE49-F238E27FC236}">
                <a16:creationId xmlns:a16="http://schemas.microsoft.com/office/drawing/2014/main" id="{75DF500D-D143-41F5-B964-F7A6BD9ADBBB}"/>
              </a:ext>
            </a:extLst>
          </p:cNvPr>
          <p:cNvSpPr txBox="1">
            <a:spLocks noChangeArrowheads="1"/>
          </p:cNvSpPr>
          <p:nvPr/>
        </p:nvSpPr>
        <p:spPr bwMode="auto">
          <a:xfrm>
            <a:off x="2990850" y="2667000"/>
            <a:ext cx="72771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buClr>
                <a:schemeClr val="tx2"/>
              </a:buClr>
              <a:buFont typeface="Wingdings" panose="05000000000000000000" pitchFamily="2" charset="2"/>
              <a:buChar char="Ø"/>
            </a:pPr>
            <a:r>
              <a:rPr lang="zh-CN" altLang="en-US" sz="2800">
                <a:solidFill>
                  <a:schemeClr val="tx1"/>
                </a:solidFill>
              </a:rPr>
              <a:t>高带宽的传输通路</a:t>
            </a:r>
            <a:r>
              <a:rPr lang="en-US" altLang="zh-CN" sz="2800">
                <a:solidFill>
                  <a:schemeClr val="tx1"/>
                </a:solidFill>
              </a:rPr>
              <a:t>----</a:t>
            </a:r>
            <a:r>
              <a:rPr lang="zh-CN" altLang="en-US" sz="2800">
                <a:solidFill>
                  <a:schemeClr val="tx1"/>
                </a:solidFill>
              </a:rPr>
              <a:t>各端口独享带宽；</a:t>
            </a:r>
          </a:p>
          <a:p>
            <a:pPr algn="l">
              <a:spcBef>
                <a:spcPct val="50000"/>
              </a:spcBef>
              <a:buClr>
                <a:schemeClr val="tx2"/>
              </a:buClr>
              <a:buFont typeface="Wingdings" panose="05000000000000000000" pitchFamily="2" charset="2"/>
              <a:buChar char="Ø"/>
            </a:pPr>
            <a:r>
              <a:rPr lang="zh-CN" altLang="en-US" sz="2800">
                <a:solidFill>
                  <a:schemeClr val="tx1"/>
                </a:solidFill>
              </a:rPr>
              <a:t>大吞吐量的传输</a:t>
            </a:r>
          </a:p>
          <a:p>
            <a:pPr algn="l">
              <a:spcBef>
                <a:spcPct val="50000"/>
              </a:spcBef>
              <a:buClr>
                <a:schemeClr val="tx2"/>
              </a:buClr>
              <a:buFont typeface="Wingdings" panose="05000000000000000000" pitchFamily="2" charset="2"/>
              <a:buChar char="Ø"/>
            </a:pPr>
            <a:r>
              <a:rPr lang="zh-CN" altLang="en-US" sz="2800">
                <a:solidFill>
                  <a:schemeClr val="tx1"/>
                </a:solidFill>
              </a:rPr>
              <a:t>低延时</a:t>
            </a:r>
          </a:p>
          <a:p>
            <a:pPr algn="l">
              <a:spcBef>
                <a:spcPct val="50000"/>
              </a:spcBef>
              <a:buClr>
                <a:schemeClr val="tx2"/>
              </a:buClr>
              <a:buFont typeface="Wingdings" panose="05000000000000000000" pitchFamily="2" charset="2"/>
              <a:buChar char="Ø"/>
            </a:pPr>
            <a:r>
              <a:rPr lang="zh-CN" altLang="en-US" sz="2800">
                <a:solidFill>
                  <a:schemeClr val="tx1"/>
                </a:solidFill>
              </a:rPr>
              <a:t>低廉的端口价格。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17955">
                                            <p:txEl>
                                              <p:pRg st="0" end="0"/>
                                            </p:txEl>
                                          </p:spTgt>
                                        </p:tgtEl>
                                        <p:attrNameLst>
                                          <p:attrName>style.visibility</p:attrName>
                                        </p:attrNameLst>
                                      </p:cBhvr>
                                      <p:to>
                                        <p:strVal val="visible"/>
                                      </p:to>
                                    </p:set>
                                    <p:anim calcmode="lin" valueType="num">
                                      <p:cBhvr additive="base">
                                        <p:cTn id="7" dur="500" fill="hold"/>
                                        <p:tgtEl>
                                          <p:spTgt spid="1917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17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17955">
                                            <p:txEl>
                                              <p:pRg st="1" end="1"/>
                                            </p:txEl>
                                          </p:spTgt>
                                        </p:tgtEl>
                                        <p:attrNameLst>
                                          <p:attrName>style.visibility</p:attrName>
                                        </p:attrNameLst>
                                      </p:cBhvr>
                                      <p:to>
                                        <p:strVal val="visible"/>
                                      </p:to>
                                    </p:set>
                                    <p:anim calcmode="lin" valueType="num">
                                      <p:cBhvr additive="base">
                                        <p:cTn id="13" dur="500" fill="hold"/>
                                        <p:tgtEl>
                                          <p:spTgt spid="1917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17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17955">
                                            <p:txEl>
                                              <p:pRg st="2" end="2"/>
                                            </p:txEl>
                                          </p:spTgt>
                                        </p:tgtEl>
                                        <p:attrNameLst>
                                          <p:attrName>style.visibility</p:attrName>
                                        </p:attrNameLst>
                                      </p:cBhvr>
                                      <p:to>
                                        <p:strVal val="visible"/>
                                      </p:to>
                                    </p:set>
                                    <p:anim calcmode="lin" valueType="num">
                                      <p:cBhvr additive="base">
                                        <p:cTn id="19" dur="500" fill="hold"/>
                                        <p:tgtEl>
                                          <p:spTgt spid="1917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179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17955">
                                            <p:txEl>
                                              <p:pRg st="3" end="3"/>
                                            </p:txEl>
                                          </p:spTgt>
                                        </p:tgtEl>
                                        <p:attrNameLst>
                                          <p:attrName>style.visibility</p:attrName>
                                        </p:attrNameLst>
                                      </p:cBhvr>
                                      <p:to>
                                        <p:strVal val="visible"/>
                                      </p:to>
                                    </p:set>
                                    <p:anim calcmode="lin" valueType="num">
                                      <p:cBhvr additive="base">
                                        <p:cTn id="25" dur="500" fill="hold"/>
                                        <p:tgtEl>
                                          <p:spTgt spid="19179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1795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7955" grpId="0" build="p"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4C5B824-F2BF-4484-B45C-E228A2AC4DF2}"/>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a:t>
            </a:r>
            <a:r>
              <a:rPr lang="zh-CN" altLang="en-US" sz="2800">
                <a:solidFill>
                  <a:srgbClr val="0000FF"/>
                </a:solidFill>
                <a:latin typeface="Times New Roman" panose="02020603050405020304" pitchFamily="18" charset="0"/>
              </a:rPr>
              <a:t> </a:t>
            </a:r>
          </a:p>
        </p:txBody>
      </p:sp>
      <p:pic>
        <p:nvPicPr>
          <p:cNvPr id="34819" name="Picture 3">
            <a:extLst>
              <a:ext uri="{FF2B5EF4-FFF2-40B4-BE49-F238E27FC236}">
                <a16:creationId xmlns:a16="http://schemas.microsoft.com/office/drawing/2014/main" id="{E257E355-1436-4251-B33B-3C530C920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851" y="1377950"/>
            <a:ext cx="8094664" cy="516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15875B9-A2E1-4E8F-883A-2BD5EE7E7B57}"/>
              </a:ext>
            </a:extLst>
          </p:cNvPr>
          <p:cNvSpPr>
            <a:spLocks noGrp="1" noChangeArrowheads="1"/>
          </p:cNvSpPr>
          <p:nvPr>
            <p:ph type="title"/>
          </p:nvPr>
        </p:nvSpPr>
        <p:spPr bwMode="auto">
          <a:xfrm>
            <a:off x="220980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两种交换技术</a:t>
            </a:r>
          </a:p>
        </p:txBody>
      </p:sp>
      <p:sp>
        <p:nvSpPr>
          <p:cNvPr id="35843" name="Text Box 3">
            <a:extLst>
              <a:ext uri="{FF2B5EF4-FFF2-40B4-BE49-F238E27FC236}">
                <a16:creationId xmlns:a16="http://schemas.microsoft.com/office/drawing/2014/main" id="{B9911AC8-58C0-46AA-A6B0-0B75AD134D2C}"/>
              </a:ext>
            </a:extLst>
          </p:cNvPr>
          <p:cNvSpPr txBox="1">
            <a:spLocks noChangeArrowheads="1"/>
          </p:cNvSpPr>
          <p:nvPr/>
        </p:nvSpPr>
        <p:spPr bwMode="auto">
          <a:xfrm>
            <a:off x="1943101" y="1411287"/>
            <a:ext cx="8401050" cy="454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ctr">
              <a:defRPr sz="1200">
                <a:solidFill>
                  <a:srgbClr val="CACACA"/>
                </a:solidFill>
                <a:latin typeface="Times New Roman" panose="02020603050405020304" pitchFamily="18" charset="0"/>
                <a:ea typeface="宋体" panose="02010600030101010101" pitchFamily="2" charset="-122"/>
              </a:defRPr>
            </a:lvl1pPr>
            <a:lvl2pPr marL="914400" indent="-457200" algn="ctr">
              <a:defRPr sz="1200">
                <a:solidFill>
                  <a:srgbClr val="CACACA"/>
                </a:solidFill>
                <a:latin typeface="Times New Roman" panose="02020603050405020304" pitchFamily="18" charset="0"/>
                <a:ea typeface="宋体" panose="02010600030101010101" pitchFamily="2" charset="-122"/>
              </a:defRPr>
            </a:lvl2pPr>
            <a:lvl3pPr marL="1371600" indent="-457200" algn="ctr">
              <a:defRPr sz="1200">
                <a:solidFill>
                  <a:srgbClr val="CACACA"/>
                </a:solidFill>
                <a:latin typeface="Times New Roman" panose="02020603050405020304" pitchFamily="18" charset="0"/>
                <a:ea typeface="宋体" panose="02010600030101010101" pitchFamily="2" charset="-122"/>
              </a:defRPr>
            </a:lvl3pPr>
            <a:lvl4pPr marL="1828800" indent="-457200" algn="ctr">
              <a:defRPr sz="1200">
                <a:solidFill>
                  <a:srgbClr val="CACACA"/>
                </a:solidFill>
                <a:latin typeface="Times New Roman" panose="02020603050405020304" pitchFamily="18" charset="0"/>
                <a:ea typeface="宋体" panose="02010600030101010101" pitchFamily="2" charset="-122"/>
              </a:defRPr>
            </a:lvl4pPr>
            <a:lvl5pPr marL="2286000" indent="-457200" algn="ctr">
              <a:defRPr sz="1200">
                <a:solidFill>
                  <a:srgbClr val="CACACA"/>
                </a:solidFill>
                <a:latin typeface="Times New Roman" panose="02020603050405020304" pitchFamily="18" charset="0"/>
                <a:ea typeface="宋体" panose="02010600030101010101" pitchFamily="2" charset="-122"/>
              </a:defRPr>
            </a:lvl5pPr>
            <a:lvl6pPr marL="27432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32004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6576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41148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en-US" altLang="zh-CN" sz="2400">
                <a:solidFill>
                  <a:schemeClr val="hlink"/>
                </a:solidFill>
              </a:rPr>
              <a:t>1.</a:t>
            </a:r>
            <a:r>
              <a:rPr lang="zh-CN" altLang="en-US" sz="2400">
                <a:solidFill>
                  <a:schemeClr val="hlink"/>
                </a:solidFill>
              </a:rPr>
              <a:t>端口交换</a:t>
            </a:r>
          </a:p>
          <a:p>
            <a:pPr algn="l">
              <a:spcBef>
                <a:spcPct val="10000"/>
              </a:spcBef>
            </a:pPr>
            <a:r>
              <a:rPr lang="zh-CN" altLang="en-US" sz="2800"/>
              <a:t>        </a:t>
            </a:r>
            <a:r>
              <a:rPr lang="zh-CN" altLang="en-US" sz="2000">
                <a:solidFill>
                  <a:schemeClr val="tx1"/>
                </a:solidFill>
              </a:rPr>
              <a:t>端口交换技术最早出现在插槽式的集线器中，这类集线器的背板通常划分有多条以太网段，不用网桥或路由器连接，网络之间是互不相通的。以太主模块插入后通常被分配到某个背板的网段上，端口交换用于将以太模块的端口在背板多个网段之间进行分配、平衡</a:t>
            </a:r>
          </a:p>
          <a:p>
            <a:pPr algn="l">
              <a:spcBef>
                <a:spcPct val="10000"/>
              </a:spcBef>
            </a:pPr>
            <a:r>
              <a:rPr lang="en-US" altLang="zh-CN" sz="2400">
                <a:solidFill>
                  <a:schemeClr val="hlink"/>
                </a:solidFill>
              </a:rPr>
              <a:t>2.</a:t>
            </a:r>
            <a:r>
              <a:rPr lang="zh-CN" altLang="en-US" sz="2400">
                <a:solidFill>
                  <a:schemeClr val="hlink"/>
                </a:solidFill>
              </a:rPr>
              <a:t>帧交换</a:t>
            </a:r>
          </a:p>
          <a:p>
            <a:pPr algn="l">
              <a:spcBef>
                <a:spcPct val="10000"/>
              </a:spcBef>
            </a:pPr>
            <a:r>
              <a:rPr lang="zh-CN" altLang="en-US" sz="2000">
                <a:solidFill>
                  <a:schemeClr val="tx1"/>
                </a:solidFill>
              </a:rPr>
              <a:t>        帧交换是目前最为广泛的局域网技术技术：</a:t>
            </a:r>
          </a:p>
          <a:p>
            <a:pPr algn="l">
              <a:spcBef>
                <a:spcPct val="10000"/>
              </a:spcBef>
            </a:pPr>
            <a:r>
              <a:rPr lang="zh-CN" altLang="en-US" sz="2000">
                <a:solidFill>
                  <a:schemeClr val="tx1"/>
                </a:solidFill>
              </a:rPr>
              <a:t>     </a:t>
            </a:r>
            <a:r>
              <a:rPr lang="zh-CN" altLang="en-US" sz="2000">
                <a:solidFill>
                  <a:schemeClr val="tx2"/>
                </a:solidFill>
              </a:rPr>
              <a:t>直通交换</a:t>
            </a:r>
            <a:r>
              <a:rPr lang="zh-CN" altLang="en-US" sz="2000">
                <a:solidFill>
                  <a:schemeClr val="tx1"/>
                </a:solidFill>
              </a:rPr>
              <a:t>（</a:t>
            </a:r>
            <a:r>
              <a:rPr lang="en-US" altLang="zh-CN" sz="2000">
                <a:solidFill>
                  <a:schemeClr val="tx2"/>
                </a:solidFill>
              </a:rPr>
              <a:t>cut through</a:t>
            </a:r>
            <a:r>
              <a:rPr lang="en-US" altLang="zh-CN" sz="2000">
                <a:solidFill>
                  <a:schemeClr val="tx1"/>
                </a:solidFill>
              </a:rPr>
              <a:t>)</a:t>
            </a:r>
            <a:r>
              <a:rPr lang="zh-CN" altLang="en-US" sz="2000">
                <a:solidFill>
                  <a:schemeClr val="tx1"/>
                </a:solidFill>
              </a:rPr>
              <a:t>：交换机只读出网络帧的前</a:t>
            </a:r>
            <a:r>
              <a:rPr lang="en-US" altLang="zh-CN" sz="2000">
                <a:solidFill>
                  <a:schemeClr val="tx1"/>
                </a:solidFill>
              </a:rPr>
              <a:t>14</a:t>
            </a:r>
            <a:r>
              <a:rPr lang="zh-CN" altLang="en-US" sz="2000">
                <a:solidFill>
                  <a:schemeClr val="tx1"/>
                </a:solidFill>
              </a:rPr>
              <a:t>个字节（帧头），便将网络帧转送到相应的端口上。（</a:t>
            </a:r>
            <a:r>
              <a:rPr lang="zh-CN" altLang="en-US" sz="2000">
                <a:solidFill>
                  <a:schemeClr val="tx2"/>
                </a:solidFill>
              </a:rPr>
              <a:t>提供线速处理能力， 碎帧多</a:t>
            </a:r>
            <a:r>
              <a:rPr lang="zh-CN" altLang="en-US" sz="2000">
                <a:solidFill>
                  <a:schemeClr val="tx1"/>
                </a:solidFill>
              </a:rPr>
              <a:t>）</a:t>
            </a:r>
          </a:p>
          <a:p>
            <a:pPr algn="l">
              <a:spcBef>
                <a:spcPct val="10000"/>
              </a:spcBef>
            </a:pPr>
            <a:r>
              <a:rPr lang="zh-CN" altLang="en-US" sz="2000">
                <a:solidFill>
                  <a:schemeClr val="tx1"/>
                </a:solidFill>
              </a:rPr>
              <a:t>     </a:t>
            </a:r>
            <a:r>
              <a:rPr lang="zh-CN" altLang="en-US" sz="2000">
                <a:solidFill>
                  <a:schemeClr val="tx2"/>
                </a:solidFill>
              </a:rPr>
              <a:t>存贮转发</a:t>
            </a:r>
            <a:r>
              <a:rPr lang="zh-CN" altLang="en-US" sz="2000">
                <a:solidFill>
                  <a:schemeClr val="tx1"/>
                </a:solidFill>
              </a:rPr>
              <a:t>：接收完整帧，检错和控制，最后转发；（</a:t>
            </a:r>
            <a:r>
              <a:rPr lang="zh-CN" altLang="en-US" sz="2000">
                <a:solidFill>
                  <a:schemeClr val="tx2"/>
                </a:solidFill>
              </a:rPr>
              <a:t>延时大，碎帧少</a:t>
            </a:r>
            <a:r>
              <a:rPr lang="zh-CN" altLang="en-US" sz="2000">
                <a:solidFill>
                  <a:schemeClr val="tx1"/>
                </a:solidFill>
              </a:rPr>
              <a:t>）</a:t>
            </a:r>
          </a:p>
          <a:p>
            <a:pPr algn="l">
              <a:spcBef>
                <a:spcPct val="10000"/>
              </a:spcBef>
            </a:pPr>
            <a:r>
              <a:rPr lang="zh-CN" altLang="en-US" sz="2000">
                <a:solidFill>
                  <a:schemeClr val="tx1"/>
                </a:solidFill>
              </a:rPr>
              <a:t>      </a:t>
            </a:r>
            <a:r>
              <a:rPr lang="zh-CN" altLang="en-US" sz="2000">
                <a:solidFill>
                  <a:schemeClr val="tx2"/>
                </a:solidFill>
              </a:rPr>
              <a:t>碎片隔离</a:t>
            </a:r>
            <a:r>
              <a:rPr lang="zh-CN" altLang="en-US" sz="2000">
                <a:solidFill>
                  <a:schemeClr val="tx1"/>
                </a:solidFill>
              </a:rPr>
              <a:t>（</a:t>
            </a:r>
            <a:r>
              <a:rPr lang="en-US" altLang="zh-CN" sz="2000">
                <a:solidFill>
                  <a:schemeClr val="tx2"/>
                </a:solidFill>
              </a:rPr>
              <a:t>Fragment Free</a:t>
            </a:r>
            <a:r>
              <a:rPr lang="zh-CN" altLang="en-US" sz="2000">
                <a:solidFill>
                  <a:schemeClr val="tx1"/>
                </a:solidFill>
              </a:rPr>
              <a:t>）：它检查数据包的长度是否够</a:t>
            </a:r>
            <a:r>
              <a:rPr lang="en-US" altLang="zh-CN" sz="2000">
                <a:solidFill>
                  <a:schemeClr val="tx1"/>
                </a:solidFill>
              </a:rPr>
              <a:t>64</a:t>
            </a:r>
            <a:r>
              <a:rPr lang="zh-CN" altLang="en-US" sz="2000">
                <a:solidFill>
                  <a:schemeClr val="tx1"/>
                </a:solidFill>
              </a:rPr>
              <a:t>个字节，如果小于</a:t>
            </a:r>
            <a:r>
              <a:rPr lang="en-US" altLang="zh-CN" sz="2000">
                <a:solidFill>
                  <a:schemeClr val="tx1"/>
                </a:solidFill>
              </a:rPr>
              <a:t>64</a:t>
            </a:r>
            <a:r>
              <a:rPr lang="zh-CN" altLang="en-US" sz="2000">
                <a:solidFill>
                  <a:schemeClr val="tx1"/>
                </a:solidFill>
              </a:rPr>
              <a:t>字节，说明是假包，则丢弃该包；如果大于</a:t>
            </a:r>
            <a:r>
              <a:rPr lang="en-US" altLang="zh-CN" sz="2000">
                <a:solidFill>
                  <a:schemeClr val="tx1"/>
                </a:solidFill>
              </a:rPr>
              <a:t>64</a:t>
            </a:r>
            <a:r>
              <a:rPr lang="zh-CN" altLang="en-US" sz="2000">
                <a:solidFill>
                  <a:schemeClr val="tx1"/>
                </a:solidFill>
              </a:rPr>
              <a:t>字节，则发送该包；（</a:t>
            </a:r>
            <a:r>
              <a:rPr lang="zh-CN" altLang="en-US" sz="2000">
                <a:solidFill>
                  <a:schemeClr val="tx2"/>
                </a:solidFill>
              </a:rPr>
              <a:t>这是介于前两者之间的一种解决方案</a:t>
            </a:r>
            <a:r>
              <a:rPr lang="zh-CN" altLang="en-US" sz="2000">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763B0CE-B548-42D6-88C2-7A132D85C0CB}"/>
              </a:ext>
            </a:extLst>
          </p:cNvPr>
          <p:cNvSpPr>
            <a:spLocks noGrp="1" noChangeArrowheads="1"/>
          </p:cNvSpPr>
          <p:nvPr>
            <p:ph type="title"/>
          </p:nvPr>
        </p:nvSpPr>
        <p:spPr bwMode="auto">
          <a:xfrm>
            <a:off x="2230438" y="42703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LAN SWITCH</a:t>
            </a:r>
          </a:p>
        </p:txBody>
      </p:sp>
      <p:sp>
        <p:nvSpPr>
          <p:cNvPr id="36867" name="Rectangle 3">
            <a:extLst>
              <a:ext uri="{FF2B5EF4-FFF2-40B4-BE49-F238E27FC236}">
                <a16:creationId xmlns:a16="http://schemas.microsoft.com/office/drawing/2014/main" id="{F0F93C94-981B-4740-9FDA-AC1B01FB1875}"/>
              </a:ext>
            </a:extLst>
          </p:cNvPr>
          <p:cNvSpPr>
            <a:spLocks noChangeArrowheads="1"/>
          </p:cNvSpPr>
          <p:nvPr/>
        </p:nvSpPr>
        <p:spPr bwMode="auto">
          <a:xfrm>
            <a:off x="2895600" y="2238376"/>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36868" name="Picture 4" descr="未命名">
            <a:extLst>
              <a:ext uri="{FF2B5EF4-FFF2-40B4-BE49-F238E27FC236}">
                <a16:creationId xmlns:a16="http://schemas.microsoft.com/office/drawing/2014/main" id="{7348B312-07EC-47F8-994C-969BFC377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039" y="1247776"/>
            <a:ext cx="6418262"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Text Box 5">
            <a:extLst>
              <a:ext uri="{FF2B5EF4-FFF2-40B4-BE49-F238E27FC236}">
                <a16:creationId xmlns:a16="http://schemas.microsoft.com/office/drawing/2014/main" id="{9976BE3B-47C0-42AA-903A-882AC0EB1B39}"/>
              </a:ext>
            </a:extLst>
          </p:cNvPr>
          <p:cNvSpPr txBox="1">
            <a:spLocks noChangeArrowheads="1"/>
          </p:cNvSpPr>
          <p:nvPr/>
        </p:nvSpPr>
        <p:spPr bwMode="auto">
          <a:xfrm>
            <a:off x="2359025" y="3775075"/>
            <a:ext cx="7823200" cy="2788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buClr>
                <a:schemeClr val="hlink"/>
              </a:buClr>
              <a:buFont typeface="Wingdings" panose="05000000000000000000" pitchFamily="2" charset="2"/>
              <a:buChar char="ü"/>
            </a:pPr>
            <a:r>
              <a:rPr lang="zh-CN" altLang="en-US" sz="2400">
                <a:solidFill>
                  <a:schemeClr val="tx1"/>
                </a:solidFill>
              </a:rPr>
              <a:t>工作在数据链路层，按</a:t>
            </a:r>
            <a:r>
              <a:rPr lang="en-US" altLang="zh-CN" sz="2400">
                <a:solidFill>
                  <a:schemeClr val="tx1"/>
                </a:solidFill>
              </a:rPr>
              <a:t>MAC</a:t>
            </a:r>
            <a:r>
              <a:rPr lang="zh-CN" altLang="en-US" sz="2400">
                <a:solidFill>
                  <a:schemeClr val="tx1"/>
                </a:solidFill>
              </a:rPr>
              <a:t>地址决定路径；</a:t>
            </a:r>
          </a:p>
          <a:p>
            <a:pPr algn="l">
              <a:spcBef>
                <a:spcPct val="10000"/>
              </a:spcBef>
              <a:buClr>
                <a:schemeClr val="hlink"/>
              </a:buClr>
              <a:buFont typeface="Wingdings" panose="05000000000000000000" pitchFamily="2" charset="2"/>
              <a:buChar char="ü"/>
            </a:pPr>
            <a:r>
              <a:rPr lang="zh-CN" altLang="en-US" sz="2400">
                <a:solidFill>
                  <a:schemeClr val="tx1"/>
                </a:solidFill>
              </a:rPr>
              <a:t>在</a:t>
            </a:r>
            <a:r>
              <a:rPr lang="en-US" altLang="zh-CN" sz="2400">
                <a:solidFill>
                  <a:schemeClr val="tx1"/>
                </a:solidFill>
              </a:rPr>
              <a:t>switch</a:t>
            </a:r>
            <a:r>
              <a:rPr lang="zh-CN" altLang="en-US" sz="2400">
                <a:solidFill>
                  <a:schemeClr val="tx1"/>
                </a:solidFill>
              </a:rPr>
              <a:t>内有一个转发表，其中存放着到达各个目的地的路径（出线接口），一个数据帧到达后查表转发；</a:t>
            </a:r>
          </a:p>
          <a:p>
            <a:pPr algn="l">
              <a:spcBef>
                <a:spcPct val="10000"/>
              </a:spcBef>
              <a:buClr>
                <a:schemeClr val="hlink"/>
              </a:buClr>
              <a:buFont typeface="Wingdings" panose="05000000000000000000" pitchFamily="2" charset="2"/>
              <a:buChar char="ü"/>
            </a:pPr>
            <a:r>
              <a:rPr lang="zh-CN" altLang="en-US" sz="2400">
                <a:solidFill>
                  <a:schemeClr val="tx1"/>
                </a:solidFill>
              </a:rPr>
              <a:t>如果转发表中没有该表目，则以</a:t>
            </a:r>
            <a:r>
              <a:rPr lang="en-US" altLang="zh-CN" sz="2400">
                <a:solidFill>
                  <a:schemeClr val="tx1"/>
                </a:solidFill>
              </a:rPr>
              <a:t>flooding</a:t>
            </a:r>
            <a:r>
              <a:rPr lang="zh-CN" altLang="en-US" sz="2400">
                <a:solidFill>
                  <a:schemeClr val="tx1"/>
                </a:solidFill>
              </a:rPr>
              <a:t>广播方式（除入线以外）转发；</a:t>
            </a:r>
          </a:p>
          <a:p>
            <a:pPr algn="l">
              <a:spcBef>
                <a:spcPct val="10000"/>
              </a:spcBef>
              <a:buClr>
                <a:schemeClr val="hlink"/>
              </a:buClr>
              <a:buFont typeface="Wingdings" panose="05000000000000000000" pitchFamily="2" charset="2"/>
              <a:buChar char="ü"/>
            </a:pPr>
            <a:r>
              <a:rPr lang="zh-CN" altLang="en-US" sz="2400">
                <a:solidFill>
                  <a:schemeClr val="tx1"/>
                </a:solidFill>
              </a:rPr>
              <a:t>如果目的地与源主机位于同一个端口，则交换机滤去报文，不予转发。</a:t>
            </a:r>
          </a:p>
        </p:txBody>
      </p:sp>
      <mc:AlternateContent xmlns:mc="http://schemas.openxmlformats.org/markup-compatibility/2006">
        <mc:Choice xmlns:p14="http://schemas.microsoft.com/office/powerpoint/2010/main" Requires="p14">
          <p:contentPart p14:bwMode="auto" r:id="rId3">
            <p14:nvContentPartPr>
              <p14:cNvPr id="1922054" name="Ink 6">
                <a:extLst>
                  <a:ext uri="{FF2B5EF4-FFF2-40B4-BE49-F238E27FC236}">
                    <a16:creationId xmlns:a16="http://schemas.microsoft.com/office/drawing/2014/main" id="{24678E95-1E99-4942-BAEC-7D672C30EB1F}"/>
                  </a:ext>
                </a:extLst>
              </p14:cNvPr>
              <p14:cNvContentPartPr>
                <a14:cpLocks xmlns:a14="http://schemas.microsoft.com/office/drawing/2010/main" noRot="1" noChangeAspect="1" noEditPoints="1" noChangeArrowheads="1" noChangeShapeType="1"/>
              </p14:cNvContentPartPr>
              <p14:nvPr/>
            </p14:nvContentPartPr>
            <p14:xfrm>
              <a:off x="4640264" y="2347914"/>
              <a:ext cx="36512" cy="36512"/>
            </p14:xfrm>
          </p:contentPart>
        </mc:Choice>
        <mc:Fallback>
          <p:pic>
            <p:nvPicPr>
              <p:cNvPr id="1922054" name="Ink 6">
                <a:extLst>
                  <a:ext uri="{FF2B5EF4-FFF2-40B4-BE49-F238E27FC236}">
                    <a16:creationId xmlns:a16="http://schemas.microsoft.com/office/drawing/2014/main" id="{24678E95-1E99-4942-BAEC-7D672C30EB1F}"/>
                  </a:ext>
                </a:extLst>
              </p:cNvPr>
              <p:cNvPicPr>
                <a:picLocks noRot="1" noChangeAspect="1" noEditPoints="1" noChangeArrowheads="1" noChangeShapeType="1"/>
              </p:cNvPicPr>
              <p:nvPr/>
            </p:nvPicPr>
            <p:blipFill>
              <a:blip r:embed="rId4"/>
              <a:stretch>
                <a:fillRect/>
              </a:stretch>
            </p:blipFill>
            <p:spPr>
              <a:xfrm>
                <a:off x="4622550" y="2330544"/>
                <a:ext cx="71216" cy="70543"/>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1879537-20AA-41F6-81B8-072811F40C31}"/>
              </a:ext>
            </a:extLst>
          </p:cNvPr>
          <p:cNvSpPr>
            <a:spLocks noGrp="1" noChangeArrowheads="1"/>
          </p:cNvSpPr>
          <p:nvPr>
            <p:ph type="title"/>
          </p:nvPr>
        </p:nvSpPr>
        <p:spPr bwMode="auto">
          <a:xfrm>
            <a:off x="2247900" y="4064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交换机与路由器比较</a:t>
            </a:r>
          </a:p>
        </p:txBody>
      </p:sp>
      <p:sp>
        <p:nvSpPr>
          <p:cNvPr id="37891" name="Text Box 3">
            <a:extLst>
              <a:ext uri="{FF2B5EF4-FFF2-40B4-BE49-F238E27FC236}">
                <a16:creationId xmlns:a16="http://schemas.microsoft.com/office/drawing/2014/main" id="{BFEA7368-6C75-410F-BE8E-492530ECE286}"/>
              </a:ext>
            </a:extLst>
          </p:cNvPr>
          <p:cNvSpPr txBox="1">
            <a:spLocks noChangeArrowheads="1"/>
          </p:cNvSpPr>
          <p:nvPr/>
        </p:nvSpPr>
        <p:spPr bwMode="auto">
          <a:xfrm>
            <a:off x="2439988" y="1692275"/>
            <a:ext cx="741045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buClr>
                <a:schemeClr val="hlink"/>
              </a:buClr>
              <a:buFont typeface="Wingdings" panose="05000000000000000000" pitchFamily="2" charset="2"/>
              <a:buChar char="Ø"/>
            </a:pPr>
            <a:r>
              <a:rPr lang="zh-CN" altLang="en-US" sz="2800">
                <a:solidFill>
                  <a:schemeClr val="tx1"/>
                </a:solidFill>
              </a:rPr>
              <a:t>交换机机工作于数据链路层，路由器工作于网络层</a:t>
            </a:r>
          </a:p>
          <a:p>
            <a:pPr algn="l">
              <a:spcBef>
                <a:spcPct val="50000"/>
              </a:spcBef>
              <a:buClr>
                <a:schemeClr val="hlink"/>
              </a:buClr>
              <a:buFont typeface="Wingdings" panose="05000000000000000000" pitchFamily="2" charset="2"/>
              <a:buChar char="Ø"/>
            </a:pPr>
            <a:r>
              <a:rPr lang="zh-CN" altLang="en-US" sz="2800">
                <a:solidFill>
                  <a:schemeClr val="tx1"/>
                </a:solidFill>
              </a:rPr>
              <a:t>交换机连接的网络对于</a:t>
            </a:r>
            <a:r>
              <a:rPr lang="en-US" altLang="zh-CN" sz="2800">
                <a:solidFill>
                  <a:schemeClr val="tx1"/>
                </a:solidFill>
              </a:rPr>
              <a:t>IP</a:t>
            </a:r>
            <a:r>
              <a:rPr lang="zh-CN" altLang="en-US" sz="2800">
                <a:solidFill>
                  <a:schemeClr val="tx1"/>
                </a:solidFill>
              </a:rPr>
              <a:t>地址来说都属于同一个网，虽然它们的带宽加宽了，但仍属于同一个广播网；而路由器能隔离广播域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8D90364-1904-4B11-8D7F-19DF55BB3A88}"/>
              </a:ext>
            </a:extLst>
          </p:cNvPr>
          <p:cNvSpPr>
            <a:spLocks noGrp="1" noChangeArrowheads="1"/>
          </p:cNvSpPr>
          <p:nvPr>
            <p:ph type="title"/>
          </p:nvPr>
        </p:nvSpPr>
        <p:spPr bwMode="auto">
          <a:xfrm>
            <a:off x="2209800" y="4762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路由交换机</a:t>
            </a:r>
          </a:p>
        </p:txBody>
      </p:sp>
      <p:sp>
        <p:nvSpPr>
          <p:cNvPr id="1925123" name="Text Box 3">
            <a:extLst>
              <a:ext uri="{FF2B5EF4-FFF2-40B4-BE49-F238E27FC236}">
                <a16:creationId xmlns:a16="http://schemas.microsoft.com/office/drawing/2014/main" id="{4EC86A76-2CA1-4761-8C4F-FEEEFE4A3046}"/>
              </a:ext>
            </a:extLst>
          </p:cNvPr>
          <p:cNvSpPr txBox="1">
            <a:spLocks noChangeArrowheads="1"/>
          </p:cNvSpPr>
          <p:nvPr/>
        </p:nvSpPr>
        <p:spPr bwMode="auto">
          <a:xfrm>
            <a:off x="2559050" y="1711325"/>
            <a:ext cx="7304088" cy="23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8950" indent="-488950"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Font typeface="Wingdings" panose="05000000000000000000" pitchFamily="2" charset="2"/>
              <a:buChar char="Ø"/>
            </a:pPr>
            <a:r>
              <a:rPr kumimoji="1" lang="zh-CN" altLang="en-US" sz="3200" b="1">
                <a:solidFill>
                  <a:srgbClr val="000000"/>
                </a:solidFill>
              </a:rPr>
              <a:t>一个路由器和交换机的结合体</a:t>
            </a:r>
            <a:endParaRPr kumimoji="1" lang="zh-CN" altLang="en-US" sz="3200">
              <a:solidFill>
                <a:srgbClr val="000000"/>
              </a:solidFill>
            </a:endParaRPr>
          </a:p>
          <a:p>
            <a:pPr algn="l" eaLnBrk="1" hangingPunct="1">
              <a:spcBef>
                <a:spcPct val="20000"/>
              </a:spcBef>
              <a:buFont typeface="Wingdings" panose="05000000000000000000" pitchFamily="2" charset="2"/>
              <a:buChar char="Ø"/>
            </a:pPr>
            <a:r>
              <a:rPr kumimoji="1" lang="zh-CN" altLang="en-US" sz="3200" b="1">
                <a:solidFill>
                  <a:srgbClr val="000000"/>
                </a:solidFill>
              </a:rPr>
              <a:t>采用网络层的目的地址寻找输出链路</a:t>
            </a:r>
          </a:p>
          <a:p>
            <a:pPr algn="l" eaLnBrk="1" hangingPunct="1">
              <a:spcBef>
                <a:spcPct val="20000"/>
              </a:spcBef>
              <a:buFont typeface="Wingdings" panose="05000000000000000000" pitchFamily="2" charset="2"/>
              <a:buChar char="Ø"/>
            </a:pPr>
            <a:r>
              <a:rPr kumimoji="1" lang="zh-CN" altLang="en-US" sz="3200" b="1">
                <a:solidFill>
                  <a:srgbClr val="000000"/>
                </a:solidFill>
              </a:rPr>
              <a:t>找到路由以后在链路层进行数据交换</a:t>
            </a:r>
            <a:endParaRPr kumimoji="1" lang="zh-CN" altLang="en-US" sz="3200">
              <a:solidFill>
                <a:srgbClr val="000000"/>
              </a:solidFill>
            </a:endParaRPr>
          </a:p>
          <a:p>
            <a:pPr algn="l" eaLnBrk="1" hangingPunct="1">
              <a:spcBef>
                <a:spcPct val="20000"/>
              </a:spcBef>
              <a:buFont typeface="Wingdings" panose="05000000000000000000" pitchFamily="2" charset="2"/>
              <a:buChar char="Ø"/>
            </a:pPr>
            <a:r>
              <a:rPr kumimoji="1" lang="zh-CN" altLang="en-US" sz="3200" b="1">
                <a:solidFill>
                  <a:srgbClr val="000000"/>
                </a:solidFill>
              </a:rPr>
              <a:t>更快捷 </a:t>
            </a:r>
            <a:endParaRPr kumimoji="1" lang="zh-CN" altLang="en-US" sz="3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25123">
                                            <p:txEl>
                                              <p:pRg st="0" end="0"/>
                                            </p:txEl>
                                          </p:spTgt>
                                        </p:tgtEl>
                                        <p:attrNameLst>
                                          <p:attrName>style.visibility</p:attrName>
                                        </p:attrNameLst>
                                      </p:cBhvr>
                                      <p:to>
                                        <p:strVal val="visible"/>
                                      </p:to>
                                    </p:set>
                                    <p:anim calcmode="lin" valueType="num">
                                      <p:cBhvr additive="base">
                                        <p:cTn id="7" dur="500" fill="hold"/>
                                        <p:tgtEl>
                                          <p:spTgt spid="192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2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25123">
                                            <p:txEl>
                                              <p:pRg st="1" end="1"/>
                                            </p:txEl>
                                          </p:spTgt>
                                        </p:tgtEl>
                                        <p:attrNameLst>
                                          <p:attrName>style.visibility</p:attrName>
                                        </p:attrNameLst>
                                      </p:cBhvr>
                                      <p:to>
                                        <p:strVal val="visible"/>
                                      </p:to>
                                    </p:set>
                                    <p:anim calcmode="lin" valueType="num">
                                      <p:cBhvr additive="base">
                                        <p:cTn id="13" dur="500" fill="hold"/>
                                        <p:tgtEl>
                                          <p:spTgt spid="192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2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25123">
                                            <p:txEl>
                                              <p:pRg st="2" end="2"/>
                                            </p:txEl>
                                          </p:spTgt>
                                        </p:tgtEl>
                                        <p:attrNameLst>
                                          <p:attrName>style.visibility</p:attrName>
                                        </p:attrNameLst>
                                      </p:cBhvr>
                                      <p:to>
                                        <p:strVal val="visible"/>
                                      </p:to>
                                    </p:set>
                                    <p:anim calcmode="lin" valueType="num">
                                      <p:cBhvr additive="base">
                                        <p:cTn id="19" dur="500" fill="hold"/>
                                        <p:tgtEl>
                                          <p:spTgt spid="1925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2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25123">
                                            <p:txEl>
                                              <p:pRg st="3" end="3"/>
                                            </p:txEl>
                                          </p:spTgt>
                                        </p:tgtEl>
                                        <p:attrNameLst>
                                          <p:attrName>style.visibility</p:attrName>
                                        </p:attrNameLst>
                                      </p:cBhvr>
                                      <p:to>
                                        <p:strVal val="visible"/>
                                      </p:to>
                                    </p:set>
                                    <p:anim calcmode="lin" valueType="num">
                                      <p:cBhvr additive="base">
                                        <p:cTn id="25" dur="500" fill="hold"/>
                                        <p:tgtEl>
                                          <p:spTgt spid="1925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25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23" grpId="0" build="p"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696FBC-FD37-41E6-91F6-4EBDD29D451A}"/>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路由器连接的企业网</a:t>
            </a:r>
          </a:p>
        </p:txBody>
      </p:sp>
      <p:pic>
        <p:nvPicPr>
          <p:cNvPr id="39939" name="Picture 3">
            <a:extLst>
              <a:ext uri="{FF2B5EF4-FFF2-40B4-BE49-F238E27FC236}">
                <a16:creationId xmlns:a16="http://schemas.microsoft.com/office/drawing/2014/main" id="{E85C9091-ECFE-47BF-B8AA-42961EA0E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601" y="1363664"/>
            <a:ext cx="7769225" cy="4562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1A1D3AF-6A78-4652-A96C-92E5A0FE60D9}"/>
              </a:ext>
            </a:extLst>
          </p:cNvPr>
          <p:cNvSpPr>
            <a:spLocks noGrp="1" noChangeArrowheads="1"/>
          </p:cNvSpPr>
          <p:nvPr>
            <p:ph type="title"/>
          </p:nvPr>
        </p:nvSpPr>
        <p:spPr bwMode="auto">
          <a:xfrm>
            <a:off x="220980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交换机连接的企业网</a:t>
            </a:r>
          </a:p>
        </p:txBody>
      </p:sp>
      <p:pic>
        <p:nvPicPr>
          <p:cNvPr id="40963" name="Picture 3">
            <a:extLst>
              <a:ext uri="{FF2B5EF4-FFF2-40B4-BE49-F238E27FC236}">
                <a16:creationId xmlns:a16="http://schemas.microsoft.com/office/drawing/2014/main" id="{86A3F4F2-4817-4F4E-9DC4-C6DA130B72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75" y="1287464"/>
            <a:ext cx="7913688" cy="482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14D827C-5B0B-414C-8670-04DE75F744AE}"/>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交换机连接的企业网</a:t>
            </a:r>
          </a:p>
        </p:txBody>
      </p:sp>
      <p:pic>
        <p:nvPicPr>
          <p:cNvPr id="41987" name="Picture 3">
            <a:extLst>
              <a:ext uri="{FF2B5EF4-FFF2-40B4-BE49-F238E27FC236}">
                <a16:creationId xmlns:a16="http://schemas.microsoft.com/office/drawing/2014/main" id="{828F007F-B232-4E5D-9BB0-968E9B811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3339" y="1246189"/>
            <a:ext cx="7342187" cy="483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81904F7-7864-4153-BEC8-946ECB189936}"/>
              </a:ext>
            </a:extLst>
          </p:cNvPr>
          <p:cNvSpPr>
            <a:spLocks noGrp="1" noChangeArrowheads="1"/>
          </p:cNvSpPr>
          <p:nvPr>
            <p:ph type="title"/>
          </p:nvPr>
        </p:nvSpPr>
        <p:spPr bwMode="auto">
          <a:xfrm>
            <a:off x="224790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Gateways</a:t>
            </a:r>
            <a:r>
              <a:rPr lang="zh-CN" altLang="en-US" sz="3600">
                <a:solidFill>
                  <a:schemeClr val="hlink"/>
                </a:solidFill>
                <a:ea typeface="新宋体" panose="02010609030101010101" pitchFamily="49" charset="-122"/>
              </a:rPr>
              <a:t>网关</a:t>
            </a:r>
          </a:p>
        </p:txBody>
      </p:sp>
      <p:sp>
        <p:nvSpPr>
          <p:cNvPr id="1929219" name="Text Box 3">
            <a:extLst>
              <a:ext uri="{FF2B5EF4-FFF2-40B4-BE49-F238E27FC236}">
                <a16:creationId xmlns:a16="http://schemas.microsoft.com/office/drawing/2014/main" id="{0EAE3F55-729F-4E33-97F0-3A0728085B4E}"/>
              </a:ext>
            </a:extLst>
          </p:cNvPr>
          <p:cNvSpPr txBox="1">
            <a:spLocks noChangeArrowheads="1"/>
          </p:cNvSpPr>
          <p:nvPr/>
        </p:nvSpPr>
        <p:spPr bwMode="auto">
          <a:xfrm>
            <a:off x="2141538" y="3268664"/>
            <a:ext cx="8229600" cy="2332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网关”这个术语在不同的设备环境中有着不同的含义。</a:t>
            </a:r>
          </a:p>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对于较早的网络资料来说，“网关”是一个总称。</a:t>
            </a:r>
          </a:p>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网关”常用于连接不同协议的网络，进行不同协议之间的转换。（“协议转换器”）。</a:t>
            </a:r>
          </a:p>
        </p:txBody>
      </p:sp>
      <p:pic>
        <p:nvPicPr>
          <p:cNvPr id="43012" name="Picture 4">
            <a:extLst>
              <a:ext uri="{FF2B5EF4-FFF2-40B4-BE49-F238E27FC236}">
                <a16:creationId xmlns:a16="http://schemas.microsoft.com/office/drawing/2014/main" id="{97B2EB8C-94EC-4DD8-9176-811FD9D2D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313" y="1355726"/>
            <a:ext cx="6477000" cy="169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29219">
                                            <p:txEl>
                                              <p:pRg st="0" end="0"/>
                                            </p:txEl>
                                          </p:spTgt>
                                        </p:tgtEl>
                                        <p:attrNameLst>
                                          <p:attrName>style.visibility</p:attrName>
                                        </p:attrNameLst>
                                      </p:cBhvr>
                                      <p:to>
                                        <p:strVal val="visible"/>
                                      </p:to>
                                    </p:set>
                                    <p:anim calcmode="lin" valueType="num">
                                      <p:cBhvr additive="base">
                                        <p:cTn id="7" dur="500" fill="hold"/>
                                        <p:tgtEl>
                                          <p:spTgt spid="19292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2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29219">
                                            <p:txEl>
                                              <p:pRg st="1" end="1"/>
                                            </p:txEl>
                                          </p:spTgt>
                                        </p:tgtEl>
                                        <p:attrNameLst>
                                          <p:attrName>style.visibility</p:attrName>
                                        </p:attrNameLst>
                                      </p:cBhvr>
                                      <p:to>
                                        <p:strVal val="visible"/>
                                      </p:to>
                                    </p:set>
                                    <p:anim calcmode="lin" valueType="num">
                                      <p:cBhvr additive="base">
                                        <p:cTn id="13" dur="500" fill="hold"/>
                                        <p:tgtEl>
                                          <p:spTgt spid="19292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2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29219">
                                            <p:txEl>
                                              <p:pRg st="2" end="2"/>
                                            </p:txEl>
                                          </p:spTgt>
                                        </p:tgtEl>
                                        <p:attrNameLst>
                                          <p:attrName>style.visibility</p:attrName>
                                        </p:attrNameLst>
                                      </p:cBhvr>
                                      <p:to>
                                        <p:strVal val="visible"/>
                                      </p:to>
                                    </p:set>
                                    <p:anim calcmode="lin" valueType="num">
                                      <p:cBhvr additive="base">
                                        <p:cTn id="19" dur="500" fill="hold"/>
                                        <p:tgtEl>
                                          <p:spTgt spid="19292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292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9219" grpId="0" build="p"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F14B16E-0574-4BB3-A4FD-DA17E96FC73C}"/>
              </a:ext>
            </a:extLst>
          </p:cNvPr>
          <p:cNvSpPr>
            <a:spLocks noGrp="1" noChangeArrowheads="1"/>
          </p:cNvSpPr>
          <p:nvPr>
            <p:ph type="title"/>
          </p:nvPr>
        </p:nvSpPr>
        <p:spPr bwMode="auto">
          <a:xfrm>
            <a:off x="2228850" y="4953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网关与</a:t>
            </a:r>
            <a:r>
              <a:rPr lang="en-US" altLang="zh-CN" sz="3600">
                <a:solidFill>
                  <a:schemeClr val="hlink"/>
                </a:solidFill>
                <a:ea typeface="新宋体" panose="02010609030101010101" pitchFamily="49" charset="-122"/>
              </a:rPr>
              <a:t>OSI</a:t>
            </a:r>
            <a:r>
              <a:rPr lang="zh-CN" altLang="en-US" sz="3600">
                <a:solidFill>
                  <a:schemeClr val="hlink"/>
                </a:solidFill>
                <a:ea typeface="新宋体" panose="02010609030101010101" pitchFamily="49" charset="-122"/>
              </a:rPr>
              <a:t>模型</a:t>
            </a:r>
          </a:p>
        </p:txBody>
      </p:sp>
      <p:sp>
        <p:nvSpPr>
          <p:cNvPr id="44035" name="Text Box 3">
            <a:extLst>
              <a:ext uri="{FF2B5EF4-FFF2-40B4-BE49-F238E27FC236}">
                <a16:creationId xmlns:a16="http://schemas.microsoft.com/office/drawing/2014/main" id="{E5A29C0B-AC27-4619-AB5C-8107EEBC5FE3}"/>
              </a:ext>
            </a:extLst>
          </p:cNvPr>
          <p:cNvSpPr txBox="1">
            <a:spLocks noChangeArrowheads="1"/>
          </p:cNvSpPr>
          <p:nvPr/>
        </p:nvSpPr>
        <p:spPr bwMode="auto">
          <a:xfrm>
            <a:off x="2511425" y="1236664"/>
            <a:ext cx="74882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3600">
                <a:solidFill>
                  <a:srgbClr val="000000"/>
                </a:solidFill>
              </a:rPr>
              <a:t>网关是一个协议转换器。</a:t>
            </a:r>
            <a:r>
              <a:rPr kumimoji="1" lang="zh-CN" altLang="en-US" sz="2800">
                <a:solidFill>
                  <a:srgbClr val="000000"/>
                </a:solidFill>
              </a:rPr>
              <a:t> </a:t>
            </a:r>
          </a:p>
        </p:txBody>
      </p:sp>
      <p:pic>
        <p:nvPicPr>
          <p:cNvPr id="1930244" name="Picture 4">
            <a:extLst>
              <a:ext uri="{FF2B5EF4-FFF2-40B4-BE49-F238E27FC236}">
                <a16:creationId xmlns:a16="http://schemas.microsoft.com/office/drawing/2014/main" id="{B19CA2DE-5ED0-4786-9203-812E98D58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1764" y="2054226"/>
            <a:ext cx="7394575" cy="465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30244"/>
                                        </p:tgtEl>
                                        <p:attrNameLst>
                                          <p:attrName>style.visibility</p:attrName>
                                        </p:attrNameLst>
                                      </p:cBhvr>
                                      <p:to>
                                        <p:strVal val="visible"/>
                                      </p:to>
                                    </p:set>
                                    <p:anim calcmode="lin" valueType="num">
                                      <p:cBhvr additive="base">
                                        <p:cTn id="7" dur="500" fill="hold"/>
                                        <p:tgtEl>
                                          <p:spTgt spid="1930244"/>
                                        </p:tgtEl>
                                        <p:attrNameLst>
                                          <p:attrName>ppt_x</p:attrName>
                                        </p:attrNameLst>
                                      </p:cBhvr>
                                      <p:tavLst>
                                        <p:tav tm="0">
                                          <p:val>
                                            <p:strVal val="0-#ppt_w/2"/>
                                          </p:val>
                                        </p:tav>
                                        <p:tav tm="100000">
                                          <p:val>
                                            <p:strVal val="#ppt_x"/>
                                          </p:val>
                                        </p:tav>
                                      </p:tavLst>
                                    </p:anim>
                                    <p:anim calcmode="lin" valueType="num">
                                      <p:cBhvr additive="base">
                                        <p:cTn id="8" dur="500" fill="hold"/>
                                        <p:tgtEl>
                                          <p:spTgt spid="19302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a:extLst>
              <a:ext uri="{FF2B5EF4-FFF2-40B4-BE49-F238E27FC236}">
                <a16:creationId xmlns:a16="http://schemas.microsoft.com/office/drawing/2014/main" id="{4D0BA01B-EC87-4F47-AAC6-F4514C746D04}"/>
              </a:ext>
            </a:extLst>
          </p:cNvPr>
          <p:cNvSpPr>
            <a:spLocks noGrp="1" noChangeArrowheads="1"/>
          </p:cNvSpPr>
          <p:nvPr>
            <p:ph type="title"/>
          </p:nvPr>
        </p:nvSpPr>
        <p:spPr bwMode="auto">
          <a:xfrm>
            <a:off x="222885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网关实例</a:t>
            </a:r>
          </a:p>
        </p:txBody>
      </p:sp>
      <p:pic>
        <p:nvPicPr>
          <p:cNvPr id="1931267" name="Picture 1027">
            <a:extLst>
              <a:ext uri="{FF2B5EF4-FFF2-40B4-BE49-F238E27FC236}">
                <a16:creationId xmlns:a16="http://schemas.microsoft.com/office/drawing/2014/main" id="{5D38A036-D009-4F2A-AAE8-AC4D1B739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3" y="1631951"/>
            <a:ext cx="2824162" cy="30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31268" name="Picture 1028">
            <a:extLst>
              <a:ext uri="{FF2B5EF4-FFF2-40B4-BE49-F238E27FC236}">
                <a16:creationId xmlns:a16="http://schemas.microsoft.com/office/drawing/2014/main" id="{F1345DEF-C4F2-4517-AC1E-6DA330665D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9213" y="1587501"/>
            <a:ext cx="2633662" cy="323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31269" name="Picture 1029">
            <a:extLst>
              <a:ext uri="{FF2B5EF4-FFF2-40B4-BE49-F238E27FC236}">
                <a16:creationId xmlns:a16="http://schemas.microsoft.com/office/drawing/2014/main" id="{F67FFE50-E940-4947-B7C5-0B77CEA8C1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9" y="1862139"/>
            <a:ext cx="3190876" cy="216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31270" name="Text Box 1030">
            <a:extLst>
              <a:ext uri="{FF2B5EF4-FFF2-40B4-BE49-F238E27FC236}">
                <a16:creationId xmlns:a16="http://schemas.microsoft.com/office/drawing/2014/main" id="{692F7FC2-B1FF-41DD-A4E9-29FBD0FC546A}"/>
              </a:ext>
            </a:extLst>
          </p:cNvPr>
          <p:cNvSpPr txBox="1">
            <a:spLocks noChangeArrowheads="1"/>
          </p:cNvSpPr>
          <p:nvPr/>
        </p:nvSpPr>
        <p:spPr bwMode="auto">
          <a:xfrm>
            <a:off x="2994026" y="4791076"/>
            <a:ext cx="68357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kumimoji="1" lang="zh-CN" altLang="en-US" sz="3600">
                <a:solidFill>
                  <a:srgbClr val="000000"/>
                </a:solidFill>
              </a:rPr>
              <a:t>一个连接</a:t>
            </a:r>
            <a:r>
              <a:rPr kumimoji="1" lang="en-US" altLang="zh-CN" sz="3600">
                <a:solidFill>
                  <a:srgbClr val="000000"/>
                </a:solidFill>
              </a:rPr>
              <a:t>SNA</a:t>
            </a:r>
            <a:r>
              <a:rPr kumimoji="1" lang="zh-CN" altLang="en-US" sz="3600">
                <a:solidFill>
                  <a:srgbClr val="000000"/>
                </a:solidFill>
              </a:rPr>
              <a:t>网络（</a:t>
            </a:r>
            <a:r>
              <a:rPr kumimoji="1" lang="en-US" altLang="zh-CN" sz="3600">
                <a:solidFill>
                  <a:srgbClr val="000000"/>
                </a:solidFill>
              </a:rPr>
              <a:t>IBM</a:t>
            </a:r>
            <a:r>
              <a:rPr kumimoji="1" lang="zh-CN" altLang="en-US" sz="3600">
                <a:solidFill>
                  <a:srgbClr val="000000"/>
                </a:solidFill>
              </a:rPr>
              <a:t>）和</a:t>
            </a:r>
            <a:r>
              <a:rPr kumimoji="1" lang="en-US" altLang="zh-CN" sz="3600">
                <a:solidFill>
                  <a:srgbClr val="000000"/>
                </a:solidFill>
              </a:rPr>
              <a:t>NetWare</a:t>
            </a:r>
            <a:r>
              <a:rPr kumimoji="1" lang="zh-CN" altLang="en-US" sz="3600">
                <a:solidFill>
                  <a:srgbClr val="000000"/>
                </a:solidFill>
              </a:rPr>
              <a:t>网络（</a:t>
            </a:r>
            <a:r>
              <a:rPr kumimoji="1" lang="en-US" altLang="zh-CN" sz="3600">
                <a:solidFill>
                  <a:srgbClr val="000000"/>
                </a:solidFill>
              </a:rPr>
              <a:t>Novell</a:t>
            </a:r>
            <a:r>
              <a:rPr kumimoji="1" lang="zh-CN" altLang="en-US" sz="3600">
                <a:solidFill>
                  <a:srgbClr val="000000"/>
                </a:solidFill>
              </a:rPr>
              <a:t>）的网关。 </a:t>
            </a:r>
            <a:endParaRPr kumimoji="1" lang="zh-CN" altLang="en-US" sz="36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31270">
                                            <p:txEl>
                                              <p:pRg st="0" end="0"/>
                                            </p:txEl>
                                          </p:spTgt>
                                        </p:tgtEl>
                                        <p:attrNameLst>
                                          <p:attrName>style.visibility</p:attrName>
                                        </p:attrNameLst>
                                      </p:cBhvr>
                                      <p:to>
                                        <p:strVal val="visible"/>
                                      </p:to>
                                    </p:set>
                                    <p:anim calcmode="lin" valueType="num">
                                      <p:cBhvr additive="base">
                                        <p:cTn id="7" dur="500" fill="hold"/>
                                        <p:tgtEl>
                                          <p:spTgt spid="193127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312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31267"/>
                                        </p:tgtEl>
                                        <p:attrNameLst>
                                          <p:attrName>style.visibility</p:attrName>
                                        </p:attrNameLst>
                                      </p:cBhvr>
                                      <p:to>
                                        <p:strVal val="visible"/>
                                      </p:to>
                                    </p:set>
                                    <p:anim calcmode="lin" valueType="num">
                                      <p:cBhvr additive="base">
                                        <p:cTn id="13" dur="500" fill="hold"/>
                                        <p:tgtEl>
                                          <p:spTgt spid="1931267"/>
                                        </p:tgtEl>
                                        <p:attrNameLst>
                                          <p:attrName>ppt_x</p:attrName>
                                        </p:attrNameLst>
                                      </p:cBhvr>
                                      <p:tavLst>
                                        <p:tav tm="0">
                                          <p:val>
                                            <p:strVal val="0-#ppt_w/2"/>
                                          </p:val>
                                        </p:tav>
                                        <p:tav tm="100000">
                                          <p:val>
                                            <p:strVal val="#ppt_x"/>
                                          </p:val>
                                        </p:tav>
                                      </p:tavLst>
                                    </p:anim>
                                    <p:anim calcmode="lin" valueType="num">
                                      <p:cBhvr additive="base">
                                        <p:cTn id="14" dur="500" fill="hold"/>
                                        <p:tgtEl>
                                          <p:spTgt spid="193126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31268"/>
                                        </p:tgtEl>
                                        <p:attrNameLst>
                                          <p:attrName>style.visibility</p:attrName>
                                        </p:attrNameLst>
                                      </p:cBhvr>
                                      <p:to>
                                        <p:strVal val="visible"/>
                                      </p:to>
                                    </p:set>
                                    <p:anim calcmode="lin" valueType="num">
                                      <p:cBhvr additive="base">
                                        <p:cTn id="19" dur="500" fill="hold"/>
                                        <p:tgtEl>
                                          <p:spTgt spid="1931268"/>
                                        </p:tgtEl>
                                        <p:attrNameLst>
                                          <p:attrName>ppt_x</p:attrName>
                                        </p:attrNameLst>
                                      </p:cBhvr>
                                      <p:tavLst>
                                        <p:tav tm="0">
                                          <p:val>
                                            <p:strVal val="0-#ppt_w/2"/>
                                          </p:val>
                                        </p:tav>
                                        <p:tav tm="100000">
                                          <p:val>
                                            <p:strVal val="#ppt_x"/>
                                          </p:val>
                                        </p:tav>
                                      </p:tavLst>
                                    </p:anim>
                                    <p:anim calcmode="lin" valueType="num">
                                      <p:cBhvr additive="base">
                                        <p:cTn id="20" dur="500" fill="hold"/>
                                        <p:tgtEl>
                                          <p:spTgt spid="19312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931269"/>
                                        </p:tgtEl>
                                        <p:attrNameLst>
                                          <p:attrName>style.visibility</p:attrName>
                                        </p:attrNameLst>
                                      </p:cBhvr>
                                      <p:to>
                                        <p:strVal val="visible"/>
                                      </p:to>
                                    </p:set>
                                    <p:anim calcmode="lin" valueType="num">
                                      <p:cBhvr additive="base">
                                        <p:cTn id="25" dur="500" fill="hold"/>
                                        <p:tgtEl>
                                          <p:spTgt spid="1931269"/>
                                        </p:tgtEl>
                                        <p:attrNameLst>
                                          <p:attrName>ppt_x</p:attrName>
                                        </p:attrNameLst>
                                      </p:cBhvr>
                                      <p:tavLst>
                                        <p:tav tm="0">
                                          <p:val>
                                            <p:strVal val="1+#ppt_w/2"/>
                                          </p:val>
                                        </p:tav>
                                        <p:tav tm="100000">
                                          <p:val>
                                            <p:strVal val="#ppt_x"/>
                                          </p:val>
                                        </p:tav>
                                      </p:tavLst>
                                    </p:anim>
                                    <p:anim calcmode="lin" valueType="num">
                                      <p:cBhvr additive="base">
                                        <p:cTn id="26" dur="500" fill="hold"/>
                                        <p:tgtEl>
                                          <p:spTgt spid="19312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1270" grpId="0" build="p" autoUpdateAnimBg="0"/>
    </p:bldLst>
  </p:timing>
</p:sld>
</file>

<file path=ppt/theme/theme1.xml><?xml version="1.0" encoding="utf-8"?>
<a:theme xmlns:a="http://schemas.openxmlformats.org/drawingml/2006/main" name="Blends">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7376</TotalTime>
  <Words>7230</Words>
  <Application>Microsoft Office PowerPoint</Application>
  <PresentationFormat>宽屏</PresentationFormat>
  <Paragraphs>1288</Paragraphs>
  <Slides>131</Slides>
  <Notes>12</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2</vt:i4>
      </vt:variant>
      <vt:variant>
        <vt:lpstr>幻灯片标题</vt:lpstr>
      </vt:variant>
      <vt:variant>
        <vt:i4>131</vt:i4>
      </vt:variant>
    </vt:vector>
  </HeadingPairs>
  <TitlesOfParts>
    <vt:vector size="156" baseType="lpstr">
      <vt:lpstr>Courier</vt:lpstr>
      <vt:lpstr>Monotype Sorts</vt:lpstr>
      <vt:lpstr>等线</vt:lpstr>
      <vt:lpstr>等线 Light</vt:lpstr>
      <vt:lpstr>华文行楷</vt:lpstr>
      <vt:lpstr>华文楷体</vt:lpstr>
      <vt:lpstr>华文新魏</vt:lpstr>
      <vt:lpstr>华文中宋</vt:lpstr>
      <vt:lpstr>楷体_GB2312</vt:lpstr>
      <vt:lpstr>隶书</vt:lpstr>
      <vt:lpstr>宋体</vt:lpstr>
      <vt:lpstr>新宋体</vt:lpstr>
      <vt:lpstr>Arial</vt:lpstr>
      <vt:lpstr>Calibri</vt:lpstr>
      <vt:lpstr>Calibri Light</vt:lpstr>
      <vt:lpstr>Comic Sans MS</vt:lpstr>
      <vt:lpstr>Courier New</vt:lpstr>
      <vt:lpstr>Symbol</vt:lpstr>
      <vt:lpstr>Tahoma</vt:lpstr>
      <vt:lpstr>Times New Roman</vt:lpstr>
      <vt:lpstr>Verdana</vt:lpstr>
      <vt:lpstr>Wingdings</vt:lpstr>
      <vt:lpstr>Blends</vt:lpstr>
      <vt:lpstr>VISIO</vt:lpstr>
      <vt:lpstr>Clip</vt:lpstr>
      <vt:lpstr>PowerPoint 演示文稿</vt:lpstr>
      <vt:lpstr>5.1 网络层服务</vt:lpstr>
      <vt:lpstr>5.1.1 网络层概述</vt:lpstr>
      <vt:lpstr>网络层模型</vt:lpstr>
      <vt:lpstr> Internet协议栈</vt:lpstr>
      <vt:lpstr>网络层的功能</vt:lpstr>
      <vt:lpstr>在IP之前</vt:lpstr>
      <vt:lpstr>IP之后</vt:lpstr>
      <vt:lpstr>网络层解决的问题</vt:lpstr>
      <vt:lpstr>5.1.2 网络层服务——Internet只提供数据报服务</vt:lpstr>
      <vt:lpstr>Best Effort</vt:lpstr>
      <vt:lpstr>路由表</vt:lpstr>
      <vt:lpstr>5.1.3 Internet的网络层</vt:lpstr>
      <vt:lpstr>Summary</vt:lpstr>
      <vt:lpstr>PowerPoint 演示文稿</vt:lpstr>
      <vt:lpstr>网络地址</vt:lpstr>
      <vt:lpstr>网络地址类别</vt:lpstr>
      <vt:lpstr>网络地址转换</vt:lpstr>
      <vt:lpstr>TCP/IP 地址系统</vt:lpstr>
      <vt:lpstr>IP 地址的引入</vt:lpstr>
      <vt:lpstr>通过IP地址屏蔽物理网络之间的差异</vt:lpstr>
      <vt:lpstr>网间网层次结构</vt:lpstr>
      <vt:lpstr>IP 地址的类型</vt:lpstr>
      <vt:lpstr>其他 IP 地址</vt:lpstr>
      <vt:lpstr>IP地址范围 </vt:lpstr>
      <vt:lpstr>IP 地址表示法</vt:lpstr>
      <vt:lpstr>特殊的 IP 地址</vt:lpstr>
      <vt:lpstr>直接广播地址</vt:lpstr>
      <vt:lpstr>有限广播地址</vt:lpstr>
      <vt:lpstr>0 地址(本网络+本主机）</vt:lpstr>
      <vt:lpstr>0 地址(本网络）</vt:lpstr>
      <vt:lpstr>0 地址(本主机）</vt:lpstr>
      <vt:lpstr>回送地址</vt:lpstr>
      <vt:lpstr>路由器和多穴主机的 IP 地址</vt:lpstr>
      <vt:lpstr>分类IP 地址存在的问题</vt:lpstr>
      <vt:lpstr>分类IP 地址存在的问题</vt:lpstr>
      <vt:lpstr>子网（Subnet）划分</vt:lpstr>
      <vt:lpstr>子网划分的基本思路</vt:lpstr>
      <vt:lpstr>子网划分</vt:lpstr>
      <vt:lpstr>不划分子网</vt:lpstr>
      <vt:lpstr>划分子网后</vt:lpstr>
      <vt:lpstr>上例网络中的地址</vt:lpstr>
      <vt:lpstr>子网掩码</vt:lpstr>
      <vt:lpstr>CIDR（超网）</vt:lpstr>
      <vt:lpstr>超网的作用</vt:lpstr>
      <vt:lpstr>NAT</vt:lpstr>
      <vt:lpstr>背景</vt:lpstr>
      <vt:lpstr>Scenario(情景)</vt:lpstr>
      <vt:lpstr>NAT 例子</vt:lpstr>
      <vt:lpstr>TCP NAT 例子</vt:lpstr>
      <vt:lpstr>NAT实现负载平衡</vt:lpstr>
      <vt:lpstr>TCP/IP 的地址解析</vt:lpstr>
      <vt:lpstr>传输过程中的网络地址</vt:lpstr>
      <vt:lpstr>ARP</vt:lpstr>
      <vt:lpstr>本地 ARP 总结</vt:lpstr>
      <vt:lpstr>ARP 补充说明</vt:lpstr>
      <vt:lpstr>ARP 优化</vt:lpstr>
      <vt:lpstr>DHCP</vt:lpstr>
      <vt:lpstr>DHCP</vt:lpstr>
      <vt:lpstr>  DHCP说明</vt:lpstr>
      <vt:lpstr>DNS</vt:lpstr>
      <vt:lpstr>域名与地址:共存?</vt:lpstr>
      <vt:lpstr>不是一对一的映射</vt:lpstr>
      <vt:lpstr>域名结构</vt:lpstr>
      <vt:lpstr>顶级域名 (TLDs)</vt:lpstr>
      <vt:lpstr>怎样得到一个IP地址</vt:lpstr>
      <vt:lpstr>域名服务器的结构</vt:lpstr>
      <vt:lpstr>DNS 的例子</vt:lpstr>
      <vt:lpstr>DNS: 缓存与更新纪录</vt:lpstr>
      <vt:lpstr>IPv6</vt:lpstr>
      <vt:lpstr>IPv6 的目标</vt:lpstr>
      <vt:lpstr>IPv4 到 IPv6变迁</vt:lpstr>
      <vt:lpstr>Summary</vt:lpstr>
      <vt:lpstr>PowerPoint 演示文稿</vt:lpstr>
      <vt:lpstr>路由</vt:lpstr>
      <vt:lpstr>路由</vt:lpstr>
      <vt:lpstr>转发与路由</vt:lpstr>
      <vt:lpstr>4.3.1 报文转发</vt:lpstr>
      <vt:lpstr>IP 转发</vt:lpstr>
      <vt:lpstr>分组转发</vt:lpstr>
      <vt:lpstr>IP 转发表</vt:lpstr>
      <vt:lpstr>IP 转发表样式</vt:lpstr>
      <vt:lpstr>路由表查找</vt:lpstr>
      <vt:lpstr>主机的分组转发</vt:lpstr>
      <vt:lpstr>路由器的分组转发</vt:lpstr>
      <vt:lpstr>IP 路由器</vt:lpstr>
      <vt:lpstr>4.3.2 路由策略</vt:lpstr>
      <vt:lpstr>固定路由</vt:lpstr>
      <vt:lpstr>泛洪法</vt:lpstr>
      <vt:lpstr>PowerPoint 演示文稿</vt:lpstr>
      <vt:lpstr>泛洪法的性质</vt:lpstr>
      <vt:lpstr>随机路由</vt:lpstr>
      <vt:lpstr>自适应路由</vt:lpstr>
      <vt:lpstr>自适应路由的优点</vt:lpstr>
      <vt:lpstr>自适应算法信息来源</vt:lpstr>
      <vt:lpstr>5.5 网际互联</vt:lpstr>
      <vt:lpstr>Summary</vt:lpstr>
      <vt:lpstr>问题的提出</vt:lpstr>
      <vt:lpstr>可能的解决办法</vt:lpstr>
      <vt:lpstr>互连设备</vt:lpstr>
      <vt:lpstr>互连设备</vt:lpstr>
      <vt:lpstr>互连设备</vt:lpstr>
      <vt:lpstr>互连设备</vt:lpstr>
      <vt:lpstr>中继器</vt:lpstr>
      <vt:lpstr>中继器的功能 </vt:lpstr>
      <vt:lpstr>集线器（HUB） </vt:lpstr>
      <vt:lpstr>网桥</vt:lpstr>
      <vt:lpstr>网桥</vt:lpstr>
      <vt:lpstr>网桥的功能</vt:lpstr>
      <vt:lpstr>网桥的功能--提高吞吐率</vt:lpstr>
      <vt:lpstr>帧的转发</vt:lpstr>
      <vt:lpstr>帧的转发</vt:lpstr>
      <vt:lpstr>地址的学习 (学习网桥)</vt:lpstr>
      <vt:lpstr>透明网桥总结</vt:lpstr>
      <vt:lpstr>源路由网桥</vt:lpstr>
      <vt:lpstr>两种网桥的比较</vt:lpstr>
      <vt:lpstr>路由器</vt:lpstr>
      <vt:lpstr>路由器的作用</vt:lpstr>
      <vt:lpstr>共享与交换</vt:lpstr>
      <vt:lpstr>交换机的特点</vt:lpstr>
      <vt:lpstr>交换机 </vt:lpstr>
      <vt:lpstr>两种交换技术</vt:lpstr>
      <vt:lpstr>LAN SWITCH</vt:lpstr>
      <vt:lpstr>交换机与路由器比较</vt:lpstr>
      <vt:lpstr>路由交换机</vt:lpstr>
      <vt:lpstr>路由器连接的企业网</vt:lpstr>
      <vt:lpstr>交换机连接的企业网</vt:lpstr>
      <vt:lpstr>交换机连接的企业网</vt:lpstr>
      <vt:lpstr>Gateways网关</vt:lpstr>
      <vt:lpstr>网关与OSI模型</vt:lpstr>
      <vt:lpstr>网关实例</vt:lpstr>
    </vt:vector>
  </TitlesOfParts>
  <Company>西南交通大学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谭献海</dc:creator>
  <cp:lastModifiedBy>陈剑波</cp:lastModifiedBy>
  <cp:revision>694</cp:revision>
  <dcterms:created xsi:type="dcterms:W3CDTF">2000-11-07T02:44:39Z</dcterms:created>
  <dcterms:modified xsi:type="dcterms:W3CDTF">2020-09-25T10:55:06Z</dcterms:modified>
</cp:coreProperties>
</file>