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8">
  <p:sldMasterIdLst>
    <p:sldMasterId id="2147483648" r:id="rId1"/>
  </p:sldMasterIdLst>
  <p:notesMasterIdLst>
    <p:notesMasterId r:id="rId120"/>
  </p:notesMasterIdLst>
  <p:sldIdLst>
    <p:sldId id="256" r:id="rId2"/>
    <p:sldId id="419" r:id="rId3"/>
    <p:sldId id="302" r:id="rId4"/>
    <p:sldId id="260" r:id="rId5"/>
    <p:sldId id="303" r:id="rId6"/>
    <p:sldId id="304" r:id="rId7"/>
    <p:sldId id="306" r:id="rId8"/>
    <p:sldId id="305" r:id="rId9"/>
    <p:sldId id="307" r:id="rId10"/>
    <p:sldId id="308" r:id="rId11"/>
    <p:sldId id="257" r:id="rId12"/>
    <p:sldId id="309" r:id="rId13"/>
    <p:sldId id="310" r:id="rId14"/>
    <p:sldId id="420" r:id="rId15"/>
    <p:sldId id="311" r:id="rId16"/>
    <p:sldId id="312" r:id="rId17"/>
    <p:sldId id="313" r:id="rId18"/>
    <p:sldId id="314" r:id="rId19"/>
    <p:sldId id="315" r:id="rId20"/>
    <p:sldId id="318" r:id="rId21"/>
    <p:sldId id="317" r:id="rId22"/>
    <p:sldId id="319" r:id="rId23"/>
    <p:sldId id="320" r:id="rId24"/>
    <p:sldId id="321" r:id="rId25"/>
    <p:sldId id="322" r:id="rId26"/>
    <p:sldId id="323" r:id="rId27"/>
    <p:sldId id="324" r:id="rId28"/>
    <p:sldId id="325" r:id="rId29"/>
    <p:sldId id="326" r:id="rId30"/>
    <p:sldId id="327" r:id="rId31"/>
    <p:sldId id="328" r:id="rId32"/>
    <p:sldId id="329" r:id="rId33"/>
    <p:sldId id="331" r:id="rId34"/>
    <p:sldId id="330" r:id="rId35"/>
    <p:sldId id="332" r:id="rId36"/>
    <p:sldId id="333" r:id="rId37"/>
    <p:sldId id="334" r:id="rId38"/>
    <p:sldId id="335" r:id="rId39"/>
    <p:sldId id="336" r:id="rId40"/>
    <p:sldId id="337" r:id="rId41"/>
    <p:sldId id="338" r:id="rId42"/>
    <p:sldId id="339" r:id="rId43"/>
    <p:sldId id="340" r:id="rId44"/>
    <p:sldId id="341" r:id="rId45"/>
    <p:sldId id="342" r:id="rId46"/>
    <p:sldId id="344" r:id="rId47"/>
    <p:sldId id="343" r:id="rId48"/>
    <p:sldId id="345" r:id="rId49"/>
    <p:sldId id="346" r:id="rId50"/>
    <p:sldId id="348" r:id="rId51"/>
    <p:sldId id="349" r:id="rId52"/>
    <p:sldId id="350" r:id="rId53"/>
    <p:sldId id="351" r:id="rId54"/>
    <p:sldId id="352" r:id="rId55"/>
    <p:sldId id="353" r:id="rId56"/>
    <p:sldId id="354" r:id="rId57"/>
    <p:sldId id="355" r:id="rId58"/>
    <p:sldId id="357" r:id="rId59"/>
    <p:sldId id="358" r:id="rId60"/>
    <p:sldId id="356" r:id="rId61"/>
    <p:sldId id="359" r:id="rId62"/>
    <p:sldId id="360" r:id="rId63"/>
    <p:sldId id="361" r:id="rId64"/>
    <p:sldId id="362" r:id="rId65"/>
    <p:sldId id="363" r:id="rId66"/>
    <p:sldId id="364" r:id="rId67"/>
    <p:sldId id="365" r:id="rId68"/>
    <p:sldId id="366" r:id="rId69"/>
    <p:sldId id="367" r:id="rId70"/>
    <p:sldId id="368" r:id="rId71"/>
    <p:sldId id="369" r:id="rId72"/>
    <p:sldId id="370" r:id="rId73"/>
    <p:sldId id="371" r:id="rId74"/>
    <p:sldId id="372" r:id="rId75"/>
    <p:sldId id="373" r:id="rId76"/>
    <p:sldId id="374" r:id="rId77"/>
    <p:sldId id="375" r:id="rId78"/>
    <p:sldId id="376" r:id="rId79"/>
    <p:sldId id="377" r:id="rId80"/>
    <p:sldId id="378" r:id="rId81"/>
    <p:sldId id="379" r:id="rId82"/>
    <p:sldId id="380" r:id="rId83"/>
    <p:sldId id="381" r:id="rId84"/>
    <p:sldId id="382" r:id="rId85"/>
    <p:sldId id="383" r:id="rId86"/>
    <p:sldId id="384" r:id="rId87"/>
    <p:sldId id="386" r:id="rId88"/>
    <p:sldId id="387" r:id="rId89"/>
    <p:sldId id="388" r:id="rId90"/>
    <p:sldId id="389" r:id="rId91"/>
    <p:sldId id="390" r:id="rId92"/>
    <p:sldId id="391" r:id="rId93"/>
    <p:sldId id="392" r:id="rId94"/>
    <p:sldId id="393" r:id="rId95"/>
    <p:sldId id="394" r:id="rId96"/>
    <p:sldId id="395" r:id="rId97"/>
    <p:sldId id="396" r:id="rId98"/>
    <p:sldId id="397" r:id="rId99"/>
    <p:sldId id="398" r:id="rId100"/>
    <p:sldId id="399" r:id="rId101"/>
    <p:sldId id="400" r:id="rId102"/>
    <p:sldId id="401" r:id="rId103"/>
    <p:sldId id="402" r:id="rId104"/>
    <p:sldId id="403" r:id="rId105"/>
    <p:sldId id="404" r:id="rId106"/>
    <p:sldId id="405" r:id="rId107"/>
    <p:sldId id="406" r:id="rId108"/>
    <p:sldId id="407" r:id="rId109"/>
    <p:sldId id="408" r:id="rId110"/>
    <p:sldId id="409" r:id="rId111"/>
    <p:sldId id="410" r:id="rId112"/>
    <p:sldId id="411" r:id="rId113"/>
    <p:sldId id="412" r:id="rId114"/>
    <p:sldId id="413" r:id="rId115"/>
    <p:sldId id="414" r:id="rId116"/>
    <p:sldId id="415" r:id="rId117"/>
    <p:sldId id="416" r:id="rId118"/>
    <p:sldId id="417" r:id="rId1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19" y="4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A0D57F-DA8E-47C9-9DD1-82A80EC5B516}" type="datetimeFigureOut">
              <a:rPr lang="zh-CN" altLang="en-US" smtClean="0"/>
              <a:t>2024/10/8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C4452-AF80-48A3-A697-21761BD1BD2B}" type="slidenum">
              <a:rPr lang="zh-CN" altLang="en-US" smtClean="0"/>
              <a:t>‹#›</a:t>
            </a:fld>
            <a:endParaRPr lang="zh-CN" altLang="en-US"/>
          </a:p>
        </p:txBody>
      </p:sp>
    </p:spTree>
    <p:extLst>
      <p:ext uri="{BB962C8B-B14F-4D97-AF65-F5344CB8AC3E}">
        <p14:creationId xmlns:p14="http://schemas.microsoft.com/office/powerpoint/2010/main" val="274288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82</a:t>
            </a:fld>
            <a:endParaRPr lang="zh-CN" altLang="en-US"/>
          </a:p>
        </p:txBody>
      </p:sp>
    </p:spTree>
    <p:extLst>
      <p:ext uri="{BB962C8B-B14F-4D97-AF65-F5344CB8AC3E}">
        <p14:creationId xmlns:p14="http://schemas.microsoft.com/office/powerpoint/2010/main" val="744910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83</a:t>
            </a:fld>
            <a:endParaRPr lang="zh-CN" altLang="en-US"/>
          </a:p>
        </p:txBody>
      </p:sp>
    </p:spTree>
    <p:extLst>
      <p:ext uri="{BB962C8B-B14F-4D97-AF65-F5344CB8AC3E}">
        <p14:creationId xmlns:p14="http://schemas.microsoft.com/office/powerpoint/2010/main" val="1400064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84</a:t>
            </a:fld>
            <a:endParaRPr lang="zh-CN" altLang="en-US"/>
          </a:p>
        </p:txBody>
      </p:sp>
    </p:spTree>
    <p:extLst>
      <p:ext uri="{BB962C8B-B14F-4D97-AF65-F5344CB8AC3E}">
        <p14:creationId xmlns:p14="http://schemas.microsoft.com/office/powerpoint/2010/main" val="272925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85</a:t>
            </a:fld>
            <a:endParaRPr lang="zh-CN" altLang="en-US"/>
          </a:p>
        </p:txBody>
      </p:sp>
    </p:spTree>
    <p:extLst>
      <p:ext uri="{BB962C8B-B14F-4D97-AF65-F5344CB8AC3E}">
        <p14:creationId xmlns:p14="http://schemas.microsoft.com/office/powerpoint/2010/main" val="1036575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86</a:t>
            </a:fld>
            <a:endParaRPr lang="zh-CN" altLang="en-US"/>
          </a:p>
        </p:txBody>
      </p:sp>
    </p:spTree>
    <p:extLst>
      <p:ext uri="{BB962C8B-B14F-4D97-AF65-F5344CB8AC3E}">
        <p14:creationId xmlns:p14="http://schemas.microsoft.com/office/powerpoint/2010/main" val="3971444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87</a:t>
            </a:fld>
            <a:endParaRPr lang="zh-CN" altLang="en-US"/>
          </a:p>
        </p:txBody>
      </p:sp>
    </p:spTree>
    <p:extLst>
      <p:ext uri="{BB962C8B-B14F-4D97-AF65-F5344CB8AC3E}">
        <p14:creationId xmlns:p14="http://schemas.microsoft.com/office/powerpoint/2010/main" val="570885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88</a:t>
            </a:fld>
            <a:endParaRPr lang="zh-CN" altLang="en-US"/>
          </a:p>
        </p:txBody>
      </p:sp>
    </p:spTree>
    <p:extLst>
      <p:ext uri="{BB962C8B-B14F-4D97-AF65-F5344CB8AC3E}">
        <p14:creationId xmlns:p14="http://schemas.microsoft.com/office/powerpoint/2010/main" val="2795699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89</a:t>
            </a:fld>
            <a:endParaRPr lang="zh-CN" altLang="en-US"/>
          </a:p>
        </p:txBody>
      </p:sp>
    </p:spTree>
    <p:extLst>
      <p:ext uri="{BB962C8B-B14F-4D97-AF65-F5344CB8AC3E}">
        <p14:creationId xmlns:p14="http://schemas.microsoft.com/office/powerpoint/2010/main" val="4231345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90</a:t>
            </a:fld>
            <a:endParaRPr lang="zh-CN" altLang="en-US"/>
          </a:p>
        </p:txBody>
      </p:sp>
    </p:spTree>
    <p:extLst>
      <p:ext uri="{BB962C8B-B14F-4D97-AF65-F5344CB8AC3E}">
        <p14:creationId xmlns:p14="http://schemas.microsoft.com/office/powerpoint/2010/main" val="1734812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91</a:t>
            </a:fld>
            <a:endParaRPr lang="zh-CN" altLang="en-US"/>
          </a:p>
        </p:txBody>
      </p:sp>
    </p:spTree>
    <p:extLst>
      <p:ext uri="{BB962C8B-B14F-4D97-AF65-F5344CB8AC3E}">
        <p14:creationId xmlns:p14="http://schemas.microsoft.com/office/powerpoint/2010/main" val="3271544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92</a:t>
            </a:fld>
            <a:endParaRPr lang="zh-CN" altLang="en-US"/>
          </a:p>
        </p:txBody>
      </p:sp>
    </p:spTree>
    <p:extLst>
      <p:ext uri="{BB962C8B-B14F-4D97-AF65-F5344CB8AC3E}">
        <p14:creationId xmlns:p14="http://schemas.microsoft.com/office/powerpoint/2010/main" val="3187081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93</a:t>
            </a:fld>
            <a:endParaRPr lang="zh-CN" altLang="en-US"/>
          </a:p>
        </p:txBody>
      </p:sp>
    </p:spTree>
    <p:extLst>
      <p:ext uri="{BB962C8B-B14F-4D97-AF65-F5344CB8AC3E}">
        <p14:creationId xmlns:p14="http://schemas.microsoft.com/office/powerpoint/2010/main" val="3437682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94</a:t>
            </a:fld>
            <a:endParaRPr lang="zh-CN" altLang="en-US"/>
          </a:p>
        </p:txBody>
      </p:sp>
    </p:spTree>
    <p:extLst>
      <p:ext uri="{BB962C8B-B14F-4D97-AF65-F5344CB8AC3E}">
        <p14:creationId xmlns:p14="http://schemas.microsoft.com/office/powerpoint/2010/main" val="112004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95</a:t>
            </a:fld>
            <a:endParaRPr lang="zh-CN" altLang="en-US"/>
          </a:p>
        </p:txBody>
      </p:sp>
    </p:spTree>
    <p:extLst>
      <p:ext uri="{BB962C8B-B14F-4D97-AF65-F5344CB8AC3E}">
        <p14:creationId xmlns:p14="http://schemas.microsoft.com/office/powerpoint/2010/main" val="687446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96</a:t>
            </a:fld>
            <a:endParaRPr lang="zh-CN" altLang="en-US"/>
          </a:p>
        </p:txBody>
      </p:sp>
    </p:spTree>
    <p:extLst>
      <p:ext uri="{BB962C8B-B14F-4D97-AF65-F5344CB8AC3E}">
        <p14:creationId xmlns:p14="http://schemas.microsoft.com/office/powerpoint/2010/main" val="4074877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97</a:t>
            </a:fld>
            <a:endParaRPr lang="zh-CN" altLang="en-US"/>
          </a:p>
        </p:txBody>
      </p:sp>
    </p:spTree>
    <p:extLst>
      <p:ext uri="{BB962C8B-B14F-4D97-AF65-F5344CB8AC3E}">
        <p14:creationId xmlns:p14="http://schemas.microsoft.com/office/powerpoint/2010/main" val="2012831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98</a:t>
            </a:fld>
            <a:endParaRPr lang="zh-CN" altLang="en-US"/>
          </a:p>
        </p:txBody>
      </p:sp>
    </p:spTree>
    <p:extLst>
      <p:ext uri="{BB962C8B-B14F-4D97-AF65-F5344CB8AC3E}">
        <p14:creationId xmlns:p14="http://schemas.microsoft.com/office/powerpoint/2010/main" val="3589306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99</a:t>
            </a:fld>
            <a:endParaRPr lang="zh-CN" altLang="en-US"/>
          </a:p>
        </p:txBody>
      </p:sp>
    </p:spTree>
    <p:extLst>
      <p:ext uri="{BB962C8B-B14F-4D97-AF65-F5344CB8AC3E}">
        <p14:creationId xmlns:p14="http://schemas.microsoft.com/office/powerpoint/2010/main" val="11107636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100</a:t>
            </a:fld>
            <a:endParaRPr lang="zh-CN" altLang="en-US"/>
          </a:p>
        </p:txBody>
      </p:sp>
    </p:spTree>
    <p:extLst>
      <p:ext uri="{BB962C8B-B14F-4D97-AF65-F5344CB8AC3E}">
        <p14:creationId xmlns:p14="http://schemas.microsoft.com/office/powerpoint/2010/main" val="3697708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101</a:t>
            </a:fld>
            <a:endParaRPr lang="zh-CN" altLang="en-US"/>
          </a:p>
        </p:txBody>
      </p:sp>
    </p:spTree>
    <p:extLst>
      <p:ext uri="{BB962C8B-B14F-4D97-AF65-F5344CB8AC3E}">
        <p14:creationId xmlns:p14="http://schemas.microsoft.com/office/powerpoint/2010/main" val="1072450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102</a:t>
            </a:fld>
            <a:endParaRPr lang="zh-CN" altLang="en-US"/>
          </a:p>
        </p:txBody>
      </p:sp>
    </p:spTree>
    <p:extLst>
      <p:ext uri="{BB962C8B-B14F-4D97-AF65-F5344CB8AC3E}">
        <p14:creationId xmlns:p14="http://schemas.microsoft.com/office/powerpoint/2010/main" val="533727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103</a:t>
            </a:fld>
            <a:endParaRPr lang="zh-CN" altLang="en-US"/>
          </a:p>
        </p:txBody>
      </p:sp>
    </p:spTree>
    <p:extLst>
      <p:ext uri="{BB962C8B-B14F-4D97-AF65-F5344CB8AC3E}">
        <p14:creationId xmlns:p14="http://schemas.microsoft.com/office/powerpoint/2010/main" val="2762195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104</a:t>
            </a:fld>
            <a:endParaRPr lang="zh-CN" altLang="en-US"/>
          </a:p>
        </p:txBody>
      </p:sp>
    </p:spTree>
    <p:extLst>
      <p:ext uri="{BB962C8B-B14F-4D97-AF65-F5344CB8AC3E}">
        <p14:creationId xmlns:p14="http://schemas.microsoft.com/office/powerpoint/2010/main" val="40882822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105</a:t>
            </a:fld>
            <a:endParaRPr lang="zh-CN" altLang="en-US"/>
          </a:p>
        </p:txBody>
      </p:sp>
    </p:spTree>
    <p:extLst>
      <p:ext uri="{BB962C8B-B14F-4D97-AF65-F5344CB8AC3E}">
        <p14:creationId xmlns:p14="http://schemas.microsoft.com/office/powerpoint/2010/main" val="556327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106</a:t>
            </a:fld>
            <a:endParaRPr lang="zh-CN" altLang="en-US"/>
          </a:p>
        </p:txBody>
      </p:sp>
    </p:spTree>
    <p:extLst>
      <p:ext uri="{BB962C8B-B14F-4D97-AF65-F5344CB8AC3E}">
        <p14:creationId xmlns:p14="http://schemas.microsoft.com/office/powerpoint/2010/main" val="2906021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107</a:t>
            </a:fld>
            <a:endParaRPr lang="zh-CN" altLang="en-US"/>
          </a:p>
        </p:txBody>
      </p:sp>
    </p:spTree>
    <p:extLst>
      <p:ext uri="{BB962C8B-B14F-4D97-AF65-F5344CB8AC3E}">
        <p14:creationId xmlns:p14="http://schemas.microsoft.com/office/powerpoint/2010/main" val="5763306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108</a:t>
            </a:fld>
            <a:endParaRPr lang="zh-CN" altLang="en-US"/>
          </a:p>
        </p:txBody>
      </p:sp>
    </p:spTree>
    <p:extLst>
      <p:ext uri="{BB962C8B-B14F-4D97-AF65-F5344CB8AC3E}">
        <p14:creationId xmlns:p14="http://schemas.microsoft.com/office/powerpoint/2010/main" val="26329601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109</a:t>
            </a:fld>
            <a:endParaRPr lang="zh-CN" altLang="en-US"/>
          </a:p>
        </p:txBody>
      </p:sp>
    </p:spTree>
    <p:extLst>
      <p:ext uri="{BB962C8B-B14F-4D97-AF65-F5344CB8AC3E}">
        <p14:creationId xmlns:p14="http://schemas.microsoft.com/office/powerpoint/2010/main" val="9994993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110</a:t>
            </a:fld>
            <a:endParaRPr lang="zh-CN" altLang="en-US"/>
          </a:p>
        </p:txBody>
      </p:sp>
    </p:spTree>
    <p:extLst>
      <p:ext uri="{BB962C8B-B14F-4D97-AF65-F5344CB8AC3E}">
        <p14:creationId xmlns:p14="http://schemas.microsoft.com/office/powerpoint/2010/main" val="4284740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111</a:t>
            </a:fld>
            <a:endParaRPr lang="zh-CN" altLang="en-US"/>
          </a:p>
        </p:txBody>
      </p:sp>
    </p:spTree>
    <p:extLst>
      <p:ext uri="{BB962C8B-B14F-4D97-AF65-F5344CB8AC3E}">
        <p14:creationId xmlns:p14="http://schemas.microsoft.com/office/powerpoint/2010/main" val="1115752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112</a:t>
            </a:fld>
            <a:endParaRPr lang="zh-CN" altLang="en-US"/>
          </a:p>
        </p:txBody>
      </p:sp>
    </p:spTree>
    <p:extLst>
      <p:ext uri="{BB962C8B-B14F-4D97-AF65-F5344CB8AC3E}">
        <p14:creationId xmlns:p14="http://schemas.microsoft.com/office/powerpoint/2010/main" val="2960061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113</a:t>
            </a:fld>
            <a:endParaRPr lang="zh-CN" altLang="en-US"/>
          </a:p>
        </p:txBody>
      </p:sp>
    </p:spTree>
    <p:extLst>
      <p:ext uri="{BB962C8B-B14F-4D97-AF65-F5344CB8AC3E}">
        <p14:creationId xmlns:p14="http://schemas.microsoft.com/office/powerpoint/2010/main" val="13803295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114</a:t>
            </a:fld>
            <a:endParaRPr lang="zh-CN" altLang="en-US"/>
          </a:p>
        </p:txBody>
      </p:sp>
    </p:spTree>
    <p:extLst>
      <p:ext uri="{BB962C8B-B14F-4D97-AF65-F5344CB8AC3E}">
        <p14:creationId xmlns:p14="http://schemas.microsoft.com/office/powerpoint/2010/main" val="313414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115</a:t>
            </a:fld>
            <a:endParaRPr lang="zh-CN" altLang="en-US"/>
          </a:p>
        </p:txBody>
      </p:sp>
    </p:spTree>
    <p:extLst>
      <p:ext uri="{BB962C8B-B14F-4D97-AF65-F5344CB8AC3E}">
        <p14:creationId xmlns:p14="http://schemas.microsoft.com/office/powerpoint/2010/main" val="1642733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116</a:t>
            </a:fld>
            <a:endParaRPr lang="zh-CN" altLang="en-US"/>
          </a:p>
        </p:txBody>
      </p:sp>
    </p:spTree>
    <p:extLst>
      <p:ext uri="{BB962C8B-B14F-4D97-AF65-F5344CB8AC3E}">
        <p14:creationId xmlns:p14="http://schemas.microsoft.com/office/powerpoint/2010/main" val="33878083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117</a:t>
            </a:fld>
            <a:endParaRPr lang="zh-CN" altLang="en-US"/>
          </a:p>
        </p:txBody>
      </p:sp>
    </p:spTree>
    <p:extLst>
      <p:ext uri="{BB962C8B-B14F-4D97-AF65-F5344CB8AC3E}">
        <p14:creationId xmlns:p14="http://schemas.microsoft.com/office/powerpoint/2010/main" val="42233385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4C4452-AF80-48A3-A697-21761BD1BD2B}" type="slidenum">
              <a:rPr lang="zh-CN" altLang="en-US" smtClean="0"/>
              <a:t>118</a:t>
            </a:fld>
            <a:endParaRPr lang="zh-CN" altLang="en-US"/>
          </a:p>
        </p:txBody>
      </p:sp>
    </p:spTree>
    <p:extLst>
      <p:ext uri="{BB962C8B-B14F-4D97-AF65-F5344CB8AC3E}">
        <p14:creationId xmlns:p14="http://schemas.microsoft.com/office/powerpoint/2010/main" val="206731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865E76-AB96-DD17-1973-38545005B90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951D3C-1B39-A0C8-70A5-70723BD99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1B5AE0-DDC6-30B6-E240-4862AE62E174}"/>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B12B8CC0-E939-998A-466F-9DFA6908EB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4275677-E73E-D43C-BD29-5E7560E83640}"/>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3177670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89CF9-9E26-3299-66B7-6079F7E09DF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D93F46B-201F-5109-2DA7-5FAC3D0993C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53A4F5-CEDC-6925-8E24-BF6E2A9D073B}"/>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FAD5B466-E379-C1A6-DC90-A2EFFC2EA1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116B7C9-8B74-8B3E-5278-2ADC9960B13F}"/>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741703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B2D1E4-A3EB-5FD2-0587-1C249AC5600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9B80B81-37F0-EAA8-6395-2D6A03BBB6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5632980-C66C-B58A-A1F2-4AE43F1A50C5}"/>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C72054F2-C23C-E23B-9185-D9805D725E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BAE0B2-EC80-6016-C843-0F67C7FB727F}"/>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090562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A823B1-1E1B-4B5F-DA5E-7D0F71DE4A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6E4FADD-D3E9-3403-9011-D221CCFCC02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4308A44-1B3D-3847-10C8-4F3197C5415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C2DE371-A938-DC35-323D-03B2FDE3546C}"/>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6" name="页脚占位符 5">
            <a:extLst>
              <a:ext uri="{FF2B5EF4-FFF2-40B4-BE49-F238E27FC236}">
                <a16:creationId xmlns:a16="http://schemas.microsoft.com/office/drawing/2014/main" id="{7D6EFF28-CBFE-9A0A-A19C-AB8B6E1AE5F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1FE17E-AE24-989C-2B8B-4A0BD7C6FAD0}"/>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73976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23826-9250-C4EB-C462-41DEB0224B7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AC11E08-1FBF-07DC-708B-175291FA40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FDE2966-408C-10EF-BFF3-E5B58588B10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467012D-433D-DD66-4D4C-590C5B3D29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A07170-0ABC-ECD6-91BC-42CCE8F5582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1D776F6-39F5-617E-F02A-89E8ED37FE20}"/>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8" name="页脚占位符 7">
            <a:extLst>
              <a:ext uri="{FF2B5EF4-FFF2-40B4-BE49-F238E27FC236}">
                <a16:creationId xmlns:a16="http://schemas.microsoft.com/office/drawing/2014/main" id="{5057EC7A-753E-F608-0BD8-2E3EC470317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BB8261C-8564-7EEC-AA2D-38D6F5E54F79}"/>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268463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13D2E3-D135-0422-7A07-3C3853A74EF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44479B9-03A5-4AAB-A5E7-5C9DEC52AE87}"/>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4" name="页脚占位符 3">
            <a:extLst>
              <a:ext uri="{FF2B5EF4-FFF2-40B4-BE49-F238E27FC236}">
                <a16:creationId xmlns:a16="http://schemas.microsoft.com/office/drawing/2014/main" id="{46BB18AA-7776-46D8-D767-69D942A2639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69D6627-451D-75D7-5CB4-78A5E706597C}"/>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101270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7F02A7-9560-9F87-2C44-A8F6FED4A2A7}"/>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3" name="页脚占位符 2">
            <a:extLst>
              <a:ext uri="{FF2B5EF4-FFF2-40B4-BE49-F238E27FC236}">
                <a16:creationId xmlns:a16="http://schemas.microsoft.com/office/drawing/2014/main" id="{27C3FD76-1D37-FBDB-5E29-20F88E1A1F6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69D9EC5-36F9-7E27-5EE3-0E402D129459}"/>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3650302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1E2A0A-4782-A6D6-7122-4BC376DBEA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6BDAFFC-0CED-FEDD-13C4-3943F9003B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F3F9248-2BB6-3076-9542-CCA07A039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B746666-2DAD-A865-5CDD-9E1C815D4923}"/>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6" name="页脚占位符 5">
            <a:extLst>
              <a:ext uri="{FF2B5EF4-FFF2-40B4-BE49-F238E27FC236}">
                <a16:creationId xmlns:a16="http://schemas.microsoft.com/office/drawing/2014/main" id="{745C9B3A-0D69-78AC-9256-FA196C40F53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527D18-434C-A9EC-7978-25EAC215FD20}"/>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1994931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1AD77-6D7B-B4B7-AC04-A5544F6E89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630C09E-7FD8-7395-E60E-B3AFC55FB6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31EE31-9962-84D5-7631-EFCE52DDA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4274D4A-052D-C7D0-546B-E6D8321B9924}"/>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6" name="页脚占位符 5">
            <a:extLst>
              <a:ext uri="{FF2B5EF4-FFF2-40B4-BE49-F238E27FC236}">
                <a16:creationId xmlns:a16="http://schemas.microsoft.com/office/drawing/2014/main" id="{0E67E2D3-7971-9BDB-309A-9A32D3E701F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2F9E36-FFAE-61B5-C660-ABE1B78DCFBD}"/>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418135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37AC7A-81CC-D49F-9BEA-CAE4D745E0C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F40E0F-6165-94E8-E37C-C828AA76061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835F75-3352-C7FC-0DB9-29503E4A328C}"/>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A5E88DA4-06A4-FB2C-E597-B7F28E22F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94B6F6-8212-A7E5-B4E3-EFCBBECA6903}"/>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020266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3497832-17A4-5A4A-15BC-409E7AAD82B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1CF8219-A4AD-CF54-A705-1E001235D1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417C9E-6111-8E61-C170-F8A02A61179D}"/>
              </a:ext>
            </a:extLst>
          </p:cNvPr>
          <p:cNvSpPr>
            <a:spLocks noGrp="1"/>
          </p:cNvSpPr>
          <p:nvPr>
            <p:ph type="dt" sz="half" idx="10"/>
          </p:nvPr>
        </p:nvSpPr>
        <p:spPr/>
        <p:txBody>
          <a:bodyPr/>
          <a:lstStyle/>
          <a:p>
            <a:fld id="{884C022D-737C-4CDE-82AE-CF28DD427DCB}"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B704C0A4-DD4A-7F10-4CDE-1E89DC8D1A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EE3EDC-860A-98A3-C186-941194AE7D6E}"/>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501171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76401-6685-C1E4-275F-4E9EC80640CA}"/>
              </a:ext>
            </a:extLst>
          </p:cNvPr>
          <p:cNvSpPr>
            <a:spLocks noGrp="1"/>
          </p:cNvSpPr>
          <p:nvPr>
            <p:ph type="title"/>
          </p:nvPr>
        </p:nvSpPr>
        <p:spPr>
          <a:xfrm>
            <a:off x="402167" y="685800"/>
            <a:ext cx="11387667"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2927ED3-D0A3-57FB-A032-BD53FF2EB716}"/>
              </a:ext>
            </a:extLst>
          </p:cNvPr>
          <p:cNvSpPr>
            <a:spLocks noGrp="1"/>
          </p:cNvSpPr>
          <p:nvPr>
            <p:ph type="body" sz="half" idx="1"/>
          </p:nvPr>
        </p:nvSpPr>
        <p:spPr>
          <a:xfrm>
            <a:off x="406401" y="1981200"/>
            <a:ext cx="5592233"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F071334-C89A-CDE4-6684-9A6E18668BF5}"/>
              </a:ext>
            </a:extLst>
          </p:cNvPr>
          <p:cNvSpPr>
            <a:spLocks noGrp="1"/>
          </p:cNvSpPr>
          <p:nvPr>
            <p:ph sz="quarter" idx="2"/>
          </p:nvPr>
        </p:nvSpPr>
        <p:spPr>
          <a:xfrm>
            <a:off x="6201834" y="1981200"/>
            <a:ext cx="5592233"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B5DCFD42-D654-8083-75FB-4E0DA8B89E6C}"/>
              </a:ext>
            </a:extLst>
          </p:cNvPr>
          <p:cNvSpPr>
            <a:spLocks noGrp="1"/>
          </p:cNvSpPr>
          <p:nvPr>
            <p:ph sz="quarter" idx="3"/>
          </p:nvPr>
        </p:nvSpPr>
        <p:spPr>
          <a:xfrm>
            <a:off x="6201834" y="4000500"/>
            <a:ext cx="5592233"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a:extLst>
              <a:ext uri="{FF2B5EF4-FFF2-40B4-BE49-F238E27FC236}">
                <a16:creationId xmlns:a16="http://schemas.microsoft.com/office/drawing/2014/main" id="{C848B479-A6CA-8D09-B0BC-5EC05209878C}"/>
              </a:ext>
            </a:extLst>
          </p:cNvPr>
          <p:cNvSpPr>
            <a:spLocks noGrp="1"/>
          </p:cNvSpPr>
          <p:nvPr>
            <p:ph type="dt" sz="half" idx="10"/>
          </p:nvPr>
        </p:nvSpPr>
        <p:spPr>
          <a:xfrm>
            <a:off x="402167" y="6019800"/>
            <a:ext cx="3052233" cy="47625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3FCB04D1-463B-2B2F-0873-818338A3CA37}"/>
              </a:ext>
            </a:extLst>
          </p:cNvPr>
          <p:cNvSpPr>
            <a:spLocks noGrp="1"/>
          </p:cNvSpPr>
          <p:nvPr>
            <p:ph type="ftr" sz="quarter" idx="11"/>
          </p:nvPr>
        </p:nvSpPr>
        <p:spPr>
          <a:xfrm>
            <a:off x="4165600" y="6019800"/>
            <a:ext cx="3860800" cy="47625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9308E86C-9D50-5EC0-6613-08382A7CBF87}"/>
              </a:ext>
            </a:extLst>
          </p:cNvPr>
          <p:cNvSpPr>
            <a:spLocks noGrp="1"/>
          </p:cNvSpPr>
          <p:nvPr>
            <p:ph type="sldNum" sz="quarter" idx="12"/>
          </p:nvPr>
        </p:nvSpPr>
        <p:spPr>
          <a:xfrm>
            <a:off x="8737601" y="6019800"/>
            <a:ext cx="3052233" cy="476250"/>
          </a:xfrm>
        </p:spPr>
        <p:txBody>
          <a:bodyPr/>
          <a:lstStyle>
            <a:lvl1pPr>
              <a:defRPr/>
            </a:lvl1pPr>
          </a:lstStyle>
          <a:p>
            <a:fld id="{C92AB084-33BA-466C-851D-E385773977C2}" type="slidenum">
              <a:rPr lang="en-US" altLang="zh-CN"/>
              <a:pPr/>
              <a:t>‹#›</a:t>
            </a:fld>
            <a:endParaRPr lang="en-US" altLang="zh-CN"/>
          </a:p>
        </p:txBody>
      </p:sp>
    </p:spTree>
    <p:extLst>
      <p:ext uri="{BB962C8B-B14F-4D97-AF65-F5344CB8AC3E}">
        <p14:creationId xmlns:p14="http://schemas.microsoft.com/office/powerpoint/2010/main" val="4274583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E50BF28-7234-ECD7-590A-EA2583B20D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28342CC-7DDB-5978-E81C-0361A90BF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6B8A25-7217-37B4-1F51-2F810D0882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4C022D-737C-4CDE-82AE-CF28DD427DCB}" type="datetimeFigureOut">
              <a:rPr lang="zh-CN" altLang="en-US" smtClean="0"/>
              <a:t>2024/10/8</a:t>
            </a:fld>
            <a:endParaRPr lang="zh-CN" altLang="en-US"/>
          </a:p>
        </p:txBody>
      </p:sp>
      <p:sp>
        <p:nvSpPr>
          <p:cNvPr id="5" name="页脚占位符 4">
            <a:extLst>
              <a:ext uri="{FF2B5EF4-FFF2-40B4-BE49-F238E27FC236}">
                <a16:creationId xmlns:a16="http://schemas.microsoft.com/office/drawing/2014/main" id="{FCD3E9CB-BF29-62E0-D023-EF335C4C9D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6CBE94F-E121-3B94-6992-4752B15859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594215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17.wmf"/></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00.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7.bin"/><Relationship Id="rId7" Type="http://schemas.openxmlformats.org/officeDocument/2006/relationships/oleObject" Target="../embeddings/oleObject8.bin"/><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1.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9.bin"/><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45.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24.wmf"/></Relationships>
</file>

<file path=ppt/slides/_rels/slide7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25.wmf"/><Relationship Id="rId4" Type="http://schemas.openxmlformats.org/officeDocument/2006/relationships/oleObject" Target="../embeddings/oleObject11.bin"/></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2.bin"/><Relationship Id="rId1" Type="http://schemas.openxmlformats.org/officeDocument/2006/relationships/slideLayout" Target="../slideLayouts/slideLayout1.xml"/><Relationship Id="rId5" Type="http://schemas.openxmlformats.org/officeDocument/2006/relationships/image" Target="../media/image27.emf"/><Relationship Id="rId4" Type="http://schemas.openxmlformats.org/officeDocument/2006/relationships/oleObject" Target="../embeddings/oleObject13.bin"/></Relationships>
</file>

<file path=ppt/slides/_rels/slide81.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46.png"/><Relationship Id="rId2" Type="http://schemas.openxmlformats.org/officeDocument/2006/relationships/oleObject" Target="../embeddings/oleObject14.bin"/><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1.png"/><Relationship Id="rId4" Type="http://schemas.openxmlformats.org/officeDocument/2006/relationships/image" Target="../media/image38.png"/></Relationships>
</file>

<file path=ppt/slides/_rels/slide8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8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8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8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8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9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9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98.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17.xml"/><Relationship Id="rId16" Type="http://schemas.openxmlformats.org/officeDocument/2006/relationships/image" Target="../media/image109.png"/><Relationship Id="rId1" Type="http://schemas.openxmlformats.org/officeDocument/2006/relationships/slideLayout" Target="../slideLayouts/slideLayout1.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9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10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96.wmf"/><Relationship Id="rId4" Type="http://schemas.openxmlformats.org/officeDocument/2006/relationships/oleObject" Target="../embeddings/oleObject15.bin"/></Relationships>
</file>

<file path=ppt/slides/_rels/slide10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111.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 Id="rId9" Type="http://schemas.openxmlformats.org/officeDocument/2006/relationships/image" Target="../media/image144.png"/></Relationships>
</file>

<file path=ppt/slides/_rels/slide112.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48.png"/><Relationship Id="rId5" Type="http://schemas.openxmlformats.org/officeDocument/2006/relationships/image" Target="../media/image147.png"/><Relationship Id="rId10"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51.png"/></Relationships>
</file>

<file path=ppt/slides/_rels/slide113.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3EB22-46AB-BB35-114D-02192B15EDB0}"/>
              </a:ext>
            </a:extLst>
          </p:cNvPr>
          <p:cNvSpPr>
            <a:spLocks noGrp="1"/>
          </p:cNvSpPr>
          <p:nvPr>
            <p:ph type="ctrTitle"/>
          </p:nvPr>
        </p:nvSpPr>
        <p:spPr>
          <a:xfrm>
            <a:off x="967407" y="374940"/>
            <a:ext cx="10021295" cy="1072197"/>
          </a:xfrm>
        </p:spPr>
        <p:txBody>
          <a:bodyPr>
            <a:noAutofit/>
          </a:bodyPr>
          <a:lstStyle/>
          <a:p>
            <a:r>
              <a:rPr lang="zh-CN" altLang="en-US" b="1" dirty="0">
                <a:solidFill>
                  <a:srgbClr val="0070C0"/>
                </a:solidFill>
                <a:latin typeface="华光大标宋_CNKI" panose="02000500000000000000" pitchFamily="2" charset="-122"/>
                <a:ea typeface="华光大标宋_CNKI" panose="02000500000000000000" pitchFamily="2" charset="-122"/>
              </a:rPr>
              <a:t>第</a:t>
            </a:r>
            <a:r>
              <a:rPr lang="en-US" altLang="zh-CN" b="1" dirty="0">
                <a:solidFill>
                  <a:srgbClr val="0070C0"/>
                </a:solidFill>
                <a:latin typeface="华光大标宋_CNKI" panose="02000500000000000000" pitchFamily="2" charset="-122"/>
                <a:ea typeface="华光大标宋_CNKI" panose="02000500000000000000" pitchFamily="2" charset="-122"/>
              </a:rPr>
              <a:t>3</a:t>
            </a:r>
            <a:r>
              <a:rPr lang="zh-CN" altLang="en-US" b="1" dirty="0">
                <a:solidFill>
                  <a:srgbClr val="0070C0"/>
                </a:solidFill>
                <a:latin typeface="华光大标宋_CNKI" panose="02000500000000000000" pitchFamily="2" charset="-122"/>
                <a:ea typeface="华光大标宋_CNKI" panose="02000500000000000000" pitchFamily="2" charset="-122"/>
              </a:rPr>
              <a:t>章基本图形的生成</a:t>
            </a:r>
          </a:p>
        </p:txBody>
      </p:sp>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1542556" y="1862385"/>
            <a:ext cx="4245996" cy="3759186"/>
          </a:xfrm>
        </p:spPr>
        <p:txBody>
          <a:bodyPr>
            <a:normAutofit/>
          </a:bodyPr>
          <a:lstStyle/>
          <a:p>
            <a:pPr algn="l">
              <a:lnSpc>
                <a:spcPct val="150000"/>
              </a:lnSpc>
            </a:pPr>
            <a:r>
              <a:rPr lang="zh-CN" altLang="en-US" sz="2800" dirty="0">
                <a:latin typeface="华光标题黑_CNKI" panose="02000500000000000000" pitchFamily="2" charset="-122"/>
                <a:ea typeface="华光标题黑_CNKI" panose="02000500000000000000" pitchFamily="2" charset="-122"/>
              </a:rPr>
              <a:t>本章主要内容：</a:t>
            </a:r>
            <a:endParaRPr lang="en-US" altLang="zh-CN" sz="2800" dirty="0">
              <a:latin typeface="华光标题黑_CNKI" panose="02000500000000000000" pitchFamily="2" charset="-122"/>
              <a:ea typeface="华光标题黑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(1)</a:t>
            </a:r>
            <a:r>
              <a:rPr lang="zh-CN" altLang="en-US" sz="2800" dirty="0">
                <a:latin typeface="华光仿宋_CNKI" panose="02000500000000000000" pitchFamily="2" charset="-122"/>
                <a:ea typeface="华光仿宋_CNKI" panose="02000500000000000000" pitchFamily="2" charset="-122"/>
              </a:rPr>
              <a:t> 直线的生成</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(2) </a:t>
            </a:r>
            <a:r>
              <a:rPr lang="zh-CN" altLang="en-US" sz="2800" dirty="0">
                <a:latin typeface="华光仿宋_CNKI" panose="02000500000000000000" pitchFamily="2" charset="-122"/>
                <a:ea typeface="华光仿宋_CNKI" panose="02000500000000000000" pitchFamily="2" charset="-122"/>
              </a:rPr>
              <a:t>圆和圆弧的生成</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(3) </a:t>
            </a:r>
            <a:r>
              <a:rPr lang="zh-CN" altLang="en-US" sz="2800" dirty="0">
                <a:latin typeface="华光仿宋_CNKI" panose="02000500000000000000" pitchFamily="2" charset="-122"/>
                <a:ea typeface="华光仿宋_CNKI" panose="02000500000000000000" pitchFamily="2" charset="-122"/>
              </a:rPr>
              <a:t>线宽和线型的处理</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(4) </a:t>
            </a:r>
            <a:r>
              <a:rPr lang="zh-CN" altLang="en-US" sz="2800" dirty="0">
                <a:latin typeface="华光仿宋_CNKI" panose="02000500000000000000" pitchFamily="2" charset="-122"/>
                <a:ea typeface="华光仿宋_CNKI" panose="02000500000000000000" pitchFamily="2" charset="-122"/>
              </a:rPr>
              <a:t>实区域的填充</a:t>
            </a:r>
          </a:p>
        </p:txBody>
      </p:sp>
      <p:sp>
        <p:nvSpPr>
          <p:cNvPr id="5" name="副标题 2">
            <a:extLst>
              <a:ext uri="{FF2B5EF4-FFF2-40B4-BE49-F238E27FC236}">
                <a16:creationId xmlns:a16="http://schemas.microsoft.com/office/drawing/2014/main" id="{B74A6572-6FF7-8F90-F5D3-2EC6C219AEF8}"/>
              </a:ext>
            </a:extLst>
          </p:cNvPr>
          <p:cNvSpPr txBox="1">
            <a:spLocks/>
          </p:cNvSpPr>
          <p:nvPr/>
        </p:nvSpPr>
        <p:spPr>
          <a:xfrm>
            <a:off x="5978054" y="2544099"/>
            <a:ext cx="4966914" cy="37591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(5)</a:t>
            </a:r>
            <a:r>
              <a:rPr lang="zh-CN" altLang="en-US" sz="2800" dirty="0">
                <a:latin typeface="华光仿宋_CNKI" panose="02000500000000000000" pitchFamily="2" charset="-122"/>
                <a:ea typeface="华光仿宋_CNKI" panose="02000500000000000000" pitchFamily="2" charset="-122"/>
              </a:rPr>
              <a:t> 图形反走样技术</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(6) </a:t>
            </a:r>
            <a:r>
              <a:rPr lang="zh-CN" altLang="en-US" sz="2800" dirty="0">
                <a:latin typeface="华光仿宋_CNKI" panose="02000500000000000000" pitchFamily="2" charset="-122"/>
                <a:ea typeface="华光仿宋_CNKI" panose="02000500000000000000" pitchFamily="2" charset="-122"/>
              </a:rPr>
              <a:t>参数样条曲线的生成</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(7) Bezier</a:t>
            </a:r>
            <a:r>
              <a:rPr lang="zh-CN" altLang="en-US" sz="2800" dirty="0">
                <a:latin typeface="华光仿宋_CNKI" panose="02000500000000000000" pitchFamily="2" charset="-122"/>
                <a:ea typeface="华光仿宋_CNKI" panose="02000500000000000000" pitchFamily="2" charset="-122"/>
              </a:rPr>
              <a:t>曲线的生成</a:t>
            </a: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(8) B</a:t>
            </a:r>
            <a:r>
              <a:rPr lang="zh-CN" altLang="en-US" sz="2800" dirty="0">
                <a:latin typeface="华光仿宋_CNKI" panose="02000500000000000000" pitchFamily="2" charset="-122"/>
                <a:ea typeface="华光仿宋_CNKI" panose="02000500000000000000" pitchFamily="2" charset="-122"/>
              </a:rPr>
              <a:t>样条曲线的生成</a:t>
            </a:r>
          </a:p>
        </p:txBody>
      </p:sp>
    </p:spTree>
    <p:extLst>
      <p:ext uri="{BB962C8B-B14F-4D97-AF65-F5344CB8AC3E}">
        <p14:creationId xmlns:p14="http://schemas.microsoft.com/office/powerpoint/2010/main" val="202709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3EB22-46AB-BB35-114D-02192B15EDB0}"/>
              </a:ext>
            </a:extLst>
          </p:cNvPr>
          <p:cNvSpPr>
            <a:spLocks noGrp="1"/>
          </p:cNvSpPr>
          <p:nvPr>
            <p:ph type="ctrTitle"/>
          </p:nvPr>
        </p:nvSpPr>
        <p:spPr>
          <a:xfrm>
            <a:off x="967407" y="374940"/>
            <a:ext cx="10021295" cy="1072197"/>
          </a:xfrm>
        </p:spPr>
        <p:txBody>
          <a:bodyPr>
            <a:noAutofit/>
          </a:bodyPr>
          <a:lstStyle/>
          <a:p>
            <a:r>
              <a:rPr lang="zh-CN" altLang="en-US" b="1" dirty="0">
                <a:solidFill>
                  <a:srgbClr val="0070C0"/>
                </a:solidFill>
                <a:latin typeface="华光大标宋_CNKI" panose="02000500000000000000" pitchFamily="2" charset="-122"/>
                <a:ea typeface="华光大标宋_CNKI" panose="02000500000000000000" pitchFamily="2" charset="-122"/>
              </a:rPr>
              <a:t>直线的生成</a:t>
            </a:r>
          </a:p>
        </p:txBody>
      </p:sp>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18985" y="1870337"/>
            <a:ext cx="5995283" cy="3759186"/>
          </a:xfrm>
        </p:spPr>
        <p:txBody>
          <a:bodyPr>
            <a:normAutofit fontScale="92500" lnSpcReduction="10000"/>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3.1 </a:t>
            </a:r>
            <a:r>
              <a:rPr lang="zh-CN" altLang="en-US" sz="3200" dirty="0">
                <a:latin typeface="华光大标宋_CNKI" panose="02000500000000000000" pitchFamily="2" charset="-122"/>
                <a:ea typeface="华光大标宋_CNKI" panose="02000500000000000000" pitchFamily="2" charset="-122"/>
              </a:rPr>
              <a:t>直线的生成</a:t>
            </a:r>
            <a:endParaRPr lang="en-US" altLang="zh-CN" sz="3200" dirty="0">
              <a:latin typeface="华光大标宋_CNKI" panose="02000500000000000000" pitchFamily="2" charset="-122"/>
              <a:ea typeface="华光大标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由于计算机图形显示器是二维的显示平面，由无数个像素构成，因此直线的绘制实际上是通过从起点到终点的无数个点来生成的，如右图所示。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pic>
        <p:nvPicPr>
          <p:cNvPr id="4" name="Picture 17">
            <a:extLst>
              <a:ext uri="{FF2B5EF4-FFF2-40B4-BE49-F238E27FC236}">
                <a16:creationId xmlns:a16="http://schemas.microsoft.com/office/drawing/2014/main" id="{A2FD3EFB-5D0F-9910-C9E2-D109F3B75B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211834" y="2838615"/>
            <a:ext cx="4102872" cy="2687541"/>
          </a:xfrm>
          <a:prstGeom prst="rect">
            <a:avLst/>
          </a:prstGeom>
          <a:noFill/>
          <a:ln>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3418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3">
            <a:extLst>
              <a:ext uri="{FF2B5EF4-FFF2-40B4-BE49-F238E27FC236}">
                <a16:creationId xmlns:a16="http://schemas.microsoft.com/office/drawing/2014/main" id="{05E3FE2F-7D81-F996-999E-DAD5B3353178}"/>
              </a:ext>
            </a:extLst>
          </p:cNvPr>
          <p:cNvSpPr txBox="1">
            <a:spLocks noChangeArrowheads="1"/>
          </p:cNvSpPr>
          <p:nvPr/>
        </p:nvSpPr>
        <p:spPr bwMode="auto">
          <a:xfrm>
            <a:off x="1798448" y="4537291"/>
            <a:ext cx="8953167" cy="52322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ctr">
              <a:spcBef>
                <a:spcPct val="50000"/>
              </a:spcBef>
            </a:pPr>
            <a:r>
              <a:rPr kumimoji="1" lang="zh-CN" altLang="en-US" sz="2800" b="1" dirty="0">
                <a:latin typeface="Times New Roman" panose="02020603050405020304" pitchFamily="18" charset="0"/>
              </a:rPr>
              <a:t>帧缓冲区地址 </a:t>
            </a:r>
            <a:r>
              <a:rPr kumimoji="1" lang="en-US" altLang="zh-CN" sz="2800" b="1" dirty="0">
                <a:latin typeface="Times New Roman" panose="02020603050405020304" pitchFamily="18" charset="0"/>
              </a:rPr>
              <a:t>= (</a:t>
            </a:r>
            <a:r>
              <a:rPr kumimoji="1" lang="en-US" altLang="zh-CN" sz="2800" b="1" i="1" dirty="0" err="1">
                <a:latin typeface="Times New Roman" panose="02020603050405020304" pitchFamily="18" charset="0"/>
              </a:rPr>
              <a:t>x</a:t>
            </a:r>
            <a:r>
              <a:rPr kumimoji="1" lang="en-US" altLang="zh-CN" sz="2800" b="1" i="1" baseline="-25000" dirty="0" err="1">
                <a:latin typeface="Times New Roman" panose="02020603050405020304" pitchFamily="18" charset="0"/>
              </a:rPr>
              <a:t>max</a:t>
            </a:r>
            <a:r>
              <a:rPr kumimoji="1" lang="en-US" altLang="zh-CN" sz="2800" b="1" dirty="0" err="1">
                <a:latin typeface="Times New Roman" panose="02020603050405020304" pitchFamily="18" charset="0"/>
              </a:rPr>
              <a:t>-</a:t>
            </a:r>
            <a:r>
              <a:rPr kumimoji="1" lang="en-US" altLang="zh-CN" sz="2800" b="1" i="1" dirty="0" err="1">
                <a:latin typeface="Times New Roman" panose="02020603050405020304" pitchFamily="18" charset="0"/>
              </a:rPr>
              <a:t>x</a:t>
            </a:r>
            <a:r>
              <a:rPr kumimoji="1" lang="en-US" altLang="zh-CN" sz="2800" b="1" i="1" baseline="-25000" dirty="0" err="1">
                <a:latin typeface="Times New Roman" panose="02020603050405020304" pitchFamily="18" charset="0"/>
              </a:rPr>
              <a:t>min</a:t>
            </a:r>
            <a:r>
              <a:rPr kumimoji="1" lang="en-US" altLang="zh-CN" sz="2800" b="1" dirty="0">
                <a:latin typeface="Times New Roman" panose="02020603050405020304" pitchFamily="18" charset="0"/>
              </a:rPr>
              <a:t>) * (</a:t>
            </a:r>
            <a:r>
              <a:rPr kumimoji="1" lang="en-US" altLang="zh-CN" sz="2800" b="1" i="1" dirty="0">
                <a:latin typeface="Times New Roman" panose="02020603050405020304" pitchFamily="18" charset="0"/>
              </a:rPr>
              <a:t>y</a:t>
            </a:r>
            <a:r>
              <a:rPr kumimoji="1" lang="en-US" altLang="zh-CN" sz="2800" b="1" dirty="0">
                <a:latin typeface="Times New Roman" panose="02020603050405020304" pitchFamily="18" charset="0"/>
              </a:rPr>
              <a:t>-</a:t>
            </a:r>
            <a:r>
              <a:rPr kumimoji="1" lang="en-US" altLang="zh-CN" sz="2800" b="1" i="1" dirty="0" err="1">
                <a:latin typeface="Times New Roman" panose="02020603050405020304" pitchFamily="18" charset="0"/>
              </a:rPr>
              <a:t>y</a:t>
            </a:r>
            <a:r>
              <a:rPr kumimoji="1" lang="en-US" altLang="zh-CN" sz="2800" b="1" i="1" baseline="-25000" dirty="0" err="1">
                <a:latin typeface="Times New Roman" panose="02020603050405020304" pitchFamily="18" charset="0"/>
              </a:rPr>
              <a:t>min</a:t>
            </a:r>
            <a:r>
              <a:rPr kumimoji="1" lang="en-US" altLang="zh-CN" sz="2800" b="1" dirty="0">
                <a:latin typeface="Times New Roman" panose="02020603050405020304" pitchFamily="18" charset="0"/>
              </a:rPr>
              <a:t>) + (</a:t>
            </a:r>
            <a:r>
              <a:rPr kumimoji="1" lang="en-US" altLang="zh-CN" sz="2800" b="1" i="1" dirty="0">
                <a:latin typeface="Times New Roman" panose="02020603050405020304" pitchFamily="18" charset="0"/>
              </a:rPr>
              <a:t>x</a:t>
            </a:r>
            <a:r>
              <a:rPr kumimoji="1" lang="en-US" altLang="zh-CN" sz="2800" b="1" dirty="0">
                <a:latin typeface="Times New Roman" panose="02020603050405020304" pitchFamily="18" charset="0"/>
              </a:rPr>
              <a:t>-</a:t>
            </a:r>
            <a:r>
              <a:rPr kumimoji="1" lang="en-US" altLang="zh-CN" sz="2800" b="1" i="1" dirty="0" err="1">
                <a:latin typeface="Times New Roman" panose="02020603050405020304" pitchFamily="18" charset="0"/>
              </a:rPr>
              <a:t>x</a:t>
            </a:r>
            <a:r>
              <a:rPr kumimoji="1" lang="en-US" altLang="zh-CN" sz="2800" b="1" i="1" baseline="-25000" dirty="0" err="1">
                <a:latin typeface="Times New Roman" panose="02020603050405020304" pitchFamily="18" charset="0"/>
              </a:rPr>
              <a:t>min</a:t>
            </a:r>
            <a:r>
              <a:rPr kumimoji="1" lang="en-US" altLang="zh-CN" sz="2800" b="1" dirty="0">
                <a:latin typeface="Times New Roman" panose="02020603050405020304" pitchFamily="18" charset="0"/>
              </a:rPr>
              <a:t>) + </a:t>
            </a:r>
            <a:r>
              <a:rPr kumimoji="1" lang="zh-CN" altLang="en-US" sz="2800" b="1" dirty="0">
                <a:latin typeface="Times New Roman" panose="02020603050405020304" pitchFamily="18" charset="0"/>
              </a:rPr>
              <a:t>基地址</a:t>
            </a:r>
          </a:p>
        </p:txBody>
      </p:sp>
      <p:grpSp>
        <p:nvGrpSpPr>
          <p:cNvPr id="59396" name="Group 4">
            <a:extLst>
              <a:ext uri="{FF2B5EF4-FFF2-40B4-BE49-F238E27FC236}">
                <a16:creationId xmlns:a16="http://schemas.microsoft.com/office/drawing/2014/main" id="{2CADA79C-973F-1EEF-3DCD-933834FDA9CB}"/>
              </a:ext>
            </a:extLst>
          </p:cNvPr>
          <p:cNvGrpSpPr>
            <a:grpSpLocks/>
          </p:cNvGrpSpPr>
          <p:nvPr/>
        </p:nvGrpSpPr>
        <p:grpSpPr bwMode="auto">
          <a:xfrm>
            <a:off x="943553" y="1125539"/>
            <a:ext cx="3254375" cy="2809875"/>
            <a:chOff x="59" y="709"/>
            <a:chExt cx="2050" cy="1770"/>
          </a:xfrm>
        </p:grpSpPr>
        <p:grpSp>
          <p:nvGrpSpPr>
            <p:cNvPr id="59397" name="Group 5">
              <a:extLst>
                <a:ext uri="{FF2B5EF4-FFF2-40B4-BE49-F238E27FC236}">
                  <a16:creationId xmlns:a16="http://schemas.microsoft.com/office/drawing/2014/main" id="{A3D2AEE3-AF62-2615-72B7-47CF7115E921}"/>
                </a:ext>
              </a:extLst>
            </p:cNvPr>
            <p:cNvGrpSpPr>
              <a:grpSpLocks/>
            </p:cNvGrpSpPr>
            <p:nvPr/>
          </p:nvGrpSpPr>
          <p:grpSpPr bwMode="auto">
            <a:xfrm>
              <a:off x="431" y="709"/>
              <a:ext cx="1678" cy="1543"/>
              <a:chOff x="431" y="1307"/>
              <a:chExt cx="1678" cy="1543"/>
            </a:xfrm>
          </p:grpSpPr>
          <p:grpSp>
            <p:nvGrpSpPr>
              <p:cNvPr id="59398" name="Group 6">
                <a:extLst>
                  <a:ext uri="{FF2B5EF4-FFF2-40B4-BE49-F238E27FC236}">
                    <a16:creationId xmlns:a16="http://schemas.microsoft.com/office/drawing/2014/main" id="{711BA71B-6C24-C9A6-9C0E-30F40A99DD37}"/>
                  </a:ext>
                </a:extLst>
              </p:cNvPr>
              <p:cNvGrpSpPr>
                <a:grpSpLocks/>
              </p:cNvGrpSpPr>
              <p:nvPr/>
            </p:nvGrpSpPr>
            <p:grpSpPr bwMode="auto">
              <a:xfrm>
                <a:off x="612" y="2069"/>
                <a:ext cx="835" cy="735"/>
                <a:chOff x="594" y="2151"/>
                <a:chExt cx="835" cy="735"/>
              </a:xfrm>
            </p:grpSpPr>
            <p:sp>
              <p:nvSpPr>
                <p:cNvPr id="59399" name="Rectangle 7">
                  <a:extLst>
                    <a:ext uri="{FF2B5EF4-FFF2-40B4-BE49-F238E27FC236}">
                      <a16:creationId xmlns:a16="http://schemas.microsoft.com/office/drawing/2014/main" id="{19B570F7-400C-84C2-74BB-997381C8F8EE}"/>
                    </a:ext>
                  </a:extLst>
                </p:cNvPr>
                <p:cNvSpPr>
                  <a:spLocks noChangeArrowheads="1"/>
                </p:cNvSpPr>
                <p:nvPr/>
              </p:nvSpPr>
              <p:spPr bwMode="auto">
                <a:xfrm>
                  <a:off x="612" y="2160"/>
                  <a:ext cx="817" cy="726"/>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70C0"/>
                    </a:solidFill>
                  </a:endParaRPr>
                </a:p>
              </p:txBody>
            </p:sp>
            <p:sp>
              <p:nvSpPr>
                <p:cNvPr id="59400" name="Line 8">
                  <a:extLst>
                    <a:ext uri="{FF2B5EF4-FFF2-40B4-BE49-F238E27FC236}">
                      <a16:creationId xmlns:a16="http://schemas.microsoft.com/office/drawing/2014/main" id="{5037B2BE-8A86-41B9-D7AD-34F1248C5551}"/>
                    </a:ext>
                  </a:extLst>
                </p:cNvPr>
                <p:cNvSpPr>
                  <a:spLocks noChangeShapeType="1"/>
                </p:cNvSpPr>
                <p:nvPr/>
              </p:nvSpPr>
              <p:spPr bwMode="auto">
                <a:xfrm>
                  <a:off x="603" y="2523"/>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1" name="Line 9">
                  <a:extLst>
                    <a:ext uri="{FF2B5EF4-FFF2-40B4-BE49-F238E27FC236}">
                      <a16:creationId xmlns:a16="http://schemas.microsoft.com/office/drawing/2014/main" id="{606FEC1B-E37C-493A-D1FF-986629DB8225}"/>
                    </a:ext>
                  </a:extLst>
                </p:cNvPr>
                <p:cNvSpPr>
                  <a:spLocks noChangeShapeType="1"/>
                </p:cNvSpPr>
                <p:nvPr/>
              </p:nvSpPr>
              <p:spPr bwMode="auto">
                <a:xfrm>
                  <a:off x="603" y="2704"/>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2" name="Line 10">
                  <a:extLst>
                    <a:ext uri="{FF2B5EF4-FFF2-40B4-BE49-F238E27FC236}">
                      <a16:creationId xmlns:a16="http://schemas.microsoft.com/office/drawing/2014/main" id="{AB1E4B8F-B1CD-BDD8-FB21-8C2E0561D664}"/>
                    </a:ext>
                  </a:extLst>
                </p:cNvPr>
                <p:cNvSpPr>
                  <a:spLocks noChangeShapeType="1"/>
                </p:cNvSpPr>
                <p:nvPr/>
              </p:nvSpPr>
              <p:spPr bwMode="auto">
                <a:xfrm>
                  <a:off x="603" y="2350"/>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3" name="Line 11">
                  <a:extLst>
                    <a:ext uri="{FF2B5EF4-FFF2-40B4-BE49-F238E27FC236}">
                      <a16:creationId xmlns:a16="http://schemas.microsoft.com/office/drawing/2014/main" id="{61A5A059-B78A-3FED-3CF0-57DC27FE9F95}"/>
                    </a:ext>
                  </a:extLst>
                </p:cNvPr>
                <p:cNvSpPr>
                  <a:spLocks noChangeShapeType="1"/>
                </p:cNvSpPr>
                <p:nvPr/>
              </p:nvSpPr>
              <p:spPr bwMode="auto">
                <a:xfrm>
                  <a:off x="802" y="2160"/>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4" name="Line 12">
                  <a:extLst>
                    <a:ext uri="{FF2B5EF4-FFF2-40B4-BE49-F238E27FC236}">
                      <a16:creationId xmlns:a16="http://schemas.microsoft.com/office/drawing/2014/main" id="{B544CD69-A030-39A0-25AE-22BA28746C69}"/>
                    </a:ext>
                  </a:extLst>
                </p:cNvPr>
                <p:cNvSpPr>
                  <a:spLocks noChangeShapeType="1"/>
                </p:cNvSpPr>
                <p:nvPr/>
              </p:nvSpPr>
              <p:spPr bwMode="auto">
                <a:xfrm>
                  <a:off x="1020" y="2151"/>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5" name="Line 13">
                  <a:extLst>
                    <a:ext uri="{FF2B5EF4-FFF2-40B4-BE49-F238E27FC236}">
                      <a16:creationId xmlns:a16="http://schemas.microsoft.com/office/drawing/2014/main" id="{319A3A69-1065-915D-3972-C87E4FB57358}"/>
                    </a:ext>
                  </a:extLst>
                </p:cNvPr>
                <p:cNvSpPr>
                  <a:spLocks noChangeShapeType="1"/>
                </p:cNvSpPr>
                <p:nvPr/>
              </p:nvSpPr>
              <p:spPr bwMode="auto">
                <a:xfrm>
                  <a:off x="1220" y="2151"/>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6" name="Line 14">
                  <a:extLst>
                    <a:ext uri="{FF2B5EF4-FFF2-40B4-BE49-F238E27FC236}">
                      <a16:creationId xmlns:a16="http://schemas.microsoft.com/office/drawing/2014/main" id="{3358DA35-38B9-3006-2F41-AE82CE046DCF}"/>
                    </a:ext>
                  </a:extLst>
                </p:cNvPr>
                <p:cNvSpPr>
                  <a:spLocks noChangeShapeType="1"/>
                </p:cNvSpPr>
                <p:nvPr/>
              </p:nvSpPr>
              <p:spPr bwMode="auto">
                <a:xfrm>
                  <a:off x="911" y="2151"/>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7" name="Line 15">
                  <a:extLst>
                    <a:ext uri="{FF2B5EF4-FFF2-40B4-BE49-F238E27FC236}">
                      <a16:creationId xmlns:a16="http://schemas.microsoft.com/office/drawing/2014/main" id="{F7FB0857-7EDF-53C0-C976-4A4BACC5049E}"/>
                    </a:ext>
                  </a:extLst>
                </p:cNvPr>
                <p:cNvSpPr>
                  <a:spLocks noChangeShapeType="1"/>
                </p:cNvSpPr>
                <p:nvPr/>
              </p:nvSpPr>
              <p:spPr bwMode="auto">
                <a:xfrm>
                  <a:off x="703" y="2151"/>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8" name="Line 16">
                  <a:extLst>
                    <a:ext uri="{FF2B5EF4-FFF2-40B4-BE49-F238E27FC236}">
                      <a16:creationId xmlns:a16="http://schemas.microsoft.com/office/drawing/2014/main" id="{126D8F3F-4D15-83DA-D92E-C9C21070D207}"/>
                    </a:ext>
                  </a:extLst>
                </p:cNvPr>
                <p:cNvSpPr>
                  <a:spLocks noChangeShapeType="1"/>
                </p:cNvSpPr>
                <p:nvPr/>
              </p:nvSpPr>
              <p:spPr bwMode="auto">
                <a:xfrm>
                  <a:off x="1111" y="2151"/>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09" name="Line 17">
                  <a:extLst>
                    <a:ext uri="{FF2B5EF4-FFF2-40B4-BE49-F238E27FC236}">
                      <a16:creationId xmlns:a16="http://schemas.microsoft.com/office/drawing/2014/main" id="{F4A4627F-AB84-0C38-2FDF-370347B8AE67}"/>
                    </a:ext>
                  </a:extLst>
                </p:cNvPr>
                <p:cNvSpPr>
                  <a:spLocks noChangeShapeType="1"/>
                </p:cNvSpPr>
                <p:nvPr/>
              </p:nvSpPr>
              <p:spPr bwMode="auto">
                <a:xfrm>
                  <a:off x="1320" y="2151"/>
                  <a:ext cx="0" cy="72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10" name="Line 18">
                  <a:extLst>
                    <a:ext uri="{FF2B5EF4-FFF2-40B4-BE49-F238E27FC236}">
                      <a16:creationId xmlns:a16="http://schemas.microsoft.com/office/drawing/2014/main" id="{3DCAB39B-DF94-6009-F2A1-7C26B994A942}"/>
                    </a:ext>
                  </a:extLst>
                </p:cNvPr>
                <p:cNvSpPr>
                  <a:spLocks noChangeShapeType="1"/>
                </p:cNvSpPr>
                <p:nvPr/>
              </p:nvSpPr>
              <p:spPr bwMode="auto">
                <a:xfrm>
                  <a:off x="594" y="2804"/>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11" name="Line 19">
                  <a:extLst>
                    <a:ext uri="{FF2B5EF4-FFF2-40B4-BE49-F238E27FC236}">
                      <a16:creationId xmlns:a16="http://schemas.microsoft.com/office/drawing/2014/main" id="{D2CA525E-B492-4E23-7ADC-DF76B02BA475}"/>
                    </a:ext>
                  </a:extLst>
                </p:cNvPr>
                <p:cNvSpPr>
                  <a:spLocks noChangeShapeType="1"/>
                </p:cNvSpPr>
                <p:nvPr/>
              </p:nvSpPr>
              <p:spPr bwMode="auto">
                <a:xfrm>
                  <a:off x="603" y="2614"/>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12" name="Line 20">
                  <a:extLst>
                    <a:ext uri="{FF2B5EF4-FFF2-40B4-BE49-F238E27FC236}">
                      <a16:creationId xmlns:a16="http://schemas.microsoft.com/office/drawing/2014/main" id="{A944C2F4-08C6-3544-A702-13CD994D422E}"/>
                    </a:ext>
                  </a:extLst>
                </p:cNvPr>
                <p:cNvSpPr>
                  <a:spLocks noChangeShapeType="1"/>
                </p:cNvSpPr>
                <p:nvPr/>
              </p:nvSpPr>
              <p:spPr bwMode="auto">
                <a:xfrm>
                  <a:off x="603" y="2432"/>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sp>
              <p:nvSpPr>
                <p:cNvPr id="59413" name="Line 21">
                  <a:extLst>
                    <a:ext uri="{FF2B5EF4-FFF2-40B4-BE49-F238E27FC236}">
                      <a16:creationId xmlns:a16="http://schemas.microsoft.com/office/drawing/2014/main" id="{A3748D8A-2569-7F88-0AC8-63F9E35F0C6C}"/>
                    </a:ext>
                  </a:extLst>
                </p:cNvPr>
                <p:cNvSpPr>
                  <a:spLocks noChangeShapeType="1"/>
                </p:cNvSpPr>
                <p:nvPr/>
              </p:nvSpPr>
              <p:spPr bwMode="auto">
                <a:xfrm>
                  <a:off x="603" y="2251"/>
                  <a:ext cx="817"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0070C0"/>
                    </a:solidFill>
                  </a:endParaRPr>
                </a:p>
              </p:txBody>
            </p:sp>
          </p:grpSp>
          <p:sp>
            <p:nvSpPr>
              <p:cNvPr id="59414" name="Line 22">
                <a:extLst>
                  <a:ext uri="{FF2B5EF4-FFF2-40B4-BE49-F238E27FC236}">
                    <a16:creationId xmlns:a16="http://schemas.microsoft.com/office/drawing/2014/main" id="{C058F529-0F95-4395-742E-DE5AAD795B73}"/>
                  </a:ext>
                </a:extLst>
              </p:cNvPr>
              <p:cNvSpPr>
                <a:spLocks noChangeShapeType="1"/>
              </p:cNvSpPr>
              <p:nvPr/>
            </p:nvSpPr>
            <p:spPr bwMode="auto">
              <a:xfrm>
                <a:off x="621" y="2795"/>
                <a:ext cx="1361"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solidFill>
                    <a:srgbClr val="0070C0"/>
                  </a:solidFill>
                </a:endParaRPr>
              </a:p>
            </p:txBody>
          </p:sp>
          <p:sp>
            <p:nvSpPr>
              <p:cNvPr id="59415" name="Line 23">
                <a:extLst>
                  <a:ext uri="{FF2B5EF4-FFF2-40B4-BE49-F238E27FC236}">
                    <a16:creationId xmlns:a16="http://schemas.microsoft.com/office/drawing/2014/main" id="{90A4AA69-C79E-69AF-0C52-56DF49EE29C0}"/>
                  </a:ext>
                </a:extLst>
              </p:cNvPr>
              <p:cNvSpPr>
                <a:spLocks noChangeShapeType="1"/>
              </p:cNvSpPr>
              <p:nvPr/>
            </p:nvSpPr>
            <p:spPr bwMode="auto">
              <a:xfrm rot="16200000">
                <a:off x="-69" y="2115"/>
                <a:ext cx="1361" cy="0"/>
              </a:xfrm>
              <a:prstGeom prst="line">
                <a:avLst/>
              </a:prstGeom>
              <a:noFill/>
              <a:ln w="28575" cap="sq">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solidFill>
                    <a:srgbClr val="0070C0"/>
                  </a:solidFill>
                </a:endParaRPr>
              </a:p>
            </p:txBody>
          </p:sp>
          <p:sp>
            <p:nvSpPr>
              <p:cNvPr id="59416" name="Text Box 24">
                <a:extLst>
                  <a:ext uri="{FF2B5EF4-FFF2-40B4-BE49-F238E27FC236}">
                    <a16:creationId xmlns:a16="http://schemas.microsoft.com/office/drawing/2014/main" id="{E404C3AB-E850-40B3-7FFF-FDE37BDC8FAB}"/>
                  </a:ext>
                </a:extLst>
              </p:cNvPr>
              <p:cNvSpPr txBox="1">
                <a:spLocks noChangeArrowheads="1"/>
              </p:cNvSpPr>
              <p:nvPr/>
            </p:nvSpPr>
            <p:spPr bwMode="auto">
              <a:xfrm>
                <a:off x="1565" y="2523"/>
                <a:ext cx="544"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ctr">
                  <a:spcBef>
                    <a:spcPct val="50000"/>
                  </a:spcBef>
                </a:pPr>
                <a:r>
                  <a:rPr kumimoji="1" lang="en-US" altLang="zh-CN" sz="2800" i="1" dirty="0">
                    <a:solidFill>
                      <a:srgbClr val="0070C0"/>
                    </a:solidFill>
                    <a:latin typeface="Times New Roman" panose="02020603050405020304" pitchFamily="18" charset="0"/>
                  </a:rPr>
                  <a:t>x</a:t>
                </a:r>
              </a:p>
            </p:txBody>
          </p:sp>
          <p:sp>
            <p:nvSpPr>
              <p:cNvPr id="59417" name="Text Box 25">
                <a:extLst>
                  <a:ext uri="{FF2B5EF4-FFF2-40B4-BE49-F238E27FC236}">
                    <a16:creationId xmlns:a16="http://schemas.microsoft.com/office/drawing/2014/main" id="{4A2782C6-FF51-81A3-BF68-1F01D0CF539A}"/>
                  </a:ext>
                </a:extLst>
              </p:cNvPr>
              <p:cNvSpPr txBox="1">
                <a:spLocks noChangeArrowheads="1"/>
              </p:cNvSpPr>
              <p:nvPr/>
            </p:nvSpPr>
            <p:spPr bwMode="auto">
              <a:xfrm>
                <a:off x="431" y="1307"/>
                <a:ext cx="544"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ctr">
                  <a:spcBef>
                    <a:spcPct val="50000"/>
                  </a:spcBef>
                </a:pPr>
                <a:r>
                  <a:rPr kumimoji="1" lang="en-US" altLang="zh-CN" sz="2800" i="1">
                    <a:solidFill>
                      <a:srgbClr val="0070C0"/>
                    </a:solidFill>
                    <a:latin typeface="Times New Roman" panose="02020603050405020304" pitchFamily="18" charset="0"/>
                  </a:rPr>
                  <a:t>y</a:t>
                </a:r>
              </a:p>
            </p:txBody>
          </p:sp>
        </p:grpSp>
        <p:sp>
          <p:nvSpPr>
            <p:cNvPr id="59418" name="Text Box 26">
              <a:extLst>
                <a:ext uri="{FF2B5EF4-FFF2-40B4-BE49-F238E27FC236}">
                  <a16:creationId xmlns:a16="http://schemas.microsoft.com/office/drawing/2014/main" id="{1038E818-CAEB-F670-1679-52007579C609}"/>
                </a:ext>
              </a:extLst>
            </p:cNvPr>
            <p:cNvSpPr txBox="1">
              <a:spLocks noChangeArrowheads="1"/>
            </p:cNvSpPr>
            <p:nvPr/>
          </p:nvSpPr>
          <p:spPr bwMode="auto">
            <a:xfrm>
              <a:off x="1201" y="2152"/>
              <a:ext cx="681"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ctr">
                <a:spcBef>
                  <a:spcPct val="50000"/>
                </a:spcBef>
              </a:pPr>
              <a:r>
                <a:rPr kumimoji="1" lang="en-US" altLang="zh-CN" sz="2800" i="1">
                  <a:solidFill>
                    <a:srgbClr val="0070C0"/>
                  </a:solidFill>
                  <a:latin typeface="Times New Roman" panose="02020603050405020304" pitchFamily="18" charset="0"/>
                </a:rPr>
                <a:t>x</a:t>
              </a:r>
              <a:r>
                <a:rPr kumimoji="1" lang="en-US" altLang="zh-CN" sz="2800" i="1" baseline="-25000">
                  <a:solidFill>
                    <a:srgbClr val="0070C0"/>
                  </a:solidFill>
                  <a:latin typeface="Times New Roman" panose="02020603050405020304" pitchFamily="18" charset="0"/>
                </a:rPr>
                <a:t>max</a:t>
              </a:r>
            </a:p>
          </p:txBody>
        </p:sp>
        <p:sp>
          <p:nvSpPr>
            <p:cNvPr id="59419" name="Text Box 27">
              <a:extLst>
                <a:ext uri="{FF2B5EF4-FFF2-40B4-BE49-F238E27FC236}">
                  <a16:creationId xmlns:a16="http://schemas.microsoft.com/office/drawing/2014/main" id="{1C6C714C-5C8A-97FF-C5A8-7CC9AA258B4A}"/>
                </a:ext>
              </a:extLst>
            </p:cNvPr>
            <p:cNvSpPr txBox="1">
              <a:spLocks noChangeArrowheads="1"/>
            </p:cNvSpPr>
            <p:nvPr/>
          </p:nvSpPr>
          <p:spPr bwMode="auto">
            <a:xfrm>
              <a:off x="431" y="2152"/>
              <a:ext cx="681"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ctr">
                <a:spcBef>
                  <a:spcPct val="50000"/>
                </a:spcBef>
              </a:pPr>
              <a:r>
                <a:rPr kumimoji="1" lang="en-US" altLang="zh-CN" sz="2800" i="1" dirty="0" err="1">
                  <a:solidFill>
                    <a:srgbClr val="0070C0"/>
                  </a:solidFill>
                  <a:latin typeface="Times New Roman" panose="02020603050405020304" pitchFamily="18" charset="0"/>
                </a:rPr>
                <a:t>x</a:t>
              </a:r>
              <a:r>
                <a:rPr kumimoji="1" lang="en-US" altLang="zh-CN" sz="2800" i="1" baseline="-25000" dirty="0" err="1">
                  <a:solidFill>
                    <a:srgbClr val="0070C0"/>
                  </a:solidFill>
                  <a:latin typeface="Times New Roman" panose="02020603050405020304" pitchFamily="18" charset="0"/>
                </a:rPr>
                <a:t>min</a:t>
              </a:r>
              <a:endParaRPr kumimoji="1" lang="en-US" altLang="zh-CN" sz="2800" i="1" baseline="-25000" dirty="0">
                <a:solidFill>
                  <a:srgbClr val="0070C0"/>
                </a:solidFill>
                <a:latin typeface="Times New Roman" panose="02020603050405020304" pitchFamily="18" charset="0"/>
              </a:endParaRPr>
            </a:p>
          </p:txBody>
        </p:sp>
        <p:sp>
          <p:nvSpPr>
            <p:cNvPr id="59420" name="Text Box 28">
              <a:extLst>
                <a:ext uri="{FF2B5EF4-FFF2-40B4-BE49-F238E27FC236}">
                  <a16:creationId xmlns:a16="http://schemas.microsoft.com/office/drawing/2014/main" id="{721B7106-6C8E-D5D7-D6B6-0E254816D79E}"/>
                </a:ext>
              </a:extLst>
            </p:cNvPr>
            <p:cNvSpPr txBox="1">
              <a:spLocks noChangeArrowheads="1"/>
            </p:cNvSpPr>
            <p:nvPr/>
          </p:nvSpPr>
          <p:spPr bwMode="auto">
            <a:xfrm>
              <a:off x="59" y="1244"/>
              <a:ext cx="681"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ctr">
                <a:spcBef>
                  <a:spcPct val="50000"/>
                </a:spcBef>
              </a:pPr>
              <a:r>
                <a:rPr kumimoji="1" lang="en-US" altLang="zh-CN" sz="2800" i="1">
                  <a:solidFill>
                    <a:srgbClr val="0070C0"/>
                  </a:solidFill>
                  <a:latin typeface="Times New Roman" panose="02020603050405020304" pitchFamily="18" charset="0"/>
                </a:rPr>
                <a:t>y</a:t>
              </a:r>
              <a:r>
                <a:rPr kumimoji="1" lang="en-US" altLang="zh-CN" sz="2800" i="1" baseline="-25000">
                  <a:solidFill>
                    <a:srgbClr val="0070C0"/>
                  </a:solidFill>
                  <a:latin typeface="Times New Roman" panose="02020603050405020304" pitchFamily="18" charset="0"/>
                </a:rPr>
                <a:t>max</a:t>
              </a:r>
            </a:p>
          </p:txBody>
        </p:sp>
        <p:sp>
          <p:nvSpPr>
            <p:cNvPr id="59421" name="Text Box 29">
              <a:extLst>
                <a:ext uri="{FF2B5EF4-FFF2-40B4-BE49-F238E27FC236}">
                  <a16:creationId xmlns:a16="http://schemas.microsoft.com/office/drawing/2014/main" id="{02A29A6E-7B23-6AC1-44E6-0493E7B13B48}"/>
                </a:ext>
              </a:extLst>
            </p:cNvPr>
            <p:cNvSpPr txBox="1">
              <a:spLocks noChangeArrowheads="1"/>
            </p:cNvSpPr>
            <p:nvPr/>
          </p:nvSpPr>
          <p:spPr bwMode="auto">
            <a:xfrm>
              <a:off x="67" y="1924"/>
              <a:ext cx="681"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ctr">
                <a:spcBef>
                  <a:spcPct val="50000"/>
                </a:spcBef>
              </a:pPr>
              <a:r>
                <a:rPr kumimoji="1" lang="en-US" altLang="zh-CN" sz="2800" i="1">
                  <a:solidFill>
                    <a:srgbClr val="0070C0"/>
                  </a:solidFill>
                  <a:latin typeface="Times New Roman" panose="02020603050405020304" pitchFamily="18" charset="0"/>
                </a:rPr>
                <a:t>y</a:t>
              </a:r>
              <a:r>
                <a:rPr kumimoji="1" lang="en-US" altLang="zh-CN" sz="2800" i="1" baseline="-25000">
                  <a:solidFill>
                    <a:srgbClr val="0070C0"/>
                  </a:solidFill>
                  <a:latin typeface="Times New Roman" panose="02020603050405020304" pitchFamily="18" charset="0"/>
                </a:rPr>
                <a:t>min</a:t>
              </a:r>
            </a:p>
          </p:txBody>
        </p:sp>
      </p:grpSp>
      <p:sp>
        <p:nvSpPr>
          <p:cNvPr id="59422" name="AutoShape 30">
            <a:extLst>
              <a:ext uri="{FF2B5EF4-FFF2-40B4-BE49-F238E27FC236}">
                <a16:creationId xmlns:a16="http://schemas.microsoft.com/office/drawing/2014/main" id="{CECE5E53-CA74-7658-D512-2D0EDA219C1E}"/>
              </a:ext>
            </a:extLst>
          </p:cNvPr>
          <p:cNvSpPr>
            <a:spLocks/>
          </p:cNvSpPr>
          <p:nvPr/>
        </p:nvSpPr>
        <p:spPr bwMode="auto">
          <a:xfrm>
            <a:off x="1776289" y="5551559"/>
            <a:ext cx="2735263" cy="609600"/>
          </a:xfrm>
          <a:prstGeom prst="borderCallout2">
            <a:avLst>
              <a:gd name="adj1" fmla="val 18750"/>
              <a:gd name="adj2" fmla="val 102787"/>
              <a:gd name="adj3" fmla="val 18750"/>
              <a:gd name="adj4" fmla="val 107949"/>
              <a:gd name="adj5" fmla="val -49741"/>
              <a:gd name="adj6" fmla="val 113231"/>
            </a:avLst>
          </a:prstGeom>
          <a:solidFill>
            <a:srgbClr val="FFCC99"/>
          </a:solidFill>
          <a:ln w="9525"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fontAlgn="ctr"/>
            <a:r>
              <a:rPr kumimoji="1" lang="zh-CN" altLang="en-US" sz="2800" b="1">
                <a:solidFill>
                  <a:srgbClr val="000066"/>
                </a:solidFill>
                <a:latin typeface="Times New Roman" panose="02020603050405020304" pitchFamily="18" charset="0"/>
              </a:rPr>
              <a:t>每行像素点数</a:t>
            </a:r>
          </a:p>
        </p:txBody>
      </p:sp>
      <p:sp>
        <p:nvSpPr>
          <p:cNvPr id="59423" name="AutoShape 31">
            <a:extLst>
              <a:ext uri="{FF2B5EF4-FFF2-40B4-BE49-F238E27FC236}">
                <a16:creationId xmlns:a16="http://schemas.microsoft.com/office/drawing/2014/main" id="{E2DF5AA4-7745-8057-F26D-851F15733720}"/>
              </a:ext>
            </a:extLst>
          </p:cNvPr>
          <p:cNvSpPr>
            <a:spLocks/>
          </p:cNvSpPr>
          <p:nvPr/>
        </p:nvSpPr>
        <p:spPr bwMode="auto">
          <a:xfrm>
            <a:off x="5017963" y="5551559"/>
            <a:ext cx="1150938" cy="609600"/>
          </a:xfrm>
          <a:prstGeom prst="borderCallout2">
            <a:avLst>
              <a:gd name="adj1" fmla="val 18750"/>
              <a:gd name="adj2" fmla="val 106620"/>
              <a:gd name="adj3" fmla="val 18750"/>
              <a:gd name="adj4" fmla="val 120000"/>
              <a:gd name="adj5" fmla="val -69009"/>
              <a:gd name="adj6" fmla="val 133792"/>
            </a:avLst>
          </a:prstGeom>
          <a:solidFill>
            <a:srgbClr val="FFCC99"/>
          </a:solidFill>
          <a:ln w="9525"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fontAlgn="ctr"/>
            <a:r>
              <a:rPr kumimoji="1" lang="zh-CN" altLang="en-US" sz="2800" b="1">
                <a:solidFill>
                  <a:srgbClr val="000066"/>
                </a:solidFill>
                <a:latin typeface="Times New Roman" panose="02020603050405020304" pitchFamily="18" charset="0"/>
              </a:rPr>
              <a:t>行数</a:t>
            </a:r>
          </a:p>
        </p:txBody>
      </p:sp>
      <p:sp>
        <p:nvSpPr>
          <p:cNvPr id="59424" name="AutoShape 32">
            <a:extLst>
              <a:ext uri="{FF2B5EF4-FFF2-40B4-BE49-F238E27FC236}">
                <a16:creationId xmlns:a16="http://schemas.microsoft.com/office/drawing/2014/main" id="{99F82740-150F-EF8D-912A-D2F765F1EF7B}"/>
              </a:ext>
            </a:extLst>
          </p:cNvPr>
          <p:cNvSpPr>
            <a:spLocks/>
          </p:cNvSpPr>
          <p:nvPr/>
        </p:nvSpPr>
        <p:spPr bwMode="auto">
          <a:xfrm>
            <a:off x="8653339" y="5551559"/>
            <a:ext cx="1755775" cy="609600"/>
          </a:xfrm>
          <a:prstGeom prst="borderCallout2">
            <a:avLst>
              <a:gd name="adj1" fmla="val 18750"/>
              <a:gd name="adj2" fmla="val -4338"/>
              <a:gd name="adj3" fmla="val 18750"/>
              <a:gd name="adj4" fmla="val -19079"/>
              <a:gd name="adj5" fmla="val -68750"/>
              <a:gd name="adj6" fmla="val -33907"/>
            </a:avLst>
          </a:prstGeom>
          <a:solidFill>
            <a:srgbClr val="FFCC99"/>
          </a:solidFill>
          <a:ln w="9525"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fontAlgn="ctr"/>
            <a:r>
              <a:rPr kumimoji="1" lang="zh-CN" altLang="en-US" sz="2800" b="1">
                <a:solidFill>
                  <a:srgbClr val="000066"/>
                </a:solidFill>
                <a:latin typeface="Times New Roman" panose="02020603050405020304" pitchFamily="18" charset="0"/>
              </a:rPr>
              <a:t>行中位置</a:t>
            </a:r>
          </a:p>
        </p:txBody>
      </p:sp>
      <p:pic>
        <p:nvPicPr>
          <p:cNvPr id="59425" name="Picture 33">
            <a:extLst>
              <a:ext uri="{FF2B5EF4-FFF2-40B4-BE49-F238E27FC236}">
                <a16:creationId xmlns:a16="http://schemas.microsoft.com/office/drawing/2014/main" id="{0D4AECCA-4E97-D1EC-92FF-393ABD32EA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37664" y="874643"/>
            <a:ext cx="6629330" cy="298615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26" name="Oval 34">
            <a:extLst>
              <a:ext uri="{FF2B5EF4-FFF2-40B4-BE49-F238E27FC236}">
                <a16:creationId xmlns:a16="http://schemas.microsoft.com/office/drawing/2014/main" id="{4B51FAE0-536F-D52F-2C64-92AEBBDFD4D9}"/>
              </a:ext>
            </a:extLst>
          </p:cNvPr>
          <p:cNvSpPr>
            <a:spLocks noChangeArrowheads="1"/>
          </p:cNvSpPr>
          <p:nvPr/>
        </p:nvSpPr>
        <p:spPr bwMode="auto">
          <a:xfrm>
            <a:off x="2346903" y="2924176"/>
            <a:ext cx="144463" cy="1444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7" name="Text Box 35">
            <a:extLst>
              <a:ext uri="{FF2B5EF4-FFF2-40B4-BE49-F238E27FC236}">
                <a16:creationId xmlns:a16="http://schemas.microsoft.com/office/drawing/2014/main" id="{07AB8711-C54E-E0AD-8EAF-D11664A18E08}"/>
              </a:ext>
            </a:extLst>
          </p:cNvPr>
          <p:cNvSpPr txBox="1">
            <a:spLocks noChangeArrowheads="1"/>
          </p:cNvSpPr>
          <p:nvPr/>
        </p:nvSpPr>
        <p:spPr bwMode="auto">
          <a:xfrm>
            <a:off x="2059566" y="25654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solidFill>
                  <a:srgbClr val="FFFF00"/>
                </a:solidFill>
                <a:latin typeface="Times New Roman" panose="02020603050405020304" pitchFamily="18" charset="0"/>
              </a:rPr>
              <a:t>(x, y)</a:t>
            </a:r>
          </a:p>
        </p:txBody>
      </p:sp>
      <p:sp>
        <p:nvSpPr>
          <p:cNvPr id="59428" name="Line 36">
            <a:extLst>
              <a:ext uri="{FF2B5EF4-FFF2-40B4-BE49-F238E27FC236}">
                <a16:creationId xmlns:a16="http://schemas.microsoft.com/office/drawing/2014/main" id="{EE3F5458-48CE-D635-73BE-EA80C7047783}"/>
              </a:ext>
            </a:extLst>
          </p:cNvPr>
          <p:cNvSpPr>
            <a:spLocks noChangeShapeType="1"/>
          </p:cNvSpPr>
          <p:nvPr/>
        </p:nvSpPr>
        <p:spPr bwMode="auto">
          <a:xfrm>
            <a:off x="2491366" y="2997200"/>
            <a:ext cx="2376487"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box(in)">
                                      <p:cBhvr>
                                        <p:cTn id="7" dur="500"/>
                                        <p:tgtEl>
                                          <p:spTgt spid="5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nodeType="clickEffect">
                                  <p:stCondLst>
                                    <p:cond delay="0"/>
                                  </p:stCondLst>
                                  <p:childTnLst>
                                    <p:set>
                                      <p:cBhvr>
                                        <p:cTn id="11" dur="1" fill="hold">
                                          <p:stCondLst>
                                            <p:cond delay="0"/>
                                          </p:stCondLst>
                                        </p:cTn>
                                        <p:tgtEl>
                                          <p:spTgt spid="59422"/>
                                        </p:tgtEl>
                                        <p:attrNameLst>
                                          <p:attrName>style.visibility</p:attrName>
                                        </p:attrNameLst>
                                      </p:cBhvr>
                                      <p:to>
                                        <p:strVal val="visible"/>
                                      </p:to>
                                    </p:set>
                                    <p:anim calcmode="lin" valueType="num">
                                      <p:cBhvr>
                                        <p:cTn id="12" dur="1000" fill="hold"/>
                                        <p:tgtEl>
                                          <p:spTgt spid="59422"/>
                                        </p:tgtEl>
                                        <p:attrNameLst>
                                          <p:attrName>ppt_w</p:attrName>
                                        </p:attrNameLst>
                                      </p:cBhvr>
                                      <p:tavLst>
                                        <p:tav tm="0">
                                          <p:val>
                                            <p:strVal val="#ppt_w*0.70"/>
                                          </p:val>
                                        </p:tav>
                                        <p:tav tm="100000">
                                          <p:val>
                                            <p:strVal val="#ppt_w"/>
                                          </p:val>
                                        </p:tav>
                                      </p:tavLst>
                                    </p:anim>
                                    <p:anim calcmode="lin" valueType="num">
                                      <p:cBhvr>
                                        <p:cTn id="13" dur="1000" fill="hold"/>
                                        <p:tgtEl>
                                          <p:spTgt spid="59422"/>
                                        </p:tgtEl>
                                        <p:attrNameLst>
                                          <p:attrName>ppt_h</p:attrName>
                                        </p:attrNameLst>
                                      </p:cBhvr>
                                      <p:tavLst>
                                        <p:tav tm="0">
                                          <p:val>
                                            <p:strVal val="#ppt_h"/>
                                          </p:val>
                                        </p:tav>
                                        <p:tav tm="100000">
                                          <p:val>
                                            <p:strVal val="#ppt_h"/>
                                          </p:val>
                                        </p:tav>
                                      </p:tavLst>
                                    </p:anim>
                                    <p:animEffect transition="in" filter="fade">
                                      <p:cBhvr>
                                        <p:cTn id="14" dur="1000"/>
                                        <p:tgtEl>
                                          <p:spTgt spid="5942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59423"/>
                                        </p:tgtEl>
                                        <p:attrNameLst>
                                          <p:attrName>style.visibility</p:attrName>
                                        </p:attrNameLst>
                                      </p:cBhvr>
                                      <p:to>
                                        <p:strVal val="visible"/>
                                      </p:to>
                                    </p:set>
                                    <p:anim calcmode="lin" valueType="num">
                                      <p:cBhvr>
                                        <p:cTn id="19" dur="1000" fill="hold"/>
                                        <p:tgtEl>
                                          <p:spTgt spid="59423"/>
                                        </p:tgtEl>
                                        <p:attrNameLst>
                                          <p:attrName>ppt_w</p:attrName>
                                        </p:attrNameLst>
                                      </p:cBhvr>
                                      <p:tavLst>
                                        <p:tav tm="0">
                                          <p:val>
                                            <p:strVal val="#ppt_w*0.70"/>
                                          </p:val>
                                        </p:tav>
                                        <p:tav tm="100000">
                                          <p:val>
                                            <p:strVal val="#ppt_w"/>
                                          </p:val>
                                        </p:tav>
                                      </p:tavLst>
                                    </p:anim>
                                    <p:anim calcmode="lin" valueType="num">
                                      <p:cBhvr>
                                        <p:cTn id="20" dur="1000" fill="hold"/>
                                        <p:tgtEl>
                                          <p:spTgt spid="59423"/>
                                        </p:tgtEl>
                                        <p:attrNameLst>
                                          <p:attrName>ppt_h</p:attrName>
                                        </p:attrNameLst>
                                      </p:cBhvr>
                                      <p:tavLst>
                                        <p:tav tm="0">
                                          <p:val>
                                            <p:strVal val="#ppt_h"/>
                                          </p:val>
                                        </p:tav>
                                        <p:tav tm="100000">
                                          <p:val>
                                            <p:strVal val="#ppt_h"/>
                                          </p:val>
                                        </p:tav>
                                      </p:tavLst>
                                    </p:anim>
                                    <p:animEffect transition="in" filter="fade">
                                      <p:cBhvr>
                                        <p:cTn id="21" dur="1000"/>
                                        <p:tgtEl>
                                          <p:spTgt spid="5942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nodeType="clickEffect">
                                  <p:stCondLst>
                                    <p:cond delay="0"/>
                                  </p:stCondLst>
                                  <p:childTnLst>
                                    <p:set>
                                      <p:cBhvr>
                                        <p:cTn id="25" dur="1" fill="hold">
                                          <p:stCondLst>
                                            <p:cond delay="0"/>
                                          </p:stCondLst>
                                        </p:cTn>
                                        <p:tgtEl>
                                          <p:spTgt spid="59424"/>
                                        </p:tgtEl>
                                        <p:attrNameLst>
                                          <p:attrName>style.visibility</p:attrName>
                                        </p:attrNameLst>
                                      </p:cBhvr>
                                      <p:to>
                                        <p:strVal val="visible"/>
                                      </p:to>
                                    </p:set>
                                    <p:anim calcmode="lin" valueType="num">
                                      <p:cBhvr>
                                        <p:cTn id="26" dur="1000" fill="hold"/>
                                        <p:tgtEl>
                                          <p:spTgt spid="59424"/>
                                        </p:tgtEl>
                                        <p:attrNameLst>
                                          <p:attrName>ppt_w</p:attrName>
                                        </p:attrNameLst>
                                      </p:cBhvr>
                                      <p:tavLst>
                                        <p:tav tm="0">
                                          <p:val>
                                            <p:strVal val="#ppt_w*0.70"/>
                                          </p:val>
                                        </p:tav>
                                        <p:tav tm="100000">
                                          <p:val>
                                            <p:strVal val="#ppt_w"/>
                                          </p:val>
                                        </p:tav>
                                      </p:tavLst>
                                    </p:anim>
                                    <p:anim calcmode="lin" valueType="num">
                                      <p:cBhvr>
                                        <p:cTn id="27" dur="1000" fill="hold"/>
                                        <p:tgtEl>
                                          <p:spTgt spid="59424"/>
                                        </p:tgtEl>
                                        <p:attrNameLst>
                                          <p:attrName>ppt_h</p:attrName>
                                        </p:attrNameLst>
                                      </p:cBhvr>
                                      <p:tavLst>
                                        <p:tav tm="0">
                                          <p:val>
                                            <p:strVal val="#ppt_h"/>
                                          </p:val>
                                        </p:tav>
                                        <p:tav tm="100000">
                                          <p:val>
                                            <p:strVal val="#ppt_h"/>
                                          </p:val>
                                        </p:tav>
                                      </p:tavLst>
                                    </p:anim>
                                    <p:animEffect transition="in" filter="fade">
                                      <p:cBhvr>
                                        <p:cTn id="28" dur="1000"/>
                                        <p:tgtEl>
                                          <p:spTgt spid="59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p:bldP spid="59422" grpId="0" animBg="1"/>
      <p:bldP spid="59423" grpId="0" animBg="1"/>
      <p:bldP spid="5942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1F19F284-4DF1-316F-FE7A-3975E17AFF89}"/>
              </a:ext>
            </a:extLst>
          </p:cNvPr>
          <p:cNvSpPr>
            <a:spLocks noGrp="1" noRot="1" noChangeArrowheads="1"/>
          </p:cNvSpPr>
          <p:nvPr>
            <p:ph type="body" sz="half" idx="1"/>
          </p:nvPr>
        </p:nvSpPr>
        <p:spPr>
          <a:xfrm>
            <a:off x="1050898" y="542014"/>
            <a:ext cx="10090204" cy="2725972"/>
          </a:xfrm>
        </p:spPr>
        <p:txBody>
          <a:bodyPr>
            <a:normAutofit/>
          </a:bodyPr>
          <a:lstStyle/>
          <a:p>
            <a:pPr marL="0" indent="0" algn="just">
              <a:lnSpc>
                <a:spcPct val="150000"/>
              </a:lnSpc>
              <a:buNone/>
            </a:pPr>
            <a:r>
              <a:rPr lang="zh-CN" altLang="en-US" b="1" dirty="0">
                <a:solidFill>
                  <a:srgbClr val="C00000"/>
                </a:solidFill>
              </a:rPr>
              <a:t>        由于屏幕显示器每个像素的距离是均匀的，且以整数表示每个像素的位置，因此在直线段斜率</a:t>
            </a:r>
            <a:r>
              <a:rPr lang="en-US" altLang="zh-CN" b="1" dirty="0">
                <a:solidFill>
                  <a:srgbClr val="C00000"/>
                </a:solidFill>
              </a:rPr>
              <a:t>0&lt;m&lt;1</a:t>
            </a:r>
            <a:r>
              <a:rPr lang="zh-CN" altLang="en-US" b="1" dirty="0">
                <a:solidFill>
                  <a:srgbClr val="C00000"/>
                </a:solidFill>
              </a:rPr>
              <a:t>时，</a:t>
            </a:r>
            <a:r>
              <a:rPr lang="en-US" altLang="zh-CN" b="1" dirty="0">
                <a:solidFill>
                  <a:srgbClr val="C00000"/>
                </a:solidFill>
              </a:rPr>
              <a:t>X</a:t>
            </a:r>
            <a:r>
              <a:rPr lang="zh-CN" altLang="en-US" b="1" dirty="0">
                <a:solidFill>
                  <a:srgbClr val="C00000"/>
                </a:solidFill>
              </a:rPr>
              <a:t>方向每次迭代都增加</a:t>
            </a:r>
            <a:r>
              <a:rPr lang="en-US" altLang="zh-CN" b="1" dirty="0">
                <a:solidFill>
                  <a:srgbClr val="C00000"/>
                </a:solidFill>
              </a:rPr>
              <a:t>1</a:t>
            </a:r>
            <a:r>
              <a:rPr lang="zh-CN" altLang="en-US" b="1" dirty="0">
                <a:solidFill>
                  <a:srgbClr val="C00000"/>
                </a:solidFill>
              </a:rPr>
              <a:t>，</a:t>
            </a:r>
            <a:r>
              <a:rPr lang="en-US" altLang="zh-CN" b="1" dirty="0">
                <a:solidFill>
                  <a:srgbClr val="C00000"/>
                </a:solidFill>
              </a:rPr>
              <a:t>Y</a:t>
            </a:r>
            <a:r>
              <a:rPr lang="zh-CN" altLang="en-US" b="1" dirty="0">
                <a:solidFill>
                  <a:srgbClr val="C00000"/>
                </a:solidFill>
              </a:rPr>
              <a:t>方向则不一定增加；反之，则</a:t>
            </a:r>
            <a:r>
              <a:rPr lang="en-US" altLang="zh-CN" b="1" dirty="0">
                <a:solidFill>
                  <a:srgbClr val="C00000"/>
                </a:solidFill>
              </a:rPr>
              <a:t>Y</a:t>
            </a:r>
            <a:r>
              <a:rPr lang="zh-CN" altLang="en-US" b="1" dirty="0">
                <a:solidFill>
                  <a:srgbClr val="C00000"/>
                </a:solidFill>
              </a:rPr>
              <a:t>方向增加</a:t>
            </a:r>
            <a:r>
              <a:rPr lang="en-US" altLang="zh-CN" b="1" dirty="0">
                <a:solidFill>
                  <a:srgbClr val="C00000"/>
                </a:solidFill>
              </a:rPr>
              <a:t>1</a:t>
            </a:r>
            <a:r>
              <a:rPr lang="zh-CN" altLang="en-US" b="1" dirty="0">
                <a:solidFill>
                  <a:srgbClr val="C00000"/>
                </a:solidFill>
              </a:rPr>
              <a:t>，</a:t>
            </a:r>
            <a:r>
              <a:rPr lang="en-US" altLang="zh-CN" b="1" dirty="0">
                <a:solidFill>
                  <a:srgbClr val="C00000"/>
                </a:solidFill>
              </a:rPr>
              <a:t>X</a:t>
            </a:r>
            <a:r>
              <a:rPr lang="zh-CN" altLang="en-US" b="1" dirty="0">
                <a:solidFill>
                  <a:srgbClr val="C00000"/>
                </a:solidFill>
              </a:rPr>
              <a:t>方向不一定增加。</a:t>
            </a:r>
          </a:p>
        </p:txBody>
      </p:sp>
      <p:pic>
        <p:nvPicPr>
          <p:cNvPr id="6148" name="Picture 4">
            <a:extLst>
              <a:ext uri="{FF2B5EF4-FFF2-40B4-BE49-F238E27FC236}">
                <a16:creationId xmlns:a16="http://schemas.microsoft.com/office/drawing/2014/main" id="{E800248A-E768-AB96-5568-34D99BB4C73D}"/>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669774" y="3428999"/>
            <a:ext cx="3912042" cy="28207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49" name="Picture 5">
            <a:extLst>
              <a:ext uri="{FF2B5EF4-FFF2-40B4-BE49-F238E27FC236}">
                <a16:creationId xmlns:a16="http://schemas.microsoft.com/office/drawing/2014/main" id="{C9373744-A616-1AEB-D9E4-C337012097BF}"/>
              </a:ext>
            </a:extLst>
          </p:cNvPr>
          <p:cNvPicPr>
            <a:picLocks noGrp="1" noChangeAspect="1" noChangeArrowheads="1"/>
          </p:cNvPicPr>
          <p:nvPr>
            <p:ph sz="quarter" idx="3"/>
          </p:nvPr>
        </p:nvPicPr>
        <p:blipFill>
          <a:blip r:embed="rId3">
            <a:lum bright="-98000" contrast="100000"/>
            <a:grayscl/>
            <a:biLevel thresh="50000"/>
            <a:extLst>
              <a:ext uri="{28A0092B-C50C-407E-A947-70E740481C1C}">
                <a14:useLocalDpi xmlns:a14="http://schemas.microsoft.com/office/drawing/2010/main" val="0"/>
              </a:ext>
            </a:extLst>
          </a:blip>
          <a:srcRect/>
          <a:stretch>
            <a:fillRect/>
          </a:stretch>
        </p:blipFill>
        <p:spPr>
          <a:xfrm>
            <a:off x="6176964" y="2941983"/>
            <a:ext cx="5105937" cy="3374003"/>
          </a:xfrm>
          <a:noFill/>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wipe(left)">
                                      <p:cBhvr>
                                        <p:cTn id="7" dur="500"/>
                                        <p:tgtEl>
                                          <p:spTgt spid="6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wipe(left)">
                                      <p:cBhvr>
                                        <p:cTn id="12"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8017" y="721581"/>
                <a:ext cx="10455965" cy="5225996"/>
              </a:xfrm>
            </p:spPr>
            <p:txBody>
              <a:bodyPr>
                <a:normAutofit fontScale="92500" lnSpcReduction="20000"/>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3.1.1 </a:t>
                </a:r>
                <a:r>
                  <a:rPr lang="zh-CN" altLang="en-US" sz="3200" dirty="0">
                    <a:latin typeface="华光大标宋_CNKI" panose="02000500000000000000" pitchFamily="2" charset="-122"/>
                    <a:ea typeface="华光大标宋_CNKI" panose="02000500000000000000" pitchFamily="2" charset="-122"/>
                  </a:rPr>
                  <a:t>数字微分分析法（</a:t>
                </a:r>
                <a:r>
                  <a:rPr lang="en-US" altLang="zh-CN" sz="3200" dirty="0">
                    <a:latin typeface="华光大标宋_CNKI" panose="02000500000000000000" pitchFamily="2" charset="-122"/>
                    <a:ea typeface="华光大标宋_CNKI" panose="02000500000000000000" pitchFamily="2" charset="-122"/>
                  </a:rPr>
                  <a:t>DDA)</a:t>
                </a:r>
              </a:p>
              <a:p>
                <a:pPr algn="l">
                  <a:lnSpc>
                    <a:spcPct val="150000"/>
                  </a:lnSpc>
                </a:pPr>
                <a:r>
                  <a:rPr lang="zh-CN" altLang="en-US" sz="2800" dirty="0">
                    <a:latin typeface="华光仿宋_CNKI" panose="02000500000000000000" pitchFamily="2" charset="-122"/>
                    <a:ea typeface="华光仿宋_CNKI" panose="02000500000000000000" pitchFamily="2" charset="-122"/>
                  </a:rPr>
                  <a:t>    设直线的起点为</a:t>
                </a:r>
                <a:r>
                  <a:rPr lang="en-US" altLang="zh-CN" sz="2800" dirty="0"/>
                  <a:t>P</a:t>
                </a:r>
                <a:r>
                  <a:rPr lang="en-US" altLang="zh-CN" sz="2800" baseline="-25000" dirty="0"/>
                  <a:t>0</a:t>
                </a:r>
                <a:r>
                  <a:rPr lang="en-US" altLang="zh-CN" sz="2800" dirty="0"/>
                  <a:t>(x</a:t>
                </a:r>
                <a:r>
                  <a:rPr lang="en-US" altLang="zh-CN" sz="2800" baseline="-25000" dirty="0"/>
                  <a:t>0</a:t>
                </a:r>
                <a:r>
                  <a:rPr lang="en-US" altLang="zh-CN" sz="2800" dirty="0"/>
                  <a:t>,y</a:t>
                </a:r>
                <a:r>
                  <a:rPr lang="en-US" altLang="zh-CN" sz="2800" baseline="-25000" dirty="0"/>
                  <a:t>0</a:t>
                </a:r>
                <a:r>
                  <a:rPr lang="en-US" altLang="zh-CN" sz="2800" dirty="0"/>
                  <a:t>), </a:t>
                </a:r>
                <a:r>
                  <a:rPr lang="zh-CN" altLang="en-US" sz="2800" dirty="0"/>
                  <a:t>终点为</a:t>
                </a:r>
                <a:r>
                  <a:rPr lang="en-US" altLang="zh-CN" sz="2800" dirty="0"/>
                  <a:t>P</a:t>
                </a:r>
                <a:r>
                  <a:rPr lang="en-US" altLang="zh-CN" sz="2800" baseline="-25000" dirty="0"/>
                  <a:t>1</a:t>
                </a:r>
                <a:r>
                  <a:rPr lang="en-US" altLang="zh-CN" sz="2800" dirty="0"/>
                  <a:t>(x</a:t>
                </a:r>
                <a:r>
                  <a:rPr lang="en-US" altLang="zh-CN" sz="2800" baseline="-25000" dirty="0"/>
                  <a:t>1</a:t>
                </a:r>
                <a:r>
                  <a:rPr lang="en-US" altLang="zh-CN" sz="2800" dirty="0"/>
                  <a:t>,y</a:t>
                </a:r>
                <a:r>
                  <a:rPr lang="en-US" altLang="zh-CN" sz="2800" baseline="-25000" dirty="0"/>
                  <a:t>1</a:t>
                </a:r>
                <a:r>
                  <a:rPr lang="en-US" altLang="zh-CN" sz="2800" dirty="0"/>
                  <a:t>)</a:t>
                </a:r>
                <a:r>
                  <a:rPr lang="zh-CN" altLang="en-US" sz="2800" dirty="0">
                    <a:latin typeface="华光仿宋_CNKI" panose="02000500000000000000" pitchFamily="2" charset="-122"/>
                    <a:ea typeface="华光仿宋_CNKI" panose="02000500000000000000" pitchFamily="2" charset="-122"/>
                  </a:rPr>
                  <a:t> ，对应的直线方程为：</a:t>
                </a:r>
                <a:endParaRPr lang="en-US" altLang="zh-CN" sz="2800" dirty="0">
                  <a:latin typeface="华光仿宋_CNKI" panose="02000500000000000000" pitchFamily="2" charset="-122"/>
                  <a:ea typeface="华光仿宋_CNKI" panose="02000500000000000000" pitchFamily="2" charset="-122"/>
                </a:endParaRPr>
              </a:p>
              <a:p>
                <a:pPr algn="just">
                  <a:lnSpc>
                    <a:spcPct val="150000"/>
                  </a:lnSpc>
                  <a:buFont typeface="Wingdings" panose="05000000000000000000" pitchFamily="2" charset="2"/>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 </a:t>
                </a:r>
                <a:r>
                  <a:rPr lang="en-US" altLang="zh-CN" sz="2800" b="1" dirty="0">
                    <a:solidFill>
                      <a:srgbClr val="C00000"/>
                    </a:solidFill>
                    <a:latin typeface="华光仿宋_CNKI" panose="02000500000000000000" pitchFamily="2" charset="-122"/>
                    <a:ea typeface="华光仿宋_CNKI" panose="02000500000000000000" pitchFamily="2" charset="-122"/>
                  </a:rPr>
                  <a:t>y=</a:t>
                </a:r>
                <a:r>
                  <a:rPr lang="en-US" altLang="zh-CN" sz="2800" b="1" dirty="0" err="1">
                    <a:solidFill>
                      <a:srgbClr val="C00000"/>
                    </a:solidFill>
                    <a:latin typeface="华光仿宋_CNKI" panose="02000500000000000000" pitchFamily="2" charset="-122"/>
                    <a:ea typeface="华光仿宋_CNKI" panose="02000500000000000000" pitchFamily="2" charset="-122"/>
                  </a:rPr>
                  <a:t>mx+b</a:t>
                </a:r>
                <a:endParaRPr lang="en-US" altLang="zh-CN" sz="2800" b="1" dirty="0">
                  <a:solidFill>
                    <a:srgbClr val="C00000"/>
                  </a:solidFill>
                  <a:latin typeface="华光仿宋_CNKI" panose="02000500000000000000" pitchFamily="2" charset="-122"/>
                  <a:ea typeface="华光仿宋_CNKI" panose="02000500000000000000" pitchFamily="2" charset="-122"/>
                </a:endParaRPr>
              </a:p>
              <a:p>
                <a:pPr algn="just">
                  <a:lnSpc>
                    <a:spcPct val="150000"/>
                  </a:lnSpc>
                  <a:buFont typeface="Wingdings" panose="05000000000000000000" pitchFamily="2" charset="2"/>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其中：</a:t>
                </a:r>
                <a:endParaRPr lang="en-US" altLang="zh-CN" sz="2800" dirty="0">
                  <a:latin typeface="华光仿宋_CNKI" panose="02000500000000000000" pitchFamily="2" charset="-122"/>
                  <a:ea typeface="华光仿宋_CNKI" panose="02000500000000000000" pitchFamily="2" charset="-122"/>
                </a:endParaRPr>
              </a:p>
              <a:p>
                <a:pPr algn="just">
                  <a:lnSpc>
                    <a:spcPct val="150000"/>
                  </a:lnSpc>
                  <a:buFont typeface="Wingdings" panose="05000000000000000000" pitchFamily="2" charset="2"/>
                  <a:buNone/>
                </a:pPr>
                <a:r>
                  <a:rPr lang="en-US" altLang="zh-CN" sz="2800" dirty="0"/>
                  <a:t>            </a:t>
                </a:r>
                <a:r>
                  <a:rPr lang="en-US" altLang="zh-CN" sz="2800" b="1" dirty="0">
                    <a:solidFill>
                      <a:srgbClr val="C00000"/>
                    </a:solidFill>
                  </a:rPr>
                  <a:t>m=(y</a:t>
                </a:r>
                <a:r>
                  <a:rPr lang="en-US" altLang="zh-CN" sz="2800" b="1" baseline="-25000" dirty="0">
                    <a:solidFill>
                      <a:srgbClr val="C00000"/>
                    </a:solidFill>
                  </a:rPr>
                  <a:t>1 </a:t>
                </a:r>
                <a:r>
                  <a:rPr lang="en-US" altLang="zh-CN" sz="2800" b="1" dirty="0">
                    <a:solidFill>
                      <a:srgbClr val="C00000"/>
                    </a:solidFill>
                  </a:rPr>
                  <a:t>- y</a:t>
                </a:r>
                <a:r>
                  <a:rPr lang="en-US" altLang="zh-CN" sz="2800" b="1" baseline="-25000" dirty="0">
                    <a:solidFill>
                      <a:srgbClr val="C00000"/>
                    </a:solidFill>
                  </a:rPr>
                  <a:t>0</a:t>
                </a:r>
                <a:r>
                  <a:rPr lang="en-US" altLang="zh-CN" sz="2800" b="1" dirty="0">
                    <a:solidFill>
                      <a:srgbClr val="C00000"/>
                    </a:solidFill>
                  </a:rPr>
                  <a:t>)/(x</a:t>
                </a:r>
                <a:r>
                  <a:rPr lang="en-US" altLang="zh-CN" sz="2800" b="1" baseline="-25000" dirty="0">
                    <a:solidFill>
                      <a:srgbClr val="C00000"/>
                    </a:solidFill>
                  </a:rPr>
                  <a:t>1 </a:t>
                </a:r>
                <a:r>
                  <a:rPr lang="en-US" altLang="zh-CN" sz="2800" b="1" dirty="0">
                    <a:solidFill>
                      <a:srgbClr val="C00000"/>
                    </a:solidFill>
                  </a:rPr>
                  <a:t>- x</a:t>
                </a:r>
                <a:r>
                  <a:rPr lang="en-US" altLang="zh-CN" sz="2800" b="1" baseline="-25000" dirty="0">
                    <a:solidFill>
                      <a:srgbClr val="C00000"/>
                    </a:solidFill>
                  </a:rPr>
                  <a:t>0</a:t>
                </a:r>
                <a:r>
                  <a:rPr lang="en-US" altLang="zh-CN" sz="2800" b="1" dirty="0">
                    <a:solidFill>
                      <a:srgbClr val="C00000"/>
                    </a:solidFill>
                  </a:rPr>
                  <a:t>)</a:t>
                </a:r>
                <a:r>
                  <a:rPr lang="zh-CN" altLang="en-US" sz="2800" b="1" dirty="0">
                    <a:solidFill>
                      <a:srgbClr val="C00000"/>
                    </a:solidFill>
                  </a:rPr>
                  <a:t>，</a:t>
                </a:r>
                <a:r>
                  <a:rPr lang="en-US" altLang="zh-CN" sz="2800" b="1" dirty="0">
                    <a:solidFill>
                      <a:srgbClr val="C00000"/>
                    </a:solidFill>
                  </a:rPr>
                  <a:t>b= y</a:t>
                </a:r>
                <a:r>
                  <a:rPr lang="en-US" altLang="zh-CN" sz="2800" b="1" baseline="-25000" dirty="0">
                    <a:solidFill>
                      <a:srgbClr val="C00000"/>
                    </a:solidFill>
                  </a:rPr>
                  <a:t>1 </a:t>
                </a:r>
                <a:r>
                  <a:rPr lang="en-US" altLang="zh-CN" sz="2800" b="1" dirty="0">
                    <a:solidFill>
                      <a:srgbClr val="C00000"/>
                    </a:solidFill>
                  </a:rPr>
                  <a:t>-m x</a:t>
                </a:r>
                <a:r>
                  <a:rPr lang="en-US" altLang="zh-CN" sz="2800" b="1" baseline="-25000" dirty="0">
                    <a:solidFill>
                      <a:srgbClr val="C00000"/>
                    </a:solidFill>
                  </a:rPr>
                  <a:t>1</a:t>
                </a:r>
                <a:r>
                  <a:rPr lang="en-US" altLang="zh-CN" sz="2800" b="1" dirty="0">
                    <a:solidFill>
                      <a:srgbClr val="C00000"/>
                    </a:solidFill>
                  </a:rPr>
                  <a:t>   </a:t>
                </a:r>
              </a:p>
              <a:p>
                <a:pPr algn="just">
                  <a:lnSpc>
                    <a:spcPct val="150000"/>
                  </a:lnSpc>
                  <a:buFont typeface="Wingdings" panose="05000000000000000000" pitchFamily="2" charset="2"/>
                  <a:buNone/>
                </a:pPr>
                <a:r>
                  <a:rPr lang="zh-CN" altLang="en-US" sz="2800" b="1" dirty="0">
                    <a:solidFill>
                      <a:srgbClr val="C00000"/>
                    </a:solidFill>
                  </a:rPr>
                  <a:t>算法</a:t>
                </a:r>
                <a:r>
                  <a:rPr lang="en-US" altLang="zh-CN" sz="2800" b="1" dirty="0">
                    <a:solidFill>
                      <a:srgbClr val="C00000"/>
                    </a:solidFill>
                  </a:rPr>
                  <a:t>1</a:t>
                </a:r>
                <a:r>
                  <a:rPr lang="zh-CN" altLang="en-US" sz="2800" b="1" dirty="0">
                    <a:solidFill>
                      <a:srgbClr val="C00000"/>
                    </a:solidFill>
                  </a:rPr>
                  <a:t>：直接计算法</a:t>
                </a:r>
                <a:endParaRPr lang="en-US" altLang="zh-CN" sz="2800" b="1" dirty="0">
                  <a:solidFill>
                    <a:srgbClr val="C00000"/>
                  </a:solidFill>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每一个</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𝑖</m:t>
                        </m:r>
                      </m:sub>
                    </m:sSub>
                  </m:oMath>
                </a14:m>
                <a:r>
                  <a:rPr lang="zh-CN" altLang="en-US" sz="2800" dirty="0">
                    <a:latin typeface="华光仿宋_CNKI" panose="02000500000000000000" pitchFamily="2" charset="-122"/>
                    <a:ea typeface="华光仿宋_CNKI" panose="02000500000000000000" pitchFamily="2" charset="-122"/>
                  </a:rPr>
                  <a:t>按照上述公式对应生成一个</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sub>
                    </m:sSub>
                    <m:r>
                      <a:rPr lang="zh-CN" altLang="en-US" sz="2800" i="1" smtClean="0">
                        <a:latin typeface="Cambria Math" panose="02040503050406030204" pitchFamily="18" charset="0"/>
                        <a:ea typeface="华光仿宋_CNKI" panose="02000500000000000000" pitchFamily="2" charset="-122"/>
                      </a:rPr>
                      <m:t>，</m:t>
                    </m:r>
                  </m:oMath>
                </a14:m>
                <a:r>
                  <a:rPr lang="zh-CN" altLang="en-US" sz="2800" dirty="0">
                    <a:latin typeface="华光仿宋_CNKI" panose="02000500000000000000" pitchFamily="2" charset="-122"/>
                    <a:ea typeface="华光仿宋_CNKI" panose="02000500000000000000" pitchFamily="2" charset="-122"/>
                  </a:rPr>
                  <a:t>但要求</a:t>
                </a:r>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sub>
                    </m:sSub>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sub>
                    </m:sSub>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均为整数。可采用四舍五入方式取整。</a:t>
                </a: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68017" y="721581"/>
                <a:ext cx="10455965" cy="5225996"/>
              </a:xfrm>
              <a:blipFill>
                <a:blip r:embed="rId2"/>
                <a:stretch>
                  <a:fillRect l="-13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5153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8017" y="721581"/>
                <a:ext cx="10455965" cy="5225996"/>
              </a:xfrm>
            </p:spPr>
            <p:txBody>
              <a:bodyPr>
                <a:normAutofit lnSpcReduction="10000"/>
              </a:bodyPr>
              <a:lstStyle/>
              <a:p>
                <a:pPr algn="just">
                  <a:lnSpc>
                    <a:spcPct val="140000"/>
                  </a:lnSpc>
                </a:pPr>
                <a:r>
                  <a:rPr lang="zh-CN" altLang="en-US" sz="2800" b="1" dirty="0">
                    <a:solidFill>
                      <a:srgbClr val="C00000"/>
                    </a:solidFill>
                  </a:rPr>
                  <a:t>算法</a:t>
                </a:r>
                <a:r>
                  <a:rPr lang="en-US" altLang="zh-CN" sz="2800" b="1" dirty="0">
                    <a:solidFill>
                      <a:srgbClr val="C00000"/>
                    </a:solidFill>
                  </a:rPr>
                  <a:t>2</a:t>
                </a:r>
                <a:r>
                  <a:rPr lang="zh-CN" altLang="en-US" sz="2800" b="1" dirty="0">
                    <a:solidFill>
                      <a:srgbClr val="C00000"/>
                    </a:solidFill>
                  </a:rPr>
                  <a:t>：增量法</a:t>
                </a:r>
                <a:endParaRPr lang="en-US" altLang="zh-CN" sz="2800" b="1" dirty="0">
                  <a:solidFill>
                    <a:srgbClr val="C00000"/>
                  </a:solidFill>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在</a:t>
                </a:r>
                <a14:m>
                  <m:oMath xmlns:m="http://schemas.openxmlformats.org/officeDocument/2006/math">
                    <m:d>
                      <m:dPr>
                        <m:begChr m:val="|"/>
                        <m:endChr m:val="|"/>
                        <m:ctrlPr>
                          <a:rPr lang="en-US" altLang="zh-CN" sz="2800" i="1" smtClean="0">
                            <a:latin typeface="Cambria Math" panose="02040503050406030204" pitchFamily="18" charset="0"/>
                            <a:ea typeface="华光仿宋_CNKI" panose="02000500000000000000" pitchFamily="2" charset="-122"/>
                          </a:rPr>
                        </m:ctrlPr>
                      </m:dPr>
                      <m:e>
                        <m:r>
                          <a:rPr lang="en-US" altLang="zh-CN" sz="2800" b="0" i="1" smtClean="0">
                            <a:latin typeface="Cambria Math" panose="02040503050406030204" pitchFamily="18" charset="0"/>
                            <a:ea typeface="华光仿宋_CNKI" panose="02000500000000000000" pitchFamily="2" charset="-122"/>
                          </a:rPr>
                          <m:t>𝑚</m:t>
                        </m:r>
                      </m:e>
                    </m:d>
                    <m:r>
                      <a:rPr lang="en-US" altLang="zh-CN" sz="2800" i="1">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1</m:t>
                    </m:r>
                  </m:oMath>
                </a14:m>
                <a:r>
                  <a:rPr lang="zh-CN" altLang="en-US" sz="2800" dirty="0">
                    <a:latin typeface="华光仿宋_CNKI" panose="02000500000000000000" pitchFamily="2" charset="-122"/>
                    <a:ea typeface="华光仿宋_CNKI" panose="02000500000000000000" pitchFamily="2" charset="-122"/>
                  </a:rPr>
                  <a:t>时，每次</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r>
                              <a:rPr lang="en-US" altLang="zh-CN" sz="280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1</m:t>
                            </m:r>
                          </m:sub>
                        </m:sSub>
                        <m:r>
                          <a:rPr lang="en-US" altLang="zh-CN" sz="280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𝑖</m:t>
                        </m:r>
                      </m:sub>
                    </m:sSub>
                    <m:r>
                      <a:rPr lang="en-US" altLang="zh-CN" sz="2800" b="0" i="1" smtClean="0">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，则：</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b="0" i="1" smtClean="0">
                            <a:latin typeface="Cambria Math" panose="02040503050406030204" pitchFamily="18" charset="0"/>
                            <a:ea typeface="华光仿宋_CNKI" panose="02000500000000000000" pitchFamily="2" charset="-122"/>
                          </a:rPr>
                          <m:t>𝑖</m:t>
                        </m:r>
                        <m:r>
                          <a:rPr lang="en-US" altLang="zh-CN" sz="2800" b="0" i="1" smtClean="0">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 </m:t>
                    </m:r>
                  </m:oMath>
                </a14:m>
                <a:r>
                  <a:rPr lang="en-US" altLang="zh-CN" sz="3200" dirty="0"/>
                  <a:t>=</a:t>
                </a:r>
                <a:r>
                  <a:rPr lang="en-US" altLang="zh-CN" sz="3200" dirty="0">
                    <a:ea typeface="华光仿宋_CNKI" panose="02000500000000000000" pitchFamily="2" charset="-122"/>
                  </a:rPr>
                  <a:t> </a:t>
                </a:r>
                <a14:m>
                  <m:oMath xmlns:m="http://schemas.openxmlformats.org/officeDocument/2006/math">
                    <m:r>
                      <m:rPr>
                        <m:sty m:val="p"/>
                      </m:rPr>
                      <a:rPr lang="en-US" altLang="zh-CN" sz="3200" b="0" i="0" smtClean="0">
                        <a:latin typeface="Cambria Math" panose="02040503050406030204" pitchFamily="18" charset="0"/>
                        <a:ea typeface="华光仿宋_CNKI" panose="02000500000000000000" pitchFamily="2" charset="-122"/>
                      </a:rPr>
                      <m:t>m</m:t>
                    </m:r>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𝑥</m:t>
                        </m:r>
                      </m:e>
                      <m:sub>
                        <m:r>
                          <a:rPr lang="en-US" altLang="zh-CN" sz="3200" i="1">
                            <a:latin typeface="Cambria Math" panose="02040503050406030204" pitchFamily="18" charset="0"/>
                            <a:ea typeface="华光仿宋_CNKI" panose="02000500000000000000" pitchFamily="2" charset="-122"/>
                          </a:rPr>
                          <m:t>𝑖</m:t>
                        </m:r>
                        <m:r>
                          <a:rPr lang="en-US" altLang="zh-CN" sz="3200" i="1">
                            <a:latin typeface="Cambria Math" panose="02040503050406030204" pitchFamily="18" charset="0"/>
                            <a:ea typeface="华光仿宋_CNKI" panose="02000500000000000000" pitchFamily="2" charset="-122"/>
                          </a:rPr>
                          <m:t>+1</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+b=m(</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𝑥</m:t>
                        </m:r>
                      </m:e>
                      <m:sub>
                        <m:r>
                          <a:rPr lang="en-US" altLang="zh-CN" sz="3200" i="1">
                            <a:latin typeface="Cambria Math" panose="02040503050406030204" pitchFamily="18" charset="0"/>
                            <a:ea typeface="华光仿宋_CNKI" panose="02000500000000000000" pitchFamily="2" charset="-122"/>
                          </a:rPr>
                          <m:t>𝑖</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+1)+b=</a:t>
                </a:r>
                <a:r>
                  <a:rPr lang="en-US" altLang="zh-CN" sz="3200" dirty="0">
                    <a:ea typeface="华光仿宋_CNKI" panose="02000500000000000000" pitchFamily="2" charset="-122"/>
                  </a:rPr>
                  <a:t> </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b="0" i="1" smtClean="0">
                            <a:latin typeface="Cambria Math" panose="02040503050406030204" pitchFamily="18" charset="0"/>
                            <a:ea typeface="华光仿宋_CNKI" panose="02000500000000000000" pitchFamily="2" charset="-122"/>
                          </a:rPr>
                          <m:t>𝑦</m:t>
                        </m:r>
                      </m:e>
                      <m:sub>
                        <m:r>
                          <a:rPr lang="en-US" altLang="zh-CN" sz="3200" i="1">
                            <a:latin typeface="Cambria Math" panose="02040503050406030204" pitchFamily="18" charset="0"/>
                            <a:ea typeface="华光仿宋_CNKI" panose="02000500000000000000" pitchFamily="2" charset="-122"/>
                          </a:rPr>
                          <m:t>𝑖</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+m</a:t>
                </a:r>
              </a:p>
              <a:p>
                <a:pPr algn="l">
                  <a:lnSpc>
                    <a:spcPct val="150000"/>
                  </a:lnSpc>
                </a:pPr>
                <a:r>
                  <a:rPr lang="en-US" altLang="zh-CN" sz="3200" dirty="0"/>
                  <a:t>       </a:t>
                </a:r>
                <a:r>
                  <a:rPr lang="zh-CN" altLang="en-US" sz="2800" dirty="0">
                    <a:latin typeface="华光仿宋_CNKI" panose="02000500000000000000" pitchFamily="2" charset="-122"/>
                    <a:ea typeface="华光仿宋_CNKI" panose="02000500000000000000" pitchFamily="2" charset="-122"/>
                  </a:rPr>
                  <a:t>则对应的下一个点的位置为</a:t>
                </a:r>
                <a:r>
                  <a:rPr lang="zh-CN" altLang="en-US" sz="3200" dirty="0"/>
                  <a:t>（</a:t>
                </a:r>
                <a:r>
                  <a:rPr lang="en-US" altLang="zh-CN" sz="3200" dirty="0">
                    <a:ea typeface="华光仿宋_CNKI" panose="02000500000000000000" pitchFamily="2" charset="-122"/>
                  </a:rPr>
                  <a:t> </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𝑥</m:t>
                        </m:r>
                      </m:e>
                      <m:sub>
                        <m:r>
                          <a:rPr lang="en-US" altLang="zh-CN" sz="3200" i="1">
                            <a:latin typeface="Cambria Math" panose="02040503050406030204" pitchFamily="18" charset="0"/>
                            <a:ea typeface="华光仿宋_CNKI" panose="02000500000000000000" pitchFamily="2" charset="-122"/>
                          </a:rPr>
                          <m:t>𝑖</m:t>
                        </m:r>
                      </m:sub>
                    </m:sSub>
                  </m:oMath>
                </a14:m>
                <a:r>
                  <a:rPr lang="en-US" altLang="zh-CN" sz="3200" dirty="0"/>
                  <a:t>+1</a:t>
                </a:r>
                <a:r>
                  <a:rPr lang="zh-CN" altLang="en-US" sz="3200" dirty="0"/>
                  <a:t>，</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𝑦</m:t>
                        </m:r>
                      </m:e>
                      <m:sub>
                        <m:r>
                          <a:rPr lang="en-US" altLang="zh-CN" sz="3200" i="1">
                            <a:latin typeface="Cambria Math" panose="02040503050406030204" pitchFamily="18" charset="0"/>
                            <a:ea typeface="华光仿宋_CNKI" panose="02000500000000000000" pitchFamily="2" charset="-122"/>
                          </a:rPr>
                          <m:t>𝑖</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+m</a:t>
                </a:r>
                <a:r>
                  <a:rPr lang="zh-CN" altLang="en-US" sz="3200" dirty="0"/>
                  <a:t>）</a:t>
                </a:r>
                <a:endParaRPr lang="en-US" altLang="zh-CN" sz="3200" dirty="0"/>
              </a:p>
              <a:p>
                <a:pPr algn="l">
                  <a:lnSpc>
                    <a:spcPct val="150000"/>
                  </a:lnSpc>
                </a:pPr>
                <a:r>
                  <a:rPr lang="en-US" altLang="zh-CN" sz="3200" dirty="0"/>
                  <a:t>       </a:t>
                </a:r>
                <a:r>
                  <a:rPr lang="zh-CN" altLang="en-US" sz="2800" dirty="0">
                    <a:latin typeface="华光仿宋_CNKI" panose="02000500000000000000" pitchFamily="2" charset="-122"/>
                    <a:ea typeface="华光仿宋_CNKI" panose="02000500000000000000" pitchFamily="2" charset="-122"/>
                  </a:rPr>
                  <a:t>通过上述算法，计算量较前面的直接计算要简单得多，但要进行浮点数求整运算，硬件实现比较困难，复杂度较高，且在</a:t>
                </a:r>
                <a14:m>
                  <m:oMath xmlns:m="http://schemas.openxmlformats.org/officeDocument/2006/math">
                    <m:d>
                      <m:dPr>
                        <m:begChr m:val="|"/>
                        <m:endChr m:val="|"/>
                        <m:ctrlPr>
                          <a:rPr lang="en-US" altLang="zh-CN" sz="2800" i="1" smtClean="0">
                            <a:latin typeface="Cambria Math" panose="02040503050406030204" pitchFamily="18" charset="0"/>
                            <a:ea typeface="华光仿宋_CNKI" panose="02000500000000000000" pitchFamily="2" charset="-122"/>
                          </a:rPr>
                        </m:ctrlPr>
                      </m:dPr>
                      <m:e>
                        <m:r>
                          <a:rPr lang="en-US" altLang="zh-CN" sz="2800" b="0" i="1" smtClean="0">
                            <a:latin typeface="Cambria Math" panose="02040503050406030204" pitchFamily="18" charset="0"/>
                            <a:ea typeface="华光仿宋_CNKI" panose="02000500000000000000" pitchFamily="2" charset="-122"/>
                          </a:rPr>
                          <m:t>𝑚</m:t>
                        </m:r>
                      </m:e>
                    </m:d>
                    <m:r>
                      <a:rPr lang="en-US" altLang="zh-CN" sz="2800" b="0" i="1" smtClean="0">
                        <a:latin typeface="Cambria Math" panose="02040503050406030204" pitchFamily="18" charset="0"/>
                        <a:ea typeface="华光仿宋_CNKI" panose="02000500000000000000" pitchFamily="2" charset="-122"/>
                      </a:rPr>
                      <m:t>&gt;1</m:t>
                    </m:r>
                  </m:oMath>
                </a14:m>
                <a:r>
                  <a:rPr lang="zh-CN" altLang="en-US" sz="2800" dirty="0">
                    <a:latin typeface="华光仿宋_CNKI" panose="02000500000000000000" pitchFamily="2" charset="-122"/>
                    <a:ea typeface="华光仿宋_CNKI" panose="02000500000000000000" pitchFamily="2" charset="-122"/>
                  </a:rPr>
                  <a:t>时，</a:t>
                </a:r>
                <a:r>
                  <a:rPr lang="en-US" altLang="zh-CN" sz="2800" dirty="0" err="1">
                    <a:latin typeface="华光仿宋_CNKI" panose="02000500000000000000" pitchFamily="2" charset="-122"/>
                    <a:ea typeface="华光仿宋_CNKI" panose="02000500000000000000" pitchFamily="2" charset="-122"/>
                  </a:rPr>
                  <a:t>x,y</a:t>
                </a:r>
                <a:r>
                  <a:rPr lang="zh-CN" altLang="en-US" sz="2800" dirty="0">
                    <a:latin typeface="华光仿宋_CNKI" panose="02000500000000000000" pitchFamily="2" charset="-122"/>
                    <a:ea typeface="华光仿宋_CNKI" panose="02000500000000000000" pitchFamily="2" charset="-122"/>
                  </a:rPr>
                  <a:t>计算方法需要互换。</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68017" y="721581"/>
                <a:ext cx="10455965" cy="5225996"/>
              </a:xfrm>
              <a:blipFill>
                <a:blip r:embed="rId2"/>
                <a:stretch>
                  <a:fillRect l="-11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36956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8017" y="707665"/>
                <a:ext cx="10455965" cy="5009323"/>
              </a:xfrm>
            </p:spPr>
            <p:txBody>
              <a:bodyPr>
                <a:normAutofit/>
              </a:bodyPr>
              <a:lstStyle/>
              <a:p>
                <a:pPr algn="just">
                  <a:lnSpc>
                    <a:spcPct val="14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对应的</a:t>
                </a:r>
                <a14:m>
                  <m:oMath xmlns:m="http://schemas.openxmlformats.org/officeDocument/2006/math">
                    <m:d>
                      <m:dPr>
                        <m:begChr m:val="|"/>
                        <m:endChr m:val="|"/>
                        <m:ctrlPr>
                          <a:rPr lang="en-US" altLang="zh-CN" sz="2800" i="1">
                            <a:latin typeface="Cambria Math" panose="02040503050406030204" pitchFamily="18" charset="0"/>
                            <a:ea typeface="华光仿宋_CNKI" panose="02000500000000000000" pitchFamily="2" charset="-122"/>
                          </a:rPr>
                        </m:ctrlPr>
                      </m:dPr>
                      <m:e>
                        <m:r>
                          <a:rPr lang="en-US" altLang="zh-CN" sz="2800" i="1">
                            <a:latin typeface="Cambria Math" panose="02040503050406030204" pitchFamily="18" charset="0"/>
                            <a:ea typeface="华光仿宋_CNKI" panose="02000500000000000000" pitchFamily="2" charset="-122"/>
                          </a:rPr>
                          <m:t>𝑚</m:t>
                        </m:r>
                      </m:e>
                    </m:d>
                    <m:r>
                      <a:rPr lang="en-US" altLang="zh-CN" sz="2800" b="0" i="1" smtClean="0">
                        <a:latin typeface="Cambria Math" panose="02040503050406030204" pitchFamily="18" charset="0"/>
                        <a:ea typeface="华光仿宋_CNKI" panose="02000500000000000000" pitchFamily="2" charset="-122"/>
                      </a:rPr>
                      <m:t>&gt;</m:t>
                    </m:r>
                    <m:r>
                      <a:rPr lang="en-US" altLang="zh-CN" sz="2800" i="1">
                        <a:latin typeface="Cambria Math" panose="02040503050406030204" pitchFamily="18" charset="0"/>
                        <a:ea typeface="华光仿宋_CNKI" panose="02000500000000000000" pitchFamily="2" charset="-122"/>
                      </a:rPr>
                      <m:t>1</m:t>
                    </m:r>
                    <m:r>
                      <a:rPr lang="zh-CN" altLang="en-US" sz="2800" i="1" smtClean="0">
                        <a:latin typeface="Cambria Math" panose="02040503050406030204" pitchFamily="18" charset="0"/>
                        <a:ea typeface="华光仿宋_CNKI" panose="02000500000000000000" pitchFamily="2" charset="-122"/>
                      </a:rPr>
                      <m:t>，</m:t>
                    </m:r>
                  </m:oMath>
                </a14:m>
                <a:r>
                  <a:rPr lang="zh-CN" altLang="en-US" sz="2800" dirty="0">
                    <a:latin typeface="华光仿宋_CNKI" panose="02000500000000000000" pitchFamily="2" charset="-122"/>
                    <a:ea typeface="华光仿宋_CNKI" panose="02000500000000000000" pitchFamily="2" charset="-122"/>
                  </a:rPr>
                  <a:t>每次</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r>
                              <a:rPr lang="en-US" altLang="zh-CN" sz="280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1</m:t>
                            </m:r>
                          </m:sub>
                        </m:sSub>
                        <m:r>
                          <a:rPr lang="en-US" altLang="zh-CN" sz="280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𝑦</m:t>
                        </m:r>
                      </m:e>
                      <m:sub>
                        <m:r>
                          <a:rPr lang="en-US" altLang="zh-CN" sz="2800" b="0" i="1" smtClean="0">
                            <a:latin typeface="Cambria Math" panose="02040503050406030204" pitchFamily="18" charset="0"/>
                            <a:ea typeface="华光仿宋_CNKI" panose="02000500000000000000" pitchFamily="2" charset="-122"/>
                          </a:rPr>
                          <m:t>𝑖</m:t>
                        </m:r>
                      </m:sub>
                    </m:sSub>
                    <m:r>
                      <a:rPr lang="en-US" altLang="zh-CN" sz="2800" b="0" i="1" smtClean="0">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，则：</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𝑖</m:t>
                        </m:r>
                        <m:r>
                          <a:rPr lang="en-US" altLang="zh-CN" sz="2800" b="0" i="1" smtClean="0">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 </m:t>
                    </m:r>
                  </m:oMath>
                </a14:m>
                <a:r>
                  <a:rPr lang="en-US" altLang="zh-CN" sz="3200" dirty="0"/>
                  <a:t>=</a:t>
                </a:r>
                <a:r>
                  <a:rPr lang="en-US" altLang="zh-CN" sz="3200" dirty="0">
                    <a:ea typeface="华光仿宋_CNKI" panose="02000500000000000000" pitchFamily="2" charset="-122"/>
                  </a:rPr>
                  <a:t> </a:t>
                </a:r>
                <a14:m>
                  <m:oMath xmlns:m="http://schemas.openxmlformats.org/officeDocument/2006/math">
                    <m:f>
                      <m:fPr>
                        <m:ctrlPr>
                          <a:rPr lang="en-US" altLang="zh-CN" sz="3200" i="1" smtClean="0">
                            <a:latin typeface="Cambria Math" panose="02040503050406030204" pitchFamily="18" charset="0"/>
                            <a:ea typeface="华光仿宋_CNKI" panose="02000500000000000000" pitchFamily="2" charset="-122"/>
                          </a:rPr>
                        </m:ctrlPr>
                      </m:fPr>
                      <m:num>
                        <m:r>
                          <a:rPr lang="en-US" altLang="zh-CN" sz="3200" b="0" i="1" smtClean="0">
                            <a:latin typeface="Cambria Math" panose="02040503050406030204" pitchFamily="18" charset="0"/>
                            <a:ea typeface="华光仿宋_CNKI" panose="02000500000000000000" pitchFamily="2" charset="-122"/>
                          </a:rPr>
                          <m:t>1</m:t>
                        </m:r>
                      </m:num>
                      <m:den>
                        <m:r>
                          <a:rPr lang="en-US" altLang="zh-CN" sz="3200" b="0" i="1" smtClean="0">
                            <a:latin typeface="Cambria Math" panose="02040503050406030204" pitchFamily="18" charset="0"/>
                            <a:ea typeface="华光仿宋_CNKI" panose="02000500000000000000" pitchFamily="2" charset="-122"/>
                          </a:rPr>
                          <m:t>𝑚</m:t>
                        </m:r>
                      </m:den>
                    </m:f>
                    <m:sSub>
                      <m:sSubPr>
                        <m:ctrlPr>
                          <a:rPr lang="en-US" altLang="zh-CN" sz="3200" i="1">
                            <a:latin typeface="Cambria Math" panose="02040503050406030204" pitchFamily="18" charset="0"/>
                            <a:ea typeface="华光仿宋_CNKI" panose="02000500000000000000" pitchFamily="2" charset="-122"/>
                          </a:rPr>
                        </m:ctrlPr>
                      </m:sSubPr>
                      <m:e>
                        <m:r>
                          <a:rPr lang="en-US" altLang="zh-CN" sz="3200" b="0" i="1" smtClean="0">
                            <a:latin typeface="Cambria Math" panose="02040503050406030204" pitchFamily="18" charset="0"/>
                            <a:ea typeface="华光仿宋_CNKI" panose="02000500000000000000" pitchFamily="2" charset="-122"/>
                          </a:rPr>
                          <m:t>𝑦</m:t>
                        </m:r>
                      </m:e>
                      <m:sub>
                        <m:r>
                          <a:rPr lang="en-US" altLang="zh-CN" sz="3200" i="1">
                            <a:latin typeface="Cambria Math" panose="02040503050406030204" pitchFamily="18" charset="0"/>
                            <a:ea typeface="华光仿宋_CNKI" panose="02000500000000000000" pitchFamily="2" charset="-122"/>
                          </a:rPr>
                          <m:t>𝑖</m:t>
                        </m:r>
                        <m:r>
                          <a:rPr lang="en-US" altLang="zh-CN" sz="3200" i="1">
                            <a:latin typeface="Cambria Math" panose="02040503050406030204" pitchFamily="18" charset="0"/>
                            <a:ea typeface="华光仿宋_CNKI" panose="02000500000000000000" pitchFamily="2" charset="-122"/>
                          </a:rPr>
                          <m:t>+1</m:t>
                        </m:r>
                      </m:sub>
                    </m:sSub>
                    <m:r>
                      <a:rPr lang="en-US" altLang="zh-CN" sz="3200" i="1">
                        <a:latin typeface="Cambria Math" panose="02040503050406030204" pitchFamily="18" charset="0"/>
                        <a:ea typeface="华光仿宋_CNKI" panose="02000500000000000000" pitchFamily="2" charset="-122"/>
                      </a:rPr>
                      <m:t> </m:t>
                    </m:r>
                    <m:r>
                      <a:rPr lang="en-US" altLang="zh-CN" sz="3200" b="0" i="0" smtClean="0">
                        <a:latin typeface="Cambria Math" panose="02040503050406030204" pitchFamily="18" charset="0"/>
                        <a:ea typeface="华光仿宋_CNKI" panose="02000500000000000000" pitchFamily="2" charset="-122"/>
                      </a:rPr>
                      <m:t>−</m:t>
                    </m:r>
                    <m:f>
                      <m:fPr>
                        <m:ctrlPr>
                          <a:rPr lang="en-US" altLang="zh-CN" sz="3200" i="1">
                            <a:latin typeface="Cambria Math" panose="02040503050406030204" pitchFamily="18" charset="0"/>
                            <a:ea typeface="华光仿宋_CNKI" panose="02000500000000000000" pitchFamily="2" charset="-122"/>
                          </a:rPr>
                        </m:ctrlPr>
                      </m:fPr>
                      <m:num>
                        <m:r>
                          <a:rPr lang="en-US" altLang="zh-CN" sz="3200" b="0" i="1" smtClean="0">
                            <a:latin typeface="Cambria Math" panose="02040503050406030204" pitchFamily="18" charset="0"/>
                            <a:ea typeface="华光仿宋_CNKI" panose="02000500000000000000" pitchFamily="2" charset="-122"/>
                          </a:rPr>
                          <m:t>𝑏</m:t>
                        </m:r>
                      </m:num>
                      <m:den>
                        <m:r>
                          <a:rPr lang="en-US" altLang="zh-CN" sz="3200" i="1">
                            <a:latin typeface="Cambria Math" panose="02040503050406030204" pitchFamily="18" charset="0"/>
                            <a:ea typeface="华光仿宋_CNKI" panose="02000500000000000000" pitchFamily="2" charset="-122"/>
                          </a:rPr>
                          <m:t>𝑚</m:t>
                        </m:r>
                      </m:den>
                    </m:f>
                  </m:oMath>
                </a14:m>
                <a:r>
                  <a:rPr lang="en-US" altLang="zh-CN" sz="3200" dirty="0"/>
                  <a:t>=</a:t>
                </a:r>
                <a:r>
                  <a:rPr lang="en-US" altLang="zh-CN" sz="3200" dirty="0">
                    <a:ea typeface="华光仿宋_CNKI" panose="02000500000000000000" pitchFamily="2" charset="-122"/>
                  </a:rPr>
                  <a:t> </a:t>
                </a:r>
                <a14:m>
                  <m:oMath xmlns:m="http://schemas.openxmlformats.org/officeDocument/2006/math">
                    <m:f>
                      <m:fPr>
                        <m:ctrlPr>
                          <a:rPr lang="en-US" altLang="zh-CN" sz="3200" i="1">
                            <a:latin typeface="Cambria Math" panose="02040503050406030204" pitchFamily="18" charset="0"/>
                            <a:ea typeface="华光仿宋_CNKI" panose="02000500000000000000" pitchFamily="2" charset="-122"/>
                          </a:rPr>
                        </m:ctrlPr>
                      </m:fPr>
                      <m:num>
                        <m:r>
                          <a:rPr lang="en-US" altLang="zh-CN" sz="3200" i="1">
                            <a:latin typeface="Cambria Math" panose="02040503050406030204" pitchFamily="18" charset="0"/>
                            <a:ea typeface="华光仿宋_CNKI" panose="02000500000000000000" pitchFamily="2" charset="-122"/>
                          </a:rPr>
                          <m:t>1</m:t>
                        </m:r>
                      </m:num>
                      <m:den>
                        <m:r>
                          <a:rPr lang="en-US" altLang="zh-CN" sz="3200" i="1">
                            <a:latin typeface="Cambria Math" panose="02040503050406030204" pitchFamily="18" charset="0"/>
                            <a:ea typeface="华光仿宋_CNKI" panose="02000500000000000000" pitchFamily="2" charset="-122"/>
                          </a:rPr>
                          <m:t>𝑚</m:t>
                        </m:r>
                      </m:den>
                    </m:f>
                  </m:oMath>
                </a14:m>
                <a:r>
                  <a:rPr lang="en-US" altLang="zh-CN" sz="3200" dirty="0"/>
                  <a:t>(</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b="0" i="1" smtClean="0">
                            <a:latin typeface="Cambria Math" panose="02040503050406030204" pitchFamily="18" charset="0"/>
                            <a:ea typeface="华光仿宋_CNKI" panose="02000500000000000000" pitchFamily="2" charset="-122"/>
                          </a:rPr>
                          <m:t>𝑦</m:t>
                        </m:r>
                      </m:e>
                      <m:sub>
                        <m:r>
                          <a:rPr lang="en-US" altLang="zh-CN" sz="3200" i="1">
                            <a:latin typeface="Cambria Math" panose="02040503050406030204" pitchFamily="18" charset="0"/>
                            <a:ea typeface="华光仿宋_CNKI" panose="02000500000000000000" pitchFamily="2" charset="-122"/>
                          </a:rPr>
                          <m:t>𝑖</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+1)</a:t>
                </a:r>
                <a14:m>
                  <m:oMath xmlns:m="http://schemas.openxmlformats.org/officeDocument/2006/math">
                    <m:r>
                      <a:rPr lang="en-US" altLang="zh-CN" sz="3200">
                        <a:latin typeface="Cambria Math" panose="02040503050406030204" pitchFamily="18" charset="0"/>
                        <a:ea typeface="华光仿宋_CNKI" panose="02000500000000000000" pitchFamily="2" charset="-122"/>
                      </a:rPr>
                      <m:t>−</m:t>
                    </m:r>
                    <m:f>
                      <m:fPr>
                        <m:ctrlPr>
                          <a:rPr lang="en-US" altLang="zh-CN" sz="3200" i="1">
                            <a:latin typeface="Cambria Math" panose="02040503050406030204" pitchFamily="18" charset="0"/>
                            <a:ea typeface="华光仿宋_CNKI" panose="02000500000000000000" pitchFamily="2" charset="-122"/>
                          </a:rPr>
                        </m:ctrlPr>
                      </m:fPr>
                      <m:num>
                        <m:r>
                          <a:rPr lang="en-US" altLang="zh-CN" sz="3200" i="1">
                            <a:latin typeface="Cambria Math" panose="02040503050406030204" pitchFamily="18" charset="0"/>
                            <a:ea typeface="华光仿宋_CNKI" panose="02000500000000000000" pitchFamily="2" charset="-122"/>
                          </a:rPr>
                          <m:t>𝑏</m:t>
                        </m:r>
                      </m:num>
                      <m:den>
                        <m:r>
                          <a:rPr lang="en-US" altLang="zh-CN" sz="3200" i="1">
                            <a:latin typeface="Cambria Math" panose="02040503050406030204" pitchFamily="18" charset="0"/>
                            <a:ea typeface="华光仿宋_CNKI" panose="02000500000000000000" pitchFamily="2" charset="-122"/>
                          </a:rPr>
                          <m:t>𝑚</m:t>
                        </m:r>
                      </m:den>
                    </m:f>
                    <m:r>
                      <a:rPr lang="en-US" altLang="zh-CN" sz="3200" i="1">
                        <a:latin typeface="Cambria Math" panose="02040503050406030204" pitchFamily="18" charset="0"/>
                        <a:ea typeface="华光仿宋_CNKI" panose="02000500000000000000" pitchFamily="2" charset="-122"/>
                      </a:rPr>
                      <m:t> </m:t>
                    </m:r>
                  </m:oMath>
                </a14:m>
                <a:r>
                  <a:rPr lang="en-US" altLang="zh-CN" sz="3200" dirty="0"/>
                  <a:t>=</a:t>
                </a:r>
                <a:r>
                  <a:rPr lang="en-US" altLang="zh-CN" sz="3200" dirty="0">
                    <a:ea typeface="华光仿宋_CNKI" panose="02000500000000000000" pitchFamily="2" charset="-122"/>
                  </a:rPr>
                  <a:t> </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b="0" i="1" smtClean="0">
                            <a:latin typeface="Cambria Math" panose="02040503050406030204" pitchFamily="18" charset="0"/>
                            <a:ea typeface="华光仿宋_CNKI" panose="02000500000000000000" pitchFamily="2" charset="-122"/>
                          </a:rPr>
                          <m:t>𝑥</m:t>
                        </m:r>
                      </m:e>
                      <m:sub>
                        <m:r>
                          <a:rPr lang="en-US" altLang="zh-CN" sz="3200" i="1">
                            <a:latin typeface="Cambria Math" panose="02040503050406030204" pitchFamily="18" charset="0"/>
                            <a:ea typeface="华光仿宋_CNKI" panose="02000500000000000000" pitchFamily="2" charset="-122"/>
                          </a:rPr>
                          <m:t>𝑖</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a:t>
                </a:r>
                <a:r>
                  <a:rPr lang="en-US" altLang="zh-CN" sz="3200" dirty="0">
                    <a:ea typeface="华光仿宋_CNKI" panose="02000500000000000000" pitchFamily="2" charset="-122"/>
                  </a:rPr>
                  <a:t> </a:t>
                </a:r>
                <a14:m>
                  <m:oMath xmlns:m="http://schemas.openxmlformats.org/officeDocument/2006/math">
                    <m:f>
                      <m:fPr>
                        <m:ctrlPr>
                          <a:rPr lang="en-US" altLang="zh-CN" sz="3200" i="1">
                            <a:latin typeface="Cambria Math" panose="02040503050406030204" pitchFamily="18" charset="0"/>
                            <a:ea typeface="华光仿宋_CNKI" panose="02000500000000000000" pitchFamily="2" charset="-122"/>
                          </a:rPr>
                        </m:ctrlPr>
                      </m:fPr>
                      <m:num>
                        <m:r>
                          <a:rPr lang="en-US" altLang="zh-CN" sz="3200" i="1">
                            <a:latin typeface="Cambria Math" panose="02040503050406030204" pitchFamily="18" charset="0"/>
                            <a:ea typeface="华光仿宋_CNKI" panose="02000500000000000000" pitchFamily="2" charset="-122"/>
                          </a:rPr>
                          <m:t>1</m:t>
                        </m:r>
                      </m:num>
                      <m:den>
                        <m:r>
                          <a:rPr lang="en-US" altLang="zh-CN" sz="3200" i="1">
                            <a:latin typeface="Cambria Math" panose="02040503050406030204" pitchFamily="18" charset="0"/>
                            <a:ea typeface="华光仿宋_CNKI" panose="02000500000000000000" pitchFamily="2" charset="-122"/>
                          </a:rPr>
                          <m:t>𝑚</m:t>
                        </m:r>
                      </m:den>
                    </m:f>
                  </m:oMath>
                </a14:m>
                <a:endParaRPr lang="en-US" altLang="zh-CN" sz="3200" dirty="0"/>
              </a:p>
              <a:p>
                <a:pPr algn="l">
                  <a:lnSpc>
                    <a:spcPct val="150000"/>
                  </a:lnSpc>
                </a:pPr>
                <a:r>
                  <a:rPr lang="en-US" altLang="zh-CN" sz="3200" dirty="0"/>
                  <a:t>       </a:t>
                </a:r>
                <a:r>
                  <a:rPr lang="zh-CN" altLang="en-US" sz="2800" dirty="0">
                    <a:latin typeface="华光仿宋_CNKI" panose="02000500000000000000" pitchFamily="2" charset="-122"/>
                    <a:ea typeface="华光仿宋_CNKI" panose="02000500000000000000" pitchFamily="2" charset="-122"/>
                  </a:rPr>
                  <a:t>则对应的下一个点的位置为</a:t>
                </a:r>
                <a:r>
                  <a:rPr lang="zh-CN" altLang="en-US" sz="3200" dirty="0"/>
                  <a:t>（</a:t>
                </a:r>
                <a:r>
                  <a:rPr lang="en-US" altLang="zh-CN" sz="3200" dirty="0">
                    <a:ea typeface="华光仿宋_CNKI" panose="02000500000000000000" pitchFamily="2" charset="-122"/>
                  </a:rPr>
                  <a:t> </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𝑥</m:t>
                        </m:r>
                      </m:e>
                      <m:sub>
                        <m:r>
                          <a:rPr lang="en-US" altLang="zh-CN" sz="3200" i="1">
                            <a:latin typeface="Cambria Math" panose="02040503050406030204" pitchFamily="18" charset="0"/>
                            <a:ea typeface="华光仿宋_CNKI" panose="02000500000000000000" pitchFamily="2" charset="-122"/>
                          </a:rPr>
                          <m:t>𝑖</m:t>
                        </m:r>
                      </m:sub>
                    </m:sSub>
                  </m:oMath>
                </a14:m>
                <a:r>
                  <a:rPr lang="en-US" altLang="zh-CN" sz="3200" dirty="0"/>
                  <a:t>+</a:t>
                </a:r>
                <a:r>
                  <a:rPr lang="en-US" altLang="zh-CN" sz="3200" dirty="0">
                    <a:ea typeface="华光仿宋_CNKI" panose="02000500000000000000" pitchFamily="2" charset="-122"/>
                  </a:rPr>
                  <a:t> </a:t>
                </a:r>
                <a14:m>
                  <m:oMath xmlns:m="http://schemas.openxmlformats.org/officeDocument/2006/math">
                    <m:f>
                      <m:fPr>
                        <m:ctrlPr>
                          <a:rPr lang="en-US" altLang="zh-CN" sz="3200" i="1">
                            <a:latin typeface="Cambria Math" panose="02040503050406030204" pitchFamily="18" charset="0"/>
                            <a:ea typeface="华光仿宋_CNKI" panose="02000500000000000000" pitchFamily="2" charset="-122"/>
                          </a:rPr>
                        </m:ctrlPr>
                      </m:fPr>
                      <m:num>
                        <m:r>
                          <a:rPr lang="en-US" altLang="zh-CN" sz="3200" i="1">
                            <a:latin typeface="Cambria Math" panose="02040503050406030204" pitchFamily="18" charset="0"/>
                            <a:ea typeface="华光仿宋_CNKI" panose="02000500000000000000" pitchFamily="2" charset="-122"/>
                          </a:rPr>
                          <m:t>1</m:t>
                        </m:r>
                      </m:num>
                      <m:den>
                        <m:r>
                          <a:rPr lang="en-US" altLang="zh-CN" sz="3200" i="1">
                            <a:latin typeface="Cambria Math" panose="02040503050406030204" pitchFamily="18" charset="0"/>
                            <a:ea typeface="华光仿宋_CNKI" panose="02000500000000000000" pitchFamily="2" charset="-122"/>
                          </a:rPr>
                          <m:t>𝑚</m:t>
                        </m:r>
                      </m:den>
                    </m:f>
                    <m:r>
                      <a:rPr lang="en-US" altLang="zh-CN" sz="3200" i="1">
                        <a:latin typeface="Cambria Math" panose="02040503050406030204" pitchFamily="18" charset="0"/>
                        <a:ea typeface="华光仿宋_CNKI" panose="02000500000000000000" pitchFamily="2" charset="-122"/>
                      </a:rPr>
                      <m:t> </m:t>
                    </m:r>
                  </m:oMath>
                </a14:m>
                <a:r>
                  <a:rPr lang="zh-CN" altLang="en-US" sz="3200" dirty="0"/>
                  <a:t>，</a:t>
                </a:r>
                <a14:m>
                  <m:oMath xmlns:m="http://schemas.openxmlformats.org/officeDocument/2006/math">
                    <m:sSub>
                      <m:sSubPr>
                        <m:ctrlPr>
                          <a:rPr lang="en-US" altLang="zh-CN" sz="3200" i="1">
                            <a:latin typeface="Cambria Math" panose="02040503050406030204" pitchFamily="18" charset="0"/>
                            <a:ea typeface="华光仿宋_CNKI" panose="02000500000000000000" pitchFamily="2" charset="-122"/>
                          </a:rPr>
                        </m:ctrlPr>
                      </m:sSubPr>
                      <m:e>
                        <m:r>
                          <a:rPr lang="en-US" altLang="zh-CN" sz="3200" i="1">
                            <a:latin typeface="Cambria Math" panose="02040503050406030204" pitchFamily="18" charset="0"/>
                            <a:ea typeface="华光仿宋_CNKI" panose="02000500000000000000" pitchFamily="2" charset="-122"/>
                          </a:rPr>
                          <m:t>𝑦</m:t>
                        </m:r>
                      </m:e>
                      <m:sub>
                        <m:r>
                          <a:rPr lang="en-US" altLang="zh-CN" sz="3200" i="1">
                            <a:latin typeface="Cambria Math" panose="02040503050406030204" pitchFamily="18" charset="0"/>
                            <a:ea typeface="华光仿宋_CNKI" panose="02000500000000000000" pitchFamily="2" charset="-122"/>
                          </a:rPr>
                          <m:t>𝑖</m:t>
                        </m:r>
                      </m:sub>
                    </m:sSub>
                    <m:r>
                      <a:rPr lang="en-US" altLang="zh-CN" sz="3200" i="1">
                        <a:latin typeface="Cambria Math" panose="02040503050406030204" pitchFamily="18" charset="0"/>
                        <a:ea typeface="华光仿宋_CNKI" panose="02000500000000000000" pitchFamily="2" charset="-122"/>
                      </a:rPr>
                      <m:t> </m:t>
                    </m:r>
                  </m:oMath>
                </a14:m>
                <a:r>
                  <a:rPr lang="en-US" altLang="zh-CN" sz="3200" dirty="0"/>
                  <a:t>+1</a:t>
                </a:r>
                <a:r>
                  <a:rPr lang="zh-CN" altLang="en-US" sz="3200" dirty="0"/>
                  <a:t>）</a:t>
                </a:r>
                <a:endParaRPr lang="en-US" altLang="zh-CN" sz="3200" dirty="0"/>
              </a:p>
              <a:p>
                <a:pPr algn="l">
                  <a:lnSpc>
                    <a:spcPct val="150000"/>
                  </a:lnSpc>
                </a:pPr>
                <a:r>
                  <a:rPr lang="zh-CN" altLang="en-US" sz="3200" b="1" dirty="0">
                    <a:solidFill>
                      <a:srgbClr val="C00000"/>
                    </a:solidFill>
                  </a:rPr>
                  <a:t>算法</a:t>
                </a:r>
                <a:r>
                  <a:rPr lang="en-US" altLang="zh-CN" sz="3200" b="1" dirty="0">
                    <a:solidFill>
                      <a:srgbClr val="C00000"/>
                    </a:solidFill>
                  </a:rPr>
                  <a:t>3</a:t>
                </a:r>
                <a:r>
                  <a:rPr lang="zh-CN" altLang="en-US" sz="3200" b="1" dirty="0">
                    <a:solidFill>
                      <a:srgbClr val="C00000"/>
                    </a:solidFill>
                  </a:rPr>
                  <a:t>：数值微分法</a:t>
                </a:r>
                <a:endParaRPr lang="en-US" altLang="zh-CN" sz="3200" b="1" dirty="0">
                  <a:solidFill>
                    <a:srgbClr val="C00000"/>
                  </a:solidFill>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数值微分法是在上述方法的基础上得到的一种计算方法。</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68017" y="707665"/>
                <a:ext cx="10455965" cy="5009323"/>
              </a:xfrm>
              <a:blipFill>
                <a:blip r:embed="rId2"/>
                <a:stretch>
                  <a:fillRect l="-1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5833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8017" y="326004"/>
                <a:ext cx="10828352" cy="6209968"/>
              </a:xfrm>
            </p:spPr>
            <p:txBody>
              <a:bodyPr>
                <a:normAutofit/>
              </a:bodyPr>
              <a:lstStyle/>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设直线从起点出发，沿</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和</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方向递增，假设递增的次数相同，均为</a:t>
                </a:r>
                <a:r>
                  <a:rPr lang="en-US" altLang="zh-CN" sz="2800" dirty="0">
                    <a:latin typeface="华光仿宋_CNKI" panose="02000500000000000000" pitchFamily="2" charset="-122"/>
                    <a:ea typeface="华光仿宋_CNKI" panose="02000500000000000000" pitchFamily="2" charset="-122"/>
                  </a:rPr>
                  <a:t>Length</a:t>
                </a:r>
                <a:r>
                  <a:rPr lang="zh-CN" altLang="en-US" sz="2800" dirty="0">
                    <a:latin typeface="华光仿宋_CNKI" panose="02000500000000000000" pitchFamily="2" charset="-122"/>
                    <a:ea typeface="华光仿宋_CNKI" panose="02000500000000000000" pitchFamily="2" charset="-122"/>
                  </a:rPr>
                  <a:t>，则</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和</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方向上递增的增量分别为：</a:t>
                </a:r>
                <a:endParaRPr lang="en-US" altLang="zh-CN" sz="2800" dirty="0">
                  <a:latin typeface="华光仿宋_CNKI" panose="02000500000000000000" pitchFamily="2" charset="-122"/>
                  <a:ea typeface="华光仿宋_CNKI" panose="02000500000000000000" pitchFamily="2" charset="-122"/>
                </a:endParaRPr>
              </a:p>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m:rPr>
                        <m:sty m:val="p"/>
                      </m:rPr>
                      <a:rPr lang="el-GR" altLang="zh-CN" sz="2800" i="1" smtClean="0">
                        <a:latin typeface="Cambria Math" panose="02040503050406030204" pitchFamily="18" charset="0"/>
                        <a:ea typeface="Cambria Math" panose="02040503050406030204" pitchFamily="18" charset="0"/>
                      </a:rPr>
                      <m:t>Δ</m:t>
                    </m:r>
                    <m:r>
                      <a:rPr lang="en-US" altLang="zh-CN" sz="2800" b="0" i="1" smtClean="0">
                        <a:latin typeface="Cambria Math" panose="02040503050406030204" pitchFamily="18" charset="0"/>
                        <a:ea typeface="Cambria Math" panose="02040503050406030204" pitchFamily="18" charset="0"/>
                      </a:rPr>
                      <m:t>𝑥</m:t>
                    </m:r>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𝑥</m:t>
                            </m:r>
                          </m:e>
                          <m:sub>
                            <m:r>
                              <a:rPr lang="en-US" altLang="zh-CN" sz="2800" b="0" i="1" smtClean="0">
                                <a:latin typeface="Cambria Math" panose="02040503050406030204" pitchFamily="18" charset="0"/>
                                <a:ea typeface="Cambria Math" panose="02040503050406030204" pitchFamily="18" charset="0"/>
                              </a:rPr>
                              <m:t>1</m:t>
                            </m:r>
                          </m:sub>
                        </m:sSub>
                        <m:r>
                          <a:rPr lang="en-US" altLang="zh-CN" sz="2800" b="0" i="1" smtClean="0">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𝑥</m:t>
                            </m:r>
                          </m:e>
                          <m:sub>
                            <m:r>
                              <a:rPr lang="en-US" altLang="zh-CN" sz="2800" b="0" i="1" smtClean="0">
                                <a:latin typeface="Cambria Math" panose="02040503050406030204" pitchFamily="18" charset="0"/>
                                <a:ea typeface="Cambria Math" panose="02040503050406030204" pitchFamily="18" charset="0"/>
                              </a:rPr>
                              <m:t>0</m:t>
                            </m:r>
                          </m:sub>
                        </m:sSub>
                      </m:num>
                      <m:den>
                        <m:r>
                          <a:rPr lang="en-US" altLang="zh-CN" sz="2800" b="0" i="1" smtClean="0">
                            <a:latin typeface="Cambria Math" panose="02040503050406030204" pitchFamily="18" charset="0"/>
                            <a:ea typeface="Cambria Math" panose="02040503050406030204" pitchFamily="18" charset="0"/>
                          </a:rPr>
                          <m:t>𝐿𝑒𝑛𝑔𝑡h</m:t>
                        </m:r>
                      </m:den>
                    </m:f>
                  </m:oMath>
                </a14:m>
                <a:r>
                  <a:rPr lang="en-US" altLang="zh-CN" sz="3200" dirty="0">
                    <a:sym typeface="Symbol" panose="05050102010706020507" pitchFamily="18" charset="2"/>
                  </a:rPr>
                  <a:t>,</a:t>
                </a:r>
                <a:r>
                  <a:rPr lang="el-GR" altLang="zh-CN" sz="3200" dirty="0">
                    <a:ea typeface="Cambria Math" panose="02040503050406030204" pitchFamily="18" charset="0"/>
                  </a:rPr>
                  <a:t> </a:t>
                </a:r>
                <a14:m>
                  <m:oMath xmlns:m="http://schemas.openxmlformats.org/officeDocument/2006/math">
                    <m:r>
                      <m:rPr>
                        <m:sty m:val="p"/>
                      </m:rPr>
                      <a:rPr lang="el-GR" altLang="zh-CN" sz="3200" i="1">
                        <a:latin typeface="Cambria Math" panose="02040503050406030204" pitchFamily="18" charset="0"/>
                        <a:ea typeface="Cambria Math" panose="02040503050406030204" pitchFamily="18" charset="0"/>
                      </a:rPr>
                      <m:t>Δ</m:t>
                    </m:r>
                    <m:r>
                      <a:rPr lang="en-US" altLang="zh-CN" sz="3200" b="0" i="1" smtClean="0">
                        <a:latin typeface="Cambria Math" panose="02040503050406030204" pitchFamily="18" charset="0"/>
                        <a:ea typeface="Cambria Math" panose="02040503050406030204" pitchFamily="18" charset="0"/>
                      </a:rPr>
                      <m:t>𝑦</m:t>
                    </m:r>
                    <m:r>
                      <a:rPr lang="en-US" altLang="zh-CN" sz="3200" i="1">
                        <a:latin typeface="Cambria Math" panose="02040503050406030204" pitchFamily="18" charset="0"/>
                        <a:ea typeface="Cambria Math" panose="02040503050406030204" pitchFamily="18" charset="0"/>
                      </a:rPr>
                      <m:t>=</m:t>
                    </m:r>
                    <m:f>
                      <m:fPr>
                        <m:ctrlPr>
                          <a:rPr lang="en-US" altLang="zh-CN" sz="3200" i="1">
                            <a:latin typeface="Cambria Math" panose="02040503050406030204" pitchFamily="18" charset="0"/>
                            <a:ea typeface="Cambria Math" panose="02040503050406030204" pitchFamily="18" charset="0"/>
                          </a:rPr>
                        </m:ctrlPr>
                      </m:fPr>
                      <m:num>
                        <m:sSub>
                          <m:sSubPr>
                            <m:ctrlPr>
                              <a:rPr lang="en-US" altLang="zh-CN" sz="3200" i="1">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𝑦</m:t>
                            </m:r>
                          </m:e>
                          <m:sub>
                            <m:r>
                              <a:rPr lang="en-US" altLang="zh-CN" sz="3200" i="1">
                                <a:latin typeface="Cambria Math" panose="02040503050406030204" pitchFamily="18" charset="0"/>
                                <a:ea typeface="Cambria Math" panose="02040503050406030204" pitchFamily="18" charset="0"/>
                              </a:rPr>
                              <m:t>1</m:t>
                            </m:r>
                          </m:sub>
                        </m:sSub>
                        <m:r>
                          <a:rPr lang="en-US" altLang="zh-CN" sz="3200" i="1">
                            <a:latin typeface="Cambria Math" panose="02040503050406030204" pitchFamily="18" charset="0"/>
                            <a:ea typeface="Cambria Math" panose="02040503050406030204" pitchFamily="18" charset="0"/>
                          </a:rPr>
                          <m:t>−</m:t>
                        </m:r>
                        <m:sSub>
                          <m:sSubPr>
                            <m:ctrlPr>
                              <a:rPr lang="en-US" altLang="zh-CN" sz="3200" i="1">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𝑦</m:t>
                            </m:r>
                          </m:e>
                          <m:sub>
                            <m:r>
                              <a:rPr lang="en-US" altLang="zh-CN" sz="3200" i="1">
                                <a:latin typeface="Cambria Math" panose="02040503050406030204" pitchFamily="18" charset="0"/>
                                <a:ea typeface="Cambria Math" panose="02040503050406030204" pitchFamily="18" charset="0"/>
                              </a:rPr>
                              <m:t>0</m:t>
                            </m:r>
                          </m:sub>
                        </m:sSub>
                      </m:num>
                      <m:den>
                        <m:r>
                          <a:rPr lang="en-US" altLang="zh-CN" sz="3200" i="1">
                            <a:latin typeface="Cambria Math" panose="02040503050406030204" pitchFamily="18" charset="0"/>
                            <a:ea typeface="Cambria Math" panose="02040503050406030204" pitchFamily="18" charset="0"/>
                          </a:rPr>
                          <m:t>𝐿𝑒𝑛𝑔𝑡h</m:t>
                        </m:r>
                      </m:den>
                    </m:f>
                  </m:oMath>
                </a14:m>
                <a:endParaRPr lang="en-US" altLang="zh-CN" sz="3200" dirty="0">
                  <a:sym typeface="Symbol" panose="05050102010706020507" pitchFamily="18" charset="2"/>
                </a:endParaRPr>
              </a:p>
              <a:p>
                <a:pPr algn="just">
                  <a:lnSpc>
                    <a:spcPct val="140000"/>
                  </a:lnSpc>
                  <a:tabLst>
                    <a:tab pos="3140075" algn="l"/>
                  </a:tabLst>
                </a:pPr>
                <a:r>
                  <a:rPr lang="en-US" altLang="zh-CN" sz="3200" dirty="0">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其中</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Length=max(abs(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𝑦</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𝑦</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这样有：</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）如果</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)&gt;abs(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𝑦</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𝑦</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且</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&gt;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则</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+1,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 </m:t>
                    </m:r>
                  </m:oMath>
                </a14:m>
                <a:r>
                  <a:rPr lang="en-US" altLang="zh-CN" sz="2800" dirty="0"/>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t>+m</a:t>
                </a:r>
                <a:r>
                  <a:rPr lang="zh-CN" altLang="en-US" sz="2800" dirty="0"/>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如果</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m:rPr>
                            <m:sty m:val="p"/>
                          </m:rPr>
                          <a:rPr lang="en-US" altLang="zh-CN" sz="2800" i="0">
                            <a:latin typeface="Cambria Math" panose="02040503050406030204" pitchFamily="18" charset="0"/>
                            <a:ea typeface="华光仿宋_CNKI" panose="02000500000000000000" pitchFamily="2" charset="-122"/>
                          </a:rPr>
                          <m:t>x</m:t>
                        </m:r>
                      </m:e>
                      <m:sub>
                        <m:r>
                          <a:rPr lang="en-US" altLang="zh-CN" sz="2800" i="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)&gt;abs(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m:rPr>
                            <m:sty m:val="p"/>
                          </m:rPr>
                          <a:rPr lang="en-US" altLang="zh-CN" sz="2800" i="0">
                            <a:latin typeface="Cambria Math" panose="02040503050406030204" pitchFamily="18" charset="0"/>
                            <a:ea typeface="华光仿宋_CNKI" panose="02000500000000000000" pitchFamily="2" charset="-122"/>
                          </a:rPr>
                          <m:t>y</m:t>
                        </m:r>
                      </m:e>
                      <m:sub>
                        <m:r>
                          <a:rPr lang="en-US" altLang="zh-CN" sz="2800" i="0">
                            <a:latin typeface="Cambria Math" panose="02040503050406030204" pitchFamily="18" charset="0"/>
                            <a:ea typeface="华光仿宋_CNKI" panose="02000500000000000000" pitchFamily="2" charset="-122"/>
                          </a:rPr>
                          <m:t>1</m:t>
                        </m:r>
                      </m:sub>
                    </m:sSub>
                    <m:r>
                      <a:rPr lang="en-US" altLang="zh-CN" sz="2800" i="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m:rPr>
                            <m:sty m:val="p"/>
                          </m:rPr>
                          <a:rPr lang="en-US" altLang="zh-CN" sz="2800" i="0">
                            <a:latin typeface="Cambria Math" panose="02040503050406030204" pitchFamily="18" charset="0"/>
                            <a:ea typeface="华光仿宋_CNKI" panose="02000500000000000000" pitchFamily="2" charset="-122"/>
                          </a:rPr>
                          <m:t>y</m:t>
                        </m:r>
                      </m:e>
                      <m:sub>
                        <m:r>
                          <a:rPr lang="en-US" altLang="zh-CN" sz="2800" i="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且</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m:t>
                        </m:r>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r>
                      <a:rPr lang="en-US" altLang="zh-CN" sz="2800" b="0" i="1" smtClean="0">
                        <a:latin typeface="Cambria Math" panose="02040503050406030204" pitchFamily="18" charset="0"/>
                        <a:ea typeface="华光仿宋_CNKI" panose="02000500000000000000" pitchFamily="2" charset="-122"/>
                      </a:rPr>
                      <m:t>, </m:t>
                    </m:r>
                  </m:oMath>
                </a14:m>
                <a:r>
                  <a:rPr lang="zh-CN" altLang="en-US" sz="2800" dirty="0"/>
                  <a:t>则</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1,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t>m</a:t>
                </a:r>
                <a:r>
                  <a:rPr lang="zh-CN" altLang="en-US" sz="2800" dirty="0"/>
                  <a:t>。</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68017" y="326004"/>
                <a:ext cx="10828352" cy="6209968"/>
              </a:xfrm>
              <a:blipFill>
                <a:blip r:embed="rId2"/>
                <a:stretch>
                  <a:fillRect l="-1125" r="-1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1031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12412" y="1039633"/>
                <a:ext cx="10367176" cy="4778733"/>
              </a:xfrm>
            </p:spPr>
            <p:txBody>
              <a:bodyPr>
                <a:normAutofit/>
              </a:bodyPr>
              <a:lstStyle/>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2</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）如果</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en-US" altLang="zh-CN" sz="2800" dirty="0">
                    <a:ea typeface="华光仿宋_CNKI" panose="02000500000000000000" pitchFamily="2" charset="-122"/>
                  </a:rPr>
                  <a:t> </a:t>
                </a:r>
                <a14:m>
                  <m:oMath xmlns:m="http://schemas.openxmlformats.org/officeDocument/2006/math">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𝑦</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𝑦</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且</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&gt;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则</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r>
                          <a:rPr lang="en-US" altLang="zh-CN" sz="2800" i="1">
                            <a:latin typeface="Cambria Math" panose="02040503050406030204" pitchFamily="18" charset="0"/>
                            <a:ea typeface="华光仿宋_CNKI" panose="02000500000000000000" pitchFamily="2" charset="-122"/>
                          </a:rPr>
                          <m:t>1</m:t>
                        </m:r>
                      </m:num>
                      <m:den>
                        <m:r>
                          <a:rPr lang="en-US" altLang="zh-CN" sz="2800" i="1">
                            <a:latin typeface="Cambria Math" panose="02040503050406030204" pitchFamily="18" charset="0"/>
                            <a:ea typeface="华光仿宋_CNKI" panose="02000500000000000000" pitchFamily="2" charset="-122"/>
                          </a:rPr>
                          <m:t>𝑚</m:t>
                        </m:r>
                      </m:den>
                    </m:f>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 </m:t>
                    </m:r>
                  </m:oMath>
                </a14:m>
                <a:r>
                  <a:rPr lang="en-US" altLang="zh-CN" sz="2800" dirty="0"/>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t>+1</a:t>
                </a:r>
                <a:r>
                  <a:rPr lang="zh-CN" altLang="en-US" sz="2800" dirty="0"/>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如果</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r>
                      <a:rPr lang="en-US" altLang="zh-CN" sz="280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m:rPr>
                            <m:sty m:val="p"/>
                          </m:rPr>
                          <a:rPr lang="en-US" altLang="zh-CN" sz="2800" i="0">
                            <a:latin typeface="Cambria Math" panose="02040503050406030204" pitchFamily="18" charset="0"/>
                            <a:ea typeface="华光仿宋_CNKI" panose="02000500000000000000" pitchFamily="2" charset="-122"/>
                          </a:rPr>
                          <m:t>x</m:t>
                        </m:r>
                      </m:e>
                      <m:sub>
                        <m:r>
                          <a:rPr lang="en-US" altLang="zh-CN" sz="2800" i="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)&gt;abs(</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m:rPr>
                            <m:sty m:val="p"/>
                          </m:rPr>
                          <a:rPr lang="en-US" altLang="zh-CN" sz="2800" i="0">
                            <a:latin typeface="Cambria Math" panose="02040503050406030204" pitchFamily="18" charset="0"/>
                            <a:ea typeface="华光仿宋_CNKI" panose="02000500000000000000" pitchFamily="2" charset="-122"/>
                          </a:rPr>
                          <m:t>y</m:t>
                        </m:r>
                      </m:e>
                      <m:sub>
                        <m:r>
                          <a:rPr lang="en-US" altLang="zh-CN" sz="2800" i="0">
                            <a:latin typeface="Cambria Math" panose="02040503050406030204" pitchFamily="18" charset="0"/>
                            <a:ea typeface="华光仿宋_CNKI" panose="02000500000000000000" pitchFamily="2" charset="-122"/>
                          </a:rPr>
                          <m:t>1</m:t>
                        </m:r>
                      </m:sub>
                    </m:sSub>
                    <m:r>
                      <a:rPr lang="en-US" altLang="zh-CN" sz="2800" i="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m:rPr>
                            <m:sty m:val="p"/>
                          </m:rPr>
                          <a:rPr lang="en-US" altLang="zh-CN" sz="2800" i="0">
                            <a:latin typeface="Cambria Math" panose="02040503050406030204" pitchFamily="18" charset="0"/>
                            <a:ea typeface="华光仿宋_CNKI" panose="02000500000000000000" pitchFamily="2" charset="-122"/>
                          </a:rPr>
                          <m:t>y</m:t>
                        </m:r>
                      </m:e>
                      <m:sub>
                        <m:r>
                          <a:rPr lang="en-US" altLang="zh-CN" sz="2800" i="0">
                            <a:latin typeface="Cambria Math" panose="02040503050406030204" pitchFamily="18" charset="0"/>
                            <a:ea typeface="华光仿宋_CNKI" panose="02000500000000000000" pitchFamily="2" charset="-122"/>
                          </a:rPr>
                          <m:t>0</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且</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1</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m:t>
                        </m:r>
                        <m:r>
                          <a:rPr lang="en-US" altLang="zh-CN" sz="2800">
                            <a:latin typeface="Cambria Math" panose="02040503050406030204" pitchFamily="18" charset="0"/>
                            <a:ea typeface="华光仿宋_CNKI" panose="02000500000000000000" pitchFamily="2" charset="-122"/>
                          </a:rPr>
                          <m:t>𝑥</m:t>
                        </m:r>
                      </m:e>
                      <m:sub>
                        <m:r>
                          <a:rPr lang="en-US" altLang="zh-CN" sz="2800">
                            <a:latin typeface="Cambria Math" panose="02040503050406030204" pitchFamily="18" charset="0"/>
                            <a:ea typeface="华光仿宋_CNKI" panose="02000500000000000000" pitchFamily="2" charset="-122"/>
                          </a:rPr>
                          <m:t>0</m:t>
                        </m:r>
                      </m:sub>
                    </m:sSub>
                    <m:r>
                      <a:rPr lang="en-US" altLang="zh-CN" sz="2800" b="0" i="1" smtClean="0">
                        <a:latin typeface="Cambria Math" panose="02040503050406030204" pitchFamily="18" charset="0"/>
                        <a:ea typeface="华光仿宋_CNKI" panose="02000500000000000000" pitchFamily="2" charset="-122"/>
                      </a:rPr>
                      <m:t>, </m:t>
                    </m:r>
                  </m:oMath>
                </a14:m>
                <a:r>
                  <a:rPr lang="zh-CN" altLang="en-US" sz="2800" dirty="0"/>
                  <a:t>则</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ea typeface="华光仿宋_CNKI" panose="02000500000000000000" pitchFamily="2" charset="-12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r>
                          <a:rPr lang="en-US" altLang="zh-CN" sz="2800" i="1">
                            <a:latin typeface="Cambria Math" panose="02040503050406030204" pitchFamily="18" charset="0"/>
                            <a:ea typeface="华光仿宋_CNKI" panose="02000500000000000000" pitchFamily="2" charset="-122"/>
                          </a:rPr>
                          <m:t>1</m:t>
                        </m:r>
                      </m:num>
                      <m:den>
                        <m:r>
                          <a:rPr lang="en-US" altLang="zh-CN" sz="2800" i="1">
                            <a:latin typeface="Cambria Math" panose="02040503050406030204" pitchFamily="18" charset="0"/>
                            <a:ea typeface="华光仿宋_CNKI" panose="02000500000000000000" pitchFamily="2" charset="-122"/>
                          </a:rPr>
                          <m:t>𝑚</m:t>
                        </m:r>
                      </m:den>
                    </m:f>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t>1</a:t>
                </a:r>
                <a:r>
                  <a:rPr lang="zh-CN" altLang="en-US" sz="2800" dirty="0"/>
                  <a:t>。</a:t>
                </a:r>
                <a:endParaRPr lang="en-US" altLang="zh-CN" sz="2800" dirty="0"/>
              </a:p>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重复上述步骤</a:t>
                </a:r>
                <a:r>
                  <a:rPr lang="en-US" altLang="zh-CN" sz="2800" dirty="0">
                    <a:latin typeface="华光仿宋_CNKI" panose="02000500000000000000" pitchFamily="2" charset="-122"/>
                    <a:ea typeface="华光仿宋_CNKI" panose="02000500000000000000" pitchFamily="2" charset="-122"/>
                  </a:rPr>
                  <a:t>Length</a:t>
                </a:r>
                <a:r>
                  <a:rPr lang="zh-CN" altLang="en-US" sz="2800" dirty="0">
                    <a:latin typeface="华光仿宋_CNKI" panose="02000500000000000000" pitchFamily="2" charset="-122"/>
                    <a:ea typeface="华光仿宋_CNKI" panose="02000500000000000000" pitchFamily="2" charset="-122"/>
                  </a:rPr>
                  <a:t>次即可得到所有中间的点。</a:t>
                </a:r>
                <a:endParaRPr lang="en-US" altLang="zh-CN" sz="2800" dirty="0">
                  <a:latin typeface="华光仿宋_CNKI" panose="02000500000000000000" pitchFamily="2" charset="-122"/>
                  <a:ea typeface="华光仿宋_CNKI" panose="02000500000000000000" pitchFamily="2" charset="-122"/>
                </a:endParaRPr>
              </a:p>
              <a:p>
                <a:pPr algn="just">
                  <a:lnSpc>
                    <a:spcPct val="140000"/>
                  </a:lnSpc>
                  <a:tabLst>
                    <a:tab pos="3140075" algn="l"/>
                  </a:tabLst>
                </a:pPr>
                <a:r>
                  <a:rPr lang="zh-CN" altLang="en-US" sz="2800" b="1" dirty="0">
                    <a:solidFill>
                      <a:srgbClr val="C00000"/>
                    </a:solidFill>
                    <a:latin typeface="华光大标宋_CNKI" panose="02000500000000000000" pitchFamily="2" charset="-122"/>
                    <a:ea typeface="华光大标宋_CNKI" panose="02000500000000000000" pitchFamily="2" charset="-122"/>
                  </a:rPr>
                  <a:t>思考：</a:t>
                </a:r>
                <a:endParaRPr lang="en-US" altLang="zh-CN" sz="2800" b="1" dirty="0">
                  <a:solidFill>
                    <a:srgbClr val="C00000"/>
                  </a:solidFill>
                  <a:latin typeface="华光大标宋_CNKI" panose="02000500000000000000" pitchFamily="2" charset="-122"/>
                  <a:ea typeface="华光大标宋_CNKI" panose="02000500000000000000" pitchFamily="2" charset="-122"/>
                </a:endParaRPr>
              </a:p>
              <a:p>
                <a:pPr algn="just">
                  <a:lnSpc>
                    <a:spcPct val="140000"/>
                  </a:lnSpc>
                  <a:tabLst>
                    <a:tab pos="3140075" algn="l"/>
                  </a:tabLst>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分析上述算法求解过程，发现其存在的问题。</a:t>
                </a: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912412" y="1039633"/>
                <a:ext cx="10367176" cy="4778733"/>
              </a:xfrm>
              <a:blipFill>
                <a:blip r:embed="rId2"/>
                <a:stretch>
                  <a:fillRect l="-1235" r="-12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5354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0067" y="804075"/>
            <a:ext cx="5326048" cy="5249849"/>
          </a:xfrm>
        </p:spPr>
        <p:txBody>
          <a:bodyPr>
            <a:normAutofit/>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3.1.2 </a:t>
            </a:r>
            <a:r>
              <a:rPr lang="zh-CN" altLang="en-US" sz="3200" dirty="0">
                <a:latin typeface="华光大标宋_CNKI" panose="02000500000000000000" pitchFamily="2" charset="-122"/>
                <a:ea typeface="华光大标宋_CNKI" panose="02000500000000000000" pitchFamily="2" charset="-122"/>
              </a:rPr>
              <a:t>中点画线法</a:t>
            </a:r>
            <a:endParaRPr lang="en-US" altLang="zh-CN" sz="3200" dirty="0">
              <a:latin typeface="华光大标宋_CNKI" panose="02000500000000000000" pitchFamily="2" charset="-122"/>
              <a:ea typeface="华光大标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算法思想：将与直线距离最近的像素作为直线上的点进行显示。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如右图所示，</a:t>
            </a:r>
            <a:r>
              <a:rPr lang="en-US" altLang="zh-CN" sz="2800" dirty="0">
                <a:latin typeface="华光仿宋_CNKI" panose="02000500000000000000" pitchFamily="2" charset="-122"/>
                <a:ea typeface="华光仿宋_CNKI" panose="02000500000000000000" pitchFamily="2" charset="-122"/>
              </a:rPr>
              <a:t>Q</a:t>
            </a:r>
            <a:r>
              <a:rPr lang="zh-CN" altLang="en-US" sz="2800" dirty="0">
                <a:latin typeface="华光仿宋_CNKI" panose="02000500000000000000" pitchFamily="2" charset="-122"/>
                <a:ea typeface="华光仿宋_CNKI" panose="02000500000000000000" pitchFamily="2" charset="-122"/>
              </a:rPr>
              <a:t>点距离</a:t>
            </a:r>
            <a:r>
              <a:rPr lang="en-US" altLang="zh-CN" sz="2800" dirty="0">
                <a:latin typeface="华光仿宋_CNKI" panose="02000500000000000000" pitchFamily="2" charset="-122"/>
                <a:ea typeface="华光仿宋_CNKI" panose="02000500000000000000" pitchFamily="2" charset="-122"/>
              </a:rPr>
              <a:t>P2</a:t>
            </a:r>
            <a:r>
              <a:rPr lang="zh-CN" altLang="en-US" sz="2800" dirty="0">
                <a:latin typeface="华光仿宋_CNKI" panose="02000500000000000000" pitchFamily="2" charset="-122"/>
                <a:ea typeface="华光仿宋_CNKI" panose="02000500000000000000" pitchFamily="2" charset="-122"/>
              </a:rPr>
              <a:t>比距离</a:t>
            </a:r>
            <a:r>
              <a:rPr lang="en-US" altLang="zh-CN" sz="2800" dirty="0">
                <a:latin typeface="华光仿宋_CNKI" panose="02000500000000000000" pitchFamily="2" charset="-122"/>
                <a:ea typeface="华光仿宋_CNKI" panose="02000500000000000000" pitchFamily="2" charset="-122"/>
              </a:rPr>
              <a:t>P1</a:t>
            </a:r>
            <a:r>
              <a:rPr lang="zh-CN" altLang="en-US" sz="2800" dirty="0">
                <a:latin typeface="华光仿宋_CNKI" panose="02000500000000000000" pitchFamily="2" charset="-122"/>
                <a:ea typeface="华光仿宋_CNKI" panose="02000500000000000000" pitchFamily="2" charset="-122"/>
              </a:rPr>
              <a:t>更近，选择</a:t>
            </a:r>
            <a:r>
              <a:rPr lang="en-US" altLang="zh-CN" sz="2800" dirty="0">
                <a:latin typeface="华光仿宋_CNKI" panose="02000500000000000000" pitchFamily="2" charset="-122"/>
                <a:ea typeface="华光仿宋_CNKI" panose="02000500000000000000" pitchFamily="2" charset="-122"/>
              </a:rPr>
              <a:t>P2</a:t>
            </a:r>
            <a:r>
              <a:rPr lang="zh-CN" altLang="en-US" sz="2800" dirty="0">
                <a:latin typeface="华光仿宋_CNKI" panose="02000500000000000000" pitchFamily="2" charset="-122"/>
                <a:ea typeface="华光仿宋_CNKI" panose="02000500000000000000" pitchFamily="2" charset="-122"/>
              </a:rPr>
              <a:t>作为图形显示时绘制的点更合适。  </a:t>
            </a:r>
            <a:endParaRPr lang="en-US" altLang="zh-CN" sz="2800" dirty="0">
              <a:latin typeface="华光仿宋_CNKI" panose="02000500000000000000" pitchFamily="2" charset="-122"/>
              <a:ea typeface="华光仿宋_CNKI" panose="02000500000000000000" pitchFamily="2" charset="-122"/>
            </a:endParaRPr>
          </a:p>
        </p:txBody>
      </p:sp>
      <p:graphicFrame>
        <p:nvGraphicFramePr>
          <p:cNvPr id="4" name="Object 6">
            <a:extLst>
              <a:ext uri="{FF2B5EF4-FFF2-40B4-BE49-F238E27FC236}">
                <a16:creationId xmlns:a16="http://schemas.microsoft.com/office/drawing/2014/main" id="{DA1ACC08-B9FE-E2A5-C763-6075383AD290}"/>
              </a:ext>
            </a:extLst>
          </p:cNvPr>
          <p:cNvGraphicFramePr>
            <a:graphicFrameLocks noChangeAspect="1"/>
          </p:cNvGraphicFramePr>
          <p:nvPr>
            <p:extLst>
              <p:ext uri="{D42A27DB-BD31-4B8C-83A1-F6EECF244321}">
                <p14:modId xmlns:p14="http://schemas.microsoft.com/office/powerpoint/2010/main" val="760731995"/>
              </p:ext>
            </p:extLst>
          </p:nvPr>
        </p:nvGraphicFramePr>
        <p:xfrm>
          <a:off x="6446983" y="2305878"/>
          <a:ext cx="5695783" cy="3821819"/>
        </p:xfrm>
        <a:graphic>
          <a:graphicData uri="http://schemas.openxmlformats.org/presentationml/2006/ole">
            <mc:AlternateContent xmlns:mc="http://schemas.openxmlformats.org/markup-compatibility/2006">
              <mc:Choice xmlns:v="urn:schemas-microsoft-com:vml" Requires="v">
                <p:oleObj name="VISIO" r:id="rId2" imgW="1908720" imgH="1224720" progId="Visio.Drawing.5">
                  <p:embed/>
                </p:oleObj>
              </mc:Choice>
              <mc:Fallback>
                <p:oleObj name="VISIO" r:id="rId2" imgW="1908720" imgH="1224720" progId="Visio.Drawing.5">
                  <p:embed/>
                  <p:pic>
                    <p:nvPicPr>
                      <p:cNvPr id="13318" name="Object 6">
                        <a:extLst>
                          <a:ext uri="{FF2B5EF4-FFF2-40B4-BE49-F238E27FC236}">
                            <a16:creationId xmlns:a16="http://schemas.microsoft.com/office/drawing/2014/main" id="{E0409F00-0EC6-0387-6930-EE9B9CEA3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6983" y="2305878"/>
                        <a:ext cx="5695783" cy="3821819"/>
                      </a:xfrm>
                      <a:prstGeom prst="rect">
                        <a:avLst/>
                      </a:prstGeom>
                      <a:solidFill>
                        <a:schemeClr val="bg1"/>
                      </a:solidFill>
                      <a:ln>
                        <a:noFill/>
                      </a:ln>
                      <a:effectLst/>
                    </p:spPr>
                  </p:pic>
                </p:oleObj>
              </mc:Fallback>
            </mc:AlternateContent>
          </a:graphicData>
        </a:graphic>
      </p:graphicFrame>
      <p:sp>
        <p:nvSpPr>
          <p:cNvPr id="6" name="AutoShape 11">
            <a:extLst>
              <a:ext uri="{FF2B5EF4-FFF2-40B4-BE49-F238E27FC236}">
                <a16:creationId xmlns:a16="http://schemas.microsoft.com/office/drawing/2014/main" id="{52634451-6AEE-6624-1607-CBB7CF82201B}"/>
              </a:ext>
            </a:extLst>
          </p:cNvPr>
          <p:cNvSpPr>
            <a:spLocks/>
          </p:cNvSpPr>
          <p:nvPr/>
        </p:nvSpPr>
        <p:spPr bwMode="auto">
          <a:xfrm>
            <a:off x="7323152" y="1455088"/>
            <a:ext cx="3943447" cy="326004"/>
          </a:xfrm>
          <a:prstGeom prst="borderCallout3">
            <a:avLst>
              <a:gd name="adj1" fmla="val 24491"/>
              <a:gd name="adj2" fmla="val 101514"/>
              <a:gd name="adj3" fmla="val 24491"/>
              <a:gd name="adj4" fmla="val 101921"/>
              <a:gd name="adj5" fmla="val 123810"/>
              <a:gd name="adj6" fmla="val 101921"/>
              <a:gd name="adj7" fmla="val 935579"/>
              <a:gd name="adj8" fmla="val 30910"/>
            </a:avLst>
          </a:prstGeom>
          <a:solidFill>
            <a:schemeClr val="accent1">
              <a:lumMod val="40000"/>
              <a:lumOff val="60000"/>
            </a:schemeClr>
          </a:solidFill>
          <a:ln w="9525">
            <a:solidFill>
              <a:schemeClr val="tx1"/>
            </a:solidFill>
            <a:miter lim="800000"/>
            <a:headEnd/>
            <a:tailEnd/>
          </a:ln>
          <a:effectLst/>
        </p:spPr>
        <p:txBody>
          <a:bodyPr/>
          <a:lstStyle/>
          <a:p>
            <a:pPr algn="just">
              <a:lnSpc>
                <a:spcPct val="80000"/>
              </a:lnSpc>
              <a:spcBef>
                <a:spcPct val="20000"/>
              </a:spcBef>
              <a:buClr>
                <a:schemeClr val="hlink"/>
              </a:buClr>
              <a:buSzPct val="70000"/>
              <a:buFont typeface="Wingdings" panose="05000000000000000000" pitchFamily="2" charset="2"/>
              <a:buNone/>
            </a:pPr>
            <a:r>
              <a:rPr lang="zh-CN" altLang="en-US" sz="2000" b="1" dirty="0"/>
              <a:t>待显示的点应该在</a:t>
            </a:r>
            <a:r>
              <a:rPr lang="en-US" altLang="zh-CN" sz="2000" b="1" dirty="0"/>
              <a:t>P2</a:t>
            </a:r>
            <a:r>
              <a:rPr lang="zh-CN" altLang="en-US" sz="2000" b="1" dirty="0"/>
              <a:t>还是在</a:t>
            </a:r>
            <a:r>
              <a:rPr lang="en-US" altLang="zh-CN" sz="2000" b="1" i="1" dirty="0"/>
              <a:t>P1</a:t>
            </a:r>
            <a:r>
              <a:rPr lang="zh-CN" altLang="en-US" sz="2000" b="1" dirty="0"/>
              <a:t>？</a:t>
            </a:r>
            <a:endParaRPr lang="zh-CN" altLang="en-US" sz="2000" dirty="0"/>
          </a:p>
        </p:txBody>
      </p:sp>
    </p:spTree>
    <p:extLst>
      <p:ext uri="{BB962C8B-B14F-4D97-AF65-F5344CB8AC3E}">
        <p14:creationId xmlns:p14="http://schemas.microsoft.com/office/powerpoint/2010/main" val="179971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620201"/>
                <a:ext cx="10515600" cy="5287619"/>
              </a:xfrm>
            </p:spPr>
            <p:txBody>
              <a:bodyPr>
                <a:normAutofit fontScale="92500"/>
              </a:bodyPr>
              <a:lstStyle/>
              <a:p>
                <a:pPr marL="0" indent="0">
                  <a:lnSpc>
                    <a:spcPct val="150000"/>
                  </a:lnSpc>
                  <a:buNone/>
                </a:pPr>
                <a:r>
                  <a:rPr lang="en-US" altLang="zh-CN" sz="3600" dirty="0">
                    <a:latin typeface="华光仿宋二_CNKI" panose="02000500000000000000" pitchFamily="2" charset="-122"/>
                    <a:ea typeface="华光仿宋二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设直线的方程为：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F(</a:t>
                </a:r>
                <a:r>
                  <a:rPr lang="en-US" altLang="zh-CN" dirty="0" err="1">
                    <a:latin typeface="华光仿宋_CNKI" panose="02000500000000000000" pitchFamily="2" charset="-122"/>
                    <a:ea typeface="华光仿宋_CNKI" panose="02000500000000000000" pitchFamily="2" charset="-122"/>
                  </a:rPr>
                  <a:t>x,y</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ax+by+c</a:t>
                </a:r>
                <a:r>
                  <a:rPr lang="en-US" altLang="zh-CN" dirty="0">
                    <a:latin typeface="华光仿宋_CNKI" panose="02000500000000000000" pitchFamily="2" charset="-122"/>
                    <a:ea typeface="华光仿宋_CNKI" panose="02000500000000000000" pitchFamily="2" charset="-122"/>
                  </a:rPr>
                  <a:t>=0</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1</m:t>
                        </m:r>
                      </m:sub>
                    </m:sSub>
                  </m:oMath>
                </a14:m>
                <a:r>
                  <a:rPr lang="en-US" altLang="zh-CN" dirty="0">
                    <a:latin typeface="华光仿宋_CNKI" panose="02000500000000000000" pitchFamily="2" charset="-122"/>
                    <a:ea typeface="华光仿宋_CNKI" panose="02000500000000000000" pitchFamily="2" charset="-122"/>
                  </a:rPr>
                  <a:t>, b=</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 c=</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1</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1</m:t>
                        </m:r>
                      </m:sub>
                    </m:sSub>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a:t>
                </a:r>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1</m:t>
                        </m:r>
                      </m:sub>
                    </m:sSub>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m:t>
                        </m:r>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1</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m:t>
                        </m:r>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为线段的终点和起点。</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考虑直线斜率</a:t>
                </a:r>
                <a:r>
                  <a:rPr lang="en-US" altLang="zh-CN" dirty="0">
                    <a:latin typeface="华光仿宋_CNKI" panose="02000500000000000000" pitchFamily="2" charset="-122"/>
                    <a:ea typeface="华光仿宋_CNKI" panose="02000500000000000000" pitchFamily="2" charset="-122"/>
                  </a:rPr>
                  <a:t>0</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m</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的情况：如果一个点</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x,y</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在直线的上方，显然</a:t>
                </a:r>
                <a:r>
                  <a:rPr lang="en-US" altLang="zh-CN" dirty="0">
                    <a:latin typeface="华光仿宋_CNKI" panose="02000500000000000000" pitchFamily="2" charset="-122"/>
                    <a:ea typeface="华光仿宋_CNKI" panose="02000500000000000000" pitchFamily="2" charset="-122"/>
                  </a:rPr>
                  <a:t>F(</a:t>
                </a:r>
                <a:r>
                  <a:rPr lang="en-US" altLang="zh-CN" dirty="0" err="1">
                    <a:latin typeface="华光仿宋_CNKI" panose="02000500000000000000" pitchFamily="2" charset="-122"/>
                    <a:ea typeface="华光仿宋_CNKI" panose="02000500000000000000" pitchFamily="2" charset="-122"/>
                  </a:rPr>
                  <a:t>x,y</a:t>
                </a:r>
                <a:r>
                  <a:rPr lang="en-US" altLang="zh-CN" dirty="0">
                    <a:latin typeface="华光仿宋_CNKI" panose="02000500000000000000" pitchFamily="2" charset="-122"/>
                    <a:ea typeface="华光仿宋_CNKI" panose="02000500000000000000" pitchFamily="2" charset="-122"/>
                  </a:rPr>
                  <a:t>)&gt;0; </a:t>
                </a:r>
                <a:r>
                  <a:rPr lang="zh-CN" altLang="en-US" dirty="0">
                    <a:latin typeface="华光仿宋_CNKI" panose="02000500000000000000" pitchFamily="2" charset="-122"/>
                    <a:ea typeface="华光仿宋_CNKI" panose="02000500000000000000" pitchFamily="2" charset="-122"/>
                  </a:rPr>
                  <a:t>如果在其下方，则</a:t>
                </a:r>
                <a:r>
                  <a:rPr lang="en-US" altLang="zh-CN" dirty="0">
                    <a:latin typeface="华光仿宋_CNKI" panose="02000500000000000000" pitchFamily="2" charset="-122"/>
                    <a:ea typeface="华光仿宋_CNKI" panose="02000500000000000000" pitchFamily="2" charset="-122"/>
                  </a:rPr>
                  <a:t>F</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&lt;0;</a:t>
                </a:r>
                <a:r>
                  <a:rPr lang="zh-CN" altLang="en-US" dirty="0">
                    <a:latin typeface="华光仿宋_CNKI" panose="02000500000000000000" pitchFamily="2" charset="-122"/>
                    <a:ea typeface="华光仿宋_CNKI" panose="02000500000000000000" pitchFamily="2" charset="-122"/>
                  </a:rPr>
                  <a:t>在直线上，则</a:t>
                </a:r>
                <a:r>
                  <a:rPr lang="en-US" altLang="zh-CN" dirty="0">
                    <a:latin typeface="华光仿宋_CNKI" panose="02000500000000000000" pitchFamily="2" charset="-122"/>
                    <a:ea typeface="华光仿宋_CNKI" panose="02000500000000000000" pitchFamily="2" charset="-122"/>
                  </a:rPr>
                  <a:t>F</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x,y</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a:t>
                </a:r>
                <a:r>
                  <a:rPr lang="en-US" altLang="zh-CN" sz="3600" dirty="0">
                    <a:latin typeface="华光仿宋二_CNKI" panose="02000500000000000000" pitchFamily="2" charset="-122"/>
                    <a:ea typeface="华光仿宋二_CNKI" panose="02000500000000000000" pitchFamily="2" charset="-122"/>
                  </a:rPr>
                  <a:t>   </a:t>
                </a:r>
                <a:endParaRPr lang="en-US" altLang="zh-CN" sz="2800" dirty="0">
                  <a:latin typeface="华光仿宋二_CNKI" panose="02000500000000000000" pitchFamily="2" charset="-122"/>
                  <a:ea typeface="华光仿宋二_CNKI" panose="02000500000000000000" pitchFamily="2" charset="-122"/>
                </a:endParaRPr>
              </a:p>
            </p:txBody>
          </p:sp>
        </mc:Choice>
        <mc:Fallback xmlns="">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38200" y="620201"/>
                <a:ext cx="10515600" cy="5287619"/>
              </a:xfrm>
              <a:blipFill>
                <a:blip r:embed="rId2"/>
                <a:stretch>
                  <a:fillRect l="-1043" r="-5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8724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199" y="620201"/>
                <a:ext cx="10810461" cy="5287619"/>
              </a:xfrm>
            </p:spPr>
            <p:txBody>
              <a:bodyPr>
                <a:normAutofit/>
              </a:bodyPr>
              <a:lstStyle/>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也就是说，如果</a:t>
                </a:r>
                <a14:m>
                  <m:oMath xmlns:m="http://schemas.openxmlformats.org/officeDocument/2006/math">
                    <m:sSub>
                      <m:sSubPr>
                        <m:ctrlPr>
                          <a:rPr lang="en-US" altLang="zh-CN" i="1">
                            <a:latin typeface="Cambria Math" panose="02040503050406030204" pitchFamily="18" charset="0"/>
                            <a:ea typeface="华光仿宋二_CNKI" panose="02000500000000000000" pitchFamily="2" charset="-122"/>
                          </a:rPr>
                        </m:ctrlPr>
                      </m:sSubPr>
                      <m:e>
                        <m:r>
                          <a:rPr lang="en-US" altLang="zh-CN">
                            <a:latin typeface="Cambria Math" panose="02040503050406030204" pitchFamily="18" charset="0"/>
                            <a:ea typeface="华光仿宋二_CNKI" panose="02000500000000000000" pitchFamily="2" charset="-122"/>
                          </a:rPr>
                          <m:t>𝑥</m:t>
                        </m:r>
                      </m:e>
                      <m:sub>
                        <m:r>
                          <a:rPr lang="en-US" altLang="zh-CN">
                            <a:latin typeface="Cambria Math" panose="02040503050406030204" pitchFamily="18" charset="0"/>
                            <a:ea typeface="华光仿宋二_CNKI" panose="02000500000000000000" pitchFamily="2" charset="-122"/>
                          </a:rPr>
                          <m:t>𝑖</m:t>
                        </m:r>
                        <m:r>
                          <a:rPr lang="en-US" altLang="zh-CN">
                            <a:latin typeface="Cambria Math" panose="02040503050406030204" pitchFamily="18" charset="0"/>
                            <a:ea typeface="华光仿宋二_CNKI" panose="02000500000000000000" pitchFamily="2" charset="-122"/>
                          </a:rPr>
                          <m:t>+1</m:t>
                        </m:r>
                      </m:sub>
                    </m:sSub>
                    <m:r>
                      <a:rPr lang="en-US" altLang="zh-CN">
                        <a:latin typeface="Cambria Math" panose="02040503050406030204" pitchFamily="18" charset="0"/>
                        <a:ea typeface="华光仿宋二_CNKI" panose="02000500000000000000" pitchFamily="2" charset="-122"/>
                      </a:rPr>
                      <m:t> </m:t>
                    </m:r>
                  </m:oMath>
                </a14:m>
                <a:r>
                  <a:rPr lang="en-US" altLang="zh-CN" sz="2800"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sz="2800" dirty="0">
                    <a:latin typeface="华光仿宋二_CNKI" panose="02000500000000000000" pitchFamily="2" charset="-122"/>
                    <a:ea typeface="华光仿宋二_CNKI" panose="02000500000000000000" pitchFamily="2" charset="-122"/>
                  </a:rPr>
                  <a:t>+1,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a:t>
                </a:r>
                <a:r>
                  <a:rPr lang="zh-CN" altLang="en-US" dirty="0">
                    <a:latin typeface="华光仿宋二_CNKI" panose="02000500000000000000" pitchFamily="2" charset="-122"/>
                    <a:ea typeface="华光仿宋二_CNKI" panose="02000500000000000000" pitchFamily="2" charset="-122"/>
                  </a:rPr>
                  <a:t>的点（</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𝑖</m:t>
                        </m:r>
                        <m:r>
                          <a:rPr lang="en-US" altLang="zh-CN" i="1">
                            <a:latin typeface="Cambria Math" panose="02040503050406030204" pitchFamily="18" charset="0"/>
                            <a:ea typeface="华光仿宋_CNKI" panose="02000500000000000000" pitchFamily="2" charset="-122"/>
                          </a:rPr>
                          <m:t>+1</m:t>
                        </m:r>
                      </m:sub>
                    </m:sSub>
                  </m:oMath>
                </a14:m>
                <a:r>
                  <a:rPr lang="zh-CN" altLang="en-US"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r>
                          <a:rPr lang="en-US" altLang="zh-CN" i="1">
                            <a:latin typeface="Cambria Math" panose="02040503050406030204" pitchFamily="18" charset="0"/>
                            <a:ea typeface="华光仿宋_CNKI" panose="02000500000000000000" pitchFamily="2" charset="-122"/>
                          </a:rPr>
                          <m:t>+1</m:t>
                        </m:r>
                      </m:sub>
                    </m:sSub>
                  </m:oMath>
                </a14:m>
                <a:r>
                  <a:rPr lang="zh-CN" altLang="en-US" dirty="0">
                    <a:latin typeface="华光仿宋二_CNKI" panose="02000500000000000000" pitchFamily="2" charset="-122"/>
                    <a:ea typeface="华光仿宋二_CNKI" panose="02000500000000000000" pitchFamily="2" charset="-122"/>
                  </a:rPr>
                  <a:t>）在直线的上方，说明</a:t>
                </a:r>
                <a:r>
                  <a:rPr lang="en-US" altLang="zh-CN" dirty="0">
                    <a:latin typeface="华光仿宋二_CNKI" panose="02000500000000000000" pitchFamily="2" charset="-122"/>
                    <a:ea typeface="华光仿宋二_CNKI" panose="02000500000000000000" pitchFamily="2" charset="-122"/>
                  </a:rPr>
                  <a:t>P1</a:t>
                </a:r>
                <a:r>
                  <a:rPr lang="zh-CN" altLang="en-US" dirty="0">
                    <a:latin typeface="华光仿宋二_CNKI" panose="02000500000000000000" pitchFamily="2" charset="-122"/>
                    <a:ea typeface="华光仿宋二_CNKI" panose="02000500000000000000" pitchFamily="2" charset="-122"/>
                  </a:rPr>
                  <a:t>距离直线更近，因此取</a:t>
                </a:r>
                <a:r>
                  <a:rPr lang="en-US" altLang="zh-CN" dirty="0">
                    <a:latin typeface="华光仿宋二_CNKI" panose="02000500000000000000" pitchFamily="2" charset="-122"/>
                    <a:ea typeface="华光仿宋二_CNKI" panose="02000500000000000000" pitchFamily="2" charset="-122"/>
                  </a:rPr>
                  <a:t>P1</a:t>
                </a:r>
                <a:r>
                  <a:rPr lang="zh-CN" altLang="en-US" dirty="0">
                    <a:latin typeface="华光仿宋二_CNKI" panose="02000500000000000000" pitchFamily="2" charset="-122"/>
                    <a:ea typeface="华光仿宋二_CNKI" panose="02000500000000000000" pitchFamily="2" charset="-122"/>
                  </a:rPr>
                  <a:t>点作为待显示的点；相反，则选择</a:t>
                </a:r>
                <a:r>
                  <a:rPr lang="en-US" altLang="zh-CN" dirty="0">
                    <a:latin typeface="华光仿宋二_CNKI" panose="02000500000000000000" pitchFamily="2" charset="-122"/>
                    <a:ea typeface="华光仿宋二_CNKI" panose="02000500000000000000" pitchFamily="2" charset="-122"/>
                  </a:rPr>
                  <a:t>P2</a:t>
                </a:r>
                <a:r>
                  <a:rPr lang="zh-CN" altLang="en-US" dirty="0">
                    <a:latin typeface="华光仿宋二_CNKI" panose="02000500000000000000" pitchFamily="2" charset="-122"/>
                    <a:ea typeface="华光仿宋二_CNKI" panose="02000500000000000000" pitchFamily="2" charset="-122"/>
                  </a:rPr>
                  <a:t>作为待显示的点。对应的直线计算表达式如下：</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d=F(</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sz="2800" dirty="0">
                    <a:latin typeface="华光仿宋二_CNKI" panose="02000500000000000000" pitchFamily="2" charset="-122"/>
                    <a:ea typeface="华光仿宋二_CNKI" panose="02000500000000000000" pitchFamily="2" charset="-122"/>
                  </a:rPr>
                  <a:t>+1,</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+0.5)=a(</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+1)+b(</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+0.5)+c</a:t>
                </a:r>
              </a:p>
              <a:p>
                <a:pPr marL="0" indent="0">
                  <a:lnSpc>
                    <a:spcPct val="150000"/>
                  </a:lnSpc>
                  <a:buNone/>
                </a:pPr>
                <a:r>
                  <a:rPr lang="zh-CN" altLang="en-US" sz="3200" b="1" dirty="0">
                    <a:solidFill>
                      <a:srgbClr val="C00000"/>
                    </a:solidFill>
                  </a:rPr>
                  <a:t>算法：中点画线法</a:t>
                </a:r>
                <a:endParaRPr lang="en-US" altLang="zh-CN" sz="3200" b="1" dirty="0">
                  <a:solidFill>
                    <a:srgbClr val="C00000"/>
                  </a:solidFill>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如果前一步时为</a:t>
                </a:r>
                <a:r>
                  <a:rPr lang="en-US" altLang="zh-CN" dirty="0">
                    <a:latin typeface="华光仿宋二_CNKI" panose="02000500000000000000" pitchFamily="2" charset="-122"/>
                    <a:ea typeface="华光仿宋二_CNKI" panose="02000500000000000000" pitchFamily="2" charset="-122"/>
                  </a:rPr>
                  <a:t>d</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二_CNKI" panose="02000500000000000000" pitchFamily="2" charset="-122"/>
                    <a:ea typeface="华光仿宋二_CNKI" panose="02000500000000000000" pitchFamily="2" charset="-122"/>
                  </a:rPr>
                  <a:t>0</a:t>
                </a:r>
                <a:r>
                  <a:rPr lang="zh-CN" altLang="en-US" dirty="0">
                    <a:latin typeface="华光仿宋二_CNKI" panose="02000500000000000000" pitchFamily="2" charset="-122"/>
                    <a:ea typeface="华光仿宋二_CNKI" panose="02000500000000000000" pitchFamily="2" charset="-122"/>
                  </a:rPr>
                  <a:t>，因此取</a:t>
                </a:r>
                <a:r>
                  <a:rPr lang="en-US" altLang="zh-CN" dirty="0">
                    <a:latin typeface="华光仿宋二_CNKI" panose="02000500000000000000" pitchFamily="2" charset="-122"/>
                    <a:ea typeface="华光仿宋二_CNKI" panose="02000500000000000000" pitchFamily="2" charset="-122"/>
                  </a:rPr>
                  <a:t>P1(</a:t>
                </a:r>
                <a:r>
                  <a:rPr lang="en-US" altLang="zh-CN" dirty="0">
                    <a:ea typeface="华光仿宋二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二_CNKI" panose="02000500000000000000" pitchFamily="2" charset="-122"/>
                          </a:rPr>
                        </m:ctrlPr>
                      </m:sSubPr>
                      <m:e>
                        <m:r>
                          <a:rPr lang="en-US" altLang="zh-CN">
                            <a:latin typeface="Cambria Math" panose="02040503050406030204" pitchFamily="18" charset="0"/>
                            <a:ea typeface="华光仿宋二_CNKI" panose="02000500000000000000" pitchFamily="2" charset="-122"/>
                          </a:rPr>
                          <m:t>𝑥</m:t>
                        </m:r>
                      </m:e>
                      <m:sub>
                        <m:r>
                          <a:rPr lang="en-US" altLang="zh-CN">
                            <a:latin typeface="Cambria Math" panose="02040503050406030204" pitchFamily="18" charset="0"/>
                            <a:ea typeface="华光仿宋二_CNKI" panose="02000500000000000000" pitchFamily="2" charset="-122"/>
                          </a:rPr>
                          <m:t>𝑖</m:t>
                        </m:r>
                      </m:sub>
                    </m:sSub>
                  </m:oMath>
                </a14:m>
                <a:r>
                  <a:rPr lang="en-US" altLang="zh-CN" dirty="0">
                    <a:latin typeface="华光仿宋二_CNKI" panose="02000500000000000000" pitchFamily="2" charset="-122"/>
                    <a:ea typeface="华光仿宋二_CNKI" panose="02000500000000000000" pitchFamily="2" charset="-122"/>
                  </a:rPr>
                  <a:t>+1,</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oMath>
                </a14:m>
                <a:r>
                  <a:rPr lang="en-US" altLang="zh-CN" dirty="0">
                    <a:latin typeface="华光仿宋二_CNKI" panose="02000500000000000000" pitchFamily="2" charset="-122"/>
                    <a:ea typeface="华光仿宋二_CNKI" panose="02000500000000000000" pitchFamily="2" charset="-122"/>
                  </a:rPr>
                  <a:t>)</a:t>
                </a:r>
                <a:r>
                  <a:rPr lang="zh-CN" altLang="en-US" dirty="0">
                    <a:latin typeface="华光仿宋二_CNKI" panose="02000500000000000000" pitchFamily="2" charset="-122"/>
                    <a:ea typeface="华光仿宋二_CNKI" panose="02000500000000000000" pitchFamily="2" charset="-122"/>
                  </a:rPr>
                  <a:t>点作为绘制的点</a:t>
                </a:r>
                <a:r>
                  <a:rPr lang="en-US" altLang="zh-CN" dirty="0">
                    <a:latin typeface="华光仿宋二_CNKI" panose="02000500000000000000" pitchFamily="2" charset="-122"/>
                    <a:ea typeface="华光仿宋二_CNKI" panose="02000500000000000000" pitchFamily="2" charset="-122"/>
                  </a:rPr>
                  <a:t>,</a:t>
                </a:r>
                <a:r>
                  <a:rPr lang="zh-CN" altLang="en-US" dirty="0">
                    <a:latin typeface="华光仿宋二_CNKI" panose="02000500000000000000" pitchFamily="2" charset="-122"/>
                    <a:ea typeface="华光仿宋二_CNKI" panose="02000500000000000000" pitchFamily="2" charset="-122"/>
                  </a:rPr>
                  <a:t>则下一步取的点的坐标值</a:t>
                </a:r>
                <a14:m>
                  <m:oMath xmlns:m="http://schemas.openxmlformats.org/officeDocument/2006/math">
                    <m:r>
                      <a:rPr lang="zh-CN" altLang="en-US" i="1">
                        <a:latin typeface="Cambria Math" panose="02040503050406030204" pitchFamily="18" charset="0"/>
                        <a:ea typeface="华光仿宋二_CNKI" panose="02000500000000000000" pitchFamily="2" charset="-122"/>
                      </a:rPr>
                      <m:t>为</m:t>
                    </m:r>
                    <m:r>
                      <a:rPr lang="zh-CN" altLang="en-US" i="1" dirty="0">
                        <a:latin typeface="Cambria Math" panose="02040503050406030204" pitchFamily="18" charset="0"/>
                        <a:ea typeface="华光仿宋二_CNKI" panose="02000500000000000000" pitchFamily="2" charset="-122"/>
                      </a:rPr>
                      <m:t>（</m:t>
                    </m:r>
                    <m:sSub>
                      <m:sSubPr>
                        <m:ctrlPr>
                          <a:rPr lang="en-US" altLang="zh-CN" i="1">
                            <a:latin typeface="Cambria Math" panose="02040503050406030204" pitchFamily="18" charset="0"/>
                            <a:ea typeface="华光仿宋二_CNKI" panose="02000500000000000000" pitchFamily="2" charset="-122"/>
                          </a:rPr>
                        </m:ctrlPr>
                      </m:sSubPr>
                      <m:e>
                        <m:r>
                          <a:rPr lang="en-US" altLang="zh-CN">
                            <a:latin typeface="Cambria Math" panose="02040503050406030204" pitchFamily="18" charset="0"/>
                            <a:ea typeface="华光仿宋二_CNKI" panose="02000500000000000000" pitchFamily="2" charset="-122"/>
                          </a:rPr>
                          <m:t>𝑥</m:t>
                        </m:r>
                      </m:e>
                      <m:sub>
                        <m:r>
                          <a:rPr lang="en-US" altLang="zh-CN">
                            <a:latin typeface="Cambria Math" panose="02040503050406030204" pitchFamily="18" charset="0"/>
                            <a:ea typeface="华光仿宋二_CNKI" panose="02000500000000000000" pitchFamily="2" charset="-122"/>
                          </a:rPr>
                          <m:t>𝑖</m:t>
                        </m:r>
                      </m:sub>
                    </m:sSub>
                  </m:oMath>
                </a14:m>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 </a:t>
                </a:r>
                <a:r>
                  <a:rPr lang="zh-CN" altLang="en-US" dirty="0">
                    <a:latin typeface="华光仿宋二_CNKI" panose="02000500000000000000" pitchFamily="2" charset="-122"/>
                    <a:ea typeface="华光仿宋二_CNKI" panose="02000500000000000000" pitchFamily="2" charset="-122"/>
                  </a:rPr>
                  <a:t>因此有：</a:t>
                </a:r>
                <a:endParaRPr lang="en-US" altLang="zh-CN" dirty="0">
                  <a:latin typeface="华光仿宋二_CNKI" panose="02000500000000000000" pitchFamily="2" charset="-122"/>
                  <a:ea typeface="华光仿宋二_CNKI" panose="02000500000000000000" pitchFamily="2" charset="-122"/>
                </a:endParaRPr>
              </a:p>
            </p:txBody>
          </p:sp>
        </mc:Choice>
        <mc:Fallback xmlns="">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38199" y="620201"/>
                <a:ext cx="10810461" cy="5287619"/>
              </a:xfrm>
              <a:blipFill>
                <a:blip r:embed="rId2"/>
                <a:stretch>
                  <a:fillRect l="-1409" r="-23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3205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0248" y="483041"/>
                <a:ext cx="10722998" cy="5891917"/>
              </a:xfrm>
            </p:spPr>
            <p:txBody>
              <a:bodyPr>
                <a:normAutofit/>
              </a:bodyPr>
              <a:lstStyle/>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=F(</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sz="2800"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2</a:t>
                </a:r>
                <a:r>
                  <a:rPr lang="en-US" altLang="zh-CN" sz="2800"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+0.5)=a(</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+2)+b(</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+0.5)+c=</a:t>
                </a:r>
                <a:r>
                  <a:rPr lang="en-US" altLang="zh-CN" dirty="0" err="1">
                    <a:latin typeface="华光仿宋二_CNKI" panose="02000500000000000000" pitchFamily="2" charset="-122"/>
                    <a:ea typeface="华光仿宋二_CNKI" panose="02000500000000000000" pitchFamily="2" charset="-122"/>
                  </a:rPr>
                  <a:t>d+a</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对于</a:t>
                </a:r>
                <a:r>
                  <a:rPr lang="en-US" altLang="zh-CN" dirty="0">
                    <a:latin typeface="华光仿宋二_CNKI" panose="02000500000000000000" pitchFamily="2" charset="-122"/>
                    <a:ea typeface="华光仿宋二_CNKI" panose="02000500000000000000" pitchFamily="2" charset="-122"/>
                  </a:rPr>
                  <a:t>d</a:t>
                </a:r>
                <a14:m>
                  <m:oMath xmlns:m="http://schemas.openxmlformats.org/officeDocument/2006/math">
                    <m:r>
                      <a:rPr lang="en-US" altLang="zh-CN" b="0" i="1" smtClean="0">
                        <a:latin typeface="Cambria Math" panose="02040503050406030204" pitchFamily="18" charset="0"/>
                        <a:ea typeface="华光仿宋二_CNKI" panose="02000500000000000000" pitchFamily="2" charset="-122"/>
                      </a:rPr>
                      <m:t>&lt;</m:t>
                    </m:r>
                  </m:oMath>
                </a14:m>
                <a:r>
                  <a:rPr lang="en-US" altLang="zh-CN" dirty="0">
                    <a:latin typeface="华光仿宋二_CNKI" panose="02000500000000000000" pitchFamily="2" charset="-122"/>
                    <a:ea typeface="华光仿宋二_CNKI" panose="02000500000000000000" pitchFamily="2" charset="-122"/>
                  </a:rPr>
                  <a:t>0</a:t>
                </a:r>
                <a:r>
                  <a:rPr lang="zh-CN" altLang="en-US" dirty="0">
                    <a:latin typeface="华光仿宋二_CNKI" panose="02000500000000000000" pitchFamily="2" charset="-122"/>
                    <a:ea typeface="华光仿宋二_CNKI" panose="02000500000000000000" pitchFamily="2" charset="-122"/>
                  </a:rPr>
                  <a:t>时，取</a:t>
                </a:r>
                <a:r>
                  <a:rPr lang="en-US" altLang="zh-CN" dirty="0">
                    <a:latin typeface="华光仿宋二_CNKI" panose="02000500000000000000" pitchFamily="2" charset="-122"/>
                    <a:ea typeface="华光仿宋二_CNKI" panose="02000500000000000000" pitchFamily="2" charset="-122"/>
                  </a:rPr>
                  <a:t>P2(</a:t>
                </a:r>
                <a14:m>
                  <m:oMath xmlns:m="http://schemas.openxmlformats.org/officeDocument/2006/math">
                    <m:sSub>
                      <m:sSubPr>
                        <m:ctrlPr>
                          <a:rPr lang="en-US" altLang="zh-CN" i="1">
                            <a:latin typeface="Cambria Math" panose="02040503050406030204" pitchFamily="18" charset="0"/>
                            <a:ea typeface="华光仿宋二_CNKI" panose="02000500000000000000" pitchFamily="2" charset="-122"/>
                          </a:rPr>
                        </m:ctrlPr>
                      </m:sSubPr>
                      <m:e>
                        <m:r>
                          <a:rPr lang="en-US" altLang="zh-CN">
                            <a:latin typeface="Cambria Math" panose="02040503050406030204" pitchFamily="18" charset="0"/>
                            <a:ea typeface="华光仿宋二_CNKI" panose="02000500000000000000" pitchFamily="2" charset="-122"/>
                          </a:rPr>
                          <m:t>𝑥</m:t>
                        </m:r>
                      </m:e>
                      <m:sub>
                        <m:r>
                          <a:rPr lang="en-US" altLang="zh-CN">
                            <a:latin typeface="Cambria Math" panose="02040503050406030204" pitchFamily="18" charset="0"/>
                            <a:ea typeface="华光仿宋二_CNKI" panose="02000500000000000000" pitchFamily="2" charset="-122"/>
                          </a:rPr>
                          <m:t>𝑖</m:t>
                        </m:r>
                      </m:sub>
                    </m:sSub>
                  </m:oMath>
                </a14:m>
                <a:r>
                  <a:rPr lang="en-US" altLang="zh-CN" dirty="0">
                    <a:latin typeface="华光仿宋二_CNKI" panose="02000500000000000000" pitchFamily="2" charset="-122"/>
                    <a:ea typeface="华光仿宋二_CNKI" panose="02000500000000000000" pitchFamily="2" charset="-122"/>
                  </a:rPr>
                  <a:t>+1,</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oMath>
                </a14:m>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点为绘制的点</a:t>
                </a:r>
                <a:r>
                  <a:rPr lang="en-US" altLang="zh-CN" dirty="0">
                    <a:latin typeface="华光仿宋二_CNKI" panose="02000500000000000000" pitchFamily="2" charset="-122"/>
                    <a:ea typeface="华光仿宋二_CNKI" panose="02000500000000000000" pitchFamily="2" charset="-122"/>
                  </a:rPr>
                  <a:t>,</a:t>
                </a:r>
                <a:r>
                  <a:rPr lang="zh-CN" altLang="en-US" dirty="0">
                    <a:latin typeface="华光仿宋二_CNKI" panose="02000500000000000000" pitchFamily="2" charset="-122"/>
                    <a:ea typeface="华光仿宋二_CNKI" panose="02000500000000000000" pitchFamily="2" charset="-122"/>
                  </a:rPr>
                  <a:t>则下一步应该取的点的坐标值</a:t>
                </a:r>
                <a14:m>
                  <m:oMath xmlns:m="http://schemas.openxmlformats.org/officeDocument/2006/math">
                    <m:r>
                      <a:rPr lang="zh-CN" altLang="en-US" i="1">
                        <a:latin typeface="Cambria Math" panose="02040503050406030204" pitchFamily="18" charset="0"/>
                        <a:ea typeface="华光仿宋二_CNKI" panose="02000500000000000000" pitchFamily="2" charset="-122"/>
                      </a:rPr>
                      <m:t>为</m:t>
                    </m:r>
                    <m:r>
                      <a:rPr lang="zh-CN" altLang="en-US" i="1" dirty="0">
                        <a:latin typeface="Cambria Math" panose="02040503050406030204" pitchFamily="18" charset="0"/>
                        <a:ea typeface="华光仿宋二_CNKI" panose="02000500000000000000" pitchFamily="2" charset="-122"/>
                      </a:rPr>
                      <m:t>（</m:t>
                    </m:r>
                    <m:sSub>
                      <m:sSubPr>
                        <m:ctrlPr>
                          <a:rPr lang="en-US" altLang="zh-CN" i="1">
                            <a:latin typeface="Cambria Math" panose="02040503050406030204" pitchFamily="18" charset="0"/>
                            <a:ea typeface="华光仿宋二_CNKI" panose="02000500000000000000" pitchFamily="2" charset="-122"/>
                          </a:rPr>
                        </m:ctrlPr>
                      </m:sSubPr>
                      <m:e>
                        <m:r>
                          <a:rPr lang="en-US" altLang="zh-CN">
                            <a:latin typeface="Cambria Math" panose="02040503050406030204" pitchFamily="18" charset="0"/>
                            <a:ea typeface="华光仿宋二_CNKI" panose="02000500000000000000" pitchFamily="2" charset="-122"/>
                          </a:rPr>
                          <m:t>𝑥</m:t>
                        </m:r>
                      </m:e>
                      <m:sub>
                        <m:r>
                          <a:rPr lang="en-US" altLang="zh-CN">
                            <a:latin typeface="Cambria Math" panose="02040503050406030204" pitchFamily="18" charset="0"/>
                            <a:ea typeface="华光仿宋二_CNKI" panose="02000500000000000000" pitchFamily="2" charset="-122"/>
                          </a:rPr>
                          <m:t>𝑖</m:t>
                        </m:r>
                      </m:sub>
                    </m:sSub>
                  </m:oMath>
                </a14:m>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+1.5), </a:t>
                </a:r>
                <a:r>
                  <a:rPr lang="zh-CN" altLang="en-US" dirty="0">
                    <a:latin typeface="华光仿宋二_CNKI" panose="02000500000000000000" pitchFamily="2" charset="-122"/>
                    <a:ea typeface="华光仿宋二_CNKI" panose="02000500000000000000" pitchFamily="2" charset="-122"/>
                  </a:rPr>
                  <a:t>因此有：</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2</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=F(</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sz="2800"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2</a:t>
                </a:r>
                <a:r>
                  <a:rPr lang="en-US" altLang="zh-CN" sz="2800"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+1.5)=a(</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+2)+b(</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𝑖</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+1.5)+c=</a:t>
                </a:r>
                <a:r>
                  <a:rPr lang="en-US" altLang="zh-CN" dirty="0" err="1">
                    <a:latin typeface="华光仿宋二_CNKI" panose="02000500000000000000" pitchFamily="2" charset="-122"/>
                    <a:ea typeface="华光仿宋二_CNKI" panose="02000500000000000000" pitchFamily="2" charset="-122"/>
                  </a:rPr>
                  <a:t>d+a+b</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如果绘制直线是从起点开始，</a:t>
                </a:r>
                <a14:m>
                  <m:oMath xmlns:m="http://schemas.openxmlformats.org/officeDocument/2006/math">
                    <m:r>
                      <a:rPr lang="zh-CN" altLang="en-US" i="1" dirty="0">
                        <a:latin typeface="Cambria Math" panose="02040503050406030204" pitchFamily="18" charset="0"/>
                        <a:ea typeface="华光仿宋_CNKI" panose="02000500000000000000" pitchFamily="2" charset="-122"/>
                      </a:rPr>
                      <m:t>且</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0</m:t>
                        </m:r>
                      </m:sub>
                    </m:sSub>
                  </m:oMath>
                </a14:m>
                <a:r>
                  <a:rPr lang="zh-CN" altLang="en-US" dirty="0">
                    <a:latin typeface="华光仿宋二_CNKI" panose="02000500000000000000" pitchFamily="2" charset="-122"/>
                    <a:ea typeface="华光仿宋二_CNKI" panose="02000500000000000000" pitchFamily="2" charset="-122"/>
                  </a:rPr>
                  <a:t>为设备坐标的值且是线段的起点，则</a:t>
                </a:r>
                <a:r>
                  <a:rPr lang="en-US" altLang="zh-CN" dirty="0">
                    <a:latin typeface="华光仿宋二_CNKI" panose="02000500000000000000" pitchFamily="2" charset="-122"/>
                    <a:ea typeface="华光仿宋二_CNKI" panose="02000500000000000000" pitchFamily="2" charset="-122"/>
                  </a:rPr>
                  <a:t>F(</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a:t>
                </a:r>
                <a:r>
                  <a:rPr lang="zh-CN" altLang="en-US" dirty="0">
                    <a:latin typeface="华光仿宋二_CNKI" panose="02000500000000000000" pitchFamily="2" charset="-122"/>
                    <a:ea typeface="华光仿宋二_CNKI" panose="02000500000000000000" pitchFamily="2" charset="-122"/>
                  </a:rPr>
                  <a:t>，显然对应的第一个像素的取值应该为：</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=F(</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sz="2800"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1</a:t>
                </a:r>
                <a:r>
                  <a:rPr lang="en-US" altLang="zh-CN" sz="2800"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+0.5)=a(</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+1)+b(</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+0.5)+c=F(</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)+a+0.5b=a+0.5b</a:t>
                </a:r>
              </a:p>
            </p:txBody>
          </p:sp>
        </mc:Choice>
        <mc:Fallback xmlns="">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30248" y="483041"/>
                <a:ext cx="10722998" cy="5891917"/>
              </a:xfrm>
              <a:blipFill>
                <a:blip r:embed="rId2"/>
                <a:stretch>
                  <a:fillRect l="-1137" r="-5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4852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4143-04AF-C2E5-FC3A-7C651891E99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CF39B41-4EF2-739D-9D57-2848598FEAFC}"/>
                  </a:ext>
                </a:extLst>
              </p:cNvPr>
              <p:cNvSpPr>
                <a:spLocks noGrp="1"/>
              </p:cNvSpPr>
              <p:nvPr>
                <p:ph idx="1"/>
              </p:nvPr>
            </p:nvSpPr>
            <p:spPr>
              <a:xfrm>
                <a:off x="734501" y="228599"/>
                <a:ext cx="10722998" cy="6323276"/>
              </a:xfrm>
            </p:spPr>
            <p:txBody>
              <a:bodyPr>
                <a:normAutofit fontScale="92500" lnSpcReduction="10000"/>
              </a:bodyPr>
              <a:lstStyle/>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为便于计算，可以将所有的误差放大</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倍，这样不会导致误差的正负发生改变。这样</a:t>
                </a:r>
                <a:r>
                  <a:rPr lang="en-US" altLang="zh-CN" dirty="0">
                    <a:latin typeface="华光仿宋二_CNKI" panose="02000500000000000000" pitchFamily="2" charset="-122"/>
                    <a:ea typeface="华光仿宋二_CNKI" panose="02000500000000000000" pitchFamily="2" charset="-122"/>
                  </a:rPr>
                  <a:t>:</a:t>
                </a: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zh-CN" altLang="en-US" dirty="0">
                    <a:latin typeface="华光仿宋二_CNKI" panose="02000500000000000000" pitchFamily="2" charset="-122"/>
                    <a:ea typeface="华光仿宋二_CNKI" panose="02000500000000000000" pitchFamily="2" charset="-122"/>
                  </a:rPr>
                  <a:t>变成</a:t>
                </a:r>
                <a:r>
                  <a:rPr lang="en-US" altLang="zh-CN" dirty="0">
                    <a:latin typeface="华光仿宋二_CNKI" panose="02000500000000000000" pitchFamily="2" charset="-122"/>
                    <a:ea typeface="华光仿宋二_CNKI" panose="02000500000000000000" pitchFamily="2" charset="-122"/>
                  </a:rPr>
                  <a:t>2</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𝑑</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zh-CN" altLang="en-US" dirty="0">
                    <a:latin typeface="华光仿宋二_CNKI" panose="02000500000000000000" pitchFamily="2" charset="-122"/>
                    <a:ea typeface="华光仿宋二_CNKI" panose="02000500000000000000" pitchFamily="2" charset="-122"/>
                  </a:rPr>
                  <a:t>，其误差的初始值为：</a:t>
                </a:r>
                <a:r>
                  <a:rPr lang="en-US" altLang="zh-CN" dirty="0">
                    <a:latin typeface="华光仿宋二_CNKI" panose="02000500000000000000" pitchFamily="2" charset="-122"/>
                    <a:ea typeface="华光仿宋二_CNKI" panose="02000500000000000000" pitchFamily="2" charset="-122"/>
                  </a:rPr>
                  <a:t> 2a+b</a:t>
                </a:r>
                <a:r>
                  <a:rPr lang="zh-CN" altLang="en-US" dirty="0">
                    <a:latin typeface="华光仿宋二_CNKI" panose="02000500000000000000" pitchFamily="2" charset="-122"/>
                    <a:ea typeface="华光仿宋二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1</m:t>
                        </m:r>
                      </m:sub>
                    </m:sSub>
                  </m:oMath>
                </a14:m>
                <a:r>
                  <a:rPr lang="zh-CN" altLang="en-US" dirty="0">
                    <a:latin typeface="华光仿宋二_CNKI" panose="02000500000000000000" pitchFamily="2" charset="-122"/>
                    <a:ea typeface="华光仿宋二_CNKI" panose="02000500000000000000" pitchFamily="2" charset="-122"/>
                  </a:rPr>
                  <a:t>变成</a:t>
                </a:r>
                <a:r>
                  <a:rPr lang="en-US" altLang="zh-CN" dirty="0">
                    <a:latin typeface="华光仿宋二_CNKI" panose="02000500000000000000" pitchFamily="2" charset="-122"/>
                    <a:ea typeface="华光仿宋二_CNKI" panose="02000500000000000000" pitchFamily="2" charset="-122"/>
                  </a:rPr>
                  <a:t>2</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𝑑</m:t>
                        </m:r>
                      </m:e>
                      <m:sub>
                        <m:r>
                          <a:rPr lang="en-US" altLang="zh-CN" i="1">
                            <a:latin typeface="Cambria Math" panose="02040503050406030204" pitchFamily="18" charset="0"/>
                            <a:ea typeface="华光仿宋_CNKI" panose="02000500000000000000" pitchFamily="2" charset="-122"/>
                          </a:rPr>
                          <m:t>1</m:t>
                        </m:r>
                      </m:sub>
                    </m:sSub>
                  </m:oMath>
                </a14:m>
                <a:r>
                  <a:rPr lang="zh-CN" altLang="en-US" dirty="0">
                    <a:latin typeface="华光仿宋二_CNKI" panose="02000500000000000000" pitchFamily="2" charset="-122"/>
                    <a:ea typeface="华光仿宋二_CNKI" panose="02000500000000000000" pitchFamily="2" charset="-122"/>
                  </a:rPr>
                  <a:t>，其误差变成：</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𝑑</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+2a,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2</m:t>
                        </m:r>
                      </m:sub>
                    </m:sSub>
                  </m:oMath>
                </a14:m>
                <a:r>
                  <a:rPr lang="zh-CN" altLang="en-US" dirty="0">
                    <a:latin typeface="华光仿宋二_CNKI" panose="02000500000000000000" pitchFamily="2" charset="-122"/>
                    <a:ea typeface="华光仿宋二_CNKI" panose="02000500000000000000" pitchFamily="2" charset="-122"/>
                  </a:rPr>
                  <a:t>变成</a:t>
                </a:r>
                <a:r>
                  <a:rPr lang="en-US" altLang="zh-CN" dirty="0">
                    <a:latin typeface="华光仿宋二_CNKI" panose="02000500000000000000" pitchFamily="2" charset="-122"/>
                    <a:ea typeface="华光仿宋二_CNKI" panose="02000500000000000000" pitchFamily="2" charset="-122"/>
                  </a:rPr>
                  <a:t>2</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𝑑</m:t>
                        </m:r>
                      </m:e>
                      <m:sub>
                        <m:r>
                          <a:rPr lang="en-US" altLang="zh-CN" b="0" i="1" smtClean="0">
                            <a:latin typeface="Cambria Math" panose="02040503050406030204" pitchFamily="18" charset="0"/>
                            <a:ea typeface="华光仿宋_CNKI" panose="02000500000000000000" pitchFamily="2" charset="-122"/>
                          </a:rPr>
                          <m:t>2</m:t>
                        </m:r>
                      </m:sub>
                    </m:sSub>
                  </m:oMath>
                </a14:m>
                <a:r>
                  <a:rPr lang="zh-CN" altLang="en-US" dirty="0">
                    <a:latin typeface="华光仿宋二_CNKI" panose="02000500000000000000" pitchFamily="2" charset="-122"/>
                    <a:ea typeface="华光仿宋二_CNKI" panose="02000500000000000000" pitchFamily="2" charset="-122"/>
                  </a:rPr>
                  <a:t>，其误差变成：</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𝑑</m:t>
                        </m:r>
                      </m:e>
                      <m:sub>
                        <m:r>
                          <a:rPr lang="en-US" altLang="zh-CN" i="1">
                            <a:latin typeface="Cambria Math" panose="02040503050406030204" pitchFamily="18" charset="0"/>
                            <a:ea typeface="华光仿宋_CNKI" panose="02000500000000000000" pitchFamily="2" charset="-122"/>
                          </a:rPr>
                          <m:t>0</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二_CNKI" panose="02000500000000000000" pitchFamily="2" charset="-122"/>
                    <a:ea typeface="华光仿宋二_CNKI" panose="02000500000000000000" pitchFamily="2" charset="-122"/>
                  </a:rPr>
                  <a:t>+2(</a:t>
                </a:r>
                <a:r>
                  <a:rPr lang="en-US" altLang="zh-CN" dirty="0" err="1">
                    <a:latin typeface="华光仿宋二_CNKI" panose="02000500000000000000" pitchFamily="2" charset="-122"/>
                    <a:ea typeface="华光仿宋二_CNKI" panose="02000500000000000000" pitchFamily="2" charset="-122"/>
                  </a:rPr>
                  <a:t>a+b</a:t>
                </a:r>
                <a:r>
                  <a:rPr lang="en-US" altLang="zh-CN" dirty="0">
                    <a:latin typeface="华光仿宋二_CNKI" panose="02000500000000000000" pitchFamily="2" charset="-122"/>
                    <a:ea typeface="华光仿宋二_CNKI" panose="02000500000000000000" pitchFamily="2" charset="-122"/>
                  </a:rPr>
                  <a:t>)</a:t>
                </a:r>
                <a:r>
                  <a:rPr lang="zh-CN" altLang="en-US" dirty="0">
                    <a:latin typeface="华光仿宋二_CNKI" panose="02000500000000000000" pitchFamily="2" charset="-122"/>
                    <a:ea typeface="华光仿宋二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0</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m</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的情况下，算法的初值为：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1</m:t>
                        </m:r>
                      </m:sub>
                    </m:sSub>
                  </m:oMath>
                </a14:m>
                <a:r>
                  <a:rPr lang="en-US" altLang="zh-CN" dirty="0">
                    <a:latin typeface="华光仿宋_CNKI" panose="02000500000000000000" pitchFamily="2" charset="-122"/>
                    <a:ea typeface="华光仿宋_CNKI" panose="02000500000000000000" pitchFamily="2" charset="-122"/>
                  </a:rPr>
                  <a:t>, b=</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 c=</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0</m:t>
                        </m:r>
                      </m:sub>
                    </m:sSub>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1</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1</m:t>
                        </m:r>
                      </m:sub>
                    </m:sSub>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 d=2a+b, delta1=2a, delata2 =2(</a:t>
                </a:r>
                <a:r>
                  <a:rPr lang="en-US" altLang="zh-CN" dirty="0" err="1">
                    <a:latin typeface="华光仿宋_CNKI" panose="02000500000000000000" pitchFamily="2" charset="-122"/>
                    <a:ea typeface="华光仿宋_CNKI" panose="02000500000000000000" pitchFamily="2" charset="-122"/>
                  </a:rPr>
                  <a:t>a+b</a:t>
                </a:r>
                <a:r>
                  <a:rPr lang="en-US" altLang="zh-CN" dirty="0">
                    <a:latin typeface="华光仿宋_CNKI" panose="02000500000000000000" pitchFamily="2" charset="-122"/>
                    <a:ea typeface="华光仿宋_CNKI" panose="02000500000000000000" pitchFamily="2" charset="-122"/>
                  </a:rPr>
                  <a:t>), x=x0,y=y0</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如果</a:t>
                </a:r>
                <a:r>
                  <a:rPr lang="en-US" altLang="zh-CN" dirty="0">
                    <a:latin typeface="华光仿宋二_CNKI" panose="02000500000000000000" pitchFamily="2" charset="-122"/>
                    <a:ea typeface="华光仿宋二_CNKI" panose="02000500000000000000" pitchFamily="2" charset="-122"/>
                  </a:rPr>
                  <a:t>x&lt;x2,</a:t>
                </a:r>
                <a:r>
                  <a:rPr lang="zh-CN" altLang="en-US" dirty="0">
                    <a:latin typeface="华光仿宋二_CNKI" panose="02000500000000000000" pitchFamily="2" charset="-122"/>
                    <a:ea typeface="华光仿宋二_CNKI" panose="02000500000000000000" pitchFamily="2" charset="-122"/>
                  </a:rPr>
                  <a:t>且</a:t>
                </a:r>
                <a:r>
                  <a:rPr lang="en-US" altLang="zh-CN" dirty="0">
                    <a:latin typeface="华光仿宋二_CNKI" panose="02000500000000000000" pitchFamily="2" charset="-122"/>
                    <a:ea typeface="华光仿宋二_CNKI" panose="02000500000000000000" pitchFamily="2" charset="-122"/>
                  </a:rPr>
                  <a:t>d&lt;0,</a:t>
                </a:r>
                <a:r>
                  <a:rPr lang="zh-CN" altLang="en-US" dirty="0">
                    <a:latin typeface="华光仿宋二_CNKI" panose="02000500000000000000" pitchFamily="2" charset="-122"/>
                    <a:ea typeface="华光仿宋二_CNKI" panose="02000500000000000000" pitchFamily="2" charset="-122"/>
                  </a:rPr>
                  <a:t>则</a:t>
                </a:r>
                <a:r>
                  <a:rPr lang="en-US" altLang="zh-CN" dirty="0">
                    <a:latin typeface="华光仿宋二_CNKI" panose="02000500000000000000" pitchFamily="2" charset="-122"/>
                    <a:ea typeface="华光仿宋二_CNKI" panose="02000500000000000000" pitchFamily="2" charset="-122"/>
                  </a:rPr>
                  <a:t>x=x+1,y=y+1,d=d+delta2; </a:t>
                </a:r>
                <a:r>
                  <a:rPr lang="zh-CN" altLang="en-US" dirty="0">
                    <a:latin typeface="华光仿宋二_CNKI" panose="02000500000000000000" pitchFamily="2" charset="-122"/>
                    <a:ea typeface="华光仿宋二_CNKI" panose="02000500000000000000" pitchFamily="2" charset="-122"/>
                  </a:rPr>
                  <a:t>如果</a:t>
                </a:r>
                <a:r>
                  <a:rPr lang="en-US" altLang="zh-CN" dirty="0">
                    <a:latin typeface="华光仿宋二_CNKI" panose="02000500000000000000" pitchFamily="2" charset="-122"/>
                    <a:ea typeface="华光仿宋二_CNKI" panose="02000500000000000000" pitchFamily="2" charset="-122"/>
                  </a:rPr>
                  <a:t>x&lt;x2,</a:t>
                </a:r>
                <a:r>
                  <a:rPr lang="zh-CN" altLang="en-US" dirty="0">
                    <a:latin typeface="华光仿宋二_CNKI" panose="02000500000000000000" pitchFamily="2" charset="-122"/>
                    <a:ea typeface="华光仿宋二_CNKI" panose="02000500000000000000" pitchFamily="2" charset="-122"/>
                  </a:rPr>
                  <a:t>且</a:t>
                </a:r>
                <a:r>
                  <a:rPr lang="en-US" altLang="zh-CN" dirty="0">
                    <a:latin typeface="华光仿宋二_CNKI" panose="02000500000000000000" pitchFamily="2" charset="-122"/>
                    <a:ea typeface="华光仿宋二_CNKI" panose="02000500000000000000" pitchFamily="2" charset="-122"/>
                  </a:rPr>
                  <a:t>d&gt;=0,</a:t>
                </a:r>
                <a:r>
                  <a:rPr lang="zh-CN" altLang="en-US" dirty="0">
                    <a:latin typeface="华光仿宋二_CNKI" panose="02000500000000000000" pitchFamily="2" charset="-122"/>
                    <a:ea typeface="华光仿宋二_CNKI" panose="02000500000000000000" pitchFamily="2" charset="-122"/>
                  </a:rPr>
                  <a:t>则</a:t>
                </a:r>
                <a:r>
                  <a:rPr lang="en-US" altLang="zh-CN" dirty="0">
                    <a:latin typeface="华光仿宋二_CNKI" panose="02000500000000000000" pitchFamily="2" charset="-122"/>
                    <a:ea typeface="华光仿宋二_CNKI" panose="02000500000000000000" pitchFamily="2" charset="-122"/>
                  </a:rPr>
                  <a:t>x=x+1, d=d+delta1</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 </a:t>
                </a:r>
              </a:p>
            </p:txBody>
          </p:sp>
        </mc:Choice>
        <mc:Fallback xmlns="">
          <p:sp>
            <p:nvSpPr>
              <p:cNvPr id="3" name="内容占位符 2">
                <a:extLst>
                  <a:ext uri="{FF2B5EF4-FFF2-40B4-BE49-F238E27FC236}">
                    <a16:creationId xmlns:a16="http://schemas.microsoft.com/office/drawing/2014/main" id="{DCF39B41-4EF2-739D-9D57-2848598FEAFC}"/>
                  </a:ext>
                </a:extLst>
              </p:cNvPr>
              <p:cNvSpPr>
                <a:spLocks noGrp="1" noRot="1" noChangeAspect="1" noMove="1" noResize="1" noEditPoints="1" noAdjustHandles="1" noChangeArrowheads="1" noChangeShapeType="1" noTextEdit="1"/>
              </p:cNvSpPr>
              <p:nvPr>
                <p:ph idx="1"/>
              </p:nvPr>
            </p:nvSpPr>
            <p:spPr>
              <a:xfrm>
                <a:off x="734501" y="228599"/>
                <a:ext cx="10722998" cy="6323276"/>
              </a:xfrm>
              <a:blipFill>
                <a:blip r:embed="rId2"/>
                <a:stretch>
                  <a:fillRect l="-1023" b="-7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1311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82649" y="618667"/>
                <a:ext cx="6523976" cy="5899869"/>
              </a:xfrm>
            </p:spPr>
            <p:txBody>
              <a:bodyPr>
                <a:normAutofit fontScale="92500" lnSpcReduction="10000"/>
              </a:bodyPr>
              <a:lstStyle/>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sz="2600" dirty="0">
                    <a:latin typeface="华光仿宋二_CNKI" panose="02000500000000000000" pitchFamily="2" charset="-122"/>
                    <a:ea typeface="华光仿宋二_CNKI" panose="02000500000000000000" pitchFamily="2" charset="-122"/>
                  </a:rPr>
                  <a:t>这样</a:t>
                </a:r>
                <a14:m>
                  <m:oMath xmlns:m="http://schemas.openxmlformats.org/officeDocument/2006/math">
                    <m:sSub>
                      <m:sSubPr>
                        <m:ctrlPr>
                          <a:rPr lang="en-US" altLang="zh-CN" sz="2600" i="1">
                            <a:latin typeface="Cambria Math" panose="02040503050406030204" pitchFamily="18" charset="0"/>
                            <a:ea typeface="华光仿宋二_CNKI" panose="02000500000000000000" pitchFamily="2" charset="-122"/>
                          </a:rPr>
                        </m:ctrlPr>
                      </m:sSubPr>
                      <m:e>
                        <m:r>
                          <a:rPr lang="en-US" altLang="zh-CN" sz="2600">
                            <a:latin typeface="Cambria Math" panose="02040503050406030204" pitchFamily="18" charset="0"/>
                            <a:ea typeface="华光仿宋二_CNKI" panose="02000500000000000000" pitchFamily="2" charset="-122"/>
                          </a:rPr>
                          <m:t>𝑑</m:t>
                        </m:r>
                      </m:e>
                      <m:sub>
                        <m:r>
                          <a:rPr lang="en-US" altLang="zh-CN" sz="2600">
                            <a:latin typeface="Cambria Math" panose="02040503050406030204" pitchFamily="18" charset="0"/>
                            <a:ea typeface="华光仿宋二_CNKI" panose="02000500000000000000" pitchFamily="2" charset="-122"/>
                          </a:rPr>
                          <m:t>1</m:t>
                        </m:r>
                      </m:sub>
                    </m:sSub>
                    <m:r>
                      <a:rPr lang="en-US" altLang="zh-CN" sz="2600">
                        <a:latin typeface="Cambria Math" panose="02040503050406030204" pitchFamily="18" charset="0"/>
                        <a:ea typeface="华光仿宋二_CNKI" panose="02000500000000000000" pitchFamily="2" charset="-122"/>
                      </a:rPr>
                      <m:t>,</m:t>
                    </m:r>
                  </m:oMath>
                </a14:m>
                <a:r>
                  <a:rPr lang="en-US" altLang="zh-CN" sz="2600" dirty="0">
                    <a:latin typeface="华光仿宋二_CNKI" panose="02000500000000000000" pitchFamily="2" charset="-122"/>
                    <a:ea typeface="华光仿宋二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二_CNKI" panose="02000500000000000000" pitchFamily="2" charset="-122"/>
                          </a:rPr>
                        </m:ctrlPr>
                      </m:sSubPr>
                      <m:e>
                        <m:r>
                          <a:rPr lang="en-US" altLang="zh-CN" sz="2600">
                            <a:latin typeface="Cambria Math" panose="02040503050406030204" pitchFamily="18" charset="0"/>
                            <a:ea typeface="华光仿宋二_CNKI" panose="02000500000000000000" pitchFamily="2" charset="-122"/>
                          </a:rPr>
                          <m:t>𝑑</m:t>
                        </m:r>
                      </m:e>
                      <m:sub>
                        <m:r>
                          <a:rPr lang="en-US" altLang="zh-CN" sz="2600">
                            <a:latin typeface="Cambria Math" panose="02040503050406030204" pitchFamily="18" charset="0"/>
                            <a:ea typeface="华光仿宋二_CNKI" panose="02000500000000000000" pitchFamily="2" charset="-122"/>
                          </a:rPr>
                          <m:t>2</m:t>
                        </m:r>
                      </m:sub>
                    </m:sSub>
                  </m:oMath>
                </a14:m>
                <a:r>
                  <a:rPr lang="zh-CN" altLang="en-US" sz="2600" dirty="0">
                    <a:latin typeface="华光仿宋二_CNKI" panose="02000500000000000000" pitchFamily="2" charset="-122"/>
                    <a:ea typeface="华光仿宋二_CNKI" panose="02000500000000000000" pitchFamily="2" charset="-122"/>
                  </a:rPr>
                  <a:t>可利用前面的计算结果以及初始值递推求得</a:t>
                </a:r>
                <a:r>
                  <a:rPr lang="en-US" altLang="zh-CN" sz="2600" dirty="0">
                    <a:latin typeface="华光仿宋二_CNKI" panose="02000500000000000000" pitchFamily="2" charset="-122"/>
                    <a:ea typeface="华光仿宋二_CNKI" panose="02000500000000000000" pitchFamily="2" charset="-122"/>
                  </a:rPr>
                  <a:t>,</a:t>
                </a:r>
                <a:r>
                  <a:rPr lang="zh-CN" altLang="en-US" sz="2600" dirty="0">
                    <a:latin typeface="华光仿宋二_CNKI" panose="02000500000000000000" pitchFamily="2" charset="-122"/>
                    <a:ea typeface="华光仿宋二_CNKI" panose="02000500000000000000" pitchFamily="2" charset="-122"/>
                  </a:rPr>
                  <a:t>并通过不断求得新的逼近于线段的待显示的点绘制出相应的线段。</a:t>
                </a:r>
                <a:endParaRPr lang="en-US" altLang="zh-CN" sz="26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2800" dirty="0">
                    <a:latin typeface="华光大标宋_CNKI" panose="02000500000000000000" pitchFamily="2" charset="-122"/>
                    <a:ea typeface="华光大标宋_CNKI" panose="02000500000000000000" pitchFamily="2" charset="-122"/>
                  </a:rPr>
                  <a:t>3.1.3 </a:t>
                </a:r>
                <a:r>
                  <a:rPr lang="en-US" altLang="zh-CN" sz="2800" dirty="0" err="1">
                    <a:latin typeface="华光大标宋_CNKI" panose="02000500000000000000" pitchFamily="2" charset="-122"/>
                    <a:ea typeface="华光大标宋_CNKI" panose="02000500000000000000" pitchFamily="2" charset="-122"/>
                  </a:rPr>
                  <a:t>Bresenham</a:t>
                </a:r>
                <a:r>
                  <a:rPr lang="zh-CN" altLang="en-US" sz="2800" dirty="0">
                    <a:latin typeface="华光大标宋_CNKI" panose="02000500000000000000" pitchFamily="2" charset="-122"/>
                    <a:ea typeface="华光大标宋_CNKI" panose="02000500000000000000" pitchFamily="2" charset="-122"/>
                  </a:rPr>
                  <a:t>画线法</a:t>
                </a:r>
                <a:endParaRPr lang="en-US" altLang="zh-CN" sz="2800"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sz="2600" dirty="0">
                    <a:latin typeface="华光仿宋二_CNKI" panose="02000500000000000000" pitchFamily="2" charset="-122"/>
                    <a:ea typeface="华光仿宋二_CNKI" panose="02000500000000000000" pitchFamily="2" charset="-122"/>
                  </a:rPr>
                  <a:t>    </a:t>
                </a:r>
                <a:r>
                  <a:rPr lang="zh-CN" altLang="en-US" sz="2600" dirty="0">
                    <a:latin typeface="华光仿宋二_CNKI" panose="02000500000000000000" pitchFamily="2" charset="-122"/>
                    <a:ea typeface="华光仿宋二_CNKI" panose="02000500000000000000" pitchFamily="2" charset="-122"/>
                  </a:rPr>
                  <a:t>该算法与中点画线法类似，只是推导过程略有不同。</a:t>
                </a:r>
                <a:endParaRPr lang="en-US" altLang="zh-CN" sz="26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2600" dirty="0">
                    <a:latin typeface="华光仿宋二_CNKI" panose="02000500000000000000" pitchFamily="2" charset="-122"/>
                    <a:ea typeface="华光仿宋二_CNKI" panose="02000500000000000000" pitchFamily="2" charset="-122"/>
                  </a:rPr>
                  <a:t>    </a:t>
                </a:r>
                <a:r>
                  <a:rPr lang="zh-CN" altLang="en-US" sz="2600" dirty="0">
                    <a:latin typeface="华光仿宋二_CNKI" panose="02000500000000000000" pitchFamily="2" charset="-122"/>
                    <a:ea typeface="华光仿宋二_CNKI" panose="02000500000000000000" pitchFamily="2" charset="-122"/>
                  </a:rPr>
                  <a:t>该算法同样每次在</a:t>
                </a:r>
                <a:r>
                  <a:rPr lang="en-US" altLang="zh-CN" sz="2600" dirty="0">
                    <a:latin typeface="华光仿宋二_CNKI" panose="02000500000000000000" pitchFamily="2" charset="-122"/>
                    <a:ea typeface="华光仿宋二_CNKI" panose="02000500000000000000" pitchFamily="2" charset="-122"/>
                  </a:rPr>
                  <a:t>X</a:t>
                </a:r>
                <a:r>
                  <a:rPr lang="zh-CN" altLang="en-US" sz="2600" dirty="0">
                    <a:latin typeface="华光仿宋二_CNKI" panose="02000500000000000000" pitchFamily="2" charset="-122"/>
                    <a:ea typeface="华光仿宋二_CNKI" panose="02000500000000000000" pitchFamily="2" charset="-122"/>
                  </a:rPr>
                  <a:t>方向上增加一个像素，但</a:t>
                </a:r>
                <a:r>
                  <a:rPr lang="en-US" altLang="zh-CN" sz="2600" dirty="0">
                    <a:latin typeface="华光仿宋二_CNKI" panose="02000500000000000000" pitchFamily="2" charset="-122"/>
                    <a:ea typeface="华光仿宋二_CNKI" panose="02000500000000000000" pitchFamily="2" charset="-122"/>
                  </a:rPr>
                  <a:t>Y</a:t>
                </a:r>
                <a:r>
                  <a:rPr lang="zh-CN" altLang="en-US" sz="2600" dirty="0">
                    <a:latin typeface="华光仿宋二_CNKI" panose="02000500000000000000" pitchFamily="2" charset="-122"/>
                    <a:ea typeface="华光仿宋二_CNKI" panose="02000500000000000000" pitchFamily="2" charset="-122"/>
                  </a:rPr>
                  <a:t>方向是否增加则看对应的像素点与直线的距离哪一个最近，选取最近的像素点作为需要绘制的点。</a:t>
                </a:r>
                <a:endParaRPr lang="en-US" altLang="zh-CN" dirty="0">
                  <a:latin typeface="华光仿宋二_CNKI" panose="02000500000000000000" pitchFamily="2" charset="-122"/>
                  <a:ea typeface="华光仿宋二_CNKI" panose="02000500000000000000" pitchFamily="2" charset="-122"/>
                </a:endParaRPr>
              </a:p>
            </p:txBody>
          </p:sp>
        </mc:Choice>
        <mc:Fallback xmlns="">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82649" y="618667"/>
                <a:ext cx="6523976" cy="5899869"/>
              </a:xfrm>
              <a:blipFill>
                <a:blip r:embed="rId2"/>
                <a:stretch>
                  <a:fillRect l="-1682" r="-1402"/>
                </a:stretch>
              </a:blipFill>
            </p:spPr>
            <p:txBody>
              <a:bodyPr/>
              <a:lstStyle/>
              <a:p>
                <a:r>
                  <a:rPr lang="zh-CN" altLang="en-US">
                    <a:noFill/>
                  </a:rPr>
                  <a:t> </a:t>
                </a:r>
              </a:p>
            </p:txBody>
          </p:sp>
        </mc:Fallback>
      </mc:AlternateContent>
      <p:grpSp>
        <p:nvGrpSpPr>
          <p:cNvPr id="4" name="Group 47">
            <a:extLst>
              <a:ext uri="{FF2B5EF4-FFF2-40B4-BE49-F238E27FC236}">
                <a16:creationId xmlns:a16="http://schemas.microsoft.com/office/drawing/2014/main" id="{4F44F96B-4905-FDD9-B58D-AB3B965DF28D}"/>
              </a:ext>
            </a:extLst>
          </p:cNvPr>
          <p:cNvGrpSpPr>
            <a:grpSpLocks/>
          </p:cNvGrpSpPr>
          <p:nvPr/>
        </p:nvGrpSpPr>
        <p:grpSpPr bwMode="auto">
          <a:xfrm>
            <a:off x="7910390" y="522505"/>
            <a:ext cx="3754167" cy="3002161"/>
            <a:chOff x="3742" y="1661"/>
            <a:chExt cx="2027" cy="2003"/>
          </a:xfrm>
        </p:grpSpPr>
        <p:sp>
          <p:nvSpPr>
            <p:cNvPr id="27" name="Line 48">
              <a:extLst>
                <a:ext uri="{FF2B5EF4-FFF2-40B4-BE49-F238E27FC236}">
                  <a16:creationId xmlns:a16="http://schemas.microsoft.com/office/drawing/2014/main" id="{D189CC49-B999-C04B-4F26-F44F6C505530}"/>
                </a:ext>
              </a:extLst>
            </p:cNvPr>
            <p:cNvSpPr>
              <a:spLocks noChangeShapeType="1"/>
            </p:cNvSpPr>
            <p:nvPr/>
          </p:nvSpPr>
          <p:spPr bwMode="auto">
            <a:xfrm>
              <a:off x="3742" y="1899"/>
              <a:ext cx="20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Line 49">
              <a:extLst>
                <a:ext uri="{FF2B5EF4-FFF2-40B4-BE49-F238E27FC236}">
                  <a16:creationId xmlns:a16="http://schemas.microsoft.com/office/drawing/2014/main" id="{82528A10-00C7-DB1E-FB42-A512432782A1}"/>
                </a:ext>
              </a:extLst>
            </p:cNvPr>
            <p:cNvSpPr>
              <a:spLocks noChangeShapeType="1"/>
            </p:cNvSpPr>
            <p:nvPr/>
          </p:nvSpPr>
          <p:spPr bwMode="auto">
            <a:xfrm>
              <a:off x="3742" y="2375"/>
              <a:ext cx="20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50">
              <a:extLst>
                <a:ext uri="{FF2B5EF4-FFF2-40B4-BE49-F238E27FC236}">
                  <a16:creationId xmlns:a16="http://schemas.microsoft.com/office/drawing/2014/main" id="{6E4EE850-CDB3-29E2-7741-3A3BAC8BBE07}"/>
                </a:ext>
              </a:extLst>
            </p:cNvPr>
            <p:cNvSpPr>
              <a:spLocks noChangeShapeType="1"/>
            </p:cNvSpPr>
            <p:nvPr/>
          </p:nvSpPr>
          <p:spPr bwMode="auto">
            <a:xfrm flipV="1">
              <a:off x="3751" y="2849"/>
              <a:ext cx="20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51">
              <a:extLst>
                <a:ext uri="{FF2B5EF4-FFF2-40B4-BE49-F238E27FC236}">
                  <a16:creationId xmlns:a16="http://schemas.microsoft.com/office/drawing/2014/main" id="{AD9136F4-451C-F7AE-F4B5-F2939D6F33A5}"/>
                </a:ext>
              </a:extLst>
            </p:cNvPr>
            <p:cNvSpPr>
              <a:spLocks noChangeShapeType="1"/>
            </p:cNvSpPr>
            <p:nvPr/>
          </p:nvSpPr>
          <p:spPr bwMode="auto">
            <a:xfrm>
              <a:off x="3775" y="3338"/>
              <a:ext cx="1985"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52">
              <a:extLst>
                <a:ext uri="{FF2B5EF4-FFF2-40B4-BE49-F238E27FC236}">
                  <a16:creationId xmlns:a16="http://schemas.microsoft.com/office/drawing/2014/main" id="{A68684F7-5224-9D44-9EA3-533255676304}"/>
                </a:ext>
              </a:extLst>
            </p:cNvPr>
            <p:cNvSpPr>
              <a:spLocks noChangeShapeType="1"/>
            </p:cNvSpPr>
            <p:nvPr/>
          </p:nvSpPr>
          <p:spPr bwMode="auto">
            <a:xfrm>
              <a:off x="4040" y="1661"/>
              <a:ext cx="0" cy="1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53">
              <a:extLst>
                <a:ext uri="{FF2B5EF4-FFF2-40B4-BE49-F238E27FC236}">
                  <a16:creationId xmlns:a16="http://schemas.microsoft.com/office/drawing/2014/main" id="{B997D340-E393-5EB8-193B-2119E8C9ED78}"/>
                </a:ext>
              </a:extLst>
            </p:cNvPr>
            <p:cNvSpPr>
              <a:spLocks noChangeShapeType="1"/>
            </p:cNvSpPr>
            <p:nvPr/>
          </p:nvSpPr>
          <p:spPr bwMode="auto">
            <a:xfrm>
              <a:off x="4537" y="1661"/>
              <a:ext cx="0" cy="1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54">
              <a:extLst>
                <a:ext uri="{FF2B5EF4-FFF2-40B4-BE49-F238E27FC236}">
                  <a16:creationId xmlns:a16="http://schemas.microsoft.com/office/drawing/2014/main" id="{53673604-53F1-E3F6-203F-0A3F5A11FE42}"/>
                </a:ext>
              </a:extLst>
            </p:cNvPr>
            <p:cNvSpPr>
              <a:spLocks noChangeShapeType="1"/>
            </p:cNvSpPr>
            <p:nvPr/>
          </p:nvSpPr>
          <p:spPr bwMode="auto">
            <a:xfrm>
              <a:off x="5013" y="1661"/>
              <a:ext cx="0" cy="1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55">
              <a:extLst>
                <a:ext uri="{FF2B5EF4-FFF2-40B4-BE49-F238E27FC236}">
                  <a16:creationId xmlns:a16="http://schemas.microsoft.com/office/drawing/2014/main" id="{8C41B92E-3FE5-5AC2-D84A-59F23529A10C}"/>
                </a:ext>
              </a:extLst>
            </p:cNvPr>
            <p:cNvSpPr>
              <a:spLocks noChangeShapeType="1"/>
            </p:cNvSpPr>
            <p:nvPr/>
          </p:nvSpPr>
          <p:spPr bwMode="auto">
            <a:xfrm>
              <a:off x="5491" y="1661"/>
              <a:ext cx="0" cy="1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56">
              <a:extLst>
                <a:ext uri="{FF2B5EF4-FFF2-40B4-BE49-F238E27FC236}">
                  <a16:creationId xmlns:a16="http://schemas.microsoft.com/office/drawing/2014/main" id="{5B757414-D4B7-289A-D5FE-95962C2C6A43}"/>
                </a:ext>
              </a:extLst>
            </p:cNvPr>
            <p:cNvSpPr>
              <a:spLocks noChangeShapeType="1"/>
            </p:cNvSpPr>
            <p:nvPr/>
          </p:nvSpPr>
          <p:spPr bwMode="auto">
            <a:xfrm flipV="1">
              <a:off x="3829" y="2205"/>
              <a:ext cx="1931" cy="1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Oval 57">
              <a:extLst>
                <a:ext uri="{FF2B5EF4-FFF2-40B4-BE49-F238E27FC236}">
                  <a16:creationId xmlns:a16="http://schemas.microsoft.com/office/drawing/2014/main" id="{6815BCCA-6AA7-C96C-87CD-6BB0E6729409}"/>
                </a:ext>
              </a:extLst>
            </p:cNvPr>
            <p:cNvSpPr>
              <a:spLocks noChangeArrowheads="1"/>
            </p:cNvSpPr>
            <p:nvPr/>
          </p:nvSpPr>
          <p:spPr bwMode="auto">
            <a:xfrm>
              <a:off x="4521" y="2994"/>
              <a:ext cx="33" cy="3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Oval 58">
              <a:extLst>
                <a:ext uri="{FF2B5EF4-FFF2-40B4-BE49-F238E27FC236}">
                  <a16:creationId xmlns:a16="http://schemas.microsoft.com/office/drawing/2014/main" id="{002591E1-177B-36F4-D913-6F8EA96A854C}"/>
                </a:ext>
              </a:extLst>
            </p:cNvPr>
            <p:cNvSpPr>
              <a:spLocks noChangeArrowheads="1"/>
            </p:cNvSpPr>
            <p:nvPr/>
          </p:nvSpPr>
          <p:spPr bwMode="auto">
            <a:xfrm>
              <a:off x="4521" y="2836"/>
              <a:ext cx="33" cy="34"/>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59">
              <a:extLst>
                <a:ext uri="{FF2B5EF4-FFF2-40B4-BE49-F238E27FC236}">
                  <a16:creationId xmlns:a16="http://schemas.microsoft.com/office/drawing/2014/main" id="{4489B2E9-64DD-E084-7514-CA346A2651BA}"/>
                </a:ext>
              </a:extLst>
            </p:cNvPr>
            <p:cNvSpPr>
              <a:spLocks noChangeArrowheads="1"/>
            </p:cNvSpPr>
            <p:nvPr/>
          </p:nvSpPr>
          <p:spPr bwMode="auto">
            <a:xfrm>
              <a:off x="4997" y="2836"/>
              <a:ext cx="32" cy="34"/>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Oval 60">
              <a:extLst>
                <a:ext uri="{FF2B5EF4-FFF2-40B4-BE49-F238E27FC236}">
                  <a16:creationId xmlns:a16="http://schemas.microsoft.com/office/drawing/2014/main" id="{F942A4A9-D324-B280-6CF3-8A9FA08F54EE}"/>
                </a:ext>
              </a:extLst>
            </p:cNvPr>
            <p:cNvSpPr>
              <a:spLocks noChangeArrowheads="1"/>
            </p:cNvSpPr>
            <p:nvPr/>
          </p:nvSpPr>
          <p:spPr bwMode="auto">
            <a:xfrm>
              <a:off x="5480" y="2364"/>
              <a:ext cx="35" cy="34"/>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61">
              <a:extLst>
                <a:ext uri="{FF2B5EF4-FFF2-40B4-BE49-F238E27FC236}">
                  <a16:creationId xmlns:a16="http://schemas.microsoft.com/office/drawing/2014/main" id="{7D46B609-FBD3-5298-2D18-50174817AB1C}"/>
                </a:ext>
              </a:extLst>
            </p:cNvPr>
            <p:cNvSpPr>
              <a:spLocks noChangeArrowheads="1"/>
            </p:cNvSpPr>
            <p:nvPr/>
          </p:nvSpPr>
          <p:spPr bwMode="auto">
            <a:xfrm>
              <a:off x="4029" y="3327"/>
              <a:ext cx="33" cy="34"/>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62">
              <a:extLst>
                <a:ext uri="{FF2B5EF4-FFF2-40B4-BE49-F238E27FC236}">
                  <a16:creationId xmlns:a16="http://schemas.microsoft.com/office/drawing/2014/main" id="{01C86850-BCCA-F4CB-B91F-9E7C8702937D}"/>
                </a:ext>
              </a:extLst>
            </p:cNvPr>
            <p:cNvSpPr>
              <a:spLocks noChangeShapeType="1"/>
            </p:cNvSpPr>
            <p:nvPr/>
          </p:nvSpPr>
          <p:spPr bwMode="auto">
            <a:xfrm>
              <a:off x="4537" y="3132"/>
              <a:ext cx="3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63">
              <a:extLst>
                <a:ext uri="{FF2B5EF4-FFF2-40B4-BE49-F238E27FC236}">
                  <a16:creationId xmlns:a16="http://schemas.microsoft.com/office/drawing/2014/main" id="{8D4FE028-3596-DBF7-4054-4021F04A2212}"/>
                </a:ext>
              </a:extLst>
            </p:cNvPr>
            <p:cNvSpPr>
              <a:spLocks noChangeShapeType="1"/>
            </p:cNvSpPr>
            <p:nvPr/>
          </p:nvSpPr>
          <p:spPr bwMode="auto">
            <a:xfrm>
              <a:off x="4980" y="2620"/>
              <a:ext cx="6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64">
              <a:extLst>
                <a:ext uri="{FF2B5EF4-FFF2-40B4-BE49-F238E27FC236}">
                  <a16:creationId xmlns:a16="http://schemas.microsoft.com/office/drawing/2014/main" id="{A5E729F8-CDD4-7F7A-922E-2A0BAC5A8B7A}"/>
                </a:ext>
              </a:extLst>
            </p:cNvPr>
            <p:cNvSpPr>
              <a:spLocks noChangeShapeType="1"/>
            </p:cNvSpPr>
            <p:nvPr/>
          </p:nvSpPr>
          <p:spPr bwMode="auto">
            <a:xfrm>
              <a:off x="4503" y="3132"/>
              <a:ext cx="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 Box 65">
              <a:extLst>
                <a:ext uri="{FF2B5EF4-FFF2-40B4-BE49-F238E27FC236}">
                  <a16:creationId xmlns:a16="http://schemas.microsoft.com/office/drawing/2014/main" id="{FA01EF54-B881-9A04-9EB9-449BC06D83C5}"/>
                </a:ext>
              </a:extLst>
            </p:cNvPr>
            <p:cNvSpPr txBox="1">
              <a:spLocks noChangeArrowheads="1"/>
            </p:cNvSpPr>
            <p:nvPr/>
          </p:nvSpPr>
          <p:spPr bwMode="auto">
            <a:xfrm>
              <a:off x="4592" y="3038"/>
              <a:ext cx="378"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latin typeface="Times New Roman" panose="02020603050405020304" pitchFamily="18" charset="0"/>
                </a:rPr>
                <a:t>e</a:t>
              </a:r>
            </a:p>
          </p:txBody>
        </p:sp>
        <p:sp>
          <p:nvSpPr>
            <p:cNvPr id="45" name="Text Box 66">
              <a:extLst>
                <a:ext uri="{FF2B5EF4-FFF2-40B4-BE49-F238E27FC236}">
                  <a16:creationId xmlns:a16="http://schemas.microsoft.com/office/drawing/2014/main" id="{4059C408-7ABE-3E3B-6B7B-74C278DD756B}"/>
                </a:ext>
              </a:extLst>
            </p:cNvPr>
            <p:cNvSpPr txBox="1">
              <a:spLocks noChangeArrowheads="1"/>
            </p:cNvSpPr>
            <p:nvPr/>
          </p:nvSpPr>
          <p:spPr bwMode="auto">
            <a:xfrm>
              <a:off x="4263" y="3320"/>
              <a:ext cx="350"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dirty="0">
                  <a:latin typeface="Times New Roman" panose="02020603050405020304" pitchFamily="18" charset="0"/>
                </a:rPr>
                <a:t>P</a:t>
              </a:r>
              <a:r>
                <a:rPr kumimoji="1" lang="en-US" altLang="zh-CN" sz="2000" baseline="-25000" dirty="0">
                  <a:latin typeface="Times New Roman" panose="02020603050405020304" pitchFamily="18" charset="0"/>
                </a:rPr>
                <a:t>0</a:t>
              </a:r>
            </a:p>
          </p:txBody>
        </p:sp>
        <p:sp>
          <p:nvSpPr>
            <p:cNvPr id="46" name="Text Box 67">
              <a:extLst>
                <a:ext uri="{FF2B5EF4-FFF2-40B4-BE49-F238E27FC236}">
                  <a16:creationId xmlns:a16="http://schemas.microsoft.com/office/drawing/2014/main" id="{784553C3-EFEA-9B91-E942-2ABA427B1407}"/>
                </a:ext>
              </a:extLst>
            </p:cNvPr>
            <p:cNvSpPr txBox="1">
              <a:spLocks noChangeArrowheads="1"/>
            </p:cNvSpPr>
            <p:nvPr/>
          </p:nvSpPr>
          <p:spPr bwMode="auto">
            <a:xfrm flipH="1">
              <a:off x="4558" y="2620"/>
              <a:ext cx="846"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a:spcBef>
                  <a:spcPct val="50000"/>
                </a:spcBef>
              </a:pPr>
              <a:r>
                <a:rPr kumimoji="1" lang="en-US" altLang="zh-CN" sz="2000" dirty="0">
                  <a:latin typeface="Times New Roman" panose="02020603050405020304" pitchFamily="18" charset="0"/>
                </a:rPr>
                <a:t>P</a:t>
              </a:r>
              <a:r>
                <a:rPr kumimoji="1" lang="en-US" altLang="zh-CN" sz="2000" baseline="-25000" dirty="0">
                  <a:latin typeface="Times New Roman" panose="02020603050405020304" pitchFamily="18" charset="0"/>
                </a:rPr>
                <a:t>2</a:t>
              </a:r>
            </a:p>
          </p:txBody>
        </p:sp>
        <p:sp>
          <p:nvSpPr>
            <p:cNvPr id="47" name="Text Box 68">
              <a:extLst>
                <a:ext uri="{FF2B5EF4-FFF2-40B4-BE49-F238E27FC236}">
                  <a16:creationId xmlns:a16="http://schemas.microsoft.com/office/drawing/2014/main" id="{B6899FE5-D71F-A335-9DB4-82F9E1CC32C6}"/>
                </a:ext>
              </a:extLst>
            </p:cNvPr>
            <p:cNvSpPr txBox="1">
              <a:spLocks noChangeArrowheads="1"/>
            </p:cNvSpPr>
            <p:nvPr/>
          </p:nvSpPr>
          <p:spPr bwMode="auto">
            <a:xfrm>
              <a:off x="3849" y="3371"/>
              <a:ext cx="248"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latin typeface="Times New Roman" panose="02020603050405020304" pitchFamily="18" charset="0"/>
                </a:rPr>
                <a:t>P</a:t>
              </a:r>
            </a:p>
          </p:txBody>
        </p:sp>
        <p:sp>
          <p:nvSpPr>
            <p:cNvPr id="48" name="Oval 69">
              <a:extLst>
                <a:ext uri="{FF2B5EF4-FFF2-40B4-BE49-F238E27FC236}">
                  <a16:creationId xmlns:a16="http://schemas.microsoft.com/office/drawing/2014/main" id="{3EFFF79D-48A3-9110-E6F0-EC8F6F04ED13}"/>
                </a:ext>
              </a:extLst>
            </p:cNvPr>
            <p:cNvSpPr>
              <a:spLocks noChangeArrowheads="1"/>
            </p:cNvSpPr>
            <p:nvPr/>
          </p:nvSpPr>
          <p:spPr bwMode="auto">
            <a:xfrm>
              <a:off x="4521" y="3327"/>
              <a:ext cx="33" cy="34"/>
            </a:xfrm>
            <a:prstGeom prst="ellipse">
              <a:avLst/>
            </a:prstGeom>
            <a:solidFill>
              <a:schemeClr val="accent1"/>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70">
              <a:extLst>
                <a:ext uri="{FF2B5EF4-FFF2-40B4-BE49-F238E27FC236}">
                  <a16:creationId xmlns:a16="http://schemas.microsoft.com/office/drawing/2014/main" id="{DC2599C2-9835-FBD8-D7BA-BD5D784B726B}"/>
                </a:ext>
              </a:extLst>
            </p:cNvPr>
            <p:cNvSpPr>
              <a:spLocks noChangeShapeType="1"/>
            </p:cNvSpPr>
            <p:nvPr/>
          </p:nvSpPr>
          <p:spPr bwMode="auto">
            <a:xfrm>
              <a:off x="5446" y="2632"/>
              <a:ext cx="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AutoShape 71">
              <a:extLst>
                <a:ext uri="{FF2B5EF4-FFF2-40B4-BE49-F238E27FC236}">
                  <a16:creationId xmlns:a16="http://schemas.microsoft.com/office/drawing/2014/main" id="{E1CE7EB3-C573-4CE7-0830-BE3B879DE84F}"/>
                </a:ext>
              </a:extLst>
            </p:cNvPr>
            <p:cNvSpPr>
              <a:spLocks/>
            </p:cNvSpPr>
            <p:nvPr/>
          </p:nvSpPr>
          <p:spPr bwMode="auto">
            <a:xfrm>
              <a:off x="4585" y="3026"/>
              <a:ext cx="123" cy="310"/>
            </a:xfrm>
            <a:prstGeom prst="rightBrace">
              <a:avLst>
                <a:gd name="adj1" fmla="val 21003"/>
                <a:gd name="adj2" fmla="val 50000"/>
              </a:avLst>
            </a:prstGeom>
            <a:noFill/>
            <a:ln w="381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utoShape 72">
              <a:extLst>
                <a:ext uri="{FF2B5EF4-FFF2-40B4-BE49-F238E27FC236}">
                  <a16:creationId xmlns:a16="http://schemas.microsoft.com/office/drawing/2014/main" id="{868E2E84-F94B-E2D7-D6F1-2F9D0CCF6E61}"/>
                </a:ext>
              </a:extLst>
            </p:cNvPr>
            <p:cNvSpPr>
              <a:spLocks/>
            </p:cNvSpPr>
            <p:nvPr/>
          </p:nvSpPr>
          <p:spPr bwMode="auto">
            <a:xfrm>
              <a:off x="5030" y="2668"/>
              <a:ext cx="108" cy="199"/>
            </a:xfrm>
            <a:prstGeom prst="rightBrace">
              <a:avLst>
                <a:gd name="adj1" fmla="val 15355"/>
                <a:gd name="adj2" fmla="val 50000"/>
              </a:avLst>
            </a:prstGeom>
            <a:noFill/>
            <a:ln w="381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AutoShape 73">
              <a:extLst>
                <a:ext uri="{FF2B5EF4-FFF2-40B4-BE49-F238E27FC236}">
                  <a16:creationId xmlns:a16="http://schemas.microsoft.com/office/drawing/2014/main" id="{72A5EC95-F639-8868-74CA-DAFEECA19525}"/>
                </a:ext>
              </a:extLst>
            </p:cNvPr>
            <p:cNvSpPr>
              <a:spLocks/>
            </p:cNvSpPr>
            <p:nvPr/>
          </p:nvSpPr>
          <p:spPr bwMode="auto">
            <a:xfrm>
              <a:off x="5284" y="2614"/>
              <a:ext cx="109" cy="725"/>
            </a:xfrm>
            <a:prstGeom prst="rightBrace">
              <a:avLst>
                <a:gd name="adj1" fmla="val 55428"/>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Text Box 74">
              <a:extLst>
                <a:ext uri="{FF2B5EF4-FFF2-40B4-BE49-F238E27FC236}">
                  <a16:creationId xmlns:a16="http://schemas.microsoft.com/office/drawing/2014/main" id="{C9A458FE-F563-AF19-4BB4-150432873E7F}"/>
                </a:ext>
              </a:extLst>
            </p:cNvPr>
            <p:cNvSpPr txBox="1">
              <a:spLocks noChangeArrowheads="1"/>
            </p:cNvSpPr>
            <p:nvPr/>
          </p:nvSpPr>
          <p:spPr bwMode="auto">
            <a:xfrm>
              <a:off x="5029" y="2642"/>
              <a:ext cx="377"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latin typeface="Times New Roman" panose="02020603050405020304" pitchFamily="18" charset="0"/>
                </a:rPr>
                <a:t>e</a:t>
              </a:r>
              <a:r>
                <a:rPr kumimoji="1" lang="en-US" altLang="zh-CN" sz="2400"/>
                <a:t>’</a:t>
              </a:r>
            </a:p>
          </p:txBody>
        </p:sp>
      </p:grpSp>
      <p:grpSp>
        <p:nvGrpSpPr>
          <p:cNvPr id="5" name="Group 75">
            <a:extLst>
              <a:ext uri="{FF2B5EF4-FFF2-40B4-BE49-F238E27FC236}">
                <a16:creationId xmlns:a16="http://schemas.microsoft.com/office/drawing/2014/main" id="{DD791519-5D29-2B90-A7F7-B9521DC78A27}"/>
              </a:ext>
            </a:extLst>
          </p:cNvPr>
          <p:cNvGrpSpPr>
            <a:grpSpLocks/>
          </p:cNvGrpSpPr>
          <p:nvPr/>
        </p:nvGrpSpPr>
        <p:grpSpPr bwMode="auto">
          <a:xfrm>
            <a:off x="8047177" y="3903869"/>
            <a:ext cx="2854056" cy="2413723"/>
            <a:chOff x="3696" y="2628"/>
            <a:chExt cx="1860" cy="1573"/>
          </a:xfrm>
        </p:grpSpPr>
        <p:sp>
          <p:nvSpPr>
            <p:cNvPr id="6" name="Line 76">
              <a:extLst>
                <a:ext uri="{FF2B5EF4-FFF2-40B4-BE49-F238E27FC236}">
                  <a16:creationId xmlns:a16="http://schemas.microsoft.com/office/drawing/2014/main" id="{BC7950D9-1C2D-A5B5-9E95-D75BDA93AFA5}"/>
                </a:ext>
              </a:extLst>
            </p:cNvPr>
            <p:cNvSpPr>
              <a:spLocks noChangeShapeType="1"/>
            </p:cNvSpPr>
            <p:nvPr/>
          </p:nvSpPr>
          <p:spPr bwMode="auto">
            <a:xfrm>
              <a:off x="3696" y="3385"/>
              <a:ext cx="17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77">
              <a:extLst>
                <a:ext uri="{FF2B5EF4-FFF2-40B4-BE49-F238E27FC236}">
                  <a16:creationId xmlns:a16="http://schemas.microsoft.com/office/drawing/2014/main" id="{64739009-6468-E119-B89E-3F6810078BCF}"/>
                </a:ext>
              </a:extLst>
            </p:cNvPr>
            <p:cNvSpPr>
              <a:spLocks noChangeShapeType="1"/>
            </p:cNvSpPr>
            <p:nvPr/>
          </p:nvSpPr>
          <p:spPr bwMode="auto">
            <a:xfrm>
              <a:off x="3725" y="3945"/>
              <a:ext cx="17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78">
              <a:extLst>
                <a:ext uri="{FF2B5EF4-FFF2-40B4-BE49-F238E27FC236}">
                  <a16:creationId xmlns:a16="http://schemas.microsoft.com/office/drawing/2014/main" id="{DCBCF41E-9170-5C73-963E-475939826B32}"/>
                </a:ext>
              </a:extLst>
            </p:cNvPr>
            <p:cNvSpPr>
              <a:spLocks noChangeShapeType="1"/>
            </p:cNvSpPr>
            <p:nvPr/>
          </p:nvSpPr>
          <p:spPr bwMode="auto">
            <a:xfrm>
              <a:off x="3956" y="2628"/>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79">
              <a:extLst>
                <a:ext uri="{FF2B5EF4-FFF2-40B4-BE49-F238E27FC236}">
                  <a16:creationId xmlns:a16="http://schemas.microsoft.com/office/drawing/2014/main" id="{22B69F6B-EDDA-821C-33DC-DF84A61AC121}"/>
                </a:ext>
              </a:extLst>
            </p:cNvPr>
            <p:cNvSpPr>
              <a:spLocks noChangeShapeType="1"/>
            </p:cNvSpPr>
            <p:nvPr/>
          </p:nvSpPr>
          <p:spPr bwMode="auto">
            <a:xfrm>
              <a:off x="4558" y="2628"/>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80">
              <a:extLst>
                <a:ext uri="{FF2B5EF4-FFF2-40B4-BE49-F238E27FC236}">
                  <a16:creationId xmlns:a16="http://schemas.microsoft.com/office/drawing/2014/main" id="{C221180A-8C0B-C85A-E9AE-61CF78F6E707}"/>
                </a:ext>
              </a:extLst>
            </p:cNvPr>
            <p:cNvSpPr>
              <a:spLocks noChangeShapeType="1"/>
            </p:cNvSpPr>
            <p:nvPr/>
          </p:nvSpPr>
          <p:spPr bwMode="auto">
            <a:xfrm>
              <a:off x="5148" y="2628"/>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81">
              <a:extLst>
                <a:ext uri="{FF2B5EF4-FFF2-40B4-BE49-F238E27FC236}">
                  <a16:creationId xmlns:a16="http://schemas.microsoft.com/office/drawing/2014/main" id="{61284C66-5E27-2B00-16B5-5245B1A4F723}"/>
                </a:ext>
              </a:extLst>
            </p:cNvPr>
            <p:cNvSpPr>
              <a:spLocks noChangeShapeType="1"/>
            </p:cNvSpPr>
            <p:nvPr/>
          </p:nvSpPr>
          <p:spPr bwMode="auto">
            <a:xfrm flipV="1">
              <a:off x="3772" y="3385"/>
              <a:ext cx="1784" cy="6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Oval 82">
              <a:extLst>
                <a:ext uri="{FF2B5EF4-FFF2-40B4-BE49-F238E27FC236}">
                  <a16:creationId xmlns:a16="http://schemas.microsoft.com/office/drawing/2014/main" id="{B3B9B183-73AF-88DC-2822-18B79AC723B1}"/>
                </a:ext>
              </a:extLst>
            </p:cNvPr>
            <p:cNvSpPr>
              <a:spLocks noChangeArrowheads="1"/>
            </p:cNvSpPr>
            <p:nvPr/>
          </p:nvSpPr>
          <p:spPr bwMode="auto">
            <a:xfrm>
              <a:off x="4549" y="3721"/>
              <a:ext cx="29"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83">
              <a:extLst>
                <a:ext uri="{FF2B5EF4-FFF2-40B4-BE49-F238E27FC236}">
                  <a16:creationId xmlns:a16="http://schemas.microsoft.com/office/drawing/2014/main" id="{23503D6B-8AA1-E367-5BCD-22B448E0042D}"/>
                </a:ext>
              </a:extLst>
            </p:cNvPr>
            <p:cNvSpPr>
              <a:spLocks noChangeArrowheads="1"/>
            </p:cNvSpPr>
            <p:nvPr/>
          </p:nvSpPr>
          <p:spPr bwMode="auto">
            <a:xfrm>
              <a:off x="4547" y="3930"/>
              <a:ext cx="29" cy="2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84">
              <a:extLst>
                <a:ext uri="{FF2B5EF4-FFF2-40B4-BE49-F238E27FC236}">
                  <a16:creationId xmlns:a16="http://schemas.microsoft.com/office/drawing/2014/main" id="{D7C7CE5F-1B70-4581-D6F9-AE8FE264F4AF}"/>
                </a:ext>
              </a:extLst>
            </p:cNvPr>
            <p:cNvSpPr>
              <a:spLocks noChangeArrowheads="1"/>
            </p:cNvSpPr>
            <p:nvPr/>
          </p:nvSpPr>
          <p:spPr bwMode="auto">
            <a:xfrm>
              <a:off x="5130" y="3929"/>
              <a:ext cx="30" cy="27"/>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85">
              <a:extLst>
                <a:ext uri="{FF2B5EF4-FFF2-40B4-BE49-F238E27FC236}">
                  <a16:creationId xmlns:a16="http://schemas.microsoft.com/office/drawing/2014/main" id="{3E163B58-6504-6C8B-6868-F0C4C0964C15}"/>
                </a:ext>
              </a:extLst>
            </p:cNvPr>
            <p:cNvSpPr>
              <a:spLocks noChangeArrowheads="1"/>
            </p:cNvSpPr>
            <p:nvPr/>
          </p:nvSpPr>
          <p:spPr bwMode="auto">
            <a:xfrm>
              <a:off x="3946" y="3936"/>
              <a:ext cx="29" cy="27"/>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86">
              <a:extLst>
                <a:ext uri="{FF2B5EF4-FFF2-40B4-BE49-F238E27FC236}">
                  <a16:creationId xmlns:a16="http://schemas.microsoft.com/office/drawing/2014/main" id="{E1A75172-0C79-B88F-1F92-1EF0F17A4210}"/>
                </a:ext>
              </a:extLst>
            </p:cNvPr>
            <p:cNvSpPr>
              <a:spLocks noChangeShapeType="1"/>
            </p:cNvSpPr>
            <p:nvPr/>
          </p:nvSpPr>
          <p:spPr bwMode="auto">
            <a:xfrm>
              <a:off x="4531" y="3657"/>
              <a:ext cx="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87">
              <a:extLst>
                <a:ext uri="{FF2B5EF4-FFF2-40B4-BE49-F238E27FC236}">
                  <a16:creationId xmlns:a16="http://schemas.microsoft.com/office/drawing/2014/main" id="{0FACAFE5-07B4-EB91-0D72-1DF3F99F9D29}"/>
                </a:ext>
              </a:extLst>
            </p:cNvPr>
            <p:cNvSpPr txBox="1">
              <a:spLocks noChangeArrowheads="1"/>
            </p:cNvSpPr>
            <p:nvPr/>
          </p:nvSpPr>
          <p:spPr bwMode="auto">
            <a:xfrm>
              <a:off x="4465" y="3709"/>
              <a:ext cx="33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latin typeface="Times New Roman" panose="02020603050405020304" pitchFamily="18" charset="0"/>
                </a:rPr>
                <a:t>e</a:t>
              </a:r>
            </a:p>
          </p:txBody>
        </p:sp>
        <p:sp>
          <p:nvSpPr>
            <p:cNvPr id="18" name="Text Box 88">
              <a:extLst>
                <a:ext uri="{FF2B5EF4-FFF2-40B4-BE49-F238E27FC236}">
                  <a16:creationId xmlns:a16="http://schemas.microsoft.com/office/drawing/2014/main" id="{E7DC3A71-C52F-C614-02B1-35731B87AEA6}"/>
                </a:ext>
              </a:extLst>
            </p:cNvPr>
            <p:cNvSpPr txBox="1">
              <a:spLocks noChangeArrowheads="1"/>
            </p:cNvSpPr>
            <p:nvPr/>
          </p:nvSpPr>
          <p:spPr bwMode="auto">
            <a:xfrm>
              <a:off x="5009" y="3942"/>
              <a:ext cx="30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dirty="0">
                  <a:latin typeface="Times New Roman" panose="02020603050405020304" pitchFamily="18" charset="0"/>
                </a:rPr>
                <a:t>P</a:t>
              </a:r>
              <a:r>
                <a:rPr kumimoji="1" lang="en-US" altLang="zh-CN" sz="2000" baseline="-25000" dirty="0">
                  <a:latin typeface="Times New Roman" panose="02020603050405020304" pitchFamily="18" charset="0"/>
                </a:rPr>
                <a:t>1</a:t>
              </a:r>
            </a:p>
          </p:txBody>
        </p:sp>
        <p:sp>
          <p:nvSpPr>
            <p:cNvPr id="19" name="Text Box 89">
              <a:extLst>
                <a:ext uri="{FF2B5EF4-FFF2-40B4-BE49-F238E27FC236}">
                  <a16:creationId xmlns:a16="http://schemas.microsoft.com/office/drawing/2014/main" id="{FCC88643-965E-DE00-8A01-7F281A058079}"/>
                </a:ext>
              </a:extLst>
            </p:cNvPr>
            <p:cNvSpPr txBox="1">
              <a:spLocks noChangeArrowheads="1"/>
            </p:cNvSpPr>
            <p:nvPr/>
          </p:nvSpPr>
          <p:spPr bwMode="auto">
            <a:xfrm>
              <a:off x="5050" y="3164"/>
              <a:ext cx="2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dirty="0">
                  <a:latin typeface="Times New Roman" panose="02020603050405020304" pitchFamily="18" charset="0"/>
                </a:rPr>
                <a:t>P</a:t>
              </a:r>
              <a:r>
                <a:rPr kumimoji="1" lang="en-US" altLang="zh-CN" sz="2000" baseline="-25000" dirty="0">
                  <a:latin typeface="Times New Roman" panose="02020603050405020304" pitchFamily="18" charset="0"/>
                </a:rPr>
                <a:t>2</a:t>
              </a:r>
            </a:p>
          </p:txBody>
        </p:sp>
        <p:sp>
          <p:nvSpPr>
            <p:cNvPr id="20" name="Text Box 90">
              <a:extLst>
                <a:ext uri="{FF2B5EF4-FFF2-40B4-BE49-F238E27FC236}">
                  <a16:creationId xmlns:a16="http://schemas.microsoft.com/office/drawing/2014/main" id="{6B37A925-378A-6A53-677D-1C45E9AD46B3}"/>
                </a:ext>
              </a:extLst>
            </p:cNvPr>
            <p:cNvSpPr txBox="1">
              <a:spLocks noChangeArrowheads="1"/>
            </p:cNvSpPr>
            <p:nvPr/>
          </p:nvSpPr>
          <p:spPr bwMode="auto">
            <a:xfrm>
              <a:off x="3789" y="3971"/>
              <a:ext cx="217"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latin typeface="Times New Roman" panose="02020603050405020304" pitchFamily="18" charset="0"/>
                </a:rPr>
                <a:t>P</a:t>
              </a:r>
            </a:p>
          </p:txBody>
        </p:sp>
        <p:sp>
          <p:nvSpPr>
            <p:cNvPr id="21" name="Line 91">
              <a:extLst>
                <a:ext uri="{FF2B5EF4-FFF2-40B4-BE49-F238E27FC236}">
                  <a16:creationId xmlns:a16="http://schemas.microsoft.com/office/drawing/2014/main" id="{B62C8789-480A-7CC4-81FA-71412AA2D363}"/>
                </a:ext>
              </a:extLst>
            </p:cNvPr>
            <p:cNvSpPr>
              <a:spLocks noChangeShapeType="1"/>
            </p:cNvSpPr>
            <p:nvPr/>
          </p:nvSpPr>
          <p:spPr bwMode="auto">
            <a:xfrm>
              <a:off x="5121" y="3666"/>
              <a:ext cx="5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utoShape 92">
              <a:extLst>
                <a:ext uri="{FF2B5EF4-FFF2-40B4-BE49-F238E27FC236}">
                  <a16:creationId xmlns:a16="http://schemas.microsoft.com/office/drawing/2014/main" id="{3D019E5D-0C43-2E5E-EC67-6CFAEF8FD29A}"/>
                </a:ext>
              </a:extLst>
            </p:cNvPr>
            <p:cNvSpPr>
              <a:spLocks/>
            </p:cNvSpPr>
            <p:nvPr/>
          </p:nvSpPr>
          <p:spPr bwMode="auto">
            <a:xfrm>
              <a:off x="4678" y="3700"/>
              <a:ext cx="107" cy="243"/>
            </a:xfrm>
            <a:prstGeom prst="rightBrace">
              <a:avLst>
                <a:gd name="adj1" fmla="val 18925"/>
                <a:gd name="adj2" fmla="val 50000"/>
              </a:avLst>
            </a:prstGeom>
            <a:noFill/>
            <a:ln w="381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utoShape 93">
              <a:extLst>
                <a:ext uri="{FF2B5EF4-FFF2-40B4-BE49-F238E27FC236}">
                  <a16:creationId xmlns:a16="http://schemas.microsoft.com/office/drawing/2014/main" id="{AE78B6BF-8604-2580-7B60-33373C976F57}"/>
                </a:ext>
              </a:extLst>
            </p:cNvPr>
            <p:cNvSpPr>
              <a:spLocks/>
            </p:cNvSpPr>
            <p:nvPr/>
          </p:nvSpPr>
          <p:spPr bwMode="auto">
            <a:xfrm>
              <a:off x="5290" y="3494"/>
              <a:ext cx="94" cy="453"/>
            </a:xfrm>
            <a:prstGeom prst="rightBrace">
              <a:avLst>
                <a:gd name="adj1" fmla="val 40160"/>
                <a:gd name="adj2" fmla="val 50000"/>
              </a:avLst>
            </a:prstGeom>
            <a:noFill/>
            <a:ln w="3810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94">
              <a:extLst>
                <a:ext uri="{FF2B5EF4-FFF2-40B4-BE49-F238E27FC236}">
                  <a16:creationId xmlns:a16="http://schemas.microsoft.com/office/drawing/2014/main" id="{841F4D34-1658-8F50-A4D0-D38FC8391323}"/>
                </a:ext>
              </a:extLst>
            </p:cNvPr>
            <p:cNvSpPr txBox="1">
              <a:spLocks noChangeArrowheads="1"/>
            </p:cNvSpPr>
            <p:nvPr/>
          </p:nvSpPr>
          <p:spPr bwMode="auto">
            <a:xfrm>
              <a:off x="5082" y="3618"/>
              <a:ext cx="32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latin typeface="Times New Roman" panose="02020603050405020304" pitchFamily="18" charset="0"/>
                </a:rPr>
                <a:t>e</a:t>
              </a:r>
              <a:r>
                <a:rPr kumimoji="1" lang="en-US" altLang="zh-CN" sz="2400"/>
                <a:t>’</a:t>
              </a:r>
            </a:p>
          </p:txBody>
        </p:sp>
        <p:sp>
          <p:nvSpPr>
            <p:cNvPr id="25" name="Line 95">
              <a:extLst>
                <a:ext uri="{FF2B5EF4-FFF2-40B4-BE49-F238E27FC236}">
                  <a16:creationId xmlns:a16="http://schemas.microsoft.com/office/drawing/2014/main" id="{7E5ABCC4-0763-2D89-F587-946AF121E245}"/>
                </a:ext>
              </a:extLst>
            </p:cNvPr>
            <p:cNvSpPr>
              <a:spLocks noChangeShapeType="1"/>
            </p:cNvSpPr>
            <p:nvPr/>
          </p:nvSpPr>
          <p:spPr bwMode="auto">
            <a:xfrm>
              <a:off x="3696" y="2795"/>
              <a:ext cx="17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96">
              <a:extLst>
                <a:ext uri="{FF2B5EF4-FFF2-40B4-BE49-F238E27FC236}">
                  <a16:creationId xmlns:a16="http://schemas.microsoft.com/office/drawing/2014/main" id="{31B73EF5-BCEA-D619-775A-62E87FE6F37A}"/>
                </a:ext>
              </a:extLst>
            </p:cNvPr>
            <p:cNvSpPr>
              <a:spLocks noChangeShapeType="1"/>
            </p:cNvSpPr>
            <p:nvPr/>
          </p:nvSpPr>
          <p:spPr bwMode="auto">
            <a:xfrm>
              <a:off x="4558" y="3702"/>
              <a:ext cx="589" cy="0"/>
            </a:xfrm>
            <a:prstGeom prst="line">
              <a:avLst/>
            </a:prstGeom>
            <a:noFill/>
            <a:ln w="9525">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Text Box 67">
            <a:extLst>
              <a:ext uri="{FF2B5EF4-FFF2-40B4-BE49-F238E27FC236}">
                <a16:creationId xmlns:a16="http://schemas.microsoft.com/office/drawing/2014/main" id="{6518976F-91B6-B9EC-AC3C-6C6334549746}"/>
              </a:ext>
            </a:extLst>
          </p:cNvPr>
          <p:cNvSpPr txBox="1">
            <a:spLocks noChangeArrowheads="1"/>
          </p:cNvSpPr>
          <p:nvPr/>
        </p:nvSpPr>
        <p:spPr bwMode="auto">
          <a:xfrm flipH="1">
            <a:off x="9510165" y="2977592"/>
            <a:ext cx="1566860" cy="30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a:spcBef>
                <a:spcPct val="50000"/>
              </a:spcBef>
            </a:pPr>
            <a:r>
              <a:rPr kumimoji="1" lang="en-US" altLang="zh-CN" sz="2000" dirty="0">
                <a:latin typeface="Times New Roman" panose="02020603050405020304" pitchFamily="18" charset="0"/>
              </a:rPr>
              <a:t>P</a:t>
            </a:r>
            <a:r>
              <a:rPr kumimoji="1" lang="en-US" altLang="zh-CN" sz="2000" baseline="-25000" dirty="0">
                <a:latin typeface="Times New Roman" panose="02020603050405020304" pitchFamily="18" charset="0"/>
              </a:rPr>
              <a:t>1</a:t>
            </a:r>
          </a:p>
        </p:txBody>
      </p:sp>
      <p:sp>
        <p:nvSpPr>
          <p:cNvPr id="54" name="Text Box 66">
            <a:extLst>
              <a:ext uri="{FF2B5EF4-FFF2-40B4-BE49-F238E27FC236}">
                <a16:creationId xmlns:a16="http://schemas.microsoft.com/office/drawing/2014/main" id="{23819F66-5642-CEDB-B05C-951907C7312C}"/>
              </a:ext>
            </a:extLst>
          </p:cNvPr>
          <p:cNvSpPr txBox="1">
            <a:spLocks noChangeArrowheads="1"/>
          </p:cNvSpPr>
          <p:nvPr/>
        </p:nvSpPr>
        <p:spPr bwMode="auto">
          <a:xfrm>
            <a:off x="8901485" y="5904557"/>
            <a:ext cx="648228" cy="30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dirty="0">
                <a:latin typeface="Times New Roman" panose="02020603050405020304" pitchFamily="18" charset="0"/>
              </a:rPr>
              <a:t>P</a:t>
            </a:r>
            <a:r>
              <a:rPr kumimoji="1" lang="en-US" altLang="zh-CN" sz="2000" baseline="-25000" dirty="0">
                <a:latin typeface="Times New Roman" panose="02020603050405020304" pitchFamily="18" charset="0"/>
              </a:rPr>
              <a:t>0</a:t>
            </a:r>
          </a:p>
        </p:txBody>
      </p:sp>
    </p:spTree>
    <p:extLst>
      <p:ext uri="{BB962C8B-B14F-4D97-AF65-F5344CB8AC3E}">
        <p14:creationId xmlns:p14="http://schemas.microsoft.com/office/powerpoint/2010/main" val="1482084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199" y="620201"/>
                <a:ext cx="10937683" cy="5438693"/>
              </a:xfrm>
            </p:spPr>
            <p:txBody>
              <a:bodyPr>
                <a:normAutofit/>
              </a:bodyPr>
              <a:lstStyle/>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通过计算误差</a:t>
                </a:r>
                <a:r>
                  <a:rPr lang="en-US" altLang="zh-CN" dirty="0">
                    <a:latin typeface="华光仿宋二_CNKI" panose="02000500000000000000" pitchFamily="2" charset="-122"/>
                    <a:ea typeface="华光仿宋二_CNKI" panose="02000500000000000000" pitchFamily="2" charset="-122"/>
                  </a:rPr>
                  <a:t>e</a:t>
                </a:r>
                <a:r>
                  <a:rPr lang="zh-CN" altLang="en-US" dirty="0">
                    <a:latin typeface="华光仿宋二_CNKI" panose="02000500000000000000" pitchFamily="2" charset="-122"/>
                    <a:ea typeface="华光仿宋二_CNKI" panose="02000500000000000000" pitchFamily="2" charset="-122"/>
                  </a:rPr>
                  <a:t>来确定</a:t>
                </a:r>
                <a:r>
                  <a:rPr lang="en-US" altLang="zh-CN" dirty="0">
                    <a:latin typeface="华光仿宋二_CNKI" panose="02000500000000000000" pitchFamily="2" charset="-122"/>
                    <a:ea typeface="华光仿宋二_CNKI" panose="02000500000000000000" pitchFamily="2" charset="-122"/>
                  </a:rPr>
                  <a:t>Y</a:t>
                </a:r>
                <a:r>
                  <a:rPr lang="zh-CN" altLang="en-US" dirty="0">
                    <a:latin typeface="华光仿宋二_CNKI" panose="02000500000000000000" pitchFamily="2" charset="-122"/>
                    <a:ea typeface="华光仿宋二_CNKI" panose="02000500000000000000" pitchFamily="2" charset="-122"/>
                  </a:rPr>
                  <a:t>方向上是否需要加</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操作。</a:t>
                </a:r>
                <a:endParaRPr lang="en-US" altLang="zh-CN" dirty="0">
                  <a:latin typeface="华光仿宋二_CNKI" panose="02000500000000000000" pitchFamily="2" charset="-122"/>
                  <a:ea typeface="华光仿宋二_CNKI" panose="02000500000000000000" pitchFamily="2" charset="-122"/>
                </a:endParaRPr>
              </a:p>
              <a:p>
                <a:pPr marL="0" indent="0">
                  <a:lnSpc>
                    <a:spcPct val="170000"/>
                  </a:lnSpc>
                  <a:buNone/>
                </a:pPr>
                <a:r>
                  <a:rPr lang="zh-CN" altLang="en-US" sz="3800" b="1" dirty="0">
                    <a:solidFill>
                      <a:srgbClr val="C00000"/>
                    </a:solidFill>
                  </a:rPr>
                  <a:t>算法： </a:t>
                </a:r>
                <a:r>
                  <a:rPr lang="en-US" altLang="zh-CN" sz="3800" b="1" dirty="0" err="1">
                    <a:solidFill>
                      <a:srgbClr val="C00000"/>
                    </a:solidFill>
                  </a:rPr>
                  <a:t>Bresenham</a:t>
                </a:r>
                <a:r>
                  <a:rPr lang="zh-CN" altLang="en-US" sz="3800" b="1" dirty="0">
                    <a:solidFill>
                      <a:srgbClr val="C00000"/>
                    </a:solidFill>
                  </a:rPr>
                  <a:t>法</a:t>
                </a:r>
                <a:r>
                  <a:rPr lang="en-US" altLang="zh-CN" sz="3800" b="1" dirty="0">
                    <a:solidFill>
                      <a:srgbClr val="C00000"/>
                    </a:solidFill>
                  </a:rPr>
                  <a:t>   </a:t>
                </a: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当</a:t>
                </a:r>
                <a:r>
                  <a:rPr lang="en-US" altLang="zh-CN" dirty="0">
                    <a:latin typeface="华光仿宋二_CNKI" panose="02000500000000000000" pitchFamily="2" charset="-122"/>
                    <a:ea typeface="华光仿宋二_CNKI" panose="02000500000000000000" pitchFamily="2" charset="-122"/>
                  </a:rPr>
                  <a:t>0&lt;m&lt;1</a:t>
                </a:r>
                <a:r>
                  <a:rPr lang="zh-CN" altLang="en-US" dirty="0">
                    <a:latin typeface="华光仿宋二_CNKI" panose="02000500000000000000" pitchFamily="2" charset="-122"/>
                    <a:ea typeface="华光仿宋二_CNKI" panose="02000500000000000000" pitchFamily="2" charset="-122"/>
                  </a:rPr>
                  <a:t>时，设直线的起始点</a:t>
                </a:r>
                <a:r>
                  <a:rPr lang="en-US" altLang="zh-CN" dirty="0">
                    <a:latin typeface="华光仿宋二_CNKI" panose="02000500000000000000" pitchFamily="2" charset="-122"/>
                    <a:ea typeface="华光仿宋二_CNKI" panose="02000500000000000000" pitchFamily="2" charset="-122"/>
                  </a:rPr>
                  <a:t>P(</a:t>
                </a:r>
                <a14:m>
                  <m:oMath xmlns:m="http://schemas.openxmlformats.org/officeDocument/2006/math">
                    <m:sSub>
                      <m:sSubPr>
                        <m:ctrlPr>
                          <a:rPr lang="en-US" altLang="zh-CN" i="1" smtClean="0">
                            <a:latin typeface="Cambria Math" panose="02040503050406030204" pitchFamily="18" charset="0"/>
                            <a:ea typeface="华光仿宋二_CNKI" panose="02000500000000000000" pitchFamily="2" charset="-122"/>
                          </a:rPr>
                        </m:ctrlPr>
                      </m:sSubPr>
                      <m:e>
                        <m:r>
                          <a:rPr lang="en-US" altLang="zh-CN">
                            <a:latin typeface="Cambria Math" panose="02040503050406030204" pitchFamily="18" charset="0"/>
                            <a:ea typeface="华光仿宋二_CNKI" panose="02000500000000000000" pitchFamily="2" charset="-122"/>
                          </a:rPr>
                          <m:t>𝑥</m:t>
                        </m:r>
                      </m:e>
                      <m:sub>
                        <m:r>
                          <a:rPr lang="en-US" altLang="zh-CN" b="0" i="1" smtClean="0">
                            <a:latin typeface="Cambria Math" panose="02040503050406030204" pitchFamily="18" charset="0"/>
                            <a:ea typeface="华光仿宋二_CNKI" panose="02000500000000000000" pitchFamily="2" charset="-122"/>
                          </a:rPr>
                          <m:t>0</m:t>
                        </m:r>
                      </m:sub>
                    </m:sSub>
                  </m:oMath>
                </a14:m>
                <a:r>
                  <a:rPr lang="en-US" altLang="zh-CN" dirty="0">
                    <a:latin typeface="华光仿宋二_CNKI" panose="02000500000000000000" pitchFamily="2" charset="-122"/>
                    <a:ea typeface="华光仿宋二_CNKI" panose="02000500000000000000" pitchFamily="2" charset="-122"/>
                  </a:rPr>
                  <a:t>,</a:t>
                </a:r>
                <a:r>
                  <a:rPr lang="en-US" altLang="zh-CN" dirty="0">
                    <a:ea typeface="华光仿宋二_CNKI" panose="02000500000000000000" pitchFamily="2" charset="-122"/>
                  </a:rPr>
                  <a:t> </a:t>
                </a:r>
                <a14:m>
                  <m:oMath xmlns:m="http://schemas.openxmlformats.org/officeDocument/2006/math">
                    <m:sSub>
                      <m:sSubPr>
                        <m:ctrlPr>
                          <a:rPr lang="en-US" altLang="zh-CN" i="1" smtClean="0">
                            <a:latin typeface="Cambria Math" panose="02040503050406030204" pitchFamily="18" charset="0"/>
                            <a:ea typeface="华光仿宋二_CNKI" panose="02000500000000000000" pitchFamily="2" charset="-122"/>
                          </a:rPr>
                        </m:ctrlPr>
                      </m:sSubPr>
                      <m:e>
                        <m:r>
                          <a:rPr lang="en-US" altLang="zh-CN" b="0" i="1" smtClean="0">
                            <a:latin typeface="Cambria Math" panose="02040503050406030204" pitchFamily="18" charset="0"/>
                            <a:ea typeface="华光仿宋二_CNKI" panose="02000500000000000000" pitchFamily="2" charset="-122"/>
                          </a:rPr>
                          <m:t>𝑦</m:t>
                        </m:r>
                      </m:e>
                      <m:sub>
                        <m:r>
                          <a:rPr lang="en-US" altLang="zh-CN" b="0" i="1" smtClean="0">
                            <a:latin typeface="Cambria Math" panose="02040503050406030204" pitchFamily="18" charset="0"/>
                            <a:ea typeface="华光仿宋二_CNKI" panose="02000500000000000000" pitchFamily="2" charset="-122"/>
                          </a:rPr>
                          <m:t>0</m:t>
                        </m:r>
                      </m:sub>
                    </m:sSub>
                  </m:oMath>
                </a14:m>
                <a:r>
                  <a:rPr lang="en-US" altLang="zh-CN" dirty="0">
                    <a:latin typeface="华光仿宋二_CNKI" panose="02000500000000000000" pitchFamily="2" charset="-122"/>
                    <a:ea typeface="华光仿宋二_CNKI" panose="02000500000000000000" pitchFamily="2" charset="-122"/>
                  </a:rPr>
                  <a:t>)</a:t>
                </a:r>
                <a:r>
                  <a:rPr lang="zh-CN" altLang="en-US" dirty="0">
                    <a:latin typeface="华光仿宋二_CNKI" panose="02000500000000000000" pitchFamily="2" charset="-122"/>
                    <a:ea typeface="华光仿宋二_CNKI" panose="02000500000000000000" pitchFamily="2" charset="-122"/>
                  </a:rPr>
                  <a:t>在某个像素上，初始误差为</a:t>
                </a:r>
                <a:r>
                  <a:rPr lang="en-US" altLang="zh-CN" dirty="0">
                    <a:latin typeface="华光仿宋二_CNKI" panose="02000500000000000000" pitchFamily="2" charset="-122"/>
                    <a:ea typeface="华光仿宋二_CNKI" panose="02000500000000000000" pitchFamily="2" charset="-122"/>
                  </a:rPr>
                  <a:t>0</a:t>
                </a:r>
                <a:r>
                  <a:rPr lang="zh-CN" altLang="en-US" dirty="0">
                    <a:latin typeface="华光仿宋二_CNKI" panose="02000500000000000000" pitchFamily="2" charset="-122"/>
                    <a:ea typeface="华光仿宋二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）如果</a:t>
                </a:r>
                <a:r>
                  <a:rPr lang="en-US" altLang="zh-CN" dirty="0">
                    <a:latin typeface="华光仿宋二_CNKI" panose="02000500000000000000" pitchFamily="2" charset="-122"/>
                    <a:ea typeface="华光仿宋二_CNKI" panose="02000500000000000000" pitchFamily="2" charset="-122"/>
                  </a:rPr>
                  <a:t>X</a:t>
                </a:r>
                <a:r>
                  <a:rPr lang="zh-CN" altLang="en-US" dirty="0">
                    <a:latin typeface="华光仿宋二_CNKI" panose="02000500000000000000" pitchFamily="2" charset="-122"/>
                    <a:ea typeface="华光仿宋二_CNKI" panose="02000500000000000000" pitchFamily="2" charset="-122"/>
                  </a:rPr>
                  <a:t>方向上每次增加</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Y</a:t>
                </a:r>
                <a:r>
                  <a:rPr lang="zh-CN" altLang="en-US" dirty="0">
                    <a:latin typeface="华光仿宋二_CNKI" panose="02000500000000000000" pitchFamily="2" charset="-122"/>
                    <a:ea typeface="华光仿宋二_CNKI" panose="02000500000000000000" pitchFamily="2" charset="-122"/>
                  </a:rPr>
                  <a:t>方向增加</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，则误差为：</a:t>
                </a:r>
                <a:r>
                  <a:rPr lang="en-US" altLang="zh-CN" dirty="0">
                    <a:latin typeface="华光仿宋二_CNKI" panose="02000500000000000000" pitchFamily="2" charset="-122"/>
                    <a:ea typeface="华光仿宋二_CNKI" panose="02000500000000000000" pitchFamily="2" charset="-122"/>
                  </a:rPr>
                  <a:t>e=1-m</a:t>
                </a: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）如果</a:t>
                </a:r>
                <a:r>
                  <a:rPr lang="en-US" altLang="zh-CN" dirty="0">
                    <a:latin typeface="华光仿宋二_CNKI" panose="02000500000000000000" pitchFamily="2" charset="-122"/>
                    <a:ea typeface="华光仿宋二_CNKI" panose="02000500000000000000" pitchFamily="2" charset="-122"/>
                  </a:rPr>
                  <a:t>X</a:t>
                </a:r>
                <a:r>
                  <a:rPr lang="zh-CN" altLang="en-US" dirty="0">
                    <a:latin typeface="华光仿宋二_CNKI" panose="02000500000000000000" pitchFamily="2" charset="-122"/>
                    <a:ea typeface="华光仿宋二_CNKI" panose="02000500000000000000" pitchFamily="2" charset="-122"/>
                  </a:rPr>
                  <a:t>方向上每次增加</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Y</a:t>
                </a:r>
                <a:r>
                  <a:rPr lang="zh-CN" altLang="en-US" dirty="0">
                    <a:latin typeface="华光仿宋二_CNKI" panose="02000500000000000000" pitchFamily="2" charset="-122"/>
                    <a:ea typeface="华光仿宋二_CNKI" panose="02000500000000000000" pitchFamily="2" charset="-122"/>
                  </a:rPr>
                  <a:t>方向不增加，则误差为：</a:t>
                </a:r>
                <a:r>
                  <a:rPr lang="en-US" altLang="zh-CN" dirty="0">
                    <a:latin typeface="华光仿宋二_CNKI" panose="02000500000000000000" pitchFamily="2" charset="-122"/>
                    <a:ea typeface="华光仿宋二_CNKI" panose="02000500000000000000" pitchFamily="2" charset="-122"/>
                  </a:rPr>
                  <a:t>e=m</a:t>
                </a:r>
              </a:p>
            </p:txBody>
          </p:sp>
        </mc:Choice>
        <mc:Fallback xmlns="">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38199" y="620201"/>
                <a:ext cx="10937683" cy="5438693"/>
              </a:xfrm>
              <a:blipFill>
                <a:blip r:embed="rId2"/>
                <a:stretch>
                  <a:fillRect l="-1783" r="-6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0437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199" y="620201"/>
                <a:ext cx="10937683" cy="5438693"/>
              </a:xfrm>
            </p:spPr>
            <p:txBody>
              <a:bodyPr>
                <a:normAutofit lnSpcReduction="10000"/>
              </a:bodyPr>
              <a:lstStyle/>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两者的差值为：</a:t>
                </a:r>
                <a:r>
                  <a:rPr lang="en-US" altLang="zh-CN" dirty="0">
                    <a:latin typeface="华光仿宋二_CNKI" panose="02000500000000000000" pitchFamily="2" charset="-122"/>
                    <a:ea typeface="华光仿宋二_CNKI" panose="02000500000000000000" pitchFamily="2" charset="-122"/>
                  </a:rPr>
                  <a:t>d=1-m-m=1-2m</a:t>
                </a: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其中</a:t>
                </a:r>
                <a:r>
                  <a:rPr lang="en-US" altLang="zh-CN" dirty="0">
                    <a:latin typeface="华光仿宋二_CNKI" panose="02000500000000000000" pitchFamily="2" charset="-122"/>
                    <a:ea typeface="华光仿宋二_CNKI" panose="02000500000000000000" pitchFamily="2" charset="-122"/>
                  </a:rPr>
                  <a:t>m=</a:t>
                </a:r>
                <a14:m>
                  <m:oMath xmlns:m="http://schemas.openxmlformats.org/officeDocument/2006/math">
                    <m:f>
                      <m:fPr>
                        <m:ctrlPr>
                          <a:rPr lang="en-US" altLang="zh-CN" i="1" smtClean="0">
                            <a:latin typeface="Cambria Math" panose="02040503050406030204" pitchFamily="18" charset="0"/>
                            <a:ea typeface="华光仿宋二_CNKI" panose="02000500000000000000" pitchFamily="2" charset="-122"/>
                          </a:rPr>
                        </m:ctrlPr>
                      </m:fPr>
                      <m:num>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num>
                      <m:den>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den>
                    </m:f>
                  </m:oMath>
                </a14:m>
                <a:r>
                  <a:rPr lang="en-US" altLang="zh-CN" dirty="0">
                    <a:latin typeface="华光仿宋二_CNKI" panose="02000500000000000000" pitchFamily="2" charset="-122"/>
                    <a:ea typeface="华光仿宋二_CNKI" panose="02000500000000000000" pitchFamily="2" charset="-122"/>
                  </a:rPr>
                  <a:t>,</a:t>
                </a:r>
                <a:r>
                  <a:rPr lang="zh-CN" altLang="en-US" dirty="0">
                    <a:latin typeface="华光仿宋二_CNKI" panose="02000500000000000000" pitchFamily="2" charset="-122"/>
                    <a:ea typeface="华光仿宋二_CNKI" panose="02000500000000000000" pitchFamily="2" charset="-122"/>
                  </a:rPr>
                  <a:t>则</a:t>
                </a:r>
                <a:r>
                  <a:rPr lang="en-US" altLang="zh-CN" dirty="0">
                    <a:latin typeface="华光仿宋二_CNKI" panose="02000500000000000000" pitchFamily="2" charset="-122"/>
                    <a:ea typeface="华光仿宋二_CNKI" panose="02000500000000000000" pitchFamily="2" charset="-122"/>
                  </a:rPr>
                  <a:t>d=1-2</a:t>
                </a:r>
                <a:r>
                  <a:rPr lang="en-US" altLang="zh-CN" dirty="0">
                    <a:ea typeface="华光仿宋二_CNKI" panose="02000500000000000000" pitchFamily="2" charset="-122"/>
                  </a:rPr>
                  <a:t> </a:t>
                </a:r>
                <a14:m>
                  <m:oMath xmlns:m="http://schemas.openxmlformats.org/officeDocument/2006/math">
                    <m:f>
                      <m:fPr>
                        <m:ctrlPr>
                          <a:rPr lang="en-US" altLang="zh-CN" i="1">
                            <a:latin typeface="Cambria Math" panose="02040503050406030204" pitchFamily="18" charset="0"/>
                            <a:ea typeface="华光仿宋二_CNKI" panose="02000500000000000000" pitchFamily="2" charset="-122"/>
                          </a:rPr>
                        </m:ctrlPr>
                      </m:fPr>
                      <m:num>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num>
                      <m:den>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den>
                    </m:f>
                  </m:oMath>
                </a14:m>
                <a:r>
                  <a:rPr lang="en-US" altLang="zh-CN" dirty="0">
                    <a:latin typeface="华光仿宋二_CNKI" panose="02000500000000000000" pitchFamily="2" charset="-122"/>
                    <a:ea typeface="华光仿宋二_CNKI" panose="02000500000000000000" pitchFamily="2" charset="-122"/>
                  </a:rPr>
                  <a:t>=</a:t>
                </a:r>
                <a:r>
                  <a:rPr lang="en-US" altLang="zh-CN" dirty="0">
                    <a:ea typeface="华光仿宋二_CNKI" panose="02000500000000000000" pitchFamily="2" charset="-122"/>
                  </a:rPr>
                  <a:t> </a:t>
                </a:r>
                <a14:m>
                  <m:oMath xmlns:m="http://schemas.openxmlformats.org/officeDocument/2006/math">
                    <m:f>
                      <m:fPr>
                        <m:ctrlPr>
                          <a:rPr lang="en-US" altLang="zh-CN" i="1">
                            <a:latin typeface="Cambria Math" panose="02040503050406030204" pitchFamily="18" charset="0"/>
                            <a:ea typeface="华光仿宋二_CNKI" panose="02000500000000000000" pitchFamily="2" charset="-122"/>
                          </a:rPr>
                        </m:ctrlPr>
                      </m:fPr>
                      <m:num>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num>
                      <m:den>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den>
                    </m:f>
                  </m:oMath>
                </a14:m>
                <a:r>
                  <a:rPr lang="zh-CN" altLang="en-US" dirty="0">
                    <a:latin typeface="华光仿宋二_CNKI" panose="02000500000000000000" pitchFamily="2" charset="-122"/>
                    <a:ea typeface="华光仿宋二_CNKI" panose="02000500000000000000" pitchFamily="2" charset="-122"/>
                  </a:rPr>
                  <a:t>，显然：</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）如果</a:t>
                </a:r>
                <a:r>
                  <a:rPr lang="en-US" altLang="zh-CN" dirty="0">
                    <a:latin typeface="华光仿宋二_CNKI" panose="02000500000000000000" pitchFamily="2" charset="-122"/>
                    <a:ea typeface="华光仿宋二_CNKI" panose="02000500000000000000" pitchFamily="2" charset="-122"/>
                  </a:rPr>
                  <a:t>d&gt;0</a:t>
                </a:r>
                <a:r>
                  <a:rPr lang="zh-CN" altLang="en-US" dirty="0">
                    <a:latin typeface="华光仿宋二_CNKI" panose="02000500000000000000" pitchFamily="2" charset="-122"/>
                    <a:ea typeface="华光仿宋二_CNKI" panose="02000500000000000000" pitchFamily="2" charset="-122"/>
                  </a:rPr>
                  <a:t>，则向</a:t>
                </a:r>
                <a:r>
                  <a:rPr lang="en-US" altLang="zh-CN" dirty="0">
                    <a:latin typeface="华光仿宋二_CNKI" panose="02000500000000000000" pitchFamily="2" charset="-122"/>
                    <a:ea typeface="华光仿宋二_CNKI" panose="02000500000000000000" pitchFamily="2" charset="-122"/>
                  </a:rPr>
                  <a:t>y</a:t>
                </a:r>
                <a:r>
                  <a:rPr lang="zh-CN" altLang="en-US" dirty="0">
                    <a:latin typeface="华光仿宋二_CNKI" panose="02000500000000000000" pitchFamily="2" charset="-122"/>
                    <a:ea typeface="华光仿宋二_CNKI" panose="02000500000000000000" pitchFamily="2" charset="-122"/>
                  </a:rPr>
                  <a:t>方向的增量为</a:t>
                </a:r>
                <a:r>
                  <a:rPr lang="en-US" altLang="zh-CN" dirty="0">
                    <a:latin typeface="华光仿宋二_CNKI" panose="02000500000000000000" pitchFamily="2" charset="-122"/>
                    <a:ea typeface="华光仿宋二_CNKI" panose="02000500000000000000" pitchFamily="2" charset="-122"/>
                  </a:rPr>
                  <a:t>0</a:t>
                </a:r>
                <a:r>
                  <a:rPr lang="zh-CN" altLang="en-US" dirty="0">
                    <a:latin typeface="华光仿宋二_CNKI" panose="02000500000000000000" pitchFamily="2" charset="-122"/>
                    <a:ea typeface="华光仿宋二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）如果</a:t>
                </a:r>
                <a:r>
                  <a:rPr lang="en-US" altLang="zh-CN" dirty="0">
                    <a:latin typeface="华光仿宋二_CNKI" panose="02000500000000000000" pitchFamily="2" charset="-122"/>
                    <a:ea typeface="华光仿宋二_CNKI" panose="02000500000000000000" pitchFamily="2" charset="-122"/>
                  </a:rPr>
                  <a:t>d</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二_CNKI" panose="02000500000000000000" pitchFamily="2" charset="-122"/>
                    <a:ea typeface="华光仿宋二_CNKI" panose="02000500000000000000" pitchFamily="2" charset="-122"/>
                  </a:rPr>
                  <a:t>0</a:t>
                </a:r>
                <a:r>
                  <a:rPr lang="zh-CN" altLang="en-US" dirty="0">
                    <a:latin typeface="华光仿宋二_CNKI" panose="02000500000000000000" pitchFamily="2" charset="-122"/>
                    <a:ea typeface="华光仿宋二_CNKI" panose="02000500000000000000" pitchFamily="2" charset="-122"/>
                  </a:rPr>
                  <a:t>，则向</a:t>
                </a:r>
                <a:r>
                  <a:rPr lang="en-US" altLang="zh-CN" dirty="0">
                    <a:latin typeface="华光仿宋二_CNKI" panose="02000500000000000000" pitchFamily="2" charset="-122"/>
                    <a:ea typeface="华光仿宋二_CNKI" panose="02000500000000000000" pitchFamily="2" charset="-122"/>
                  </a:rPr>
                  <a:t>y</a:t>
                </a:r>
                <a:r>
                  <a:rPr lang="zh-CN" altLang="en-US" dirty="0">
                    <a:latin typeface="华光仿宋二_CNKI" panose="02000500000000000000" pitchFamily="2" charset="-122"/>
                    <a:ea typeface="华光仿宋二_CNKI" panose="02000500000000000000" pitchFamily="2" charset="-122"/>
                  </a:rPr>
                  <a:t>方向的增量为</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由于</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𝑥</m:t>
                    </m:r>
                  </m:oMath>
                </a14:m>
                <a:r>
                  <a:rPr lang="en-US" altLang="zh-CN" dirty="0">
                    <a:latin typeface="华光仿宋二_CNKI" panose="02000500000000000000" pitchFamily="2" charset="-122"/>
                    <a:ea typeface="华光仿宋二_CNKI" panose="02000500000000000000" pitchFamily="2" charset="-122"/>
                  </a:rPr>
                  <a:t>&gt;0</a:t>
                </a:r>
                <a:r>
                  <a:rPr lang="zh-CN" altLang="en-US" dirty="0">
                    <a:latin typeface="华光仿宋二_CNKI" panose="02000500000000000000" pitchFamily="2" charset="-122"/>
                    <a:ea typeface="华光仿宋二_CNKI" panose="02000500000000000000" pitchFamily="2" charset="-122"/>
                  </a:rPr>
                  <a:t>，因此可设</a:t>
                </a:r>
                <a:r>
                  <a:rPr lang="en-US" altLang="zh-CN" dirty="0">
                    <a:latin typeface="华光仿宋二_CNKI" panose="02000500000000000000" pitchFamily="2" charset="-122"/>
                    <a:ea typeface="华光仿宋二_CNKI" panose="02000500000000000000" pitchFamily="2" charset="-122"/>
                  </a:rPr>
                  <a:t>d=</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𝑦</m:t>
                    </m:r>
                  </m:oMath>
                </a14:m>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同样有前面的结果。</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针对（</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）的情况，下一步产生的误差</a:t>
                </a:r>
                <a14:m>
                  <m:oMath xmlns:m="http://schemas.openxmlformats.org/officeDocument/2006/math">
                    <m:sSup>
                      <m:sSupPr>
                        <m:ctrlPr>
                          <a:rPr lang="en-US" altLang="zh-CN" i="1" dirty="0" smtClean="0">
                            <a:latin typeface="Cambria Math" panose="02040503050406030204" pitchFamily="18" charset="0"/>
                            <a:ea typeface="华光仿宋二_CNKI" panose="02000500000000000000" pitchFamily="2" charset="-122"/>
                          </a:rPr>
                        </m:ctrlPr>
                      </m:sSupPr>
                      <m:e>
                        <m:r>
                          <a:rPr lang="en-US" altLang="zh-CN" i="1" dirty="0">
                            <a:latin typeface="Cambria Math" panose="02040503050406030204" pitchFamily="18" charset="0"/>
                            <a:ea typeface="华光仿宋二_CNKI" panose="02000500000000000000" pitchFamily="2" charset="-122"/>
                          </a:rPr>
                          <m:t>𝑑</m:t>
                        </m:r>
                      </m:e>
                      <m:sup>
                        <m:r>
                          <a:rPr lang="en-US" altLang="zh-CN" b="0" i="1" dirty="0" smtClean="0">
                            <a:latin typeface="Cambria Math" panose="02040503050406030204" pitchFamily="18" charset="0"/>
                            <a:ea typeface="华光仿宋二_CNKI" panose="02000500000000000000" pitchFamily="2" charset="-122"/>
                          </a:rPr>
                          <m:t>′</m:t>
                        </m:r>
                      </m:sup>
                    </m:sSup>
                  </m:oMath>
                </a14:m>
                <a:r>
                  <a:rPr lang="en-US" altLang="zh-CN" dirty="0">
                    <a:latin typeface="华光仿宋二_CNKI" panose="02000500000000000000" pitchFamily="2" charset="-122"/>
                    <a:ea typeface="华光仿宋二_CNKI" panose="02000500000000000000" pitchFamily="2" charset="-122"/>
                  </a:rPr>
                  <a:t>=1-2m-2m=1-4m=d-2m =d-2</a:t>
                </a:r>
                <a:r>
                  <a:rPr lang="en-US" altLang="zh-CN" dirty="0">
                    <a:ea typeface="华光仿宋二_CNKI" panose="02000500000000000000" pitchFamily="2" charset="-122"/>
                  </a:rPr>
                  <a:t> </a:t>
                </a:r>
                <a14:m>
                  <m:oMath xmlns:m="http://schemas.openxmlformats.org/officeDocument/2006/math">
                    <m:f>
                      <m:fPr>
                        <m:ctrlPr>
                          <a:rPr lang="en-US" altLang="zh-CN" i="1">
                            <a:latin typeface="Cambria Math" panose="02040503050406030204" pitchFamily="18" charset="0"/>
                            <a:ea typeface="华光仿宋二_CNKI" panose="02000500000000000000" pitchFamily="2" charset="-122"/>
                          </a:rPr>
                        </m:ctrlPr>
                      </m:fPr>
                      <m:num>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num>
                      <m:den>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den>
                    </m:f>
                    <m:r>
                      <a:rPr lang="zh-CN" altLang="en-US" i="1" smtClean="0">
                        <a:latin typeface="Cambria Math" panose="02040503050406030204" pitchFamily="18" charset="0"/>
                        <a:ea typeface="Cambria Math" panose="02040503050406030204" pitchFamily="18" charset="0"/>
                      </a:rPr>
                      <m:t>，</m:t>
                    </m:r>
                  </m:oMath>
                </a14:m>
                <a:r>
                  <a:rPr lang="zh-CN" altLang="en-US" dirty="0">
                    <a:latin typeface="华光仿宋二_CNKI" panose="02000500000000000000" pitchFamily="2" charset="-122"/>
                    <a:ea typeface="华光仿宋二_CNKI" panose="02000500000000000000" pitchFamily="2" charset="-122"/>
                  </a:rPr>
                  <a:t>在</a:t>
                </a:r>
                <a:r>
                  <a:rPr lang="en-US" altLang="zh-CN" dirty="0">
                    <a:latin typeface="华光仿宋二_CNKI" panose="02000500000000000000" pitchFamily="2" charset="-122"/>
                    <a:ea typeface="华光仿宋二_CNKI" panose="02000500000000000000" pitchFamily="2" charset="-122"/>
                  </a:rPr>
                  <a:t>d=</a:t>
                </a:r>
                <a14:m>
                  <m:oMath xmlns:m="http://schemas.openxmlformats.org/officeDocument/2006/math">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𝑦</m:t>
                    </m:r>
                  </m:oMath>
                </a14:m>
                <a:r>
                  <a:rPr lang="zh-CN" altLang="en-US" dirty="0">
                    <a:latin typeface="华光仿宋二_CNKI" panose="02000500000000000000" pitchFamily="2" charset="-122"/>
                    <a:ea typeface="华光仿宋二_CNKI" panose="02000500000000000000" pitchFamily="2" charset="-122"/>
                  </a:rPr>
                  <a:t>的情况下，</a:t>
                </a:r>
                <a:r>
                  <a:rPr lang="en-US" altLang="zh-CN" dirty="0">
                    <a:ea typeface="华光仿宋二_CNKI" panose="02000500000000000000" pitchFamily="2" charset="-122"/>
                  </a:rPr>
                  <a:t> </a:t>
                </a:r>
                <a14:m>
                  <m:oMath xmlns:m="http://schemas.openxmlformats.org/officeDocument/2006/math">
                    <m:sSup>
                      <m:sSupPr>
                        <m:ctrlPr>
                          <a:rPr lang="en-US" altLang="zh-CN" i="1" dirty="0">
                            <a:latin typeface="Cambria Math" panose="02040503050406030204" pitchFamily="18" charset="0"/>
                            <a:ea typeface="华光仿宋二_CNKI" panose="02000500000000000000" pitchFamily="2" charset="-122"/>
                          </a:rPr>
                        </m:ctrlPr>
                      </m:sSupPr>
                      <m:e>
                        <m:r>
                          <a:rPr lang="en-US" altLang="zh-CN" i="1" dirty="0">
                            <a:latin typeface="Cambria Math" panose="02040503050406030204" pitchFamily="18" charset="0"/>
                            <a:ea typeface="华光仿宋二_CNKI" panose="02000500000000000000" pitchFamily="2" charset="-122"/>
                          </a:rPr>
                          <m:t>𝑑</m:t>
                        </m:r>
                      </m:e>
                      <m:sup>
                        <m:r>
                          <a:rPr lang="en-US" altLang="zh-CN" i="1" dirty="0">
                            <a:latin typeface="Cambria Math" panose="02040503050406030204" pitchFamily="18" charset="0"/>
                            <a:ea typeface="华光仿宋二_CNKI" panose="02000500000000000000" pitchFamily="2" charset="-122"/>
                          </a:rPr>
                          <m:t>′</m:t>
                        </m:r>
                      </m:sup>
                    </m:sSup>
                  </m:oMath>
                </a14:m>
                <a:r>
                  <a:rPr lang="en-US" altLang="zh-CN" dirty="0">
                    <a:latin typeface="华光仿宋二_CNKI" panose="02000500000000000000" pitchFamily="2" charset="-122"/>
                    <a:ea typeface="华光仿宋二_CNKI" panose="02000500000000000000" pitchFamily="2" charset="-122"/>
                  </a:rPr>
                  <a:t>=d-2</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oMath>
                </a14:m>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  </a:t>
                </a:r>
              </a:p>
            </p:txBody>
          </p:sp>
        </mc:Choice>
        <mc:Fallback>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38199" y="620201"/>
                <a:ext cx="10937683" cy="5438693"/>
              </a:xfrm>
              <a:blipFill>
                <a:blip r:embed="rId2"/>
                <a:stretch>
                  <a:fillRect l="-1114" b="-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93611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22298" y="675860"/>
                <a:ext cx="5037814" cy="5709037"/>
              </a:xfrm>
            </p:spPr>
            <p:txBody>
              <a:bodyPr>
                <a:normAutofit fontScale="85000" lnSpcReduction="10000"/>
              </a:bodyPr>
              <a:lstStyle/>
              <a:p>
                <a:pPr marL="0" indent="0">
                  <a:lnSpc>
                    <a:spcPct val="150000"/>
                  </a:lnSpc>
                  <a:buNone/>
                </a:pPr>
                <a:r>
                  <a:rPr lang="zh-CN" altLang="en-US" dirty="0">
                    <a:latin typeface="华光仿宋二_CNKI" panose="02000500000000000000" pitchFamily="2" charset="-122"/>
                    <a:ea typeface="华光仿宋二_CNKI" panose="02000500000000000000" pitchFamily="2" charset="-122"/>
                  </a:rPr>
                  <a:t>    针对（</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）的情况，下一步产生的误差</a:t>
                </a:r>
                <a14:m>
                  <m:oMath xmlns:m="http://schemas.openxmlformats.org/officeDocument/2006/math">
                    <m:sSup>
                      <m:sSupPr>
                        <m:ctrlPr>
                          <a:rPr lang="en-US" altLang="zh-CN" i="1" dirty="0" smtClean="0">
                            <a:latin typeface="Cambria Math" panose="02040503050406030204" pitchFamily="18" charset="0"/>
                            <a:ea typeface="华光仿宋二_CNKI" panose="02000500000000000000" pitchFamily="2" charset="-122"/>
                          </a:rPr>
                        </m:ctrlPr>
                      </m:sSupPr>
                      <m:e>
                        <m:r>
                          <a:rPr lang="en-US" altLang="zh-CN" i="1" dirty="0">
                            <a:latin typeface="Cambria Math" panose="02040503050406030204" pitchFamily="18" charset="0"/>
                            <a:ea typeface="华光仿宋二_CNKI" panose="02000500000000000000" pitchFamily="2" charset="-122"/>
                          </a:rPr>
                          <m:t>𝑑</m:t>
                        </m:r>
                      </m:e>
                      <m:sup>
                        <m:r>
                          <a:rPr lang="en-US" altLang="zh-CN" b="0" i="1" dirty="0" smtClean="0">
                            <a:latin typeface="Cambria Math" panose="02040503050406030204" pitchFamily="18" charset="0"/>
                            <a:ea typeface="华光仿宋二_CNKI" panose="02000500000000000000" pitchFamily="2" charset="-122"/>
                          </a:rPr>
                          <m:t>′</m:t>
                        </m:r>
                      </m:sup>
                    </m:sSup>
                  </m:oMath>
                </a14:m>
                <a:r>
                  <a:rPr lang="en-US" altLang="zh-CN" dirty="0">
                    <a:latin typeface="华光仿宋二_CNKI" panose="02000500000000000000" pitchFamily="2" charset="-122"/>
                    <a:ea typeface="华光仿宋二_CNKI" panose="02000500000000000000" pitchFamily="2" charset="-122"/>
                  </a:rPr>
                  <a:t>=2-2m+1-2m=2d+1=d+2</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𝑦</m:t>
                    </m:r>
                  </m:oMath>
                </a14:m>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重复前面（</a:t>
                </a:r>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a:t>
                </a:r>
                <a:r>
                  <a:rPr lang="en-US" altLang="zh-CN" dirty="0">
                    <a:latin typeface="华光仿宋二_CNKI" panose="02000500000000000000" pitchFamily="2" charset="-122"/>
                    <a:ea typeface="华光仿宋二_CNKI" panose="02000500000000000000" pitchFamily="2" charset="-122"/>
                  </a:rPr>
                  <a:t>2</a:t>
                </a:r>
                <a:r>
                  <a:rPr lang="zh-CN" altLang="en-US" dirty="0">
                    <a:latin typeface="华光仿宋二_CNKI" panose="02000500000000000000" pitchFamily="2" charset="-122"/>
                    <a:ea typeface="华光仿宋二_CNKI" panose="02000500000000000000" pitchFamily="2" charset="-122"/>
                  </a:rPr>
                  <a:t>）步迭代即可获得对应的所有的中间点的像素坐标。</a:t>
                </a:r>
                <a:endParaRPr lang="en-US" altLang="zh-CN"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dirty="0">
                    <a:latin typeface="华光仿宋二_CNKI" panose="02000500000000000000" pitchFamily="2" charset="-122"/>
                    <a:ea typeface="华光仿宋二_CNKI" panose="02000500000000000000" pitchFamily="2" charset="-122"/>
                  </a:rPr>
                  <a:t>   </a:t>
                </a:r>
                <a:r>
                  <a:rPr lang="zh-CN" altLang="en-US" dirty="0">
                    <a:latin typeface="华光仿宋二_CNKI" panose="02000500000000000000" pitchFamily="2" charset="-122"/>
                    <a:ea typeface="华光仿宋二_CNKI" panose="02000500000000000000" pitchFamily="2" charset="-122"/>
                  </a:rPr>
                  <a:t>上面考虑的是在</a:t>
                </a:r>
                <a:r>
                  <a:rPr lang="en-US" altLang="zh-CN" dirty="0">
                    <a:latin typeface="华光仿宋二_CNKI" panose="02000500000000000000" pitchFamily="2" charset="-122"/>
                    <a:ea typeface="华光仿宋二_CNKI" panose="02000500000000000000" pitchFamily="2" charset="-122"/>
                  </a:rPr>
                  <a:t>|m|</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二_CNKI" panose="02000500000000000000" pitchFamily="2" charset="-122"/>
                    <a:ea typeface="华光仿宋二_CNKI" panose="02000500000000000000" pitchFamily="2" charset="-122"/>
                  </a:rPr>
                  <a:t>1</a:t>
                </a:r>
                <a:r>
                  <a:rPr lang="zh-CN" altLang="en-US" dirty="0">
                    <a:latin typeface="华光仿宋二_CNKI" panose="02000500000000000000" pitchFamily="2" charset="-122"/>
                    <a:ea typeface="华光仿宋二_CNKI" panose="02000500000000000000" pitchFamily="2" charset="-122"/>
                  </a:rPr>
                  <a:t>时的情况，在</a:t>
                </a:r>
                <a:r>
                  <a:rPr lang="en-US" altLang="zh-CN" dirty="0">
                    <a:latin typeface="华光仿宋二_CNKI" panose="02000500000000000000" pitchFamily="2" charset="-122"/>
                    <a:ea typeface="华光仿宋二_CNKI" panose="02000500000000000000" pitchFamily="2" charset="-122"/>
                  </a:rPr>
                  <a:t>|m|&gt;1</a:t>
                </a:r>
                <a:r>
                  <a:rPr lang="zh-CN" altLang="en-US" dirty="0">
                    <a:latin typeface="华光仿宋二_CNKI" panose="02000500000000000000" pitchFamily="2" charset="-122"/>
                    <a:ea typeface="华光仿宋二_CNKI" panose="02000500000000000000" pitchFamily="2" charset="-122"/>
                  </a:rPr>
                  <a:t>时的情况下得到的结果将有所区别。</a:t>
                </a:r>
                <a:endParaRPr lang="en-US" altLang="zh-CN" dirty="0">
                  <a:latin typeface="华光仿宋二_CNKI" panose="02000500000000000000" pitchFamily="2" charset="-122"/>
                  <a:ea typeface="华光仿宋二_CNKI" panose="02000500000000000000" pitchFamily="2" charset="-122"/>
                </a:endParaRPr>
              </a:p>
            </p:txBody>
          </p:sp>
        </mc:Choice>
        <mc:Fallback>
          <p:sp>
            <p:nvSpPr>
              <p:cNvPr id="3" name="内容占位符 2">
                <a:extLst>
                  <a:ext uri="{FF2B5EF4-FFF2-40B4-BE49-F238E27FC236}">
                    <a16:creationId xmlns:a16="http://schemas.microsoft.com/office/drawing/2014/main" id="{1D91439E-08E0-9F0E-C4E5-6EC3D316DFA5}"/>
                  </a:ext>
                </a:extLst>
              </p:cNvPr>
              <p:cNvSpPr>
                <a:spLocks noGrp="1" noRot="1" noChangeAspect="1" noMove="1" noResize="1" noEditPoints="1" noAdjustHandles="1" noChangeArrowheads="1" noChangeShapeType="1" noTextEdit="1"/>
              </p:cNvSpPr>
              <p:nvPr>
                <p:ph idx="1"/>
              </p:nvPr>
            </p:nvSpPr>
            <p:spPr>
              <a:xfrm>
                <a:off x="822298" y="675860"/>
                <a:ext cx="5037814" cy="5709037"/>
              </a:xfrm>
              <a:blipFill>
                <a:blip r:embed="rId2"/>
                <a:stretch>
                  <a:fillRect l="-1937" r="-363"/>
                </a:stretch>
              </a:blipFill>
            </p:spPr>
            <p:txBody>
              <a:bodyPr/>
              <a:lstStyle/>
              <a:p>
                <a:r>
                  <a:rPr lang="zh-CN" altLang="en-US">
                    <a:noFill/>
                  </a:rPr>
                  <a:t> </a:t>
                </a:r>
              </a:p>
            </p:txBody>
          </p:sp>
        </mc:Fallback>
      </mc:AlternateContent>
      <p:grpSp>
        <p:nvGrpSpPr>
          <p:cNvPr id="2" name="Group 46">
            <a:extLst>
              <a:ext uri="{FF2B5EF4-FFF2-40B4-BE49-F238E27FC236}">
                <a16:creationId xmlns:a16="http://schemas.microsoft.com/office/drawing/2014/main" id="{B819F0E8-B768-6F8E-94F2-9CBEFB5B54F5}"/>
              </a:ext>
            </a:extLst>
          </p:cNvPr>
          <p:cNvGrpSpPr>
            <a:grpSpLocks/>
          </p:cNvGrpSpPr>
          <p:nvPr/>
        </p:nvGrpSpPr>
        <p:grpSpPr bwMode="auto">
          <a:xfrm>
            <a:off x="5860112" y="914401"/>
            <a:ext cx="5899674" cy="4770781"/>
            <a:chOff x="2562" y="1752"/>
            <a:chExt cx="2646" cy="1996"/>
          </a:xfrm>
        </p:grpSpPr>
        <p:sp>
          <p:nvSpPr>
            <p:cNvPr id="4" name="Text Box 7">
              <a:extLst>
                <a:ext uri="{FF2B5EF4-FFF2-40B4-BE49-F238E27FC236}">
                  <a16:creationId xmlns:a16="http://schemas.microsoft.com/office/drawing/2014/main" id="{6083E7A3-DB18-584D-FE59-8505CC3F4D9B}"/>
                </a:ext>
              </a:extLst>
            </p:cNvPr>
            <p:cNvSpPr txBox="1">
              <a:spLocks noChangeArrowheads="1"/>
            </p:cNvSpPr>
            <p:nvPr/>
          </p:nvSpPr>
          <p:spPr bwMode="auto">
            <a:xfrm>
              <a:off x="3877" y="1752"/>
              <a:ext cx="17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Times New Roman" panose="02020603050405020304" pitchFamily="18" charset="0"/>
                </a:rPr>
                <a:t>y</a:t>
              </a:r>
              <a:endParaRPr lang="en-US" altLang="zh-CN" sz="2000"/>
            </a:p>
          </p:txBody>
        </p:sp>
        <p:sp>
          <p:nvSpPr>
            <p:cNvPr id="5" name="Text Box 8">
              <a:extLst>
                <a:ext uri="{FF2B5EF4-FFF2-40B4-BE49-F238E27FC236}">
                  <a16:creationId xmlns:a16="http://schemas.microsoft.com/office/drawing/2014/main" id="{CD82282B-2E9A-4C70-BB28-57F69AD5BD10}"/>
                </a:ext>
              </a:extLst>
            </p:cNvPr>
            <p:cNvSpPr txBox="1">
              <a:spLocks noChangeArrowheads="1"/>
            </p:cNvSpPr>
            <p:nvPr/>
          </p:nvSpPr>
          <p:spPr bwMode="auto">
            <a:xfrm>
              <a:off x="4969" y="2683"/>
              <a:ext cx="239"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Times New Roman" panose="02020603050405020304" pitchFamily="18" charset="0"/>
                </a:rPr>
                <a:t>x</a:t>
              </a:r>
              <a:endParaRPr lang="en-US" altLang="zh-CN" sz="2000"/>
            </a:p>
          </p:txBody>
        </p:sp>
        <p:sp>
          <p:nvSpPr>
            <p:cNvPr id="6" name="Oval 10">
              <a:extLst>
                <a:ext uri="{FF2B5EF4-FFF2-40B4-BE49-F238E27FC236}">
                  <a16:creationId xmlns:a16="http://schemas.microsoft.com/office/drawing/2014/main" id="{A6B19765-3DB1-5635-2C18-2ABEFAD2303F}"/>
                </a:ext>
              </a:extLst>
            </p:cNvPr>
            <p:cNvSpPr>
              <a:spLocks noChangeArrowheads="1"/>
            </p:cNvSpPr>
            <p:nvPr/>
          </p:nvSpPr>
          <p:spPr bwMode="auto">
            <a:xfrm>
              <a:off x="3785" y="2822"/>
              <a:ext cx="31" cy="31"/>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 name="Text Box 22">
              <a:extLst>
                <a:ext uri="{FF2B5EF4-FFF2-40B4-BE49-F238E27FC236}">
                  <a16:creationId xmlns:a16="http://schemas.microsoft.com/office/drawing/2014/main" id="{59754D69-F1A5-8B0A-E072-224DF97553E3}"/>
                </a:ext>
              </a:extLst>
            </p:cNvPr>
            <p:cNvSpPr txBox="1">
              <a:spLocks noChangeArrowheads="1"/>
            </p:cNvSpPr>
            <p:nvPr/>
          </p:nvSpPr>
          <p:spPr bwMode="auto">
            <a:xfrm>
              <a:off x="3833" y="2277"/>
              <a:ext cx="58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Courier New" panose="02070309020205020404" pitchFamily="49" charset="0"/>
                </a:rPr>
                <a:t>x++</a:t>
              </a:r>
            </a:p>
            <a:p>
              <a:pPr algn="just"/>
              <a:r>
                <a:rPr lang="en-US" altLang="zh-CN" sz="2000" i="1">
                  <a:latin typeface="Courier New" panose="02070309020205020404" pitchFamily="49" charset="0"/>
                </a:rPr>
                <a:t>y++</a:t>
              </a:r>
              <a:endParaRPr lang="en-US" altLang="zh-CN" sz="2000">
                <a:latin typeface="Courier New" panose="02070309020205020404" pitchFamily="49" charset="0"/>
              </a:endParaRPr>
            </a:p>
          </p:txBody>
        </p:sp>
        <p:sp>
          <p:nvSpPr>
            <p:cNvPr id="8" name="Text Box 24">
              <a:extLst>
                <a:ext uri="{FF2B5EF4-FFF2-40B4-BE49-F238E27FC236}">
                  <a16:creationId xmlns:a16="http://schemas.microsoft.com/office/drawing/2014/main" id="{EF7D3249-ADBD-B9C8-50D8-B405FE755DDA}"/>
                </a:ext>
              </a:extLst>
            </p:cNvPr>
            <p:cNvSpPr txBox="1">
              <a:spLocks noChangeArrowheads="1"/>
            </p:cNvSpPr>
            <p:nvPr/>
          </p:nvSpPr>
          <p:spPr bwMode="auto">
            <a:xfrm>
              <a:off x="4505" y="2502"/>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x</a:t>
              </a:r>
              <a:r>
                <a:rPr lang="zh-CN" altLang="en-US" sz="2000">
                  <a:latin typeface="Courier New" panose="02070309020205020404" pitchFamily="49" charset="0"/>
                </a:rPr>
                <a:t>增</a:t>
              </a:r>
              <a:r>
                <a:rPr lang="en-US" altLang="zh-CN" sz="2000">
                  <a:latin typeface="Courier New" panose="02070309020205020404" pitchFamily="49" charset="0"/>
                </a:rPr>
                <a:t>1</a:t>
              </a:r>
            </a:p>
          </p:txBody>
        </p:sp>
        <p:sp>
          <p:nvSpPr>
            <p:cNvPr id="9" name="Text Box 25">
              <a:extLst>
                <a:ext uri="{FF2B5EF4-FFF2-40B4-BE49-F238E27FC236}">
                  <a16:creationId xmlns:a16="http://schemas.microsoft.com/office/drawing/2014/main" id="{13B3FA7E-3209-631A-E205-CC7173F6CF16}"/>
                </a:ext>
              </a:extLst>
            </p:cNvPr>
            <p:cNvSpPr txBox="1">
              <a:spLocks noChangeArrowheads="1"/>
            </p:cNvSpPr>
            <p:nvPr/>
          </p:nvSpPr>
          <p:spPr bwMode="auto">
            <a:xfrm>
              <a:off x="4503" y="2958"/>
              <a:ext cx="404"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x</a:t>
              </a:r>
              <a:r>
                <a:rPr lang="zh-CN" altLang="en-US"/>
                <a:t>增</a:t>
              </a:r>
              <a:r>
                <a:rPr lang="en-US" altLang="zh-CN" sz="2000"/>
                <a:t>1</a:t>
              </a:r>
            </a:p>
          </p:txBody>
        </p:sp>
        <p:sp>
          <p:nvSpPr>
            <p:cNvPr id="10" name="Text Box 29">
              <a:extLst>
                <a:ext uri="{FF2B5EF4-FFF2-40B4-BE49-F238E27FC236}">
                  <a16:creationId xmlns:a16="http://schemas.microsoft.com/office/drawing/2014/main" id="{2D4EE197-848B-108F-4C83-41D3034E65D8}"/>
                </a:ext>
              </a:extLst>
            </p:cNvPr>
            <p:cNvSpPr txBox="1">
              <a:spLocks noChangeArrowheads="1"/>
            </p:cNvSpPr>
            <p:nvPr/>
          </p:nvSpPr>
          <p:spPr bwMode="auto">
            <a:xfrm>
              <a:off x="3614" y="2785"/>
              <a:ext cx="330"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3300"/>
                  </a:solidFill>
                  <a:miter lim="800000"/>
                  <a:headEnd/>
                  <a:tailEnd/>
                </a14:hiddenLine>
              </a:ext>
            </a:extLst>
          </p:spPr>
          <p:txBody>
            <a:bodyPr lIns="0" tIns="0" rIns="0" bIns="0"/>
            <a:lstStyle/>
            <a:p>
              <a:pPr algn="ctr"/>
              <a:r>
                <a:rPr lang="en-US" altLang="zh-CN" sz="2000">
                  <a:latin typeface="Times New Roman" panose="02020603050405020304" pitchFamily="18" charset="0"/>
                </a:rPr>
                <a:t>o</a:t>
              </a:r>
              <a:endParaRPr lang="en-US" altLang="zh-CN" sz="2000"/>
            </a:p>
          </p:txBody>
        </p:sp>
        <p:sp>
          <p:nvSpPr>
            <p:cNvPr id="11" name="Line 30">
              <a:extLst>
                <a:ext uri="{FF2B5EF4-FFF2-40B4-BE49-F238E27FC236}">
                  <a16:creationId xmlns:a16="http://schemas.microsoft.com/office/drawing/2014/main" id="{15833B92-D649-D47A-656B-97A483DFD703}"/>
                </a:ext>
              </a:extLst>
            </p:cNvPr>
            <p:cNvSpPr>
              <a:spLocks noChangeShapeType="1"/>
            </p:cNvSpPr>
            <p:nvPr/>
          </p:nvSpPr>
          <p:spPr bwMode="auto">
            <a:xfrm flipV="1">
              <a:off x="3107" y="2315"/>
              <a:ext cx="1389" cy="10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 Box 33">
              <a:extLst>
                <a:ext uri="{FF2B5EF4-FFF2-40B4-BE49-F238E27FC236}">
                  <a16:creationId xmlns:a16="http://schemas.microsoft.com/office/drawing/2014/main" id="{C26BCEB5-005D-4C91-090E-7737B57E79B9}"/>
                </a:ext>
              </a:extLst>
            </p:cNvPr>
            <p:cNvSpPr txBox="1">
              <a:spLocks noChangeArrowheads="1"/>
            </p:cNvSpPr>
            <p:nvPr/>
          </p:nvSpPr>
          <p:spPr bwMode="auto">
            <a:xfrm>
              <a:off x="4516" y="3255"/>
              <a:ext cx="60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13" name="Line 34">
              <a:extLst>
                <a:ext uri="{FF2B5EF4-FFF2-40B4-BE49-F238E27FC236}">
                  <a16:creationId xmlns:a16="http://schemas.microsoft.com/office/drawing/2014/main" id="{7A46BA99-4FFD-0A45-B8EB-D633505A44D4}"/>
                </a:ext>
              </a:extLst>
            </p:cNvPr>
            <p:cNvSpPr>
              <a:spLocks noChangeShapeType="1"/>
            </p:cNvSpPr>
            <p:nvPr/>
          </p:nvSpPr>
          <p:spPr bwMode="auto">
            <a:xfrm>
              <a:off x="3061" y="2242"/>
              <a:ext cx="1407" cy="1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Oval 9">
              <a:extLst>
                <a:ext uri="{FF2B5EF4-FFF2-40B4-BE49-F238E27FC236}">
                  <a16:creationId xmlns:a16="http://schemas.microsoft.com/office/drawing/2014/main" id="{C1653FFE-CF88-195E-6350-EE42F6256E8A}"/>
                </a:ext>
              </a:extLst>
            </p:cNvPr>
            <p:cNvSpPr>
              <a:spLocks noChangeArrowheads="1"/>
            </p:cNvSpPr>
            <p:nvPr/>
          </p:nvSpPr>
          <p:spPr bwMode="auto">
            <a:xfrm>
              <a:off x="3154" y="2242"/>
              <a:ext cx="1312" cy="1254"/>
            </a:xfrm>
            <a:prstGeom prst="ellipse">
              <a:avLst/>
            </a:prstGeom>
            <a:solidFill>
              <a:srgbClr val="FFFFFF"/>
            </a:solidFill>
            <a:ln w="9525">
              <a:solidFill>
                <a:srgbClr val="000000"/>
              </a:solidFill>
              <a:round/>
              <a:headEnd/>
              <a:tailEnd/>
            </a:ln>
          </p:spPr>
          <p:txBody>
            <a:bodyPr/>
            <a:lstStyle/>
            <a:p>
              <a:endParaRPr lang="zh-CN" altLang="en-US"/>
            </a:p>
          </p:txBody>
        </p:sp>
        <p:sp>
          <p:nvSpPr>
            <p:cNvPr id="15" name="Line 5">
              <a:extLst>
                <a:ext uri="{FF2B5EF4-FFF2-40B4-BE49-F238E27FC236}">
                  <a16:creationId xmlns:a16="http://schemas.microsoft.com/office/drawing/2014/main" id="{2FC5FB5B-ACD4-4812-8CBC-0DA921F09D79}"/>
                </a:ext>
              </a:extLst>
            </p:cNvPr>
            <p:cNvSpPr>
              <a:spLocks noChangeShapeType="1"/>
            </p:cNvSpPr>
            <p:nvPr/>
          </p:nvSpPr>
          <p:spPr bwMode="auto">
            <a:xfrm>
              <a:off x="2562" y="2825"/>
              <a:ext cx="2318" cy="0"/>
            </a:xfrm>
            <a:prstGeom prst="line">
              <a:avLst/>
            </a:prstGeom>
            <a:noFill/>
            <a:ln w="952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6" name="Line 6">
              <a:extLst>
                <a:ext uri="{FF2B5EF4-FFF2-40B4-BE49-F238E27FC236}">
                  <a16:creationId xmlns:a16="http://schemas.microsoft.com/office/drawing/2014/main" id="{7414787A-4D46-33FE-3751-BAE427B7035C}"/>
                </a:ext>
              </a:extLst>
            </p:cNvPr>
            <p:cNvSpPr>
              <a:spLocks noChangeShapeType="1"/>
            </p:cNvSpPr>
            <p:nvPr/>
          </p:nvSpPr>
          <p:spPr bwMode="auto">
            <a:xfrm flipV="1">
              <a:off x="3809" y="1854"/>
              <a:ext cx="1" cy="1785"/>
            </a:xfrm>
            <a:prstGeom prst="line">
              <a:avLst/>
            </a:prstGeom>
            <a:noFill/>
            <a:ln w="952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7" name="Text Box 35">
              <a:extLst>
                <a:ext uri="{FF2B5EF4-FFF2-40B4-BE49-F238E27FC236}">
                  <a16:creationId xmlns:a16="http://schemas.microsoft.com/office/drawing/2014/main" id="{F990E5EF-C638-5B0C-189B-DD0F62A2BD92}"/>
                </a:ext>
              </a:extLst>
            </p:cNvPr>
            <p:cNvSpPr txBox="1">
              <a:spLocks noChangeArrowheads="1"/>
            </p:cNvSpPr>
            <p:nvPr/>
          </p:nvSpPr>
          <p:spPr bwMode="auto">
            <a:xfrm>
              <a:off x="3878" y="2386"/>
              <a:ext cx="58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Courier New" panose="02070309020205020404" pitchFamily="49" charset="0"/>
                </a:rPr>
                <a:t>x++</a:t>
              </a:r>
            </a:p>
            <a:p>
              <a:pPr algn="just"/>
              <a:r>
                <a:rPr lang="en-US" altLang="zh-CN" sz="2000" i="1">
                  <a:latin typeface="Courier New" panose="02070309020205020404" pitchFamily="49" charset="0"/>
                </a:rPr>
                <a:t>y++</a:t>
              </a:r>
              <a:endParaRPr lang="en-US" altLang="zh-CN" sz="2000">
                <a:latin typeface="Courier New" panose="02070309020205020404" pitchFamily="49" charset="0"/>
              </a:endParaRPr>
            </a:p>
          </p:txBody>
        </p:sp>
        <p:sp>
          <p:nvSpPr>
            <p:cNvPr id="18" name="Text Box 36">
              <a:extLst>
                <a:ext uri="{FF2B5EF4-FFF2-40B4-BE49-F238E27FC236}">
                  <a16:creationId xmlns:a16="http://schemas.microsoft.com/office/drawing/2014/main" id="{DB3DA61A-670E-958E-BC3B-D1AB49161590}"/>
                </a:ext>
              </a:extLst>
            </p:cNvPr>
            <p:cNvSpPr txBox="1">
              <a:spLocks noChangeArrowheads="1"/>
            </p:cNvSpPr>
            <p:nvPr/>
          </p:nvSpPr>
          <p:spPr bwMode="auto">
            <a:xfrm>
              <a:off x="3878" y="2958"/>
              <a:ext cx="58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Courier New" panose="02070309020205020404" pitchFamily="49" charset="0"/>
                </a:rPr>
                <a:t>x++</a:t>
              </a:r>
            </a:p>
            <a:p>
              <a:pPr algn="just"/>
              <a:r>
                <a:rPr lang="en-US" altLang="zh-CN" sz="2000" i="1">
                  <a:latin typeface="Courier New" panose="02070309020205020404" pitchFamily="49" charset="0"/>
                </a:rPr>
                <a:t>y--</a:t>
              </a:r>
              <a:endParaRPr lang="en-US" altLang="zh-CN" sz="2000">
                <a:latin typeface="Courier New" panose="02070309020205020404" pitchFamily="49" charset="0"/>
              </a:endParaRPr>
            </a:p>
          </p:txBody>
        </p:sp>
        <p:sp>
          <p:nvSpPr>
            <p:cNvPr id="19" name="Text Box 37">
              <a:extLst>
                <a:ext uri="{FF2B5EF4-FFF2-40B4-BE49-F238E27FC236}">
                  <a16:creationId xmlns:a16="http://schemas.microsoft.com/office/drawing/2014/main" id="{35AF9411-C3A3-621E-2252-DC72EFB36A86}"/>
                </a:ext>
              </a:extLst>
            </p:cNvPr>
            <p:cNvSpPr txBox="1">
              <a:spLocks noChangeArrowheads="1"/>
            </p:cNvSpPr>
            <p:nvPr/>
          </p:nvSpPr>
          <p:spPr bwMode="auto">
            <a:xfrm>
              <a:off x="3415" y="2377"/>
              <a:ext cx="58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Courier New" panose="02070309020205020404" pitchFamily="49" charset="0"/>
                </a:rPr>
                <a:t>x--</a:t>
              </a:r>
            </a:p>
            <a:p>
              <a:pPr algn="just"/>
              <a:r>
                <a:rPr lang="en-US" altLang="zh-CN" sz="2000" i="1">
                  <a:latin typeface="Courier New" panose="02070309020205020404" pitchFamily="49" charset="0"/>
                </a:rPr>
                <a:t>y++</a:t>
              </a:r>
              <a:endParaRPr lang="en-US" altLang="zh-CN" sz="2000">
                <a:latin typeface="Courier New" panose="02070309020205020404" pitchFamily="49" charset="0"/>
              </a:endParaRPr>
            </a:p>
          </p:txBody>
        </p:sp>
        <p:sp>
          <p:nvSpPr>
            <p:cNvPr id="20" name="Text Box 38">
              <a:extLst>
                <a:ext uri="{FF2B5EF4-FFF2-40B4-BE49-F238E27FC236}">
                  <a16:creationId xmlns:a16="http://schemas.microsoft.com/office/drawing/2014/main" id="{453276B5-AA3F-AD81-5709-0DBEB963185F}"/>
                </a:ext>
              </a:extLst>
            </p:cNvPr>
            <p:cNvSpPr txBox="1">
              <a:spLocks noChangeArrowheads="1"/>
            </p:cNvSpPr>
            <p:nvPr/>
          </p:nvSpPr>
          <p:spPr bwMode="auto">
            <a:xfrm>
              <a:off x="3434" y="2967"/>
              <a:ext cx="58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Courier New" panose="02070309020205020404" pitchFamily="49" charset="0"/>
                </a:rPr>
                <a:t>x--</a:t>
              </a:r>
            </a:p>
            <a:p>
              <a:pPr algn="just"/>
              <a:r>
                <a:rPr lang="en-US" altLang="zh-CN" sz="2000" i="1">
                  <a:latin typeface="Courier New" panose="02070309020205020404" pitchFamily="49" charset="0"/>
                </a:rPr>
                <a:t>y--</a:t>
              </a:r>
              <a:endParaRPr lang="en-US" altLang="zh-CN" sz="2000">
                <a:latin typeface="Courier New" panose="02070309020205020404" pitchFamily="49" charset="0"/>
              </a:endParaRPr>
            </a:p>
          </p:txBody>
        </p:sp>
        <p:sp>
          <p:nvSpPr>
            <p:cNvPr id="21" name="Text Box 39">
              <a:extLst>
                <a:ext uri="{FF2B5EF4-FFF2-40B4-BE49-F238E27FC236}">
                  <a16:creationId xmlns:a16="http://schemas.microsoft.com/office/drawing/2014/main" id="{657B173F-DD76-B37A-D32D-9B1FB2BFB22F}"/>
                </a:ext>
              </a:extLst>
            </p:cNvPr>
            <p:cNvSpPr txBox="1">
              <a:spLocks noChangeArrowheads="1"/>
            </p:cNvSpPr>
            <p:nvPr/>
          </p:nvSpPr>
          <p:spPr bwMode="auto">
            <a:xfrm>
              <a:off x="4006" y="2024"/>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y</a:t>
              </a:r>
              <a:r>
                <a:rPr lang="zh-CN" altLang="en-US" sz="2000">
                  <a:latin typeface="Courier New" panose="02070309020205020404" pitchFamily="49" charset="0"/>
                </a:rPr>
                <a:t>增</a:t>
              </a:r>
              <a:r>
                <a:rPr lang="en-US" altLang="zh-CN" sz="2000">
                  <a:latin typeface="Courier New" panose="02070309020205020404" pitchFamily="49" charset="0"/>
                </a:rPr>
                <a:t>1</a:t>
              </a:r>
            </a:p>
          </p:txBody>
        </p:sp>
        <p:sp>
          <p:nvSpPr>
            <p:cNvPr id="22" name="Text Box 40">
              <a:extLst>
                <a:ext uri="{FF2B5EF4-FFF2-40B4-BE49-F238E27FC236}">
                  <a16:creationId xmlns:a16="http://schemas.microsoft.com/office/drawing/2014/main" id="{DFB5A8F7-32A9-697C-4B62-F3A99135EB1A}"/>
                </a:ext>
              </a:extLst>
            </p:cNvPr>
            <p:cNvSpPr txBox="1">
              <a:spLocks noChangeArrowheads="1"/>
            </p:cNvSpPr>
            <p:nvPr/>
          </p:nvSpPr>
          <p:spPr bwMode="auto">
            <a:xfrm>
              <a:off x="2744" y="2523"/>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x</a:t>
              </a:r>
              <a:r>
                <a:rPr lang="zh-CN" altLang="en-US" sz="2000">
                  <a:latin typeface="Courier New" panose="02070309020205020404" pitchFamily="49" charset="0"/>
                </a:rPr>
                <a:t>减</a:t>
              </a:r>
              <a:r>
                <a:rPr lang="en-US" altLang="zh-CN" sz="2000">
                  <a:latin typeface="Courier New" panose="02070309020205020404" pitchFamily="49" charset="0"/>
                </a:rPr>
                <a:t>1</a:t>
              </a:r>
            </a:p>
          </p:txBody>
        </p:sp>
        <p:sp>
          <p:nvSpPr>
            <p:cNvPr id="23" name="Text Box 41">
              <a:extLst>
                <a:ext uri="{FF2B5EF4-FFF2-40B4-BE49-F238E27FC236}">
                  <a16:creationId xmlns:a16="http://schemas.microsoft.com/office/drawing/2014/main" id="{E910F117-A14C-ED6D-1157-E7C70111E4A5}"/>
                </a:ext>
              </a:extLst>
            </p:cNvPr>
            <p:cNvSpPr txBox="1">
              <a:spLocks noChangeArrowheads="1"/>
            </p:cNvSpPr>
            <p:nvPr/>
          </p:nvSpPr>
          <p:spPr bwMode="auto">
            <a:xfrm>
              <a:off x="3280" y="2024"/>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y</a:t>
              </a:r>
              <a:r>
                <a:rPr lang="zh-CN" altLang="en-US" sz="2000">
                  <a:latin typeface="Courier New" panose="02070309020205020404" pitchFamily="49" charset="0"/>
                </a:rPr>
                <a:t>增</a:t>
              </a:r>
              <a:r>
                <a:rPr lang="en-US" altLang="zh-CN" sz="2000">
                  <a:latin typeface="Courier New" panose="02070309020205020404" pitchFamily="49" charset="0"/>
                </a:rPr>
                <a:t>1</a:t>
              </a:r>
            </a:p>
          </p:txBody>
        </p:sp>
        <p:sp>
          <p:nvSpPr>
            <p:cNvPr id="24" name="Text Box 42">
              <a:extLst>
                <a:ext uri="{FF2B5EF4-FFF2-40B4-BE49-F238E27FC236}">
                  <a16:creationId xmlns:a16="http://schemas.microsoft.com/office/drawing/2014/main" id="{03B78632-0C11-69DA-DBE2-0582A11F8270}"/>
                </a:ext>
              </a:extLst>
            </p:cNvPr>
            <p:cNvSpPr txBox="1">
              <a:spLocks noChangeArrowheads="1"/>
            </p:cNvSpPr>
            <p:nvPr/>
          </p:nvSpPr>
          <p:spPr bwMode="auto">
            <a:xfrm>
              <a:off x="4006" y="3498"/>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y</a:t>
              </a:r>
              <a:r>
                <a:rPr lang="zh-CN" altLang="en-US"/>
                <a:t>减</a:t>
              </a:r>
              <a:r>
                <a:rPr lang="en-US" altLang="zh-CN" sz="2000">
                  <a:latin typeface="Courier New" panose="02070309020205020404" pitchFamily="49" charset="0"/>
                </a:rPr>
                <a:t>1</a:t>
              </a:r>
            </a:p>
          </p:txBody>
        </p:sp>
        <p:sp>
          <p:nvSpPr>
            <p:cNvPr id="25" name="Text Box 43">
              <a:extLst>
                <a:ext uri="{FF2B5EF4-FFF2-40B4-BE49-F238E27FC236}">
                  <a16:creationId xmlns:a16="http://schemas.microsoft.com/office/drawing/2014/main" id="{C1523567-2B7D-3ECA-3DEA-53F05D6528C9}"/>
                </a:ext>
              </a:extLst>
            </p:cNvPr>
            <p:cNvSpPr txBox="1">
              <a:spLocks noChangeArrowheads="1"/>
            </p:cNvSpPr>
            <p:nvPr/>
          </p:nvSpPr>
          <p:spPr bwMode="auto">
            <a:xfrm>
              <a:off x="2780" y="2953"/>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x</a:t>
              </a:r>
              <a:r>
                <a:rPr lang="zh-CN" altLang="en-US" sz="2000">
                  <a:latin typeface="Courier New" panose="02070309020205020404" pitchFamily="49" charset="0"/>
                </a:rPr>
                <a:t>减</a:t>
              </a:r>
              <a:r>
                <a:rPr lang="en-US" altLang="zh-CN" sz="2000">
                  <a:latin typeface="Courier New" panose="02070309020205020404" pitchFamily="49" charset="0"/>
                </a:rPr>
                <a:t>1</a:t>
              </a:r>
            </a:p>
          </p:txBody>
        </p:sp>
        <p:sp>
          <p:nvSpPr>
            <p:cNvPr id="26" name="Text Box 44">
              <a:extLst>
                <a:ext uri="{FF2B5EF4-FFF2-40B4-BE49-F238E27FC236}">
                  <a16:creationId xmlns:a16="http://schemas.microsoft.com/office/drawing/2014/main" id="{BCA6D575-8CD6-6094-2420-37EF32F0FC4F}"/>
                </a:ext>
              </a:extLst>
            </p:cNvPr>
            <p:cNvSpPr txBox="1">
              <a:spLocks noChangeArrowheads="1"/>
            </p:cNvSpPr>
            <p:nvPr/>
          </p:nvSpPr>
          <p:spPr bwMode="auto">
            <a:xfrm>
              <a:off x="3335" y="3498"/>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Courier New" panose="02070309020205020404" pitchFamily="49" charset="0"/>
                </a:rPr>
                <a:t>y</a:t>
              </a:r>
              <a:r>
                <a:rPr lang="zh-CN" altLang="en-US"/>
                <a:t>减</a:t>
              </a:r>
              <a:r>
                <a:rPr lang="en-US" altLang="zh-CN" sz="2000">
                  <a:latin typeface="Courier New" panose="02070309020205020404" pitchFamily="49" charset="0"/>
                </a:rPr>
                <a:t>1</a:t>
              </a:r>
            </a:p>
          </p:txBody>
        </p:sp>
        <p:sp>
          <p:nvSpPr>
            <p:cNvPr id="27" name="Text Box 45">
              <a:extLst>
                <a:ext uri="{FF2B5EF4-FFF2-40B4-BE49-F238E27FC236}">
                  <a16:creationId xmlns:a16="http://schemas.microsoft.com/office/drawing/2014/main" id="{FC316B99-248A-B0B1-9EB5-207762EBAC59}"/>
                </a:ext>
              </a:extLst>
            </p:cNvPr>
            <p:cNvSpPr txBox="1">
              <a:spLocks noChangeArrowheads="1"/>
            </p:cNvSpPr>
            <p:nvPr/>
          </p:nvSpPr>
          <p:spPr bwMode="auto">
            <a:xfrm>
              <a:off x="3788" y="2795"/>
              <a:ext cx="816"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Courier New" panose="02070309020205020404" pitchFamily="49" charset="0"/>
                </a:rPr>
                <a:t>(x0,y0)</a:t>
              </a:r>
              <a:endParaRPr lang="en-US" altLang="zh-CN" sz="2000">
                <a:latin typeface="Courier New" panose="02070309020205020404" pitchFamily="49" charset="0"/>
              </a:endParaRPr>
            </a:p>
          </p:txBody>
        </p:sp>
      </p:grpSp>
    </p:spTree>
    <p:extLst>
      <p:ext uri="{BB962C8B-B14F-4D97-AF65-F5344CB8AC3E}">
        <p14:creationId xmlns:p14="http://schemas.microsoft.com/office/powerpoint/2010/main" val="126743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611827" y="713631"/>
                <a:ext cx="6359853" cy="5430738"/>
              </a:xfrm>
            </p:spPr>
            <p:txBody>
              <a:bodyPr>
                <a:normAutofit/>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3.2 </a:t>
                </a:r>
                <a:r>
                  <a:rPr lang="zh-CN" altLang="en-US" sz="3200" dirty="0">
                    <a:latin typeface="华光大标宋_CNKI" panose="02000500000000000000" pitchFamily="2" charset="-122"/>
                    <a:ea typeface="华光大标宋_CNKI" panose="02000500000000000000" pitchFamily="2" charset="-122"/>
                  </a:rPr>
                  <a:t>圆和圆弧的生成</a:t>
                </a:r>
                <a:endParaRPr lang="en-US" altLang="zh-CN" sz="3200" dirty="0">
                  <a:latin typeface="华光大标宋_CNKI" panose="02000500000000000000" pitchFamily="2" charset="-122"/>
                  <a:ea typeface="华光大标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设圆的圆心为</a:t>
                </a:r>
                <a:r>
                  <a:rPr lang="en-US" altLang="zh-CN" sz="2800" dirty="0">
                    <a:latin typeface="华光仿宋_CNKI" panose="02000500000000000000" pitchFamily="2" charset="-122"/>
                    <a:ea typeface="华光仿宋_CNKI" panose="02000500000000000000" pitchFamily="2" charset="-122"/>
                  </a:rPr>
                  <a:t>(0,0),</a:t>
                </a:r>
                <a:r>
                  <a:rPr lang="zh-CN" altLang="en-US" sz="2800" dirty="0">
                    <a:latin typeface="华光仿宋_CNKI" panose="02000500000000000000" pitchFamily="2" charset="-122"/>
                    <a:ea typeface="华光仿宋_CNKI" panose="02000500000000000000" pitchFamily="2" charset="-122"/>
                  </a:rPr>
                  <a:t>半径为</a:t>
                </a:r>
                <a:r>
                  <a:rPr lang="en-US" altLang="zh-CN" sz="2800" dirty="0">
                    <a:latin typeface="华光仿宋_CNKI" panose="02000500000000000000" pitchFamily="2" charset="-122"/>
                    <a:ea typeface="华光仿宋_CNKI" panose="02000500000000000000" pitchFamily="2" charset="-122"/>
                  </a:rPr>
                  <a:t>r,</a:t>
                </a:r>
                <a:r>
                  <a:rPr lang="zh-CN" altLang="en-US" sz="2800" dirty="0">
                    <a:latin typeface="华光仿宋_CNKI" panose="02000500000000000000" pitchFamily="2" charset="-122"/>
                    <a:ea typeface="华光仿宋_CNKI" panose="02000500000000000000" pitchFamily="2" charset="-122"/>
                  </a:rPr>
                  <a:t>则圆的方程为：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𝑥</m:t>
                        </m:r>
                      </m:e>
                      <m:sup>
                        <m:r>
                          <a:rPr lang="en-US" altLang="zh-CN" sz="2800" b="0" i="1" smtClean="0">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𝑦</m:t>
                        </m:r>
                      </m:e>
                      <m:sup>
                        <m:r>
                          <a:rPr lang="en-US" altLang="zh-CN" sz="2800" i="1">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𝑟</m:t>
                        </m:r>
                      </m:e>
                      <m:sup>
                        <m:r>
                          <a:rPr lang="en-US" altLang="zh-CN" sz="2800" i="1">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由于圆具有对称性，因此只需要计算出</a:t>
                </a:r>
                <a14:m>
                  <m:oMath xmlns:m="http://schemas.openxmlformats.org/officeDocument/2006/math">
                    <m:f>
                      <m:fPr>
                        <m:ctrlPr>
                          <a:rPr lang="en-US" altLang="zh-CN" sz="2800" i="1" smtClean="0">
                            <a:latin typeface="Cambria Math" panose="02040503050406030204" pitchFamily="18" charset="0"/>
                            <a:ea typeface="华光仿宋_CNKI" panose="02000500000000000000" pitchFamily="2" charset="-122"/>
                          </a:rPr>
                        </m:ctrlPr>
                      </m:fPr>
                      <m:num>
                        <m:r>
                          <a:rPr lang="en-US" altLang="zh-CN" sz="2800" b="0" i="1" smtClean="0">
                            <a:latin typeface="Cambria Math" panose="02040503050406030204" pitchFamily="18" charset="0"/>
                            <a:ea typeface="华光仿宋_CNKI" panose="02000500000000000000" pitchFamily="2" charset="-122"/>
                          </a:rPr>
                          <m:t>1</m:t>
                        </m:r>
                      </m:num>
                      <m:den>
                        <m:r>
                          <a:rPr lang="en-US" altLang="zh-CN" sz="2800" b="0" i="1" smtClean="0">
                            <a:latin typeface="Cambria Math" panose="02040503050406030204" pitchFamily="18" charset="0"/>
                            <a:ea typeface="华光仿宋_CNKI" panose="02000500000000000000" pitchFamily="2" charset="-122"/>
                          </a:rPr>
                          <m:t>8</m:t>
                        </m:r>
                      </m:den>
                    </m:f>
                  </m:oMath>
                </a14:m>
                <a:r>
                  <a:rPr lang="zh-CN" altLang="en-US" sz="2800" dirty="0">
                    <a:latin typeface="华光仿宋_CNKI" panose="02000500000000000000" pitchFamily="2" charset="-122"/>
                    <a:ea typeface="华光仿宋_CNKI" panose="02000500000000000000" pitchFamily="2" charset="-122"/>
                  </a:rPr>
                  <a:t>圆对应的点即可绘制出整个圆所对应的其它的所有点，如右图所示。</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611827" y="713631"/>
                <a:ext cx="6359853" cy="5430738"/>
              </a:xfrm>
              <a:blipFill>
                <a:blip r:embed="rId2"/>
                <a:stretch>
                  <a:fillRect l="-2395" r="-670"/>
                </a:stretch>
              </a:blipFill>
            </p:spPr>
            <p:txBody>
              <a:bodyPr/>
              <a:lstStyle/>
              <a:p>
                <a:r>
                  <a:rPr lang="zh-CN" altLang="en-US">
                    <a:noFill/>
                  </a:rPr>
                  <a:t> </a:t>
                </a:r>
              </a:p>
            </p:txBody>
          </p:sp>
        </mc:Fallback>
      </mc:AlternateContent>
      <p:grpSp>
        <p:nvGrpSpPr>
          <p:cNvPr id="7" name="Group 6">
            <a:extLst>
              <a:ext uri="{FF2B5EF4-FFF2-40B4-BE49-F238E27FC236}">
                <a16:creationId xmlns:a16="http://schemas.microsoft.com/office/drawing/2014/main" id="{B7C9843B-C5F5-EE9A-1717-A59D3302D5C9}"/>
              </a:ext>
            </a:extLst>
          </p:cNvPr>
          <p:cNvGrpSpPr>
            <a:grpSpLocks/>
          </p:cNvGrpSpPr>
          <p:nvPr/>
        </p:nvGrpSpPr>
        <p:grpSpPr bwMode="auto">
          <a:xfrm>
            <a:off x="7255648" y="1747506"/>
            <a:ext cx="4758773" cy="3603722"/>
            <a:chOff x="3124" y="2061"/>
            <a:chExt cx="3169" cy="2277"/>
          </a:xfrm>
        </p:grpSpPr>
        <p:sp>
          <p:nvSpPr>
            <p:cNvPr id="8" name="Line 7">
              <a:extLst>
                <a:ext uri="{FF2B5EF4-FFF2-40B4-BE49-F238E27FC236}">
                  <a16:creationId xmlns:a16="http://schemas.microsoft.com/office/drawing/2014/main" id="{456E7371-748A-A3CD-D854-660D1ACADA2A}"/>
                </a:ext>
              </a:extLst>
            </p:cNvPr>
            <p:cNvSpPr>
              <a:spLocks noChangeShapeType="1"/>
            </p:cNvSpPr>
            <p:nvPr/>
          </p:nvSpPr>
          <p:spPr bwMode="auto">
            <a:xfrm>
              <a:off x="3124" y="3356"/>
              <a:ext cx="2776" cy="0"/>
            </a:xfrm>
            <a:prstGeom prst="line">
              <a:avLst/>
            </a:prstGeom>
            <a:noFill/>
            <a:ln w="952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9" name="Line 8">
              <a:extLst>
                <a:ext uri="{FF2B5EF4-FFF2-40B4-BE49-F238E27FC236}">
                  <a16:creationId xmlns:a16="http://schemas.microsoft.com/office/drawing/2014/main" id="{B38BE50F-04DC-D599-DA01-1CD0EEAB17B5}"/>
                </a:ext>
              </a:extLst>
            </p:cNvPr>
            <p:cNvSpPr>
              <a:spLocks noChangeShapeType="1"/>
            </p:cNvSpPr>
            <p:nvPr/>
          </p:nvSpPr>
          <p:spPr bwMode="auto">
            <a:xfrm flipV="1">
              <a:off x="4618" y="2184"/>
              <a:ext cx="1" cy="2154"/>
            </a:xfrm>
            <a:prstGeom prst="line">
              <a:avLst/>
            </a:prstGeom>
            <a:noFill/>
            <a:ln w="952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10" name="Text Box 9">
              <a:extLst>
                <a:ext uri="{FF2B5EF4-FFF2-40B4-BE49-F238E27FC236}">
                  <a16:creationId xmlns:a16="http://schemas.microsoft.com/office/drawing/2014/main" id="{07678E6D-FB75-DC1C-BE1E-F46F607E4339}"/>
                </a:ext>
              </a:extLst>
            </p:cNvPr>
            <p:cNvSpPr txBox="1">
              <a:spLocks noChangeArrowheads="1"/>
            </p:cNvSpPr>
            <p:nvPr/>
          </p:nvSpPr>
          <p:spPr bwMode="auto">
            <a:xfrm>
              <a:off x="4699" y="2061"/>
              <a:ext cx="210"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Times New Roman" panose="02020603050405020304" pitchFamily="18" charset="0"/>
                </a:rPr>
                <a:t>y</a:t>
              </a:r>
              <a:endParaRPr lang="en-US" altLang="zh-CN" sz="2000"/>
            </a:p>
          </p:txBody>
        </p:sp>
        <p:sp>
          <p:nvSpPr>
            <p:cNvPr id="11" name="Text Box 10">
              <a:extLst>
                <a:ext uri="{FF2B5EF4-FFF2-40B4-BE49-F238E27FC236}">
                  <a16:creationId xmlns:a16="http://schemas.microsoft.com/office/drawing/2014/main" id="{D2BF33CB-F104-28D0-BE24-33C279388DD5}"/>
                </a:ext>
              </a:extLst>
            </p:cNvPr>
            <p:cNvSpPr txBox="1">
              <a:spLocks noChangeArrowheads="1"/>
            </p:cNvSpPr>
            <p:nvPr/>
          </p:nvSpPr>
          <p:spPr bwMode="auto">
            <a:xfrm>
              <a:off x="6007" y="3185"/>
              <a:ext cx="286"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i="1">
                  <a:latin typeface="Times New Roman" panose="02020603050405020304" pitchFamily="18" charset="0"/>
                </a:rPr>
                <a:t>x</a:t>
              </a:r>
              <a:endParaRPr lang="en-US" altLang="zh-CN" sz="2000"/>
            </a:p>
          </p:txBody>
        </p:sp>
        <p:sp>
          <p:nvSpPr>
            <p:cNvPr id="12" name="Oval 11">
              <a:extLst>
                <a:ext uri="{FF2B5EF4-FFF2-40B4-BE49-F238E27FC236}">
                  <a16:creationId xmlns:a16="http://schemas.microsoft.com/office/drawing/2014/main" id="{9FC1FA5C-7E79-56CA-A380-E8006DEC37AB}"/>
                </a:ext>
              </a:extLst>
            </p:cNvPr>
            <p:cNvSpPr>
              <a:spLocks noChangeArrowheads="1"/>
            </p:cNvSpPr>
            <p:nvPr/>
          </p:nvSpPr>
          <p:spPr bwMode="auto">
            <a:xfrm>
              <a:off x="3833" y="2652"/>
              <a:ext cx="1571" cy="151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 name="Oval 12">
              <a:extLst>
                <a:ext uri="{FF2B5EF4-FFF2-40B4-BE49-F238E27FC236}">
                  <a16:creationId xmlns:a16="http://schemas.microsoft.com/office/drawing/2014/main" id="{E63947E5-4335-4864-15B7-C753D5D7AA4F}"/>
                </a:ext>
              </a:extLst>
            </p:cNvPr>
            <p:cNvSpPr>
              <a:spLocks noChangeArrowheads="1"/>
            </p:cNvSpPr>
            <p:nvPr/>
          </p:nvSpPr>
          <p:spPr bwMode="auto">
            <a:xfrm>
              <a:off x="4589" y="3352"/>
              <a:ext cx="37" cy="38"/>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4" name="Oval 13">
              <a:extLst>
                <a:ext uri="{FF2B5EF4-FFF2-40B4-BE49-F238E27FC236}">
                  <a16:creationId xmlns:a16="http://schemas.microsoft.com/office/drawing/2014/main" id="{E794F121-72A1-060F-E067-CD5BC2C50944}"/>
                </a:ext>
              </a:extLst>
            </p:cNvPr>
            <p:cNvSpPr>
              <a:spLocks noChangeArrowheads="1"/>
            </p:cNvSpPr>
            <p:nvPr/>
          </p:nvSpPr>
          <p:spPr bwMode="auto">
            <a:xfrm>
              <a:off x="4598" y="2614"/>
              <a:ext cx="39" cy="37"/>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5" name="Oval 14">
              <a:extLst>
                <a:ext uri="{FF2B5EF4-FFF2-40B4-BE49-F238E27FC236}">
                  <a16:creationId xmlns:a16="http://schemas.microsoft.com/office/drawing/2014/main" id="{4E0923D5-614E-F50D-278A-D103C57D5358}"/>
                </a:ext>
              </a:extLst>
            </p:cNvPr>
            <p:cNvSpPr>
              <a:spLocks noChangeArrowheads="1"/>
            </p:cNvSpPr>
            <p:nvPr/>
          </p:nvSpPr>
          <p:spPr bwMode="auto">
            <a:xfrm>
              <a:off x="4598" y="4139"/>
              <a:ext cx="39" cy="38"/>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6" name="Oval 15">
              <a:extLst>
                <a:ext uri="{FF2B5EF4-FFF2-40B4-BE49-F238E27FC236}">
                  <a16:creationId xmlns:a16="http://schemas.microsoft.com/office/drawing/2014/main" id="{D6CEF198-FC5A-9F28-9E6B-F7BDDAA23771}"/>
                </a:ext>
              </a:extLst>
            </p:cNvPr>
            <p:cNvSpPr>
              <a:spLocks noChangeArrowheads="1"/>
            </p:cNvSpPr>
            <p:nvPr/>
          </p:nvSpPr>
          <p:spPr bwMode="auto">
            <a:xfrm>
              <a:off x="4347" y="4100"/>
              <a:ext cx="39" cy="35"/>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7" name="Oval 16">
              <a:extLst>
                <a:ext uri="{FF2B5EF4-FFF2-40B4-BE49-F238E27FC236}">
                  <a16:creationId xmlns:a16="http://schemas.microsoft.com/office/drawing/2014/main" id="{70632292-6837-88E5-0F2B-AEFCCFB165E8}"/>
                </a:ext>
              </a:extLst>
            </p:cNvPr>
            <p:cNvSpPr>
              <a:spLocks noChangeArrowheads="1"/>
            </p:cNvSpPr>
            <p:nvPr/>
          </p:nvSpPr>
          <p:spPr bwMode="auto">
            <a:xfrm>
              <a:off x="4842" y="4096"/>
              <a:ext cx="37" cy="37"/>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8" name="Oval 17">
              <a:extLst>
                <a:ext uri="{FF2B5EF4-FFF2-40B4-BE49-F238E27FC236}">
                  <a16:creationId xmlns:a16="http://schemas.microsoft.com/office/drawing/2014/main" id="{FD532676-BCC2-BDF2-AFF4-1E22499ADEB4}"/>
                </a:ext>
              </a:extLst>
            </p:cNvPr>
            <p:cNvSpPr>
              <a:spLocks noChangeArrowheads="1"/>
            </p:cNvSpPr>
            <p:nvPr/>
          </p:nvSpPr>
          <p:spPr bwMode="auto">
            <a:xfrm>
              <a:off x="4831" y="2646"/>
              <a:ext cx="38" cy="38"/>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19" name="Oval 18">
              <a:extLst>
                <a:ext uri="{FF2B5EF4-FFF2-40B4-BE49-F238E27FC236}">
                  <a16:creationId xmlns:a16="http://schemas.microsoft.com/office/drawing/2014/main" id="{9D16EF7A-51ED-1149-124B-BDCFC38AA9F5}"/>
                </a:ext>
              </a:extLst>
            </p:cNvPr>
            <p:cNvSpPr>
              <a:spLocks noChangeArrowheads="1"/>
            </p:cNvSpPr>
            <p:nvPr/>
          </p:nvSpPr>
          <p:spPr bwMode="auto">
            <a:xfrm>
              <a:off x="4357" y="2654"/>
              <a:ext cx="39" cy="37"/>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20" name="Oval 19">
              <a:extLst>
                <a:ext uri="{FF2B5EF4-FFF2-40B4-BE49-F238E27FC236}">
                  <a16:creationId xmlns:a16="http://schemas.microsoft.com/office/drawing/2014/main" id="{388E2961-5478-6760-31A6-87A2F580BBB4}"/>
                </a:ext>
              </a:extLst>
            </p:cNvPr>
            <p:cNvSpPr>
              <a:spLocks noChangeArrowheads="1"/>
            </p:cNvSpPr>
            <p:nvPr/>
          </p:nvSpPr>
          <p:spPr bwMode="auto">
            <a:xfrm>
              <a:off x="5354" y="3561"/>
              <a:ext cx="39" cy="37"/>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21" name="Oval 20">
              <a:extLst>
                <a:ext uri="{FF2B5EF4-FFF2-40B4-BE49-F238E27FC236}">
                  <a16:creationId xmlns:a16="http://schemas.microsoft.com/office/drawing/2014/main" id="{87498EB7-4414-7D60-3932-BC32CF65FE9F}"/>
                </a:ext>
              </a:extLst>
            </p:cNvPr>
            <p:cNvSpPr>
              <a:spLocks noChangeArrowheads="1"/>
            </p:cNvSpPr>
            <p:nvPr/>
          </p:nvSpPr>
          <p:spPr bwMode="auto">
            <a:xfrm>
              <a:off x="5363" y="3152"/>
              <a:ext cx="40" cy="37"/>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22" name="Oval 21">
              <a:extLst>
                <a:ext uri="{FF2B5EF4-FFF2-40B4-BE49-F238E27FC236}">
                  <a16:creationId xmlns:a16="http://schemas.microsoft.com/office/drawing/2014/main" id="{0EFDB1BE-64F7-C3D5-3AE7-33C3C465A5BA}"/>
                </a:ext>
              </a:extLst>
            </p:cNvPr>
            <p:cNvSpPr>
              <a:spLocks noChangeArrowheads="1"/>
            </p:cNvSpPr>
            <p:nvPr/>
          </p:nvSpPr>
          <p:spPr bwMode="auto">
            <a:xfrm>
              <a:off x="3833" y="3140"/>
              <a:ext cx="39" cy="35"/>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23" name="Oval 22">
              <a:extLst>
                <a:ext uri="{FF2B5EF4-FFF2-40B4-BE49-F238E27FC236}">
                  <a16:creationId xmlns:a16="http://schemas.microsoft.com/office/drawing/2014/main" id="{A57D9F60-CA7B-4C81-6A73-BF17B203A8C2}"/>
                </a:ext>
              </a:extLst>
            </p:cNvPr>
            <p:cNvSpPr>
              <a:spLocks noChangeArrowheads="1"/>
            </p:cNvSpPr>
            <p:nvPr/>
          </p:nvSpPr>
          <p:spPr bwMode="auto">
            <a:xfrm>
              <a:off x="3844" y="3591"/>
              <a:ext cx="38" cy="37"/>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24" name="Text Box 23">
              <a:extLst>
                <a:ext uri="{FF2B5EF4-FFF2-40B4-BE49-F238E27FC236}">
                  <a16:creationId xmlns:a16="http://schemas.microsoft.com/office/drawing/2014/main" id="{F3C034D5-EC99-068A-AC3C-3CC0B3243206}"/>
                </a:ext>
              </a:extLst>
            </p:cNvPr>
            <p:cNvSpPr txBox="1">
              <a:spLocks noChangeArrowheads="1"/>
            </p:cNvSpPr>
            <p:nvPr/>
          </p:nvSpPr>
          <p:spPr bwMode="auto">
            <a:xfrm>
              <a:off x="3874" y="2468"/>
              <a:ext cx="5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x,y</a:t>
              </a:r>
              <a:r>
                <a:rPr lang="en-US" altLang="zh-CN" sz="2000">
                  <a:latin typeface="Times New Roman" panose="02020603050405020304" pitchFamily="18" charset="0"/>
                </a:rPr>
                <a:t>)</a:t>
              </a:r>
              <a:endParaRPr lang="en-US" altLang="zh-CN" sz="2000"/>
            </a:p>
          </p:txBody>
        </p:sp>
        <p:sp>
          <p:nvSpPr>
            <p:cNvPr id="25" name="Text Box 24">
              <a:extLst>
                <a:ext uri="{FF2B5EF4-FFF2-40B4-BE49-F238E27FC236}">
                  <a16:creationId xmlns:a16="http://schemas.microsoft.com/office/drawing/2014/main" id="{E7CA2A42-0E94-FD2F-A2B8-FBFB64FD7312}"/>
                </a:ext>
              </a:extLst>
            </p:cNvPr>
            <p:cNvSpPr txBox="1">
              <a:spLocks noChangeArrowheads="1"/>
            </p:cNvSpPr>
            <p:nvPr/>
          </p:nvSpPr>
          <p:spPr bwMode="auto">
            <a:xfrm>
              <a:off x="5102" y="2530"/>
              <a:ext cx="36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x,y</a:t>
              </a:r>
              <a:r>
                <a:rPr lang="en-US" altLang="zh-CN" sz="2000">
                  <a:latin typeface="Times New Roman" panose="02020603050405020304" pitchFamily="18" charset="0"/>
                </a:rPr>
                <a:t>)</a:t>
              </a:r>
              <a:endParaRPr lang="en-US" altLang="zh-CN" sz="2000"/>
            </a:p>
          </p:txBody>
        </p:sp>
        <p:sp>
          <p:nvSpPr>
            <p:cNvPr id="26" name="Text Box 25">
              <a:extLst>
                <a:ext uri="{FF2B5EF4-FFF2-40B4-BE49-F238E27FC236}">
                  <a16:creationId xmlns:a16="http://schemas.microsoft.com/office/drawing/2014/main" id="{2B220C24-3025-7E76-54DF-19B3F7AFBA84}"/>
                </a:ext>
              </a:extLst>
            </p:cNvPr>
            <p:cNvSpPr txBox="1">
              <a:spLocks noChangeArrowheads="1"/>
            </p:cNvSpPr>
            <p:nvPr/>
          </p:nvSpPr>
          <p:spPr bwMode="auto">
            <a:xfrm>
              <a:off x="3410" y="2917"/>
              <a:ext cx="40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y,x</a:t>
              </a:r>
              <a:r>
                <a:rPr lang="en-US" altLang="zh-CN" sz="2000">
                  <a:latin typeface="Times New Roman" panose="02020603050405020304" pitchFamily="18" charset="0"/>
                </a:rPr>
                <a:t>)</a:t>
              </a:r>
              <a:endParaRPr lang="en-US" altLang="zh-CN" sz="2000"/>
            </a:p>
          </p:txBody>
        </p:sp>
        <p:sp>
          <p:nvSpPr>
            <p:cNvPr id="27" name="Text Box 26">
              <a:extLst>
                <a:ext uri="{FF2B5EF4-FFF2-40B4-BE49-F238E27FC236}">
                  <a16:creationId xmlns:a16="http://schemas.microsoft.com/office/drawing/2014/main" id="{EFC752C1-CAB9-9524-B662-A1627489AF92}"/>
                </a:ext>
              </a:extLst>
            </p:cNvPr>
            <p:cNvSpPr txBox="1">
              <a:spLocks noChangeArrowheads="1"/>
            </p:cNvSpPr>
            <p:nvPr/>
          </p:nvSpPr>
          <p:spPr bwMode="auto">
            <a:xfrm>
              <a:off x="5451" y="2966"/>
              <a:ext cx="362"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y,x</a:t>
              </a:r>
              <a:r>
                <a:rPr lang="en-US" altLang="zh-CN" sz="2000">
                  <a:latin typeface="Times New Roman" panose="02020603050405020304" pitchFamily="18" charset="0"/>
                </a:rPr>
                <a:t>)</a:t>
              </a:r>
              <a:endParaRPr lang="en-US" altLang="zh-CN" sz="2000"/>
            </a:p>
          </p:txBody>
        </p:sp>
        <p:sp>
          <p:nvSpPr>
            <p:cNvPr id="28" name="Text Box 27">
              <a:extLst>
                <a:ext uri="{FF2B5EF4-FFF2-40B4-BE49-F238E27FC236}">
                  <a16:creationId xmlns:a16="http://schemas.microsoft.com/office/drawing/2014/main" id="{939AB3E8-2E4F-56B2-7AE9-AD0269184AAA}"/>
                </a:ext>
              </a:extLst>
            </p:cNvPr>
            <p:cNvSpPr txBox="1">
              <a:spLocks noChangeArrowheads="1"/>
            </p:cNvSpPr>
            <p:nvPr/>
          </p:nvSpPr>
          <p:spPr bwMode="auto">
            <a:xfrm>
              <a:off x="5449" y="3516"/>
              <a:ext cx="483"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y,-x</a:t>
              </a:r>
              <a:r>
                <a:rPr lang="en-US" altLang="zh-CN" sz="2000">
                  <a:latin typeface="Times New Roman" panose="02020603050405020304" pitchFamily="18" charset="0"/>
                </a:rPr>
                <a:t>)</a:t>
              </a:r>
              <a:endParaRPr lang="en-US" altLang="zh-CN" sz="2000"/>
            </a:p>
          </p:txBody>
        </p:sp>
        <p:sp>
          <p:nvSpPr>
            <p:cNvPr id="29" name="Text Box 28">
              <a:extLst>
                <a:ext uri="{FF2B5EF4-FFF2-40B4-BE49-F238E27FC236}">
                  <a16:creationId xmlns:a16="http://schemas.microsoft.com/office/drawing/2014/main" id="{909B15D9-B4B4-6246-DEBE-CD1D755FBA62}"/>
                </a:ext>
              </a:extLst>
            </p:cNvPr>
            <p:cNvSpPr txBox="1">
              <a:spLocks noChangeArrowheads="1"/>
            </p:cNvSpPr>
            <p:nvPr/>
          </p:nvSpPr>
          <p:spPr bwMode="auto">
            <a:xfrm>
              <a:off x="3291" y="3397"/>
              <a:ext cx="527"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y,-x</a:t>
              </a:r>
              <a:r>
                <a:rPr lang="en-US" altLang="zh-CN" sz="2000">
                  <a:latin typeface="Times New Roman" panose="02020603050405020304" pitchFamily="18" charset="0"/>
                </a:rPr>
                <a:t>)</a:t>
              </a:r>
              <a:endParaRPr lang="en-US" altLang="zh-CN" sz="2000"/>
            </a:p>
          </p:txBody>
        </p:sp>
        <p:sp>
          <p:nvSpPr>
            <p:cNvPr id="30" name="Text Box 29">
              <a:extLst>
                <a:ext uri="{FF2B5EF4-FFF2-40B4-BE49-F238E27FC236}">
                  <a16:creationId xmlns:a16="http://schemas.microsoft.com/office/drawing/2014/main" id="{B70C5BCF-5A19-FC12-410D-8D55588F8111}"/>
                </a:ext>
              </a:extLst>
            </p:cNvPr>
            <p:cNvSpPr txBox="1">
              <a:spLocks noChangeArrowheads="1"/>
            </p:cNvSpPr>
            <p:nvPr/>
          </p:nvSpPr>
          <p:spPr bwMode="auto">
            <a:xfrm>
              <a:off x="3799" y="4026"/>
              <a:ext cx="48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x,-y</a:t>
              </a:r>
              <a:r>
                <a:rPr lang="en-US" altLang="zh-CN" sz="2000">
                  <a:latin typeface="Times New Roman" panose="02020603050405020304" pitchFamily="18" charset="0"/>
                </a:rPr>
                <a:t>)</a:t>
              </a:r>
              <a:endParaRPr lang="en-US" altLang="zh-CN" sz="2000"/>
            </a:p>
          </p:txBody>
        </p:sp>
        <p:sp>
          <p:nvSpPr>
            <p:cNvPr id="31" name="Text Box 30">
              <a:extLst>
                <a:ext uri="{FF2B5EF4-FFF2-40B4-BE49-F238E27FC236}">
                  <a16:creationId xmlns:a16="http://schemas.microsoft.com/office/drawing/2014/main" id="{B91DFB0D-2839-4D16-50BD-CD07F8543F58}"/>
                </a:ext>
              </a:extLst>
            </p:cNvPr>
            <p:cNvSpPr txBox="1">
              <a:spLocks noChangeArrowheads="1"/>
            </p:cNvSpPr>
            <p:nvPr/>
          </p:nvSpPr>
          <p:spPr bwMode="auto">
            <a:xfrm>
              <a:off x="4981" y="4026"/>
              <a:ext cx="483"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2000">
                  <a:latin typeface="Times New Roman" panose="02020603050405020304" pitchFamily="18" charset="0"/>
                </a:rPr>
                <a:t>(</a:t>
              </a:r>
              <a:r>
                <a:rPr lang="en-US" altLang="zh-CN" sz="2000" i="1">
                  <a:latin typeface="Times New Roman" panose="02020603050405020304" pitchFamily="18" charset="0"/>
                </a:rPr>
                <a:t>x,-y</a:t>
              </a:r>
              <a:r>
                <a:rPr lang="en-US" altLang="zh-CN" sz="2000">
                  <a:latin typeface="Times New Roman" panose="02020603050405020304" pitchFamily="18" charset="0"/>
                </a:rPr>
                <a:t>)</a:t>
              </a:r>
              <a:endParaRPr lang="en-US" altLang="zh-CN" sz="2000"/>
            </a:p>
          </p:txBody>
        </p:sp>
        <p:sp>
          <p:nvSpPr>
            <p:cNvPr id="32" name="Text Box 31">
              <a:extLst>
                <a:ext uri="{FF2B5EF4-FFF2-40B4-BE49-F238E27FC236}">
                  <a16:creationId xmlns:a16="http://schemas.microsoft.com/office/drawing/2014/main" id="{77B62BCF-F9EF-CCF1-5F09-FEA3C98D3715}"/>
                </a:ext>
              </a:extLst>
            </p:cNvPr>
            <p:cNvSpPr txBox="1">
              <a:spLocks noChangeArrowheads="1"/>
            </p:cNvSpPr>
            <p:nvPr/>
          </p:nvSpPr>
          <p:spPr bwMode="auto">
            <a:xfrm>
              <a:off x="4384" y="3307"/>
              <a:ext cx="395"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3300"/>
                  </a:solidFill>
                  <a:miter lim="800000"/>
                  <a:headEnd/>
                  <a:tailEnd/>
                </a14:hiddenLine>
              </a:ext>
            </a:extLst>
          </p:spPr>
          <p:txBody>
            <a:bodyPr lIns="0" tIns="0" rIns="0" bIns="0"/>
            <a:lstStyle/>
            <a:p>
              <a:pPr algn="ctr"/>
              <a:r>
                <a:rPr lang="en-US" altLang="zh-CN" sz="2000" dirty="0">
                  <a:latin typeface="Times New Roman" panose="02020603050405020304" pitchFamily="18" charset="0"/>
                </a:rPr>
                <a:t>o</a:t>
              </a:r>
              <a:endParaRPr lang="en-US" altLang="zh-CN" sz="2000" dirty="0"/>
            </a:p>
          </p:txBody>
        </p:sp>
        <p:sp>
          <p:nvSpPr>
            <p:cNvPr id="33" name="Line 32">
              <a:extLst>
                <a:ext uri="{FF2B5EF4-FFF2-40B4-BE49-F238E27FC236}">
                  <a16:creationId xmlns:a16="http://schemas.microsoft.com/office/drawing/2014/main" id="{14DAD05B-25CA-40A5-EBC8-E185B7D9B078}"/>
                </a:ext>
              </a:extLst>
            </p:cNvPr>
            <p:cNvSpPr>
              <a:spLocks noChangeShapeType="1"/>
            </p:cNvSpPr>
            <p:nvPr/>
          </p:nvSpPr>
          <p:spPr bwMode="auto">
            <a:xfrm flipV="1">
              <a:off x="4618" y="2887"/>
              <a:ext cx="604" cy="4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Oval 33">
              <a:extLst>
                <a:ext uri="{FF2B5EF4-FFF2-40B4-BE49-F238E27FC236}">
                  <a16:creationId xmlns:a16="http://schemas.microsoft.com/office/drawing/2014/main" id="{8F419204-26CA-C8FA-1EB9-A38834242F83}"/>
                </a:ext>
              </a:extLst>
            </p:cNvPr>
            <p:cNvSpPr>
              <a:spLocks noChangeArrowheads="1"/>
            </p:cNvSpPr>
            <p:nvPr/>
          </p:nvSpPr>
          <p:spPr bwMode="auto">
            <a:xfrm>
              <a:off x="5193" y="2869"/>
              <a:ext cx="37" cy="38"/>
            </a:xfrm>
            <a:prstGeom prst="ellipse">
              <a:avLst/>
            </a:prstGeom>
            <a:noFill/>
            <a:ln w="9525">
              <a:solidFill>
                <a:srgbClr val="000000"/>
              </a:solidFill>
              <a:round/>
              <a:headEnd/>
              <a:tailE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35" name="Text Box 34">
              <a:extLst>
                <a:ext uri="{FF2B5EF4-FFF2-40B4-BE49-F238E27FC236}">
                  <a16:creationId xmlns:a16="http://schemas.microsoft.com/office/drawing/2014/main" id="{0331012F-215D-7D66-93D0-67F35FBFDD6B}"/>
                </a:ext>
              </a:extLst>
            </p:cNvPr>
            <p:cNvSpPr txBox="1">
              <a:spLocks noChangeArrowheads="1"/>
            </p:cNvSpPr>
            <p:nvPr/>
          </p:nvSpPr>
          <p:spPr bwMode="auto">
            <a:xfrm>
              <a:off x="4739" y="2971"/>
              <a:ext cx="18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3300"/>
                  </a:solidFill>
                  <a:miter lim="800000"/>
                  <a:headEnd/>
                  <a:tailEnd/>
                </a14:hiddenLine>
              </a:ext>
            </a:extLst>
          </p:spPr>
          <p:txBody>
            <a:bodyPr lIns="0" tIns="0" rIns="0" bIns="0"/>
            <a:lstStyle/>
            <a:p>
              <a:pPr algn="just"/>
              <a:r>
                <a:rPr lang="en-US" altLang="zh-CN" sz="2000">
                  <a:latin typeface="Times New Roman" panose="02020603050405020304" pitchFamily="18" charset="0"/>
                </a:rPr>
                <a:t>R</a:t>
              </a:r>
            </a:p>
          </p:txBody>
        </p:sp>
        <p:sp>
          <p:nvSpPr>
            <p:cNvPr id="36" name="Text Box 35">
              <a:extLst>
                <a:ext uri="{FF2B5EF4-FFF2-40B4-BE49-F238E27FC236}">
                  <a16:creationId xmlns:a16="http://schemas.microsoft.com/office/drawing/2014/main" id="{C982BD34-D7D2-D10A-4C9E-487B81401A2D}"/>
                </a:ext>
              </a:extLst>
            </p:cNvPr>
            <p:cNvSpPr txBox="1">
              <a:spLocks noChangeArrowheads="1"/>
            </p:cNvSpPr>
            <p:nvPr/>
          </p:nvSpPr>
          <p:spPr bwMode="auto">
            <a:xfrm>
              <a:off x="5464" y="3875"/>
              <a:ext cx="72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grpSp>
    </p:spTree>
    <p:extLst>
      <p:ext uri="{BB962C8B-B14F-4D97-AF65-F5344CB8AC3E}">
        <p14:creationId xmlns:p14="http://schemas.microsoft.com/office/powerpoint/2010/main" val="2179042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8017" y="721580"/>
                <a:ext cx="10455965" cy="5766683"/>
              </a:xfrm>
            </p:spPr>
            <p:txBody>
              <a:bodyPr>
                <a:normAutofit lnSpcReduction="10000"/>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3.2.1 </a:t>
                </a:r>
                <a:r>
                  <a:rPr lang="zh-CN" altLang="en-US" sz="3200" dirty="0">
                    <a:latin typeface="华光大标宋_CNKI" panose="02000500000000000000" pitchFamily="2" charset="-122"/>
                    <a:ea typeface="华光大标宋_CNKI" panose="02000500000000000000" pitchFamily="2" charset="-122"/>
                  </a:rPr>
                  <a:t>圆的数字微分分析法</a:t>
                </a:r>
                <a:endParaRPr lang="en-US" altLang="zh-CN" sz="3200" dirty="0">
                  <a:latin typeface="华光大标宋_CNKI" panose="02000500000000000000" pitchFamily="2" charset="-122"/>
                  <a:ea typeface="华光大标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根据圆的方程可得：</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m:rPr>
                        <m:sty m:val="p"/>
                      </m:rPr>
                      <a:rPr lang="en-US" altLang="zh-CN" sz="2800" b="0" i="0" smtClean="0">
                        <a:latin typeface="Cambria Math" panose="02040503050406030204" pitchFamily="18" charset="0"/>
                        <a:ea typeface="华光仿宋_CNKI" panose="02000500000000000000" pitchFamily="2" charset="-122"/>
                      </a:rPr>
                      <m:t>f</m:t>
                    </m:r>
                    <m:d>
                      <m:dPr>
                        <m:ctrlPr>
                          <a:rPr lang="en-US" altLang="zh-CN" sz="2800" b="0" i="1" smtClean="0">
                            <a:latin typeface="Cambria Math" panose="02040503050406030204" pitchFamily="18" charset="0"/>
                            <a:ea typeface="华光仿宋_CNKI" panose="02000500000000000000" pitchFamily="2" charset="-122"/>
                          </a:rPr>
                        </m:ctrlPr>
                      </m:dPr>
                      <m:e>
                        <m:r>
                          <m:rPr>
                            <m:sty m:val="p"/>
                          </m:rPr>
                          <a:rPr lang="en-US" altLang="zh-CN" sz="2800" b="0" i="0" smtClean="0">
                            <a:latin typeface="Cambria Math" panose="02040503050406030204" pitchFamily="18" charset="0"/>
                            <a:ea typeface="华光仿宋_CNKI" panose="02000500000000000000" pitchFamily="2" charset="-122"/>
                          </a:rPr>
                          <m:t>x</m:t>
                        </m:r>
                        <m:r>
                          <a:rPr lang="en-US" altLang="zh-CN" sz="2800" b="0" i="0" smtClean="0">
                            <a:latin typeface="Cambria Math" panose="02040503050406030204" pitchFamily="18" charset="0"/>
                            <a:ea typeface="华光仿宋_CNKI" panose="02000500000000000000" pitchFamily="2" charset="-122"/>
                          </a:rPr>
                          <m:t>,</m:t>
                        </m:r>
                        <m:r>
                          <m:rPr>
                            <m:sty m:val="p"/>
                          </m:rPr>
                          <a:rPr lang="en-US" altLang="zh-CN" sz="2800" b="0" i="0" smtClean="0">
                            <a:latin typeface="Cambria Math" panose="02040503050406030204" pitchFamily="18" charset="0"/>
                            <a:ea typeface="华光仿宋_CNKI" panose="02000500000000000000" pitchFamily="2" charset="-122"/>
                          </a:rPr>
                          <m:t>y</m:t>
                        </m:r>
                      </m:e>
                    </m:d>
                    <m:r>
                      <a:rPr lang="en-US" altLang="zh-CN" sz="2800" b="0" i="0" smtClean="0">
                        <a:latin typeface="Cambria Math" panose="02040503050406030204" pitchFamily="18" charset="0"/>
                        <a:ea typeface="华光仿宋_CNKI" panose="02000500000000000000" pitchFamily="2" charset="-122"/>
                      </a:rPr>
                      <m:t>=</m:t>
                    </m:r>
                    <m:sSup>
                      <m:sSupPr>
                        <m:ctrlPr>
                          <a:rPr lang="en-US" altLang="zh-CN" sz="2800" i="1" smtClean="0">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e>
                      <m:sup>
                        <m:r>
                          <a:rPr lang="en-US" altLang="zh-CN" sz="2800" b="0" i="1" smtClean="0">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e>
                      <m:sup>
                        <m:r>
                          <a:rPr lang="en-US" altLang="zh-CN" sz="2800" i="1">
                            <a:latin typeface="Cambria Math" panose="02040503050406030204" pitchFamily="18" charset="0"/>
                            <a:ea typeface="华光仿宋_CNKI" panose="02000500000000000000" pitchFamily="2" charset="-122"/>
                          </a:rPr>
                          <m:t>2</m:t>
                        </m:r>
                      </m:sup>
                    </m:sSup>
                    <m:r>
                      <a:rPr lang="en-US" altLang="zh-CN" sz="2800" b="0" i="0" smtClean="0">
                        <a:latin typeface="Cambria Math" panose="02040503050406030204" pitchFamily="18" charset="0"/>
                        <a:ea typeface="华光仿宋_CNKI" panose="02000500000000000000" pitchFamily="2" charset="-122"/>
                      </a:rPr>
                      <m:t>−</m:t>
                    </m:r>
                  </m:oMath>
                </a14:m>
                <a:r>
                  <a:rPr lang="en-US" altLang="zh-CN" sz="2800" dirty="0">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𝑟</m:t>
                        </m:r>
                      </m:e>
                      <m:sup>
                        <m:r>
                          <a:rPr lang="en-US" altLang="zh-CN" sz="2800" i="1">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=0</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对于单位圆，</a:t>
                </a:r>
                <a:r>
                  <a:rPr lang="en-US" altLang="zh-CN" sz="2800" dirty="0">
                    <a:latin typeface="华光仿宋_CNKI" panose="02000500000000000000" pitchFamily="2" charset="-122"/>
                    <a:ea typeface="华光仿宋_CNKI" panose="02000500000000000000" pitchFamily="2" charset="-122"/>
                  </a:rPr>
                  <a:t>r=1</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对</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求导有：</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2</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oMath>
                </a14:m>
                <a:r>
                  <a:rPr lang="en-US" altLang="zh-CN" sz="2800" dirty="0">
                    <a:ea typeface="华光仿宋_CNKI" panose="02000500000000000000" pitchFamily="2" charset="-122"/>
                  </a:rPr>
                  <a:t> </a:t>
                </a:r>
                <a14:m>
                  <m:oMath xmlns:m="http://schemas.openxmlformats.org/officeDocument/2006/math">
                    <m:f>
                      <m:fPr>
                        <m:ctrlPr>
                          <a:rPr lang="en-US" altLang="zh-CN" sz="2800" i="1" smtClean="0">
                            <a:latin typeface="Cambria Math" panose="02040503050406030204" pitchFamily="18" charset="0"/>
                            <a:ea typeface="华光仿宋_CNKI" panose="02000500000000000000" pitchFamily="2" charset="-122"/>
                          </a:rPr>
                        </m:ctrlPr>
                      </m:fPr>
                      <m:num>
                        <m:r>
                          <a:rPr lang="en-US" altLang="zh-CN" sz="2800" b="0" i="1" smtClean="0">
                            <a:latin typeface="Cambria Math" panose="02040503050406030204" pitchFamily="18" charset="0"/>
                            <a:ea typeface="华光仿宋_CNKI" panose="02000500000000000000" pitchFamily="2" charset="-122"/>
                          </a:rPr>
                          <m:t>𝑑𝑦</m:t>
                        </m:r>
                      </m:num>
                      <m:den>
                        <m:r>
                          <a:rPr lang="en-US" altLang="zh-CN" sz="2800" b="0" i="1" smtClean="0">
                            <a:latin typeface="Cambria Math" panose="02040503050406030204" pitchFamily="18" charset="0"/>
                            <a:ea typeface="华光仿宋_CNKI" panose="02000500000000000000" pitchFamily="2" charset="-122"/>
                          </a:rPr>
                          <m:t>𝑑𝑥</m:t>
                        </m:r>
                      </m:den>
                    </m:f>
                  </m:oMath>
                </a14:m>
                <a:r>
                  <a:rPr lang="en-US" altLang="zh-CN" sz="2800" dirty="0">
                    <a:latin typeface="华光仿宋_CNKI" panose="02000500000000000000" pitchFamily="2" charset="-122"/>
                    <a:ea typeface="华光仿宋_CNKI" panose="02000500000000000000" pitchFamily="2" charset="-122"/>
                  </a:rPr>
                  <a:t>=0  </a:t>
                </a:r>
                <a:r>
                  <a:rPr lang="en-US" altLang="zh-CN" sz="2800" dirty="0">
                    <a:latin typeface="华光仿宋_CNKI" panose="02000500000000000000" pitchFamily="2" charset="-122"/>
                    <a:ea typeface="华光仿宋_CNKI" panose="02000500000000000000" pitchFamily="2" charset="-122"/>
                    <a:sym typeface="Wingdings" panose="05000000000000000000" pitchFamily="2" charset="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r>
                          <a:rPr lang="en-US" altLang="zh-CN" sz="2800" i="1">
                            <a:latin typeface="Cambria Math" panose="02040503050406030204" pitchFamily="18" charset="0"/>
                            <a:ea typeface="华光仿宋_CNKI" panose="02000500000000000000" pitchFamily="2" charset="-122"/>
                          </a:rPr>
                          <m:t>𝑑𝑦</m:t>
                        </m:r>
                      </m:num>
                      <m:den>
                        <m:r>
                          <a:rPr lang="en-US" altLang="zh-CN" sz="2800" i="1">
                            <a:latin typeface="Cambria Math" panose="02040503050406030204" pitchFamily="18" charset="0"/>
                            <a:ea typeface="华光仿宋_CNKI" panose="02000500000000000000" pitchFamily="2" charset="-122"/>
                          </a:rPr>
                          <m:t>𝑑𝑥</m:t>
                        </m:r>
                      </m:den>
                    </m:f>
                    <m:r>
                      <a:rPr lang="en-US" altLang="zh-CN" sz="2800" i="1" smtClean="0">
                        <a:latin typeface="Cambria Math" panose="02040503050406030204" pitchFamily="18" charset="0"/>
                        <a:ea typeface="华光仿宋_CNKI" panose="02000500000000000000" pitchFamily="2" charset="-122"/>
                      </a:rPr>
                      <m:t>=</m:t>
                    </m:r>
                  </m:oMath>
                </a14:m>
                <a:r>
                  <a:rPr lang="en-US" altLang="zh-CN" sz="2800" dirty="0">
                    <a:ea typeface="华光仿宋_CNKI" panose="02000500000000000000" pitchFamily="2" charset="-12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num>
                      <m:den>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den>
                    </m:f>
                  </m:oMath>
                </a14:m>
                <a:r>
                  <a:rPr lang="en-US" altLang="zh-CN"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sym typeface="Wingdings" panose="05000000000000000000" pitchFamily="2" charset="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r>
                          <a:rPr lang="en-US" altLang="zh-CN" sz="2800" i="1">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𝑦</m:t>
                        </m:r>
                      </m:num>
                      <m:den>
                        <m:r>
                          <a:rPr lang="en-US" altLang="zh-CN" sz="2800" i="1">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den>
                    </m:f>
                    <m:r>
                      <a:rPr lang="en-US" altLang="zh-CN" sz="2800" i="1">
                        <a:latin typeface="Cambria Math" panose="02040503050406030204" pitchFamily="18" charset="0"/>
                        <a:ea typeface="华光仿宋_CNKI" panose="02000500000000000000" pitchFamily="2" charset="-122"/>
                      </a:rPr>
                      <m:t>=</m:t>
                    </m:r>
                  </m:oMath>
                </a14:m>
                <a:r>
                  <a:rPr lang="en-US" altLang="zh-CN" sz="2800" dirty="0">
                    <a:ea typeface="华光仿宋_CNKI" panose="02000500000000000000" pitchFamily="2" charset="-12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num>
                      <m:den>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den>
                    </m:f>
                  </m:oMath>
                </a14:m>
                <a:r>
                  <a:rPr lang="en-US" altLang="zh-CN" sz="2800" dirty="0">
                    <a:latin typeface="华光仿宋_CNKI" panose="02000500000000000000" pitchFamily="2" charset="-122"/>
                    <a:ea typeface="华光仿宋_CNKI" panose="02000500000000000000" pitchFamily="2" charset="-122"/>
                    <a:sym typeface="Wingdings" panose="05000000000000000000" pitchFamily="2" charset="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num>
                      <m:den>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den>
                    </m:f>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num>
                      <m:den>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den>
                    </m:f>
                  </m:oMath>
                </a14:m>
                <a:endParaRPr lang="en-US" altLang="zh-CN" sz="2800" dirty="0">
                  <a:latin typeface="华光仿宋_CNKI" panose="02000500000000000000" pitchFamily="2" charset="-122"/>
                  <a:ea typeface="华光仿宋_CNKI" panose="02000500000000000000" pitchFamily="2" charset="-122"/>
                  <a:sym typeface="Wingdings" panose="05000000000000000000" pitchFamily="2" charset="2"/>
                </a:endParaRPr>
              </a:p>
              <a:p>
                <a:pPr algn="l">
                  <a:lnSpc>
                    <a:spcPct val="150000"/>
                  </a:lnSpc>
                </a:pPr>
                <a:r>
                  <a:rPr lang="en-US" altLang="zh-CN" sz="2800" dirty="0">
                    <a:latin typeface="华光仿宋_CNKI" panose="02000500000000000000" pitchFamily="2" charset="-122"/>
                    <a:ea typeface="华光仿宋_CNKI" panose="02000500000000000000" pitchFamily="2" charset="-122"/>
                    <a:sym typeface="Wingdings" panose="05000000000000000000" pitchFamily="2" charset="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num>
                      <m:den>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den>
                    </m:f>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f>
                      <m:fPr>
                        <m:ctrlPr>
                          <a:rPr lang="en-US" altLang="zh-CN" sz="2800" i="1">
                            <a:latin typeface="Cambria Math" panose="02040503050406030204" pitchFamily="18" charset="0"/>
                            <a:ea typeface="华光仿宋_CNKI" panose="02000500000000000000" pitchFamily="2" charset="-122"/>
                          </a:rPr>
                        </m:ctrlPr>
                      </m:fPr>
                      <m:num>
                        <m:r>
                          <m:rPr>
                            <m:sty m:val="p"/>
                          </m:rPr>
                          <a:rPr lang="el-GR" altLang="zh-CN" sz="2800" i="1" smtClean="0">
                            <a:latin typeface="Cambria Math" panose="02040503050406030204" pitchFamily="18" charset="0"/>
                            <a:ea typeface="华光仿宋_CNKI" panose="02000500000000000000" pitchFamily="2" charset="-122"/>
                          </a:rPr>
                          <m:t>ε</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num>
                      <m:den>
                        <m:r>
                          <m:rPr>
                            <m:sty m:val="p"/>
                          </m:rPr>
                          <a:rPr lang="el-GR" altLang="zh-CN" sz="2800" i="1">
                            <a:latin typeface="Cambria Math" panose="02040503050406030204" pitchFamily="18" charset="0"/>
                            <a:ea typeface="华光仿宋_CNKI" panose="02000500000000000000" pitchFamily="2" charset="-122"/>
                          </a:rPr>
                          <m:t>ε</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den>
                    </m:f>
                  </m:oMath>
                </a14:m>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68017" y="721580"/>
                <a:ext cx="10455965" cy="5766683"/>
              </a:xfrm>
              <a:blipFill>
                <a:blip r:embed="rId2"/>
                <a:stretch>
                  <a:fillRect l="-1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90356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8017" y="721581"/>
                <a:ext cx="10455965" cy="5225996"/>
              </a:xfrm>
            </p:spPr>
            <p:txBody>
              <a:bodyPr>
                <a:norm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令：</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oMath>
                </a14:m>
                <a:r>
                  <a:rPr lang="en-US" altLang="zh-CN" sz="2800" dirty="0">
                    <a:latin typeface="华光仿宋_CNKI" panose="02000500000000000000" pitchFamily="2" charset="-122"/>
                    <a:ea typeface="华光仿宋_CNKI" panose="02000500000000000000" pitchFamily="2" charset="-122"/>
                  </a:rPr>
                  <a:t>=-</a:t>
                </a:r>
                <a:r>
                  <a:rPr lang="el-GR" altLang="zh-CN" sz="2800" dirty="0">
                    <a:ea typeface="华光仿宋_CNKI" panose="02000500000000000000" pitchFamily="2" charset="-122"/>
                  </a:rPr>
                  <a:t> </a:t>
                </a:r>
                <a14:m>
                  <m:oMath xmlns:m="http://schemas.openxmlformats.org/officeDocument/2006/math">
                    <m:r>
                      <m:rPr>
                        <m:sty m:val="p"/>
                      </m:rPr>
                      <a:rPr lang="el-GR" altLang="zh-CN" sz="2800" i="1">
                        <a:latin typeface="Cambria Math" panose="02040503050406030204" pitchFamily="18" charset="0"/>
                        <a:ea typeface="华光仿宋_CNKI" panose="02000500000000000000" pitchFamily="2" charset="-122"/>
                      </a:rPr>
                      <m:t>ε</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oMath>
                </a14:m>
                <a:r>
                  <a:rPr lang="zh-CN" altLang="en-US"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oMath>
                </a14:m>
                <a:r>
                  <a:rPr lang="en-US" altLang="zh-CN" sz="2800" dirty="0">
                    <a:latin typeface="华光仿宋_CNKI" panose="02000500000000000000" pitchFamily="2" charset="-122"/>
                    <a:ea typeface="华光仿宋_CNKI" panose="02000500000000000000" pitchFamily="2" charset="-122"/>
                  </a:rPr>
                  <a:t>=</a:t>
                </a:r>
                <a:r>
                  <a:rPr lang="el-GR" altLang="zh-CN" sz="2800" dirty="0">
                    <a:ea typeface="华光仿宋_CNKI" panose="02000500000000000000" pitchFamily="2" charset="-122"/>
                  </a:rPr>
                  <a:t> </a:t>
                </a:r>
                <a14:m>
                  <m:oMath xmlns:m="http://schemas.openxmlformats.org/officeDocument/2006/math">
                    <m:r>
                      <m:rPr>
                        <m:sty m:val="p"/>
                      </m:rPr>
                      <a:rPr lang="el-GR" altLang="zh-CN" sz="2800" i="1">
                        <a:latin typeface="Cambria Math" panose="02040503050406030204" pitchFamily="18" charset="0"/>
                        <a:ea typeface="华光仿宋_CNKI" panose="02000500000000000000" pitchFamily="2" charset="-122"/>
                      </a:rPr>
                      <m:t>ε</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则可得到如下的递推式：</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oMath>
                </a14:m>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r>
                      <m:rPr>
                        <m:sty m:val="p"/>
                      </m:rPr>
                      <a:rPr lang="el-GR" altLang="zh-CN" sz="2800" i="1">
                        <a:latin typeface="Cambria Math" panose="02040503050406030204" pitchFamily="18" charset="0"/>
                        <a:ea typeface="华光仿宋_CNKI" panose="02000500000000000000" pitchFamily="2" charset="-122"/>
                      </a:rPr>
                      <m:t>ε</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r>
                          <a:rPr lang="en-US" altLang="zh-CN" sz="2800" i="1">
                            <a:latin typeface="Cambria Math" panose="02040503050406030204" pitchFamily="18" charset="0"/>
                            <a:ea typeface="华光仿宋_CNKI" panose="02000500000000000000" pitchFamily="2" charset="-122"/>
                          </a:rPr>
                          <m:t>+1</m:t>
                        </m:r>
                      </m:sub>
                    </m:sSub>
                  </m:oMath>
                </a14:m>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𝑛</m:t>
                        </m:r>
                      </m:sub>
                    </m:sSub>
                    <m:r>
                      <a:rPr lang="en-US" altLang="zh-CN" sz="2800" b="0" i="0" smtClean="0">
                        <a:latin typeface="Cambria Math" panose="02040503050406030204" pitchFamily="18" charset="0"/>
                        <a:ea typeface="华光仿宋_CNKI" panose="02000500000000000000" pitchFamily="2" charset="-122"/>
                      </a:rPr>
                      <m:t>+</m:t>
                    </m:r>
                    <m:r>
                      <m:rPr>
                        <m:sty m:val="p"/>
                      </m:rPr>
                      <a:rPr lang="el-GR" altLang="zh-CN" sz="2800" i="1">
                        <a:latin typeface="Cambria Math" panose="02040503050406030204" pitchFamily="18" charset="0"/>
                        <a:ea typeface="华光仿宋_CNKI" panose="02000500000000000000" pitchFamily="2" charset="-122"/>
                      </a:rPr>
                      <m:t>ε</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𝑛</m:t>
                        </m:r>
                      </m:sub>
                    </m:sSub>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m:rPr>
                        <m:sty m:val="p"/>
                      </m:rPr>
                      <a:rPr lang="el-GR" altLang="zh-CN" sz="2800" i="1" smtClean="0">
                        <a:latin typeface="Cambria Math" panose="02040503050406030204" pitchFamily="18" charset="0"/>
                        <a:ea typeface="华光仿宋_CNKI" panose="02000500000000000000" pitchFamily="2" charset="-122"/>
                      </a:rPr>
                      <m:t>ε</m:t>
                    </m:r>
                  </m:oMath>
                </a14:m>
                <a:r>
                  <a:rPr lang="zh-CN" altLang="en-US" sz="2800" dirty="0">
                    <a:latin typeface="华光仿宋_CNKI" panose="02000500000000000000" pitchFamily="2" charset="-122"/>
                    <a:ea typeface="华光仿宋_CNKI" panose="02000500000000000000" pitchFamily="2" charset="-122"/>
                  </a:rPr>
                  <a:t>的取值将决定圆的形状，</a:t>
                </a:r>
                <a:r>
                  <a:rPr lang="el-GR" altLang="zh-CN" sz="2800" dirty="0">
                    <a:ea typeface="华光仿宋_CNKI" panose="02000500000000000000" pitchFamily="2" charset="-122"/>
                  </a:rPr>
                  <a:t> </a:t>
                </a:r>
                <a14:m>
                  <m:oMath xmlns:m="http://schemas.openxmlformats.org/officeDocument/2006/math">
                    <m:r>
                      <m:rPr>
                        <m:sty m:val="p"/>
                      </m:rPr>
                      <a:rPr lang="el-GR" altLang="zh-CN" sz="2800" i="1">
                        <a:latin typeface="Cambria Math" panose="02040503050406030204" pitchFamily="18" charset="0"/>
                        <a:ea typeface="华光仿宋_CNKI" panose="02000500000000000000" pitchFamily="2" charset="-122"/>
                      </a:rPr>
                      <m:t>ε</m:t>
                    </m:r>
                  </m:oMath>
                </a14:m>
                <a:r>
                  <a:rPr lang="zh-CN" altLang="en-US" sz="2800" dirty="0">
                    <a:latin typeface="华光仿宋_CNKI" panose="02000500000000000000" pitchFamily="2" charset="-122"/>
                    <a:ea typeface="华光仿宋_CNKI" panose="02000500000000000000" pitchFamily="2" charset="-122"/>
                  </a:rPr>
                  <a:t>值越大越趋近于椭圆。</a:t>
                </a:r>
                <a:r>
                  <a:rPr lang="el-GR" altLang="zh-CN" sz="2800" dirty="0">
                    <a:ea typeface="华光仿宋_CNKI" panose="02000500000000000000" pitchFamily="2" charset="-122"/>
                  </a:rPr>
                  <a:t> </a:t>
                </a:r>
                <a14:m>
                  <m:oMath xmlns:m="http://schemas.openxmlformats.org/officeDocument/2006/math">
                    <m:r>
                      <m:rPr>
                        <m:sty m:val="p"/>
                      </m:rPr>
                      <a:rPr lang="el-GR" altLang="zh-CN" sz="2800" i="1">
                        <a:latin typeface="Cambria Math" panose="02040503050406030204" pitchFamily="18" charset="0"/>
                        <a:ea typeface="华光仿宋_CNKI" panose="02000500000000000000" pitchFamily="2" charset="-122"/>
                      </a:rPr>
                      <m:t>ε</m:t>
                    </m:r>
                  </m:oMath>
                </a14:m>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的符合确定其所在的半圆。</a:t>
                </a: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68017" y="721581"/>
                <a:ext cx="10455965" cy="5225996"/>
              </a:xfrm>
              <a:blipFill>
                <a:blip r:embed="rId2"/>
                <a:stretch>
                  <a:fillRect l="-1166" b="-15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712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0309" y="745435"/>
                <a:ext cx="6463086" cy="5367129"/>
              </a:xfrm>
            </p:spPr>
            <p:txBody>
              <a:bodyPr>
                <a:normAutofit/>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3.2.2 </a:t>
                </a:r>
                <a:r>
                  <a:rPr lang="zh-CN" altLang="en-US" sz="3200" dirty="0">
                    <a:latin typeface="华光大标宋_CNKI" panose="02000500000000000000" pitchFamily="2" charset="-122"/>
                    <a:ea typeface="华光大标宋_CNKI" panose="02000500000000000000" pitchFamily="2" charset="-122"/>
                  </a:rPr>
                  <a:t>圆的中点画线法</a:t>
                </a:r>
                <a:endParaRPr lang="en-US" altLang="zh-CN" sz="3200" dirty="0">
                  <a:latin typeface="华光大标宋_CNKI" panose="02000500000000000000" pitchFamily="2" charset="-122"/>
                  <a:ea typeface="华光大标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根据圆的方程可得：</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m:rPr>
                        <m:sty m:val="p"/>
                      </m:rPr>
                      <a:rPr lang="en-US" altLang="zh-CN" sz="2800" b="0" i="0" smtClean="0">
                        <a:latin typeface="Cambria Math" panose="02040503050406030204" pitchFamily="18" charset="0"/>
                        <a:ea typeface="华光仿宋_CNKI" panose="02000500000000000000" pitchFamily="2" charset="-122"/>
                      </a:rPr>
                      <m:t>f</m:t>
                    </m:r>
                    <m:d>
                      <m:dPr>
                        <m:ctrlPr>
                          <a:rPr lang="en-US" altLang="zh-CN" sz="2800" b="0" i="1" smtClean="0">
                            <a:latin typeface="Cambria Math" panose="02040503050406030204" pitchFamily="18" charset="0"/>
                            <a:ea typeface="华光仿宋_CNKI" panose="02000500000000000000" pitchFamily="2" charset="-122"/>
                          </a:rPr>
                        </m:ctrlPr>
                      </m:dPr>
                      <m:e>
                        <m:r>
                          <m:rPr>
                            <m:sty m:val="p"/>
                          </m:rPr>
                          <a:rPr lang="en-US" altLang="zh-CN" sz="2800" b="0" i="0" smtClean="0">
                            <a:latin typeface="Cambria Math" panose="02040503050406030204" pitchFamily="18" charset="0"/>
                            <a:ea typeface="华光仿宋_CNKI" panose="02000500000000000000" pitchFamily="2" charset="-122"/>
                          </a:rPr>
                          <m:t>x</m:t>
                        </m:r>
                        <m:r>
                          <a:rPr lang="en-US" altLang="zh-CN" sz="2800" b="0" i="0" smtClean="0">
                            <a:latin typeface="Cambria Math" panose="02040503050406030204" pitchFamily="18" charset="0"/>
                            <a:ea typeface="华光仿宋_CNKI" panose="02000500000000000000" pitchFamily="2" charset="-122"/>
                          </a:rPr>
                          <m:t>,</m:t>
                        </m:r>
                        <m:r>
                          <m:rPr>
                            <m:sty m:val="p"/>
                          </m:rPr>
                          <a:rPr lang="en-US" altLang="zh-CN" sz="2800" b="0" i="0" smtClean="0">
                            <a:latin typeface="Cambria Math" panose="02040503050406030204" pitchFamily="18" charset="0"/>
                            <a:ea typeface="华光仿宋_CNKI" panose="02000500000000000000" pitchFamily="2" charset="-122"/>
                          </a:rPr>
                          <m:t>y</m:t>
                        </m:r>
                      </m:e>
                    </m:d>
                    <m:r>
                      <a:rPr lang="en-US" altLang="zh-CN" sz="2800" b="0" i="0" smtClean="0">
                        <a:latin typeface="Cambria Math" panose="02040503050406030204" pitchFamily="18" charset="0"/>
                        <a:ea typeface="华光仿宋_CNKI" panose="02000500000000000000" pitchFamily="2" charset="-122"/>
                      </a:rPr>
                      <m:t>=</m:t>
                    </m:r>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𝑥</m:t>
                        </m:r>
                      </m:e>
                      <m:sup>
                        <m:r>
                          <a:rPr lang="en-US" altLang="zh-CN" sz="2800" b="0" i="1" smtClean="0">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𝑦</m:t>
                        </m:r>
                      </m:e>
                      <m:sup>
                        <m:r>
                          <a:rPr lang="en-US" altLang="zh-CN" sz="2800" i="1">
                            <a:latin typeface="Cambria Math" panose="02040503050406030204" pitchFamily="18" charset="0"/>
                            <a:ea typeface="华光仿宋_CNKI" panose="02000500000000000000" pitchFamily="2" charset="-122"/>
                          </a:rPr>
                          <m:t>2</m:t>
                        </m:r>
                      </m:sup>
                    </m:sSup>
                    <m:r>
                      <a:rPr lang="en-US" altLang="zh-CN" sz="2800" b="0" i="0" smtClean="0">
                        <a:latin typeface="Cambria Math" panose="02040503050406030204" pitchFamily="18" charset="0"/>
                        <a:ea typeface="华光仿宋_CNKI" panose="02000500000000000000" pitchFamily="2" charset="-122"/>
                      </a:rPr>
                      <m:t>−</m:t>
                    </m:r>
                  </m:oMath>
                </a14:m>
                <a:r>
                  <a:rPr lang="en-US" altLang="zh-CN" sz="2800" dirty="0">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𝑟</m:t>
                        </m:r>
                      </m:e>
                      <m:sup>
                        <m:r>
                          <a:rPr lang="en-US" altLang="zh-CN" sz="2800" i="1">
                            <a:latin typeface="Cambria Math" panose="02040503050406030204" pitchFamily="18" charset="0"/>
                            <a:ea typeface="华光仿宋_CNKI" panose="02000500000000000000" pitchFamily="2" charset="-122"/>
                          </a:rPr>
                          <m:t>2</m:t>
                        </m:r>
                      </m:sup>
                    </m:sSup>
                  </m:oMath>
                </a14:m>
                <a:r>
                  <a:rPr lang="en-US" altLang="zh-CN" sz="2800" dirty="0">
                    <a:latin typeface="华光仿宋_CNKI" panose="02000500000000000000" pitchFamily="2" charset="-122"/>
                    <a:ea typeface="华光仿宋_CNKI" panose="02000500000000000000" pitchFamily="2" charset="-122"/>
                  </a:rPr>
                  <a:t>=0</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与直线的中点画线法类似，同样须计算圆弧与网格线交点在中点</a:t>
                </a:r>
                <a:r>
                  <a:rPr lang="en-US" altLang="zh-CN" sz="2800" dirty="0">
                    <a:latin typeface="华光仿宋_CNKI" panose="02000500000000000000" pitchFamily="2" charset="-122"/>
                    <a:ea typeface="华光仿宋_CNKI" panose="02000500000000000000" pitchFamily="2" charset="-122"/>
                  </a:rPr>
                  <a:t>M</a:t>
                </a:r>
                <a:r>
                  <a:rPr lang="zh-CN" altLang="en-US" sz="2800" dirty="0">
                    <a:latin typeface="华光仿宋_CNKI" panose="02000500000000000000" pitchFamily="2" charset="-122"/>
                    <a:ea typeface="华光仿宋_CNKI" panose="02000500000000000000" pitchFamily="2" charset="-122"/>
                  </a:rPr>
                  <a:t>的上方还是下方，如果在上方，则选择</a:t>
                </a:r>
                <a:r>
                  <a:rPr lang="en-US" altLang="zh-CN" sz="2800" dirty="0">
                    <a:latin typeface="华光仿宋_CNKI" panose="02000500000000000000" pitchFamily="2" charset="-122"/>
                    <a:ea typeface="华光仿宋_CNKI" panose="02000500000000000000" pitchFamily="2" charset="-122"/>
                  </a:rPr>
                  <a:t>P1,</a:t>
                </a:r>
                <a:r>
                  <a:rPr lang="zh-CN" altLang="en-US" sz="2800" dirty="0">
                    <a:latin typeface="华光仿宋_CNKI" panose="02000500000000000000" pitchFamily="2" charset="-122"/>
                    <a:ea typeface="华光仿宋_CNKI" panose="02000500000000000000" pitchFamily="2" charset="-122"/>
                  </a:rPr>
                  <a:t>否则选择</a:t>
                </a:r>
                <a:r>
                  <a:rPr lang="en-US" altLang="zh-CN" sz="2800" dirty="0">
                    <a:latin typeface="华光仿宋_CNKI" panose="02000500000000000000" pitchFamily="2" charset="-122"/>
                    <a:ea typeface="华光仿宋_CNKI" panose="02000500000000000000" pitchFamily="2" charset="-122"/>
                  </a:rPr>
                  <a:t>P2</a:t>
                </a:r>
                <a:r>
                  <a:rPr lang="zh-CN" altLang="en-US" sz="2800" dirty="0">
                    <a:latin typeface="华光仿宋_CNKI" panose="02000500000000000000" pitchFamily="2" charset="-122"/>
                    <a:ea typeface="华光仿宋_CNKI" panose="02000500000000000000" pitchFamily="2" charset="-122"/>
                  </a:rPr>
                  <a:t>。如右图所示。</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20309" y="745435"/>
                <a:ext cx="6463086" cy="5367129"/>
              </a:xfrm>
              <a:blipFill>
                <a:blip r:embed="rId2"/>
                <a:stretch>
                  <a:fillRect l="-2453" r="-1038"/>
                </a:stretch>
              </a:blipFill>
            </p:spPr>
            <p:txBody>
              <a:bodyPr/>
              <a:lstStyle/>
              <a:p>
                <a:r>
                  <a:rPr lang="zh-CN" altLang="en-US">
                    <a:noFill/>
                  </a:rPr>
                  <a:t> </a:t>
                </a:r>
              </a:p>
            </p:txBody>
          </p:sp>
        </mc:Fallback>
      </mc:AlternateContent>
      <p:graphicFrame>
        <p:nvGraphicFramePr>
          <p:cNvPr id="2" name="Object 4">
            <a:extLst>
              <a:ext uri="{FF2B5EF4-FFF2-40B4-BE49-F238E27FC236}">
                <a16:creationId xmlns:a16="http://schemas.microsoft.com/office/drawing/2014/main" id="{2ACBA347-2103-A2FA-FBC6-FF1DFD34B02B}"/>
              </a:ext>
            </a:extLst>
          </p:cNvPr>
          <p:cNvGraphicFramePr>
            <a:graphicFrameLocks noChangeAspect="1"/>
          </p:cNvGraphicFramePr>
          <p:nvPr>
            <p:extLst>
              <p:ext uri="{D42A27DB-BD31-4B8C-83A1-F6EECF244321}">
                <p14:modId xmlns:p14="http://schemas.microsoft.com/office/powerpoint/2010/main" val="3459561828"/>
              </p:ext>
            </p:extLst>
          </p:nvPr>
        </p:nvGraphicFramePr>
        <p:xfrm>
          <a:off x="7283395" y="1437821"/>
          <a:ext cx="4706838" cy="3762332"/>
        </p:xfrm>
        <a:graphic>
          <a:graphicData uri="http://schemas.openxmlformats.org/presentationml/2006/ole">
            <mc:AlternateContent xmlns:mc="http://schemas.openxmlformats.org/markup-compatibility/2006">
              <mc:Choice xmlns:v="urn:schemas-microsoft-com:vml" Requires="v">
                <p:oleObj name="VISIO" r:id="rId3" imgW="1728720" imgH="1314720" progId="Visio.Drawing.5">
                  <p:embed/>
                </p:oleObj>
              </mc:Choice>
              <mc:Fallback>
                <p:oleObj name="VISIO" r:id="rId3" imgW="1728720" imgH="1314720" progId="Visio.Drawing.5">
                  <p:embed/>
                  <p:pic>
                    <p:nvPicPr>
                      <p:cNvPr id="28676" name="Object 4">
                        <a:extLst>
                          <a:ext uri="{FF2B5EF4-FFF2-40B4-BE49-F238E27FC236}">
                            <a16:creationId xmlns:a16="http://schemas.microsoft.com/office/drawing/2014/main" id="{CAB0CD50-BAA9-E144-AB77-0055D76AE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3395" y="1437821"/>
                        <a:ext cx="4706838" cy="376233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81820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80552" y="960120"/>
                <a:ext cx="10455965" cy="4937759"/>
              </a:xfrm>
            </p:spPr>
            <p:txBody>
              <a:bodyPr>
                <a:normAutofit/>
              </a:bodyPr>
              <a:lstStyle/>
              <a:p>
                <a:pPr algn="l">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a:t>
                </a:r>
                <a:r>
                  <a:rPr lang="en-US" altLang="zh-CN" dirty="0">
                    <a:latin typeface="华光仿宋_CNKI" panose="02000500000000000000" pitchFamily="2" charset="-122"/>
                    <a:ea typeface="华光仿宋_CNKI" panose="02000500000000000000" pitchFamily="2" charset="-122"/>
                  </a:rPr>
                  <a:t>P(</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b="0" i="1" smtClean="0">
                            <a:latin typeface="Cambria Math" panose="02040503050406030204" pitchFamily="18" charset="0"/>
                            <a:ea typeface="华光仿宋_CNKI" panose="02000500000000000000" pitchFamily="2" charset="-122"/>
                          </a:rPr>
                          <m:t>𝑝</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𝑝</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是网格上的点，且是圆上的点，设</a:t>
                </a:r>
                <a:r>
                  <a:rPr lang="en-US" altLang="zh-CN" dirty="0">
                    <a:latin typeface="华光仿宋_CNKI" panose="02000500000000000000" pitchFamily="2" charset="-122"/>
                    <a:ea typeface="华光仿宋_CNKI" panose="02000500000000000000" pitchFamily="2" charset="-122"/>
                  </a:rPr>
                  <a:t>P(</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𝑝</m:t>
                        </m:r>
                      </m:sub>
                    </m:sSub>
                  </m:oMath>
                </a14:m>
                <a:r>
                  <a:rPr lang="en-US" altLang="zh-CN" dirty="0">
                    <a:latin typeface="华光仿宋_CNKI" panose="02000500000000000000" pitchFamily="2" charset="-122"/>
                    <a:ea typeface="华光仿宋_CNKI" panose="02000500000000000000" pitchFamily="2" charset="-122"/>
                  </a:rPr>
                  <a:t>+1,</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𝑘</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是圆与垂直网格线的交点，则有：</a:t>
                </a:r>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𝑝</m:t>
                            </m:r>
                          </m:sub>
                        </m:sSub>
                        <m:r>
                          <a:rPr lang="en-US" altLang="zh-CN" b="0" i="1" smtClean="0">
                            <a:latin typeface="Cambria Math" panose="02040503050406030204" pitchFamily="18" charset="0"/>
                            <a:ea typeface="华光仿宋_CNKI" panose="02000500000000000000" pitchFamily="2" charset="-122"/>
                          </a:rPr>
                          <m:t>+1)</m:t>
                        </m:r>
                      </m:e>
                      <m:sup>
                        <m:r>
                          <a:rPr lang="en-US" altLang="zh-CN" i="1">
                            <a:latin typeface="Cambria Math" panose="02040503050406030204" pitchFamily="18" charset="0"/>
                            <a:ea typeface="华光仿宋_CNKI" panose="02000500000000000000" pitchFamily="2" charset="-122"/>
                          </a:rPr>
                          <m:t>2</m:t>
                        </m:r>
                      </m:sup>
                    </m:sSup>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𝑘</m:t>
                            </m:r>
                          </m:sub>
                        </m:sSub>
                      </m:e>
                      <m:sup>
                        <m:r>
                          <a:rPr lang="en-US" altLang="zh-CN" i="1">
                            <a:latin typeface="Cambria Math" panose="02040503050406030204" pitchFamily="18" charset="0"/>
                            <a:ea typeface="华光仿宋_CNKI" panose="02000500000000000000" pitchFamily="2" charset="-122"/>
                          </a:rPr>
                          <m:t>2</m:t>
                        </m:r>
                      </m:sup>
                    </m:sSup>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i="1">
                            <a:latin typeface="Cambria Math" panose="02040503050406030204" pitchFamily="18" charset="0"/>
                            <a:ea typeface="华光仿宋_CNKI" panose="02000500000000000000" pitchFamily="2" charset="-122"/>
                          </a:rPr>
                          <m:t>𝑟</m:t>
                        </m:r>
                      </m:e>
                      <m:sup>
                        <m:r>
                          <a:rPr lang="en-US" altLang="zh-CN" i="1">
                            <a:latin typeface="Cambria Math" panose="02040503050406030204" pitchFamily="18" charset="0"/>
                            <a:ea typeface="华光仿宋_CNKI" panose="02000500000000000000" pitchFamily="2" charset="-122"/>
                          </a:rPr>
                          <m:t>2</m:t>
                        </m:r>
                      </m:sup>
                    </m:sSup>
                  </m:oMath>
                </a14:m>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𝑝</m:t>
                        </m:r>
                      </m:sub>
                    </m:sSub>
                    <m:r>
                      <a:rPr lang="en-US" altLang="zh-CN" b="0" i="1" smtClean="0">
                        <a:latin typeface="Cambria Math" panose="02040503050406030204" pitchFamily="18" charset="0"/>
                        <a:ea typeface="华光仿宋_CNKI" panose="02000500000000000000" pitchFamily="2" charset="-122"/>
                      </a:rPr>
                      <m:t>−1</m:t>
                    </m:r>
                  </m:oMath>
                </a14:m>
                <a:r>
                  <a:rPr lang="en-US" altLang="zh-CN" dirty="0">
                    <a:latin typeface="华光仿宋_CNKI" panose="02000500000000000000" pitchFamily="2" charset="-122"/>
                    <a:ea typeface="华光仿宋_CNKI" panose="02000500000000000000" pitchFamily="2" charset="-122"/>
                  </a:rPr>
                  <a:t>&lt;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𝑘</m:t>
                        </m:r>
                      </m:sub>
                    </m:sSub>
                  </m:oMath>
                </a14:m>
                <a:r>
                  <a:rPr lang="en-US" altLang="zh-CN" dirty="0">
                    <a:latin typeface="华光仿宋_CNKI" panose="02000500000000000000" pitchFamily="2" charset="-122"/>
                    <a:ea typeface="华光仿宋_CNKI" panose="02000500000000000000" pitchFamily="2" charset="-122"/>
                  </a:rPr>
                  <a:t>&lt;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𝑝</m:t>
                        </m:r>
                      </m:sub>
                    </m:sSub>
                  </m:oMath>
                </a14:m>
                <a:r>
                  <a:rPr lang="en-US" altLang="zh-CN" dirty="0">
                    <a:latin typeface="华光仿宋_CNKI" panose="02000500000000000000" pitchFamily="2" charset="-122"/>
                    <a:ea typeface="华光仿宋_CNKI" panose="02000500000000000000" pitchFamily="2" charset="-122"/>
                  </a:rPr>
                  <a:t> </a:t>
                </a:r>
              </a:p>
              <a:p>
                <a:pPr algn="l">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显然如果</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𝑘</m:t>
                        </m:r>
                      </m:sub>
                    </m:sSub>
                    <m:r>
                      <a:rPr lang="en-US" altLang="zh-CN" b="0" i="0" smtClean="0">
                        <a:latin typeface="Cambria Math" panose="02040503050406030204" pitchFamily="18" charset="0"/>
                        <a:ea typeface="华光仿宋_CNKI" panose="02000500000000000000" pitchFamily="2" charset="-122"/>
                      </a:rPr>
                      <m:t>&gt;</m:t>
                    </m:r>
                  </m:oMath>
                </a14:m>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𝑦</m:t>
                        </m:r>
                      </m:e>
                      <m:sub>
                        <m:r>
                          <a:rPr lang="en-US" altLang="zh-CN" i="1">
                            <a:latin typeface="Cambria Math" panose="02040503050406030204" pitchFamily="18" charset="0"/>
                            <a:ea typeface="华光仿宋_CNKI" panose="02000500000000000000" pitchFamily="2" charset="-122"/>
                          </a:rPr>
                          <m:t>𝑝</m:t>
                        </m:r>
                      </m:sub>
                    </m:sSub>
                    <m:r>
                      <a:rPr lang="en-US" altLang="zh-CN" i="1">
                        <a:latin typeface="Cambria Math" panose="02040503050406030204" pitchFamily="18" charset="0"/>
                        <a:ea typeface="华光仿宋_CNKI" panose="02000500000000000000" pitchFamily="2" charset="-122"/>
                      </a:rPr>
                      <m:t> </m:t>
                    </m:r>
                  </m:oMath>
                </a14:m>
                <a:r>
                  <a:rPr lang="en-US" altLang="zh-CN" dirty="0">
                    <a:latin typeface="华光仿宋_CNKI" panose="02000500000000000000" pitchFamily="2" charset="-122"/>
                    <a:ea typeface="华光仿宋_CNKI" panose="02000500000000000000" pitchFamily="2" charset="-122"/>
                  </a:rPr>
                  <a:t>-0.5</a:t>
                </a:r>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M</a:t>
                </a:r>
                <a:r>
                  <a:rPr lang="zh-CN" altLang="en-US" dirty="0">
                    <a:latin typeface="华光仿宋_CNKI" panose="02000500000000000000" pitchFamily="2" charset="-122"/>
                    <a:ea typeface="华光仿宋_CNKI" panose="02000500000000000000" pitchFamily="2" charset="-122"/>
                  </a:rPr>
                  <a:t>点在圆弧的下方：</a:t>
                </a:r>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d=</a:t>
                </a:r>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𝑝</m:t>
                            </m:r>
                          </m:sub>
                        </m:sSub>
                        <m:r>
                          <a:rPr lang="en-US" altLang="zh-CN" b="0" i="1" smtClean="0">
                            <a:latin typeface="Cambria Math" panose="02040503050406030204" pitchFamily="18" charset="0"/>
                            <a:ea typeface="华光仿宋_CNKI" panose="02000500000000000000" pitchFamily="2" charset="-122"/>
                          </a:rPr>
                          <m:t>+1)</m:t>
                        </m:r>
                      </m:e>
                      <m:sup>
                        <m:r>
                          <a:rPr lang="en-US" altLang="zh-CN" i="1">
                            <a:latin typeface="Cambria Math" panose="02040503050406030204" pitchFamily="18" charset="0"/>
                            <a:ea typeface="华光仿宋_CNKI" panose="02000500000000000000" pitchFamily="2" charset="-122"/>
                          </a:rPr>
                          <m:t>2</m:t>
                        </m:r>
                      </m:sup>
                    </m:sSup>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𝑝</m:t>
                            </m:r>
                          </m:sub>
                        </m:sSub>
                        <m:r>
                          <a:rPr lang="en-US" altLang="zh-CN" b="0" i="1" smtClean="0">
                            <a:latin typeface="Cambria Math" panose="02040503050406030204" pitchFamily="18" charset="0"/>
                            <a:ea typeface="华光仿宋_CNKI" panose="02000500000000000000" pitchFamily="2" charset="-122"/>
                          </a:rPr>
                          <m:t>−0.5)</m:t>
                        </m:r>
                      </m:e>
                      <m:sup>
                        <m:r>
                          <a:rPr lang="en-US" altLang="zh-CN" i="1">
                            <a:latin typeface="Cambria Math" panose="02040503050406030204" pitchFamily="18" charset="0"/>
                            <a:ea typeface="华光仿宋_CNKI" panose="02000500000000000000" pitchFamily="2" charset="-122"/>
                          </a:rPr>
                          <m:t>2</m:t>
                        </m:r>
                      </m:sup>
                    </m:sSup>
                    <m:r>
                      <a:rPr lang="en-US" altLang="zh-CN" b="0" i="0" smtClean="0">
                        <a:latin typeface="Cambria Math" panose="02040503050406030204" pitchFamily="18" charset="0"/>
                        <a:ea typeface="华光仿宋_CNKI" panose="02000500000000000000" pitchFamily="2" charset="-122"/>
                      </a:rPr>
                      <m:t>−</m:t>
                    </m:r>
                  </m:oMath>
                </a14:m>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i="1">
                            <a:latin typeface="Cambria Math" panose="02040503050406030204" pitchFamily="18" charset="0"/>
                            <a:ea typeface="华光仿宋_CNKI" panose="02000500000000000000" pitchFamily="2" charset="-122"/>
                          </a:rPr>
                          <m:t>𝑟</m:t>
                        </m:r>
                      </m:e>
                      <m:sup>
                        <m:r>
                          <a:rPr lang="en-US" altLang="zh-CN" i="1">
                            <a:latin typeface="Cambria Math" panose="02040503050406030204" pitchFamily="18" charset="0"/>
                            <a:ea typeface="华光仿宋_CNKI" panose="02000500000000000000" pitchFamily="2" charset="-122"/>
                          </a:rPr>
                          <m:t>2</m:t>
                        </m:r>
                      </m:sup>
                    </m:sSup>
                    <m:r>
                      <a:rPr lang="en-US" altLang="zh-CN" b="0" i="0" smtClean="0">
                        <a:latin typeface="Cambria Math" panose="02040503050406030204" pitchFamily="18" charset="0"/>
                        <a:ea typeface="华光仿宋_CNKI" panose="02000500000000000000" pitchFamily="2" charset="-122"/>
                      </a:rPr>
                      <m:t>&lt;</m:t>
                    </m:r>
                  </m:oMath>
                </a14:m>
                <a:r>
                  <a:rPr lang="en-US" altLang="zh-CN" dirty="0">
                    <a:latin typeface="华光仿宋_CNKI" panose="02000500000000000000" pitchFamily="2" charset="-122"/>
                    <a:ea typeface="华光仿宋_CNKI" panose="02000500000000000000" pitchFamily="2" charset="-122"/>
                  </a:rPr>
                  <a:t>0, </a:t>
                </a:r>
                <a:r>
                  <a:rPr lang="zh-CN" altLang="en-US" dirty="0">
                    <a:latin typeface="华光仿宋_CNKI" panose="02000500000000000000" pitchFamily="2" charset="-122"/>
                    <a:ea typeface="华光仿宋_CNKI" panose="02000500000000000000" pitchFamily="2" charset="-122"/>
                  </a:rPr>
                  <a:t>取</a:t>
                </a:r>
                <a:r>
                  <a:rPr lang="en-US" altLang="zh-CN" dirty="0">
                    <a:latin typeface="华光仿宋_CNKI" panose="02000500000000000000" pitchFamily="2" charset="-122"/>
                    <a:ea typeface="华光仿宋_CNKI" panose="02000500000000000000" pitchFamily="2" charset="-122"/>
                  </a:rPr>
                  <a:t>P1</a:t>
                </a:r>
                <a:r>
                  <a:rPr lang="zh-CN" altLang="en-US" dirty="0">
                    <a:latin typeface="华光仿宋_CNKI" panose="02000500000000000000" pitchFamily="2" charset="-122"/>
                    <a:ea typeface="华光仿宋_CNKI" panose="02000500000000000000" pitchFamily="2" charset="-122"/>
                  </a:rPr>
                  <a:t>点</a:t>
                </a:r>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否则</a:t>
                </a:r>
                <a:r>
                  <a:rPr lang="en-US" altLang="zh-CN" dirty="0">
                    <a:latin typeface="华光仿宋_CNKI" panose="02000500000000000000" pitchFamily="2" charset="-122"/>
                    <a:ea typeface="华光仿宋_CNKI" panose="02000500000000000000" pitchFamily="2" charset="-122"/>
                  </a:rPr>
                  <a:t>M</a:t>
                </a:r>
                <a:r>
                  <a:rPr lang="zh-CN" altLang="en-US" dirty="0">
                    <a:latin typeface="华光仿宋_CNKI" panose="02000500000000000000" pitchFamily="2" charset="-122"/>
                    <a:ea typeface="华光仿宋_CNKI" panose="02000500000000000000" pitchFamily="2" charset="-122"/>
                  </a:rPr>
                  <a:t>点在圆弧的上方：</a:t>
                </a:r>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d=</a:t>
                </a:r>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𝑥</m:t>
                            </m:r>
                          </m:e>
                          <m:sub>
                            <m:r>
                              <a:rPr lang="en-US" altLang="zh-CN" i="1">
                                <a:latin typeface="Cambria Math" panose="02040503050406030204" pitchFamily="18" charset="0"/>
                                <a:ea typeface="华光仿宋_CNKI" panose="02000500000000000000" pitchFamily="2" charset="-122"/>
                              </a:rPr>
                              <m:t>𝑝</m:t>
                            </m:r>
                          </m:sub>
                        </m:sSub>
                        <m:r>
                          <a:rPr lang="en-US" altLang="zh-CN" b="0" i="1" smtClean="0">
                            <a:latin typeface="Cambria Math" panose="02040503050406030204" pitchFamily="18" charset="0"/>
                            <a:ea typeface="华光仿宋_CNKI" panose="02000500000000000000" pitchFamily="2" charset="-122"/>
                          </a:rPr>
                          <m:t>+1)</m:t>
                        </m:r>
                      </m:e>
                      <m:sup>
                        <m:r>
                          <a:rPr lang="en-US" altLang="zh-CN" i="1">
                            <a:latin typeface="Cambria Math" panose="02040503050406030204" pitchFamily="18" charset="0"/>
                            <a:ea typeface="华光仿宋_CNKI" panose="02000500000000000000" pitchFamily="2" charset="-122"/>
                          </a:rPr>
                          <m:t>2</m:t>
                        </m:r>
                      </m:sup>
                    </m:sSup>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𝑦</m:t>
                            </m:r>
                          </m:e>
                          <m:sub>
                            <m:r>
                              <a:rPr lang="en-US" altLang="zh-CN" b="0" i="1" smtClean="0">
                                <a:latin typeface="Cambria Math" panose="02040503050406030204" pitchFamily="18" charset="0"/>
                                <a:ea typeface="华光仿宋_CNKI" panose="02000500000000000000" pitchFamily="2" charset="-122"/>
                              </a:rPr>
                              <m:t>𝑝</m:t>
                            </m:r>
                          </m:sub>
                        </m:sSub>
                        <m:r>
                          <a:rPr lang="en-US" altLang="zh-CN" b="0" i="1" smtClean="0">
                            <a:latin typeface="Cambria Math" panose="02040503050406030204" pitchFamily="18" charset="0"/>
                            <a:ea typeface="华光仿宋_CNKI" panose="02000500000000000000" pitchFamily="2" charset="-122"/>
                          </a:rPr>
                          <m:t>−0.5)</m:t>
                        </m:r>
                      </m:e>
                      <m:sup>
                        <m:r>
                          <a:rPr lang="en-US" altLang="zh-CN" i="1">
                            <a:latin typeface="Cambria Math" panose="02040503050406030204" pitchFamily="18" charset="0"/>
                            <a:ea typeface="华光仿宋_CNKI" panose="02000500000000000000" pitchFamily="2" charset="-122"/>
                          </a:rPr>
                          <m:t>2</m:t>
                        </m:r>
                      </m:sup>
                    </m:sSup>
                    <m:r>
                      <a:rPr lang="en-US" altLang="zh-CN" b="0" i="0" smtClean="0">
                        <a:latin typeface="Cambria Math" panose="02040503050406030204" pitchFamily="18" charset="0"/>
                        <a:ea typeface="华光仿宋_CNKI" panose="02000500000000000000" pitchFamily="2" charset="-122"/>
                      </a:rPr>
                      <m:t>−</m:t>
                    </m:r>
                  </m:oMath>
                </a14:m>
                <a:r>
                  <a:rPr lang="en-US" altLang="zh-CN" dirty="0">
                    <a:ea typeface="华光仿宋_CNKI" panose="02000500000000000000" pitchFamily="2" charset="-122"/>
                  </a:rPr>
                  <a:t> </a:t>
                </a:r>
                <a14:m>
                  <m:oMath xmlns:m="http://schemas.openxmlformats.org/officeDocument/2006/math">
                    <m:sSup>
                      <m:sSupPr>
                        <m:ctrlPr>
                          <a:rPr lang="en-US" altLang="zh-CN" i="1">
                            <a:latin typeface="Cambria Math" panose="02040503050406030204" pitchFamily="18" charset="0"/>
                            <a:ea typeface="华光仿宋_CNKI" panose="02000500000000000000" pitchFamily="2" charset="-122"/>
                          </a:rPr>
                        </m:ctrlPr>
                      </m:sSupPr>
                      <m:e>
                        <m:r>
                          <a:rPr lang="en-US" altLang="zh-CN" i="1">
                            <a:latin typeface="Cambria Math" panose="02040503050406030204" pitchFamily="18" charset="0"/>
                            <a:ea typeface="华光仿宋_CNKI" panose="02000500000000000000" pitchFamily="2" charset="-122"/>
                          </a:rPr>
                          <m:t>𝑟</m:t>
                        </m:r>
                      </m:e>
                      <m:sup>
                        <m:r>
                          <a:rPr lang="en-US" altLang="zh-CN" i="1">
                            <a:latin typeface="Cambria Math" panose="02040503050406030204" pitchFamily="18" charset="0"/>
                            <a:ea typeface="华光仿宋_CNKI" panose="02000500000000000000" pitchFamily="2" charset="-122"/>
                          </a:rPr>
                          <m:t>2</m:t>
                        </m:r>
                      </m:sup>
                    </m:sSup>
                    <m:r>
                      <a:rPr lang="en-US" altLang="zh-CN" i="1" smtClean="0">
                        <a:latin typeface="Cambria Math" panose="02040503050406030204" pitchFamily="18" charset="0"/>
                        <a:ea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，取</a:t>
                </a:r>
                <a:r>
                  <a:rPr lang="en-US" altLang="zh-CN" dirty="0">
                    <a:latin typeface="华光仿宋_CNKI" panose="02000500000000000000" pitchFamily="2" charset="-122"/>
                    <a:ea typeface="华光仿宋_CNKI" panose="02000500000000000000" pitchFamily="2" charset="-122"/>
                  </a:rPr>
                  <a:t>P2</a:t>
                </a:r>
                <a:r>
                  <a:rPr lang="zh-CN" altLang="en-US" dirty="0">
                    <a:latin typeface="华光仿宋_CNKI" panose="02000500000000000000" pitchFamily="2" charset="-122"/>
                    <a:ea typeface="华光仿宋_CNKI" panose="02000500000000000000" pitchFamily="2" charset="-122"/>
                  </a:rPr>
                  <a:t>点。</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780552" y="960120"/>
                <a:ext cx="10455965" cy="4937759"/>
              </a:xfrm>
              <a:blipFill>
                <a:blip r:embed="rId2"/>
                <a:stretch>
                  <a:fillRect l="-8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8766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88504" y="887564"/>
                <a:ext cx="10455965" cy="5289605"/>
              </a:xfrm>
            </p:spPr>
            <p:txBody>
              <a:bodyPr>
                <a:norm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为了可以在前面的</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值基础上计算下一步的</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值，可以考虑：</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d&gt;0</a:t>
                </a:r>
                <a:r>
                  <a:rPr lang="zh-CN" altLang="en-US" sz="2800" dirty="0">
                    <a:latin typeface="华光仿宋_CNKI" panose="02000500000000000000" pitchFamily="2" charset="-122"/>
                    <a:ea typeface="华光仿宋_CNKI" panose="02000500000000000000" pitchFamily="2" charset="-122"/>
                  </a:rPr>
                  <a:t>时，取</a:t>
                </a:r>
                <a:r>
                  <a:rPr lang="en-US" altLang="zh-CN" sz="2800" dirty="0">
                    <a:latin typeface="华光仿宋_CNKI" panose="02000500000000000000" pitchFamily="2" charset="-122"/>
                    <a:ea typeface="华光仿宋_CNKI" panose="02000500000000000000" pitchFamily="2" charset="-122"/>
                  </a:rPr>
                  <a:t>P2</a:t>
                </a:r>
                <a:r>
                  <a:rPr lang="zh-CN" altLang="en-US" sz="2800" dirty="0">
                    <a:latin typeface="华光仿宋_CNKI" panose="02000500000000000000" pitchFamily="2" charset="-122"/>
                    <a:ea typeface="华光仿宋_CNKI" panose="02000500000000000000" pitchFamily="2" charset="-122"/>
                  </a:rPr>
                  <a:t>为下一个像素，则下一个像素的</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𝑑</m:t>
                        </m:r>
                      </m:e>
                      <m:sup>
                        <m:r>
                          <a:rPr lang="en-US" altLang="zh-CN" sz="2800" b="0" i="1" smtClean="0">
                            <a:latin typeface="Cambria Math" panose="02040503050406030204" pitchFamily="18" charset="0"/>
                            <a:ea typeface="华光仿宋_CNKI" panose="02000500000000000000" pitchFamily="2" charset="-122"/>
                          </a:rPr>
                          <m:t>′</m:t>
                        </m:r>
                      </m:sup>
                    </m:sSup>
                  </m:oMath>
                </a14:m>
                <a:r>
                  <a:rPr lang="zh-CN" altLang="en-US" sz="2800" dirty="0">
                    <a:latin typeface="华光仿宋_CNKI" panose="02000500000000000000" pitchFamily="2" charset="-122"/>
                    <a:ea typeface="华光仿宋_CNKI" panose="02000500000000000000" pitchFamily="2" charset="-122"/>
                  </a:rPr>
                  <a:t>值为：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zh-CN" altLang="en-US" dirty="0">
                    <a:solidFill>
                      <a:srgbClr val="000000"/>
                    </a:solidFill>
                  </a:rPr>
                  <a:t>       </a:t>
                </a:r>
                <a14:m>
                  <m:oMath xmlns:m="http://schemas.openxmlformats.org/officeDocument/2006/math">
                    <m:r>
                      <a:rPr lang="zh-CN" altLang="en-US" i="1" smtClean="0">
                        <a:solidFill>
                          <a:srgbClr val="000000"/>
                        </a:solidFill>
                        <a:latin typeface="Cambria Math" panose="02040503050406030204" pitchFamily="18" charset="0"/>
                      </a:rPr>
                      <m:t>𝑑</m:t>
                    </m:r>
                    <m:r>
                      <a:rPr lang="zh-CN" altLang="en-US"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𝑓</m:t>
                    </m:r>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−1.5)=(</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−1.5</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oMath>
                </a14:m>
                <a:endParaRPr lang="en-US" altLang="zh-CN" i="1" dirty="0">
                  <a:solidFill>
                    <a:srgbClr val="000000"/>
                  </a:solidFill>
                  <a:latin typeface="Cambria Math" panose="02040503050406030204" pitchFamily="18" charset="0"/>
                </a:endParaRPr>
              </a:p>
              <a:p>
                <a:pPr algn="l">
                  <a:lnSpc>
                    <a:spcPct val="150000"/>
                  </a:lnSpc>
                </a:pPr>
                <a:r>
                  <a:rPr lang="zh-CN" altLang="en-US" dirty="0">
                    <a:solidFill>
                      <a:srgbClr val="000000"/>
                    </a:solidFill>
                  </a:rPr>
                  <a:t>           </a:t>
                </a:r>
                <a14:m>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)+5</m:t>
                    </m:r>
                  </m:oMath>
                </a14:m>
                <a:endParaRPr lang="en-US" altLang="zh-CN" dirty="0"/>
              </a:p>
              <a:p>
                <a:pPr algn="l">
                  <a:lnSpc>
                    <a:spcPct val="150000"/>
                  </a:lnSpc>
                </a:pPr>
                <a:r>
                  <a:rPr lang="en-US" altLang="zh-CN" sz="24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d&lt;0</a:t>
                </a:r>
                <a:r>
                  <a:rPr lang="zh-CN" altLang="en-US" sz="2800" dirty="0">
                    <a:latin typeface="华光仿宋_CNKI" panose="02000500000000000000" pitchFamily="2" charset="-122"/>
                    <a:ea typeface="华光仿宋_CNKI" panose="02000500000000000000" pitchFamily="2" charset="-122"/>
                  </a:rPr>
                  <a:t>时，取</a:t>
                </a:r>
                <a:r>
                  <a:rPr lang="en-US" altLang="zh-CN" sz="2800" dirty="0">
                    <a:latin typeface="华光仿宋_CNKI" panose="02000500000000000000" pitchFamily="2" charset="-122"/>
                    <a:ea typeface="华光仿宋_CNKI" panose="02000500000000000000" pitchFamily="2" charset="-122"/>
                  </a:rPr>
                  <a:t>P1</a:t>
                </a:r>
                <a:r>
                  <a:rPr lang="zh-CN" altLang="en-US" sz="2800" dirty="0">
                    <a:latin typeface="华光仿宋_CNKI" panose="02000500000000000000" pitchFamily="2" charset="-122"/>
                    <a:ea typeface="华光仿宋_CNKI" panose="02000500000000000000" pitchFamily="2" charset="-122"/>
                  </a:rPr>
                  <a:t>为下一个像素，则下一个像素的</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a:latin typeface="Cambria Math" panose="02040503050406030204" pitchFamily="18" charset="0"/>
                            <a:ea typeface="华光仿宋_CNKI" panose="02000500000000000000" pitchFamily="2" charset="-122"/>
                          </a:rPr>
                          <m:t>𝑑</m:t>
                        </m:r>
                      </m:e>
                      <m:sup>
                        <m:r>
                          <a:rPr lang="en-US" altLang="zh-CN" sz="2800">
                            <a:latin typeface="Cambria Math" panose="02040503050406030204" pitchFamily="18" charset="0"/>
                            <a:ea typeface="华光仿宋_CNKI" panose="02000500000000000000" pitchFamily="2" charset="-122"/>
                          </a:rPr>
                          <m:t>′</m:t>
                        </m:r>
                      </m:sup>
                    </m:sSup>
                  </m:oMath>
                </a14:m>
                <a:r>
                  <a:rPr lang="zh-CN" altLang="en-US" sz="2800" dirty="0">
                    <a:latin typeface="华光仿宋_CNKI" panose="02000500000000000000" pitchFamily="2" charset="-122"/>
                    <a:ea typeface="华光仿宋_CNKI" panose="02000500000000000000" pitchFamily="2" charset="-122"/>
                  </a:rPr>
                  <a:t>值为：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dirty="0">
                    <a:solidFill>
                      <a:srgbClr val="000000"/>
                    </a:solidFill>
                    <a:latin typeface="华光仿宋_CNKI" panose="02000500000000000000" pitchFamily="2" charset="-122"/>
                    <a:ea typeface="华光仿宋_CNKI" panose="02000500000000000000" pitchFamily="2" charset="-122"/>
                  </a:rPr>
                  <a:t>     </a:t>
                </a:r>
                <a14:m>
                  <m:oMath xmlns:m="http://schemas.openxmlformats.org/officeDocument/2006/math">
                    <m:r>
                      <a:rPr lang="zh-CN" altLang="en-US" i="1" smtClean="0">
                        <a:solidFill>
                          <a:srgbClr val="000000"/>
                        </a:solidFill>
                        <a:latin typeface="Cambria Math" panose="02040503050406030204" pitchFamily="18" charset="0"/>
                      </a:rPr>
                      <m:t>𝑑</m:t>
                    </m:r>
                    <m:r>
                      <a:rPr lang="zh-CN" altLang="en-US"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𝑓</m:t>
                    </m:r>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−0.5)=(</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−0.5</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+3</m:t>
                    </m:r>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上面为第一象限时的中点画线法的计算方法。</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788504" y="887564"/>
                <a:ext cx="10455965" cy="5289605"/>
              </a:xfrm>
              <a:blipFill>
                <a:blip r:embed="rId2"/>
                <a:stretch>
                  <a:fillRect b="-13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8875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0308" y="745435"/>
                <a:ext cx="7350030" cy="5367129"/>
              </a:xfrm>
            </p:spPr>
            <p:txBody>
              <a:bodyPr>
                <a:normAutofit/>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3.2.3 </a:t>
                </a:r>
                <a:r>
                  <a:rPr lang="zh-CN" altLang="en-US" sz="3200" dirty="0">
                    <a:latin typeface="华光大标宋_CNKI" panose="02000500000000000000" pitchFamily="2" charset="-122"/>
                    <a:ea typeface="华光大标宋_CNKI" panose="02000500000000000000" pitchFamily="2" charset="-122"/>
                  </a:rPr>
                  <a:t>圆的</a:t>
                </a:r>
                <a:r>
                  <a:rPr lang="en-US" altLang="zh-CN" sz="3200" dirty="0" err="1">
                    <a:latin typeface="华光大标宋_CNKI" panose="02000500000000000000" pitchFamily="2" charset="-122"/>
                    <a:ea typeface="华光大标宋_CNKI" panose="02000500000000000000" pitchFamily="2" charset="-122"/>
                  </a:rPr>
                  <a:t>Bresenham</a:t>
                </a:r>
                <a:r>
                  <a:rPr lang="zh-CN" altLang="en-US" sz="3200" dirty="0">
                    <a:latin typeface="华光大标宋_CNKI" panose="02000500000000000000" pitchFamily="2" charset="-122"/>
                    <a:ea typeface="华光大标宋_CNKI" panose="02000500000000000000" pitchFamily="2" charset="-122"/>
                  </a:rPr>
                  <a:t>画线法</a:t>
                </a:r>
                <a:endParaRPr lang="en-US" altLang="zh-CN" sz="3200" dirty="0">
                  <a:latin typeface="华光大标宋_CNKI" panose="02000500000000000000" pitchFamily="2" charset="-122"/>
                  <a:ea typeface="华光大标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圆的</a:t>
                </a:r>
                <a:r>
                  <a:rPr lang="en-US" altLang="zh-CN" sz="2800" dirty="0" err="1">
                    <a:latin typeface="华光仿宋_CNKI" panose="02000500000000000000" pitchFamily="2" charset="-122"/>
                    <a:ea typeface="华光仿宋_CNKI" panose="02000500000000000000" pitchFamily="2" charset="-122"/>
                  </a:rPr>
                  <a:t>Bresenham</a:t>
                </a:r>
                <a:r>
                  <a:rPr lang="zh-CN" altLang="en-US" sz="2800" dirty="0">
                    <a:latin typeface="华光仿宋_CNKI" panose="02000500000000000000" pitchFamily="2" charset="-122"/>
                    <a:ea typeface="华光仿宋_CNKI" panose="02000500000000000000" pitchFamily="2" charset="-122"/>
                  </a:rPr>
                  <a:t>算法主要计算圆弧附近的像素点与圆心的距离，根据该距离与圆弧上实际点的距离来判断应该取那个点作为要显示的像素点。二者距离越接近，则取对应的点。如右图所示，点</a:t>
                </a:r>
                <a:r>
                  <a:rPr lang="en-US" altLang="zh-CN" sz="2800" dirty="0">
                    <a:latin typeface="华光仿宋_CNKI" panose="02000500000000000000" pitchFamily="2" charset="-122"/>
                    <a:ea typeface="华光仿宋_CNKI" panose="02000500000000000000" pitchFamily="2" charset="-122"/>
                  </a:rPr>
                  <a:t>H,V,D</a:t>
                </a:r>
                <a:r>
                  <a:rPr lang="zh-CN" altLang="en-US" sz="2800" dirty="0">
                    <a:latin typeface="华光仿宋_CNKI" panose="02000500000000000000" pitchFamily="2" charset="-122"/>
                    <a:ea typeface="华光仿宋_CNKI" panose="02000500000000000000" pitchFamily="2" charset="-122"/>
                  </a:rPr>
                  <a:t>均为可以取的点（针对第一象限），设圆的方程为</a:t>
                </a:r>
                <a14:m>
                  <m:oMath xmlns:m="http://schemas.openxmlformats.org/officeDocument/2006/math">
                    <m:r>
                      <a:rPr lang="zh-CN" altLang="en-US" sz="3200" i="1" smtClean="0">
                        <a:solidFill>
                          <a:srgbClr val="000000"/>
                        </a:solidFill>
                        <a:latin typeface="Cambria Math" panose="02040503050406030204" pitchFamily="18" charset="0"/>
                      </a:rPr>
                      <m:t> </m:t>
                    </m:r>
                    <m:sSup>
                      <m:sSupPr>
                        <m:ctrlPr>
                          <a:rPr lang="zh-CN" altLang="en-US" sz="2800" i="1">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𝑥</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smtClean="0">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𝑦</m:t>
                        </m:r>
                      </m:e>
                      <m:sup>
                        <m:r>
                          <a:rPr lang="zh-CN" altLang="en-US" sz="2800" i="1">
                            <a:solidFill>
                              <a:srgbClr val="000000"/>
                            </a:solidFill>
                            <a:latin typeface="Cambria Math" panose="02040503050406030204" pitchFamily="18" charset="0"/>
                          </a:rPr>
                          <m:t>2</m:t>
                        </m:r>
                      </m:sup>
                    </m:sSup>
                    <m:r>
                      <a:rPr lang="en-US" altLang="zh-CN"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则有：</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20308" y="745435"/>
                <a:ext cx="7350030" cy="5367129"/>
              </a:xfrm>
              <a:blipFill>
                <a:blip r:embed="rId2"/>
                <a:stretch>
                  <a:fillRect l="-2158" r="-581"/>
                </a:stretch>
              </a:blipFill>
            </p:spPr>
            <p:txBody>
              <a:bodyPr/>
              <a:lstStyle/>
              <a:p>
                <a:r>
                  <a:rPr lang="zh-CN" altLang="en-US">
                    <a:noFill/>
                  </a:rPr>
                  <a:t> </a:t>
                </a:r>
              </a:p>
            </p:txBody>
          </p:sp>
        </mc:Fallback>
      </mc:AlternateContent>
      <p:grpSp>
        <p:nvGrpSpPr>
          <p:cNvPr id="4" name="Group 71">
            <a:extLst>
              <a:ext uri="{FF2B5EF4-FFF2-40B4-BE49-F238E27FC236}">
                <a16:creationId xmlns:a16="http://schemas.microsoft.com/office/drawing/2014/main" id="{511D75C6-3F69-D404-8220-9A71DB36C687}"/>
              </a:ext>
            </a:extLst>
          </p:cNvPr>
          <p:cNvGrpSpPr>
            <a:grpSpLocks/>
          </p:cNvGrpSpPr>
          <p:nvPr/>
        </p:nvGrpSpPr>
        <p:grpSpPr bwMode="auto">
          <a:xfrm>
            <a:off x="8497362" y="2222899"/>
            <a:ext cx="3240088" cy="2873375"/>
            <a:chOff x="3424" y="2387"/>
            <a:chExt cx="2041" cy="1810"/>
          </a:xfrm>
        </p:grpSpPr>
        <p:sp>
          <p:nvSpPr>
            <p:cNvPr id="5" name="Line 34">
              <a:extLst>
                <a:ext uri="{FF2B5EF4-FFF2-40B4-BE49-F238E27FC236}">
                  <a16:creationId xmlns:a16="http://schemas.microsoft.com/office/drawing/2014/main" id="{8E5F256C-BDA1-503E-E17A-FAC09343341F}"/>
                </a:ext>
              </a:extLst>
            </p:cNvPr>
            <p:cNvSpPr>
              <a:spLocks noChangeShapeType="1"/>
            </p:cNvSpPr>
            <p:nvPr/>
          </p:nvSpPr>
          <p:spPr bwMode="auto">
            <a:xfrm>
              <a:off x="3560" y="3144"/>
              <a:ext cx="17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Line 35">
              <a:extLst>
                <a:ext uri="{FF2B5EF4-FFF2-40B4-BE49-F238E27FC236}">
                  <a16:creationId xmlns:a16="http://schemas.microsoft.com/office/drawing/2014/main" id="{D7F7FEEF-D589-6CEE-720E-B286F601D915}"/>
                </a:ext>
              </a:extLst>
            </p:cNvPr>
            <p:cNvSpPr>
              <a:spLocks noChangeShapeType="1"/>
            </p:cNvSpPr>
            <p:nvPr/>
          </p:nvSpPr>
          <p:spPr bwMode="auto">
            <a:xfrm>
              <a:off x="3589" y="3704"/>
              <a:ext cx="1732"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36">
              <a:extLst>
                <a:ext uri="{FF2B5EF4-FFF2-40B4-BE49-F238E27FC236}">
                  <a16:creationId xmlns:a16="http://schemas.microsoft.com/office/drawing/2014/main" id="{5F9CEC0C-4148-45ED-3E97-10738ADD33A5}"/>
                </a:ext>
              </a:extLst>
            </p:cNvPr>
            <p:cNvSpPr>
              <a:spLocks noChangeShapeType="1"/>
            </p:cNvSpPr>
            <p:nvPr/>
          </p:nvSpPr>
          <p:spPr bwMode="auto">
            <a:xfrm>
              <a:off x="3820" y="2387"/>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37">
              <a:extLst>
                <a:ext uri="{FF2B5EF4-FFF2-40B4-BE49-F238E27FC236}">
                  <a16:creationId xmlns:a16="http://schemas.microsoft.com/office/drawing/2014/main" id="{6D2DBF80-43D6-7AE4-B690-5AD37C7FC423}"/>
                </a:ext>
              </a:extLst>
            </p:cNvPr>
            <p:cNvSpPr>
              <a:spLocks noChangeShapeType="1"/>
            </p:cNvSpPr>
            <p:nvPr/>
          </p:nvSpPr>
          <p:spPr bwMode="auto">
            <a:xfrm>
              <a:off x="4422" y="2387"/>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38">
              <a:extLst>
                <a:ext uri="{FF2B5EF4-FFF2-40B4-BE49-F238E27FC236}">
                  <a16:creationId xmlns:a16="http://schemas.microsoft.com/office/drawing/2014/main" id="{80FF15FC-9A8A-FE8E-545D-81C5442D45B1}"/>
                </a:ext>
              </a:extLst>
            </p:cNvPr>
            <p:cNvSpPr>
              <a:spLocks noChangeShapeType="1"/>
            </p:cNvSpPr>
            <p:nvPr/>
          </p:nvSpPr>
          <p:spPr bwMode="auto">
            <a:xfrm>
              <a:off x="5012" y="2387"/>
              <a:ext cx="0" cy="15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Oval 41">
              <a:extLst>
                <a:ext uri="{FF2B5EF4-FFF2-40B4-BE49-F238E27FC236}">
                  <a16:creationId xmlns:a16="http://schemas.microsoft.com/office/drawing/2014/main" id="{42F67021-F423-9C43-3E67-694C0B62A777}"/>
                </a:ext>
              </a:extLst>
            </p:cNvPr>
            <p:cNvSpPr>
              <a:spLocks noChangeArrowheads="1"/>
            </p:cNvSpPr>
            <p:nvPr/>
          </p:nvSpPr>
          <p:spPr bwMode="auto">
            <a:xfrm>
              <a:off x="4402" y="3680"/>
              <a:ext cx="45" cy="45"/>
            </a:xfrm>
            <a:prstGeom prst="ellipse">
              <a:avLst/>
            </a:prstGeom>
            <a:solidFill>
              <a:schemeClr va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45">
              <a:extLst>
                <a:ext uri="{FF2B5EF4-FFF2-40B4-BE49-F238E27FC236}">
                  <a16:creationId xmlns:a16="http://schemas.microsoft.com/office/drawing/2014/main" id="{A4909EE1-0396-9D68-1CCB-B63FB26D9A7E}"/>
                </a:ext>
              </a:extLst>
            </p:cNvPr>
            <p:cNvSpPr txBox="1">
              <a:spLocks noChangeArrowheads="1"/>
            </p:cNvSpPr>
            <p:nvPr/>
          </p:nvSpPr>
          <p:spPr bwMode="auto">
            <a:xfrm>
              <a:off x="3732" y="2886"/>
              <a:ext cx="499"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t>(x</a:t>
              </a:r>
              <a:r>
                <a:rPr kumimoji="1" lang="en-US" altLang="zh-CN" sz="2400" baseline="-25000"/>
                <a:t>i</a:t>
              </a:r>
              <a:r>
                <a:rPr kumimoji="1" lang="en-US" altLang="zh-CN" sz="2400"/>
                <a:t>,y</a:t>
              </a:r>
              <a:r>
                <a:rPr kumimoji="1" lang="en-US" altLang="zh-CN" sz="2400" baseline="-25000"/>
                <a:t>i</a:t>
              </a:r>
              <a:r>
                <a:rPr kumimoji="1" lang="en-US" altLang="zh-CN" sz="2400"/>
                <a:t>)</a:t>
              </a:r>
              <a:endParaRPr kumimoji="1" lang="en-US" altLang="zh-CN" sz="2400" baseline="-25000">
                <a:latin typeface="Times New Roman" panose="02020603050405020304" pitchFamily="18" charset="0"/>
              </a:endParaRPr>
            </a:p>
            <a:p>
              <a:pPr algn="ctr">
                <a:spcBef>
                  <a:spcPct val="50000"/>
                </a:spcBef>
              </a:pPr>
              <a:endParaRPr kumimoji="1" lang="en-US" altLang="zh-CN" sz="2400" baseline="-25000">
                <a:latin typeface="Times New Roman" panose="02020603050405020304" pitchFamily="18" charset="0"/>
              </a:endParaRPr>
            </a:p>
          </p:txBody>
        </p:sp>
        <p:sp>
          <p:nvSpPr>
            <p:cNvPr id="12" name="Text Box 47">
              <a:extLst>
                <a:ext uri="{FF2B5EF4-FFF2-40B4-BE49-F238E27FC236}">
                  <a16:creationId xmlns:a16="http://schemas.microsoft.com/office/drawing/2014/main" id="{D4F611BF-C10F-614C-8EEC-3BAB1D976831}"/>
                </a:ext>
              </a:extLst>
            </p:cNvPr>
            <p:cNvSpPr txBox="1">
              <a:spLocks noChangeArrowheads="1"/>
            </p:cNvSpPr>
            <p:nvPr/>
          </p:nvSpPr>
          <p:spPr bwMode="auto">
            <a:xfrm>
              <a:off x="4377" y="2921"/>
              <a:ext cx="2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b="1">
                  <a:solidFill>
                    <a:schemeClr val="hlink"/>
                  </a:solidFill>
                  <a:latin typeface="Times New Roman" panose="02020603050405020304" pitchFamily="18" charset="0"/>
                </a:rPr>
                <a:t>H</a:t>
              </a:r>
            </a:p>
          </p:txBody>
        </p:sp>
        <p:sp>
          <p:nvSpPr>
            <p:cNvPr id="13" name="Text Box 48">
              <a:extLst>
                <a:ext uri="{FF2B5EF4-FFF2-40B4-BE49-F238E27FC236}">
                  <a16:creationId xmlns:a16="http://schemas.microsoft.com/office/drawing/2014/main" id="{6B2F7013-0E99-5A24-91EA-8B89514E988F}"/>
                </a:ext>
              </a:extLst>
            </p:cNvPr>
            <p:cNvSpPr txBox="1">
              <a:spLocks noChangeArrowheads="1"/>
            </p:cNvSpPr>
            <p:nvPr/>
          </p:nvSpPr>
          <p:spPr bwMode="auto">
            <a:xfrm>
              <a:off x="3515" y="2878"/>
              <a:ext cx="363"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dirty="0">
                  <a:latin typeface="Times New Roman" panose="02020603050405020304" pitchFamily="18" charset="0"/>
                </a:rPr>
                <a:t>P</a:t>
              </a:r>
              <a:r>
                <a:rPr kumimoji="1" lang="en-US" altLang="zh-CN" sz="2400" baseline="-25000" dirty="0">
                  <a:latin typeface="Times New Roman" panose="02020603050405020304" pitchFamily="18" charset="0"/>
                </a:rPr>
                <a:t>i</a:t>
              </a:r>
            </a:p>
            <a:p>
              <a:pPr algn="ctr">
                <a:spcBef>
                  <a:spcPct val="50000"/>
                </a:spcBef>
              </a:pPr>
              <a:endParaRPr kumimoji="1" lang="en-US" altLang="zh-CN" sz="2400" baseline="-25000" dirty="0">
                <a:latin typeface="Times New Roman" panose="02020603050405020304" pitchFamily="18" charset="0"/>
              </a:endParaRPr>
            </a:p>
          </p:txBody>
        </p:sp>
        <p:sp>
          <p:nvSpPr>
            <p:cNvPr id="14" name="Text Box 52">
              <a:extLst>
                <a:ext uri="{FF2B5EF4-FFF2-40B4-BE49-F238E27FC236}">
                  <a16:creationId xmlns:a16="http://schemas.microsoft.com/office/drawing/2014/main" id="{F3FBE0E2-7BE6-78CA-E29E-F650561C9FB3}"/>
                </a:ext>
              </a:extLst>
            </p:cNvPr>
            <p:cNvSpPr txBox="1">
              <a:spLocks noChangeArrowheads="1"/>
            </p:cNvSpPr>
            <p:nvPr/>
          </p:nvSpPr>
          <p:spPr bwMode="auto">
            <a:xfrm>
              <a:off x="4059" y="3267"/>
              <a:ext cx="32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b="1">
                  <a:solidFill>
                    <a:srgbClr val="0F550F"/>
                  </a:solidFill>
                  <a:latin typeface="宋体" panose="02010600030101010101" pitchFamily="2" charset="-122"/>
                </a:rPr>
                <a:t>①</a:t>
              </a:r>
              <a:endParaRPr kumimoji="1" lang="en-US" altLang="zh-CN" sz="2400" b="1">
                <a:solidFill>
                  <a:srgbClr val="0F550F"/>
                </a:solidFill>
              </a:endParaRPr>
            </a:p>
          </p:txBody>
        </p:sp>
        <p:sp>
          <p:nvSpPr>
            <p:cNvPr id="15" name="Line 53">
              <a:extLst>
                <a:ext uri="{FF2B5EF4-FFF2-40B4-BE49-F238E27FC236}">
                  <a16:creationId xmlns:a16="http://schemas.microsoft.com/office/drawing/2014/main" id="{19E6D14B-4156-B405-92AB-105B3DAB2758}"/>
                </a:ext>
              </a:extLst>
            </p:cNvPr>
            <p:cNvSpPr>
              <a:spLocks noChangeShapeType="1"/>
            </p:cNvSpPr>
            <p:nvPr/>
          </p:nvSpPr>
          <p:spPr bwMode="auto">
            <a:xfrm>
              <a:off x="3560" y="2554"/>
              <a:ext cx="17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Text Box 55">
              <a:extLst>
                <a:ext uri="{FF2B5EF4-FFF2-40B4-BE49-F238E27FC236}">
                  <a16:creationId xmlns:a16="http://schemas.microsoft.com/office/drawing/2014/main" id="{1EB12B50-81BB-25C1-5E72-B1EE4FF449E7}"/>
                </a:ext>
              </a:extLst>
            </p:cNvPr>
            <p:cNvSpPr txBox="1">
              <a:spLocks noChangeArrowheads="1"/>
            </p:cNvSpPr>
            <p:nvPr/>
          </p:nvSpPr>
          <p:spPr bwMode="auto">
            <a:xfrm>
              <a:off x="3772" y="3521"/>
              <a:ext cx="2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b="1">
                  <a:solidFill>
                    <a:schemeClr val="hlink"/>
                  </a:solidFill>
                  <a:latin typeface="Times New Roman" panose="02020603050405020304" pitchFamily="18" charset="0"/>
                </a:rPr>
                <a:t>V</a:t>
              </a:r>
            </a:p>
          </p:txBody>
        </p:sp>
        <p:sp>
          <p:nvSpPr>
            <p:cNvPr id="17" name="Text Box 56">
              <a:extLst>
                <a:ext uri="{FF2B5EF4-FFF2-40B4-BE49-F238E27FC236}">
                  <a16:creationId xmlns:a16="http://schemas.microsoft.com/office/drawing/2014/main" id="{5C06975A-460B-B845-7F30-F31B63B98BDA}"/>
                </a:ext>
              </a:extLst>
            </p:cNvPr>
            <p:cNvSpPr txBox="1">
              <a:spLocks noChangeArrowheads="1"/>
            </p:cNvSpPr>
            <p:nvPr/>
          </p:nvSpPr>
          <p:spPr bwMode="auto">
            <a:xfrm>
              <a:off x="4368" y="3510"/>
              <a:ext cx="2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000" b="1">
                  <a:solidFill>
                    <a:schemeClr val="hlink"/>
                  </a:solidFill>
                  <a:latin typeface="Times New Roman" panose="02020603050405020304" pitchFamily="18" charset="0"/>
                </a:rPr>
                <a:t>D</a:t>
              </a:r>
            </a:p>
          </p:txBody>
        </p:sp>
        <p:sp>
          <p:nvSpPr>
            <p:cNvPr id="18" name="Arc 57">
              <a:extLst>
                <a:ext uri="{FF2B5EF4-FFF2-40B4-BE49-F238E27FC236}">
                  <a16:creationId xmlns:a16="http://schemas.microsoft.com/office/drawing/2014/main" id="{C90C51AC-187C-8456-19FD-967313E21906}"/>
                </a:ext>
              </a:extLst>
            </p:cNvPr>
            <p:cNvSpPr>
              <a:spLocks/>
            </p:cNvSpPr>
            <p:nvPr/>
          </p:nvSpPr>
          <p:spPr bwMode="auto">
            <a:xfrm>
              <a:off x="4297" y="2795"/>
              <a:ext cx="243" cy="136"/>
            </a:xfrm>
            <a:custGeom>
              <a:avLst/>
              <a:gdLst>
                <a:gd name="G0" fmla="+- 0 0 0"/>
                <a:gd name="G1" fmla="+- 21600 0 0"/>
                <a:gd name="G2" fmla="+- 21600 0 0"/>
                <a:gd name="T0" fmla="*/ 0 w 19287"/>
                <a:gd name="T1" fmla="*/ 0 h 21600"/>
                <a:gd name="T2" fmla="*/ 19287 w 19287"/>
                <a:gd name="T3" fmla="*/ 11876 h 21600"/>
                <a:gd name="T4" fmla="*/ 0 w 19287"/>
                <a:gd name="T5" fmla="*/ 21600 h 21600"/>
              </a:gdLst>
              <a:ahLst/>
              <a:cxnLst>
                <a:cxn ang="0">
                  <a:pos x="T0" y="T1"/>
                </a:cxn>
                <a:cxn ang="0">
                  <a:pos x="T2" y="T3"/>
                </a:cxn>
                <a:cxn ang="0">
                  <a:pos x="T4" y="T5"/>
                </a:cxn>
              </a:cxnLst>
              <a:rect l="0" t="0" r="r" b="b"/>
              <a:pathLst>
                <a:path w="19287" h="21600" fill="none" extrusionOk="0">
                  <a:moveTo>
                    <a:pt x="-1" y="0"/>
                  </a:moveTo>
                  <a:cubicBezTo>
                    <a:pt x="8155" y="0"/>
                    <a:pt x="15615" y="4593"/>
                    <a:pt x="19287" y="11875"/>
                  </a:cubicBezTo>
                </a:path>
                <a:path w="19287" h="21600" stroke="0" extrusionOk="0">
                  <a:moveTo>
                    <a:pt x="-1" y="0"/>
                  </a:moveTo>
                  <a:cubicBezTo>
                    <a:pt x="8155" y="0"/>
                    <a:pt x="15615" y="4593"/>
                    <a:pt x="19287" y="11875"/>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rc 58">
              <a:extLst>
                <a:ext uri="{FF2B5EF4-FFF2-40B4-BE49-F238E27FC236}">
                  <a16:creationId xmlns:a16="http://schemas.microsoft.com/office/drawing/2014/main" id="{633F6FF9-6273-A651-83BF-37BD511FC1A6}"/>
                </a:ext>
              </a:extLst>
            </p:cNvPr>
            <p:cNvSpPr>
              <a:spLocks/>
            </p:cNvSpPr>
            <p:nvPr/>
          </p:nvSpPr>
          <p:spPr bwMode="auto">
            <a:xfrm>
              <a:off x="4332" y="3385"/>
              <a:ext cx="173" cy="90"/>
            </a:xfrm>
            <a:custGeom>
              <a:avLst/>
              <a:gdLst>
                <a:gd name="G0" fmla="+- 0 0 0"/>
                <a:gd name="G1" fmla="+- 21600 0 0"/>
                <a:gd name="G2" fmla="+- 21600 0 0"/>
                <a:gd name="T0" fmla="*/ 0 w 20666"/>
                <a:gd name="T1" fmla="*/ 0 h 21600"/>
                <a:gd name="T2" fmla="*/ 20666 w 20666"/>
                <a:gd name="T3" fmla="*/ 15317 h 21600"/>
                <a:gd name="T4" fmla="*/ 0 w 20666"/>
                <a:gd name="T5" fmla="*/ 21600 h 21600"/>
              </a:gdLst>
              <a:ahLst/>
              <a:cxnLst>
                <a:cxn ang="0">
                  <a:pos x="T0" y="T1"/>
                </a:cxn>
                <a:cxn ang="0">
                  <a:pos x="T2" y="T3"/>
                </a:cxn>
                <a:cxn ang="0">
                  <a:pos x="T4" y="T5"/>
                </a:cxn>
              </a:cxnLst>
              <a:rect l="0" t="0" r="r" b="b"/>
              <a:pathLst>
                <a:path w="20666" h="21600" fill="none" extrusionOk="0">
                  <a:moveTo>
                    <a:pt x="-1" y="0"/>
                  </a:moveTo>
                  <a:cubicBezTo>
                    <a:pt x="9509" y="0"/>
                    <a:pt x="17899" y="6218"/>
                    <a:pt x="20666" y="15316"/>
                  </a:cubicBezTo>
                </a:path>
                <a:path w="20666" h="21600" stroke="0" extrusionOk="0">
                  <a:moveTo>
                    <a:pt x="-1" y="0"/>
                  </a:moveTo>
                  <a:cubicBezTo>
                    <a:pt x="9509" y="0"/>
                    <a:pt x="17899" y="6218"/>
                    <a:pt x="20666" y="15316"/>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rc 59">
              <a:extLst>
                <a:ext uri="{FF2B5EF4-FFF2-40B4-BE49-F238E27FC236}">
                  <a16:creationId xmlns:a16="http://schemas.microsoft.com/office/drawing/2014/main" id="{245B3DDF-3222-7461-2EDE-5C457B6EF6F4}"/>
                </a:ext>
              </a:extLst>
            </p:cNvPr>
            <p:cNvSpPr>
              <a:spLocks/>
            </p:cNvSpPr>
            <p:nvPr/>
          </p:nvSpPr>
          <p:spPr bwMode="auto">
            <a:xfrm>
              <a:off x="4150" y="3612"/>
              <a:ext cx="91" cy="1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rc 60">
              <a:extLst>
                <a:ext uri="{FF2B5EF4-FFF2-40B4-BE49-F238E27FC236}">
                  <a16:creationId xmlns:a16="http://schemas.microsoft.com/office/drawing/2014/main" id="{0A22FF89-01D6-701C-60E7-999D692940AD}"/>
                </a:ext>
              </a:extLst>
            </p:cNvPr>
            <p:cNvSpPr>
              <a:spLocks/>
            </p:cNvSpPr>
            <p:nvPr/>
          </p:nvSpPr>
          <p:spPr bwMode="auto">
            <a:xfrm>
              <a:off x="3605" y="3612"/>
              <a:ext cx="91" cy="1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rc 61">
              <a:extLst>
                <a:ext uri="{FF2B5EF4-FFF2-40B4-BE49-F238E27FC236}">
                  <a16:creationId xmlns:a16="http://schemas.microsoft.com/office/drawing/2014/main" id="{AC0DA9FA-4DBA-4EFB-3926-076C08E4860A}"/>
                </a:ext>
              </a:extLst>
            </p:cNvPr>
            <p:cNvSpPr>
              <a:spLocks/>
            </p:cNvSpPr>
            <p:nvPr/>
          </p:nvSpPr>
          <p:spPr bwMode="auto">
            <a:xfrm>
              <a:off x="4234" y="3585"/>
              <a:ext cx="261" cy="408"/>
            </a:xfrm>
            <a:custGeom>
              <a:avLst/>
              <a:gdLst>
                <a:gd name="G0" fmla="+- 0 0 0"/>
                <a:gd name="G1" fmla="+- 21600 0 0"/>
                <a:gd name="G2" fmla="+- 21600 0 0"/>
                <a:gd name="T0" fmla="*/ 0 w 20632"/>
                <a:gd name="T1" fmla="*/ 0 h 21600"/>
                <a:gd name="T2" fmla="*/ 20632 w 20632"/>
                <a:gd name="T3" fmla="*/ 15207 h 21600"/>
                <a:gd name="T4" fmla="*/ 0 w 20632"/>
                <a:gd name="T5" fmla="*/ 21600 h 21600"/>
              </a:gdLst>
              <a:ahLst/>
              <a:cxnLst>
                <a:cxn ang="0">
                  <a:pos x="T0" y="T1"/>
                </a:cxn>
                <a:cxn ang="0">
                  <a:pos x="T2" y="T3"/>
                </a:cxn>
                <a:cxn ang="0">
                  <a:pos x="T4" y="T5"/>
                </a:cxn>
              </a:cxnLst>
              <a:rect l="0" t="0" r="r" b="b"/>
              <a:pathLst>
                <a:path w="20632" h="21600" fill="none" extrusionOk="0">
                  <a:moveTo>
                    <a:pt x="-1" y="0"/>
                  </a:moveTo>
                  <a:cubicBezTo>
                    <a:pt x="9466" y="0"/>
                    <a:pt x="17830" y="6164"/>
                    <a:pt x="20632" y="15206"/>
                  </a:cubicBezTo>
                </a:path>
                <a:path w="20632" h="21600" stroke="0" extrusionOk="0">
                  <a:moveTo>
                    <a:pt x="-1" y="0"/>
                  </a:moveTo>
                  <a:cubicBezTo>
                    <a:pt x="9466" y="0"/>
                    <a:pt x="17830" y="6164"/>
                    <a:pt x="20632" y="15206"/>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62">
              <a:extLst>
                <a:ext uri="{FF2B5EF4-FFF2-40B4-BE49-F238E27FC236}">
                  <a16:creationId xmlns:a16="http://schemas.microsoft.com/office/drawing/2014/main" id="{DD5D4E64-9D16-E200-0320-9B3A1F57180F}"/>
                </a:ext>
              </a:extLst>
            </p:cNvPr>
            <p:cNvSpPr>
              <a:spLocks noChangeArrowheads="1"/>
            </p:cNvSpPr>
            <p:nvPr/>
          </p:nvSpPr>
          <p:spPr bwMode="auto">
            <a:xfrm>
              <a:off x="4404" y="3122"/>
              <a:ext cx="45" cy="45"/>
            </a:xfrm>
            <a:prstGeom prst="ellipse">
              <a:avLst/>
            </a:prstGeom>
            <a:solidFill>
              <a:schemeClr va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63">
              <a:extLst>
                <a:ext uri="{FF2B5EF4-FFF2-40B4-BE49-F238E27FC236}">
                  <a16:creationId xmlns:a16="http://schemas.microsoft.com/office/drawing/2014/main" id="{5233E5B3-0535-200C-37CA-1DB39E8BCA5B}"/>
                </a:ext>
              </a:extLst>
            </p:cNvPr>
            <p:cNvSpPr>
              <a:spLocks noChangeArrowheads="1"/>
            </p:cNvSpPr>
            <p:nvPr/>
          </p:nvSpPr>
          <p:spPr bwMode="auto">
            <a:xfrm>
              <a:off x="3796" y="3684"/>
              <a:ext cx="45" cy="45"/>
            </a:xfrm>
            <a:prstGeom prst="ellipse">
              <a:avLst/>
            </a:prstGeom>
            <a:solidFill>
              <a:schemeClr va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64">
              <a:extLst>
                <a:ext uri="{FF2B5EF4-FFF2-40B4-BE49-F238E27FC236}">
                  <a16:creationId xmlns:a16="http://schemas.microsoft.com/office/drawing/2014/main" id="{B16B6DCE-3631-192D-DED8-FF50258246F1}"/>
                </a:ext>
              </a:extLst>
            </p:cNvPr>
            <p:cNvSpPr txBox="1">
              <a:spLocks noChangeArrowheads="1"/>
            </p:cNvSpPr>
            <p:nvPr/>
          </p:nvSpPr>
          <p:spPr bwMode="auto">
            <a:xfrm>
              <a:off x="4576" y="2895"/>
              <a:ext cx="635"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dirty="0"/>
                <a:t>(x</a:t>
              </a:r>
              <a:r>
                <a:rPr kumimoji="1" lang="en-US" altLang="zh-CN" sz="2400" baseline="-25000" dirty="0"/>
                <a:t>i</a:t>
              </a:r>
              <a:r>
                <a:rPr kumimoji="1" lang="en-US" altLang="zh-CN" sz="2400" dirty="0"/>
                <a:t>+1,y</a:t>
              </a:r>
              <a:r>
                <a:rPr kumimoji="1" lang="en-US" altLang="zh-CN" sz="2400" baseline="-25000" dirty="0"/>
                <a:t>i</a:t>
              </a:r>
              <a:r>
                <a:rPr kumimoji="1" lang="en-US" altLang="zh-CN" sz="2400" dirty="0"/>
                <a:t>)</a:t>
              </a:r>
              <a:endParaRPr kumimoji="1" lang="en-US" altLang="zh-CN" sz="2400" baseline="-25000" dirty="0">
                <a:latin typeface="Times New Roman" panose="02020603050405020304" pitchFamily="18" charset="0"/>
              </a:endParaRPr>
            </a:p>
            <a:p>
              <a:pPr algn="ctr">
                <a:spcBef>
                  <a:spcPct val="50000"/>
                </a:spcBef>
              </a:pPr>
              <a:endParaRPr kumimoji="1" lang="en-US" altLang="zh-CN" sz="2400" baseline="-25000" dirty="0">
                <a:latin typeface="Times New Roman" panose="02020603050405020304" pitchFamily="18" charset="0"/>
              </a:endParaRPr>
            </a:p>
          </p:txBody>
        </p:sp>
        <p:sp>
          <p:nvSpPr>
            <p:cNvPr id="26" name="Text Box 65">
              <a:extLst>
                <a:ext uri="{FF2B5EF4-FFF2-40B4-BE49-F238E27FC236}">
                  <a16:creationId xmlns:a16="http://schemas.microsoft.com/office/drawing/2014/main" id="{2EDA9F36-36B0-6D81-C2FA-35A737BCCBA0}"/>
                </a:ext>
              </a:extLst>
            </p:cNvPr>
            <p:cNvSpPr txBox="1">
              <a:spLocks noChangeArrowheads="1"/>
            </p:cNvSpPr>
            <p:nvPr/>
          </p:nvSpPr>
          <p:spPr bwMode="auto">
            <a:xfrm>
              <a:off x="3742" y="3736"/>
              <a:ext cx="771"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t>(x</a:t>
              </a:r>
              <a:r>
                <a:rPr kumimoji="1" lang="en-US" altLang="zh-CN" sz="2400" baseline="-25000"/>
                <a:t>i</a:t>
              </a:r>
              <a:r>
                <a:rPr kumimoji="1" lang="en-US" altLang="zh-CN" sz="2400"/>
                <a:t>,y</a:t>
              </a:r>
              <a:r>
                <a:rPr kumimoji="1" lang="en-US" altLang="zh-CN" sz="2400" baseline="-25000"/>
                <a:t>i</a:t>
              </a:r>
              <a:r>
                <a:rPr kumimoji="1" lang="en-US" altLang="zh-CN" sz="2400"/>
                <a:t>-1)</a:t>
              </a:r>
              <a:endParaRPr kumimoji="1" lang="en-US" altLang="zh-CN" sz="2400" baseline="-25000">
                <a:latin typeface="Times New Roman" panose="02020603050405020304" pitchFamily="18" charset="0"/>
              </a:endParaRPr>
            </a:p>
            <a:p>
              <a:pPr algn="ctr">
                <a:spcBef>
                  <a:spcPct val="50000"/>
                </a:spcBef>
              </a:pPr>
              <a:endParaRPr kumimoji="1" lang="en-US" altLang="zh-CN" sz="2400" baseline="-25000">
                <a:latin typeface="Times New Roman" panose="02020603050405020304" pitchFamily="18" charset="0"/>
              </a:endParaRPr>
            </a:p>
          </p:txBody>
        </p:sp>
        <p:sp>
          <p:nvSpPr>
            <p:cNvPr id="27" name="Text Box 66">
              <a:extLst>
                <a:ext uri="{FF2B5EF4-FFF2-40B4-BE49-F238E27FC236}">
                  <a16:creationId xmlns:a16="http://schemas.microsoft.com/office/drawing/2014/main" id="{30E34295-2FB0-CC9B-D5A3-4E5138A96B02}"/>
                </a:ext>
              </a:extLst>
            </p:cNvPr>
            <p:cNvSpPr txBox="1">
              <a:spLocks noChangeArrowheads="1"/>
            </p:cNvSpPr>
            <p:nvPr/>
          </p:nvSpPr>
          <p:spPr bwMode="auto">
            <a:xfrm>
              <a:off x="4576" y="3475"/>
              <a:ext cx="889"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a:t>(x</a:t>
              </a:r>
              <a:r>
                <a:rPr kumimoji="1" lang="en-US" altLang="zh-CN" sz="2400" baseline="-25000"/>
                <a:t>i</a:t>
              </a:r>
              <a:r>
                <a:rPr kumimoji="1" lang="en-US" altLang="zh-CN" sz="2400"/>
                <a:t>+1,y</a:t>
              </a:r>
              <a:r>
                <a:rPr kumimoji="1" lang="en-US" altLang="zh-CN" sz="2400" baseline="-25000"/>
                <a:t>i</a:t>
              </a:r>
              <a:r>
                <a:rPr kumimoji="1" lang="en-US" altLang="zh-CN" sz="2400"/>
                <a:t>-1)</a:t>
              </a:r>
              <a:endParaRPr kumimoji="1" lang="en-US" altLang="zh-CN" sz="2400" baseline="-25000">
                <a:latin typeface="Times New Roman" panose="02020603050405020304" pitchFamily="18" charset="0"/>
              </a:endParaRPr>
            </a:p>
            <a:p>
              <a:pPr algn="ctr">
                <a:spcBef>
                  <a:spcPct val="50000"/>
                </a:spcBef>
              </a:pPr>
              <a:endParaRPr kumimoji="1" lang="en-US" altLang="zh-CN" sz="2400" baseline="-25000">
                <a:latin typeface="Times New Roman" panose="02020603050405020304" pitchFamily="18" charset="0"/>
              </a:endParaRPr>
            </a:p>
          </p:txBody>
        </p:sp>
        <p:sp>
          <p:nvSpPr>
            <p:cNvPr id="28" name="Text Box 67">
              <a:extLst>
                <a:ext uri="{FF2B5EF4-FFF2-40B4-BE49-F238E27FC236}">
                  <a16:creationId xmlns:a16="http://schemas.microsoft.com/office/drawing/2014/main" id="{52EDAE23-B0D6-4C9B-C2D4-E972467B419A}"/>
                </a:ext>
              </a:extLst>
            </p:cNvPr>
            <p:cNvSpPr txBox="1">
              <a:spLocks noChangeArrowheads="1"/>
            </p:cNvSpPr>
            <p:nvPr/>
          </p:nvSpPr>
          <p:spPr bwMode="auto">
            <a:xfrm>
              <a:off x="4014" y="2659"/>
              <a:ext cx="32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b="1">
                  <a:solidFill>
                    <a:srgbClr val="0F550F"/>
                  </a:solidFill>
                  <a:latin typeface="宋体" panose="02010600030101010101" pitchFamily="2" charset="-122"/>
                </a:rPr>
                <a:t>②</a:t>
              </a:r>
              <a:endParaRPr kumimoji="1" lang="en-US" altLang="zh-CN" sz="2400" b="1">
                <a:solidFill>
                  <a:srgbClr val="0F550F"/>
                </a:solidFill>
              </a:endParaRPr>
            </a:p>
          </p:txBody>
        </p:sp>
        <p:sp>
          <p:nvSpPr>
            <p:cNvPr id="29" name="Text Box 68">
              <a:extLst>
                <a:ext uri="{FF2B5EF4-FFF2-40B4-BE49-F238E27FC236}">
                  <a16:creationId xmlns:a16="http://schemas.microsoft.com/office/drawing/2014/main" id="{C22F948F-76E0-517B-8687-722CA067910F}"/>
                </a:ext>
              </a:extLst>
            </p:cNvPr>
            <p:cNvSpPr txBox="1">
              <a:spLocks noChangeArrowheads="1"/>
            </p:cNvSpPr>
            <p:nvPr/>
          </p:nvSpPr>
          <p:spPr bwMode="auto">
            <a:xfrm>
              <a:off x="3884" y="3385"/>
              <a:ext cx="32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b="1">
                  <a:solidFill>
                    <a:srgbClr val="0F550F"/>
                  </a:solidFill>
                  <a:latin typeface="宋体" panose="02010600030101010101" pitchFamily="2" charset="-122"/>
                </a:rPr>
                <a:t>③</a:t>
              </a:r>
              <a:endParaRPr kumimoji="1" lang="en-US" altLang="zh-CN" sz="2400" b="1">
                <a:solidFill>
                  <a:srgbClr val="0F550F"/>
                </a:solidFill>
              </a:endParaRPr>
            </a:p>
          </p:txBody>
        </p:sp>
        <p:sp>
          <p:nvSpPr>
            <p:cNvPr id="30" name="Text Box 69">
              <a:extLst>
                <a:ext uri="{FF2B5EF4-FFF2-40B4-BE49-F238E27FC236}">
                  <a16:creationId xmlns:a16="http://schemas.microsoft.com/office/drawing/2014/main" id="{BCC5A4D3-DF05-9014-F2F5-AC318E11B369}"/>
                </a:ext>
              </a:extLst>
            </p:cNvPr>
            <p:cNvSpPr txBox="1">
              <a:spLocks noChangeArrowheads="1"/>
            </p:cNvSpPr>
            <p:nvPr/>
          </p:nvSpPr>
          <p:spPr bwMode="auto">
            <a:xfrm>
              <a:off x="3424" y="3385"/>
              <a:ext cx="32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b="1">
                  <a:solidFill>
                    <a:srgbClr val="0F550F"/>
                  </a:solidFill>
                  <a:latin typeface="宋体" panose="02010600030101010101" pitchFamily="2" charset="-122"/>
                </a:rPr>
                <a:t>④</a:t>
              </a:r>
              <a:endParaRPr kumimoji="1" lang="en-US" altLang="zh-CN" sz="2400" b="1">
                <a:solidFill>
                  <a:srgbClr val="0F550F"/>
                </a:solidFill>
              </a:endParaRPr>
            </a:p>
          </p:txBody>
        </p:sp>
        <p:sp>
          <p:nvSpPr>
            <p:cNvPr id="31" name="Text Box 70">
              <a:extLst>
                <a:ext uri="{FF2B5EF4-FFF2-40B4-BE49-F238E27FC236}">
                  <a16:creationId xmlns:a16="http://schemas.microsoft.com/office/drawing/2014/main" id="{962E33BE-99E6-4C97-A678-43BFFAFD883D}"/>
                </a:ext>
              </a:extLst>
            </p:cNvPr>
            <p:cNvSpPr txBox="1">
              <a:spLocks noChangeArrowheads="1"/>
            </p:cNvSpPr>
            <p:nvPr/>
          </p:nvSpPr>
          <p:spPr bwMode="auto">
            <a:xfrm>
              <a:off x="4411" y="3790"/>
              <a:ext cx="32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spcBef>
                  <a:spcPct val="50000"/>
                </a:spcBef>
              </a:pPr>
              <a:r>
                <a:rPr kumimoji="1" lang="en-US" altLang="zh-CN" sz="2400" b="1">
                  <a:solidFill>
                    <a:srgbClr val="0F550F"/>
                  </a:solidFill>
                  <a:latin typeface="宋体" panose="02010600030101010101" pitchFamily="2" charset="-122"/>
                </a:rPr>
                <a:t>⑤</a:t>
              </a:r>
              <a:endParaRPr kumimoji="1" lang="en-US" altLang="zh-CN" sz="2400" b="1">
                <a:solidFill>
                  <a:srgbClr val="0F550F"/>
                </a:solidFill>
              </a:endParaRPr>
            </a:p>
          </p:txBody>
        </p:sp>
      </p:grpSp>
    </p:spTree>
    <p:extLst>
      <p:ext uri="{BB962C8B-B14F-4D97-AF65-F5344CB8AC3E}">
        <p14:creationId xmlns:p14="http://schemas.microsoft.com/office/powerpoint/2010/main" val="3233623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78854" y="636422"/>
                <a:ext cx="10790294" cy="5661011"/>
              </a:xfrm>
            </p:spPr>
            <p:txBody>
              <a:bodyPr>
                <a:normAutofit/>
              </a:bodyPr>
              <a:lstStyle/>
              <a:p>
                <a:pPr lvl="1"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320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𝑑</m:t>
                        </m:r>
                      </m:e>
                      <m:sub>
                        <m:r>
                          <a:rPr lang="en-US" altLang="zh-CN" sz="3200" b="0" i="1" smtClean="0">
                            <a:solidFill>
                              <a:srgbClr val="000000"/>
                            </a:solidFill>
                            <a:latin typeface="Cambria Math" panose="02040503050406030204" pitchFamily="18" charset="0"/>
                          </a:rPr>
                          <m:t>𝐻</m:t>
                        </m:r>
                      </m:sub>
                    </m:sSub>
                    <m:r>
                      <a:rPr lang="zh-CN" altLang="en-US" sz="32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a:t>
                </a:r>
                <a:r>
                  <a:rPr lang="zh-CN" altLang="en-US" sz="2800" dirty="0">
                    <a:solidFill>
                      <a:srgbClr val="000000"/>
                    </a:solidFill>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Sup>
                      <m:sSubSupPr>
                        <m:ctrlPr>
                          <a:rPr lang="en-US" altLang="zh-CN" sz="2800" i="1" dirty="0" smtClean="0">
                            <a:solidFill>
                              <a:srgbClr val="000000"/>
                            </a:solidFill>
                            <a:latin typeface="Cambria Math" panose="02040503050406030204" pitchFamily="18" charset="0"/>
                            <a:ea typeface="华光仿宋_CNKI" panose="02000500000000000000" pitchFamily="2" charset="-122"/>
                          </a:rPr>
                        </m:ctrlPr>
                      </m:sSubSupPr>
                      <m:e>
                        <m:r>
                          <a:rPr lang="en-US" altLang="zh-CN" sz="2800" b="0" i="1" dirty="0" smtClean="0">
                            <a:solidFill>
                              <a:srgbClr val="000000"/>
                            </a:solidFill>
                            <a:latin typeface="Cambria Math" panose="02040503050406030204" pitchFamily="18" charset="0"/>
                            <a:ea typeface="华光仿宋_CNKI" panose="02000500000000000000" pitchFamily="2" charset="-122"/>
                          </a:rPr>
                          <m:t>𝑦</m:t>
                        </m:r>
                      </m:e>
                      <m:sub>
                        <m:r>
                          <a:rPr lang="en-US" altLang="zh-CN" sz="2800" b="0" i="1" smtClean="0">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2</m:t>
                        </m:r>
                      </m:sup>
                    </m:sSub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 </m:t>
                    </m:r>
                  </m:oMath>
                </a14:m>
                <a:endParaRPr lang="en-US" altLang="zh-CN" sz="2800" dirty="0">
                  <a:latin typeface="华光仿宋_CNKI" panose="02000500000000000000" pitchFamily="2" charset="-122"/>
                  <a:ea typeface="华光仿宋_CNKI" panose="02000500000000000000" pitchFamily="2" charset="-122"/>
                </a:endParaRPr>
              </a:p>
              <a:p>
                <a:pPr lvl="1" algn="l">
                  <a:lnSpc>
                    <a:spcPct val="150000"/>
                  </a:lnSpc>
                </a:pPr>
                <a:r>
                  <a:rPr lang="zh-CN" altLang="en-US" sz="3200" dirty="0">
                    <a:solidFill>
                      <a:srgbClr val="000000"/>
                    </a:solidFill>
                  </a:rPr>
                  <a:t>  </a:t>
                </a:r>
                <a14:m>
                  <m:oMath xmlns:m="http://schemas.openxmlformats.org/officeDocument/2006/math">
                    <m:sSub>
                      <m:sSubPr>
                        <m:ctrlPr>
                          <a:rPr lang="zh-CN" altLang="en-US" sz="320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𝑑</m:t>
                        </m:r>
                      </m:e>
                      <m:sub>
                        <m:r>
                          <a:rPr lang="en-US" altLang="zh-CN" sz="3200" b="0" i="1" smtClean="0">
                            <a:solidFill>
                              <a:srgbClr val="000000"/>
                            </a:solidFill>
                            <a:latin typeface="Cambria Math" panose="02040503050406030204" pitchFamily="18" charset="0"/>
                          </a:rPr>
                          <m:t>𝐷</m:t>
                        </m:r>
                      </m:sub>
                    </m:sSub>
                    <m:r>
                      <a:rPr lang="zh-CN" altLang="en-US" sz="32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a:t>
                </a:r>
                <a:r>
                  <a:rPr lang="zh-CN" altLang="en-US" sz="2800" dirty="0">
                    <a:solidFill>
                      <a:srgbClr val="000000"/>
                    </a:solidFill>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b="0" i="1" smtClean="0">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smtClean="0">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endParaRPr lang="en-US" altLang="zh-CN" sz="2800" dirty="0">
                  <a:latin typeface="华光仿宋_CNKI" panose="02000500000000000000" pitchFamily="2" charset="-122"/>
                  <a:ea typeface="华光仿宋_CNKI" panose="02000500000000000000" pitchFamily="2" charset="-122"/>
                </a:endParaRPr>
              </a:p>
              <a:p>
                <a:pPr lvl="1" algn="l">
                  <a:lnSpc>
                    <a:spcPct val="150000"/>
                  </a:lnSpc>
                </a:pPr>
                <a:r>
                  <a:rPr lang="zh-CN" altLang="en-US" sz="3200" dirty="0">
                    <a:solidFill>
                      <a:srgbClr val="000000"/>
                    </a:solidFill>
                  </a:rPr>
                  <a:t>  </a:t>
                </a:r>
                <a14:m>
                  <m:oMath xmlns:m="http://schemas.openxmlformats.org/officeDocument/2006/math">
                    <m:sSub>
                      <m:sSubPr>
                        <m:ctrlPr>
                          <a:rPr lang="zh-CN" altLang="en-US" sz="3200" i="1" smtClean="0">
                            <a:solidFill>
                              <a:srgbClr val="000000"/>
                            </a:solidFill>
                            <a:latin typeface="Cambria Math" panose="02040503050406030204" pitchFamily="18" charset="0"/>
                          </a:rPr>
                        </m:ctrlPr>
                      </m:sSubPr>
                      <m:e>
                        <m:r>
                          <a:rPr lang="en-US" altLang="zh-CN" sz="3200" b="0" i="1" smtClean="0">
                            <a:solidFill>
                              <a:srgbClr val="000000"/>
                            </a:solidFill>
                            <a:latin typeface="Cambria Math" panose="02040503050406030204" pitchFamily="18" charset="0"/>
                          </a:rPr>
                          <m:t>𝑑</m:t>
                        </m:r>
                      </m:e>
                      <m:sub>
                        <m:r>
                          <a:rPr lang="en-US" altLang="zh-CN" sz="3200" b="0" i="1" smtClean="0">
                            <a:solidFill>
                              <a:srgbClr val="000000"/>
                            </a:solidFill>
                            <a:latin typeface="Cambria Math" panose="02040503050406030204" pitchFamily="18" charset="0"/>
                          </a:rPr>
                          <m:t>𝑉</m:t>
                        </m:r>
                      </m:sub>
                    </m:sSub>
                    <m:r>
                      <a:rPr lang="zh-CN" altLang="en-US" sz="32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a:t>
                </a:r>
                <a:r>
                  <a:rPr lang="zh-CN" altLang="en-US" sz="2800" dirty="0">
                    <a:solidFill>
                      <a:srgbClr val="000000"/>
                    </a:solidFill>
                  </a:rPr>
                  <a:t> </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a:rPr lang="en-US" altLang="zh-CN" sz="2800" b="0" i="1" dirty="0" smtClean="0">
                            <a:solidFill>
                              <a:srgbClr val="000000"/>
                            </a:solidFill>
                            <a:latin typeface="Cambria Math" panose="02040503050406030204" pitchFamily="18" charset="0"/>
                            <a:ea typeface="华光仿宋_CNKI" panose="02000500000000000000" pitchFamily="2" charset="-122"/>
                          </a:rPr>
                          <m:t>𝑥</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2</m:t>
                        </m:r>
                      </m:sup>
                    </m:sSub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b="0" i="1" smtClean="0">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smtClean="0">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endParaRPr lang="en-US" altLang="zh-CN" sz="2800" dirty="0">
                  <a:latin typeface="华光仿宋_CNKI" panose="02000500000000000000" pitchFamily="2" charset="-122"/>
                  <a:ea typeface="华光仿宋_CNKI" panose="02000500000000000000" pitchFamily="2" charset="-122"/>
                </a:endParaRPr>
              </a:p>
              <a:p>
                <a:pPr marL="0" lvl="1" indent="457200"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上述</a:t>
                </a:r>
                <a:r>
                  <a:rPr lang="en-US" altLang="zh-CN" sz="2800" dirty="0">
                    <a:latin typeface="华光仿宋_CNKI" panose="02000500000000000000" pitchFamily="2" charset="-122"/>
                    <a:ea typeface="华光仿宋_CNKI" panose="02000500000000000000" pitchFamily="2" charset="-122"/>
                  </a:rPr>
                  <a:t>3</a:t>
                </a:r>
                <a:r>
                  <a:rPr lang="zh-CN" altLang="en-US" sz="2800" dirty="0">
                    <a:latin typeface="华光仿宋_CNKI" panose="02000500000000000000" pitchFamily="2" charset="-122"/>
                    <a:ea typeface="华光仿宋_CNKI" panose="02000500000000000000" pitchFamily="2" charset="-122"/>
                  </a:rPr>
                  <a:t>个点中，</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点的差值介于</a:t>
                </a:r>
                <a:r>
                  <a:rPr lang="en-US" altLang="zh-CN" sz="2800" dirty="0">
                    <a:latin typeface="华光仿宋_CNKI" panose="02000500000000000000" pitchFamily="2" charset="-122"/>
                    <a:ea typeface="华光仿宋_CNKI" panose="02000500000000000000" pitchFamily="2" charset="-122"/>
                  </a:rPr>
                  <a:t>H</a:t>
                </a:r>
                <a:r>
                  <a:rPr lang="zh-CN" altLang="en-US" sz="2800" dirty="0">
                    <a:latin typeface="华光仿宋_CNKI" panose="02000500000000000000" pitchFamily="2" charset="-122"/>
                    <a:ea typeface="华光仿宋_CNKI" panose="02000500000000000000" pitchFamily="2" charset="-122"/>
                  </a:rPr>
                  <a:t>和</a:t>
                </a:r>
                <a:r>
                  <a:rPr lang="en-US" altLang="zh-CN" sz="2800" dirty="0">
                    <a:latin typeface="华光仿宋_CNKI" panose="02000500000000000000" pitchFamily="2" charset="-122"/>
                    <a:ea typeface="华光仿宋_CNKI" panose="02000500000000000000" pitchFamily="2" charset="-122"/>
                  </a:rPr>
                  <a:t>V</a:t>
                </a:r>
                <a:r>
                  <a:rPr lang="zh-CN" altLang="en-US" sz="2800" dirty="0">
                    <a:latin typeface="华光仿宋_CNKI" panose="02000500000000000000" pitchFamily="2" charset="-122"/>
                    <a:ea typeface="华光仿宋_CNKI" panose="02000500000000000000" pitchFamily="2" charset="-122"/>
                  </a:rPr>
                  <a:t>之间。</a:t>
                </a:r>
                <a:endParaRPr lang="en-US" altLang="zh-CN" sz="2800" dirty="0">
                  <a:latin typeface="华光仿宋_CNKI" panose="02000500000000000000" pitchFamily="2" charset="-122"/>
                  <a:ea typeface="华光仿宋_CNKI" panose="02000500000000000000" pitchFamily="2" charset="-122"/>
                </a:endParaRPr>
              </a:p>
              <a:p>
                <a:pPr marL="0" lvl="1" indent="457200" algn="l">
                  <a:lnSpc>
                    <a:spcPct val="150000"/>
                  </a:lnSpc>
                </a:pPr>
                <a:r>
                  <a:rPr lang="zh-CN" altLang="en-US" sz="2800" dirty="0">
                    <a:latin typeface="华光仿宋_CNKI" panose="02000500000000000000" pitchFamily="2" charset="-122"/>
                    <a:ea typeface="华光仿宋_CNKI" panose="02000500000000000000" pitchFamily="2" charset="-122"/>
                  </a:rPr>
                  <a:t> 实际圆弧与像素栅格线之间的交点有</a:t>
                </a:r>
                <a:r>
                  <a:rPr lang="en-US" altLang="zh-CN" sz="2800" dirty="0">
                    <a:latin typeface="华光仿宋_CNKI" panose="02000500000000000000" pitchFamily="2" charset="-122"/>
                    <a:ea typeface="华光仿宋_CNKI" panose="02000500000000000000" pitchFamily="2" charset="-122"/>
                  </a:rPr>
                  <a:t>5</a:t>
                </a:r>
                <a:r>
                  <a:rPr lang="zh-CN" altLang="en-US" sz="2800" dirty="0">
                    <a:latin typeface="华光仿宋_CNKI" panose="02000500000000000000" pitchFamily="2" charset="-122"/>
                    <a:ea typeface="华光仿宋_CNKI" panose="02000500000000000000" pitchFamily="2" charset="-122"/>
                  </a:rPr>
                  <a:t>种情况。如果</a:t>
                </a:r>
                <a:r>
                  <a:rPr lang="en-US" altLang="zh-CN" sz="2800" dirty="0">
                    <a:latin typeface="华光仿宋_CNKI" panose="02000500000000000000" pitchFamily="2" charset="-122"/>
                    <a:ea typeface="华光仿宋_CNKI" panose="02000500000000000000" pitchFamily="2" charset="-122"/>
                  </a:rPr>
                  <a:t>:</a:t>
                </a:r>
              </a:p>
              <a:p>
                <a:pPr marL="0" lvl="1" indent="457200"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oMath>
                </a14:m>
                <a:r>
                  <a:rPr lang="en-US" altLang="zh-CN" sz="2800" dirty="0">
                    <a:latin typeface="华光仿宋_CNKI" panose="02000500000000000000" pitchFamily="2" charset="-122"/>
                    <a:ea typeface="华光仿宋_CNKI" panose="02000500000000000000" pitchFamily="2" charset="-122"/>
                  </a:rPr>
                  <a:t>&gt;0,</a:t>
                </a:r>
                <a:r>
                  <a:rPr lang="zh-CN" altLang="en-US" sz="2800" dirty="0">
                    <a:latin typeface="华光仿宋_CNKI" panose="02000500000000000000" pitchFamily="2" charset="-122"/>
                    <a:ea typeface="华光仿宋_CNKI" panose="02000500000000000000" pitchFamily="2" charset="-122"/>
                  </a:rPr>
                  <a:t>则相交的点如</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③④的情况，</a:t>
                </a:r>
                <a:r>
                  <a:rPr lang="zh-CN" altLang="en-US" sz="2800" dirty="0">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oMath>
                </a14:m>
                <a:r>
                  <a:rPr lang="en-US" altLang="zh-CN" sz="2800" dirty="0">
                    <a:latin typeface="华光仿宋_CNKI" panose="02000500000000000000" pitchFamily="2" charset="-122"/>
                    <a:ea typeface="华光仿宋_CNKI" panose="02000500000000000000" pitchFamily="2" charset="-122"/>
                  </a:rPr>
                  <a:t>&lt;0, </a:t>
                </a:r>
                <a:r>
                  <a:rPr lang="zh-CN" altLang="en-US" sz="2800" dirty="0">
                    <a:latin typeface="华光仿宋_CNKI" panose="02000500000000000000" pitchFamily="2" charset="-122"/>
                    <a:ea typeface="华光仿宋_CNKI" panose="02000500000000000000" pitchFamily="2" charset="-122"/>
                  </a:rPr>
                  <a:t>相交点如</a:t>
                </a:r>
                <a:r>
                  <a:rPr lang="zh-CN" altLang="en-US" sz="2800" dirty="0">
                    <a:latin typeface="宋体" panose="02010600030101010101" pitchFamily="2" charset="-122"/>
                    <a:sym typeface="Symbol" panose="05050102010706020507" pitchFamily="18" charset="2"/>
                  </a:rPr>
                  <a:t>①②，</a:t>
                </a:r>
                <a:r>
                  <a:rPr lang="zh-CN" altLang="en-US" sz="2800" dirty="0">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oMath>
                </a14:m>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则如</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⑤所示。</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778854" y="636422"/>
                <a:ext cx="10790294" cy="5661011"/>
              </a:xfrm>
              <a:blipFill>
                <a:blip r:embed="rId2"/>
                <a:stretch>
                  <a:fillRect l="-11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4798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72120" y="866691"/>
                <a:ext cx="10790294" cy="5550011"/>
              </a:xfrm>
            </p:spPr>
            <p:txBody>
              <a:bodyPr>
                <a:normAutofit fontScale="92500" lnSpcReduction="10000"/>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在</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oMath>
                </a14:m>
                <a:r>
                  <a:rPr lang="en-US" altLang="zh-CN" sz="2800" dirty="0">
                    <a:latin typeface="华光仿宋_CNKI" panose="02000500000000000000" pitchFamily="2" charset="-122"/>
                    <a:ea typeface="华光仿宋_CNKI" panose="02000500000000000000" pitchFamily="2" charset="-122"/>
                  </a:rPr>
                  <a:t>&lt;0</a:t>
                </a:r>
                <a:r>
                  <a:rPr lang="zh-CN" altLang="en-US" sz="2800" dirty="0">
                    <a:latin typeface="华光仿宋_CNKI" panose="02000500000000000000" pitchFamily="2" charset="-122"/>
                    <a:ea typeface="华光仿宋_CNKI" panose="02000500000000000000" pitchFamily="2" charset="-122"/>
                  </a:rPr>
                  <a:t>时，</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D</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在圆内，如①②两种情形。</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l">
                  <a:lnSpc>
                    <a:spcPct val="150000"/>
                  </a:lnSpc>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对于情形①，选</a:t>
                </a:r>
                <a:r>
                  <a:rPr lang="en-US" altLang="zh-CN" sz="2800" dirty="0">
                    <a:latin typeface="华光仿宋_CNKI" panose="02000500000000000000" pitchFamily="2" charset="-122"/>
                    <a:ea typeface="华光仿宋_CNKI" panose="02000500000000000000" pitchFamily="2" charset="-122"/>
                  </a:rPr>
                  <a:t>H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D </a:t>
                </a:r>
                <a:r>
                  <a:rPr lang="zh-CN" altLang="en-US" sz="2800" dirty="0">
                    <a:latin typeface="华光仿宋_CNKI" panose="02000500000000000000" pitchFamily="2" charset="-122"/>
                    <a:ea typeface="华光仿宋_CNKI" panose="02000500000000000000" pitchFamily="2" charset="-122"/>
                  </a:rPr>
                  <a:t>中最小者</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smtClean="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solidFill>
                      <a:srgbClr val="000000"/>
                    </a:solidFill>
                  </a:rPr>
                  <a:t> </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𝑑</m:t>
                        </m:r>
                      </m:e>
                      <m:sub>
                        <m:r>
                          <a:rPr lang="en-US" altLang="zh-CN" sz="2800" b="0" i="1" smtClean="0">
                            <a:solidFill>
                              <a:srgbClr val="000000"/>
                            </a:solidFill>
                            <a:latin typeface="Cambria Math" panose="02040503050406030204" pitchFamily="18" charset="0"/>
                          </a:rPr>
                          <m:t>𝐻</m:t>
                        </m:r>
                      </m:sub>
                    </m:sSub>
                  </m:oMath>
                </a14:m>
                <a:r>
                  <a:rPr lang="en-US" altLang="zh-CN" sz="2800" dirty="0">
                    <a:latin typeface="华光仿宋_CNKI" panose="02000500000000000000" pitchFamily="2" charset="-122"/>
                    <a:ea typeface="华光仿宋_CNKI" panose="02000500000000000000" pitchFamily="2" charset="-122"/>
                  </a:rPr>
                  <a:t> -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𝑑</m:t>
                        </m:r>
                      </m:e>
                      <m:sub>
                        <m:r>
                          <m:rPr>
                            <m:sty m:val="p"/>
                          </m:rPr>
                          <a:rPr lang="en-US" altLang="zh-CN" sz="2800" i="1" smtClean="0">
                            <a:solidFill>
                              <a:srgbClr val="000000"/>
                            </a:solidFill>
                            <a:latin typeface="Cambria Math" panose="02040503050406030204" pitchFamily="18" charset="0"/>
                          </a:rPr>
                          <m:t>D</m:t>
                        </m:r>
                      </m:sub>
                    </m:sSub>
                  </m:oMath>
                </a14:m>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en-US" altLang="zh-CN" sz="2800" dirty="0">
                    <a:solidFill>
                      <a:srgbClr val="000000"/>
                    </a:solidFill>
                  </a:rPr>
                  <a:t> </a:t>
                </a:r>
                <a14:m>
                  <m:oMath xmlns:m="http://schemas.openxmlformats.org/officeDocument/2006/math">
                    <m:r>
                      <a:rPr lang="en-US" altLang="zh-CN" sz="2800" i="1" dirty="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Sup>
                      <m:sSubSupPr>
                        <m:ctrlPr>
                          <a:rPr lang="en-US" altLang="zh-CN" sz="2800" i="1" dirty="0" smtClean="0">
                            <a:solidFill>
                              <a:srgbClr val="000000"/>
                            </a:solidFill>
                            <a:latin typeface="Cambria Math" panose="02040503050406030204" pitchFamily="18" charset="0"/>
                            <a:ea typeface="华光仿宋_CNKI" panose="02000500000000000000" pitchFamily="2" charset="-122"/>
                          </a:rPr>
                        </m:ctrlPr>
                      </m:sSubSupPr>
                      <m:e>
                        <m:r>
                          <a:rPr lang="en-US" altLang="zh-CN" sz="2800" b="0" i="1" dirty="0" smtClean="0">
                            <a:solidFill>
                              <a:srgbClr val="000000"/>
                            </a:solidFill>
                            <a:latin typeface="Cambria Math" panose="02040503050406030204" pitchFamily="18" charset="0"/>
                            <a:ea typeface="华光仿宋_CNKI" panose="02000500000000000000" pitchFamily="2" charset="-122"/>
                          </a:rPr>
                          <m:t>𝑦</m:t>
                        </m:r>
                      </m:e>
                      <m:sub>
                        <m:r>
                          <a:rPr lang="en-US" altLang="zh-CN" sz="2800" b="0" i="1" smtClean="0">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2</m:t>
                        </m:r>
                      </m:sup>
                    </m:sSub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 - </a:t>
                </a:r>
                <a14:m>
                  <m:oMath xmlns:m="http://schemas.openxmlformats.org/officeDocument/2006/math">
                    <m:r>
                      <a:rPr lang="en-US" altLang="zh-CN" sz="2800" i="1" dirty="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en-US" altLang="zh-CN" sz="2800" i="1">
                        <a:solidFill>
                          <a:srgbClr val="000000"/>
                        </a:solidFill>
                        <a:latin typeface="Cambria Math" panose="02040503050406030204" pitchFamily="18" charset="0"/>
                      </a:rPr>
                      <m:t>|</m:t>
                    </m:r>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solidFill>
                      <a:srgbClr val="000000"/>
                    </a:solidFill>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Sup>
                      <m:sSubSupPr>
                        <m:ctrlPr>
                          <a:rPr lang="en-US" altLang="zh-CN" sz="2800" i="1" dirty="0" smtClean="0">
                            <a:solidFill>
                              <a:srgbClr val="000000"/>
                            </a:solidFill>
                            <a:latin typeface="Cambria Math" panose="02040503050406030204" pitchFamily="18" charset="0"/>
                            <a:ea typeface="华光仿宋_CNKI" panose="02000500000000000000" pitchFamily="2" charset="-122"/>
                          </a:rPr>
                        </m:ctrlPr>
                      </m:sSubSupPr>
                      <m:e>
                        <m:r>
                          <a:rPr lang="en-US" altLang="zh-CN" sz="2800" b="0" i="1" dirty="0" smtClean="0">
                            <a:solidFill>
                              <a:srgbClr val="000000"/>
                            </a:solidFill>
                            <a:latin typeface="Cambria Math" panose="02040503050406030204" pitchFamily="18" charset="0"/>
                            <a:ea typeface="华光仿宋_CNKI" panose="02000500000000000000" pitchFamily="2" charset="-122"/>
                          </a:rPr>
                          <m:t>𝑦</m:t>
                        </m:r>
                      </m:e>
                      <m:sub>
                        <m:r>
                          <a:rPr lang="en-US" altLang="zh-CN" sz="2800" b="0" i="1" smtClean="0">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2</m:t>
                        </m:r>
                      </m:sup>
                    </m:sSub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=2 (</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𝑑</m:t>
                        </m:r>
                      </m:e>
                      <m:sub>
                        <m:r>
                          <a:rPr lang="en-US" altLang="zh-CN" sz="2800" b="0" i="1" smtClean="0">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rPr>
                  <a:t> </a:t>
                </a:r>
                <a:r>
                  <a:rPr lang="en-US" altLang="zh-CN" sz="2800" dirty="0" err="1">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 </a:t>
                </a:r>
              </a:p>
              <a:p>
                <a:pPr algn="l">
                  <a:lnSpc>
                    <a:spcPct val="150000"/>
                  </a:lnSpc>
                </a:pP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  其中</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3200" dirty="0">
                    <a:solidFill>
                      <a:srgbClr val="000000"/>
                    </a:solidFill>
                  </a:rPr>
                  <a:t>   </a:t>
                </a:r>
                <a14:m>
                  <m:oMath xmlns:m="http://schemas.openxmlformats.org/officeDocument/2006/math">
                    <m:sSub>
                      <m:sSubPr>
                        <m:ctrlPr>
                          <a:rPr lang="zh-CN" altLang="en-US" sz="3200" i="1">
                            <a:solidFill>
                              <a:srgbClr val="000000"/>
                            </a:solidFill>
                            <a:latin typeface="Cambria Math" panose="02040503050406030204" pitchFamily="18" charset="0"/>
                          </a:rPr>
                        </m:ctrlPr>
                      </m:sSubPr>
                      <m:e>
                        <m:r>
                          <a:rPr lang="en-US" altLang="zh-CN" sz="3200" i="1">
                            <a:solidFill>
                              <a:srgbClr val="000000"/>
                            </a:solidFill>
                            <a:latin typeface="Cambria Math" panose="02040503050406030204" pitchFamily="18" charset="0"/>
                          </a:rPr>
                          <m:t>𝑑</m:t>
                        </m:r>
                      </m:e>
                      <m:sub>
                        <m:r>
                          <a:rPr lang="en-US" altLang="zh-CN" sz="3200" b="0" i="1" smtClean="0">
                            <a:solidFill>
                              <a:srgbClr val="000000"/>
                            </a:solidFill>
                            <a:latin typeface="Cambria Math" panose="02040503050406030204" pitchFamily="18" charset="0"/>
                          </a:rPr>
                          <m:t>𝑖</m:t>
                        </m:r>
                      </m:sub>
                    </m:sSub>
                    <m:r>
                      <a:rPr lang="zh-CN" altLang="en-US" sz="32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a:t>
                </a:r>
                <a:r>
                  <a:rPr lang="zh-CN" altLang="en-US" sz="2800" dirty="0">
                    <a:solidFill>
                      <a:srgbClr val="000000"/>
                    </a:solidFill>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endParaRPr lang="en-US" altLang="zh-CN" sz="2800" dirty="0">
                  <a:latin typeface="华光仿宋_CNKI" panose="02000500000000000000" pitchFamily="2" charset="-122"/>
                  <a:ea typeface="华光仿宋_CNKI" panose="02000500000000000000" pitchFamily="2" charset="-122"/>
                </a:endParaRPr>
              </a:p>
              <a:p>
                <a:pPr lvl="1"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若</a:t>
                </a:r>
                <a14:m>
                  <m:oMath xmlns:m="http://schemas.openxmlformats.org/officeDocument/2006/math">
                    <m:sSubSup>
                      <m:sSubSupPr>
                        <m:ctrlPr>
                          <a:rPr lang="en-US" altLang="zh-CN" sz="2800" i="1" dirty="0" smtClean="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smtClean="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&lt;0</a:t>
                </a:r>
                <a:r>
                  <a:rPr lang="zh-CN" altLang="en-US" sz="2800" dirty="0">
                    <a:latin typeface="华光仿宋_CNKI" panose="02000500000000000000" pitchFamily="2" charset="-122"/>
                    <a:ea typeface="华光仿宋_CNKI" panose="02000500000000000000" pitchFamily="2" charset="-122"/>
                  </a:rPr>
                  <a:t>，则选</a:t>
                </a:r>
                <a:r>
                  <a:rPr lang="en-US" altLang="zh-CN" sz="2800" dirty="0">
                    <a:latin typeface="华光仿宋_CNKI" panose="02000500000000000000" pitchFamily="2" charset="-122"/>
                    <a:ea typeface="华光仿宋_CNKI" panose="02000500000000000000" pitchFamily="2" charset="-122"/>
                  </a:rPr>
                  <a:t>H;  (2)</a:t>
                </a:r>
                <a:r>
                  <a:rPr lang="zh-CN" altLang="en-US" sz="2800" dirty="0">
                    <a:latin typeface="华光仿宋_CNKI" panose="02000500000000000000" pitchFamily="2" charset="-122"/>
                    <a:ea typeface="华光仿宋_CNKI" panose="02000500000000000000" pitchFamily="2" charset="-122"/>
                  </a:rPr>
                  <a:t>若</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&gt;0</a:t>
                </a:r>
                <a:r>
                  <a:rPr lang="zh-CN" altLang="en-US" sz="2800" dirty="0">
                    <a:latin typeface="华光仿宋_CNKI" panose="02000500000000000000" pitchFamily="2" charset="-122"/>
                    <a:ea typeface="华光仿宋_CNKI" panose="02000500000000000000" pitchFamily="2" charset="-122"/>
                  </a:rPr>
                  <a:t>，则选</a:t>
                </a:r>
                <a:r>
                  <a:rPr lang="en-US" altLang="zh-CN" sz="2800" dirty="0">
                    <a:latin typeface="华光仿宋_CNKI" panose="02000500000000000000" pitchFamily="2" charset="-122"/>
                    <a:ea typeface="华光仿宋_CNKI" panose="02000500000000000000" pitchFamily="2" charset="-122"/>
                  </a:rPr>
                  <a:t>D; (3)</a:t>
                </a:r>
                <a:r>
                  <a:rPr lang="zh-CN" altLang="en-US" sz="2800" dirty="0">
                    <a:latin typeface="华光仿宋_CNKI" panose="02000500000000000000" pitchFamily="2" charset="-122"/>
                    <a:ea typeface="华光仿宋_CNKI" panose="02000500000000000000" pitchFamily="2" charset="-122"/>
                  </a:rPr>
                  <a:t>若</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，则选</a:t>
                </a:r>
                <a:r>
                  <a:rPr lang="en-US" altLang="zh-CN" sz="2800" dirty="0">
                    <a:latin typeface="华光仿宋_CNKI" panose="02000500000000000000" pitchFamily="2" charset="-122"/>
                    <a:ea typeface="华光仿宋_CNKI" panose="02000500000000000000" pitchFamily="2" charset="-122"/>
                  </a:rPr>
                  <a:t>H</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lvl="1"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对于情形</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②可以得到相同的结果。</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572120" y="866691"/>
                <a:ext cx="10790294" cy="5550011"/>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49417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72120" y="866691"/>
                <a:ext cx="10790294" cy="5550011"/>
              </a:xfrm>
            </p:spPr>
            <p:txBody>
              <a:bodyPr>
                <a:norm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在</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r>
                      <a:rPr lang="en-US" altLang="zh-CN" sz="2800" b="0" i="1" smtClean="0">
                        <a:latin typeface="Cambria Math" panose="02040503050406030204" pitchFamily="18" charset="0"/>
                        <a:ea typeface="华光仿宋_CNKI" panose="02000500000000000000" pitchFamily="2" charset="-122"/>
                      </a:rPr>
                      <m:t>&gt;</m:t>
                    </m:r>
                  </m:oMath>
                </a14:m>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时，</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D</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在圆内，如③④两种情形。</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l">
                  <a:lnSpc>
                    <a:spcPct val="150000"/>
                  </a:lnSpc>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对于情形③ ，选</a:t>
                </a:r>
                <a:r>
                  <a:rPr lang="en-US" altLang="zh-CN" sz="2800" dirty="0">
                    <a:latin typeface="华光仿宋_CNKI" panose="02000500000000000000" pitchFamily="2" charset="-122"/>
                    <a:ea typeface="华光仿宋_CNKI" panose="02000500000000000000" pitchFamily="2" charset="-122"/>
                  </a:rPr>
                  <a:t>H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D </a:t>
                </a:r>
                <a:r>
                  <a:rPr lang="zh-CN" altLang="en-US" sz="2800" dirty="0">
                    <a:latin typeface="华光仿宋_CNKI" panose="02000500000000000000" pitchFamily="2" charset="-122"/>
                    <a:ea typeface="华光仿宋_CNKI" panose="02000500000000000000" pitchFamily="2" charset="-122"/>
                  </a:rPr>
                  <a:t>中最小者</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smtClean="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solidFill>
                      <a:srgbClr val="000000"/>
                    </a:solidFill>
                  </a:rPr>
                  <a:t> </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𝑑</m:t>
                        </m:r>
                      </m:e>
                      <m:sub>
                        <m:r>
                          <a:rPr lang="en-US" altLang="zh-CN" sz="2800" b="0" i="1" smtClean="0">
                            <a:solidFill>
                              <a:srgbClr val="000000"/>
                            </a:solidFill>
                            <a:latin typeface="Cambria Math" panose="02040503050406030204" pitchFamily="18" charset="0"/>
                          </a:rPr>
                          <m:t>𝐷</m:t>
                        </m:r>
                      </m:sub>
                    </m:sSub>
                  </m:oMath>
                </a14:m>
                <a:r>
                  <a:rPr lang="en-US" altLang="zh-CN" sz="2800" dirty="0">
                    <a:latin typeface="华光仿宋_CNKI" panose="02000500000000000000" pitchFamily="2" charset="-122"/>
                    <a:ea typeface="华光仿宋_CNKI" panose="02000500000000000000" pitchFamily="2" charset="-122"/>
                  </a:rPr>
                  <a:t> -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𝑑</m:t>
                        </m:r>
                      </m:e>
                      <m:sub>
                        <m:r>
                          <a:rPr lang="en-US" altLang="zh-CN" sz="2800" b="0" i="1" smtClean="0">
                            <a:solidFill>
                              <a:srgbClr val="000000"/>
                            </a:solidFill>
                            <a:latin typeface="Cambria Math" panose="02040503050406030204" pitchFamily="18" charset="0"/>
                          </a:rPr>
                          <m:t>𝑉</m:t>
                        </m:r>
                      </m:sub>
                    </m:sSub>
                  </m:oMath>
                </a14:m>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en-US" altLang="zh-CN" sz="2800" dirty="0">
                    <a:solidFill>
                      <a:srgbClr val="000000"/>
                    </a:solidFill>
                  </a:rPr>
                  <a:t> </a:t>
                </a:r>
                <a14:m>
                  <m:oMath xmlns:m="http://schemas.openxmlformats.org/officeDocument/2006/math">
                    <m:r>
                      <a:rPr lang="en-US" altLang="zh-CN" sz="2800" i="1" dirty="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 - </a:t>
                </a:r>
                <a14:m>
                  <m:oMath xmlns:m="http://schemas.openxmlformats.org/officeDocument/2006/math">
                    <m:r>
                      <a:rPr lang="en-US" altLang="zh-CN" sz="2800" i="1" dirty="0">
                        <a:solidFill>
                          <a:srgbClr val="000000"/>
                        </a:solidFill>
                        <a:latin typeface="Cambria Math" panose="02040503050406030204" pitchFamily="18" charset="0"/>
                      </a:rPr>
                      <m:t>|</m:t>
                    </m:r>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a:rPr lang="en-US" altLang="zh-CN" sz="2800" b="0" i="1" dirty="0" smtClean="0">
                            <a:solidFill>
                              <a:srgbClr val="000000"/>
                            </a:solidFill>
                            <a:latin typeface="Cambria Math" panose="02040503050406030204" pitchFamily="18" charset="0"/>
                            <a:ea typeface="华光仿宋_CNKI" panose="02000500000000000000" pitchFamily="2" charset="-122"/>
                          </a:rPr>
                          <m:t>𝑥</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2</m:t>
                        </m:r>
                      </m:sup>
                    </m:sSub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en-US" altLang="zh-CN" sz="2800" i="1">
                        <a:solidFill>
                          <a:srgbClr val="000000"/>
                        </a:solidFill>
                        <a:latin typeface="Cambria Math" panose="02040503050406030204" pitchFamily="18" charset="0"/>
                      </a:rPr>
                      <m:t>|</m:t>
                    </m:r>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en-US" altLang="zh-CN" sz="2800" b="0" i="0" smtClean="0">
                        <a:solidFill>
                          <a:srgbClr val="000000"/>
                        </a:solidFill>
                        <a:latin typeface="Cambria Math" panose="02040503050406030204" pitchFamily="18" charset="0"/>
                      </a:rPr>
                      <m:t>+</m:t>
                    </m:r>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a:rPr lang="en-US" altLang="zh-CN" sz="2800" i="1" dirty="0">
                            <a:solidFill>
                              <a:srgbClr val="000000"/>
                            </a:solidFill>
                            <a:latin typeface="Cambria Math" panose="02040503050406030204" pitchFamily="18" charset="0"/>
                            <a:ea typeface="华光仿宋_CNKI" panose="02000500000000000000" pitchFamily="2" charset="-122"/>
                          </a:rPr>
                          <m:t>𝑥</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2</m:t>
                        </m:r>
                      </m:sup>
                    </m:sSubSup>
                    <m:r>
                      <a:rPr lang="en-US" altLang="zh-CN" sz="2800" b="0"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en-US" altLang="zh-CN"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=2 (</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𝑑</m:t>
                        </m:r>
                      </m:e>
                      <m:sub>
                        <m:r>
                          <a:rPr lang="en-US" altLang="zh-CN" sz="2800" b="0" i="1" smtClean="0">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r>
                      <a:rPr lang="en-US" altLang="zh-CN" sz="2800" b="0" i="0"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a:t>
                </a:r>
                <a:endParaRPr lang="en-US" altLang="zh-CN" sz="2800" dirty="0">
                  <a:latin typeface="华光仿宋_CNKI" panose="02000500000000000000" pitchFamily="2" charset="-122"/>
                  <a:ea typeface="华光仿宋_CNKI" panose="02000500000000000000" pitchFamily="2" charset="-122"/>
                </a:endParaRPr>
              </a:p>
              <a:p>
                <a:pPr lvl="1"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若</a:t>
                </a:r>
                <a14:m>
                  <m:oMath xmlns:m="http://schemas.openxmlformats.org/officeDocument/2006/math">
                    <m:sSubSup>
                      <m:sSubSupPr>
                        <m:ctrlPr>
                          <a:rPr lang="en-US" altLang="zh-CN" sz="2800" i="1" dirty="0" smtClean="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smtClean="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b="0" i="1" smtClean="0">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&lt;0</a:t>
                </a:r>
                <a:r>
                  <a:rPr lang="zh-CN" altLang="en-US" sz="2800" dirty="0">
                    <a:latin typeface="华光仿宋_CNKI" panose="02000500000000000000" pitchFamily="2" charset="-122"/>
                    <a:ea typeface="华光仿宋_CNKI" panose="02000500000000000000" pitchFamily="2" charset="-122"/>
                  </a:rPr>
                  <a:t>，则选</a:t>
                </a:r>
                <a:r>
                  <a:rPr lang="en-US" altLang="zh-CN" sz="2800" dirty="0">
                    <a:latin typeface="华光仿宋_CNKI" panose="02000500000000000000" pitchFamily="2" charset="-122"/>
                    <a:ea typeface="华光仿宋_CNKI" panose="02000500000000000000" pitchFamily="2" charset="-122"/>
                  </a:rPr>
                  <a:t>D;  (2)</a:t>
                </a:r>
                <a:r>
                  <a:rPr lang="zh-CN" altLang="en-US" sz="2800" dirty="0">
                    <a:latin typeface="华光仿宋_CNKI" panose="02000500000000000000" pitchFamily="2" charset="-122"/>
                    <a:ea typeface="华光仿宋_CNKI" panose="02000500000000000000" pitchFamily="2" charset="-122"/>
                  </a:rPr>
                  <a:t>若</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&gt;0</a:t>
                </a:r>
                <a:r>
                  <a:rPr lang="zh-CN" altLang="en-US" sz="2800" dirty="0">
                    <a:latin typeface="华光仿宋_CNKI" panose="02000500000000000000" pitchFamily="2" charset="-122"/>
                    <a:ea typeface="华光仿宋_CNKI" panose="02000500000000000000" pitchFamily="2" charset="-122"/>
                  </a:rPr>
                  <a:t>，则选</a:t>
                </a:r>
                <a:r>
                  <a:rPr lang="en-US" altLang="zh-CN" sz="2800" dirty="0">
                    <a:latin typeface="华光仿宋_CNKI" panose="02000500000000000000" pitchFamily="2" charset="-122"/>
                    <a:ea typeface="华光仿宋_CNKI" panose="02000500000000000000" pitchFamily="2" charset="-122"/>
                  </a:rPr>
                  <a:t>V; (3)</a:t>
                </a:r>
                <a:r>
                  <a:rPr lang="zh-CN" altLang="en-US" sz="2800" dirty="0">
                    <a:latin typeface="华光仿宋_CNKI" panose="02000500000000000000" pitchFamily="2" charset="-122"/>
                    <a:ea typeface="华光仿宋_CNKI" panose="02000500000000000000" pitchFamily="2" charset="-122"/>
                  </a:rPr>
                  <a:t>若</a:t>
                </a:r>
                <a14:m>
                  <m:oMath xmlns:m="http://schemas.openxmlformats.org/officeDocument/2006/math">
                    <m:sSubSup>
                      <m:sSubSupPr>
                        <m:ctrlPr>
                          <a:rPr lang="en-US" altLang="zh-CN" sz="2800" i="1" dirty="0">
                            <a:solidFill>
                              <a:srgbClr val="000000"/>
                            </a:solidFill>
                            <a:latin typeface="Cambria Math" panose="02040503050406030204" pitchFamily="18" charset="0"/>
                            <a:ea typeface="华光仿宋_CNKI" panose="02000500000000000000" pitchFamily="2" charset="-122"/>
                          </a:rPr>
                        </m:ctrlPr>
                      </m:sSubSupPr>
                      <m:e>
                        <m:r>
                          <m:rPr>
                            <m:sty m:val="p"/>
                          </m:rPr>
                          <a:rPr lang="en-US" altLang="zh-CN" sz="2800" i="1" dirty="0">
                            <a:solidFill>
                              <a:srgbClr val="000000"/>
                            </a:solidFill>
                            <a:latin typeface="Cambria Math" panose="02040503050406030204" pitchFamily="18" charset="0"/>
                            <a:ea typeface="华光仿宋_CNKI" panose="02000500000000000000" pitchFamily="2" charset="-122"/>
                          </a:rPr>
                          <m:t>d</m:t>
                        </m:r>
                      </m:e>
                      <m:sub>
                        <m:r>
                          <a:rPr lang="en-US" altLang="zh-CN" sz="2800" i="1">
                            <a:solidFill>
                              <a:srgbClr val="000000"/>
                            </a:solidFill>
                            <a:latin typeface="Cambria Math" panose="02040503050406030204" pitchFamily="18" charset="0"/>
                          </a:rPr>
                          <m:t>𝑖</m:t>
                        </m:r>
                      </m:sub>
                      <m:sup>
                        <m:r>
                          <a:rPr lang="en-US" altLang="zh-CN" sz="2800" i="1">
                            <a:solidFill>
                              <a:srgbClr val="000000"/>
                            </a:solidFill>
                            <a:latin typeface="Cambria Math" panose="02040503050406030204" pitchFamily="18" charset="0"/>
                          </a:rPr>
                          <m:t>′</m:t>
                        </m:r>
                      </m:sup>
                    </m:sSubSup>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，则选</a:t>
                </a:r>
                <a:r>
                  <a:rPr lang="en-US" altLang="zh-CN" sz="2800" dirty="0">
                    <a:latin typeface="华光仿宋_CNKI" panose="02000500000000000000" pitchFamily="2" charset="-122"/>
                    <a:ea typeface="华光仿宋_CNKI" panose="02000500000000000000" pitchFamily="2" charset="-122"/>
                  </a:rPr>
                  <a:t>D</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lvl="1"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对于情形</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④可以得到相同的结果。</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572120" y="866691"/>
                <a:ext cx="10790294" cy="5550011"/>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2625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48266" y="453223"/>
                <a:ext cx="10790294" cy="6297434"/>
              </a:xfrm>
            </p:spPr>
            <p:txBody>
              <a:bodyPr>
                <a:normAutofit fontScale="92500" lnSpcReduction="10000"/>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在</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r>
                      <a:rPr lang="en-US" altLang="zh-CN" sz="2800" b="0" i="1" smtClean="0">
                        <a:latin typeface="Cambria Math" panose="02040503050406030204" pitchFamily="18" charset="0"/>
                        <a:ea typeface="华光仿宋_CNKI" panose="02000500000000000000" pitchFamily="2" charset="-122"/>
                      </a:rPr>
                      <m:t>=</m:t>
                    </m:r>
                  </m:oMath>
                </a14:m>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时，</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D</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在圆上，如⑤情形，选</a:t>
                </a: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D</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l">
                  <a:lnSpc>
                    <a:spcPct val="150000"/>
                  </a:lnSpc>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对于下一个待选取的点，同样有：</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当取</a:t>
                </a:r>
                <a:r>
                  <a:rPr lang="en-US" altLang="zh-CN" sz="2800" dirty="0">
                    <a:latin typeface="华光仿宋_CNKI" panose="02000500000000000000" pitchFamily="2" charset="-122"/>
                    <a:ea typeface="华光仿宋_CNKI" panose="02000500000000000000" pitchFamily="2" charset="-122"/>
                  </a:rPr>
                  <a:t>H(</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+1,</a:t>
                </a:r>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时，计算下一个</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r>
                      <a:rPr lang="en-US" altLang="zh-CN" sz="2800" i="1">
                        <a:latin typeface="Cambria Math" panose="02040503050406030204" pitchFamily="18" charset="0"/>
                        <a:ea typeface="华光仿宋_CNKI" panose="02000500000000000000" pitchFamily="2" charset="-122"/>
                      </a:rPr>
                      <m:t> </m:t>
                    </m:r>
                  </m:oMath>
                </a14:m>
                <a:r>
                  <a:rPr lang="zh-CN" altLang="en-US" sz="2800" dirty="0">
                    <a:latin typeface="华光仿宋_CNKI" panose="02000500000000000000" pitchFamily="2" charset="-122"/>
                    <a:ea typeface="华光仿宋_CNKI" panose="02000500000000000000" pitchFamily="2" charset="-122"/>
                  </a:rPr>
                  <a:t>的值</a:t>
                </a:r>
                <a:r>
                  <a:rPr lang="en-US" altLang="zh-CN" sz="2800" dirty="0">
                    <a:latin typeface="华光仿宋_CNKI" panose="02000500000000000000" pitchFamily="2" charset="-122"/>
                    <a:ea typeface="华光仿宋_CNKI" panose="02000500000000000000" pitchFamily="2" charset="-122"/>
                  </a:rPr>
                  <a:t>:</a:t>
                </a:r>
                <a:endParaRPr lang="zh-CN" altLang="en-US" sz="2800" dirty="0">
                  <a:latin typeface="华光仿宋_CNKI" panose="02000500000000000000" pitchFamily="2" charset="-122"/>
                  <a:ea typeface="华光仿宋_CNKI" panose="02000500000000000000" pitchFamily="2" charset="-122"/>
                </a:endParaRPr>
              </a:p>
              <a:p>
                <a:pPr marL="0" lvl="1" algn="l">
                  <a:lnSpc>
                    <a:spcPct val="150000"/>
                  </a:lnSpc>
                  <a:spcBef>
                    <a:spcPts val="1000"/>
                  </a:spcBef>
                </a:pP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     </a:t>
                </a:r>
                <a14:m>
                  <m:oMath xmlns:m="http://schemas.openxmlformats.org/officeDocument/2006/math">
                    <m:sSub>
                      <m:sSubPr>
                        <m:ctrlPr>
                          <a:rPr lang="zh-CN" altLang="en-US" sz="2800" i="1" smtClean="0">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r>
                          <a:rPr lang="en-US" altLang="zh-CN" sz="2800" b="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𝑖</m:t>
                        </m:r>
                        <m:r>
                          <a:rPr lang="en-US" altLang="zh-CN" sz="2800" b="0" i="1" smtClean="0">
                            <a:latin typeface="Cambria Math" panose="02040503050406030204" pitchFamily="18" charset="0"/>
                            <a:ea typeface="华光仿宋_CNKI" panose="02000500000000000000" pitchFamily="2" charset="-122"/>
                          </a:rPr>
                          <m:t>+1)</m:t>
                        </m:r>
                      </m:sub>
                    </m:sSub>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a:t>
                </a:r>
                <a:r>
                  <a:rPr lang="zh-CN" altLang="en-US" sz="2800" dirty="0">
                    <a:solidFill>
                      <a:srgbClr val="000000"/>
                    </a:solidFill>
                  </a:rPr>
                  <a:t> </a:t>
                </a:r>
                <a14:m>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+2(</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+1)+1</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当取</a:t>
                </a:r>
                <a:r>
                  <a:rPr lang="en-US" altLang="zh-CN" sz="2800" dirty="0">
                    <a:latin typeface="华光仿宋_CNKI" panose="02000500000000000000" pitchFamily="2" charset="-122"/>
                    <a:ea typeface="华光仿宋_CNKI" panose="02000500000000000000" pitchFamily="2" charset="-122"/>
                  </a:rPr>
                  <a:t>V(</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rPr>
                  <a:t>,</a:t>
                </a:r>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时，计算下一个</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r>
                      <a:rPr lang="en-US" altLang="zh-CN" sz="2800" i="1">
                        <a:latin typeface="Cambria Math" panose="02040503050406030204" pitchFamily="18" charset="0"/>
                        <a:ea typeface="华光仿宋_CNKI" panose="02000500000000000000" pitchFamily="2" charset="-122"/>
                      </a:rPr>
                      <m:t> </m:t>
                    </m:r>
                  </m:oMath>
                </a14:m>
                <a:r>
                  <a:rPr lang="zh-CN" altLang="en-US" sz="2800" dirty="0">
                    <a:latin typeface="华光仿宋_CNKI" panose="02000500000000000000" pitchFamily="2" charset="-122"/>
                    <a:ea typeface="华光仿宋_CNKI" panose="02000500000000000000" pitchFamily="2" charset="-122"/>
                  </a:rPr>
                  <a:t>的值</a:t>
                </a:r>
                <a:r>
                  <a:rPr lang="en-US" altLang="zh-CN" sz="2800" dirty="0">
                    <a:latin typeface="华光仿宋_CNKI" panose="02000500000000000000" pitchFamily="2" charset="-122"/>
                    <a:ea typeface="华光仿宋_CNKI" panose="02000500000000000000" pitchFamily="2" charset="-122"/>
                  </a:rPr>
                  <a:t>:</a:t>
                </a:r>
                <a:endParaRPr lang="zh-CN" altLang="en-US" sz="2800" dirty="0">
                  <a:latin typeface="华光仿宋_CNKI" panose="02000500000000000000" pitchFamily="2" charset="-122"/>
                  <a:ea typeface="华光仿宋_CNKI" panose="02000500000000000000" pitchFamily="2" charset="-122"/>
                </a:endParaRPr>
              </a:p>
              <a:p>
                <a:pPr marL="0" lvl="1" algn="l">
                  <a:lnSpc>
                    <a:spcPct val="150000"/>
                  </a:lnSpc>
                  <a:spcBef>
                    <a:spcPts val="1000"/>
                  </a:spcBef>
                </a:pP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     </a:t>
                </a:r>
                <a14:m>
                  <m:oMath xmlns:m="http://schemas.openxmlformats.org/officeDocument/2006/math">
                    <m:sSub>
                      <m:sSubPr>
                        <m:ctrlPr>
                          <a:rPr lang="zh-CN" altLang="en-US" sz="2800" i="1" smtClean="0">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b="0" i="1" smtClean="0">
                            <a:latin typeface="Cambria Math" panose="02040503050406030204" pitchFamily="18" charset="0"/>
                            <a:ea typeface="华光仿宋_CNKI" panose="02000500000000000000" pitchFamily="2" charset="-122"/>
                          </a:rPr>
                          <m:t>𝐷</m:t>
                        </m:r>
                        <m:r>
                          <a:rPr lang="en-US" altLang="zh-CN" sz="2800" b="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𝑖</m:t>
                        </m:r>
                        <m:r>
                          <a:rPr lang="en-US" altLang="zh-CN" sz="2800" b="0" i="1" smtClean="0">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-2(</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-1)+1</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当取</a:t>
                </a:r>
                <a:r>
                  <a:rPr lang="en-US" altLang="zh-CN" sz="2800" dirty="0">
                    <a:latin typeface="华光仿宋_CNKI" panose="02000500000000000000" pitchFamily="2" charset="-122"/>
                    <a:ea typeface="华光仿宋_CNKI" panose="02000500000000000000" pitchFamily="2" charset="-122"/>
                  </a:rPr>
                  <a:t>D(</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oMath>
                </a14:m>
                <a:r>
                  <a:rPr lang="en-US" altLang="zh-CN" sz="2800" dirty="0">
                    <a:latin typeface="华光仿宋_CNKI" panose="02000500000000000000" pitchFamily="2" charset="-122"/>
                    <a:ea typeface="华光仿宋_CNKI" panose="02000500000000000000" pitchFamily="2" charset="-122"/>
                  </a:rPr>
                  <a:t>+1,</a:t>
                </a:r>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时，计算下一个</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a:latin typeface="Cambria Math" panose="02040503050406030204" pitchFamily="18" charset="0"/>
                            <a:ea typeface="华光仿宋_CNKI" panose="02000500000000000000" pitchFamily="2" charset="-122"/>
                          </a:rPr>
                          <m:t>𝐷</m:t>
                        </m:r>
                      </m:sub>
                    </m:sSub>
                    <m:r>
                      <a:rPr lang="en-US" altLang="zh-CN" sz="2800" i="1">
                        <a:latin typeface="Cambria Math" panose="02040503050406030204" pitchFamily="18" charset="0"/>
                        <a:ea typeface="华光仿宋_CNKI" panose="02000500000000000000" pitchFamily="2" charset="-122"/>
                      </a:rPr>
                      <m:t> </m:t>
                    </m:r>
                  </m:oMath>
                </a14:m>
                <a:r>
                  <a:rPr lang="zh-CN" altLang="en-US" sz="2800" dirty="0">
                    <a:latin typeface="华光仿宋_CNKI" panose="02000500000000000000" pitchFamily="2" charset="-122"/>
                    <a:ea typeface="华光仿宋_CNKI" panose="02000500000000000000" pitchFamily="2" charset="-122"/>
                  </a:rPr>
                  <a:t>的值</a:t>
                </a:r>
                <a:r>
                  <a:rPr lang="en-US" altLang="zh-CN" sz="2800" dirty="0">
                    <a:latin typeface="华光仿宋_CNKI" panose="02000500000000000000" pitchFamily="2" charset="-122"/>
                    <a:ea typeface="华光仿宋_CNKI" panose="02000500000000000000" pitchFamily="2" charset="-122"/>
                  </a:rPr>
                  <a:t>:</a:t>
                </a:r>
                <a:endParaRPr lang="zh-CN" altLang="en-US" sz="2800" dirty="0">
                  <a:latin typeface="华光仿宋_CNKI" panose="02000500000000000000" pitchFamily="2" charset="-122"/>
                  <a:ea typeface="华光仿宋_CNKI" panose="02000500000000000000" pitchFamily="2" charset="-122"/>
                </a:endParaRPr>
              </a:p>
              <a:p>
                <a:pPr marL="0" lvl="1" algn="l">
                  <a:lnSpc>
                    <a:spcPct val="150000"/>
                  </a:lnSpc>
                  <a:spcBef>
                    <a:spcPts val="1000"/>
                  </a:spcBef>
                </a:pP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    </a:t>
                </a:r>
                <a14:m>
                  <m:oMath xmlns:m="http://schemas.openxmlformats.org/officeDocument/2006/math">
                    <m:sSub>
                      <m:sSubPr>
                        <m:ctrlPr>
                          <a:rPr lang="zh-CN" altLang="en-US" sz="2800" i="1" smtClean="0">
                            <a:latin typeface="Cambria Math" panose="02040503050406030204" pitchFamily="18" charset="0"/>
                            <a:ea typeface="华光仿宋_CNKI" panose="02000500000000000000" pitchFamily="2" charset="-122"/>
                          </a:rPr>
                        </m:ctrlPr>
                      </m:sSubPr>
                      <m:e>
                        <m:r>
                          <a:rPr lang="en-US" altLang="zh-CN" sz="2800" b="0" i="0" smtClean="0">
                            <a:latin typeface="Cambria Math" panose="02040503050406030204" pitchFamily="18" charset="0"/>
                            <a:ea typeface="华光仿宋_CNKI" panose="02000500000000000000" pitchFamily="2" charset="-122"/>
                          </a:rPr>
                          <m:t> </m:t>
                        </m:r>
                        <m:r>
                          <a:rPr lang="en-US" altLang="zh-CN" sz="2800">
                            <a:latin typeface="Cambria Math" panose="02040503050406030204" pitchFamily="18" charset="0"/>
                            <a:ea typeface="华光仿宋_CNKI" panose="02000500000000000000" pitchFamily="2" charset="-122"/>
                          </a:rPr>
                          <m:t>𝑑</m:t>
                        </m:r>
                      </m:e>
                      <m:sub>
                        <m:r>
                          <a:rPr lang="en-US" altLang="zh-CN" sz="2800" b="0" i="1" smtClean="0">
                            <a:latin typeface="Cambria Math" panose="02040503050406030204" pitchFamily="18" charset="0"/>
                            <a:ea typeface="华光仿宋_CNKI" panose="02000500000000000000" pitchFamily="2" charset="-122"/>
                          </a:rPr>
                          <m:t>𝐷</m:t>
                        </m:r>
                        <m:r>
                          <a:rPr lang="en-US" altLang="zh-CN" sz="2800" b="0" i="1" smtClean="0">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𝑖</m:t>
                        </m:r>
                        <m:r>
                          <a:rPr lang="en-US" altLang="zh-CN" sz="2800" b="0" i="1" smtClean="0">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 </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 +(</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𝑑</m:t>
                        </m:r>
                      </m:e>
                      <m:sub>
                        <m:r>
                          <a:rPr lang="en-US" altLang="zh-CN" sz="2800" i="1">
                            <a:latin typeface="Cambria Math" panose="02040503050406030204" pitchFamily="18" charset="0"/>
                            <a:ea typeface="华光仿宋_CNKI" panose="02000500000000000000" pitchFamily="2" charset="-122"/>
                          </a:rPr>
                          <m:t>𝑖</m:t>
                        </m:r>
                      </m:sub>
                    </m:sSub>
                    <m:r>
                      <a:rPr lang="en-US" altLang="zh-CN" sz="2800" i="1">
                        <a:latin typeface="Cambria Math" panose="02040503050406030204" pitchFamily="18" charset="0"/>
                        <a:ea typeface="华光仿宋_CNKI" panose="02000500000000000000" pitchFamily="2" charset="-122"/>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+2(</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+1)-2(</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𝑖</m:t>
                        </m:r>
                      </m:sub>
                    </m:sSub>
                    <m:r>
                      <a:rPr lang="en-US" altLang="zh-CN" sz="2800" i="1">
                        <a:solidFill>
                          <a:srgbClr val="000000"/>
                        </a:solidFill>
                        <a:latin typeface="Cambria Math" panose="02040503050406030204" pitchFamily="18" charset="0"/>
                      </a:rPr>
                      <m:t> </m:t>
                    </m:r>
                  </m:oMath>
                </a14:m>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-1)+2</a:t>
                </a:r>
              </a:p>
              <a:p>
                <a:pPr marL="0" lvl="1" algn="l">
                  <a:lnSpc>
                    <a:spcPct val="150000"/>
                  </a:lnSpc>
                  <a:spcBef>
                    <a:spcPts val="1000"/>
                  </a:spcBef>
                </a:pPr>
                <a:r>
                  <a:rPr lang="en-US" altLang="zh-CN" sz="2800" dirty="0">
                    <a:latin typeface="华光仿宋_CNKI" panose="02000500000000000000" pitchFamily="2" charset="-122"/>
                    <a:ea typeface="华光仿宋_CNKI" panose="02000500000000000000" pitchFamily="2" charset="-122"/>
                    <a:sym typeface="Symbol" panose="05050102010706020507" pitchFamily="18" charset="2"/>
                  </a:rPr>
                  <a:t>    </a:t>
                </a:r>
                <a:r>
                  <a:rPr lang="zh-CN" altLang="en-US" sz="2800" dirty="0">
                    <a:latin typeface="华光仿宋_CNKI" panose="02000500000000000000" pitchFamily="2" charset="-122"/>
                    <a:ea typeface="华光仿宋_CNKI" panose="02000500000000000000" pitchFamily="2" charset="-122"/>
                    <a:sym typeface="Symbol" panose="05050102010706020507" pitchFamily="18" charset="2"/>
                  </a:rPr>
                  <a:t>重复前面的操作即可完成圆的绘制。</a:t>
                </a: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marL="0" lvl="1" algn="l">
                  <a:lnSpc>
                    <a:spcPct val="150000"/>
                  </a:lnSpc>
                  <a:spcBef>
                    <a:spcPts val="1000"/>
                  </a:spcBef>
                </a:pPr>
                <a:endParaRPr lang="en-US" altLang="zh-CN" sz="2800" dirty="0">
                  <a:latin typeface="华光仿宋_CNKI" panose="02000500000000000000" pitchFamily="2" charset="-122"/>
                  <a:ea typeface="华光仿宋_CNKI" panose="02000500000000000000" pitchFamily="2" charset="-122"/>
                  <a:sym typeface="Symbol" panose="05050102010706020507" pitchFamily="18" charset="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548266" y="453223"/>
                <a:ext cx="10790294" cy="6297434"/>
              </a:xfrm>
              <a:blipFill>
                <a:blip r:embed="rId2"/>
                <a:stretch>
                  <a:fillRect r="-847" b="-14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26157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0307" y="745435"/>
                <a:ext cx="10255859" cy="2411233"/>
              </a:xfrm>
            </p:spPr>
            <p:txBody>
              <a:bodyPr>
                <a:normAutofit/>
              </a:bodyPr>
              <a:lstStyle/>
              <a:p>
                <a:pPr algn="l">
                  <a:lnSpc>
                    <a:spcPct val="150000"/>
                  </a:lnSpc>
                </a:pPr>
                <a:r>
                  <a:rPr lang="en-US" altLang="zh-CN" dirty="0">
                    <a:latin typeface="华光大标宋_CNKI" panose="02000500000000000000" pitchFamily="2" charset="-122"/>
                    <a:ea typeface="华光大标宋_CNKI" panose="02000500000000000000" pitchFamily="2" charset="-122"/>
                  </a:rPr>
                  <a:t>3.2.4 </a:t>
                </a:r>
                <a:r>
                  <a:rPr lang="zh-CN" altLang="en-US" dirty="0">
                    <a:latin typeface="华光大标宋_CNKI" panose="02000500000000000000" pitchFamily="2" charset="-122"/>
                    <a:ea typeface="华光大标宋_CNKI" panose="02000500000000000000" pitchFamily="2" charset="-122"/>
                  </a:rPr>
                  <a:t>圆的多边形逼近法</a:t>
                </a:r>
                <a:endParaRPr lang="en-US" altLang="zh-CN" dirty="0">
                  <a:latin typeface="华光大标宋_CNKI" panose="02000500000000000000" pitchFamily="2" charset="-122"/>
                  <a:ea typeface="华光大标宋_CNKI" panose="02000500000000000000" pitchFamily="2" charset="-122"/>
                </a:endParaRPr>
              </a:p>
              <a:p>
                <a:pPr algn="just">
                  <a:lnSpc>
                    <a:spcPct val="150000"/>
                  </a:lnSpc>
                </a:pPr>
                <a:r>
                  <a:rPr lang="zh-CN" altLang="en-US" dirty="0">
                    <a:latin typeface="华光仿宋_CNKI" panose="02000500000000000000" pitchFamily="2" charset="-122"/>
                    <a:ea typeface="华光仿宋_CNKI" panose="02000500000000000000" pitchFamily="2" charset="-122"/>
                  </a:rPr>
                  <a:t>    当圆的正内接多边形边数足够多时，可以用画该多边形近似代替画圆。</a:t>
                </a:r>
                <a:endParaRPr lang="en-US" altLang="zh-CN" dirty="0">
                  <a:latin typeface="华光仿宋_CNKI" panose="02000500000000000000" pitchFamily="2" charset="-122"/>
                  <a:ea typeface="华光仿宋_CNKI" panose="02000500000000000000" pitchFamily="2" charset="-122"/>
                </a:endParaRPr>
              </a:p>
              <a:p>
                <a:pPr algn="just">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设内接正</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边形顶点为</a:t>
                </a:r>
                <a14:m>
                  <m:oMath xmlns:m="http://schemas.openxmlformats.org/officeDocument/2006/math">
                    <m:sSub>
                      <m:sSubPr>
                        <m:ctrlPr>
                          <a:rPr lang="zh-CN" altLang="en-US" i="1" smtClean="0">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P</m:t>
                        </m:r>
                      </m:e>
                      <m:sub>
                        <m:r>
                          <a:rPr lang="en-US" altLang="zh-CN" i="1">
                            <a:solidFill>
                              <a:srgbClr val="000000"/>
                            </a:solidFill>
                            <a:latin typeface="Cambria Math" panose="02040503050406030204" pitchFamily="18" charset="0"/>
                          </a:rPr>
                          <m:t>𝑖</m:t>
                        </m:r>
                      </m:sub>
                    </m:sSub>
                  </m:oMath>
                </a14:m>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en-US" altLang="zh-CN" i="1" smtClean="0">
                            <a:solidFill>
                              <a:srgbClr val="000000"/>
                            </a:solidFill>
                            <a:latin typeface="Cambria Math" panose="02040503050406030204" pitchFamily="18" charset="0"/>
                          </a:rPr>
                          <m:t>x</m:t>
                        </m:r>
                      </m:e>
                      <m:sub>
                        <m:r>
                          <a:rPr lang="en-US" altLang="zh-CN" i="1">
                            <a:solidFill>
                              <a:srgbClr val="000000"/>
                            </a:solidFill>
                            <a:latin typeface="Cambria Math" panose="02040503050406030204" pitchFamily="18" charset="0"/>
                          </a:rPr>
                          <m:t>𝑖</m:t>
                        </m:r>
                      </m:sub>
                    </m:sSub>
                  </m:oMath>
                </a14:m>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en-US" altLang="zh-CN" i="1">
                            <a:solidFill>
                              <a:srgbClr val="000000"/>
                            </a:solidFill>
                            <a:latin typeface="Cambria Math" panose="02040503050406030204" pitchFamily="18" charset="0"/>
                          </a:rPr>
                          <m:t>𝑖</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，每条边对应的圆心角为</a:t>
                </a:r>
                <a:r>
                  <a:rPr lang="el-GR" altLang="zh-CN" dirty="0">
                    <a:latin typeface="华光仿宋_CNKI" panose="02000500000000000000" pitchFamily="2" charset="-122"/>
                    <a:ea typeface="华光仿宋_CNKI" panose="02000500000000000000" pitchFamily="2" charset="-122"/>
                  </a:rPr>
                  <a:t>θ</a:t>
                </a:r>
                <a:r>
                  <a:rPr lang="zh-CN" altLang="en-US" dirty="0">
                    <a:latin typeface="华光仿宋_CNKI" panose="02000500000000000000" pitchFamily="2" charset="-122"/>
                    <a:ea typeface="华光仿宋_CNKI" panose="02000500000000000000" pitchFamily="2" charset="-122"/>
                  </a:rPr>
                  <a:t>，则有：</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20307" y="745435"/>
                <a:ext cx="10255859" cy="2411233"/>
              </a:xfrm>
              <a:blipFill>
                <a:blip r:embed="rId2"/>
                <a:stretch>
                  <a:fillRect l="-951" r="-178"/>
                </a:stretch>
              </a:blipFill>
            </p:spPr>
            <p:txBody>
              <a:bodyPr/>
              <a:lstStyle/>
              <a:p>
                <a:r>
                  <a:rPr lang="zh-CN" altLang="en-US">
                    <a:noFill/>
                  </a:rPr>
                  <a:t> </a:t>
                </a:r>
              </a:p>
            </p:txBody>
          </p:sp>
        </mc:Fallback>
      </mc:AlternateContent>
      <p:graphicFrame>
        <p:nvGraphicFramePr>
          <p:cNvPr id="2" name="Object 4">
            <a:extLst>
              <a:ext uri="{FF2B5EF4-FFF2-40B4-BE49-F238E27FC236}">
                <a16:creationId xmlns:a16="http://schemas.microsoft.com/office/drawing/2014/main" id="{C5733F0C-A10E-1AB2-0E01-E862C083E225}"/>
              </a:ext>
            </a:extLst>
          </p:cNvPr>
          <p:cNvGraphicFramePr>
            <a:graphicFrameLocks noChangeAspect="1"/>
          </p:cNvGraphicFramePr>
          <p:nvPr>
            <p:extLst>
              <p:ext uri="{D42A27DB-BD31-4B8C-83A1-F6EECF244321}">
                <p14:modId xmlns:p14="http://schemas.microsoft.com/office/powerpoint/2010/main" val="3492218738"/>
              </p:ext>
            </p:extLst>
          </p:nvPr>
        </p:nvGraphicFramePr>
        <p:xfrm>
          <a:off x="2857500" y="2976563"/>
          <a:ext cx="4870450" cy="1222375"/>
        </p:xfrm>
        <a:graphic>
          <a:graphicData uri="http://schemas.openxmlformats.org/presentationml/2006/ole">
            <mc:AlternateContent xmlns:mc="http://schemas.openxmlformats.org/markup-compatibility/2006">
              <mc:Choice xmlns:v="urn:schemas-microsoft-com:vml" Requires="v">
                <p:oleObj name="公式" r:id="rId3" imgW="1803240" imgH="482400" progId="Equation.3">
                  <p:embed/>
                </p:oleObj>
              </mc:Choice>
              <mc:Fallback>
                <p:oleObj name="公式" r:id="rId3" imgW="1803240" imgH="482400" progId="Equation.3">
                  <p:embed/>
                  <p:pic>
                    <p:nvPicPr>
                      <p:cNvPr id="39940" name="Object 4">
                        <a:extLst>
                          <a:ext uri="{FF2B5EF4-FFF2-40B4-BE49-F238E27FC236}">
                            <a16:creationId xmlns:a16="http://schemas.microsoft.com/office/drawing/2014/main" id="{A92460C5-C119-B3C3-1AB6-AC3628ACE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2976563"/>
                        <a:ext cx="4870450" cy="1222375"/>
                      </a:xfrm>
                      <a:prstGeom prst="rect">
                        <a:avLst/>
                      </a:prstGeom>
                      <a:noFill/>
                      <a:ln>
                        <a:noFill/>
                      </a:ln>
                      <a:effectLst/>
                    </p:spPr>
                  </p:pic>
                </p:oleObj>
              </mc:Fallback>
            </mc:AlternateContent>
          </a:graphicData>
        </a:graphic>
      </p:graphicFrame>
      <p:sp>
        <p:nvSpPr>
          <p:cNvPr id="32" name="副标题 2">
            <a:extLst>
              <a:ext uri="{FF2B5EF4-FFF2-40B4-BE49-F238E27FC236}">
                <a16:creationId xmlns:a16="http://schemas.microsoft.com/office/drawing/2014/main" id="{76B556C2-B6AD-89D1-5F5B-8B62AB2326C5}"/>
              </a:ext>
            </a:extLst>
          </p:cNvPr>
          <p:cNvSpPr txBox="1">
            <a:spLocks/>
          </p:cNvSpPr>
          <p:nvPr/>
        </p:nvSpPr>
        <p:spPr>
          <a:xfrm>
            <a:off x="820307" y="4460682"/>
            <a:ext cx="10255859" cy="7394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华光仿宋_CNKI" panose="02000500000000000000" pitchFamily="2" charset="-122"/>
                <a:ea typeface="华光仿宋_CNKI" panose="02000500000000000000" pitchFamily="2" charset="-122"/>
              </a:rPr>
              <a:t>   通过递推计算仍可以计算出每一个点，并以最小误差计算出对应的点。</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747054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0307" y="745435"/>
                <a:ext cx="10255859" cy="2411233"/>
              </a:xfrm>
            </p:spPr>
            <p:txBody>
              <a:bodyPr>
                <a:normAutofit/>
              </a:bodyPr>
              <a:lstStyle/>
              <a:p>
                <a:pPr algn="just">
                  <a:lnSpc>
                    <a:spcPct val="150000"/>
                  </a:lnSpc>
                </a:pPr>
                <a:r>
                  <a:rPr lang="zh-CN" altLang="en-US"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如果圆的圆心在</a:t>
                </a:r>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800" i="1">
                            <a:solidFill>
                              <a:srgbClr val="000000"/>
                            </a:solidFill>
                            <a:latin typeface="Cambria Math" panose="02040503050406030204" pitchFamily="18" charset="0"/>
                          </a:rPr>
                        </m:ctrlPr>
                      </m:sSubPr>
                      <m:e>
                        <m:r>
                          <m:rPr>
                            <m:sty m:val="p"/>
                          </m:rPr>
                          <a:rPr lang="en-US" altLang="zh-CN" sz="2800" i="1">
                            <a:solidFill>
                              <a:srgbClr val="000000"/>
                            </a:solidFill>
                            <a:latin typeface="Cambria Math" panose="02040503050406030204" pitchFamily="18" charset="0"/>
                          </a:rPr>
                          <m:t>x</m:t>
                        </m:r>
                      </m:e>
                      <m:sub>
                        <m:r>
                          <a:rPr lang="en-US" altLang="zh-CN" sz="2800" b="0" i="1" smtClean="0">
                            <a:solidFill>
                              <a:srgbClr val="000000"/>
                            </a:solidFill>
                            <a:latin typeface="Cambria Math" panose="02040503050406030204" pitchFamily="18" charset="0"/>
                          </a:rPr>
                          <m:t>𝑐</m:t>
                        </m:r>
                      </m:sub>
                    </m:sSub>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b="0" i="1" smtClean="0">
                            <a:solidFill>
                              <a:srgbClr val="000000"/>
                            </a:solidFill>
                            <a:latin typeface="Cambria Math" panose="02040503050406030204" pitchFamily="18" charset="0"/>
                          </a:rPr>
                          <m:t>𝑐</m:t>
                        </m:r>
                      </m:sub>
                    </m:sSub>
                  </m:oMath>
                </a14:m>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，则需要将生成的所有的点平移到圆心所在的位置即可，也就是在</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方向增加</a:t>
                </a:r>
                <a14:m>
                  <m:oMath xmlns:m="http://schemas.openxmlformats.org/officeDocument/2006/math">
                    <m:sSub>
                      <m:sSubPr>
                        <m:ctrlPr>
                          <a:rPr lang="zh-CN" altLang="en-US" sz="2800" i="1">
                            <a:solidFill>
                              <a:srgbClr val="000000"/>
                            </a:solidFill>
                            <a:latin typeface="Cambria Math" panose="02040503050406030204" pitchFamily="18" charset="0"/>
                          </a:rPr>
                        </m:ctrlPr>
                      </m:sSubPr>
                      <m:e>
                        <m:r>
                          <m:rPr>
                            <m:sty m:val="p"/>
                          </m:rPr>
                          <a:rPr lang="en-US" altLang="zh-CN" sz="2800" i="1">
                            <a:solidFill>
                              <a:srgbClr val="000000"/>
                            </a:solidFill>
                            <a:latin typeface="Cambria Math" panose="02040503050406030204" pitchFamily="18" charset="0"/>
                          </a:rPr>
                          <m:t>x</m:t>
                        </m:r>
                      </m:e>
                      <m:sub>
                        <m:r>
                          <a:rPr lang="en-US" altLang="zh-CN" sz="2800" i="1">
                            <a:solidFill>
                              <a:srgbClr val="000000"/>
                            </a:solidFill>
                            <a:latin typeface="Cambria Math" panose="02040503050406030204" pitchFamily="18" charset="0"/>
                          </a:rPr>
                          <m:t>𝑐</m:t>
                        </m:r>
                      </m:sub>
                    </m:sSub>
                    <m:r>
                      <a:rPr lang="en-US" altLang="zh-CN" sz="2800" b="0" i="0" smtClean="0">
                        <a:solidFill>
                          <a:srgbClr val="000000"/>
                        </a:solidFill>
                        <a:latin typeface="Cambria Math" panose="02040503050406030204" pitchFamily="18" charset="0"/>
                      </a:rPr>
                      <m:t>,</m:t>
                    </m:r>
                  </m:oMath>
                </a14:m>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方向增加</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𝑦</m:t>
                        </m:r>
                      </m:e>
                      <m:sub>
                        <m:r>
                          <a:rPr lang="en-US" altLang="zh-CN" sz="2800" i="1">
                            <a:solidFill>
                              <a:srgbClr val="000000"/>
                            </a:solidFill>
                            <a:latin typeface="Cambria Math" panose="02040503050406030204" pitchFamily="18" charset="0"/>
                          </a:rPr>
                          <m:t>𝑐</m:t>
                        </m:r>
                      </m:sub>
                    </m:sSub>
                  </m:oMath>
                </a14:m>
                <a:r>
                  <a:rPr lang="zh-CN" altLang="en-US" sz="2800" dirty="0">
                    <a:latin typeface="华光仿宋_CNKI" panose="02000500000000000000" pitchFamily="2" charset="-122"/>
                    <a:ea typeface="华光仿宋_CNKI" panose="02000500000000000000" pitchFamily="2" charset="-122"/>
                  </a:rPr>
                  <a:t>即可。对应的计算表达式为：</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20307" y="745435"/>
                <a:ext cx="10255859" cy="2411233"/>
              </a:xfrm>
              <a:blipFill>
                <a:blip r:embed="rId2"/>
                <a:stretch>
                  <a:fillRect l="-1249" r="-11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副标题 2">
                <a:extLst>
                  <a:ext uri="{FF2B5EF4-FFF2-40B4-BE49-F238E27FC236}">
                    <a16:creationId xmlns:a16="http://schemas.microsoft.com/office/drawing/2014/main" id="{76B556C2-B6AD-89D1-5F5B-8B62AB2326C5}"/>
                  </a:ext>
                </a:extLst>
              </p:cNvPr>
              <p:cNvSpPr txBox="1">
                <a:spLocks/>
              </p:cNvSpPr>
              <p:nvPr/>
            </p:nvSpPr>
            <p:spPr>
              <a:xfrm>
                <a:off x="820307" y="4460682"/>
                <a:ext cx="10255859" cy="141533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因为</a:t>
                </a:r>
                <a14:m>
                  <m:oMath xmlns:m="http://schemas.openxmlformats.org/officeDocument/2006/math">
                    <m:r>
                      <a:rPr lang="zh-CN" altLang="en-US" sz="2600" b="0" i="1" smtClean="0">
                        <a:latin typeface="Cambria Math" panose="02040503050406030204" pitchFamily="18" charset="0"/>
                      </a:rPr>
                      <m:t>𝜃</m:t>
                    </m:r>
                  </m:oMath>
                </a14:m>
                <a:r>
                  <a:rPr lang="zh-CN" altLang="en-US" sz="2600" dirty="0">
                    <a:latin typeface="华光仿宋_CNKI" panose="02000500000000000000" pitchFamily="2" charset="-122"/>
                    <a:ea typeface="华光仿宋_CNKI" panose="02000500000000000000" pitchFamily="2" charset="-122"/>
                  </a:rPr>
                  <a:t>是常数，因此</a:t>
                </a:r>
                <a:r>
                  <a:rPr lang="en-US" altLang="zh-CN" sz="2600" dirty="0">
                    <a:latin typeface="华光仿宋_CNKI" panose="02000500000000000000" pitchFamily="2" charset="-122"/>
                    <a:ea typeface="华光仿宋_CNKI" panose="02000500000000000000" pitchFamily="2" charset="-122"/>
                  </a:rPr>
                  <a:t>sin</a:t>
                </a:r>
                <a14:m>
                  <m:oMath xmlns:m="http://schemas.openxmlformats.org/officeDocument/2006/math">
                    <m:r>
                      <a:rPr lang="zh-CN" altLang="en-US" sz="2600" i="1">
                        <a:latin typeface="Cambria Math" panose="02040503050406030204" pitchFamily="18" charset="0"/>
                      </a:rPr>
                      <m:t>𝜃</m:t>
                    </m:r>
                  </m:oMath>
                </a14:m>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cos</a:t>
                </a:r>
                <a14:m>
                  <m:oMath xmlns:m="http://schemas.openxmlformats.org/officeDocument/2006/math">
                    <m:r>
                      <a:rPr lang="zh-CN" altLang="en-US" sz="2600" i="1">
                        <a:latin typeface="Cambria Math" panose="02040503050406030204" pitchFamily="18" charset="0"/>
                      </a:rPr>
                      <m:t>𝜃</m:t>
                    </m:r>
                  </m:oMath>
                </a14:m>
                <a:r>
                  <a:rPr lang="zh-CN" altLang="en-US" sz="2600" dirty="0">
                    <a:latin typeface="华光仿宋_CNKI" panose="02000500000000000000" pitchFamily="2" charset="-122"/>
                    <a:ea typeface="华光仿宋_CNKI" panose="02000500000000000000" pitchFamily="2" charset="-122"/>
                  </a:rPr>
                  <a:t>只需计算一次即可，这样就可以生成一条边。</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2" name="副标题 2">
                <a:extLst>
                  <a:ext uri="{FF2B5EF4-FFF2-40B4-BE49-F238E27FC236}">
                    <a16:creationId xmlns:a16="http://schemas.microsoft.com/office/drawing/2014/main" id="{76B556C2-B6AD-89D1-5F5B-8B62AB2326C5}"/>
                  </a:ext>
                </a:extLst>
              </p:cNvPr>
              <p:cNvSpPr txBox="1">
                <a:spLocks noRot="1" noChangeAspect="1" noMove="1" noResize="1" noEditPoints="1" noAdjustHandles="1" noChangeArrowheads="1" noChangeShapeType="1" noTextEdit="1"/>
              </p:cNvSpPr>
              <p:nvPr/>
            </p:nvSpPr>
            <p:spPr>
              <a:xfrm>
                <a:off x="820307" y="4460682"/>
                <a:ext cx="10255859" cy="1415332"/>
              </a:xfrm>
              <a:prstGeom prst="rect">
                <a:avLst/>
              </a:prstGeom>
              <a:blipFill>
                <a:blip r:embed="rId3"/>
                <a:stretch>
                  <a:fillRect l="-10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230E58A-704A-3AD5-657B-C8D53E3027A6}"/>
                  </a:ext>
                </a:extLst>
              </p:cNvPr>
              <p:cNvSpPr txBox="1"/>
              <p:nvPr/>
            </p:nvSpPr>
            <p:spPr>
              <a:xfrm>
                <a:off x="2695492" y="3101009"/>
                <a:ext cx="5434949" cy="712118"/>
              </a:xfrm>
              <a:prstGeom prst="rect">
                <a:avLst/>
              </a:prstGeom>
              <a:noFill/>
            </p:spPr>
            <p:txBody>
              <a:bodyPr wrap="square" lIns="0" tIns="0" rIns="0" bIns="0" rtlCol="0">
                <a:spAutoFit/>
              </a:bodyPr>
              <a:lstStyle/>
              <a:p>
                <a14:m>
                  <m:oMath xmlns:m="http://schemas.openxmlformats.org/officeDocument/2006/math">
                    <m:d>
                      <m:dPr>
                        <m:begChr m:val="["/>
                        <m:endChr m:val="]"/>
                        <m:ctrlPr>
                          <a:rPr lang="en-US" altLang="zh-CN" sz="2600" i="1" smtClean="0">
                            <a:latin typeface="Cambria Math" panose="02040503050406030204" pitchFamily="18" charset="0"/>
                          </a:rPr>
                        </m:ctrlPr>
                      </m:dPr>
                      <m:e>
                        <m:m>
                          <m:mPr>
                            <m:mcs>
                              <m:mc>
                                <m:mcPr>
                                  <m:count m:val="1"/>
                                  <m:mcJc m:val="center"/>
                                </m:mcPr>
                              </m:mc>
                            </m:mcs>
                            <m:ctrlPr>
                              <a:rPr lang="en-US" altLang="zh-CN" sz="2600" i="1" smtClean="0">
                                <a:latin typeface="Cambria Math" panose="02040503050406030204" pitchFamily="18" charset="0"/>
                              </a:rPr>
                            </m:ctrlPr>
                          </m:mPr>
                          <m:mr>
                            <m:e>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𝑥</m:t>
                                  </m:r>
                                </m:e>
                                <m:sub>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+1</m:t>
                                  </m:r>
                                </m:sub>
                              </m:sSub>
                            </m:e>
                          </m:mr>
                          <m:mr>
                            <m:e>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𝑦</m:t>
                                  </m:r>
                                </m:e>
                                <m:sub>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+1</m:t>
                                  </m:r>
                                </m:sub>
                              </m:sSub>
                            </m:e>
                          </m:mr>
                        </m:m>
                      </m:e>
                    </m:d>
                    <m:r>
                      <a:rPr lang="en-US" altLang="zh-CN" sz="2600" b="0" i="1" smtClean="0">
                        <a:latin typeface="Cambria Math" panose="02040503050406030204" pitchFamily="18" charset="0"/>
                      </a:rPr>
                      <m:t>=</m:t>
                    </m:r>
                    <m:d>
                      <m:dPr>
                        <m:begChr m:val="["/>
                        <m:endChr m:val="]"/>
                        <m:ctrlPr>
                          <a:rPr lang="en-US" altLang="zh-CN" sz="2600" b="0" i="1" smtClean="0">
                            <a:latin typeface="Cambria Math" panose="02040503050406030204" pitchFamily="18" charset="0"/>
                          </a:rPr>
                        </m:ctrlPr>
                      </m:dPr>
                      <m:e>
                        <m:m>
                          <m:mPr>
                            <m:mcs>
                              <m:mc>
                                <m:mcPr>
                                  <m:count m:val="2"/>
                                  <m:mcJc m:val="center"/>
                                </m:mcPr>
                              </m:mc>
                            </m:mcs>
                            <m:ctrlPr>
                              <a:rPr lang="en-US" altLang="zh-CN" sz="2600" b="0" i="1" smtClean="0">
                                <a:latin typeface="Cambria Math" panose="02040503050406030204" pitchFamily="18" charset="0"/>
                              </a:rPr>
                            </m:ctrlPr>
                          </m:mPr>
                          <m:mr>
                            <m:e>
                              <m:r>
                                <m:rPr>
                                  <m:brk m:alnAt="7"/>
                                </m:rPr>
                                <a:rPr lang="en-US" altLang="zh-CN" sz="2600" b="0" i="1" smtClean="0">
                                  <a:latin typeface="Cambria Math" panose="02040503050406030204" pitchFamily="18" charset="0"/>
                                </a:rPr>
                                <m:t>𝑐</m:t>
                              </m:r>
                              <m:r>
                                <a:rPr lang="en-US" altLang="zh-CN" sz="2600" b="0" i="1" smtClean="0">
                                  <a:latin typeface="Cambria Math" panose="02040503050406030204" pitchFamily="18" charset="0"/>
                                </a:rPr>
                                <m:t>𝑜𝑠</m:t>
                              </m:r>
                              <m:r>
                                <a:rPr lang="zh-CN" altLang="en-US" sz="2600" b="0" i="1" smtClean="0">
                                  <a:latin typeface="Cambria Math" panose="02040503050406030204" pitchFamily="18" charset="0"/>
                                </a:rPr>
                                <m:t>𝜃</m:t>
                              </m:r>
                            </m:e>
                            <m:e>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𝑠𝑖𝑛</m:t>
                              </m:r>
                              <m:r>
                                <a:rPr lang="zh-CN" altLang="en-US" sz="2600" b="0" i="1" smtClean="0">
                                  <a:latin typeface="Cambria Math" panose="02040503050406030204" pitchFamily="18" charset="0"/>
                                </a:rPr>
                                <m:t>𝜃</m:t>
                              </m:r>
                            </m:e>
                          </m:mr>
                          <m:mr>
                            <m:e>
                              <m:r>
                                <a:rPr lang="en-US" altLang="zh-CN" sz="2600" b="0" i="1" smtClean="0">
                                  <a:latin typeface="Cambria Math" panose="02040503050406030204" pitchFamily="18" charset="0"/>
                                </a:rPr>
                                <m:t>𝑠𝑖𝑛</m:t>
                              </m:r>
                              <m:r>
                                <a:rPr lang="zh-CN" altLang="en-US" sz="2600" b="0" i="1" smtClean="0">
                                  <a:latin typeface="Cambria Math" panose="02040503050406030204" pitchFamily="18" charset="0"/>
                                </a:rPr>
                                <m:t>𝜃</m:t>
                              </m:r>
                            </m:e>
                            <m:e>
                              <m:r>
                                <a:rPr lang="en-US" altLang="zh-CN" sz="2600" b="0" i="1" smtClean="0">
                                  <a:latin typeface="Cambria Math" panose="02040503050406030204" pitchFamily="18" charset="0"/>
                                </a:rPr>
                                <m:t>𝑐𝑜𝑠</m:t>
                              </m:r>
                              <m:r>
                                <a:rPr lang="zh-CN" altLang="en-US" sz="2600" b="0" i="1" smtClean="0">
                                  <a:latin typeface="Cambria Math" panose="02040503050406030204" pitchFamily="18" charset="0"/>
                                </a:rPr>
                                <m:t>𝜃</m:t>
                              </m:r>
                            </m:e>
                          </m:mr>
                        </m:m>
                      </m:e>
                    </m:d>
                  </m:oMath>
                </a14:m>
                <a:r>
                  <a:rPr lang="en-US" altLang="zh-CN" sz="2600" dirty="0"/>
                  <a:t> </a:t>
                </a:r>
                <a14:m>
                  <m:oMath xmlns:m="http://schemas.openxmlformats.org/officeDocument/2006/math">
                    <m:d>
                      <m:dPr>
                        <m:begChr m:val="["/>
                        <m:endChr m:val="]"/>
                        <m:ctrlPr>
                          <a:rPr lang="en-US" altLang="zh-CN" sz="2600" i="1">
                            <a:latin typeface="Cambria Math" panose="02040503050406030204" pitchFamily="18" charset="0"/>
                          </a:rPr>
                        </m:ctrlPr>
                      </m:dPr>
                      <m:e>
                        <m:m>
                          <m:mPr>
                            <m:mcs>
                              <m:mc>
                                <m:mcPr>
                                  <m:count m:val="1"/>
                                  <m:mcJc m:val="center"/>
                                </m:mcPr>
                              </m:mc>
                            </m:mcs>
                            <m:ctrlPr>
                              <a:rPr lang="en-US" altLang="zh-CN" sz="2600" i="1">
                                <a:latin typeface="Cambria Math" panose="02040503050406030204" pitchFamily="18" charset="0"/>
                              </a:rPr>
                            </m:ctrlPr>
                          </m:mPr>
                          <m:mr>
                            <m:e>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𝑥</m:t>
                                  </m:r>
                                </m:e>
                                <m:sub>
                                  <m:r>
                                    <a:rPr lang="en-US" altLang="zh-CN" sz="2600" i="1">
                                      <a:latin typeface="Cambria Math" panose="02040503050406030204" pitchFamily="18" charset="0"/>
                                    </a:rPr>
                                    <m:t>𝑖</m:t>
                                  </m:r>
                                </m:sub>
                              </m:sSub>
                            </m:e>
                          </m:mr>
                          <m:mr>
                            <m:e>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𝑦</m:t>
                                  </m:r>
                                </m:e>
                                <m:sub>
                                  <m:r>
                                    <a:rPr lang="en-US" altLang="zh-CN" sz="2600" i="1">
                                      <a:latin typeface="Cambria Math" panose="02040503050406030204" pitchFamily="18" charset="0"/>
                                    </a:rPr>
                                    <m:t>𝑖</m:t>
                                  </m:r>
                                </m:sub>
                              </m:sSub>
                            </m:e>
                          </m:mr>
                        </m:m>
                      </m:e>
                    </m:d>
                    <m:r>
                      <a:rPr lang="en-US" altLang="zh-CN" sz="2600" b="0" i="1" smtClean="0">
                        <a:latin typeface="Cambria Math" panose="02040503050406030204" pitchFamily="18" charset="0"/>
                      </a:rPr>
                      <m:t>+</m:t>
                    </m:r>
                    <m:d>
                      <m:dPr>
                        <m:begChr m:val="["/>
                        <m:endChr m:val="]"/>
                        <m:ctrlPr>
                          <a:rPr lang="en-US" altLang="zh-CN" sz="2600" i="1">
                            <a:latin typeface="Cambria Math" panose="02040503050406030204" pitchFamily="18" charset="0"/>
                          </a:rPr>
                        </m:ctrlPr>
                      </m:dPr>
                      <m:e>
                        <m:m>
                          <m:mPr>
                            <m:mcs>
                              <m:mc>
                                <m:mcPr>
                                  <m:count m:val="1"/>
                                  <m:mcJc m:val="center"/>
                                </m:mcPr>
                              </m:mc>
                            </m:mcs>
                            <m:ctrlPr>
                              <a:rPr lang="en-US" altLang="zh-CN" sz="2600" i="1">
                                <a:latin typeface="Cambria Math" panose="02040503050406030204" pitchFamily="18" charset="0"/>
                              </a:rPr>
                            </m:ctrlPr>
                          </m:mPr>
                          <m:mr>
                            <m:e>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𝑥</m:t>
                                  </m:r>
                                </m:e>
                                <m:sub>
                                  <m:r>
                                    <a:rPr lang="en-US" altLang="zh-CN" sz="2600" b="0" i="1" smtClean="0">
                                      <a:latin typeface="Cambria Math" panose="02040503050406030204" pitchFamily="18" charset="0"/>
                                    </a:rPr>
                                    <m:t>𝑐</m:t>
                                  </m:r>
                                </m:sub>
                              </m:sSub>
                            </m:e>
                          </m:mr>
                          <m:mr>
                            <m:e>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𝑦</m:t>
                                  </m:r>
                                </m:e>
                                <m:sub>
                                  <m:r>
                                    <a:rPr lang="en-US" altLang="zh-CN" sz="2600" b="0" i="1" smtClean="0">
                                      <a:latin typeface="Cambria Math" panose="02040503050406030204" pitchFamily="18" charset="0"/>
                                    </a:rPr>
                                    <m:t>𝑐</m:t>
                                  </m:r>
                                </m:sub>
                              </m:sSub>
                            </m:e>
                          </m:mr>
                        </m:m>
                      </m:e>
                    </m:d>
                  </m:oMath>
                </a14:m>
                <a:endParaRPr lang="zh-CN" altLang="en-US" sz="2600" dirty="0"/>
              </a:p>
            </p:txBody>
          </p:sp>
        </mc:Choice>
        <mc:Fallback xmlns="">
          <p:sp>
            <p:nvSpPr>
              <p:cNvPr id="5" name="文本框 4">
                <a:extLst>
                  <a:ext uri="{FF2B5EF4-FFF2-40B4-BE49-F238E27FC236}">
                    <a16:creationId xmlns:a16="http://schemas.microsoft.com/office/drawing/2014/main" id="{8230E58A-704A-3AD5-657B-C8D53E3027A6}"/>
                  </a:ext>
                </a:extLst>
              </p:cNvPr>
              <p:cNvSpPr txBox="1">
                <a:spLocks noRot="1" noChangeAspect="1" noMove="1" noResize="1" noEditPoints="1" noAdjustHandles="1" noChangeArrowheads="1" noChangeShapeType="1" noTextEdit="1"/>
              </p:cNvSpPr>
              <p:nvPr/>
            </p:nvSpPr>
            <p:spPr>
              <a:xfrm>
                <a:off x="2695492" y="3101009"/>
                <a:ext cx="5434949" cy="71211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2676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02659" y="713631"/>
            <a:ext cx="10750587" cy="5430738"/>
          </a:xfrm>
        </p:spPr>
        <p:txBody>
          <a:bodyPr>
            <a:normAutofit lnSpcReduction="10000"/>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3.3 </a:t>
            </a:r>
            <a:r>
              <a:rPr lang="zh-CN" altLang="en-US" sz="3200" dirty="0">
                <a:latin typeface="华光大标宋_CNKI" panose="02000500000000000000" pitchFamily="2" charset="-122"/>
                <a:ea typeface="华光大标宋_CNKI" panose="02000500000000000000" pitchFamily="2" charset="-122"/>
              </a:rPr>
              <a:t>线宽和线型的处理</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如果线的宽度不止一个像素，为使线具有一定的宽度，一般在用户操作时可通过刷子或直接设置线的宽度来实现，对应的处理方法有刷子绘制法和实区域填充法。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b="1" dirty="0">
                <a:latin typeface="华光仿宋_CNKI" panose="02000500000000000000" pitchFamily="2" charset="-122"/>
                <a:ea typeface="华光仿宋_CNKI" panose="02000500000000000000" pitchFamily="2" charset="-122"/>
              </a:rPr>
              <a:t>4.3.1 </a:t>
            </a:r>
            <a:r>
              <a:rPr lang="zh-CN" altLang="en-US" sz="2800" b="1" dirty="0">
                <a:latin typeface="华光大标宋_CNKI" panose="02000500000000000000" pitchFamily="2" charset="-122"/>
                <a:ea typeface="华光大标宋_CNKI" panose="02000500000000000000" pitchFamily="2" charset="-122"/>
              </a:rPr>
              <a:t>刷子绘制法</a:t>
            </a:r>
            <a:endParaRPr lang="en-US" altLang="zh-CN" sz="2800" b="1" dirty="0">
              <a:latin typeface="华光大标宋_CNKI" panose="02000500000000000000" pitchFamily="2" charset="-122"/>
              <a:ea typeface="华光大标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通过移动一把具有一定宽度的刷子画出一条具有一定宽度的线。刷子既可以是线刷子也可以是方形刷子。</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）线刷子绘制法</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656001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02659" y="713631"/>
            <a:ext cx="6975048" cy="5430738"/>
          </a:xfrm>
        </p:spPr>
        <p:txBody>
          <a:bodyPr>
            <a:norm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设刷子的宽度为</a:t>
            </a:r>
            <a:r>
              <a:rPr lang="en-US" altLang="zh-CN" sz="2800" dirty="0">
                <a:latin typeface="华光仿宋_CNKI" panose="02000500000000000000" pitchFamily="2" charset="-122"/>
                <a:ea typeface="华光仿宋_CNKI" panose="02000500000000000000" pitchFamily="2" charset="-122"/>
              </a:rPr>
              <a:t>w</a:t>
            </a:r>
            <a:r>
              <a:rPr lang="zh-CN" altLang="en-US" sz="2800" dirty="0">
                <a:latin typeface="华光仿宋_CNKI" panose="02000500000000000000" pitchFamily="2" charset="-122"/>
                <a:ea typeface="华光仿宋_CNKI" panose="02000500000000000000" pitchFamily="2" charset="-122"/>
              </a:rPr>
              <a:t>，则中心点位于</a:t>
            </a:r>
            <a:r>
              <a:rPr lang="en-US" altLang="zh-CN" sz="2800" dirty="0">
                <a:latin typeface="华光仿宋_CNKI" panose="02000500000000000000" pitchFamily="2" charset="-122"/>
                <a:ea typeface="华光仿宋_CNKI" panose="02000500000000000000" pitchFamily="2" charset="-122"/>
              </a:rPr>
              <a:t>w/2</a:t>
            </a:r>
            <a:r>
              <a:rPr lang="zh-CN" altLang="en-US" sz="2800" dirty="0">
                <a:latin typeface="华光仿宋_CNKI" panose="02000500000000000000" pitchFamily="2" charset="-122"/>
                <a:ea typeface="华光仿宋_CNKI" panose="02000500000000000000" pitchFamily="2" charset="-122"/>
              </a:rPr>
              <a:t>的位置。采用下述方法进行宽度的拓展：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）如果直线斜率小于等于</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，则将刷子置成垂直方向。使垂直方向有</a:t>
            </a:r>
            <a:r>
              <a:rPr lang="en-US" altLang="zh-CN" sz="2800" dirty="0">
                <a:latin typeface="华光仿宋_CNKI" panose="02000500000000000000" pitchFamily="2" charset="-122"/>
                <a:ea typeface="华光仿宋_CNKI" panose="02000500000000000000" pitchFamily="2" charset="-122"/>
              </a:rPr>
              <a:t>w</a:t>
            </a:r>
            <a:r>
              <a:rPr lang="zh-CN" altLang="en-US" sz="2800" dirty="0">
                <a:latin typeface="华光仿宋_CNKI" panose="02000500000000000000" pitchFamily="2" charset="-122"/>
                <a:ea typeface="华光仿宋_CNKI" panose="02000500000000000000" pitchFamily="2" charset="-122"/>
              </a:rPr>
              <a:t>个像素。每次在中心点上下绘制</a:t>
            </a:r>
            <a:r>
              <a:rPr lang="en-US" altLang="zh-CN" sz="2800" dirty="0">
                <a:latin typeface="华光仿宋_CNKI" panose="02000500000000000000" pitchFamily="2" charset="-122"/>
                <a:ea typeface="华光仿宋_CNKI" panose="02000500000000000000" pitchFamily="2" charset="-122"/>
              </a:rPr>
              <a:t>w/2</a:t>
            </a:r>
            <a:r>
              <a:rPr lang="zh-CN" altLang="en-US" sz="2800" dirty="0">
                <a:latin typeface="华光仿宋_CNKI" panose="02000500000000000000" pitchFamily="2" charset="-122"/>
                <a:ea typeface="华光仿宋_CNKI" panose="02000500000000000000" pitchFamily="2" charset="-122"/>
              </a:rPr>
              <a:t>个像素。</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）如果直线斜率大于</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，则将刷子支撑水平方向。使水平方向上有</a:t>
            </a:r>
            <a:r>
              <a:rPr lang="en-US" altLang="zh-CN" sz="2800" dirty="0">
                <a:latin typeface="华光仿宋_CNKI" panose="02000500000000000000" pitchFamily="2" charset="-122"/>
                <a:ea typeface="华光仿宋_CNKI" panose="02000500000000000000" pitchFamily="2" charset="-122"/>
              </a:rPr>
              <a:t>w</a:t>
            </a:r>
            <a:r>
              <a:rPr lang="zh-CN" altLang="en-US" sz="2800" dirty="0">
                <a:latin typeface="华光仿宋_CNKI" panose="02000500000000000000" pitchFamily="2" charset="-122"/>
                <a:ea typeface="华光仿宋_CNKI" panose="02000500000000000000" pitchFamily="2" charset="-122"/>
              </a:rPr>
              <a:t>个像素。如右图所示。</a:t>
            </a:r>
            <a:endParaRPr lang="en-US" altLang="zh-CN" sz="2800" dirty="0">
              <a:latin typeface="华光仿宋_CNKI" panose="02000500000000000000" pitchFamily="2" charset="-122"/>
              <a:ea typeface="华光仿宋_CNKI" panose="02000500000000000000" pitchFamily="2" charset="-122"/>
            </a:endParaRPr>
          </a:p>
        </p:txBody>
      </p:sp>
      <p:sp>
        <p:nvSpPr>
          <p:cNvPr id="2" name="椭圆 1">
            <a:extLst>
              <a:ext uri="{FF2B5EF4-FFF2-40B4-BE49-F238E27FC236}">
                <a16:creationId xmlns:a16="http://schemas.microsoft.com/office/drawing/2014/main" id="{00D0B706-15CE-1B11-D10E-2782056F4769}"/>
              </a:ext>
            </a:extLst>
          </p:cNvPr>
          <p:cNvSpPr/>
          <p:nvPr/>
        </p:nvSpPr>
        <p:spPr>
          <a:xfrm>
            <a:off x="8356821" y="2186608"/>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7143F2A2-5903-C977-2188-CB2920BC1290}"/>
              </a:ext>
            </a:extLst>
          </p:cNvPr>
          <p:cNvSpPr/>
          <p:nvPr/>
        </p:nvSpPr>
        <p:spPr>
          <a:xfrm>
            <a:off x="8629152" y="2178657"/>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DF3E1DAB-D752-6165-D1D5-5DBAB13797AB}"/>
              </a:ext>
            </a:extLst>
          </p:cNvPr>
          <p:cNvSpPr/>
          <p:nvPr/>
        </p:nvSpPr>
        <p:spPr>
          <a:xfrm>
            <a:off x="8864710" y="1897707"/>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CA540A66-4284-19C1-E4EF-CCEA7F278A77}"/>
              </a:ext>
            </a:extLst>
          </p:cNvPr>
          <p:cNvSpPr/>
          <p:nvPr/>
        </p:nvSpPr>
        <p:spPr>
          <a:xfrm>
            <a:off x="9129754" y="1873854"/>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79105261-DF21-A7A4-D265-1FBC3E75BE62}"/>
              </a:ext>
            </a:extLst>
          </p:cNvPr>
          <p:cNvSpPr/>
          <p:nvPr/>
        </p:nvSpPr>
        <p:spPr>
          <a:xfrm>
            <a:off x="9397438" y="158230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630DC1F-98D5-1A2C-B8D8-1EA00C57EACD}"/>
              </a:ext>
            </a:extLst>
          </p:cNvPr>
          <p:cNvSpPr/>
          <p:nvPr/>
        </p:nvSpPr>
        <p:spPr>
          <a:xfrm>
            <a:off x="9657849" y="1582306"/>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A267D9C7-357B-7787-7615-DCAC79D946C2}"/>
              </a:ext>
            </a:extLst>
          </p:cNvPr>
          <p:cNvSpPr/>
          <p:nvPr/>
        </p:nvSpPr>
        <p:spPr>
          <a:xfrm>
            <a:off x="9924538" y="1301357"/>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CF29BE6C-7974-2B3E-D71B-7B56702509D5}"/>
              </a:ext>
            </a:extLst>
          </p:cNvPr>
          <p:cNvSpPr/>
          <p:nvPr/>
        </p:nvSpPr>
        <p:spPr>
          <a:xfrm>
            <a:off x="10202832" y="1301357"/>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A6A1AC61-1328-2E49-4332-90018050CE31}"/>
              </a:ext>
            </a:extLst>
          </p:cNvPr>
          <p:cNvSpPr/>
          <p:nvPr/>
        </p:nvSpPr>
        <p:spPr>
          <a:xfrm>
            <a:off x="10726281" y="1021731"/>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B392D5DF-C751-72B7-DC48-57C5A8293070}"/>
              </a:ext>
            </a:extLst>
          </p:cNvPr>
          <p:cNvSpPr/>
          <p:nvPr/>
        </p:nvSpPr>
        <p:spPr>
          <a:xfrm>
            <a:off x="10450319" y="102041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47A20C70-11EC-5873-2EAD-061D64D22F7B}"/>
              </a:ext>
            </a:extLst>
          </p:cNvPr>
          <p:cNvSpPr/>
          <p:nvPr/>
        </p:nvSpPr>
        <p:spPr>
          <a:xfrm>
            <a:off x="8356821" y="246490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991EA632-1CBA-74E9-19B4-E796A921D317}"/>
              </a:ext>
            </a:extLst>
          </p:cNvPr>
          <p:cNvSpPr/>
          <p:nvPr/>
        </p:nvSpPr>
        <p:spPr>
          <a:xfrm>
            <a:off x="8350858" y="192421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5AA326D-6C7C-8F02-84A4-6CF0C4129761}"/>
              </a:ext>
            </a:extLst>
          </p:cNvPr>
          <p:cNvSpPr/>
          <p:nvPr/>
        </p:nvSpPr>
        <p:spPr>
          <a:xfrm>
            <a:off x="8649690" y="245695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DB38C970-F8BD-60A9-90C5-D5AB32CE896A}"/>
              </a:ext>
            </a:extLst>
          </p:cNvPr>
          <p:cNvSpPr/>
          <p:nvPr/>
        </p:nvSpPr>
        <p:spPr>
          <a:xfrm>
            <a:off x="8604966" y="190035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CD0D43F5-C488-B557-7F10-7D1EA9A3466B}"/>
              </a:ext>
            </a:extLst>
          </p:cNvPr>
          <p:cNvSpPr/>
          <p:nvPr/>
        </p:nvSpPr>
        <p:spPr>
          <a:xfrm>
            <a:off x="8883593" y="217865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49B25AC1-6D19-A00C-6208-0479A2541224}"/>
              </a:ext>
            </a:extLst>
          </p:cNvPr>
          <p:cNvSpPr/>
          <p:nvPr/>
        </p:nvSpPr>
        <p:spPr>
          <a:xfrm>
            <a:off x="8864710" y="1610134"/>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7F06009E-76DB-348E-3954-420CEC6B26C7}"/>
              </a:ext>
            </a:extLst>
          </p:cNvPr>
          <p:cNvSpPr/>
          <p:nvPr/>
        </p:nvSpPr>
        <p:spPr>
          <a:xfrm>
            <a:off x="9144655" y="2160100"/>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E753B1BC-9007-FC9E-B385-D0BD777F48E1}"/>
              </a:ext>
            </a:extLst>
          </p:cNvPr>
          <p:cNvSpPr/>
          <p:nvPr/>
        </p:nvSpPr>
        <p:spPr>
          <a:xfrm>
            <a:off x="9119144" y="158230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E2CEAC84-3C96-851B-61BE-BCAF949143EC}"/>
              </a:ext>
            </a:extLst>
          </p:cNvPr>
          <p:cNvSpPr/>
          <p:nvPr/>
        </p:nvSpPr>
        <p:spPr>
          <a:xfrm>
            <a:off x="9399433" y="187517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D6890395-453D-A3F4-574C-2537232C7499}"/>
              </a:ext>
            </a:extLst>
          </p:cNvPr>
          <p:cNvSpPr/>
          <p:nvPr/>
        </p:nvSpPr>
        <p:spPr>
          <a:xfrm>
            <a:off x="9660495" y="185662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945DFCCC-A967-FBD5-33D0-C8744106131A}"/>
              </a:ext>
            </a:extLst>
          </p:cNvPr>
          <p:cNvSpPr/>
          <p:nvPr/>
        </p:nvSpPr>
        <p:spPr>
          <a:xfrm>
            <a:off x="9383191" y="1306661"/>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1C444187-001B-A7B9-CBBB-A625542873D2}"/>
              </a:ext>
            </a:extLst>
          </p:cNvPr>
          <p:cNvSpPr/>
          <p:nvPr/>
        </p:nvSpPr>
        <p:spPr>
          <a:xfrm>
            <a:off x="9644253" y="128810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395BD7F4-0DF6-D5E8-A5C7-0D68190B6757}"/>
              </a:ext>
            </a:extLst>
          </p:cNvPr>
          <p:cNvSpPr/>
          <p:nvPr/>
        </p:nvSpPr>
        <p:spPr>
          <a:xfrm>
            <a:off x="9936143" y="1610134"/>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92DB81C0-8E95-47C3-B4BD-41F7B609BB36}"/>
              </a:ext>
            </a:extLst>
          </p:cNvPr>
          <p:cNvSpPr/>
          <p:nvPr/>
        </p:nvSpPr>
        <p:spPr>
          <a:xfrm>
            <a:off x="10197205" y="159157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64E9F39E-AD40-E26C-2E52-E4B1E21D72AC}"/>
              </a:ext>
            </a:extLst>
          </p:cNvPr>
          <p:cNvSpPr/>
          <p:nvPr/>
        </p:nvSpPr>
        <p:spPr>
          <a:xfrm>
            <a:off x="9919916" y="104161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FB5108AD-CB4D-34A4-DF13-BCFCB403C254}"/>
              </a:ext>
            </a:extLst>
          </p:cNvPr>
          <p:cNvSpPr/>
          <p:nvPr/>
        </p:nvSpPr>
        <p:spPr>
          <a:xfrm>
            <a:off x="10180978" y="102305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A9413EE-4012-38B7-BFB8-F4E38436F355}"/>
              </a:ext>
            </a:extLst>
          </p:cNvPr>
          <p:cNvSpPr/>
          <p:nvPr/>
        </p:nvSpPr>
        <p:spPr>
          <a:xfrm>
            <a:off x="10450319" y="130002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37FD1ABA-7F3D-A95A-EF32-8991BA4DFB4B}"/>
              </a:ext>
            </a:extLst>
          </p:cNvPr>
          <p:cNvSpPr/>
          <p:nvPr/>
        </p:nvSpPr>
        <p:spPr>
          <a:xfrm>
            <a:off x="10711381" y="1281470"/>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21939E8B-B689-C542-592F-43144BD26E2E}"/>
              </a:ext>
            </a:extLst>
          </p:cNvPr>
          <p:cNvSpPr/>
          <p:nvPr/>
        </p:nvSpPr>
        <p:spPr>
          <a:xfrm>
            <a:off x="10435747" y="756690"/>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B7BFF202-58A7-4192-D806-EA4A9EF047F6}"/>
              </a:ext>
            </a:extLst>
          </p:cNvPr>
          <p:cNvSpPr/>
          <p:nvPr/>
        </p:nvSpPr>
        <p:spPr>
          <a:xfrm>
            <a:off x="10696809" y="738134"/>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522F00A0-2FF9-B358-660B-208CA5B8A250}"/>
              </a:ext>
            </a:extLst>
          </p:cNvPr>
          <p:cNvSpPr/>
          <p:nvPr/>
        </p:nvSpPr>
        <p:spPr>
          <a:xfrm>
            <a:off x="9181746" y="5430751"/>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CF7E30A0-2206-DF09-8997-78C275129BA2}"/>
              </a:ext>
            </a:extLst>
          </p:cNvPr>
          <p:cNvSpPr/>
          <p:nvPr/>
        </p:nvSpPr>
        <p:spPr>
          <a:xfrm>
            <a:off x="9181746" y="5723624"/>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6C408FF3-3BD9-33BD-54BE-6A5D56250DEB}"/>
              </a:ext>
            </a:extLst>
          </p:cNvPr>
          <p:cNvSpPr/>
          <p:nvPr/>
        </p:nvSpPr>
        <p:spPr>
          <a:xfrm>
            <a:off x="9903147" y="378498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443C7EDA-2B0C-AF09-1925-D699DE4C8CF4}"/>
              </a:ext>
            </a:extLst>
          </p:cNvPr>
          <p:cNvSpPr/>
          <p:nvPr/>
        </p:nvSpPr>
        <p:spPr>
          <a:xfrm>
            <a:off x="9417623" y="5164386"/>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26045045-77A6-B32A-E4C1-718D174A883A}"/>
              </a:ext>
            </a:extLst>
          </p:cNvPr>
          <p:cNvSpPr/>
          <p:nvPr/>
        </p:nvSpPr>
        <p:spPr>
          <a:xfrm>
            <a:off x="9424094" y="4903313"/>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449504B8-7084-3CFD-BD58-8F932D3F46E1}"/>
              </a:ext>
            </a:extLst>
          </p:cNvPr>
          <p:cNvSpPr/>
          <p:nvPr/>
        </p:nvSpPr>
        <p:spPr>
          <a:xfrm>
            <a:off x="9415310" y="4625022"/>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66D74592-C67D-7520-FCD5-D5E017958473}"/>
              </a:ext>
            </a:extLst>
          </p:cNvPr>
          <p:cNvSpPr/>
          <p:nvPr/>
        </p:nvSpPr>
        <p:spPr>
          <a:xfrm>
            <a:off x="9649710" y="4341411"/>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D67B3A57-FB63-1229-ECD1-3FD106696781}"/>
              </a:ext>
            </a:extLst>
          </p:cNvPr>
          <p:cNvSpPr/>
          <p:nvPr/>
        </p:nvSpPr>
        <p:spPr>
          <a:xfrm>
            <a:off x="9643560" y="4061131"/>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34E82A1E-65AD-C72E-B37D-AC0541A5BB80}"/>
              </a:ext>
            </a:extLst>
          </p:cNvPr>
          <p:cNvSpPr/>
          <p:nvPr/>
        </p:nvSpPr>
        <p:spPr>
          <a:xfrm>
            <a:off x="9895196" y="3508011"/>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6621858E-D513-1C4F-750D-AD5568D4B5FD}"/>
              </a:ext>
            </a:extLst>
          </p:cNvPr>
          <p:cNvSpPr/>
          <p:nvPr/>
        </p:nvSpPr>
        <p:spPr>
          <a:xfrm>
            <a:off x="10130618" y="3221929"/>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E14F6C70-991C-777F-A1C6-0E7EA826300A}"/>
              </a:ext>
            </a:extLst>
          </p:cNvPr>
          <p:cNvSpPr/>
          <p:nvPr/>
        </p:nvSpPr>
        <p:spPr>
          <a:xfrm>
            <a:off x="8911403" y="571038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59580BC0-66E4-65CC-75FC-06CED4D03373}"/>
              </a:ext>
            </a:extLst>
          </p:cNvPr>
          <p:cNvSpPr/>
          <p:nvPr/>
        </p:nvSpPr>
        <p:spPr>
          <a:xfrm>
            <a:off x="8930467" y="541351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ED4C2AC0-CDA1-3118-44E6-E0A9FFCB2611}"/>
              </a:ext>
            </a:extLst>
          </p:cNvPr>
          <p:cNvSpPr/>
          <p:nvPr/>
        </p:nvSpPr>
        <p:spPr>
          <a:xfrm>
            <a:off x="9445970" y="543769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9FC3AB70-5B9D-9B78-5FAC-62FAA7FC4476}"/>
              </a:ext>
            </a:extLst>
          </p:cNvPr>
          <p:cNvSpPr/>
          <p:nvPr/>
        </p:nvSpPr>
        <p:spPr>
          <a:xfrm>
            <a:off x="9151263" y="487945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6BF6DDAA-6D2B-7B4E-F021-B97B39B3F534}"/>
              </a:ext>
            </a:extLst>
          </p:cNvPr>
          <p:cNvSpPr/>
          <p:nvPr/>
        </p:nvSpPr>
        <p:spPr>
          <a:xfrm>
            <a:off x="9436187" y="572362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F7AC49A8-D51A-69CD-7FB2-4FF9A2EE24AD}"/>
              </a:ext>
            </a:extLst>
          </p:cNvPr>
          <p:cNvSpPr/>
          <p:nvPr/>
        </p:nvSpPr>
        <p:spPr>
          <a:xfrm>
            <a:off x="9394134" y="434606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260F571F-99F7-4FCB-B5BF-9CEB60ABB7BA}"/>
              </a:ext>
            </a:extLst>
          </p:cNvPr>
          <p:cNvSpPr/>
          <p:nvPr/>
        </p:nvSpPr>
        <p:spPr>
          <a:xfrm>
            <a:off x="9147912" y="515112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5E6F70C7-822B-C241-37B1-D111EC060D8F}"/>
              </a:ext>
            </a:extLst>
          </p:cNvPr>
          <p:cNvSpPr/>
          <p:nvPr/>
        </p:nvSpPr>
        <p:spPr>
          <a:xfrm>
            <a:off x="9926862" y="434525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39383A72-7AFF-85D0-852D-59C2DE9496AD}"/>
              </a:ext>
            </a:extLst>
          </p:cNvPr>
          <p:cNvSpPr/>
          <p:nvPr/>
        </p:nvSpPr>
        <p:spPr>
          <a:xfrm>
            <a:off x="9674552" y="5174981"/>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EDD32C54-7F45-09EE-98C0-4021052B8974}"/>
              </a:ext>
            </a:extLst>
          </p:cNvPr>
          <p:cNvSpPr/>
          <p:nvPr/>
        </p:nvSpPr>
        <p:spPr>
          <a:xfrm>
            <a:off x="9688444" y="4892717"/>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52309A09-9A15-28DF-7669-838DAFB42420}"/>
              </a:ext>
            </a:extLst>
          </p:cNvPr>
          <p:cNvSpPr/>
          <p:nvPr/>
        </p:nvSpPr>
        <p:spPr>
          <a:xfrm>
            <a:off x="9140013" y="460514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572C8CB3-10AD-1634-0E3E-C7F1C6A7F470}"/>
              </a:ext>
            </a:extLst>
          </p:cNvPr>
          <p:cNvSpPr/>
          <p:nvPr/>
        </p:nvSpPr>
        <p:spPr>
          <a:xfrm>
            <a:off x="9679863" y="4618401"/>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C989C955-F076-E459-D180-5AB5B0AA1F04}"/>
              </a:ext>
            </a:extLst>
          </p:cNvPr>
          <p:cNvSpPr/>
          <p:nvPr/>
        </p:nvSpPr>
        <p:spPr>
          <a:xfrm>
            <a:off x="9384307" y="4073730"/>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412F5F56-38B7-638F-05D6-5C6C91C793A3}"/>
              </a:ext>
            </a:extLst>
          </p:cNvPr>
          <p:cNvSpPr/>
          <p:nvPr/>
        </p:nvSpPr>
        <p:spPr>
          <a:xfrm>
            <a:off x="9904479" y="4061131"/>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546D619F-17A2-B2DC-0532-0B70D00FF49A}"/>
              </a:ext>
            </a:extLst>
          </p:cNvPr>
          <p:cNvSpPr/>
          <p:nvPr/>
        </p:nvSpPr>
        <p:spPr>
          <a:xfrm>
            <a:off x="9632476" y="378349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E6AF0EF9-F132-492C-E9CE-C41CFC5A2BB9}"/>
              </a:ext>
            </a:extLst>
          </p:cNvPr>
          <p:cNvSpPr/>
          <p:nvPr/>
        </p:nvSpPr>
        <p:spPr>
          <a:xfrm>
            <a:off x="10162734" y="3770404"/>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3FD3EF70-63AD-34B2-D7C8-0786163EA3E2}"/>
              </a:ext>
            </a:extLst>
          </p:cNvPr>
          <p:cNvSpPr/>
          <p:nvPr/>
        </p:nvSpPr>
        <p:spPr>
          <a:xfrm>
            <a:off x="9627658" y="350899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1AA65238-B016-73F1-1EDF-2C46A9F0F83E}"/>
              </a:ext>
            </a:extLst>
          </p:cNvPr>
          <p:cNvSpPr/>
          <p:nvPr/>
        </p:nvSpPr>
        <p:spPr>
          <a:xfrm>
            <a:off x="10373790" y="323377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6A9AAD8C-B339-3ED1-5439-4BB4772E2231}"/>
              </a:ext>
            </a:extLst>
          </p:cNvPr>
          <p:cNvSpPr/>
          <p:nvPr/>
        </p:nvSpPr>
        <p:spPr>
          <a:xfrm>
            <a:off x="10162734" y="350005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69FA592B-C13B-E4A1-68CF-10CEC7F7589F}"/>
              </a:ext>
            </a:extLst>
          </p:cNvPr>
          <p:cNvSpPr/>
          <p:nvPr/>
        </p:nvSpPr>
        <p:spPr>
          <a:xfrm>
            <a:off x="9866238" y="322556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03186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02659" y="713631"/>
            <a:ext cx="10750587" cy="1715244"/>
          </a:xfrm>
        </p:spPr>
        <p:txBody>
          <a:bodyPr>
            <a:normAutofit/>
          </a:bodyPr>
          <a:lstStyle/>
          <a:p>
            <a:pPr algn="l">
              <a:lnSpc>
                <a:spcPct val="150000"/>
              </a:lnSpc>
            </a:pPr>
            <a:r>
              <a:rPr lang="en-US" altLang="zh-CN" sz="2800" dirty="0">
                <a:solidFill>
                  <a:srgbClr val="FF0000"/>
                </a:solidFill>
                <a:latin typeface="华光大标宋_CNKI" panose="02000500000000000000" pitchFamily="2" charset="-122"/>
                <a:ea typeface="华光大标宋_CNKI" panose="02000500000000000000" pitchFamily="2" charset="-122"/>
              </a:rPr>
              <a:t>   </a:t>
            </a:r>
            <a:r>
              <a:rPr lang="zh-CN" altLang="en-US" sz="2800" b="1" dirty="0">
                <a:solidFill>
                  <a:srgbClr val="FF0000"/>
                </a:solidFill>
                <a:latin typeface="华光大标宋_CNKI" panose="02000500000000000000" pitchFamily="2" charset="-122"/>
                <a:ea typeface="华光大标宋_CNKI" panose="02000500000000000000" pitchFamily="2" charset="-122"/>
              </a:rPr>
              <a:t>思考：</a:t>
            </a:r>
            <a:endParaRPr lang="en-US" altLang="zh-CN" sz="2800" b="1" dirty="0">
              <a:solidFill>
                <a:srgbClr val="FF0000"/>
              </a:solidFill>
              <a:latin typeface="华光大标宋_CNKI" panose="02000500000000000000" pitchFamily="2" charset="-122"/>
              <a:ea typeface="华光大标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solidFill>
                  <a:srgbClr val="0070C0"/>
                </a:solidFill>
                <a:latin typeface="华光仿宋_CNKI" panose="02000500000000000000" pitchFamily="2" charset="-122"/>
                <a:ea typeface="华光仿宋_CNKI" panose="02000500000000000000" pitchFamily="2" charset="-122"/>
              </a:rPr>
              <a:t>上述方法存在什么样的问题？</a:t>
            </a:r>
            <a:r>
              <a:rPr lang="en-US" altLang="zh-CN" sz="2800" dirty="0">
                <a:solidFill>
                  <a:srgbClr val="0070C0"/>
                </a:solidFill>
                <a:latin typeface="华光仿宋_CNKI" panose="02000500000000000000" pitchFamily="2" charset="-122"/>
                <a:ea typeface="华光仿宋_CNKI" panose="02000500000000000000" pitchFamily="2" charset="-122"/>
              </a:rPr>
              <a:t>        </a:t>
            </a:r>
            <a:endParaRPr lang="zh-CN" altLang="en-US" sz="2800" dirty="0">
              <a:solidFill>
                <a:srgbClr val="0070C0"/>
              </a:solidFill>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2A440461-703F-2EEC-96B5-4334F995A4B2}"/>
              </a:ext>
            </a:extLst>
          </p:cNvPr>
          <p:cNvSpPr txBox="1"/>
          <p:nvPr/>
        </p:nvSpPr>
        <p:spPr>
          <a:xfrm>
            <a:off x="1444026" y="2657475"/>
            <a:ext cx="9467851" cy="2806025"/>
          </a:xfrm>
          <a:prstGeom prst="rect">
            <a:avLst/>
          </a:prstGeom>
          <a:noFill/>
        </p:spPr>
        <p:txBody>
          <a:bodyPr wrap="square">
            <a:spAutoFit/>
          </a:bodyPr>
          <a:lstStyle/>
          <a:p>
            <a:pPr lvl="1" algn="just" eaLnBrk="1" hangingPunct="1">
              <a:lnSpc>
                <a:spcPct val="150000"/>
              </a:lnSpc>
              <a:buFont typeface="Wingdings" panose="05000000000000000000" pitchFamily="2" charset="2"/>
              <a:buNone/>
            </a:pPr>
            <a:r>
              <a:rPr lang="zh-CN" altLang="en-US" sz="2400" dirty="0">
                <a:solidFill>
                  <a:srgbClr val="00B050"/>
                </a:solidFill>
              </a:rPr>
              <a:t>缺点：</a:t>
            </a:r>
          </a:p>
          <a:p>
            <a:pPr lvl="1" algn="just" eaLnBrk="1" hangingPunct="1">
              <a:lnSpc>
                <a:spcPct val="150000"/>
              </a:lnSpc>
              <a:buFont typeface="Wingdings" panose="05000000000000000000" pitchFamily="2" charset="2"/>
              <a:buNone/>
            </a:pPr>
            <a:r>
              <a:rPr lang="en-US" altLang="zh-CN" sz="2400" dirty="0">
                <a:solidFill>
                  <a:srgbClr val="00B050"/>
                </a:solidFill>
              </a:rPr>
              <a:t>(1) </a:t>
            </a:r>
            <a:r>
              <a:rPr lang="zh-CN" altLang="en-US" sz="2400" dirty="0">
                <a:solidFill>
                  <a:srgbClr val="00B050"/>
                </a:solidFill>
              </a:rPr>
              <a:t>线宽较大时，不自然</a:t>
            </a:r>
          </a:p>
          <a:p>
            <a:pPr lvl="1" algn="just" eaLnBrk="1" hangingPunct="1">
              <a:lnSpc>
                <a:spcPct val="150000"/>
              </a:lnSpc>
              <a:buFont typeface="Wingdings" panose="05000000000000000000" pitchFamily="2" charset="2"/>
              <a:buNone/>
            </a:pPr>
            <a:r>
              <a:rPr lang="en-US" altLang="zh-CN" sz="2400" dirty="0">
                <a:solidFill>
                  <a:srgbClr val="00B050"/>
                </a:solidFill>
              </a:rPr>
              <a:t>(2)</a:t>
            </a:r>
            <a:r>
              <a:rPr lang="zh-CN" altLang="en-US" sz="2400" dirty="0">
                <a:solidFill>
                  <a:srgbClr val="00B050"/>
                </a:solidFill>
              </a:rPr>
              <a:t>折线处有缺口 </a:t>
            </a:r>
          </a:p>
          <a:p>
            <a:pPr lvl="1" algn="just" eaLnBrk="1" hangingPunct="1">
              <a:lnSpc>
                <a:spcPct val="150000"/>
              </a:lnSpc>
              <a:buFont typeface="Wingdings" panose="05000000000000000000" pitchFamily="2" charset="2"/>
              <a:buNone/>
            </a:pPr>
            <a:r>
              <a:rPr lang="en-US" altLang="zh-CN" sz="2400" dirty="0">
                <a:solidFill>
                  <a:srgbClr val="00B050"/>
                </a:solidFill>
              </a:rPr>
              <a:t>(3)</a:t>
            </a:r>
            <a:r>
              <a:rPr lang="zh-CN" altLang="en-US" sz="2400" dirty="0">
                <a:solidFill>
                  <a:srgbClr val="00B050"/>
                </a:solidFill>
              </a:rPr>
              <a:t>宽度不符合要求</a:t>
            </a:r>
          </a:p>
          <a:p>
            <a:pPr lvl="1" algn="just" eaLnBrk="1" hangingPunct="1">
              <a:lnSpc>
                <a:spcPct val="150000"/>
              </a:lnSpc>
              <a:buFont typeface="Wingdings" panose="05000000000000000000" pitchFamily="2" charset="2"/>
              <a:buNone/>
            </a:pPr>
            <a:r>
              <a:rPr lang="en-US" altLang="zh-CN" sz="2400" dirty="0">
                <a:solidFill>
                  <a:srgbClr val="00B050"/>
                </a:solidFill>
              </a:rPr>
              <a:t>(4)</a:t>
            </a:r>
            <a:r>
              <a:rPr lang="zh-CN" altLang="en-US" sz="2400" dirty="0">
                <a:solidFill>
                  <a:srgbClr val="00B050"/>
                </a:solidFill>
              </a:rPr>
              <a:t>对称问题：奇偶数像素，效果不同</a:t>
            </a:r>
          </a:p>
        </p:txBody>
      </p:sp>
    </p:spTree>
    <p:extLst>
      <p:ext uri="{BB962C8B-B14F-4D97-AF65-F5344CB8AC3E}">
        <p14:creationId xmlns:p14="http://schemas.microsoft.com/office/powerpoint/2010/main" val="346634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10968" y="471116"/>
            <a:ext cx="8518732" cy="5796333"/>
          </a:xfrm>
        </p:spPr>
        <p:txBody>
          <a:bodyPr>
            <a:norm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）方形刷子绘制法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让刷子沿直线的斜率方向或者圆弧的半径方向移动获得一定宽度的线宽。将正方形的中心对准单线条像素，然后沿单线条对应方向移动。</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标题宋_CNKI" panose="02000500000000000000" pitchFamily="2" charset="-122"/>
                <a:ea typeface="华光标题宋_CNKI" panose="02000500000000000000" pitchFamily="2" charset="-122"/>
              </a:rPr>
              <a:t> 3.3.2 </a:t>
            </a:r>
            <a:r>
              <a:rPr lang="zh-CN" altLang="en-US" sz="2800" dirty="0">
                <a:latin typeface="华光标题宋_CNKI" panose="02000500000000000000" pitchFamily="2" charset="-122"/>
                <a:ea typeface="华光标题宋_CNKI" panose="02000500000000000000" pitchFamily="2" charset="-122"/>
              </a:rPr>
              <a:t>实区域填充法产生线宽</a:t>
            </a:r>
            <a:endParaRPr lang="en-US" altLang="zh-CN" sz="2800" dirty="0">
              <a:latin typeface="华光标题宋_CNKI" panose="02000500000000000000" pitchFamily="2" charset="-122"/>
              <a:ea typeface="华光标题宋_CNKI" panose="02000500000000000000" pitchFamily="2" charset="-122"/>
            </a:endParaRPr>
          </a:p>
          <a:p>
            <a:pPr algn="l">
              <a:lnSpc>
                <a:spcPct val="150000"/>
              </a:lnSpc>
            </a:pPr>
            <a:r>
              <a:rPr lang="en-US" altLang="zh-CN" sz="2800" b="1"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将线段看成是矩形，将圆弧看成是同心圆构成的圆环，确定相应的区域，然后将区域内的像素绘制成线的颜色。</a:t>
            </a:r>
            <a:endParaRPr lang="en-US" altLang="zh-CN" sz="2800" b="1" dirty="0">
              <a:latin typeface="华光大标宋_CNKI" panose="02000500000000000000" pitchFamily="2" charset="-122"/>
              <a:ea typeface="华光大标宋_CNKI" panose="02000500000000000000" pitchFamily="2" charset="-122"/>
            </a:endParaRPr>
          </a:p>
          <a:p>
            <a:pPr algn="l">
              <a:lnSpc>
                <a:spcPct val="150000"/>
              </a:lnSpc>
            </a:pPr>
            <a:endParaRPr lang="zh-CN" altLang="en-US" sz="2800" dirty="0">
              <a:latin typeface="华光仿宋_CNKI" panose="02000500000000000000" pitchFamily="2" charset="-122"/>
              <a:ea typeface="华光仿宋_CNKI" panose="02000500000000000000" pitchFamily="2" charset="-122"/>
            </a:endParaRPr>
          </a:p>
        </p:txBody>
      </p:sp>
      <p:sp>
        <p:nvSpPr>
          <p:cNvPr id="2" name="椭圆 1">
            <a:extLst>
              <a:ext uri="{FF2B5EF4-FFF2-40B4-BE49-F238E27FC236}">
                <a16:creationId xmlns:a16="http://schemas.microsoft.com/office/drawing/2014/main" id="{95997FB4-EDF4-EB9D-5B40-31F2064F2B24}"/>
              </a:ext>
            </a:extLst>
          </p:cNvPr>
          <p:cNvSpPr/>
          <p:nvPr/>
        </p:nvSpPr>
        <p:spPr>
          <a:xfrm>
            <a:off x="9700094" y="305876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BCA2834D-4927-6B69-B016-E332C1082917}"/>
              </a:ext>
            </a:extLst>
          </p:cNvPr>
          <p:cNvSpPr/>
          <p:nvPr/>
        </p:nvSpPr>
        <p:spPr>
          <a:xfrm>
            <a:off x="9700094" y="3351638"/>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CAF3103-5380-563E-2F1A-A8350637E4F2}"/>
              </a:ext>
            </a:extLst>
          </p:cNvPr>
          <p:cNvSpPr/>
          <p:nvPr/>
        </p:nvSpPr>
        <p:spPr>
          <a:xfrm>
            <a:off x="10421495" y="1412999"/>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455D6CDB-2DA2-9D02-765A-E01803B70C26}"/>
              </a:ext>
            </a:extLst>
          </p:cNvPr>
          <p:cNvSpPr/>
          <p:nvPr/>
        </p:nvSpPr>
        <p:spPr>
          <a:xfrm>
            <a:off x="9935971" y="2792400"/>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90FD7517-1D53-773F-26EC-2D0D63C2EC35}"/>
              </a:ext>
            </a:extLst>
          </p:cNvPr>
          <p:cNvSpPr/>
          <p:nvPr/>
        </p:nvSpPr>
        <p:spPr>
          <a:xfrm>
            <a:off x="9942442" y="2531327"/>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C5A7BEBA-0885-4B2C-8AEA-4A79777E85D4}"/>
              </a:ext>
            </a:extLst>
          </p:cNvPr>
          <p:cNvSpPr/>
          <p:nvPr/>
        </p:nvSpPr>
        <p:spPr>
          <a:xfrm>
            <a:off x="9933658" y="2253036"/>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53A4EF49-F554-50CB-7ABB-9F494A84E2B5}"/>
              </a:ext>
            </a:extLst>
          </p:cNvPr>
          <p:cNvSpPr/>
          <p:nvPr/>
        </p:nvSpPr>
        <p:spPr>
          <a:xfrm>
            <a:off x="10187108" y="196942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06A38F4-BEAE-9C24-2475-B133FA2E6E67}"/>
              </a:ext>
            </a:extLst>
          </p:cNvPr>
          <p:cNvSpPr/>
          <p:nvPr/>
        </p:nvSpPr>
        <p:spPr>
          <a:xfrm>
            <a:off x="10161908" y="168914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B13A47D2-FE6C-EABB-B3AD-A66DABE219A1}"/>
              </a:ext>
            </a:extLst>
          </p:cNvPr>
          <p:cNvSpPr/>
          <p:nvPr/>
        </p:nvSpPr>
        <p:spPr>
          <a:xfrm>
            <a:off x="10413544" y="1136025"/>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3872CAE7-7EE7-C1CF-DD49-8ADEDD30C149}"/>
              </a:ext>
            </a:extLst>
          </p:cNvPr>
          <p:cNvSpPr/>
          <p:nvPr/>
        </p:nvSpPr>
        <p:spPr>
          <a:xfrm>
            <a:off x="10648966" y="849943"/>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B3417E41-13E5-A0E8-9B4C-CAF7B9683300}"/>
              </a:ext>
            </a:extLst>
          </p:cNvPr>
          <p:cNvSpPr/>
          <p:nvPr/>
        </p:nvSpPr>
        <p:spPr>
          <a:xfrm>
            <a:off x="9429751" y="333839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8897EFC3-89CC-66F0-B51E-5EF61E69B229}"/>
              </a:ext>
            </a:extLst>
          </p:cNvPr>
          <p:cNvSpPr/>
          <p:nvPr/>
        </p:nvSpPr>
        <p:spPr>
          <a:xfrm>
            <a:off x="9429765" y="305105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CD282580-4024-8599-8132-0FD7D8974145}"/>
              </a:ext>
            </a:extLst>
          </p:cNvPr>
          <p:cNvSpPr/>
          <p:nvPr/>
        </p:nvSpPr>
        <p:spPr>
          <a:xfrm>
            <a:off x="9964318" y="306571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7BBF9FE2-B474-2365-B856-2E813506C9AC}"/>
              </a:ext>
            </a:extLst>
          </p:cNvPr>
          <p:cNvSpPr/>
          <p:nvPr/>
        </p:nvSpPr>
        <p:spPr>
          <a:xfrm>
            <a:off x="9669611" y="250747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A8C5F16F-A445-9E1F-884B-47F73B5ED369}"/>
              </a:ext>
            </a:extLst>
          </p:cNvPr>
          <p:cNvSpPr/>
          <p:nvPr/>
        </p:nvSpPr>
        <p:spPr>
          <a:xfrm>
            <a:off x="9954535" y="3351637"/>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0A555300-738D-2950-0FB7-F489958ACB80}"/>
              </a:ext>
            </a:extLst>
          </p:cNvPr>
          <p:cNvSpPr/>
          <p:nvPr/>
        </p:nvSpPr>
        <p:spPr>
          <a:xfrm>
            <a:off x="9922007" y="1983601"/>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16A6B619-1E62-F37B-F743-B15AA6E8B829}"/>
              </a:ext>
            </a:extLst>
          </p:cNvPr>
          <p:cNvSpPr/>
          <p:nvPr/>
        </p:nvSpPr>
        <p:spPr>
          <a:xfrm>
            <a:off x="9675785" y="2779140"/>
            <a:ext cx="246490" cy="2623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4F30069D-75B2-32B7-F488-426913D5C47E}"/>
              </a:ext>
            </a:extLst>
          </p:cNvPr>
          <p:cNvSpPr/>
          <p:nvPr/>
        </p:nvSpPr>
        <p:spPr>
          <a:xfrm>
            <a:off x="10426160" y="197327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6CF5AF95-D4A2-A3D2-5B87-0BC2B2D3F8D5}"/>
              </a:ext>
            </a:extLst>
          </p:cNvPr>
          <p:cNvSpPr/>
          <p:nvPr/>
        </p:nvSpPr>
        <p:spPr>
          <a:xfrm>
            <a:off x="10192900" y="280299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E5FEA3FE-0A59-4D6F-F2A8-286D443DEBD3}"/>
              </a:ext>
            </a:extLst>
          </p:cNvPr>
          <p:cNvSpPr/>
          <p:nvPr/>
        </p:nvSpPr>
        <p:spPr>
          <a:xfrm>
            <a:off x="10206792" y="2520731"/>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a:extLst>
              <a:ext uri="{FF2B5EF4-FFF2-40B4-BE49-F238E27FC236}">
                <a16:creationId xmlns:a16="http://schemas.microsoft.com/office/drawing/2014/main" id="{0B95BA1F-7581-DF26-187E-CE1AED56AA0F}"/>
              </a:ext>
            </a:extLst>
          </p:cNvPr>
          <p:cNvSpPr/>
          <p:nvPr/>
        </p:nvSpPr>
        <p:spPr>
          <a:xfrm>
            <a:off x="9658361" y="2233157"/>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C32A5658-B84B-C31A-832D-4661B05A71D4}"/>
              </a:ext>
            </a:extLst>
          </p:cNvPr>
          <p:cNvSpPr/>
          <p:nvPr/>
        </p:nvSpPr>
        <p:spPr>
          <a:xfrm>
            <a:off x="10188686" y="224641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9693287-7673-C8F9-287B-267CDA14861E}"/>
              </a:ext>
            </a:extLst>
          </p:cNvPr>
          <p:cNvSpPr/>
          <p:nvPr/>
        </p:nvSpPr>
        <p:spPr>
          <a:xfrm>
            <a:off x="9902655" y="1701744"/>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E02BB5BC-BA89-BF40-18EB-264674ED7498}"/>
              </a:ext>
            </a:extLst>
          </p:cNvPr>
          <p:cNvSpPr/>
          <p:nvPr/>
        </p:nvSpPr>
        <p:spPr>
          <a:xfrm>
            <a:off x="10422827" y="1689145"/>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6C5CF909-76ED-8078-97E5-2768EB2E87C7}"/>
              </a:ext>
            </a:extLst>
          </p:cNvPr>
          <p:cNvSpPr/>
          <p:nvPr/>
        </p:nvSpPr>
        <p:spPr>
          <a:xfrm>
            <a:off x="10150824" y="141151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7439F3DD-D8FA-F090-8517-1BF4A8A9D117}"/>
              </a:ext>
            </a:extLst>
          </p:cNvPr>
          <p:cNvSpPr/>
          <p:nvPr/>
        </p:nvSpPr>
        <p:spPr>
          <a:xfrm>
            <a:off x="10690607" y="140794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36ACE9E0-4BC9-4B8D-7C1F-A926A6714CA6}"/>
              </a:ext>
            </a:extLst>
          </p:cNvPr>
          <p:cNvSpPr/>
          <p:nvPr/>
        </p:nvSpPr>
        <p:spPr>
          <a:xfrm>
            <a:off x="10146006" y="113700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25395AD4-512E-BC69-7D68-E2FA8FB816E0}"/>
              </a:ext>
            </a:extLst>
          </p:cNvPr>
          <p:cNvSpPr/>
          <p:nvPr/>
        </p:nvSpPr>
        <p:spPr>
          <a:xfrm>
            <a:off x="10930238" y="842737"/>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6484CF44-021D-CF89-D6DB-531C584B9826}"/>
              </a:ext>
            </a:extLst>
          </p:cNvPr>
          <p:cNvSpPr/>
          <p:nvPr/>
        </p:nvSpPr>
        <p:spPr>
          <a:xfrm>
            <a:off x="10671557" y="112807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EC4E1587-3063-2CCE-3A60-5A7D90833C89}"/>
              </a:ext>
            </a:extLst>
          </p:cNvPr>
          <p:cNvSpPr/>
          <p:nvPr/>
        </p:nvSpPr>
        <p:spPr>
          <a:xfrm>
            <a:off x="10384586" y="853580"/>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4A9BC208-893B-D980-A0DC-3CFFECF43ACB}"/>
              </a:ext>
            </a:extLst>
          </p:cNvPr>
          <p:cNvSpPr/>
          <p:nvPr/>
        </p:nvSpPr>
        <p:spPr>
          <a:xfrm>
            <a:off x="9415599" y="2769620"/>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052D0FC0-F57B-E619-8804-421888607980}"/>
              </a:ext>
            </a:extLst>
          </p:cNvPr>
          <p:cNvSpPr/>
          <p:nvPr/>
        </p:nvSpPr>
        <p:spPr>
          <a:xfrm>
            <a:off x="10212288" y="3065712"/>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5B0D85A8-5192-F517-FDC3-C166FFF915B6}"/>
              </a:ext>
            </a:extLst>
          </p:cNvPr>
          <p:cNvSpPr/>
          <p:nvPr/>
        </p:nvSpPr>
        <p:spPr>
          <a:xfrm>
            <a:off x="9430921" y="362321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26D4DE86-E8C9-B010-165A-9D50B704DB0D}"/>
              </a:ext>
            </a:extLst>
          </p:cNvPr>
          <p:cNvSpPr/>
          <p:nvPr/>
        </p:nvSpPr>
        <p:spPr>
          <a:xfrm>
            <a:off x="9708303" y="362321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A7EB0FED-1F3D-EEEF-0B7B-6A8B31913EBC}"/>
              </a:ext>
            </a:extLst>
          </p:cNvPr>
          <p:cNvSpPr/>
          <p:nvPr/>
        </p:nvSpPr>
        <p:spPr>
          <a:xfrm>
            <a:off x="9971017" y="3623476"/>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2D63D131-0F7A-26C4-7AAD-4FA278DEE845}"/>
              </a:ext>
            </a:extLst>
          </p:cNvPr>
          <p:cNvSpPr/>
          <p:nvPr/>
        </p:nvSpPr>
        <p:spPr>
          <a:xfrm>
            <a:off x="10444807" y="2255939"/>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2DB52D5B-8F02-1B85-9A2C-12FFD086C2C1}"/>
              </a:ext>
            </a:extLst>
          </p:cNvPr>
          <p:cNvSpPr/>
          <p:nvPr/>
        </p:nvSpPr>
        <p:spPr>
          <a:xfrm>
            <a:off x="10681082" y="1696298"/>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ACB46D30-926D-E629-C8FC-7B5E8DF33AF2}"/>
              </a:ext>
            </a:extLst>
          </p:cNvPr>
          <p:cNvSpPr/>
          <p:nvPr/>
        </p:nvSpPr>
        <p:spPr>
          <a:xfrm>
            <a:off x="10927572" y="1128073"/>
            <a:ext cx="246490" cy="2623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9898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74681" y="681881"/>
            <a:ext cx="10750587" cy="3537694"/>
          </a:xfrm>
        </p:spPr>
        <p:txBody>
          <a:bodyPr>
            <a:normAutofit/>
          </a:bodyPr>
          <a:lstStyle/>
          <a:p>
            <a:pPr algn="l">
              <a:lnSpc>
                <a:spcPct val="150000"/>
              </a:lnSpc>
            </a:pPr>
            <a:r>
              <a:rPr lang="en-US" altLang="zh-CN" sz="2800" dirty="0">
                <a:latin typeface="华光标题宋_CNKI" panose="02000500000000000000" pitchFamily="2" charset="-122"/>
                <a:ea typeface="华光标题宋_CNKI" panose="02000500000000000000" pitchFamily="2" charset="-122"/>
              </a:rPr>
              <a:t>3.3.3 </a:t>
            </a:r>
            <a:r>
              <a:rPr lang="zh-CN" altLang="en-US" sz="2800" dirty="0">
                <a:latin typeface="华光标题宋_CNKI" panose="02000500000000000000" pitchFamily="2" charset="-122"/>
                <a:ea typeface="华光标题宋_CNKI" panose="02000500000000000000" pitchFamily="2" charset="-122"/>
              </a:rPr>
              <a:t>线型的处理</a:t>
            </a:r>
            <a:endParaRPr lang="en-US" altLang="zh-CN" sz="2800" dirty="0">
              <a:latin typeface="华光标题宋_CNKI" panose="02000500000000000000" pitchFamily="2" charset="-122"/>
              <a:ea typeface="华光标题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线型可以看成一个由布尔值对应的像素。每种线型对应一定的长度的像素，每个像素对应相应的布尔值。如果该像素对应的布尔值为</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，则绘制该像素。如果对应的布尔值为</a:t>
            </a:r>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，则不绘制该像素。如下所示。</a:t>
            </a:r>
          </a:p>
        </p:txBody>
      </p:sp>
      <p:grpSp>
        <p:nvGrpSpPr>
          <p:cNvPr id="2" name="Group 4">
            <a:extLst>
              <a:ext uri="{FF2B5EF4-FFF2-40B4-BE49-F238E27FC236}">
                <a16:creationId xmlns:a16="http://schemas.microsoft.com/office/drawing/2014/main" id="{2F57E9F6-66C4-9890-BFF1-7E7AB9822283}"/>
              </a:ext>
            </a:extLst>
          </p:cNvPr>
          <p:cNvGrpSpPr>
            <a:grpSpLocks/>
          </p:cNvGrpSpPr>
          <p:nvPr/>
        </p:nvGrpSpPr>
        <p:grpSpPr bwMode="auto">
          <a:xfrm>
            <a:off x="3581400" y="4457700"/>
            <a:ext cx="4222750" cy="1025525"/>
            <a:chOff x="1622" y="1658"/>
            <a:chExt cx="2660" cy="646"/>
          </a:xfrm>
        </p:grpSpPr>
        <p:sp>
          <p:nvSpPr>
            <p:cNvPr id="4" name="Oval 5">
              <a:extLst>
                <a:ext uri="{FF2B5EF4-FFF2-40B4-BE49-F238E27FC236}">
                  <a16:creationId xmlns:a16="http://schemas.microsoft.com/office/drawing/2014/main" id="{617903AC-F9CF-6E7E-867B-2D7A1702DB4C}"/>
                </a:ext>
              </a:extLst>
            </p:cNvPr>
            <p:cNvSpPr>
              <a:spLocks noChangeArrowheads="1"/>
            </p:cNvSpPr>
            <p:nvPr/>
          </p:nvSpPr>
          <p:spPr bwMode="auto">
            <a:xfrm>
              <a:off x="1680"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 name="Oval 6">
              <a:extLst>
                <a:ext uri="{FF2B5EF4-FFF2-40B4-BE49-F238E27FC236}">
                  <a16:creationId xmlns:a16="http://schemas.microsoft.com/office/drawing/2014/main" id="{39C5272C-DC4E-80E2-7427-8C43176BB9AF}"/>
                </a:ext>
              </a:extLst>
            </p:cNvPr>
            <p:cNvSpPr>
              <a:spLocks noChangeArrowheads="1"/>
            </p:cNvSpPr>
            <p:nvPr/>
          </p:nvSpPr>
          <p:spPr bwMode="auto">
            <a:xfrm>
              <a:off x="1824"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Oval 7">
              <a:extLst>
                <a:ext uri="{FF2B5EF4-FFF2-40B4-BE49-F238E27FC236}">
                  <a16:creationId xmlns:a16="http://schemas.microsoft.com/office/drawing/2014/main" id="{DF962D54-5BA7-A2DF-2499-05BACE877900}"/>
                </a:ext>
              </a:extLst>
            </p:cNvPr>
            <p:cNvSpPr>
              <a:spLocks noChangeArrowheads="1"/>
            </p:cNvSpPr>
            <p:nvPr/>
          </p:nvSpPr>
          <p:spPr bwMode="auto">
            <a:xfrm>
              <a:off x="1968"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 name="Oval 8">
              <a:extLst>
                <a:ext uri="{FF2B5EF4-FFF2-40B4-BE49-F238E27FC236}">
                  <a16:creationId xmlns:a16="http://schemas.microsoft.com/office/drawing/2014/main" id="{FB3AE744-BEA6-9AF4-9FDD-A609A00CA771}"/>
                </a:ext>
              </a:extLst>
            </p:cNvPr>
            <p:cNvSpPr>
              <a:spLocks noChangeArrowheads="1"/>
            </p:cNvSpPr>
            <p:nvPr/>
          </p:nvSpPr>
          <p:spPr bwMode="auto">
            <a:xfrm>
              <a:off x="2112"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Oval 9">
              <a:extLst>
                <a:ext uri="{FF2B5EF4-FFF2-40B4-BE49-F238E27FC236}">
                  <a16:creationId xmlns:a16="http://schemas.microsoft.com/office/drawing/2014/main" id="{39A86BDE-599B-1665-F585-98441429C448}"/>
                </a:ext>
              </a:extLst>
            </p:cNvPr>
            <p:cNvSpPr>
              <a:spLocks noChangeArrowheads="1"/>
            </p:cNvSpPr>
            <p:nvPr/>
          </p:nvSpPr>
          <p:spPr bwMode="auto">
            <a:xfrm>
              <a:off x="2256"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Oval 10">
              <a:extLst>
                <a:ext uri="{FF2B5EF4-FFF2-40B4-BE49-F238E27FC236}">
                  <a16:creationId xmlns:a16="http://schemas.microsoft.com/office/drawing/2014/main" id="{559766FA-9C89-D168-840A-BB0F26294F24}"/>
                </a:ext>
              </a:extLst>
            </p:cNvPr>
            <p:cNvSpPr>
              <a:spLocks noChangeArrowheads="1"/>
            </p:cNvSpPr>
            <p:nvPr/>
          </p:nvSpPr>
          <p:spPr bwMode="auto">
            <a:xfrm>
              <a:off x="2400"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 name="Oval 11">
              <a:extLst>
                <a:ext uri="{FF2B5EF4-FFF2-40B4-BE49-F238E27FC236}">
                  <a16:creationId xmlns:a16="http://schemas.microsoft.com/office/drawing/2014/main" id="{F69F74AC-1039-A2CB-8A15-491CE685B9CF}"/>
                </a:ext>
              </a:extLst>
            </p:cNvPr>
            <p:cNvSpPr>
              <a:spLocks noChangeArrowheads="1"/>
            </p:cNvSpPr>
            <p:nvPr/>
          </p:nvSpPr>
          <p:spPr bwMode="auto">
            <a:xfrm>
              <a:off x="2544"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Oval 12">
              <a:extLst>
                <a:ext uri="{FF2B5EF4-FFF2-40B4-BE49-F238E27FC236}">
                  <a16:creationId xmlns:a16="http://schemas.microsoft.com/office/drawing/2014/main" id="{7BF51A9A-3748-6674-C91A-CF280EC7BB97}"/>
                </a:ext>
              </a:extLst>
            </p:cNvPr>
            <p:cNvSpPr>
              <a:spLocks noChangeArrowheads="1"/>
            </p:cNvSpPr>
            <p:nvPr/>
          </p:nvSpPr>
          <p:spPr bwMode="auto">
            <a:xfrm>
              <a:off x="2688"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 name="Oval 13">
              <a:extLst>
                <a:ext uri="{FF2B5EF4-FFF2-40B4-BE49-F238E27FC236}">
                  <a16:creationId xmlns:a16="http://schemas.microsoft.com/office/drawing/2014/main" id="{78BD7673-427B-6EF5-824F-D5185052B2D8}"/>
                </a:ext>
              </a:extLst>
            </p:cNvPr>
            <p:cNvSpPr>
              <a:spLocks noChangeArrowheads="1"/>
            </p:cNvSpPr>
            <p:nvPr/>
          </p:nvSpPr>
          <p:spPr bwMode="auto">
            <a:xfrm>
              <a:off x="2832"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Oval 14">
              <a:extLst>
                <a:ext uri="{FF2B5EF4-FFF2-40B4-BE49-F238E27FC236}">
                  <a16:creationId xmlns:a16="http://schemas.microsoft.com/office/drawing/2014/main" id="{3F3E4208-8FF1-F091-12AA-9AB3AE486DB5}"/>
                </a:ext>
              </a:extLst>
            </p:cNvPr>
            <p:cNvSpPr>
              <a:spLocks noChangeArrowheads="1"/>
            </p:cNvSpPr>
            <p:nvPr/>
          </p:nvSpPr>
          <p:spPr bwMode="auto">
            <a:xfrm>
              <a:off x="2976"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 name="Oval 15">
              <a:extLst>
                <a:ext uri="{FF2B5EF4-FFF2-40B4-BE49-F238E27FC236}">
                  <a16:creationId xmlns:a16="http://schemas.microsoft.com/office/drawing/2014/main" id="{291D1964-C54B-DAAD-8153-1ED1F2F9227F}"/>
                </a:ext>
              </a:extLst>
            </p:cNvPr>
            <p:cNvSpPr>
              <a:spLocks noChangeArrowheads="1"/>
            </p:cNvSpPr>
            <p:nvPr/>
          </p:nvSpPr>
          <p:spPr bwMode="auto">
            <a:xfrm>
              <a:off x="3120"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 name="Oval 16">
              <a:extLst>
                <a:ext uri="{FF2B5EF4-FFF2-40B4-BE49-F238E27FC236}">
                  <a16:creationId xmlns:a16="http://schemas.microsoft.com/office/drawing/2014/main" id="{70A9474E-57B9-5B79-D083-78551FB86D9F}"/>
                </a:ext>
              </a:extLst>
            </p:cNvPr>
            <p:cNvSpPr>
              <a:spLocks noChangeArrowheads="1"/>
            </p:cNvSpPr>
            <p:nvPr/>
          </p:nvSpPr>
          <p:spPr bwMode="auto">
            <a:xfrm>
              <a:off x="3264"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 name="Oval 17">
              <a:extLst>
                <a:ext uri="{FF2B5EF4-FFF2-40B4-BE49-F238E27FC236}">
                  <a16:creationId xmlns:a16="http://schemas.microsoft.com/office/drawing/2014/main" id="{437CDEA6-2CEC-4E9C-B669-1718854EE2BC}"/>
                </a:ext>
              </a:extLst>
            </p:cNvPr>
            <p:cNvSpPr>
              <a:spLocks noChangeArrowheads="1"/>
            </p:cNvSpPr>
            <p:nvPr/>
          </p:nvSpPr>
          <p:spPr bwMode="auto">
            <a:xfrm>
              <a:off x="3408"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 name="Oval 18">
              <a:extLst>
                <a:ext uri="{FF2B5EF4-FFF2-40B4-BE49-F238E27FC236}">
                  <a16:creationId xmlns:a16="http://schemas.microsoft.com/office/drawing/2014/main" id="{E52BE708-93F3-0DC8-BBB9-4F53ACA26CB1}"/>
                </a:ext>
              </a:extLst>
            </p:cNvPr>
            <p:cNvSpPr>
              <a:spLocks noChangeArrowheads="1"/>
            </p:cNvSpPr>
            <p:nvPr/>
          </p:nvSpPr>
          <p:spPr bwMode="auto">
            <a:xfrm>
              <a:off x="3552"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Oval 19">
              <a:extLst>
                <a:ext uri="{FF2B5EF4-FFF2-40B4-BE49-F238E27FC236}">
                  <a16:creationId xmlns:a16="http://schemas.microsoft.com/office/drawing/2014/main" id="{09A68D9C-C742-5B6E-C00F-2864B40B7997}"/>
                </a:ext>
              </a:extLst>
            </p:cNvPr>
            <p:cNvSpPr>
              <a:spLocks noChangeArrowheads="1"/>
            </p:cNvSpPr>
            <p:nvPr/>
          </p:nvSpPr>
          <p:spPr bwMode="auto">
            <a:xfrm>
              <a:off x="3696"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9" name="Text Box 20">
              <a:extLst>
                <a:ext uri="{FF2B5EF4-FFF2-40B4-BE49-F238E27FC236}">
                  <a16:creationId xmlns:a16="http://schemas.microsoft.com/office/drawing/2014/main" id="{20101051-77D5-B537-BB43-2DE39941430D}"/>
                </a:ext>
              </a:extLst>
            </p:cNvPr>
            <p:cNvSpPr txBox="1">
              <a:spLocks noChangeArrowheads="1"/>
            </p:cNvSpPr>
            <p:nvPr/>
          </p:nvSpPr>
          <p:spPr bwMode="auto">
            <a:xfrm>
              <a:off x="1622" y="1658"/>
              <a:ext cx="26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rPr>
                <a:t>1 1 1 1 0 0 1 1 1 1 0 0 1 1 1 1 0 0</a:t>
              </a:r>
            </a:p>
          </p:txBody>
        </p:sp>
        <p:sp>
          <p:nvSpPr>
            <p:cNvPr id="20" name="Oval 21">
              <a:extLst>
                <a:ext uri="{FF2B5EF4-FFF2-40B4-BE49-F238E27FC236}">
                  <a16:creationId xmlns:a16="http://schemas.microsoft.com/office/drawing/2014/main" id="{362E58CD-65A7-0ACD-A8A9-FF5C1FE65638}"/>
                </a:ext>
              </a:extLst>
            </p:cNvPr>
            <p:cNvSpPr>
              <a:spLocks noChangeArrowheads="1"/>
            </p:cNvSpPr>
            <p:nvPr/>
          </p:nvSpPr>
          <p:spPr bwMode="auto">
            <a:xfrm>
              <a:off x="3840" y="20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 name="Oval 22">
              <a:extLst>
                <a:ext uri="{FF2B5EF4-FFF2-40B4-BE49-F238E27FC236}">
                  <a16:creationId xmlns:a16="http://schemas.microsoft.com/office/drawing/2014/main" id="{4437006F-D19E-821F-31BA-8EDDBCBD80AB}"/>
                </a:ext>
              </a:extLst>
            </p:cNvPr>
            <p:cNvSpPr>
              <a:spLocks noChangeArrowheads="1"/>
            </p:cNvSpPr>
            <p:nvPr/>
          </p:nvSpPr>
          <p:spPr bwMode="auto">
            <a:xfrm>
              <a:off x="3984"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 name="Oval 23">
              <a:extLst>
                <a:ext uri="{FF2B5EF4-FFF2-40B4-BE49-F238E27FC236}">
                  <a16:creationId xmlns:a16="http://schemas.microsoft.com/office/drawing/2014/main" id="{B9A36BE2-3935-3825-15C9-57A45B0B209E}"/>
                </a:ext>
              </a:extLst>
            </p:cNvPr>
            <p:cNvSpPr>
              <a:spLocks noChangeArrowheads="1"/>
            </p:cNvSpPr>
            <p:nvPr/>
          </p:nvSpPr>
          <p:spPr bwMode="auto">
            <a:xfrm>
              <a:off x="4128" y="2016"/>
              <a:ext cx="96" cy="9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 name="Line 24">
              <a:extLst>
                <a:ext uri="{FF2B5EF4-FFF2-40B4-BE49-F238E27FC236}">
                  <a16:creationId xmlns:a16="http://schemas.microsoft.com/office/drawing/2014/main" id="{687BAE49-B8A7-4349-22A7-4ABE3950F3B2}"/>
                </a:ext>
              </a:extLst>
            </p:cNvPr>
            <p:cNvSpPr>
              <a:spLocks noChangeShapeType="1"/>
            </p:cNvSpPr>
            <p:nvPr/>
          </p:nvSpPr>
          <p:spPr bwMode="auto">
            <a:xfrm>
              <a:off x="1680" y="2304"/>
              <a:ext cx="5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5">
              <a:extLst>
                <a:ext uri="{FF2B5EF4-FFF2-40B4-BE49-F238E27FC236}">
                  <a16:creationId xmlns:a16="http://schemas.microsoft.com/office/drawing/2014/main" id="{6411CA00-E582-E3C3-1C35-6879E3E9C84E}"/>
                </a:ext>
              </a:extLst>
            </p:cNvPr>
            <p:cNvSpPr>
              <a:spLocks noChangeShapeType="1"/>
            </p:cNvSpPr>
            <p:nvPr/>
          </p:nvSpPr>
          <p:spPr bwMode="auto">
            <a:xfrm>
              <a:off x="2544" y="2304"/>
              <a:ext cx="5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6">
              <a:extLst>
                <a:ext uri="{FF2B5EF4-FFF2-40B4-BE49-F238E27FC236}">
                  <a16:creationId xmlns:a16="http://schemas.microsoft.com/office/drawing/2014/main" id="{6534E1C2-FCFD-190D-7DB6-44F0CB76D9F5}"/>
                </a:ext>
              </a:extLst>
            </p:cNvPr>
            <p:cNvSpPr>
              <a:spLocks noChangeShapeType="1"/>
            </p:cNvSpPr>
            <p:nvPr/>
          </p:nvSpPr>
          <p:spPr bwMode="auto">
            <a:xfrm>
              <a:off x="3408" y="2304"/>
              <a:ext cx="5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60720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02659" y="713631"/>
            <a:ext cx="10750587" cy="5430738"/>
          </a:xfrm>
        </p:spPr>
        <p:txBody>
          <a:bodyPr>
            <a:normAutofit lnSpcReduction="10000"/>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3.4 </a:t>
            </a:r>
            <a:r>
              <a:rPr lang="zh-CN" altLang="en-US" sz="3200" dirty="0">
                <a:latin typeface="华光大标宋_CNKI" panose="02000500000000000000" pitchFamily="2" charset="-122"/>
                <a:ea typeface="华光大标宋_CNKI" panose="02000500000000000000" pitchFamily="2" charset="-122"/>
              </a:rPr>
              <a:t>实区域的填充</a:t>
            </a:r>
          </a:p>
          <a:p>
            <a:pPr algn="l">
              <a:lnSpc>
                <a:spcPct val="150000"/>
              </a:lnSpc>
            </a:pPr>
            <a:r>
              <a:rPr lang="en-US" altLang="zh-CN" sz="2800" b="1" dirty="0">
                <a:solidFill>
                  <a:srgbClr val="C00000"/>
                </a:solidFill>
                <a:latin typeface="华光标题宋_CNKI" panose="02000500000000000000" pitchFamily="2" charset="-122"/>
                <a:ea typeface="华光标题宋_CNKI" panose="02000500000000000000" pitchFamily="2" charset="-122"/>
              </a:rPr>
              <a:t>       </a:t>
            </a:r>
            <a:r>
              <a:rPr lang="zh-CN" altLang="en-US" sz="2800" b="1" dirty="0">
                <a:solidFill>
                  <a:srgbClr val="C00000"/>
                </a:solidFill>
                <a:latin typeface="华光标题宋_CNKI" panose="02000500000000000000" pitchFamily="2" charset="-122"/>
                <a:ea typeface="华光标题宋_CNKI" panose="02000500000000000000" pitchFamily="2" charset="-122"/>
              </a:rPr>
              <a:t>解决的问题：</a:t>
            </a:r>
            <a:r>
              <a:rPr lang="zh-CN" altLang="en-US" sz="2800" dirty="0">
                <a:latin typeface="华光仿宋_CNKI" panose="02000500000000000000" pitchFamily="2" charset="-122"/>
                <a:ea typeface="华光仿宋_CNKI" panose="02000500000000000000" pitchFamily="2" charset="-122"/>
              </a:rPr>
              <a:t>检查某个像素是否在某个区域内，并给对应的像素一定的颜色。</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判断某个像素是否在某个区域内，可通过转角法和射线法。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3.4.1 </a:t>
            </a:r>
            <a:r>
              <a:rPr lang="zh-CN" altLang="en-US" sz="2800" dirty="0">
                <a:latin typeface="华光标题宋_CNKI" panose="02000500000000000000" pitchFamily="2" charset="-122"/>
                <a:ea typeface="华光标题宋_CNKI" panose="02000500000000000000" pitchFamily="2" charset="-122"/>
              </a:rPr>
              <a:t>转角法求像素是否在区域内</a:t>
            </a:r>
            <a:endParaRPr lang="en-US" altLang="zh-CN" sz="2800" dirty="0">
              <a:latin typeface="华光标题宋_CNKI" panose="02000500000000000000" pitchFamily="2" charset="-122"/>
              <a:ea typeface="华光标题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该方法需要判断该点与多边形各个顶点的连线所构成的夹角之和的大小，如果为</a:t>
            </a:r>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，则标明是在区域外；如果为</a:t>
            </a:r>
            <a:r>
              <a:rPr lang="en-US" altLang="zh-CN" sz="2800" dirty="0">
                <a:latin typeface="华光仿宋_CNKI" panose="02000500000000000000" pitchFamily="2" charset="-122"/>
                <a:ea typeface="华光仿宋_CNKI" panose="02000500000000000000" pitchFamily="2" charset="-122"/>
              </a:rPr>
              <a:t>360</a:t>
            </a:r>
            <a:r>
              <a:rPr lang="zh-CN" altLang="en-US" sz="2800" dirty="0">
                <a:latin typeface="华光仿宋_CNKI" panose="02000500000000000000" pitchFamily="2" charset="-122"/>
                <a:ea typeface="华光仿宋_CNKI" panose="02000500000000000000" pitchFamily="2" charset="-122"/>
              </a:rPr>
              <a:t>度，则标明在区域内。</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438017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8853" y="713631"/>
            <a:ext cx="10439222" cy="1747491"/>
          </a:xfrm>
        </p:spPr>
        <p:txBody>
          <a:bodyPr>
            <a:normAutofit fontScale="92500"/>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该方法需要判断该点与多边形各个顶点的连线所构成的夹角之和的大小，如果为</a:t>
            </a:r>
            <a:r>
              <a:rPr lang="en-US" altLang="zh-CN" sz="2800" dirty="0">
                <a:latin typeface="华光仿宋_CNKI" panose="02000500000000000000" pitchFamily="2" charset="-122"/>
                <a:ea typeface="华光仿宋_CNKI" panose="02000500000000000000" pitchFamily="2" charset="-122"/>
              </a:rPr>
              <a:t>0</a:t>
            </a:r>
            <a:r>
              <a:rPr lang="zh-CN" altLang="en-US" sz="2800" dirty="0">
                <a:latin typeface="华光仿宋_CNKI" panose="02000500000000000000" pitchFamily="2" charset="-122"/>
                <a:ea typeface="华光仿宋_CNKI" panose="02000500000000000000" pitchFamily="2" charset="-122"/>
              </a:rPr>
              <a:t>，则标明是在区域外；如果为</a:t>
            </a:r>
            <a:r>
              <a:rPr lang="en-US" altLang="zh-CN" sz="2800" dirty="0">
                <a:latin typeface="华光仿宋_CNKI" panose="02000500000000000000" pitchFamily="2" charset="-122"/>
                <a:ea typeface="华光仿宋_CNKI" panose="02000500000000000000" pitchFamily="2" charset="-122"/>
              </a:rPr>
              <a:t>360</a:t>
            </a:r>
            <a:r>
              <a:rPr lang="zh-CN" altLang="en-US" sz="2800" dirty="0">
                <a:latin typeface="华光仿宋_CNKI" panose="02000500000000000000" pitchFamily="2" charset="-122"/>
                <a:ea typeface="华光仿宋_CNKI" panose="02000500000000000000" pitchFamily="2" charset="-122"/>
              </a:rPr>
              <a:t>度，则标明在区域内。</a:t>
            </a:r>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p:grpSp>
        <p:nvGrpSpPr>
          <p:cNvPr id="9" name="Group 68">
            <a:extLst>
              <a:ext uri="{FF2B5EF4-FFF2-40B4-BE49-F238E27FC236}">
                <a16:creationId xmlns:a16="http://schemas.microsoft.com/office/drawing/2014/main" id="{F2673732-BDB8-ABE6-5A16-04752496ABCE}"/>
              </a:ext>
            </a:extLst>
          </p:cNvPr>
          <p:cNvGrpSpPr>
            <a:grpSpLocks/>
          </p:cNvGrpSpPr>
          <p:nvPr/>
        </p:nvGrpSpPr>
        <p:grpSpPr bwMode="auto">
          <a:xfrm>
            <a:off x="1847852" y="2727822"/>
            <a:ext cx="3240087" cy="2736850"/>
            <a:chOff x="385" y="1601"/>
            <a:chExt cx="2041" cy="1724"/>
          </a:xfrm>
        </p:grpSpPr>
        <p:sp>
          <p:nvSpPr>
            <p:cNvPr id="10" name="Line 8">
              <a:extLst>
                <a:ext uri="{FF2B5EF4-FFF2-40B4-BE49-F238E27FC236}">
                  <a16:creationId xmlns:a16="http://schemas.microsoft.com/office/drawing/2014/main" id="{917F8D41-30CF-EC9A-B599-0872AF34DFF1}"/>
                </a:ext>
              </a:extLst>
            </p:cNvPr>
            <p:cNvSpPr>
              <a:spLocks noChangeShapeType="1"/>
            </p:cNvSpPr>
            <p:nvPr/>
          </p:nvSpPr>
          <p:spPr bwMode="auto">
            <a:xfrm flipH="1">
              <a:off x="385" y="1601"/>
              <a:ext cx="953" cy="907"/>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 name="Line 9">
              <a:extLst>
                <a:ext uri="{FF2B5EF4-FFF2-40B4-BE49-F238E27FC236}">
                  <a16:creationId xmlns:a16="http://schemas.microsoft.com/office/drawing/2014/main" id="{2D0DD69F-195D-D062-50F1-E14BFDAA7DC5}"/>
                </a:ext>
              </a:extLst>
            </p:cNvPr>
            <p:cNvSpPr>
              <a:spLocks noChangeShapeType="1"/>
            </p:cNvSpPr>
            <p:nvPr/>
          </p:nvSpPr>
          <p:spPr bwMode="auto">
            <a:xfrm>
              <a:off x="385" y="2508"/>
              <a:ext cx="998" cy="817"/>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 name="Line 10">
              <a:extLst>
                <a:ext uri="{FF2B5EF4-FFF2-40B4-BE49-F238E27FC236}">
                  <a16:creationId xmlns:a16="http://schemas.microsoft.com/office/drawing/2014/main" id="{DAA47560-7C4C-898D-9142-EC01A751D11E}"/>
                </a:ext>
              </a:extLst>
            </p:cNvPr>
            <p:cNvSpPr>
              <a:spLocks noChangeShapeType="1"/>
            </p:cNvSpPr>
            <p:nvPr/>
          </p:nvSpPr>
          <p:spPr bwMode="auto">
            <a:xfrm flipV="1">
              <a:off x="1383" y="2781"/>
              <a:ext cx="1043" cy="544"/>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 name="Line 11">
              <a:extLst>
                <a:ext uri="{FF2B5EF4-FFF2-40B4-BE49-F238E27FC236}">
                  <a16:creationId xmlns:a16="http://schemas.microsoft.com/office/drawing/2014/main" id="{87BDC888-6A02-6BA4-3017-3598B9E5E0B9}"/>
                </a:ext>
              </a:extLst>
            </p:cNvPr>
            <p:cNvSpPr>
              <a:spLocks noChangeShapeType="1"/>
            </p:cNvSpPr>
            <p:nvPr/>
          </p:nvSpPr>
          <p:spPr bwMode="auto">
            <a:xfrm flipH="1" flipV="1">
              <a:off x="1564" y="2508"/>
              <a:ext cx="862" cy="273"/>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 name="Line 12">
              <a:extLst>
                <a:ext uri="{FF2B5EF4-FFF2-40B4-BE49-F238E27FC236}">
                  <a16:creationId xmlns:a16="http://schemas.microsoft.com/office/drawing/2014/main" id="{2E9862BD-E276-556D-F2D3-D45AFF9A62E9}"/>
                </a:ext>
              </a:extLst>
            </p:cNvPr>
            <p:cNvSpPr>
              <a:spLocks noChangeShapeType="1"/>
            </p:cNvSpPr>
            <p:nvPr/>
          </p:nvSpPr>
          <p:spPr bwMode="auto">
            <a:xfrm flipH="1" flipV="1">
              <a:off x="1338" y="1601"/>
              <a:ext cx="226" cy="907"/>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5" name="Oval 20">
            <a:extLst>
              <a:ext uri="{FF2B5EF4-FFF2-40B4-BE49-F238E27FC236}">
                <a16:creationId xmlns:a16="http://schemas.microsoft.com/office/drawing/2014/main" id="{11EB2E27-A843-D964-287C-5E19C0DD0F38}"/>
              </a:ext>
            </a:extLst>
          </p:cNvPr>
          <p:cNvSpPr>
            <a:spLocks noChangeArrowheads="1"/>
          </p:cNvSpPr>
          <p:nvPr/>
        </p:nvSpPr>
        <p:spPr bwMode="auto">
          <a:xfrm>
            <a:off x="4295777" y="2872284"/>
            <a:ext cx="144462" cy="144463"/>
          </a:xfrm>
          <a:prstGeom prst="ellipse">
            <a:avLst/>
          </a:prstGeom>
          <a:solidFill>
            <a:srgbClr val="FFFFFF"/>
          </a:solidFill>
          <a:ln w="9525" cap="sq">
            <a:solidFill>
              <a:srgbClr val="00B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 name="Line 21">
            <a:extLst>
              <a:ext uri="{FF2B5EF4-FFF2-40B4-BE49-F238E27FC236}">
                <a16:creationId xmlns:a16="http://schemas.microsoft.com/office/drawing/2014/main" id="{186202C7-719C-DD62-A2AF-63A10B8E3F26}"/>
              </a:ext>
            </a:extLst>
          </p:cNvPr>
          <p:cNvSpPr>
            <a:spLocks noChangeShapeType="1"/>
          </p:cNvSpPr>
          <p:nvPr/>
        </p:nvSpPr>
        <p:spPr bwMode="auto">
          <a:xfrm flipH="1" flipV="1">
            <a:off x="3360739" y="2727822"/>
            <a:ext cx="1008063" cy="215900"/>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7" name="Line 22">
            <a:extLst>
              <a:ext uri="{FF2B5EF4-FFF2-40B4-BE49-F238E27FC236}">
                <a16:creationId xmlns:a16="http://schemas.microsoft.com/office/drawing/2014/main" id="{E9829FB3-6098-F096-3B4E-66AB6A4A45DD}"/>
              </a:ext>
            </a:extLst>
          </p:cNvPr>
          <p:cNvSpPr>
            <a:spLocks noChangeShapeType="1"/>
          </p:cNvSpPr>
          <p:nvPr/>
        </p:nvSpPr>
        <p:spPr bwMode="auto">
          <a:xfrm flipH="1">
            <a:off x="3721102" y="2943722"/>
            <a:ext cx="647700" cy="1223962"/>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 name="Line 23">
            <a:extLst>
              <a:ext uri="{FF2B5EF4-FFF2-40B4-BE49-F238E27FC236}">
                <a16:creationId xmlns:a16="http://schemas.microsoft.com/office/drawing/2014/main" id="{6C0C0CD8-C1C5-32EF-4BB0-30A738554AA5}"/>
              </a:ext>
            </a:extLst>
          </p:cNvPr>
          <p:cNvSpPr>
            <a:spLocks noChangeShapeType="1"/>
          </p:cNvSpPr>
          <p:nvPr/>
        </p:nvSpPr>
        <p:spPr bwMode="auto">
          <a:xfrm>
            <a:off x="4368802" y="2943722"/>
            <a:ext cx="719137" cy="1657350"/>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 name="Line 24">
            <a:extLst>
              <a:ext uri="{FF2B5EF4-FFF2-40B4-BE49-F238E27FC236}">
                <a16:creationId xmlns:a16="http://schemas.microsoft.com/office/drawing/2014/main" id="{4B2C015F-AD3B-BB90-989D-7EB3C26C3903}"/>
              </a:ext>
            </a:extLst>
          </p:cNvPr>
          <p:cNvSpPr>
            <a:spLocks noChangeShapeType="1"/>
          </p:cNvSpPr>
          <p:nvPr/>
        </p:nvSpPr>
        <p:spPr bwMode="auto">
          <a:xfrm flipH="1">
            <a:off x="1847852" y="2943722"/>
            <a:ext cx="2520950" cy="1223962"/>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 name="Line 25">
            <a:extLst>
              <a:ext uri="{FF2B5EF4-FFF2-40B4-BE49-F238E27FC236}">
                <a16:creationId xmlns:a16="http://schemas.microsoft.com/office/drawing/2014/main" id="{C79848A5-6303-9979-F7C9-D727840D576D}"/>
              </a:ext>
            </a:extLst>
          </p:cNvPr>
          <p:cNvSpPr>
            <a:spLocks noChangeShapeType="1"/>
          </p:cNvSpPr>
          <p:nvPr/>
        </p:nvSpPr>
        <p:spPr bwMode="auto">
          <a:xfrm flipH="1">
            <a:off x="3432177" y="3016747"/>
            <a:ext cx="936625" cy="244792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 name="Arc 27">
            <a:extLst>
              <a:ext uri="{FF2B5EF4-FFF2-40B4-BE49-F238E27FC236}">
                <a16:creationId xmlns:a16="http://schemas.microsoft.com/office/drawing/2014/main" id="{86611C4C-30B6-8741-E31D-000A0A7959D7}"/>
              </a:ext>
            </a:extLst>
          </p:cNvPr>
          <p:cNvSpPr>
            <a:spLocks/>
          </p:cNvSpPr>
          <p:nvPr/>
        </p:nvSpPr>
        <p:spPr bwMode="auto">
          <a:xfrm flipH="1">
            <a:off x="3692527" y="2829422"/>
            <a:ext cx="142875" cy="373062"/>
          </a:xfrm>
          <a:custGeom>
            <a:avLst/>
            <a:gdLst>
              <a:gd name="G0" fmla="+- 0 0 0"/>
              <a:gd name="G1" fmla="+- 21600 0 0"/>
              <a:gd name="G2" fmla="+- 21600 0 0"/>
              <a:gd name="T0" fmla="*/ 0 w 21600"/>
              <a:gd name="T1" fmla="*/ 0 h 37318"/>
              <a:gd name="T2" fmla="*/ 14816 w 21600"/>
              <a:gd name="T3" fmla="*/ 37318 h 37318"/>
              <a:gd name="T4" fmla="*/ 0 w 21600"/>
              <a:gd name="T5" fmla="*/ 21600 h 37318"/>
            </a:gdLst>
            <a:ahLst/>
            <a:cxnLst>
              <a:cxn ang="0">
                <a:pos x="T0" y="T1"/>
              </a:cxn>
              <a:cxn ang="0">
                <a:pos x="T2" y="T3"/>
              </a:cxn>
              <a:cxn ang="0">
                <a:pos x="T4" y="T5"/>
              </a:cxn>
            </a:cxnLst>
            <a:rect l="0" t="0" r="r" b="b"/>
            <a:pathLst>
              <a:path w="21600" h="37318" fill="none" extrusionOk="0">
                <a:moveTo>
                  <a:pt x="-1" y="0"/>
                </a:moveTo>
                <a:cubicBezTo>
                  <a:pt x="11929" y="0"/>
                  <a:pt x="21600" y="9670"/>
                  <a:pt x="21600" y="21600"/>
                </a:cubicBezTo>
                <a:cubicBezTo>
                  <a:pt x="21600" y="27550"/>
                  <a:pt x="19145" y="33236"/>
                  <a:pt x="14815" y="37317"/>
                </a:cubicBezTo>
              </a:path>
              <a:path w="21600" h="37318" stroke="0" extrusionOk="0">
                <a:moveTo>
                  <a:pt x="-1" y="0"/>
                </a:moveTo>
                <a:cubicBezTo>
                  <a:pt x="11929" y="0"/>
                  <a:pt x="21600" y="9670"/>
                  <a:pt x="21600" y="21600"/>
                </a:cubicBezTo>
                <a:cubicBezTo>
                  <a:pt x="21600" y="27550"/>
                  <a:pt x="19145" y="33236"/>
                  <a:pt x="14815" y="37317"/>
                </a:cubicBezTo>
                <a:lnTo>
                  <a:pt x="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 name="Arc 28">
            <a:extLst>
              <a:ext uri="{FF2B5EF4-FFF2-40B4-BE49-F238E27FC236}">
                <a16:creationId xmlns:a16="http://schemas.microsoft.com/office/drawing/2014/main" id="{B1A3F466-8DB8-CEE0-68F6-F237B259C5A9}"/>
              </a:ext>
            </a:extLst>
          </p:cNvPr>
          <p:cNvSpPr>
            <a:spLocks/>
          </p:cNvSpPr>
          <p:nvPr/>
        </p:nvSpPr>
        <p:spPr bwMode="auto">
          <a:xfrm rot="18600000" flipH="1">
            <a:off x="3859214" y="3181847"/>
            <a:ext cx="244475" cy="520700"/>
          </a:xfrm>
          <a:custGeom>
            <a:avLst/>
            <a:gdLst>
              <a:gd name="G0" fmla="+- 0 0 0"/>
              <a:gd name="G1" fmla="+- 21600 0 0"/>
              <a:gd name="G2" fmla="+- 21600 0 0"/>
              <a:gd name="T0" fmla="*/ 0 w 21600"/>
              <a:gd name="T1" fmla="*/ 0 h 36622"/>
              <a:gd name="T2" fmla="*/ 15521 w 21600"/>
              <a:gd name="T3" fmla="*/ 36622 h 36622"/>
              <a:gd name="T4" fmla="*/ 0 w 21600"/>
              <a:gd name="T5" fmla="*/ 21600 h 36622"/>
            </a:gdLst>
            <a:ahLst/>
            <a:cxnLst>
              <a:cxn ang="0">
                <a:pos x="T0" y="T1"/>
              </a:cxn>
              <a:cxn ang="0">
                <a:pos x="T2" y="T3"/>
              </a:cxn>
              <a:cxn ang="0">
                <a:pos x="T4" y="T5"/>
              </a:cxn>
            </a:cxnLst>
            <a:rect l="0" t="0" r="r" b="b"/>
            <a:pathLst>
              <a:path w="21600" h="36622" fill="none" extrusionOk="0">
                <a:moveTo>
                  <a:pt x="-1" y="0"/>
                </a:moveTo>
                <a:cubicBezTo>
                  <a:pt x="11929" y="0"/>
                  <a:pt x="21600" y="9670"/>
                  <a:pt x="21600" y="21600"/>
                </a:cubicBezTo>
                <a:cubicBezTo>
                  <a:pt x="21600" y="27206"/>
                  <a:pt x="19420" y="32593"/>
                  <a:pt x="15520" y="36621"/>
                </a:cubicBezTo>
              </a:path>
              <a:path w="21600" h="36622" stroke="0" extrusionOk="0">
                <a:moveTo>
                  <a:pt x="-1" y="0"/>
                </a:moveTo>
                <a:cubicBezTo>
                  <a:pt x="11929" y="0"/>
                  <a:pt x="21600" y="9670"/>
                  <a:pt x="21600" y="21600"/>
                </a:cubicBezTo>
                <a:cubicBezTo>
                  <a:pt x="21600" y="27206"/>
                  <a:pt x="19420" y="32593"/>
                  <a:pt x="15520" y="36621"/>
                </a:cubicBezTo>
                <a:lnTo>
                  <a:pt x="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 name="Arc 30">
            <a:extLst>
              <a:ext uri="{FF2B5EF4-FFF2-40B4-BE49-F238E27FC236}">
                <a16:creationId xmlns:a16="http://schemas.microsoft.com/office/drawing/2014/main" id="{F81B75CE-10D4-16E0-816F-7E55F44A5790}"/>
              </a:ext>
            </a:extLst>
          </p:cNvPr>
          <p:cNvSpPr>
            <a:spLocks/>
          </p:cNvSpPr>
          <p:nvPr/>
        </p:nvSpPr>
        <p:spPr bwMode="auto">
          <a:xfrm rot="15000000" flipH="1">
            <a:off x="4325939" y="3478709"/>
            <a:ext cx="215900" cy="444500"/>
          </a:xfrm>
          <a:custGeom>
            <a:avLst/>
            <a:gdLst>
              <a:gd name="G0" fmla="+- 0 0 0"/>
              <a:gd name="G1" fmla="+- 21600 0 0"/>
              <a:gd name="G2" fmla="+- 21600 0 0"/>
              <a:gd name="T0" fmla="*/ 0 w 21600"/>
              <a:gd name="T1" fmla="*/ 0 h 37318"/>
              <a:gd name="T2" fmla="*/ 14816 w 21600"/>
              <a:gd name="T3" fmla="*/ 37318 h 37318"/>
              <a:gd name="T4" fmla="*/ 0 w 21600"/>
              <a:gd name="T5" fmla="*/ 21600 h 37318"/>
            </a:gdLst>
            <a:ahLst/>
            <a:cxnLst>
              <a:cxn ang="0">
                <a:pos x="T0" y="T1"/>
              </a:cxn>
              <a:cxn ang="0">
                <a:pos x="T2" y="T3"/>
              </a:cxn>
              <a:cxn ang="0">
                <a:pos x="T4" y="T5"/>
              </a:cxn>
            </a:cxnLst>
            <a:rect l="0" t="0" r="r" b="b"/>
            <a:pathLst>
              <a:path w="21600" h="37318" fill="none" extrusionOk="0">
                <a:moveTo>
                  <a:pt x="-1" y="0"/>
                </a:moveTo>
                <a:cubicBezTo>
                  <a:pt x="11929" y="0"/>
                  <a:pt x="21600" y="9670"/>
                  <a:pt x="21600" y="21600"/>
                </a:cubicBezTo>
                <a:cubicBezTo>
                  <a:pt x="21600" y="27550"/>
                  <a:pt x="19145" y="33236"/>
                  <a:pt x="14815" y="37317"/>
                </a:cubicBezTo>
              </a:path>
              <a:path w="21600" h="37318" stroke="0" extrusionOk="0">
                <a:moveTo>
                  <a:pt x="-1" y="0"/>
                </a:moveTo>
                <a:cubicBezTo>
                  <a:pt x="11929" y="0"/>
                  <a:pt x="21600" y="9670"/>
                  <a:pt x="21600" y="21600"/>
                </a:cubicBezTo>
                <a:cubicBezTo>
                  <a:pt x="21600" y="27550"/>
                  <a:pt x="19145" y="33236"/>
                  <a:pt x="14815" y="37317"/>
                </a:cubicBezTo>
                <a:lnTo>
                  <a:pt x="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 name="Arc 33">
            <a:extLst>
              <a:ext uri="{FF2B5EF4-FFF2-40B4-BE49-F238E27FC236}">
                <a16:creationId xmlns:a16="http://schemas.microsoft.com/office/drawing/2014/main" id="{ADE522B4-9566-B7E0-285F-DEB58E580FF9}"/>
              </a:ext>
            </a:extLst>
          </p:cNvPr>
          <p:cNvSpPr>
            <a:spLocks/>
          </p:cNvSpPr>
          <p:nvPr/>
        </p:nvSpPr>
        <p:spPr bwMode="auto">
          <a:xfrm rot="15000000" flipH="1">
            <a:off x="4246565" y="3138984"/>
            <a:ext cx="144462" cy="331787"/>
          </a:xfrm>
          <a:custGeom>
            <a:avLst/>
            <a:gdLst>
              <a:gd name="G0" fmla="+- 0 0 0"/>
              <a:gd name="G1" fmla="+- 21600 0 0"/>
              <a:gd name="G2" fmla="+- 21600 0 0"/>
              <a:gd name="T0" fmla="*/ 0 w 21600"/>
              <a:gd name="T1" fmla="*/ 0 h 37318"/>
              <a:gd name="T2" fmla="*/ 14816 w 21600"/>
              <a:gd name="T3" fmla="*/ 37318 h 37318"/>
              <a:gd name="T4" fmla="*/ 0 w 21600"/>
              <a:gd name="T5" fmla="*/ 21600 h 37318"/>
            </a:gdLst>
            <a:ahLst/>
            <a:cxnLst>
              <a:cxn ang="0">
                <a:pos x="T0" y="T1"/>
              </a:cxn>
              <a:cxn ang="0">
                <a:pos x="T2" y="T3"/>
              </a:cxn>
              <a:cxn ang="0">
                <a:pos x="T4" y="T5"/>
              </a:cxn>
            </a:cxnLst>
            <a:rect l="0" t="0" r="r" b="b"/>
            <a:pathLst>
              <a:path w="21600" h="37318" fill="none" extrusionOk="0">
                <a:moveTo>
                  <a:pt x="-1" y="0"/>
                </a:moveTo>
                <a:cubicBezTo>
                  <a:pt x="11929" y="0"/>
                  <a:pt x="21600" y="9670"/>
                  <a:pt x="21600" y="21600"/>
                </a:cubicBezTo>
                <a:cubicBezTo>
                  <a:pt x="21600" y="27550"/>
                  <a:pt x="19145" y="33236"/>
                  <a:pt x="14815" y="37317"/>
                </a:cubicBezTo>
              </a:path>
              <a:path w="21600" h="37318" stroke="0" extrusionOk="0">
                <a:moveTo>
                  <a:pt x="-1" y="0"/>
                </a:moveTo>
                <a:cubicBezTo>
                  <a:pt x="11929" y="0"/>
                  <a:pt x="21600" y="9670"/>
                  <a:pt x="21600" y="21600"/>
                </a:cubicBezTo>
                <a:cubicBezTo>
                  <a:pt x="21600" y="27550"/>
                  <a:pt x="19145" y="33236"/>
                  <a:pt x="14815" y="37317"/>
                </a:cubicBezTo>
                <a:lnTo>
                  <a:pt x="0" y="21600"/>
                </a:lnTo>
                <a:close/>
              </a:path>
            </a:pathLst>
          </a:custGeom>
          <a:noFill/>
          <a:ln w="38100" cap="sq">
            <a:solidFill>
              <a:srgbClr val="0070C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5" name="Arc 34">
            <a:extLst>
              <a:ext uri="{FF2B5EF4-FFF2-40B4-BE49-F238E27FC236}">
                <a16:creationId xmlns:a16="http://schemas.microsoft.com/office/drawing/2014/main" id="{32E54571-2C79-3C43-B280-FA87B708CAB2}"/>
              </a:ext>
            </a:extLst>
          </p:cNvPr>
          <p:cNvSpPr>
            <a:spLocks/>
          </p:cNvSpPr>
          <p:nvPr/>
        </p:nvSpPr>
        <p:spPr bwMode="auto">
          <a:xfrm rot="18600000" flipH="1">
            <a:off x="3971133" y="2858790"/>
            <a:ext cx="171450" cy="376238"/>
          </a:xfrm>
          <a:custGeom>
            <a:avLst/>
            <a:gdLst>
              <a:gd name="G0" fmla="+- 0 0 0"/>
              <a:gd name="G1" fmla="+- 21600 0 0"/>
              <a:gd name="G2" fmla="+- 21600 0 0"/>
              <a:gd name="T0" fmla="*/ 0 w 21600"/>
              <a:gd name="T1" fmla="*/ 0 h 36622"/>
              <a:gd name="T2" fmla="*/ 15521 w 21600"/>
              <a:gd name="T3" fmla="*/ 36622 h 36622"/>
              <a:gd name="T4" fmla="*/ 0 w 21600"/>
              <a:gd name="T5" fmla="*/ 21600 h 36622"/>
            </a:gdLst>
            <a:ahLst/>
            <a:cxnLst>
              <a:cxn ang="0">
                <a:pos x="T0" y="T1"/>
              </a:cxn>
              <a:cxn ang="0">
                <a:pos x="T2" y="T3"/>
              </a:cxn>
              <a:cxn ang="0">
                <a:pos x="T4" y="T5"/>
              </a:cxn>
            </a:cxnLst>
            <a:rect l="0" t="0" r="r" b="b"/>
            <a:pathLst>
              <a:path w="21600" h="36622" fill="none" extrusionOk="0">
                <a:moveTo>
                  <a:pt x="-1" y="0"/>
                </a:moveTo>
                <a:cubicBezTo>
                  <a:pt x="11929" y="0"/>
                  <a:pt x="21600" y="9670"/>
                  <a:pt x="21600" y="21600"/>
                </a:cubicBezTo>
                <a:cubicBezTo>
                  <a:pt x="21600" y="27206"/>
                  <a:pt x="19420" y="32593"/>
                  <a:pt x="15520" y="36621"/>
                </a:cubicBezTo>
              </a:path>
              <a:path w="21600" h="36622" stroke="0" extrusionOk="0">
                <a:moveTo>
                  <a:pt x="-1" y="0"/>
                </a:moveTo>
                <a:cubicBezTo>
                  <a:pt x="11929" y="0"/>
                  <a:pt x="21600" y="9670"/>
                  <a:pt x="21600" y="21600"/>
                </a:cubicBezTo>
                <a:cubicBezTo>
                  <a:pt x="21600" y="27206"/>
                  <a:pt x="19420" y="32593"/>
                  <a:pt x="15520" y="36621"/>
                </a:cubicBezTo>
                <a:lnTo>
                  <a:pt x="0" y="21600"/>
                </a:lnTo>
                <a:close/>
              </a:path>
            </a:pathLst>
          </a:custGeom>
          <a:noFill/>
          <a:ln w="38100" cap="sq">
            <a:solidFill>
              <a:srgbClr val="0070C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6" name="Text Box 35">
            <a:extLst>
              <a:ext uri="{FF2B5EF4-FFF2-40B4-BE49-F238E27FC236}">
                <a16:creationId xmlns:a16="http://schemas.microsoft.com/office/drawing/2014/main" id="{83ACEB8C-556C-6AA3-A585-2FB903F859AD}"/>
              </a:ext>
            </a:extLst>
          </p:cNvPr>
          <p:cNvSpPr txBox="1">
            <a:spLocks noChangeArrowheads="1"/>
          </p:cNvSpPr>
          <p:nvPr/>
        </p:nvSpPr>
        <p:spPr bwMode="auto">
          <a:xfrm>
            <a:off x="3092462" y="2172822"/>
            <a:ext cx="649288" cy="646331"/>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dirty="0"/>
              <a:t>A</a:t>
            </a:r>
          </a:p>
        </p:txBody>
      </p:sp>
      <p:sp>
        <p:nvSpPr>
          <p:cNvPr id="27" name="Text Box 36">
            <a:extLst>
              <a:ext uri="{FF2B5EF4-FFF2-40B4-BE49-F238E27FC236}">
                <a16:creationId xmlns:a16="http://schemas.microsoft.com/office/drawing/2014/main" id="{015AFB9F-FDC4-443A-83D8-0186E4569A89}"/>
              </a:ext>
            </a:extLst>
          </p:cNvPr>
          <p:cNvSpPr txBox="1">
            <a:spLocks noChangeArrowheads="1"/>
          </p:cNvSpPr>
          <p:nvPr/>
        </p:nvSpPr>
        <p:spPr bwMode="auto">
          <a:xfrm>
            <a:off x="1560514" y="3975597"/>
            <a:ext cx="649288" cy="646331"/>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t>B</a:t>
            </a:r>
          </a:p>
        </p:txBody>
      </p:sp>
      <p:sp>
        <p:nvSpPr>
          <p:cNvPr id="28" name="Text Box 37">
            <a:extLst>
              <a:ext uri="{FF2B5EF4-FFF2-40B4-BE49-F238E27FC236}">
                <a16:creationId xmlns:a16="http://schemas.microsoft.com/office/drawing/2014/main" id="{2FA6F2C8-210B-F673-0B08-C2BB97F53BFB}"/>
              </a:ext>
            </a:extLst>
          </p:cNvPr>
          <p:cNvSpPr txBox="1">
            <a:spLocks noChangeArrowheads="1"/>
          </p:cNvSpPr>
          <p:nvPr/>
        </p:nvSpPr>
        <p:spPr bwMode="auto">
          <a:xfrm>
            <a:off x="3216277" y="5415459"/>
            <a:ext cx="649287" cy="646331"/>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t>C</a:t>
            </a:r>
          </a:p>
        </p:txBody>
      </p:sp>
      <p:sp>
        <p:nvSpPr>
          <p:cNvPr id="29" name="Text Box 39">
            <a:extLst>
              <a:ext uri="{FF2B5EF4-FFF2-40B4-BE49-F238E27FC236}">
                <a16:creationId xmlns:a16="http://schemas.microsoft.com/office/drawing/2014/main" id="{7D1EC084-8A6E-3A44-3BC9-2205976997C9}"/>
              </a:ext>
            </a:extLst>
          </p:cNvPr>
          <p:cNvSpPr txBox="1">
            <a:spLocks noChangeArrowheads="1"/>
          </p:cNvSpPr>
          <p:nvPr/>
        </p:nvSpPr>
        <p:spPr bwMode="auto">
          <a:xfrm>
            <a:off x="3287714" y="4048622"/>
            <a:ext cx="649288" cy="646331"/>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t>E</a:t>
            </a:r>
          </a:p>
        </p:txBody>
      </p:sp>
      <p:sp>
        <p:nvSpPr>
          <p:cNvPr id="30" name="Text Box 63">
            <a:extLst>
              <a:ext uri="{FF2B5EF4-FFF2-40B4-BE49-F238E27FC236}">
                <a16:creationId xmlns:a16="http://schemas.microsoft.com/office/drawing/2014/main" id="{298EAB04-6D6A-CB06-6DEC-F66599DF8B77}"/>
              </a:ext>
            </a:extLst>
          </p:cNvPr>
          <p:cNvSpPr txBox="1">
            <a:spLocks noChangeArrowheads="1"/>
          </p:cNvSpPr>
          <p:nvPr/>
        </p:nvSpPr>
        <p:spPr bwMode="auto">
          <a:xfrm>
            <a:off x="4469021" y="2512606"/>
            <a:ext cx="649288" cy="646331"/>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t>P</a:t>
            </a:r>
          </a:p>
        </p:txBody>
      </p:sp>
      <p:sp>
        <p:nvSpPr>
          <p:cNvPr id="31" name="Line 42">
            <a:extLst>
              <a:ext uri="{FF2B5EF4-FFF2-40B4-BE49-F238E27FC236}">
                <a16:creationId xmlns:a16="http://schemas.microsoft.com/office/drawing/2014/main" id="{5CA91AC3-764F-14AA-141A-B2C43F97B8D8}"/>
              </a:ext>
            </a:extLst>
          </p:cNvPr>
          <p:cNvSpPr>
            <a:spLocks noChangeShapeType="1"/>
          </p:cNvSpPr>
          <p:nvPr/>
        </p:nvSpPr>
        <p:spPr bwMode="auto">
          <a:xfrm flipH="1">
            <a:off x="6919747" y="2625812"/>
            <a:ext cx="1512888" cy="1439862"/>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2" name="Line 43">
            <a:extLst>
              <a:ext uri="{FF2B5EF4-FFF2-40B4-BE49-F238E27FC236}">
                <a16:creationId xmlns:a16="http://schemas.microsoft.com/office/drawing/2014/main" id="{5344AF5A-11C1-0548-9755-2F94724E4629}"/>
              </a:ext>
            </a:extLst>
          </p:cNvPr>
          <p:cNvSpPr>
            <a:spLocks noChangeShapeType="1"/>
          </p:cNvSpPr>
          <p:nvPr/>
        </p:nvSpPr>
        <p:spPr bwMode="auto">
          <a:xfrm>
            <a:off x="6919747" y="4065674"/>
            <a:ext cx="1584325" cy="1296988"/>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3" name="Line 44">
            <a:extLst>
              <a:ext uri="{FF2B5EF4-FFF2-40B4-BE49-F238E27FC236}">
                <a16:creationId xmlns:a16="http://schemas.microsoft.com/office/drawing/2014/main" id="{4EB2373D-59F5-19BE-516A-6F21BE8181C2}"/>
              </a:ext>
            </a:extLst>
          </p:cNvPr>
          <p:cNvSpPr>
            <a:spLocks noChangeShapeType="1"/>
          </p:cNvSpPr>
          <p:nvPr/>
        </p:nvSpPr>
        <p:spPr bwMode="auto">
          <a:xfrm flipV="1">
            <a:off x="8504072" y="4499062"/>
            <a:ext cx="1655763" cy="863600"/>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4" name="Line 45">
            <a:extLst>
              <a:ext uri="{FF2B5EF4-FFF2-40B4-BE49-F238E27FC236}">
                <a16:creationId xmlns:a16="http://schemas.microsoft.com/office/drawing/2014/main" id="{059573AB-1A8B-E138-0F2B-6DA3EE41182E}"/>
              </a:ext>
            </a:extLst>
          </p:cNvPr>
          <p:cNvSpPr>
            <a:spLocks noChangeShapeType="1"/>
          </p:cNvSpPr>
          <p:nvPr/>
        </p:nvSpPr>
        <p:spPr bwMode="auto">
          <a:xfrm flipH="1" flipV="1">
            <a:off x="8791410" y="4065674"/>
            <a:ext cx="1368425" cy="433388"/>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 name="Line 46">
            <a:extLst>
              <a:ext uri="{FF2B5EF4-FFF2-40B4-BE49-F238E27FC236}">
                <a16:creationId xmlns:a16="http://schemas.microsoft.com/office/drawing/2014/main" id="{F7338835-2417-88C6-383D-A5C56A9CE544}"/>
              </a:ext>
            </a:extLst>
          </p:cNvPr>
          <p:cNvSpPr>
            <a:spLocks noChangeShapeType="1"/>
          </p:cNvSpPr>
          <p:nvPr/>
        </p:nvSpPr>
        <p:spPr bwMode="auto">
          <a:xfrm flipH="1" flipV="1">
            <a:off x="8432635" y="2625812"/>
            <a:ext cx="358775" cy="1439862"/>
          </a:xfrm>
          <a:prstGeom prst="line">
            <a:avLst/>
          </a:prstGeom>
          <a:noFill/>
          <a:ln w="76200" cap="sq">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6" name="Oval 47">
            <a:extLst>
              <a:ext uri="{FF2B5EF4-FFF2-40B4-BE49-F238E27FC236}">
                <a16:creationId xmlns:a16="http://schemas.microsoft.com/office/drawing/2014/main" id="{1124D718-C875-4157-0ADB-D35FAACC4D5A}"/>
              </a:ext>
            </a:extLst>
          </p:cNvPr>
          <p:cNvSpPr>
            <a:spLocks noChangeArrowheads="1"/>
          </p:cNvSpPr>
          <p:nvPr/>
        </p:nvSpPr>
        <p:spPr bwMode="auto">
          <a:xfrm>
            <a:off x="8072272" y="4162512"/>
            <a:ext cx="144463" cy="144462"/>
          </a:xfrm>
          <a:prstGeom prst="ellipse">
            <a:avLst/>
          </a:prstGeom>
          <a:solidFill>
            <a:srgbClr val="FFFFFF"/>
          </a:solidFill>
          <a:ln w="952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 name="Line 48">
            <a:extLst>
              <a:ext uri="{FF2B5EF4-FFF2-40B4-BE49-F238E27FC236}">
                <a16:creationId xmlns:a16="http://schemas.microsoft.com/office/drawing/2014/main" id="{52CB6E16-5835-8A4F-6169-1040262780D9}"/>
              </a:ext>
            </a:extLst>
          </p:cNvPr>
          <p:cNvSpPr>
            <a:spLocks noChangeShapeType="1"/>
          </p:cNvSpPr>
          <p:nvPr/>
        </p:nvSpPr>
        <p:spPr bwMode="auto">
          <a:xfrm flipV="1">
            <a:off x="8143710" y="2625812"/>
            <a:ext cx="288925" cy="1608137"/>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 name="Line 49">
            <a:extLst>
              <a:ext uri="{FF2B5EF4-FFF2-40B4-BE49-F238E27FC236}">
                <a16:creationId xmlns:a16="http://schemas.microsoft.com/office/drawing/2014/main" id="{792B7F5C-8B79-B706-1094-A3AA1C6B7034}"/>
              </a:ext>
            </a:extLst>
          </p:cNvPr>
          <p:cNvSpPr>
            <a:spLocks noChangeShapeType="1"/>
          </p:cNvSpPr>
          <p:nvPr/>
        </p:nvSpPr>
        <p:spPr bwMode="auto">
          <a:xfrm flipV="1">
            <a:off x="8143710" y="4065674"/>
            <a:ext cx="649287" cy="168275"/>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 name="Line 50">
            <a:extLst>
              <a:ext uri="{FF2B5EF4-FFF2-40B4-BE49-F238E27FC236}">
                <a16:creationId xmlns:a16="http://schemas.microsoft.com/office/drawing/2014/main" id="{B2543DE9-466F-D88C-C239-C1F9336D34EB}"/>
              </a:ext>
            </a:extLst>
          </p:cNvPr>
          <p:cNvSpPr>
            <a:spLocks noChangeShapeType="1"/>
          </p:cNvSpPr>
          <p:nvPr/>
        </p:nvSpPr>
        <p:spPr bwMode="auto">
          <a:xfrm>
            <a:off x="8143710" y="4233949"/>
            <a:ext cx="2016125" cy="265113"/>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0" name="Line 51">
            <a:extLst>
              <a:ext uri="{FF2B5EF4-FFF2-40B4-BE49-F238E27FC236}">
                <a16:creationId xmlns:a16="http://schemas.microsoft.com/office/drawing/2014/main" id="{D6E0127D-051E-C018-ED73-1306FD12F801}"/>
              </a:ext>
            </a:extLst>
          </p:cNvPr>
          <p:cNvSpPr>
            <a:spLocks noChangeShapeType="1"/>
          </p:cNvSpPr>
          <p:nvPr/>
        </p:nvSpPr>
        <p:spPr bwMode="auto">
          <a:xfrm flipH="1" flipV="1">
            <a:off x="6919747" y="4065674"/>
            <a:ext cx="1223963" cy="168275"/>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1" name="Line 52">
            <a:extLst>
              <a:ext uri="{FF2B5EF4-FFF2-40B4-BE49-F238E27FC236}">
                <a16:creationId xmlns:a16="http://schemas.microsoft.com/office/drawing/2014/main" id="{23FD69D7-1A3F-0046-D983-9ADC6322E234}"/>
              </a:ext>
            </a:extLst>
          </p:cNvPr>
          <p:cNvSpPr>
            <a:spLocks noChangeShapeType="1"/>
          </p:cNvSpPr>
          <p:nvPr/>
        </p:nvSpPr>
        <p:spPr bwMode="auto">
          <a:xfrm>
            <a:off x="8143710" y="4233949"/>
            <a:ext cx="360362" cy="11287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2" name="Arc 53">
            <a:extLst>
              <a:ext uri="{FF2B5EF4-FFF2-40B4-BE49-F238E27FC236}">
                <a16:creationId xmlns:a16="http://schemas.microsoft.com/office/drawing/2014/main" id="{C8AD7B0A-E3E9-65DA-12D7-4E5DBD0ADB1E}"/>
              </a:ext>
            </a:extLst>
          </p:cNvPr>
          <p:cNvSpPr>
            <a:spLocks/>
          </p:cNvSpPr>
          <p:nvPr/>
        </p:nvSpPr>
        <p:spPr bwMode="auto">
          <a:xfrm rot="90099" flipH="1">
            <a:off x="7926222" y="3802149"/>
            <a:ext cx="293688" cy="360363"/>
          </a:xfrm>
          <a:custGeom>
            <a:avLst/>
            <a:gdLst>
              <a:gd name="G0" fmla="+- 5840 0 0"/>
              <a:gd name="G1" fmla="+- 21600 0 0"/>
              <a:gd name="G2" fmla="+- 21600 0 0"/>
              <a:gd name="T0" fmla="*/ 0 w 27440"/>
              <a:gd name="T1" fmla="*/ 804 h 37318"/>
              <a:gd name="T2" fmla="*/ 20656 w 27440"/>
              <a:gd name="T3" fmla="*/ 37318 h 37318"/>
              <a:gd name="T4" fmla="*/ 5840 w 27440"/>
              <a:gd name="T5" fmla="*/ 21600 h 37318"/>
            </a:gdLst>
            <a:ahLst/>
            <a:cxnLst>
              <a:cxn ang="0">
                <a:pos x="T0" y="T1"/>
              </a:cxn>
              <a:cxn ang="0">
                <a:pos x="T2" y="T3"/>
              </a:cxn>
              <a:cxn ang="0">
                <a:pos x="T4" y="T5"/>
              </a:cxn>
            </a:cxnLst>
            <a:rect l="0" t="0" r="r" b="b"/>
            <a:pathLst>
              <a:path w="27440" h="37318" fill="none" extrusionOk="0">
                <a:moveTo>
                  <a:pt x="0" y="804"/>
                </a:moveTo>
                <a:cubicBezTo>
                  <a:pt x="1900" y="270"/>
                  <a:pt x="3865" y="0"/>
                  <a:pt x="5840" y="0"/>
                </a:cubicBezTo>
                <a:cubicBezTo>
                  <a:pt x="17769" y="0"/>
                  <a:pt x="27440" y="9670"/>
                  <a:pt x="27440" y="21600"/>
                </a:cubicBezTo>
                <a:cubicBezTo>
                  <a:pt x="27440" y="27550"/>
                  <a:pt x="24985" y="33236"/>
                  <a:pt x="20655" y="37317"/>
                </a:cubicBezTo>
              </a:path>
              <a:path w="27440" h="37318" stroke="0" extrusionOk="0">
                <a:moveTo>
                  <a:pt x="0" y="804"/>
                </a:moveTo>
                <a:cubicBezTo>
                  <a:pt x="1900" y="270"/>
                  <a:pt x="3865" y="0"/>
                  <a:pt x="5840" y="0"/>
                </a:cubicBezTo>
                <a:cubicBezTo>
                  <a:pt x="17769" y="0"/>
                  <a:pt x="27440" y="9670"/>
                  <a:pt x="27440" y="21600"/>
                </a:cubicBezTo>
                <a:cubicBezTo>
                  <a:pt x="27440" y="27550"/>
                  <a:pt x="24985" y="33236"/>
                  <a:pt x="20655" y="37317"/>
                </a:cubicBezTo>
                <a:lnTo>
                  <a:pt x="584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 name="Arc 54">
            <a:extLst>
              <a:ext uri="{FF2B5EF4-FFF2-40B4-BE49-F238E27FC236}">
                <a16:creationId xmlns:a16="http://schemas.microsoft.com/office/drawing/2014/main" id="{8F0B4C8B-30C7-9EAF-664E-8E0B9FEFAF12}"/>
              </a:ext>
            </a:extLst>
          </p:cNvPr>
          <p:cNvSpPr>
            <a:spLocks/>
          </p:cNvSpPr>
          <p:nvPr/>
        </p:nvSpPr>
        <p:spPr bwMode="auto">
          <a:xfrm rot="18600000" flipH="1">
            <a:off x="8001628" y="4201406"/>
            <a:ext cx="144463" cy="520700"/>
          </a:xfrm>
          <a:custGeom>
            <a:avLst/>
            <a:gdLst>
              <a:gd name="G0" fmla="+- 0 0 0"/>
              <a:gd name="G1" fmla="+- 21600 0 0"/>
              <a:gd name="G2" fmla="+- 21600 0 0"/>
              <a:gd name="T0" fmla="*/ 0 w 21600"/>
              <a:gd name="T1" fmla="*/ 0 h 36622"/>
              <a:gd name="T2" fmla="*/ 15521 w 21600"/>
              <a:gd name="T3" fmla="*/ 36622 h 36622"/>
              <a:gd name="T4" fmla="*/ 0 w 21600"/>
              <a:gd name="T5" fmla="*/ 21600 h 36622"/>
            </a:gdLst>
            <a:ahLst/>
            <a:cxnLst>
              <a:cxn ang="0">
                <a:pos x="T0" y="T1"/>
              </a:cxn>
              <a:cxn ang="0">
                <a:pos x="T2" y="T3"/>
              </a:cxn>
              <a:cxn ang="0">
                <a:pos x="T4" y="T5"/>
              </a:cxn>
            </a:cxnLst>
            <a:rect l="0" t="0" r="r" b="b"/>
            <a:pathLst>
              <a:path w="21600" h="36622" fill="none" extrusionOk="0">
                <a:moveTo>
                  <a:pt x="-1" y="0"/>
                </a:moveTo>
                <a:cubicBezTo>
                  <a:pt x="11929" y="0"/>
                  <a:pt x="21600" y="9670"/>
                  <a:pt x="21600" y="21600"/>
                </a:cubicBezTo>
                <a:cubicBezTo>
                  <a:pt x="21600" y="27206"/>
                  <a:pt x="19420" y="32593"/>
                  <a:pt x="15520" y="36621"/>
                </a:cubicBezTo>
              </a:path>
              <a:path w="21600" h="36622" stroke="0" extrusionOk="0">
                <a:moveTo>
                  <a:pt x="-1" y="0"/>
                </a:moveTo>
                <a:cubicBezTo>
                  <a:pt x="11929" y="0"/>
                  <a:pt x="21600" y="9670"/>
                  <a:pt x="21600" y="21600"/>
                </a:cubicBezTo>
                <a:cubicBezTo>
                  <a:pt x="21600" y="27206"/>
                  <a:pt x="19420" y="32593"/>
                  <a:pt x="15520" y="36621"/>
                </a:cubicBezTo>
                <a:lnTo>
                  <a:pt x="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4" name="Arc 55">
            <a:extLst>
              <a:ext uri="{FF2B5EF4-FFF2-40B4-BE49-F238E27FC236}">
                <a16:creationId xmlns:a16="http://schemas.microsoft.com/office/drawing/2014/main" id="{FC26EA75-F5FD-3A95-B81D-2A070517ADD4}"/>
              </a:ext>
            </a:extLst>
          </p:cNvPr>
          <p:cNvSpPr>
            <a:spLocks/>
          </p:cNvSpPr>
          <p:nvPr/>
        </p:nvSpPr>
        <p:spPr bwMode="auto">
          <a:xfrm rot="11641748" flipH="1">
            <a:off x="8432635" y="4318087"/>
            <a:ext cx="215900" cy="304800"/>
          </a:xfrm>
          <a:custGeom>
            <a:avLst/>
            <a:gdLst>
              <a:gd name="G0" fmla="+- 0 0 0"/>
              <a:gd name="G1" fmla="+- 21600 0 0"/>
              <a:gd name="G2" fmla="+- 21600 0 0"/>
              <a:gd name="T0" fmla="*/ 0 w 21600"/>
              <a:gd name="T1" fmla="*/ 0 h 37318"/>
              <a:gd name="T2" fmla="*/ 14816 w 21600"/>
              <a:gd name="T3" fmla="*/ 37318 h 37318"/>
              <a:gd name="T4" fmla="*/ 0 w 21600"/>
              <a:gd name="T5" fmla="*/ 21600 h 37318"/>
            </a:gdLst>
            <a:ahLst/>
            <a:cxnLst>
              <a:cxn ang="0">
                <a:pos x="T0" y="T1"/>
              </a:cxn>
              <a:cxn ang="0">
                <a:pos x="T2" y="T3"/>
              </a:cxn>
              <a:cxn ang="0">
                <a:pos x="T4" y="T5"/>
              </a:cxn>
            </a:cxnLst>
            <a:rect l="0" t="0" r="r" b="b"/>
            <a:pathLst>
              <a:path w="21600" h="37318" fill="none" extrusionOk="0">
                <a:moveTo>
                  <a:pt x="-1" y="0"/>
                </a:moveTo>
                <a:cubicBezTo>
                  <a:pt x="11929" y="0"/>
                  <a:pt x="21600" y="9670"/>
                  <a:pt x="21600" y="21600"/>
                </a:cubicBezTo>
                <a:cubicBezTo>
                  <a:pt x="21600" y="27550"/>
                  <a:pt x="19145" y="33236"/>
                  <a:pt x="14815" y="37317"/>
                </a:cubicBezTo>
              </a:path>
              <a:path w="21600" h="37318" stroke="0" extrusionOk="0">
                <a:moveTo>
                  <a:pt x="-1" y="0"/>
                </a:moveTo>
                <a:cubicBezTo>
                  <a:pt x="11929" y="0"/>
                  <a:pt x="21600" y="9670"/>
                  <a:pt x="21600" y="21600"/>
                </a:cubicBezTo>
                <a:cubicBezTo>
                  <a:pt x="21600" y="27550"/>
                  <a:pt x="19145" y="33236"/>
                  <a:pt x="14815" y="37317"/>
                </a:cubicBezTo>
                <a:lnTo>
                  <a:pt x="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5" name="Arc 56">
            <a:extLst>
              <a:ext uri="{FF2B5EF4-FFF2-40B4-BE49-F238E27FC236}">
                <a16:creationId xmlns:a16="http://schemas.microsoft.com/office/drawing/2014/main" id="{C5784E82-DEFA-FDA4-0B62-CFAC28B7B33C}"/>
              </a:ext>
            </a:extLst>
          </p:cNvPr>
          <p:cNvSpPr>
            <a:spLocks/>
          </p:cNvSpPr>
          <p:nvPr/>
        </p:nvSpPr>
        <p:spPr bwMode="auto">
          <a:xfrm rot="8976558" flipH="1">
            <a:off x="8578685" y="4146637"/>
            <a:ext cx="209550" cy="207962"/>
          </a:xfrm>
          <a:custGeom>
            <a:avLst/>
            <a:gdLst>
              <a:gd name="G0" fmla="+- 0 0 0"/>
              <a:gd name="G1" fmla="+- 18010 0 0"/>
              <a:gd name="G2" fmla="+- 21600 0 0"/>
              <a:gd name="T0" fmla="*/ 11925 w 21600"/>
              <a:gd name="T1" fmla="*/ 0 h 33728"/>
              <a:gd name="T2" fmla="*/ 14816 w 21600"/>
              <a:gd name="T3" fmla="*/ 33728 h 33728"/>
              <a:gd name="T4" fmla="*/ 0 w 21600"/>
              <a:gd name="T5" fmla="*/ 18010 h 33728"/>
            </a:gdLst>
            <a:ahLst/>
            <a:cxnLst>
              <a:cxn ang="0">
                <a:pos x="T0" y="T1"/>
              </a:cxn>
              <a:cxn ang="0">
                <a:pos x="T2" y="T3"/>
              </a:cxn>
              <a:cxn ang="0">
                <a:pos x="T4" y="T5"/>
              </a:cxn>
            </a:cxnLst>
            <a:rect l="0" t="0" r="r" b="b"/>
            <a:pathLst>
              <a:path w="21600" h="33728" fill="none" extrusionOk="0">
                <a:moveTo>
                  <a:pt x="11924" y="0"/>
                </a:moveTo>
                <a:cubicBezTo>
                  <a:pt x="17966" y="4000"/>
                  <a:pt x="21600" y="10763"/>
                  <a:pt x="21600" y="18010"/>
                </a:cubicBezTo>
                <a:cubicBezTo>
                  <a:pt x="21600" y="23960"/>
                  <a:pt x="19145" y="29646"/>
                  <a:pt x="14815" y="33727"/>
                </a:cubicBezTo>
              </a:path>
              <a:path w="21600" h="33728" stroke="0" extrusionOk="0">
                <a:moveTo>
                  <a:pt x="11924" y="0"/>
                </a:moveTo>
                <a:cubicBezTo>
                  <a:pt x="17966" y="4000"/>
                  <a:pt x="21600" y="10763"/>
                  <a:pt x="21600" y="18010"/>
                </a:cubicBezTo>
                <a:cubicBezTo>
                  <a:pt x="21600" y="23960"/>
                  <a:pt x="19145" y="29646"/>
                  <a:pt x="14815" y="33727"/>
                </a:cubicBezTo>
                <a:lnTo>
                  <a:pt x="0" y="1801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6" name="Arc 57">
            <a:extLst>
              <a:ext uri="{FF2B5EF4-FFF2-40B4-BE49-F238E27FC236}">
                <a16:creationId xmlns:a16="http://schemas.microsoft.com/office/drawing/2014/main" id="{7CAD04D2-FF3A-E168-E979-F85470D7DCF6}"/>
              </a:ext>
            </a:extLst>
          </p:cNvPr>
          <p:cNvSpPr>
            <a:spLocks/>
          </p:cNvSpPr>
          <p:nvPr/>
        </p:nvSpPr>
        <p:spPr bwMode="auto">
          <a:xfrm rot="5853614" flipH="1">
            <a:off x="8232610" y="3768812"/>
            <a:ext cx="236537" cy="287337"/>
          </a:xfrm>
          <a:custGeom>
            <a:avLst/>
            <a:gdLst>
              <a:gd name="G0" fmla="+- 0 0 0"/>
              <a:gd name="G1" fmla="+- 21600 0 0"/>
              <a:gd name="G2" fmla="+- 21600 0 0"/>
              <a:gd name="T0" fmla="*/ 0 w 21600"/>
              <a:gd name="T1" fmla="*/ 0 h 36622"/>
              <a:gd name="T2" fmla="*/ 15521 w 21600"/>
              <a:gd name="T3" fmla="*/ 36622 h 36622"/>
              <a:gd name="T4" fmla="*/ 0 w 21600"/>
              <a:gd name="T5" fmla="*/ 21600 h 36622"/>
            </a:gdLst>
            <a:ahLst/>
            <a:cxnLst>
              <a:cxn ang="0">
                <a:pos x="T0" y="T1"/>
              </a:cxn>
              <a:cxn ang="0">
                <a:pos x="T2" y="T3"/>
              </a:cxn>
              <a:cxn ang="0">
                <a:pos x="T4" y="T5"/>
              </a:cxn>
            </a:cxnLst>
            <a:rect l="0" t="0" r="r" b="b"/>
            <a:pathLst>
              <a:path w="21600" h="36622" fill="none" extrusionOk="0">
                <a:moveTo>
                  <a:pt x="-1" y="0"/>
                </a:moveTo>
                <a:cubicBezTo>
                  <a:pt x="11929" y="0"/>
                  <a:pt x="21600" y="9670"/>
                  <a:pt x="21600" y="21600"/>
                </a:cubicBezTo>
                <a:cubicBezTo>
                  <a:pt x="21600" y="27206"/>
                  <a:pt x="19420" y="32593"/>
                  <a:pt x="15520" y="36621"/>
                </a:cubicBezTo>
              </a:path>
              <a:path w="21600" h="36622" stroke="0" extrusionOk="0">
                <a:moveTo>
                  <a:pt x="-1" y="0"/>
                </a:moveTo>
                <a:cubicBezTo>
                  <a:pt x="11929" y="0"/>
                  <a:pt x="21600" y="9670"/>
                  <a:pt x="21600" y="21600"/>
                </a:cubicBezTo>
                <a:cubicBezTo>
                  <a:pt x="21600" y="27206"/>
                  <a:pt x="19420" y="32593"/>
                  <a:pt x="15520" y="36621"/>
                </a:cubicBezTo>
                <a:lnTo>
                  <a:pt x="0" y="21600"/>
                </a:lnTo>
                <a:close/>
              </a:path>
            </a:pathLst>
          </a:custGeom>
          <a:noFill/>
          <a:ln w="38100" cap="sq">
            <a:solidFill>
              <a:srgbClr val="0070C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7" name="Text Box 58">
            <a:extLst>
              <a:ext uri="{FF2B5EF4-FFF2-40B4-BE49-F238E27FC236}">
                <a16:creationId xmlns:a16="http://schemas.microsoft.com/office/drawing/2014/main" id="{2B59C0BE-33FF-5FBA-CD41-E97D57A6C5B5}"/>
              </a:ext>
            </a:extLst>
          </p:cNvPr>
          <p:cNvSpPr txBox="1">
            <a:spLocks noChangeArrowheads="1"/>
          </p:cNvSpPr>
          <p:nvPr/>
        </p:nvSpPr>
        <p:spPr bwMode="auto">
          <a:xfrm>
            <a:off x="8158220" y="2068767"/>
            <a:ext cx="649287" cy="523220"/>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t>A</a:t>
            </a:r>
          </a:p>
        </p:txBody>
      </p:sp>
      <p:sp>
        <p:nvSpPr>
          <p:cNvPr id="48" name="Text Box 59">
            <a:extLst>
              <a:ext uri="{FF2B5EF4-FFF2-40B4-BE49-F238E27FC236}">
                <a16:creationId xmlns:a16="http://schemas.microsoft.com/office/drawing/2014/main" id="{4677F109-FDB7-3A4D-99DB-5782FDA9F818}"/>
              </a:ext>
            </a:extLst>
          </p:cNvPr>
          <p:cNvSpPr txBox="1">
            <a:spLocks noChangeArrowheads="1"/>
          </p:cNvSpPr>
          <p:nvPr/>
        </p:nvSpPr>
        <p:spPr bwMode="auto">
          <a:xfrm>
            <a:off x="6632410" y="3873587"/>
            <a:ext cx="649287" cy="523220"/>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B</a:t>
            </a:r>
          </a:p>
        </p:txBody>
      </p:sp>
      <p:sp>
        <p:nvSpPr>
          <p:cNvPr id="49" name="Text Box 60">
            <a:extLst>
              <a:ext uri="{FF2B5EF4-FFF2-40B4-BE49-F238E27FC236}">
                <a16:creationId xmlns:a16="http://schemas.microsoft.com/office/drawing/2014/main" id="{80B72D67-9205-7AD9-3F93-8F5FD7DF299F}"/>
              </a:ext>
            </a:extLst>
          </p:cNvPr>
          <p:cNvSpPr txBox="1">
            <a:spLocks noChangeArrowheads="1"/>
          </p:cNvSpPr>
          <p:nvPr/>
        </p:nvSpPr>
        <p:spPr bwMode="auto">
          <a:xfrm>
            <a:off x="8288172" y="5313449"/>
            <a:ext cx="649288" cy="523220"/>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C</a:t>
            </a:r>
          </a:p>
        </p:txBody>
      </p:sp>
      <p:sp>
        <p:nvSpPr>
          <p:cNvPr id="50" name="Text Box 61">
            <a:extLst>
              <a:ext uri="{FF2B5EF4-FFF2-40B4-BE49-F238E27FC236}">
                <a16:creationId xmlns:a16="http://schemas.microsoft.com/office/drawing/2014/main" id="{C0519BE3-1C17-2329-4A3E-CDF4C13AA56A}"/>
              </a:ext>
            </a:extLst>
          </p:cNvPr>
          <p:cNvSpPr txBox="1">
            <a:spLocks noChangeArrowheads="1"/>
          </p:cNvSpPr>
          <p:nvPr/>
        </p:nvSpPr>
        <p:spPr bwMode="auto">
          <a:xfrm>
            <a:off x="10086810" y="4354599"/>
            <a:ext cx="649287" cy="523220"/>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D</a:t>
            </a:r>
          </a:p>
        </p:txBody>
      </p:sp>
      <p:sp>
        <p:nvSpPr>
          <p:cNvPr id="51" name="Text Box 62">
            <a:extLst>
              <a:ext uri="{FF2B5EF4-FFF2-40B4-BE49-F238E27FC236}">
                <a16:creationId xmlns:a16="http://schemas.microsoft.com/office/drawing/2014/main" id="{666A4497-0949-5E60-FF32-CAE7E81A0CD0}"/>
              </a:ext>
            </a:extLst>
          </p:cNvPr>
          <p:cNvSpPr txBox="1">
            <a:spLocks noChangeArrowheads="1"/>
          </p:cNvSpPr>
          <p:nvPr/>
        </p:nvSpPr>
        <p:spPr bwMode="auto">
          <a:xfrm>
            <a:off x="8935872" y="3730712"/>
            <a:ext cx="649288" cy="523220"/>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E</a:t>
            </a:r>
          </a:p>
        </p:txBody>
      </p:sp>
      <p:sp>
        <p:nvSpPr>
          <p:cNvPr id="52" name="Text Box 65">
            <a:extLst>
              <a:ext uri="{FF2B5EF4-FFF2-40B4-BE49-F238E27FC236}">
                <a16:creationId xmlns:a16="http://schemas.microsoft.com/office/drawing/2014/main" id="{B3B37450-E931-56F4-AB3E-98008F0AC1C2}"/>
              </a:ext>
            </a:extLst>
          </p:cNvPr>
          <p:cNvSpPr txBox="1">
            <a:spLocks noChangeArrowheads="1"/>
          </p:cNvSpPr>
          <p:nvPr/>
        </p:nvSpPr>
        <p:spPr bwMode="auto">
          <a:xfrm>
            <a:off x="7701591" y="3613565"/>
            <a:ext cx="649287" cy="523220"/>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P</a:t>
            </a:r>
          </a:p>
        </p:txBody>
      </p:sp>
      <p:sp>
        <p:nvSpPr>
          <p:cNvPr id="53" name="Rectangle 3">
            <a:extLst>
              <a:ext uri="{FF2B5EF4-FFF2-40B4-BE49-F238E27FC236}">
                <a16:creationId xmlns:a16="http://schemas.microsoft.com/office/drawing/2014/main" id="{7B738AF1-58FC-1B7A-EFF2-41A242A39CED}"/>
              </a:ext>
            </a:extLst>
          </p:cNvPr>
          <p:cNvSpPr txBox="1">
            <a:spLocks noChangeArrowheads="1"/>
          </p:cNvSpPr>
          <p:nvPr/>
        </p:nvSpPr>
        <p:spPr>
          <a:xfrm>
            <a:off x="469954" y="6021673"/>
            <a:ext cx="5894303" cy="6463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panose="05000000000000000000" pitchFamily="2" charset="2"/>
              <a:buNone/>
            </a:pPr>
            <a:r>
              <a:rPr lang="zh-CN" altLang="en-US" sz="2800" dirty="0">
                <a:latin typeface="华光大标宋_CNKI" panose="02000500000000000000" pitchFamily="2" charset="-122"/>
                <a:ea typeface="华光大标宋_CNKI" panose="02000500000000000000" pitchFamily="2" charset="-122"/>
              </a:rPr>
              <a:t>若夹角和为</a:t>
            </a:r>
            <a:r>
              <a:rPr lang="en-US" altLang="zh-CN" sz="2800" dirty="0">
                <a:latin typeface="华光大标宋_CNKI" panose="02000500000000000000" pitchFamily="2" charset="-122"/>
                <a:ea typeface="华光大标宋_CNKI" panose="02000500000000000000" pitchFamily="2" charset="-122"/>
              </a:rPr>
              <a:t>0</a:t>
            </a:r>
            <a:r>
              <a:rPr lang="zh-CN" altLang="en-US" sz="2800" dirty="0">
                <a:latin typeface="华光大标宋_CNKI" panose="02000500000000000000" pitchFamily="2" charset="-122"/>
                <a:ea typeface="华光大标宋_CNKI" panose="02000500000000000000" pitchFamily="2" charset="-122"/>
              </a:rPr>
              <a:t>，则点</a:t>
            </a:r>
            <a:r>
              <a:rPr lang="en-US" altLang="zh-CN" sz="2800" dirty="0">
                <a:latin typeface="华光大标宋_CNKI" panose="02000500000000000000" pitchFamily="2" charset="-122"/>
                <a:ea typeface="华光大标宋_CNKI" panose="02000500000000000000" pitchFamily="2" charset="-122"/>
              </a:rPr>
              <a:t>p</a:t>
            </a:r>
            <a:r>
              <a:rPr lang="zh-CN" altLang="en-US" sz="2800" dirty="0">
                <a:latin typeface="华光大标宋_CNKI" panose="02000500000000000000" pitchFamily="2" charset="-122"/>
                <a:ea typeface="华光大标宋_CNKI" panose="02000500000000000000" pitchFamily="2" charset="-122"/>
              </a:rPr>
              <a:t>在多边形外</a:t>
            </a:r>
          </a:p>
        </p:txBody>
      </p:sp>
      <p:sp>
        <p:nvSpPr>
          <p:cNvPr id="54" name="Rectangle 3">
            <a:extLst>
              <a:ext uri="{FF2B5EF4-FFF2-40B4-BE49-F238E27FC236}">
                <a16:creationId xmlns:a16="http://schemas.microsoft.com/office/drawing/2014/main" id="{31CAFCF4-6ECD-D810-D9B8-F191A08ED6D6}"/>
              </a:ext>
            </a:extLst>
          </p:cNvPr>
          <p:cNvSpPr txBox="1">
            <a:spLocks noChangeArrowheads="1"/>
          </p:cNvSpPr>
          <p:nvPr/>
        </p:nvSpPr>
        <p:spPr>
          <a:xfrm>
            <a:off x="6204620" y="6021674"/>
            <a:ext cx="5894303" cy="6463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 typeface="Wingdings" panose="05000000000000000000" pitchFamily="2" charset="2"/>
              <a:buNone/>
            </a:pPr>
            <a:r>
              <a:rPr lang="zh-CN" altLang="en-US" sz="2800" dirty="0">
                <a:latin typeface="华光大标宋_CNKI" panose="02000500000000000000" pitchFamily="2" charset="-122"/>
                <a:ea typeface="华光大标宋_CNKI" panose="02000500000000000000" pitchFamily="2" charset="-122"/>
              </a:rPr>
              <a:t>若夹角和为</a:t>
            </a:r>
            <a:r>
              <a:rPr lang="en-US" altLang="zh-CN" sz="2800" dirty="0">
                <a:latin typeface="华光大标宋_CNKI" panose="02000500000000000000" pitchFamily="2" charset="-122"/>
                <a:ea typeface="华光大标宋_CNKI" panose="02000500000000000000" pitchFamily="2" charset="-122"/>
              </a:rPr>
              <a:t>360</a:t>
            </a:r>
            <a:r>
              <a:rPr lang="zh-CN" altLang="en-US" sz="2800" dirty="0">
                <a:latin typeface="华光大标宋_CNKI" panose="02000500000000000000" pitchFamily="2" charset="-122"/>
                <a:ea typeface="华光大标宋_CNKI" panose="02000500000000000000" pitchFamily="2" charset="-122"/>
              </a:rPr>
              <a:t>，则点</a:t>
            </a:r>
            <a:r>
              <a:rPr lang="en-US" altLang="zh-CN" sz="2800" dirty="0">
                <a:latin typeface="华光大标宋_CNKI" panose="02000500000000000000" pitchFamily="2" charset="-122"/>
                <a:ea typeface="华光大标宋_CNKI" panose="02000500000000000000" pitchFamily="2" charset="-122"/>
              </a:rPr>
              <a:t>p</a:t>
            </a:r>
            <a:r>
              <a:rPr lang="zh-CN" altLang="en-US" sz="2800" dirty="0">
                <a:latin typeface="华光大标宋_CNKI" panose="02000500000000000000" pitchFamily="2" charset="-122"/>
                <a:ea typeface="华光大标宋_CNKI" panose="02000500000000000000" pitchFamily="2" charset="-122"/>
              </a:rPr>
              <a:t>在多边形内</a:t>
            </a:r>
          </a:p>
        </p:txBody>
      </p:sp>
    </p:spTree>
    <p:extLst>
      <p:ext uri="{BB962C8B-B14F-4D97-AF65-F5344CB8AC3E}">
        <p14:creationId xmlns:p14="http://schemas.microsoft.com/office/powerpoint/2010/main" val="1440653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up)">
                                      <p:cBhvr>
                                        <p:cTn id="15" dur="500"/>
                                        <p:tgtEl>
                                          <p:spTgt spid="2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500"/>
                                        <p:tgtEl>
                                          <p:spTgt spid="21"/>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right)">
                                      <p:cBhvr>
                                        <p:cTn id="43" dur="500"/>
                                        <p:tgtEl>
                                          <p:spTgt spid="2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down)">
                                      <p:cBhvr>
                                        <p:cTn id="52" dur="500"/>
                                        <p:tgtEl>
                                          <p:spTgt spid="37"/>
                                        </p:tgtEl>
                                      </p:cBhvr>
                                    </p:animEffect>
                                  </p:childTnLst>
                                </p:cTn>
                              </p:par>
                            </p:childTnLst>
                          </p:cTn>
                        </p:par>
                        <p:par>
                          <p:cTn id="53" fill="hold">
                            <p:stCondLst>
                              <p:cond delay="500"/>
                            </p:stCondLst>
                            <p:childTnLst>
                              <p:par>
                                <p:cTn id="54" presetID="22" presetClass="entr" presetSubtype="4" fill="hold" nodeType="after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wipe(down)">
                                      <p:cBhvr>
                                        <p:cTn id="56" dur="500"/>
                                        <p:tgtEl>
                                          <p:spTgt spid="40"/>
                                        </p:tgtEl>
                                      </p:cBhvr>
                                    </p:animEffect>
                                  </p:childTnLst>
                                </p:cTn>
                              </p:par>
                            </p:childTnLst>
                          </p:cTn>
                        </p:par>
                        <p:par>
                          <p:cTn id="57" fill="hold">
                            <p:stCondLst>
                              <p:cond delay="1000"/>
                            </p:stCondLst>
                            <p:childTnLst>
                              <p:par>
                                <p:cTn id="58" presetID="22" presetClass="entr" presetSubtype="1" fill="hold" nodeType="after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wipe(up)">
                                      <p:cBhvr>
                                        <p:cTn id="60" dur="500"/>
                                        <p:tgtEl>
                                          <p:spTgt spid="41"/>
                                        </p:tgtEl>
                                      </p:cBhvr>
                                    </p:animEffect>
                                  </p:childTnLst>
                                </p:cTn>
                              </p:par>
                            </p:childTnLst>
                          </p:cTn>
                        </p:par>
                        <p:par>
                          <p:cTn id="61" fill="hold">
                            <p:stCondLst>
                              <p:cond delay="1500"/>
                            </p:stCondLst>
                            <p:childTnLst>
                              <p:par>
                                <p:cTn id="62" presetID="22" presetClass="entr" presetSubtype="1" fill="hold" nodeType="after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wipe(up)">
                                      <p:cBhvr>
                                        <p:cTn id="64" dur="500"/>
                                        <p:tgtEl>
                                          <p:spTgt spid="39"/>
                                        </p:tgtEl>
                                      </p:cBhvr>
                                    </p:animEffect>
                                  </p:childTnLst>
                                </p:cTn>
                              </p:par>
                            </p:childTnLst>
                          </p:cTn>
                        </p:par>
                        <p:par>
                          <p:cTn id="65" fill="hold">
                            <p:stCondLst>
                              <p:cond delay="2000"/>
                            </p:stCondLst>
                            <p:childTnLst>
                              <p:par>
                                <p:cTn id="66" presetID="22" presetClass="entr" presetSubtype="4" fill="hold" nodeType="after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wipe(down)">
                                      <p:cBhvr>
                                        <p:cTn id="68" dur="500"/>
                                        <p:tgtEl>
                                          <p:spTgt spid="38"/>
                                        </p:tgtEl>
                                      </p:cBhvr>
                                    </p:animEffect>
                                  </p:childTnLst>
                                </p:cTn>
                              </p:par>
                            </p:childTnLst>
                          </p:cTn>
                        </p:par>
                        <p:par>
                          <p:cTn id="69" fill="hold">
                            <p:stCondLst>
                              <p:cond delay="2500"/>
                            </p:stCondLst>
                            <p:childTnLst>
                              <p:par>
                                <p:cTn id="70" presetID="22" presetClass="entr" presetSubtype="1" fill="hold" nodeType="after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wipe(up)">
                                      <p:cBhvr>
                                        <p:cTn id="72" dur="500"/>
                                        <p:tgtEl>
                                          <p:spTgt spid="42"/>
                                        </p:tgtEl>
                                      </p:cBhvr>
                                    </p:animEffect>
                                  </p:childTnLst>
                                </p:cTn>
                              </p:par>
                            </p:childTnLst>
                          </p:cTn>
                        </p:par>
                        <p:par>
                          <p:cTn id="73" fill="hold">
                            <p:stCondLst>
                              <p:cond delay="3000"/>
                            </p:stCondLst>
                            <p:childTnLst>
                              <p:par>
                                <p:cTn id="74" presetID="22" presetClass="entr" presetSubtype="1" fill="hold" nodeType="after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wipe(up)">
                                      <p:cBhvr>
                                        <p:cTn id="76" dur="500"/>
                                        <p:tgtEl>
                                          <p:spTgt spid="43"/>
                                        </p:tgtEl>
                                      </p:cBhvr>
                                    </p:animEffect>
                                  </p:childTnLst>
                                </p:cTn>
                              </p:par>
                            </p:childTnLst>
                          </p:cTn>
                        </p:par>
                        <p:par>
                          <p:cTn id="77" fill="hold">
                            <p:stCondLst>
                              <p:cond delay="3500"/>
                            </p:stCondLst>
                            <p:childTnLst>
                              <p:par>
                                <p:cTn id="78" presetID="22" presetClass="entr" presetSubtype="4" fill="hold" nodeType="after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wipe(down)">
                                      <p:cBhvr>
                                        <p:cTn id="80" dur="500"/>
                                        <p:tgtEl>
                                          <p:spTgt spid="44"/>
                                        </p:tgtEl>
                                      </p:cBhvr>
                                    </p:animEffect>
                                  </p:childTnLst>
                                </p:cTn>
                              </p:par>
                            </p:childTnLst>
                          </p:cTn>
                        </p:par>
                        <p:par>
                          <p:cTn id="81" fill="hold">
                            <p:stCondLst>
                              <p:cond delay="4000"/>
                            </p:stCondLst>
                            <p:childTnLst>
                              <p:par>
                                <p:cTn id="82" presetID="22" presetClass="entr" presetSubtype="4" fill="hold" nodeType="after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wipe(down)">
                                      <p:cBhvr>
                                        <p:cTn id="84" dur="500"/>
                                        <p:tgtEl>
                                          <p:spTgt spid="45"/>
                                        </p:tgtEl>
                                      </p:cBhvr>
                                    </p:animEffect>
                                  </p:childTnLst>
                                </p:cTn>
                              </p:par>
                            </p:childTnLst>
                          </p:cTn>
                        </p:par>
                        <p:par>
                          <p:cTn id="85" fill="hold">
                            <p:stCondLst>
                              <p:cond delay="4500"/>
                            </p:stCondLst>
                            <p:childTnLst>
                              <p:par>
                                <p:cTn id="86" presetID="22" presetClass="entr" presetSubtype="4" fill="hold" nodeType="after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wipe(down)">
                                      <p:cBhvr>
                                        <p:cTn id="88" dur="500"/>
                                        <p:tgtEl>
                                          <p:spTgt spid="46"/>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nodeType="clickEffect">
                                  <p:stCondLst>
                                    <p:cond delay="0"/>
                                  </p:stCondLst>
                                  <p:childTnLst>
                                    <p:set>
                                      <p:cBhvr>
                                        <p:cTn id="92" dur="1" fill="hold">
                                          <p:stCondLst>
                                            <p:cond delay="0"/>
                                          </p:stCondLst>
                                        </p:cTn>
                                        <p:tgtEl>
                                          <p:spTgt spid="53">
                                            <p:txEl>
                                              <p:pRg st="0" end="0"/>
                                            </p:txEl>
                                          </p:spTgt>
                                        </p:tgtEl>
                                        <p:attrNameLst>
                                          <p:attrName>style.visibility</p:attrName>
                                        </p:attrNameLst>
                                      </p:cBhvr>
                                      <p:to>
                                        <p:strVal val="visible"/>
                                      </p:to>
                                    </p:set>
                                    <p:animEffect transition="in" filter="blinds(horizontal)">
                                      <p:cBhvr>
                                        <p:cTn id="93" dur="500"/>
                                        <p:tgtEl>
                                          <p:spTgt spid="53">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54">
                                            <p:txEl>
                                              <p:pRg st="0" end="0"/>
                                            </p:txEl>
                                          </p:spTgt>
                                        </p:tgtEl>
                                        <p:attrNameLst>
                                          <p:attrName>style.visibility</p:attrName>
                                        </p:attrNameLst>
                                      </p:cBhvr>
                                      <p:to>
                                        <p:strVal val="visible"/>
                                      </p:to>
                                    </p:set>
                                    <p:animEffect transition="in" filter="blinds(horizontal)">
                                      <p:cBhvr>
                                        <p:cTn id="98"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uiExpand="1" build="p"/>
      <p:bldP spid="5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418306" y="516485"/>
                <a:ext cx="10030619" cy="6053629"/>
              </a:xfrm>
            </p:spPr>
            <p:txBody>
              <a:bodyPr>
                <a:norm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）夹角的计算方法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夹角的大小采用余玄定理进行计算。设</a:t>
                </a:r>
                <a:r>
                  <a:rPr lang="en-US" altLang="zh-CN" sz="2800" dirty="0">
                    <a:latin typeface="华光仿宋_CNKI" panose="02000500000000000000" pitchFamily="2" charset="-122"/>
                    <a:ea typeface="华光仿宋_CNKI" panose="02000500000000000000" pitchFamily="2" charset="-122"/>
                  </a:rPr>
                  <a:t>:</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a</a:t>
                </a:r>
                <a:r>
                  <a:rPr lang="zh-CN" altLang="en-US" sz="2800" dirty="0">
                    <a:latin typeface="华光仿宋_CNKI" panose="02000500000000000000" pitchFamily="2" charset="-122"/>
                    <a:ea typeface="华光仿宋_CNKI" panose="02000500000000000000" pitchFamily="2" charset="-122"/>
                  </a:rPr>
                  <a:t>＝</a:t>
                </a:r>
                <a14:m>
                  <m:oMath xmlns:m="http://schemas.openxmlformats.org/officeDocument/2006/math">
                    <m:rad>
                      <m:radPr>
                        <m:degHide m:val="on"/>
                        <m:ctrlPr>
                          <a:rPr lang="zh-CN" altLang="en-US" sz="2800" i="1" smtClean="0">
                            <a:latin typeface="Cambria Math" panose="02040503050406030204" pitchFamily="18" charset="0"/>
                            <a:ea typeface="华光仿宋_CNKI" panose="02000500000000000000" pitchFamily="2" charset="-122"/>
                          </a:rPr>
                        </m:ctrlPr>
                      </m:radPr>
                      <m:deg/>
                      <m:e>
                        <m:sSup>
                          <m:sSupPr>
                            <m:ctrlPr>
                              <a:rPr lang="en-US" altLang="zh-CN" sz="2800" i="1" smtClean="0">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𝑎</m:t>
                                </m:r>
                                <m:r>
                                  <a:rPr lang="en-US" altLang="zh-CN" sz="2800" i="1">
                                    <a:latin typeface="Cambria Math" panose="02040503050406030204" pitchFamily="18" charset="0"/>
                                    <a:ea typeface="华光仿宋_CNKI" panose="02000500000000000000" pitchFamily="2" charset="-122"/>
                                  </a:rPr>
                                  <m:t>−</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𝑝</m:t>
                                </m:r>
                              </m:sub>
                            </m:sSub>
                            <m:r>
                              <a:rPr lang="en-US" altLang="zh-CN" sz="2800" b="0" i="1" smtClean="0">
                                <a:latin typeface="Cambria Math" panose="02040503050406030204" pitchFamily="18" charset="0"/>
                                <a:ea typeface="华光仿宋_CNKI" panose="02000500000000000000" pitchFamily="2" charset="-122"/>
                              </a:rPr>
                              <m:t>)</m:t>
                            </m:r>
                          </m:e>
                          <m:sup>
                            <m:r>
                              <a:rPr lang="en-US" altLang="zh-CN" sz="2800" b="0" i="1" smtClean="0">
                                <a:latin typeface="Cambria Math" panose="02040503050406030204" pitchFamily="18" charset="0"/>
                                <a:ea typeface="华光仿宋_CNKI" panose="02000500000000000000" pitchFamily="2" charset="-122"/>
                              </a:rPr>
                              <m:t>2</m:t>
                            </m:r>
                          </m:sup>
                        </m:sSup>
                        <m:r>
                          <a:rPr lang="en-US" altLang="zh-CN" sz="2800" b="0" i="1" smtClean="0">
                            <a:latin typeface="Cambria Math" panose="02040503050406030204" pitchFamily="18" charset="0"/>
                            <a:ea typeface="华光仿宋_CNKI" panose="02000500000000000000" pitchFamily="2" charset="-122"/>
                          </a:rPr>
                          <m:t>+</m:t>
                        </m:r>
                        <m:sSup>
                          <m:sSupPr>
                            <m:ctrlPr>
                              <a:rPr lang="en-US" altLang="zh-CN" sz="2800" i="1">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m:t>
                                </m:r>
                                <m:r>
                                  <m:rPr>
                                    <m:sty m:val="p"/>
                                  </m:rPr>
                                  <a:rPr lang="en-US" altLang="zh-CN" sz="2800" i="1" smtClean="0">
                                    <a:latin typeface="Cambria Math" panose="02040503050406030204" pitchFamily="18" charset="0"/>
                                    <a:ea typeface="华光仿宋_CNKI" panose="02000500000000000000" pitchFamily="2" charset="-122"/>
                                  </a:rPr>
                                  <m:t>y</m:t>
                                </m:r>
                              </m:e>
                              <m:sub>
                                <m:r>
                                  <a:rPr lang="en-US" altLang="zh-CN" sz="2800" i="1">
                                    <a:latin typeface="Cambria Math" panose="02040503050406030204" pitchFamily="18" charset="0"/>
                                    <a:ea typeface="华光仿宋_CNKI" panose="02000500000000000000" pitchFamily="2" charset="-122"/>
                                  </a:rPr>
                                  <m:t>𝑎</m:t>
                                </m:r>
                                <m:r>
                                  <a:rPr lang="en-US" altLang="zh-CN" sz="2800" i="1">
                                    <a:latin typeface="Cambria Math" panose="02040503050406030204" pitchFamily="18" charset="0"/>
                                    <a:ea typeface="华光仿宋_CNKI" panose="02000500000000000000" pitchFamily="2" charset="-122"/>
                                  </a:rPr>
                                  <m:t>−</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𝑝</m:t>
                                </m:r>
                              </m:sub>
                            </m:sSub>
                            <m:r>
                              <a:rPr lang="en-US" altLang="zh-CN" sz="2800" i="1">
                                <a:latin typeface="Cambria Math" panose="02040503050406030204" pitchFamily="18" charset="0"/>
                                <a:ea typeface="华光仿宋_CNKI" panose="02000500000000000000" pitchFamily="2" charset="-122"/>
                              </a:rPr>
                              <m:t>)</m:t>
                            </m:r>
                          </m:e>
                          <m:sup>
                            <m:r>
                              <a:rPr lang="en-US" altLang="zh-CN" sz="2800" i="1">
                                <a:latin typeface="Cambria Math" panose="02040503050406030204" pitchFamily="18" charset="0"/>
                                <a:ea typeface="华光仿宋_CNKI" panose="02000500000000000000" pitchFamily="2" charset="-122"/>
                              </a:rPr>
                              <m:t>2</m:t>
                            </m:r>
                          </m:sup>
                        </m:sSup>
                      </m:e>
                    </m:rad>
                  </m:oMath>
                </a14:m>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  b=</a:t>
                </a:r>
                <a:r>
                  <a:rPr lang="zh-CN" altLang="en-US" sz="2800" dirty="0">
                    <a:ea typeface="华光仿宋_CNKI" panose="02000500000000000000" pitchFamily="2" charset="-122"/>
                  </a:rPr>
                  <a:t> </a:t>
                </a:r>
                <a14:m>
                  <m:oMath xmlns:m="http://schemas.openxmlformats.org/officeDocument/2006/math">
                    <m:rad>
                      <m:radPr>
                        <m:degHide m:val="on"/>
                        <m:ctrlPr>
                          <a:rPr lang="zh-CN" altLang="en-US" sz="2800" i="1" smtClean="0">
                            <a:latin typeface="Cambria Math" panose="02040503050406030204" pitchFamily="18" charset="0"/>
                            <a:ea typeface="华光仿宋_CNKI" panose="02000500000000000000" pitchFamily="2" charset="-122"/>
                          </a:rPr>
                        </m:ctrlPr>
                      </m:radPr>
                      <m:deg/>
                      <m:e>
                        <m:sSup>
                          <m:sSupPr>
                            <m:ctrlPr>
                              <a:rPr lang="en-US" altLang="zh-CN" sz="2800" i="1" smtClean="0">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𝑏</m:t>
                                </m:r>
                                <m:r>
                                  <a:rPr lang="en-US" altLang="zh-CN" sz="2800" i="1">
                                    <a:latin typeface="Cambria Math" panose="02040503050406030204" pitchFamily="18" charset="0"/>
                                    <a:ea typeface="华光仿宋_CNKI" panose="02000500000000000000" pitchFamily="2" charset="-122"/>
                                  </a:rPr>
                                  <m:t>−</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𝑝</m:t>
                                </m:r>
                              </m:sub>
                            </m:sSub>
                            <m:r>
                              <a:rPr lang="en-US" altLang="zh-CN" sz="2800" b="0" i="1" smtClean="0">
                                <a:latin typeface="Cambria Math" panose="02040503050406030204" pitchFamily="18" charset="0"/>
                                <a:ea typeface="华光仿宋_CNKI" panose="02000500000000000000" pitchFamily="2" charset="-122"/>
                              </a:rPr>
                              <m:t>)</m:t>
                            </m:r>
                          </m:e>
                          <m:sup>
                            <m:r>
                              <a:rPr lang="en-US" altLang="zh-CN" sz="2800" b="0" i="1" smtClean="0">
                                <a:latin typeface="Cambria Math" panose="02040503050406030204" pitchFamily="18" charset="0"/>
                                <a:ea typeface="华光仿宋_CNKI" panose="02000500000000000000" pitchFamily="2" charset="-122"/>
                              </a:rPr>
                              <m:t>2</m:t>
                            </m:r>
                          </m:sup>
                        </m:sSup>
                        <m:r>
                          <a:rPr lang="en-US" altLang="zh-CN" sz="2800" b="0" i="1" smtClean="0">
                            <a:latin typeface="Cambria Math" panose="02040503050406030204" pitchFamily="18" charset="0"/>
                            <a:ea typeface="华光仿宋_CNKI" panose="02000500000000000000" pitchFamily="2" charset="-122"/>
                          </a:rPr>
                          <m:t>+</m:t>
                        </m:r>
                        <m:sSup>
                          <m:sSupPr>
                            <m:ctrlPr>
                              <a:rPr lang="en-US" altLang="zh-CN" sz="2800" i="1">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m:t>
                                </m:r>
                                <m:r>
                                  <m:rPr>
                                    <m:sty m:val="p"/>
                                  </m:rPr>
                                  <a:rPr lang="en-US" altLang="zh-CN" sz="2800" i="1" smtClean="0">
                                    <a:latin typeface="Cambria Math" panose="02040503050406030204" pitchFamily="18" charset="0"/>
                                    <a:ea typeface="华光仿宋_CNKI" panose="02000500000000000000" pitchFamily="2" charset="-122"/>
                                  </a:rPr>
                                  <m:t>y</m:t>
                                </m:r>
                              </m:e>
                              <m:sub>
                                <m:r>
                                  <a:rPr lang="en-US" altLang="zh-CN" sz="2800" b="0" i="1" smtClean="0">
                                    <a:latin typeface="Cambria Math" panose="02040503050406030204" pitchFamily="18" charset="0"/>
                                    <a:ea typeface="华光仿宋_CNKI" panose="02000500000000000000" pitchFamily="2" charset="-122"/>
                                  </a:rPr>
                                  <m:t>𝑏</m:t>
                                </m:r>
                                <m:r>
                                  <a:rPr lang="en-US" altLang="zh-CN" sz="2800" i="1">
                                    <a:latin typeface="Cambria Math" panose="02040503050406030204" pitchFamily="18" charset="0"/>
                                    <a:ea typeface="华光仿宋_CNKI" panose="02000500000000000000" pitchFamily="2" charset="-122"/>
                                  </a:rPr>
                                  <m:t>−</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i="1">
                                    <a:latin typeface="Cambria Math" panose="02040503050406030204" pitchFamily="18" charset="0"/>
                                    <a:ea typeface="华光仿宋_CNKI" panose="02000500000000000000" pitchFamily="2" charset="-122"/>
                                  </a:rPr>
                                  <m:t>𝑝</m:t>
                                </m:r>
                              </m:sub>
                            </m:sSub>
                            <m:r>
                              <a:rPr lang="en-US" altLang="zh-CN" sz="2800" i="1">
                                <a:latin typeface="Cambria Math" panose="02040503050406030204" pitchFamily="18" charset="0"/>
                                <a:ea typeface="华光仿宋_CNKI" panose="02000500000000000000" pitchFamily="2" charset="-122"/>
                              </a:rPr>
                              <m:t>)</m:t>
                            </m:r>
                          </m:e>
                          <m:sup>
                            <m:r>
                              <a:rPr lang="en-US" altLang="zh-CN" sz="2800" i="1">
                                <a:latin typeface="Cambria Math" panose="02040503050406030204" pitchFamily="18" charset="0"/>
                                <a:ea typeface="华光仿宋_CNKI" panose="02000500000000000000" pitchFamily="2" charset="-122"/>
                              </a:rPr>
                              <m:t>2</m:t>
                            </m:r>
                          </m:sup>
                        </m:sSup>
                      </m:e>
                    </m:rad>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c=</a:t>
                </a:r>
                <a:r>
                  <a:rPr lang="zh-CN" altLang="en-US" sz="2800" dirty="0">
                    <a:ea typeface="华光仿宋_CNKI" panose="02000500000000000000" pitchFamily="2" charset="-122"/>
                  </a:rPr>
                  <a:t> </a:t>
                </a:r>
                <a14:m>
                  <m:oMath xmlns:m="http://schemas.openxmlformats.org/officeDocument/2006/math">
                    <m:rad>
                      <m:radPr>
                        <m:degHide m:val="on"/>
                        <m:ctrlPr>
                          <a:rPr lang="zh-CN" altLang="en-US" sz="2800" i="1" smtClean="0">
                            <a:latin typeface="Cambria Math" panose="02040503050406030204" pitchFamily="18" charset="0"/>
                            <a:ea typeface="华光仿宋_CNKI" panose="02000500000000000000" pitchFamily="2" charset="-122"/>
                          </a:rPr>
                        </m:ctrlPr>
                      </m:radPr>
                      <m:deg/>
                      <m:e>
                        <m:sSup>
                          <m:sSupPr>
                            <m:ctrlPr>
                              <a:rPr lang="en-US" altLang="zh-CN" sz="2800" i="1" smtClean="0">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m:t>
                                </m:r>
                                <m:r>
                                  <a:rPr lang="en-US" altLang="zh-CN" sz="2800" i="1">
                                    <a:latin typeface="Cambria Math" panose="02040503050406030204" pitchFamily="18" charset="0"/>
                                    <a:ea typeface="华光仿宋_CNKI" panose="02000500000000000000" pitchFamily="2" charset="-122"/>
                                  </a:rPr>
                                  <m:t>𝑥</m:t>
                                </m:r>
                              </m:e>
                              <m:sub>
                                <m:r>
                                  <a:rPr lang="en-US" altLang="zh-CN" sz="2800" i="1">
                                    <a:latin typeface="Cambria Math" panose="02040503050406030204" pitchFamily="18" charset="0"/>
                                    <a:ea typeface="华光仿宋_CNKI" panose="02000500000000000000" pitchFamily="2" charset="-122"/>
                                  </a:rPr>
                                  <m:t>𝑎</m:t>
                                </m:r>
                                <m:r>
                                  <a:rPr lang="en-US" altLang="zh-CN" sz="2800" i="1">
                                    <a:latin typeface="Cambria Math" panose="02040503050406030204" pitchFamily="18" charset="0"/>
                                    <a:ea typeface="华光仿宋_CNKI" panose="02000500000000000000" pitchFamily="2" charset="-122"/>
                                  </a:rPr>
                                  <m:t>−</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𝑥</m:t>
                                </m:r>
                              </m:e>
                              <m:sub>
                                <m:r>
                                  <a:rPr lang="en-US" altLang="zh-CN" sz="2800" b="0" i="1" smtClean="0">
                                    <a:latin typeface="Cambria Math" panose="02040503050406030204" pitchFamily="18" charset="0"/>
                                    <a:ea typeface="华光仿宋_CNKI" panose="02000500000000000000" pitchFamily="2" charset="-122"/>
                                  </a:rPr>
                                  <m:t>𝑏</m:t>
                                </m:r>
                              </m:sub>
                            </m:sSub>
                            <m:r>
                              <a:rPr lang="en-US" altLang="zh-CN" sz="2800" b="0" i="1" smtClean="0">
                                <a:latin typeface="Cambria Math" panose="02040503050406030204" pitchFamily="18" charset="0"/>
                                <a:ea typeface="华光仿宋_CNKI" panose="02000500000000000000" pitchFamily="2" charset="-122"/>
                              </a:rPr>
                              <m:t>)</m:t>
                            </m:r>
                          </m:e>
                          <m:sup>
                            <m:r>
                              <a:rPr lang="en-US" altLang="zh-CN" sz="2800" b="0" i="1" smtClean="0">
                                <a:latin typeface="Cambria Math" panose="02040503050406030204" pitchFamily="18" charset="0"/>
                                <a:ea typeface="华光仿宋_CNKI" panose="02000500000000000000" pitchFamily="2" charset="-122"/>
                              </a:rPr>
                              <m:t>2</m:t>
                            </m:r>
                          </m:sup>
                        </m:sSup>
                        <m:r>
                          <a:rPr lang="en-US" altLang="zh-CN" sz="2800" b="0" i="1" smtClean="0">
                            <a:latin typeface="Cambria Math" panose="02040503050406030204" pitchFamily="18" charset="0"/>
                            <a:ea typeface="华光仿宋_CNKI" panose="02000500000000000000" pitchFamily="2" charset="-122"/>
                          </a:rPr>
                          <m:t>+</m:t>
                        </m:r>
                        <m:sSup>
                          <m:sSupPr>
                            <m:ctrlPr>
                              <a:rPr lang="en-US" altLang="zh-CN" sz="2800" i="1">
                                <a:latin typeface="Cambria Math" panose="02040503050406030204" pitchFamily="18" charset="0"/>
                                <a:ea typeface="华光仿宋_CNKI" panose="02000500000000000000" pitchFamily="2" charset="-122"/>
                              </a:rPr>
                            </m:ctrlPr>
                          </m:sSupPr>
                          <m:e>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m:t>
                                </m:r>
                                <m:r>
                                  <m:rPr>
                                    <m:sty m:val="p"/>
                                  </m:rPr>
                                  <a:rPr lang="en-US" altLang="zh-CN" sz="2800" i="1" smtClean="0">
                                    <a:latin typeface="Cambria Math" panose="02040503050406030204" pitchFamily="18" charset="0"/>
                                    <a:ea typeface="华光仿宋_CNKI" panose="02000500000000000000" pitchFamily="2" charset="-122"/>
                                  </a:rPr>
                                  <m:t>y</m:t>
                                </m:r>
                              </m:e>
                              <m:sub>
                                <m:r>
                                  <a:rPr lang="en-US" altLang="zh-CN" sz="2800" i="1">
                                    <a:latin typeface="Cambria Math" panose="02040503050406030204" pitchFamily="18" charset="0"/>
                                    <a:ea typeface="华光仿宋_CNKI" panose="02000500000000000000" pitchFamily="2" charset="-122"/>
                                  </a:rPr>
                                  <m:t>𝑎</m:t>
                                </m:r>
                                <m:r>
                                  <a:rPr lang="en-US" altLang="zh-CN" sz="2800" i="1">
                                    <a:latin typeface="Cambria Math" panose="02040503050406030204" pitchFamily="18" charset="0"/>
                                    <a:ea typeface="华光仿宋_CNKI" panose="02000500000000000000" pitchFamily="2" charset="-122"/>
                                  </a:rPr>
                                  <m:t>−</m:t>
                                </m:r>
                              </m:sub>
                            </m:sSub>
                            <m:sSub>
                              <m:sSubPr>
                                <m:ctrlPr>
                                  <a:rPr lang="en-US" altLang="zh-CN" sz="2800" i="1">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𝑦</m:t>
                                </m:r>
                              </m:e>
                              <m:sub>
                                <m:r>
                                  <a:rPr lang="en-US" altLang="zh-CN" sz="2800" b="0" i="1" smtClean="0">
                                    <a:latin typeface="Cambria Math" panose="02040503050406030204" pitchFamily="18" charset="0"/>
                                    <a:ea typeface="华光仿宋_CNKI" panose="02000500000000000000" pitchFamily="2" charset="-122"/>
                                  </a:rPr>
                                  <m:t>𝑏</m:t>
                                </m:r>
                              </m:sub>
                            </m:sSub>
                            <m:r>
                              <a:rPr lang="en-US" altLang="zh-CN" sz="2800" i="1">
                                <a:latin typeface="Cambria Math" panose="02040503050406030204" pitchFamily="18" charset="0"/>
                                <a:ea typeface="华光仿宋_CNKI" panose="02000500000000000000" pitchFamily="2" charset="-122"/>
                              </a:rPr>
                              <m:t>)</m:t>
                            </m:r>
                          </m:e>
                          <m:sup>
                            <m:r>
                              <a:rPr lang="en-US" altLang="zh-CN" sz="2800" i="1">
                                <a:latin typeface="Cambria Math" panose="02040503050406030204" pitchFamily="18" charset="0"/>
                                <a:ea typeface="华光仿宋_CNKI" panose="02000500000000000000" pitchFamily="2" charset="-122"/>
                              </a:rPr>
                              <m:t>2</m:t>
                            </m:r>
                          </m:sup>
                        </m:sSup>
                      </m:e>
                    </m:rad>
                  </m:oMath>
                </a14:m>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zh-CN" altLang="en-US" sz="2800" dirty="0">
                    <a:latin typeface="华光仿宋_CNKI" panose="02000500000000000000" pitchFamily="2" charset="-122"/>
                    <a:ea typeface="华光仿宋_CNKI" panose="02000500000000000000" pitchFamily="2" charset="-122"/>
                  </a:rPr>
                  <a:t>     则：</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b="0" dirty="0">
                    <a:latin typeface="华光仿宋_CNKI" panose="02000500000000000000" pitchFamily="2" charset="-122"/>
                    <a:ea typeface="华光仿宋_CNKI" panose="02000500000000000000" pitchFamily="2" charset="-122"/>
                  </a:rPr>
                  <a:t>             </a:t>
                </a:r>
                <a14:m>
                  <m:oMath xmlns:m="http://schemas.openxmlformats.org/officeDocument/2006/math">
                    <m:r>
                      <a:rPr lang="en-US" altLang="zh-CN" sz="2800" b="0" i="1" smtClean="0">
                        <a:latin typeface="Cambria Math" panose="02040503050406030204" pitchFamily="18" charset="0"/>
                        <a:ea typeface="华光仿宋_CNKI" panose="02000500000000000000" pitchFamily="2" charset="-122"/>
                      </a:rPr>
                      <m:t>𝑐𝑜𝑠</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𝐴𝑃𝐵</m:t>
                    </m:r>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𝑎</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𝑏</m:t>
                            </m:r>
                          </m:e>
                          <m:sup>
                            <m:r>
                              <a:rPr lang="en-US" altLang="zh-CN" sz="2800" i="1">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𝑐</m:t>
                            </m:r>
                          </m:e>
                          <m:sup>
                            <m:r>
                              <a:rPr lang="en-US" altLang="zh-CN" sz="2800" i="1">
                                <a:latin typeface="Cambria Math" panose="02040503050406030204" pitchFamily="18" charset="0"/>
                                <a:ea typeface="Cambria Math" panose="02040503050406030204" pitchFamily="18" charset="0"/>
                              </a:rPr>
                              <m:t>2</m:t>
                            </m:r>
                          </m:sup>
                        </m:sSup>
                      </m:num>
                      <m:den>
                        <m:r>
                          <a:rPr lang="en-US" altLang="zh-CN" sz="2800" b="0" i="1" smtClean="0">
                            <a:latin typeface="Cambria Math" panose="02040503050406030204" pitchFamily="18" charset="0"/>
                            <a:ea typeface="Cambria Math" panose="02040503050406030204" pitchFamily="18" charset="0"/>
                          </a:rPr>
                          <m:t>2</m:t>
                        </m:r>
                        <m:r>
                          <a:rPr lang="en-US" altLang="zh-CN" sz="2800" b="0" i="1" smtClean="0">
                            <a:latin typeface="Cambria Math" panose="02040503050406030204" pitchFamily="18" charset="0"/>
                            <a:ea typeface="Cambria Math" panose="02040503050406030204" pitchFamily="18" charset="0"/>
                          </a:rPr>
                          <m:t>𝑎𝑏</m:t>
                        </m:r>
                      </m:den>
                    </m:f>
                  </m:oMath>
                </a14:m>
                <a:r>
                  <a:rPr lang="en-US" altLang="zh-CN" sz="2800" dirty="0">
                    <a:latin typeface="华光仿宋_CNKI" panose="02000500000000000000" pitchFamily="2" charset="-122"/>
                    <a:ea typeface="华光仿宋_CNKI" panose="02000500000000000000" pitchFamily="2" charset="-122"/>
                  </a:rPr>
                  <a:t> </a:t>
                </a:r>
                <a:endParaRPr lang="zh-CN" altLang="en-US"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418306" y="516485"/>
                <a:ext cx="10030619" cy="6053629"/>
              </a:xfrm>
              <a:blipFill>
                <a:blip r:embed="rId2"/>
                <a:stretch>
                  <a:fillRect/>
                </a:stretch>
              </a:blipFill>
            </p:spPr>
            <p:txBody>
              <a:bodyPr/>
              <a:lstStyle/>
              <a:p>
                <a:r>
                  <a:rPr lang="zh-CN" altLang="en-US">
                    <a:noFill/>
                  </a:rPr>
                  <a:t> </a:t>
                </a:r>
              </a:p>
            </p:txBody>
          </p:sp>
        </mc:Fallback>
      </mc:AlternateContent>
      <p:sp>
        <p:nvSpPr>
          <p:cNvPr id="8" name="Text Box 18">
            <a:extLst>
              <a:ext uri="{FF2B5EF4-FFF2-40B4-BE49-F238E27FC236}">
                <a16:creationId xmlns:a16="http://schemas.microsoft.com/office/drawing/2014/main" id="{2E809DD2-66EA-7ACC-7FF2-7076B7AD8153}"/>
              </a:ext>
            </a:extLst>
          </p:cNvPr>
          <p:cNvSpPr txBox="1">
            <a:spLocks noChangeArrowheads="1"/>
          </p:cNvSpPr>
          <p:nvPr/>
        </p:nvSpPr>
        <p:spPr bwMode="auto">
          <a:xfrm>
            <a:off x="10308432" y="4929893"/>
            <a:ext cx="1465262" cy="369332"/>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t>B(</a:t>
            </a:r>
            <a:r>
              <a:rPr lang="en-US" altLang="zh-CN" dirty="0" err="1"/>
              <a:t>Xb,Yb</a:t>
            </a:r>
            <a:r>
              <a:rPr lang="en-US" altLang="zh-CN" dirty="0"/>
              <a:t>)</a:t>
            </a:r>
          </a:p>
        </p:txBody>
      </p:sp>
      <p:grpSp>
        <p:nvGrpSpPr>
          <p:cNvPr id="15" name="组合 14">
            <a:extLst>
              <a:ext uri="{FF2B5EF4-FFF2-40B4-BE49-F238E27FC236}">
                <a16:creationId xmlns:a16="http://schemas.microsoft.com/office/drawing/2014/main" id="{7DFAB88C-58DD-4E15-9A8A-A368D16AEFAF}"/>
              </a:ext>
            </a:extLst>
          </p:cNvPr>
          <p:cNvGrpSpPr/>
          <p:nvPr/>
        </p:nvGrpSpPr>
        <p:grpSpPr>
          <a:xfrm>
            <a:off x="8607425" y="3675063"/>
            <a:ext cx="2433638" cy="2449512"/>
            <a:chOff x="7092950" y="4408488"/>
            <a:chExt cx="2433638" cy="2449512"/>
          </a:xfrm>
        </p:grpSpPr>
        <p:grpSp>
          <p:nvGrpSpPr>
            <p:cNvPr id="4" name="Group 9">
              <a:extLst>
                <a:ext uri="{FF2B5EF4-FFF2-40B4-BE49-F238E27FC236}">
                  <a16:creationId xmlns:a16="http://schemas.microsoft.com/office/drawing/2014/main" id="{AD2118BC-CC17-26B7-AA9D-C95838F62AA1}"/>
                </a:ext>
              </a:extLst>
            </p:cNvPr>
            <p:cNvGrpSpPr>
              <a:grpSpLocks/>
            </p:cNvGrpSpPr>
            <p:nvPr/>
          </p:nvGrpSpPr>
          <p:grpSpPr bwMode="auto">
            <a:xfrm>
              <a:off x="7294563" y="4841875"/>
              <a:ext cx="1800225" cy="1800225"/>
              <a:chOff x="4422" y="935"/>
              <a:chExt cx="1134" cy="1134"/>
            </a:xfrm>
          </p:grpSpPr>
          <p:sp>
            <p:nvSpPr>
              <p:cNvPr id="10" name="Line 10">
                <a:extLst>
                  <a:ext uri="{FF2B5EF4-FFF2-40B4-BE49-F238E27FC236}">
                    <a16:creationId xmlns:a16="http://schemas.microsoft.com/office/drawing/2014/main" id="{1353919A-4127-918D-2CF9-444AB899BF9A}"/>
                  </a:ext>
                </a:extLst>
              </p:cNvPr>
              <p:cNvSpPr>
                <a:spLocks noChangeShapeType="1"/>
              </p:cNvSpPr>
              <p:nvPr/>
            </p:nvSpPr>
            <p:spPr bwMode="auto">
              <a:xfrm>
                <a:off x="4422" y="2069"/>
                <a:ext cx="1134" cy="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 name="Line 11">
                <a:extLst>
                  <a:ext uri="{FF2B5EF4-FFF2-40B4-BE49-F238E27FC236}">
                    <a16:creationId xmlns:a16="http://schemas.microsoft.com/office/drawing/2014/main" id="{4F79F3F0-E320-7004-4B2E-34D67E42B85C}"/>
                  </a:ext>
                </a:extLst>
              </p:cNvPr>
              <p:cNvSpPr>
                <a:spLocks noChangeShapeType="1"/>
              </p:cNvSpPr>
              <p:nvPr/>
            </p:nvSpPr>
            <p:spPr bwMode="auto">
              <a:xfrm rot="16200000">
                <a:off x="3855" y="1502"/>
                <a:ext cx="1134" cy="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 name="Line 12">
                <a:extLst>
                  <a:ext uri="{FF2B5EF4-FFF2-40B4-BE49-F238E27FC236}">
                    <a16:creationId xmlns:a16="http://schemas.microsoft.com/office/drawing/2014/main" id="{88EBF14D-2B5B-473C-587B-EA79D3C60F87}"/>
                  </a:ext>
                </a:extLst>
              </p:cNvPr>
              <p:cNvSpPr>
                <a:spLocks noChangeShapeType="1"/>
              </p:cNvSpPr>
              <p:nvPr/>
            </p:nvSpPr>
            <p:spPr bwMode="auto">
              <a:xfrm flipV="1">
                <a:off x="4694" y="1253"/>
                <a:ext cx="408" cy="499"/>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 name="Line 13">
                <a:extLst>
                  <a:ext uri="{FF2B5EF4-FFF2-40B4-BE49-F238E27FC236}">
                    <a16:creationId xmlns:a16="http://schemas.microsoft.com/office/drawing/2014/main" id="{1A27B3F6-9F48-49E1-B235-BC8A015A5C10}"/>
                  </a:ext>
                </a:extLst>
              </p:cNvPr>
              <p:cNvSpPr>
                <a:spLocks noChangeShapeType="1"/>
              </p:cNvSpPr>
              <p:nvPr/>
            </p:nvSpPr>
            <p:spPr bwMode="auto">
              <a:xfrm rot="1800000" flipV="1">
                <a:off x="4767" y="1454"/>
                <a:ext cx="499" cy="454"/>
              </a:xfrm>
              <a:prstGeom prst="line">
                <a:avLst/>
              </a:prstGeom>
              <a:noFill/>
              <a:ln w="254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4" name="Arc 14">
                <a:extLst>
                  <a:ext uri="{FF2B5EF4-FFF2-40B4-BE49-F238E27FC236}">
                    <a16:creationId xmlns:a16="http://schemas.microsoft.com/office/drawing/2014/main" id="{034A5672-DA30-A2C8-E7A3-8025E540D0BE}"/>
                  </a:ext>
                </a:extLst>
              </p:cNvPr>
              <p:cNvSpPr>
                <a:spLocks/>
              </p:cNvSpPr>
              <p:nvPr/>
            </p:nvSpPr>
            <p:spPr bwMode="auto">
              <a:xfrm>
                <a:off x="4912" y="1450"/>
                <a:ext cx="182" cy="211"/>
              </a:xfrm>
              <a:custGeom>
                <a:avLst/>
                <a:gdLst>
                  <a:gd name="G0" fmla="+- 0 0 0"/>
                  <a:gd name="G1" fmla="+- 20047 0 0"/>
                  <a:gd name="G2" fmla="+- 21600 0 0"/>
                  <a:gd name="T0" fmla="*/ 8041 w 21600"/>
                  <a:gd name="T1" fmla="*/ 0 h 20047"/>
                  <a:gd name="T2" fmla="*/ 21600 w 21600"/>
                  <a:gd name="T3" fmla="*/ 20047 h 20047"/>
                  <a:gd name="T4" fmla="*/ 0 w 21600"/>
                  <a:gd name="T5" fmla="*/ 20047 h 20047"/>
                </a:gdLst>
                <a:ahLst/>
                <a:cxnLst>
                  <a:cxn ang="0">
                    <a:pos x="T0" y="T1"/>
                  </a:cxn>
                  <a:cxn ang="0">
                    <a:pos x="T2" y="T3"/>
                  </a:cxn>
                  <a:cxn ang="0">
                    <a:pos x="T4" y="T5"/>
                  </a:cxn>
                </a:cxnLst>
                <a:rect l="0" t="0" r="r" b="b"/>
                <a:pathLst>
                  <a:path w="21600" h="20047" fill="none" extrusionOk="0">
                    <a:moveTo>
                      <a:pt x="8041" y="-1"/>
                    </a:moveTo>
                    <a:cubicBezTo>
                      <a:pt x="16231" y="3284"/>
                      <a:pt x="21600" y="11222"/>
                      <a:pt x="21600" y="20047"/>
                    </a:cubicBezTo>
                  </a:path>
                  <a:path w="21600" h="20047" stroke="0" extrusionOk="0">
                    <a:moveTo>
                      <a:pt x="8041" y="-1"/>
                    </a:moveTo>
                    <a:cubicBezTo>
                      <a:pt x="16231" y="3284"/>
                      <a:pt x="21600" y="11222"/>
                      <a:pt x="21600" y="20047"/>
                    </a:cubicBezTo>
                    <a:lnTo>
                      <a:pt x="0" y="20047"/>
                    </a:lnTo>
                    <a:close/>
                  </a:path>
                </a:pathLst>
              </a:custGeom>
              <a:noFill/>
              <a:ln w="25400" cap="sq">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 name="Text Box 15">
              <a:extLst>
                <a:ext uri="{FF2B5EF4-FFF2-40B4-BE49-F238E27FC236}">
                  <a16:creationId xmlns:a16="http://schemas.microsoft.com/office/drawing/2014/main" id="{A2265C5E-E3B1-D5A6-D7B2-8B43F825F3EA}"/>
                </a:ext>
              </a:extLst>
            </p:cNvPr>
            <p:cNvSpPr txBox="1">
              <a:spLocks noChangeArrowheads="1"/>
            </p:cNvSpPr>
            <p:nvPr/>
          </p:nvSpPr>
          <p:spPr bwMode="auto">
            <a:xfrm>
              <a:off x="7092950" y="4408488"/>
              <a:ext cx="503238" cy="369332"/>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t>Y</a:t>
              </a:r>
            </a:p>
          </p:txBody>
        </p:sp>
        <p:sp>
          <p:nvSpPr>
            <p:cNvPr id="6" name="Text Box 16">
              <a:extLst>
                <a:ext uri="{FF2B5EF4-FFF2-40B4-BE49-F238E27FC236}">
                  <a16:creationId xmlns:a16="http://schemas.microsoft.com/office/drawing/2014/main" id="{92720655-EE88-F0D6-5B99-88D7B4778C27}"/>
                </a:ext>
              </a:extLst>
            </p:cNvPr>
            <p:cNvSpPr txBox="1">
              <a:spLocks noChangeArrowheads="1"/>
            </p:cNvSpPr>
            <p:nvPr/>
          </p:nvSpPr>
          <p:spPr bwMode="auto">
            <a:xfrm>
              <a:off x="9023350" y="6338888"/>
              <a:ext cx="503238" cy="519112"/>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t>x</a:t>
              </a:r>
            </a:p>
          </p:txBody>
        </p:sp>
        <p:sp>
          <p:nvSpPr>
            <p:cNvPr id="7" name="Text Box 17">
              <a:extLst>
                <a:ext uri="{FF2B5EF4-FFF2-40B4-BE49-F238E27FC236}">
                  <a16:creationId xmlns:a16="http://schemas.microsoft.com/office/drawing/2014/main" id="{2D991033-18BC-7177-99E8-95E3FD82D0BE}"/>
                </a:ext>
              </a:extLst>
            </p:cNvPr>
            <p:cNvSpPr txBox="1">
              <a:spLocks noChangeArrowheads="1"/>
            </p:cNvSpPr>
            <p:nvPr/>
          </p:nvSpPr>
          <p:spPr bwMode="auto">
            <a:xfrm>
              <a:off x="8231188" y="4927600"/>
              <a:ext cx="1295400" cy="369332"/>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t>A(</a:t>
              </a:r>
              <a:r>
                <a:rPr lang="en-US" altLang="zh-CN" dirty="0" err="1"/>
                <a:t>Xa,Ya</a:t>
              </a:r>
              <a:r>
                <a:rPr lang="en-US" altLang="zh-CN" dirty="0"/>
                <a:t>)</a:t>
              </a:r>
            </a:p>
          </p:txBody>
        </p:sp>
        <p:sp>
          <p:nvSpPr>
            <p:cNvPr id="9" name="Text Box 19">
              <a:extLst>
                <a:ext uri="{FF2B5EF4-FFF2-40B4-BE49-F238E27FC236}">
                  <a16:creationId xmlns:a16="http://schemas.microsoft.com/office/drawing/2014/main" id="{B9CECCEA-77CB-C993-792A-A28BC2E2AC59}"/>
                </a:ext>
              </a:extLst>
            </p:cNvPr>
            <p:cNvSpPr txBox="1">
              <a:spLocks noChangeArrowheads="1"/>
            </p:cNvSpPr>
            <p:nvPr/>
          </p:nvSpPr>
          <p:spPr bwMode="auto">
            <a:xfrm>
              <a:off x="7293095" y="6188631"/>
              <a:ext cx="1176337" cy="369332"/>
            </a:xfrm>
            <a:prstGeom prst="rect">
              <a:avLst/>
            </a:prstGeom>
            <a:noFill/>
            <a:ln w="9525" cap="sq">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dirty="0"/>
                <a:t>P(</a:t>
              </a:r>
              <a:r>
                <a:rPr lang="en-US" altLang="zh-CN" dirty="0" err="1"/>
                <a:t>Xp,Yp</a:t>
              </a:r>
              <a:r>
                <a:rPr lang="en-US" altLang="zh-CN" dirty="0"/>
                <a:t>)</a:t>
              </a:r>
            </a:p>
          </p:txBody>
        </p:sp>
      </p:grpSp>
    </p:spTree>
    <p:extLst>
      <p:ext uri="{BB962C8B-B14F-4D97-AF65-F5344CB8AC3E}">
        <p14:creationId xmlns:p14="http://schemas.microsoft.com/office/powerpoint/2010/main" val="2329440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04031" y="468861"/>
                <a:ext cx="11355388" cy="4150764"/>
              </a:xfrm>
            </p:spPr>
            <p:txBody>
              <a:bodyPr>
                <a:normAutofit fontScale="92500"/>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夹角的正负由其正切函数的差值决定。</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800" i="1" dirty="0">
                        <a:latin typeface="Cambria Math" panose="02040503050406030204" pitchFamily="18" charset="0"/>
                        <a:ea typeface="华光仿宋_CNKI" panose="02000500000000000000" pitchFamily="2" charset="-122"/>
                      </a:rPr>
                      <m:t>设</m:t>
                    </m:r>
                    <m:acc>
                      <m:accPr>
                        <m:chr m:val="⃗"/>
                        <m:ctrlPr>
                          <a:rPr lang="zh-CN" altLang="en-US" sz="2800" i="1" smtClean="0">
                            <a:latin typeface="Cambria Math" panose="02040503050406030204" pitchFamily="18" charset="0"/>
                            <a:ea typeface="华光仿宋_CNKI" panose="02000500000000000000" pitchFamily="2" charset="-122"/>
                          </a:rPr>
                        </m:ctrlPr>
                      </m:accPr>
                      <m:e>
                        <m:r>
                          <m:rPr>
                            <m:sty m:val="p"/>
                          </m:rPr>
                          <a:rPr lang="en-US" altLang="zh-CN" sz="2800" i="1">
                            <a:latin typeface="Cambria Math" panose="02040503050406030204" pitchFamily="18" charset="0"/>
                            <a:ea typeface="华光仿宋_CNKI" panose="02000500000000000000" pitchFamily="2" charset="-122"/>
                          </a:rPr>
                          <m:t>PA</m:t>
                        </m:r>
                      </m:e>
                    </m:acc>
                  </m:oMath>
                </a14:m>
                <a:r>
                  <a:rPr lang="zh-CN" altLang="en-US" sz="2800" dirty="0">
                    <a:latin typeface="华光仿宋_CNKI" panose="02000500000000000000" pitchFamily="2" charset="-122"/>
                    <a:ea typeface="华光仿宋_CNKI" panose="02000500000000000000" pitchFamily="2" charset="-122"/>
                  </a:rPr>
                  <a:t>与</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轴的夹角为</a:t>
                </a:r>
                <a14:m>
                  <m:oMath xmlns:m="http://schemas.openxmlformats.org/officeDocument/2006/math">
                    <m:r>
                      <m:rPr>
                        <m:sty m:val="p"/>
                      </m:rPr>
                      <a:rPr lang="el-GR" altLang="zh-CN" sz="2800" i="1">
                        <a:latin typeface="Cambria Math" panose="02040503050406030204" pitchFamily="18" charset="0"/>
                        <a:ea typeface="Cambria Math" panose="02040503050406030204" pitchFamily="18" charset="0"/>
                      </a:rPr>
                      <m:t>α</m:t>
                    </m:r>
                  </m:oMath>
                </a14:m>
                <a:r>
                  <a:rPr lang="en-US" altLang="zh-CN" sz="2800" dirty="0">
                    <a:latin typeface="华光仿宋_CNKI" panose="02000500000000000000" pitchFamily="2" charset="-122"/>
                    <a:ea typeface="华光仿宋_CNKI" panose="02000500000000000000" pitchFamily="2" charset="-122"/>
                  </a:rPr>
                  <a:t>,</a:t>
                </a:r>
                <a:r>
                  <a:rPr lang="zh-CN" altLang="en-US" sz="2800" dirty="0">
                    <a:ea typeface="华光仿宋_CNKI" panose="02000500000000000000" pitchFamily="2" charset="-122"/>
                  </a:rPr>
                  <a:t> </a:t>
                </a:r>
                <a14:m>
                  <m:oMath xmlns:m="http://schemas.openxmlformats.org/officeDocument/2006/math">
                    <m:acc>
                      <m:accPr>
                        <m:chr m:val="⃗"/>
                        <m:ctrlPr>
                          <a:rPr lang="zh-CN" altLang="en-US" sz="2800" i="1">
                            <a:latin typeface="Cambria Math" panose="02040503050406030204" pitchFamily="18" charset="0"/>
                            <a:ea typeface="华光仿宋_CNKI" panose="02000500000000000000" pitchFamily="2" charset="-122"/>
                          </a:rPr>
                        </m:ctrlPr>
                      </m:accPr>
                      <m:e>
                        <m:r>
                          <m:rPr>
                            <m:sty m:val="p"/>
                          </m:rPr>
                          <a:rPr lang="en-US" altLang="zh-CN" sz="2800" i="1">
                            <a:latin typeface="Cambria Math" panose="02040503050406030204" pitchFamily="18" charset="0"/>
                            <a:ea typeface="华光仿宋_CNKI" panose="02000500000000000000" pitchFamily="2" charset="-122"/>
                          </a:rPr>
                          <m:t>P</m:t>
                        </m:r>
                        <m:r>
                          <a:rPr lang="en-US" altLang="zh-CN" sz="2800" b="0" i="1" smtClean="0">
                            <a:latin typeface="Cambria Math" panose="02040503050406030204" pitchFamily="18" charset="0"/>
                            <a:ea typeface="华光仿宋_CNKI" panose="02000500000000000000" pitchFamily="2" charset="-122"/>
                          </a:rPr>
                          <m:t>𝐵</m:t>
                        </m:r>
                      </m:e>
                    </m:acc>
                  </m:oMath>
                </a14:m>
                <a:r>
                  <a:rPr lang="zh-CN" altLang="en-US" sz="2800" dirty="0">
                    <a:latin typeface="华光仿宋_CNKI" panose="02000500000000000000" pitchFamily="2" charset="-122"/>
                    <a:ea typeface="华光仿宋_CNKI" panose="02000500000000000000" pitchFamily="2" charset="-122"/>
                  </a:rPr>
                  <a:t>与</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轴的夹角为</a:t>
                </a:r>
                <a14:m>
                  <m:oMath xmlns:m="http://schemas.openxmlformats.org/officeDocument/2006/math">
                    <m:r>
                      <a:rPr lang="zh-CN" altLang="en-US" sz="2800" i="1" smtClean="0">
                        <a:latin typeface="Cambria Math" panose="02040503050406030204" pitchFamily="18" charset="0"/>
                        <a:ea typeface="华光仿宋_CNKI" panose="02000500000000000000" pitchFamily="2" charset="-122"/>
                      </a:rPr>
                      <m:t>𝛽</m:t>
                    </m:r>
                  </m:oMath>
                </a14:m>
                <a:r>
                  <a:rPr lang="zh-CN" altLang="en-US" sz="2800" dirty="0">
                    <a:latin typeface="华光仿宋_CNKI" panose="02000500000000000000" pitchFamily="2" charset="-122"/>
                    <a:ea typeface="华光仿宋_CNKI" panose="02000500000000000000" pitchFamily="2" charset="-122"/>
                  </a:rPr>
                  <a:t>，则</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tan</a:t>
                </a:r>
                <a14:m>
                  <m:oMath xmlns:m="http://schemas.openxmlformats.org/officeDocument/2006/math">
                    <m:r>
                      <m:rPr>
                        <m:sty m:val="p"/>
                      </m:rPr>
                      <a:rPr lang="el-GR" altLang="zh-CN" sz="2800" i="1">
                        <a:latin typeface="Cambria Math" panose="02040503050406030204" pitchFamily="18" charset="0"/>
                        <a:ea typeface="Cambria Math" panose="02040503050406030204" pitchFamily="18" charset="0"/>
                      </a:rPr>
                      <m:t>α</m:t>
                    </m:r>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f>
                      <m:fPr>
                        <m:ctrlPr>
                          <a:rPr lang="en-US" altLang="zh-CN" sz="2800" i="1" dirty="0" smtClean="0">
                            <a:latin typeface="Cambria Math" panose="02040503050406030204" pitchFamily="18" charset="0"/>
                            <a:ea typeface="华光仿宋_CNKI" panose="02000500000000000000" pitchFamily="2" charset="-122"/>
                          </a:rPr>
                        </m:ctrlPr>
                      </m:fPr>
                      <m:num>
                        <m:sSub>
                          <m:sSubPr>
                            <m:ctrlPr>
                              <a:rPr lang="en-US" altLang="zh-CN" sz="2800" i="1" dirty="0" smtClean="0">
                                <a:latin typeface="Cambria Math" panose="02040503050406030204" pitchFamily="18" charset="0"/>
                                <a:ea typeface="华光仿宋_CNKI" panose="02000500000000000000" pitchFamily="2" charset="-122"/>
                              </a:rPr>
                            </m:ctrlPr>
                          </m:sSubPr>
                          <m:e>
                            <m:r>
                              <a:rPr lang="en-US" altLang="zh-CN" sz="2800" b="0" i="1" dirty="0" smtClean="0">
                                <a:latin typeface="Cambria Math" panose="02040503050406030204" pitchFamily="18" charset="0"/>
                                <a:ea typeface="华光仿宋_CNKI" panose="02000500000000000000" pitchFamily="2" charset="-122"/>
                              </a:rPr>
                              <m:t>𝑦</m:t>
                            </m:r>
                          </m:e>
                          <m:sub>
                            <m:r>
                              <a:rPr lang="en-US" altLang="zh-CN" sz="2800" b="0" i="1" dirty="0" smtClean="0">
                                <a:latin typeface="Cambria Math" panose="02040503050406030204" pitchFamily="18" charset="0"/>
                                <a:ea typeface="华光仿宋_CNKI" panose="02000500000000000000" pitchFamily="2" charset="-122"/>
                              </a:rPr>
                              <m:t>𝑎</m:t>
                            </m:r>
                          </m:sub>
                        </m:sSub>
                        <m:r>
                          <a:rPr lang="en-US" altLang="zh-CN" sz="2800" b="0" i="1" dirty="0" smtClean="0">
                            <a:latin typeface="Cambria Math" panose="02040503050406030204" pitchFamily="18" charset="0"/>
                            <a:ea typeface="华光仿宋_CNKI" panose="02000500000000000000" pitchFamily="2" charset="-122"/>
                          </a:rPr>
                          <m:t>−</m:t>
                        </m:r>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i="1" dirty="0">
                                <a:latin typeface="Cambria Math" panose="02040503050406030204" pitchFamily="18" charset="0"/>
                                <a:ea typeface="华光仿宋_CNKI" panose="02000500000000000000" pitchFamily="2" charset="-122"/>
                              </a:rPr>
                              <m:t>𝑦</m:t>
                            </m:r>
                          </m:e>
                          <m:sub>
                            <m:r>
                              <a:rPr lang="en-US" altLang="zh-CN" sz="2800" b="0" i="1" dirty="0" smtClean="0">
                                <a:latin typeface="Cambria Math" panose="02040503050406030204" pitchFamily="18" charset="0"/>
                                <a:ea typeface="华光仿宋_CNKI" panose="02000500000000000000" pitchFamily="2" charset="-122"/>
                              </a:rPr>
                              <m:t>𝑝</m:t>
                            </m:r>
                          </m:sub>
                        </m:sSub>
                      </m:num>
                      <m:den>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b="0" i="1" dirty="0" smtClean="0">
                                <a:latin typeface="Cambria Math" panose="02040503050406030204" pitchFamily="18" charset="0"/>
                                <a:ea typeface="华光仿宋_CNKI" panose="02000500000000000000" pitchFamily="2" charset="-122"/>
                              </a:rPr>
                              <m:t>𝑥</m:t>
                            </m:r>
                          </m:e>
                          <m:sub>
                            <m:r>
                              <a:rPr lang="en-US" altLang="zh-CN" sz="2800" i="1" dirty="0">
                                <a:latin typeface="Cambria Math" panose="02040503050406030204" pitchFamily="18" charset="0"/>
                                <a:ea typeface="华光仿宋_CNKI" panose="02000500000000000000" pitchFamily="2" charset="-122"/>
                              </a:rPr>
                              <m:t>𝑎</m:t>
                            </m:r>
                          </m:sub>
                        </m:sSub>
                        <m:r>
                          <a:rPr lang="en-US" altLang="zh-CN" sz="2800" i="1" dirty="0">
                            <a:latin typeface="Cambria Math" panose="02040503050406030204" pitchFamily="18" charset="0"/>
                            <a:ea typeface="华光仿宋_CNKI" panose="02000500000000000000" pitchFamily="2" charset="-122"/>
                          </a:rPr>
                          <m:t>−</m:t>
                        </m:r>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b="0" i="1" dirty="0" smtClean="0">
                                <a:latin typeface="Cambria Math" panose="02040503050406030204" pitchFamily="18" charset="0"/>
                                <a:ea typeface="华光仿宋_CNKI" panose="02000500000000000000" pitchFamily="2" charset="-122"/>
                              </a:rPr>
                              <m:t>𝑥</m:t>
                            </m:r>
                          </m:e>
                          <m:sub>
                            <m:r>
                              <a:rPr lang="en-US" altLang="zh-CN" sz="2800" i="1" dirty="0">
                                <a:latin typeface="Cambria Math" panose="02040503050406030204" pitchFamily="18" charset="0"/>
                                <a:ea typeface="华光仿宋_CNKI" panose="02000500000000000000" pitchFamily="2" charset="-122"/>
                              </a:rPr>
                              <m:t>𝑝</m:t>
                            </m:r>
                          </m:sub>
                        </m:sSub>
                      </m:den>
                    </m:f>
                  </m:oMath>
                </a14:m>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 tan</a:t>
                </a:r>
                <a14:m>
                  <m:oMath xmlns:m="http://schemas.openxmlformats.org/officeDocument/2006/math">
                    <m:r>
                      <a:rPr lang="zh-CN" altLang="en-US" sz="2800" i="1">
                        <a:latin typeface="Cambria Math" panose="02040503050406030204" pitchFamily="18" charset="0"/>
                        <a:ea typeface="华光仿宋_CNKI" panose="02000500000000000000" pitchFamily="2" charset="-122"/>
                      </a:rPr>
                      <m:t>𝛽</m:t>
                    </m:r>
                  </m:oMath>
                </a14:m>
                <a:r>
                  <a:rPr lang="en-US" altLang="zh-CN" sz="2800" dirty="0">
                    <a:latin typeface="华光仿宋_CNKI" panose="02000500000000000000" pitchFamily="2" charset="-122"/>
                    <a:ea typeface="华光仿宋_CNKI" panose="02000500000000000000" pitchFamily="2" charset="-122"/>
                  </a:rPr>
                  <a:t>=</a:t>
                </a:r>
                <a:r>
                  <a:rPr lang="en-US" altLang="zh-CN" sz="2800" dirty="0">
                    <a:ea typeface="华光仿宋_CNKI" panose="02000500000000000000" pitchFamily="2" charset="-122"/>
                  </a:rPr>
                  <a:t> </a:t>
                </a:r>
                <a14:m>
                  <m:oMath xmlns:m="http://schemas.openxmlformats.org/officeDocument/2006/math">
                    <m:f>
                      <m:fPr>
                        <m:ctrlPr>
                          <a:rPr lang="en-US" altLang="zh-CN" sz="2800" i="1" dirty="0">
                            <a:latin typeface="Cambria Math" panose="02040503050406030204" pitchFamily="18" charset="0"/>
                            <a:ea typeface="华光仿宋_CNKI" panose="02000500000000000000" pitchFamily="2" charset="-122"/>
                          </a:rPr>
                        </m:ctrlPr>
                      </m:fPr>
                      <m:num>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i="1" dirty="0">
                                <a:latin typeface="Cambria Math" panose="02040503050406030204" pitchFamily="18" charset="0"/>
                                <a:ea typeface="华光仿宋_CNKI" panose="02000500000000000000" pitchFamily="2" charset="-122"/>
                              </a:rPr>
                              <m:t>𝑦</m:t>
                            </m:r>
                          </m:e>
                          <m:sub>
                            <m:r>
                              <a:rPr lang="en-US" altLang="zh-CN" sz="2800" b="0" i="1" dirty="0" smtClean="0">
                                <a:latin typeface="Cambria Math" panose="02040503050406030204" pitchFamily="18" charset="0"/>
                                <a:ea typeface="华光仿宋_CNKI" panose="02000500000000000000" pitchFamily="2" charset="-122"/>
                              </a:rPr>
                              <m:t>𝑏</m:t>
                            </m:r>
                          </m:sub>
                        </m:sSub>
                        <m:r>
                          <a:rPr lang="en-US" altLang="zh-CN" sz="2800" i="1" dirty="0">
                            <a:latin typeface="Cambria Math" panose="02040503050406030204" pitchFamily="18" charset="0"/>
                            <a:ea typeface="华光仿宋_CNKI" panose="02000500000000000000" pitchFamily="2" charset="-122"/>
                          </a:rPr>
                          <m:t>−</m:t>
                        </m:r>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i="1" dirty="0">
                                <a:latin typeface="Cambria Math" panose="02040503050406030204" pitchFamily="18" charset="0"/>
                                <a:ea typeface="华光仿宋_CNKI" panose="02000500000000000000" pitchFamily="2" charset="-122"/>
                              </a:rPr>
                              <m:t>𝑦</m:t>
                            </m:r>
                          </m:e>
                          <m:sub>
                            <m:r>
                              <a:rPr lang="en-US" altLang="zh-CN" sz="2800" i="1" dirty="0">
                                <a:latin typeface="Cambria Math" panose="02040503050406030204" pitchFamily="18" charset="0"/>
                                <a:ea typeface="华光仿宋_CNKI" panose="02000500000000000000" pitchFamily="2" charset="-122"/>
                              </a:rPr>
                              <m:t>𝑝</m:t>
                            </m:r>
                          </m:sub>
                        </m:sSub>
                      </m:num>
                      <m:den>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i="1" dirty="0">
                                <a:latin typeface="Cambria Math" panose="02040503050406030204" pitchFamily="18" charset="0"/>
                                <a:ea typeface="华光仿宋_CNKI" panose="02000500000000000000" pitchFamily="2" charset="-122"/>
                              </a:rPr>
                              <m:t>𝑥</m:t>
                            </m:r>
                          </m:e>
                          <m:sub>
                            <m:r>
                              <a:rPr lang="en-US" altLang="zh-CN" sz="2800" b="0" i="1" dirty="0" smtClean="0">
                                <a:latin typeface="Cambria Math" panose="02040503050406030204" pitchFamily="18" charset="0"/>
                                <a:ea typeface="华光仿宋_CNKI" panose="02000500000000000000" pitchFamily="2" charset="-122"/>
                              </a:rPr>
                              <m:t>𝑏</m:t>
                            </m:r>
                          </m:sub>
                        </m:sSub>
                        <m:r>
                          <a:rPr lang="en-US" altLang="zh-CN" sz="2800" i="1" dirty="0">
                            <a:latin typeface="Cambria Math" panose="02040503050406030204" pitchFamily="18" charset="0"/>
                            <a:ea typeface="华光仿宋_CNKI" panose="02000500000000000000" pitchFamily="2" charset="-122"/>
                          </a:rPr>
                          <m:t>−</m:t>
                        </m:r>
                        <m:sSub>
                          <m:sSubPr>
                            <m:ctrlPr>
                              <a:rPr lang="en-US" altLang="zh-CN" sz="2800" i="1" dirty="0">
                                <a:latin typeface="Cambria Math" panose="02040503050406030204" pitchFamily="18" charset="0"/>
                                <a:ea typeface="华光仿宋_CNKI" panose="02000500000000000000" pitchFamily="2" charset="-122"/>
                              </a:rPr>
                            </m:ctrlPr>
                          </m:sSubPr>
                          <m:e>
                            <m:r>
                              <a:rPr lang="en-US" altLang="zh-CN" sz="2800" i="1" dirty="0">
                                <a:latin typeface="Cambria Math" panose="02040503050406030204" pitchFamily="18" charset="0"/>
                                <a:ea typeface="华光仿宋_CNKI" panose="02000500000000000000" pitchFamily="2" charset="-122"/>
                              </a:rPr>
                              <m:t>𝑥</m:t>
                            </m:r>
                          </m:e>
                          <m:sub>
                            <m:r>
                              <a:rPr lang="en-US" altLang="zh-CN" sz="2800" i="1" dirty="0">
                                <a:latin typeface="Cambria Math" panose="02040503050406030204" pitchFamily="18" charset="0"/>
                                <a:ea typeface="华光仿宋_CNKI" panose="02000500000000000000" pitchFamily="2" charset="-122"/>
                              </a:rPr>
                              <m:t>𝑝</m:t>
                            </m:r>
                          </m:sub>
                        </m:sSub>
                      </m:den>
                    </m:f>
                  </m:oMath>
                </a14:m>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a:t>
                </a:r>
                <a:r>
                  <a:rPr lang="en-US" altLang="zh-CN" sz="2800" dirty="0">
                    <a:latin typeface="华光仿宋_CNKI" panose="02000500000000000000" pitchFamily="2" charset="-122"/>
                    <a:ea typeface="华光仿宋_CNKI" panose="02000500000000000000" pitchFamily="2" charset="-122"/>
                  </a:rPr>
                  <a:t>tan</a:t>
                </a:r>
                <a14:m>
                  <m:oMath xmlns:m="http://schemas.openxmlformats.org/officeDocument/2006/math">
                    <m:r>
                      <m:rPr>
                        <m:sty m:val="p"/>
                      </m:rPr>
                      <a:rPr lang="el-GR" altLang="zh-CN" sz="2800" i="1">
                        <a:latin typeface="Cambria Math" panose="02040503050406030204" pitchFamily="18" charset="0"/>
                        <a:ea typeface="Cambria Math" panose="02040503050406030204" pitchFamily="18" charset="0"/>
                      </a:rPr>
                      <m:t>α</m:t>
                    </m:r>
                  </m:oMath>
                </a14:m>
                <a:r>
                  <a:rPr lang="en-US" altLang="zh-CN" sz="2800" dirty="0">
                    <a:latin typeface="华光仿宋_CNKI" panose="02000500000000000000" pitchFamily="2" charset="-122"/>
                    <a:ea typeface="华光仿宋_CNKI" panose="02000500000000000000" pitchFamily="2" charset="-122"/>
                  </a:rPr>
                  <a:t>- tan</a:t>
                </a:r>
                <a14:m>
                  <m:oMath xmlns:m="http://schemas.openxmlformats.org/officeDocument/2006/math">
                    <m:r>
                      <a:rPr lang="zh-CN" altLang="en-US" sz="2800" i="1">
                        <a:latin typeface="Cambria Math" panose="02040503050406030204" pitchFamily="18" charset="0"/>
                        <a:ea typeface="华光仿宋_CNKI" panose="02000500000000000000" pitchFamily="2" charset="-122"/>
                      </a:rPr>
                      <m:t>𝛽</m:t>
                    </m:r>
                  </m:oMath>
                </a14:m>
                <a:r>
                  <a:rPr lang="en-US" altLang="zh-CN" sz="2800" dirty="0">
                    <a:latin typeface="华光仿宋_CNKI" panose="02000500000000000000" pitchFamily="2" charset="-122"/>
                    <a:ea typeface="华光仿宋_CNKI" panose="02000500000000000000" pitchFamily="2" charset="-122"/>
                  </a:rPr>
                  <a:t>&gt;0,</a:t>
                </a:r>
                <a:r>
                  <a:rPr lang="zh-CN" altLang="en-US" sz="2800" dirty="0">
                    <a:latin typeface="华光仿宋_CNKI" panose="02000500000000000000" pitchFamily="2" charset="-122"/>
                    <a:ea typeface="华光仿宋_CNKI" panose="02000500000000000000" pitchFamily="2" charset="-122"/>
                  </a:rPr>
                  <a:t>说明顺时针，否则为逆时针，可规定逆时针为正，顺时针为负。也就是计算下面行列式的值。</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504031" y="468861"/>
                <a:ext cx="11355388" cy="4150764"/>
              </a:xfrm>
              <a:blipFill>
                <a:blip r:embed="rId2"/>
                <a:stretch>
                  <a:fillRect l="-9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Object 5">
                <a:extLst>
                  <a:ext uri="{FF2B5EF4-FFF2-40B4-BE49-F238E27FC236}">
                    <a16:creationId xmlns:a16="http://schemas.microsoft.com/office/drawing/2014/main" id="{86B97FC4-4350-C986-E287-ADAFEE817397}"/>
                  </a:ext>
                </a:extLst>
              </p:cNvPr>
              <p:cNvSpPr txBox="1"/>
              <p:nvPr/>
            </p:nvSpPr>
            <p:spPr bwMode="auto">
              <a:xfrm>
                <a:off x="1200944" y="4733926"/>
                <a:ext cx="10658475" cy="1009649"/>
              </a:xfrm>
              <a:prstGeom prst="rect">
                <a:avLst/>
              </a:prstGeom>
              <a:solidFill>
                <a:srgbClr val="FFFFFF"/>
              </a:solidFill>
            </p:spPr>
            <p:txBody>
              <a:bodyPr>
                <a:norm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𝑇</m:t>
                      </m:r>
                      <m:r>
                        <a:rPr lang="zh-CN" altLang="en-US" sz="2800" i="1" smtClean="0">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2"/>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𝑃</m:t>
                                    </m:r>
                                  </m:sub>
                                </m:sSub>
                              </m:e>
                              <m:e>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en-US" altLang="zh-CN" sz="2800" b="0" i="1" smtClean="0">
                                        <a:solidFill>
                                          <a:srgbClr val="000000"/>
                                        </a:solidFill>
                                        <a:latin typeface="Cambria Math" panose="02040503050406030204" pitchFamily="18" charset="0"/>
                                      </a:rPr>
                                      <m:t>𝑎</m:t>
                                    </m:r>
                                  </m:sub>
                                </m:sSub>
                                <m:r>
                                  <a:rPr lang="zh-CN" altLang="en-US"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𝑦</m:t>
                                    </m:r>
                                  </m:e>
                                  <m:sub>
                                    <m:r>
                                      <a:rPr lang="en-US" altLang="zh-CN" sz="2800" b="0" i="1" smtClean="0">
                                        <a:solidFill>
                                          <a:srgbClr val="000000"/>
                                        </a:solidFill>
                                        <a:latin typeface="Cambria Math" panose="02040503050406030204" pitchFamily="18" charset="0"/>
                                      </a:rPr>
                                      <m:t>𝑝</m:t>
                                    </m:r>
                                  </m:sub>
                                </m:sSub>
                              </m:e>
                            </m:mr>
                            <m:m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𝑃</m:t>
                                    </m:r>
                                  </m:sub>
                                </m:sSub>
                              </m:e>
                              <m:e>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𝑃</m:t>
                                    </m:r>
                                  </m:sub>
                                </m:sSub>
                              </m:e>
                            </m:mr>
                          </m:m>
                        </m:e>
                      </m:d>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𝑃</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𝑃</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𝑥</m:t>
                          </m:r>
                        </m:e>
                        <m:sub>
                          <m:r>
                            <a:rPr lang="zh-CN" altLang="en-US" sz="2800" i="1">
                              <a:solidFill>
                                <a:srgbClr val="000000"/>
                              </a:solidFill>
                              <a:latin typeface="Cambria Math" panose="02040503050406030204" pitchFamily="18" charset="0"/>
                            </a:rPr>
                            <m:t>𝑃</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𝑦</m:t>
                          </m:r>
                        </m:e>
                        <m:sub>
                          <m:r>
                            <a:rPr lang="zh-CN" altLang="en-US" sz="2800" i="1">
                              <a:solidFill>
                                <a:srgbClr val="000000"/>
                              </a:solidFill>
                              <a:latin typeface="Cambria Math" panose="02040503050406030204" pitchFamily="18" charset="0"/>
                            </a:rPr>
                            <m:t>𝑃</m:t>
                          </m:r>
                        </m:sub>
                      </m:sSub>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2" name="Object 5">
                <a:extLst>
                  <a:ext uri="{FF2B5EF4-FFF2-40B4-BE49-F238E27FC236}">
                    <a16:creationId xmlns:a16="http://schemas.microsoft.com/office/drawing/2014/main" id="{86B97FC4-4350-C986-E287-ADAFEE817397}"/>
                  </a:ext>
                </a:extLst>
              </p:cNvPr>
              <p:cNvSpPr txBox="1">
                <a:spLocks noRot="1" noChangeAspect="1" noMove="1" noResize="1" noEditPoints="1" noAdjustHandles="1" noChangeArrowheads="1" noChangeShapeType="1" noTextEdit="1"/>
              </p:cNvSpPr>
              <p:nvPr/>
            </p:nvSpPr>
            <p:spPr bwMode="auto">
              <a:xfrm>
                <a:off x="1200944" y="4733926"/>
                <a:ext cx="10658475" cy="1009649"/>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77150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659313"/>
          </a:xfrm>
        </p:spPr>
        <p:txBody>
          <a:bodyPr>
            <a:norm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如果</a:t>
            </a:r>
            <a:r>
              <a:rPr lang="en-US" altLang="zh-CN" sz="2800" dirty="0">
                <a:latin typeface="华光仿宋_CNKI" panose="02000500000000000000" pitchFamily="2" charset="-122"/>
                <a:ea typeface="华光仿宋_CNKI" panose="02000500000000000000" pitchFamily="2" charset="-122"/>
              </a:rPr>
              <a:t>T&gt;0</a:t>
            </a:r>
            <a:r>
              <a:rPr lang="zh-CN" altLang="en-US" sz="2800" dirty="0">
                <a:latin typeface="华光仿宋_CNKI" panose="02000500000000000000" pitchFamily="2" charset="-122"/>
                <a:ea typeface="华光仿宋_CNKI" panose="02000500000000000000" pitchFamily="2" charset="-122"/>
              </a:rPr>
              <a:t>则说明是逆时针为正，否则为负，是顺时针。</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标题宋_CNKI" panose="02000500000000000000" pitchFamily="2" charset="-122"/>
                <a:ea typeface="华光标题宋_CNKI" panose="02000500000000000000" pitchFamily="2" charset="-122"/>
              </a:rPr>
              <a:t>3.4.2 </a:t>
            </a:r>
            <a:r>
              <a:rPr lang="zh-CN" altLang="en-US" sz="2800" dirty="0">
                <a:latin typeface="华光标题宋_CNKI" panose="02000500000000000000" pitchFamily="2" charset="-122"/>
                <a:ea typeface="华光标题宋_CNKI" panose="02000500000000000000" pitchFamily="2" charset="-122"/>
              </a:rPr>
              <a:t>射线法求像素是否在区域内</a:t>
            </a:r>
            <a:endParaRPr lang="en-US" altLang="zh-CN" sz="2800" dirty="0">
              <a:latin typeface="华光标题宋_CNKI" panose="02000500000000000000" pitchFamily="2" charset="-122"/>
              <a:ea typeface="华光标题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从屏幕上的一个点出发，先水平或者垂直方向做一个射线。一般采用向右边或者下面做射线，然后判断该射线与多边形交点的个数。如果交点的个数为偶数个，则认为该像素在多边形之外；如果交点的个数为奇数个，则认为该像素在多边形之内。</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1971017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43256" y="912133"/>
            <a:ext cx="10174685" cy="4777467"/>
          </a:xfrm>
        </p:spPr>
        <p:txBody>
          <a:bodyPr>
            <a:normAutofit lnSpcReduction="10000"/>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计算交点个数时需要注意以下几种情形：</a:t>
            </a: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）该点在多边形内部，所发出的射线正好经过多边形的某一个顶点。</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）该射线与多边形的某边重叠。</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为解决该问题，可以在满足如下条件时再计算交点的</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坐标，并判断该点的</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坐标是否在交点的右边，确定是否应该算成真正的交点：</a:t>
            </a:r>
          </a:p>
          <a:p>
            <a:pPr algn="l">
              <a:lnSpc>
                <a:spcPct val="150000"/>
              </a:lnSpc>
            </a:pPr>
            <a:endParaRPr lang="zh-CN" altLang="en-US"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8429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4">
            <a:extLst>
              <a:ext uri="{FF2B5EF4-FFF2-40B4-BE49-F238E27FC236}">
                <a16:creationId xmlns:a16="http://schemas.microsoft.com/office/drawing/2014/main" id="{14258757-A2B5-0B70-D481-46C2F07AC2C3}"/>
              </a:ext>
            </a:extLst>
          </p:cNvPr>
          <p:cNvSpPr/>
          <p:nvPr/>
        </p:nvSpPr>
        <p:spPr>
          <a:xfrm>
            <a:off x="7457571" y="1647844"/>
            <a:ext cx="4037744" cy="3133618"/>
          </a:xfrm>
          <a:custGeom>
            <a:avLst/>
            <a:gdLst>
              <a:gd name="connsiteX0" fmla="*/ 0 w 4037744"/>
              <a:gd name="connsiteY0" fmla="*/ 760288 h 3133618"/>
              <a:gd name="connsiteX1" fmla="*/ 1109609 w 4037744"/>
              <a:gd name="connsiteY1" fmla="*/ 0 h 3133618"/>
              <a:gd name="connsiteX2" fmla="*/ 1561672 w 4037744"/>
              <a:gd name="connsiteY2" fmla="*/ 924674 h 3133618"/>
              <a:gd name="connsiteX3" fmla="*/ 2681555 w 4037744"/>
              <a:gd name="connsiteY3" fmla="*/ 904126 h 3133618"/>
              <a:gd name="connsiteX4" fmla="*/ 3133618 w 4037744"/>
              <a:gd name="connsiteY4" fmla="*/ 154112 h 3133618"/>
              <a:gd name="connsiteX5" fmla="*/ 3369924 w 4037744"/>
              <a:gd name="connsiteY5" fmla="*/ 883577 h 3133618"/>
              <a:gd name="connsiteX6" fmla="*/ 4037744 w 4037744"/>
              <a:gd name="connsiteY6" fmla="*/ 842481 h 3133618"/>
              <a:gd name="connsiteX7" fmla="*/ 3061699 w 4037744"/>
              <a:gd name="connsiteY7" fmla="*/ 2393879 h 3133618"/>
              <a:gd name="connsiteX8" fmla="*/ 2578814 w 4037744"/>
              <a:gd name="connsiteY8" fmla="*/ 1736332 h 3133618"/>
              <a:gd name="connsiteX9" fmla="*/ 678094 w 4037744"/>
              <a:gd name="connsiteY9" fmla="*/ 3133618 h 3133618"/>
              <a:gd name="connsiteX10" fmla="*/ 0 w 4037744"/>
              <a:gd name="connsiteY10" fmla="*/ 760288 h 3133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7744" h="3133618">
                <a:moveTo>
                  <a:pt x="0" y="760288"/>
                </a:moveTo>
                <a:lnTo>
                  <a:pt x="1109609" y="0"/>
                </a:lnTo>
                <a:lnTo>
                  <a:pt x="1561672" y="924674"/>
                </a:lnTo>
                <a:lnTo>
                  <a:pt x="2681555" y="904126"/>
                </a:lnTo>
                <a:lnTo>
                  <a:pt x="3133618" y="154112"/>
                </a:lnTo>
                <a:lnTo>
                  <a:pt x="3369924" y="883577"/>
                </a:lnTo>
                <a:lnTo>
                  <a:pt x="4037744" y="842481"/>
                </a:lnTo>
                <a:lnTo>
                  <a:pt x="3061699" y="2393879"/>
                </a:lnTo>
                <a:lnTo>
                  <a:pt x="2578814" y="1736332"/>
                </a:lnTo>
                <a:lnTo>
                  <a:pt x="678094" y="3133618"/>
                </a:lnTo>
                <a:lnTo>
                  <a:pt x="0" y="760288"/>
                </a:lnTo>
                <a:close/>
              </a:path>
            </a:pathLst>
          </a:custGeom>
          <a:noFill/>
          <a:ln>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4" name="直接连接符 33">
            <a:extLst>
              <a:ext uri="{FF2B5EF4-FFF2-40B4-BE49-F238E27FC236}">
                <a16:creationId xmlns:a16="http://schemas.microsoft.com/office/drawing/2014/main" id="{07065906-1B59-FFE6-3AB9-B0FAF00D2B0F}"/>
              </a:ext>
            </a:extLst>
          </p:cNvPr>
          <p:cNvCxnSpPr>
            <a:cxnSpLocks/>
          </p:cNvCxnSpPr>
          <p:nvPr/>
        </p:nvCxnSpPr>
        <p:spPr>
          <a:xfrm flipV="1">
            <a:off x="8157681" y="2506980"/>
            <a:ext cx="3577119" cy="10060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E36A500-1D02-C0E0-8B41-949612546D6D}"/>
              </a:ext>
            </a:extLst>
          </p:cNvPr>
          <p:cNvSpPr txBox="1"/>
          <p:nvPr/>
        </p:nvSpPr>
        <p:spPr>
          <a:xfrm>
            <a:off x="696685" y="444657"/>
            <a:ext cx="6633069" cy="5322354"/>
          </a:xfrm>
          <a:prstGeom prst="rect">
            <a:avLst/>
          </a:prstGeom>
          <a:noFill/>
        </p:spPr>
        <p:txBody>
          <a:bodyPr wrap="square">
            <a:spAutoFit/>
          </a:bodyPr>
          <a:lstStyle/>
          <a:p>
            <a:pPr>
              <a:lnSpc>
                <a:spcPct val="150000"/>
              </a:lnSpc>
              <a:spcBef>
                <a:spcPts val="1000"/>
              </a:spcBef>
            </a:pPr>
            <a:r>
              <a:rPr lang="zh-CN" altLang="en-US" sz="2800" dirty="0">
                <a:latin typeface="华光仿宋_CNKI" panose="02000500000000000000" pitchFamily="2" charset="-122"/>
                <a:ea typeface="华光仿宋_CNKI" panose="02000500000000000000" pitchFamily="2" charset="-122"/>
              </a:rPr>
              <a:t>     计算每一条边与点的位置关系，如果该交点的</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坐标小于该边一个顶点的</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坐标而大于等于另一个顶点的</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坐标，则计算其交点，否则就不计算。这样就可避免计算与平行边相交的情况，且将与顶点相交的情况纳入到正确的考虑范围之内。</a:t>
            </a:r>
            <a:endParaRPr lang="en-US" altLang="zh-CN" sz="28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800" dirty="0">
                <a:latin typeface="华光仿宋_CNKI" panose="02000500000000000000" pitchFamily="2" charset="-122"/>
                <a:ea typeface="华光仿宋_CNKI" panose="02000500000000000000" pitchFamily="2" charset="-122"/>
              </a:rPr>
              <a:t>   </a:t>
            </a:r>
            <a:r>
              <a:rPr lang="zh-CN" altLang="en-US" sz="2800" b="1" dirty="0">
                <a:solidFill>
                  <a:srgbClr val="C00000"/>
                </a:solidFill>
                <a:latin typeface="华光仿宋_CNKI" panose="02000500000000000000" pitchFamily="2" charset="-122"/>
                <a:ea typeface="华光仿宋_CNKI" panose="02000500000000000000" pitchFamily="2" charset="-122"/>
              </a:rPr>
              <a:t>思考：</a:t>
            </a:r>
            <a:r>
              <a:rPr lang="zh-CN" altLang="en-US" sz="2800" b="1" dirty="0">
                <a:solidFill>
                  <a:srgbClr val="0070C0"/>
                </a:solidFill>
                <a:latin typeface="华光仿宋_CNKI" panose="02000500000000000000" pitchFamily="2" charset="-122"/>
                <a:ea typeface="华光仿宋_CNKI" panose="02000500000000000000" pitchFamily="2" charset="-122"/>
              </a:rPr>
              <a:t>右图中有几个交点？分别是哪几个？</a:t>
            </a:r>
          </a:p>
        </p:txBody>
      </p:sp>
      <p:sp>
        <p:nvSpPr>
          <p:cNvPr id="39" name="文本框 38">
            <a:extLst>
              <a:ext uri="{FF2B5EF4-FFF2-40B4-BE49-F238E27FC236}">
                <a16:creationId xmlns:a16="http://schemas.microsoft.com/office/drawing/2014/main" id="{6A7E3AE4-AA81-8224-7132-62CA00ED75F1}"/>
              </a:ext>
            </a:extLst>
          </p:cNvPr>
          <p:cNvSpPr txBox="1"/>
          <p:nvPr/>
        </p:nvSpPr>
        <p:spPr>
          <a:xfrm>
            <a:off x="8853714" y="1480062"/>
            <a:ext cx="460382" cy="1077218"/>
          </a:xfrm>
          <a:prstGeom prst="rect">
            <a:avLst/>
          </a:prstGeom>
          <a:noFill/>
        </p:spPr>
        <p:txBody>
          <a:bodyPr wrap="none" rtlCol="0">
            <a:spAutoFit/>
          </a:bodyPr>
          <a:lstStyle/>
          <a:p>
            <a:endParaRPr lang="en-US" altLang="zh-CN" sz="3200" b="1" dirty="0"/>
          </a:p>
          <a:p>
            <a:r>
              <a:rPr lang="en-US" altLang="zh-CN" sz="3200" b="1" dirty="0"/>
              <a:t>A</a:t>
            </a:r>
            <a:endParaRPr lang="zh-CN" altLang="en-US" sz="3200" b="1" dirty="0"/>
          </a:p>
        </p:txBody>
      </p:sp>
      <p:sp>
        <p:nvSpPr>
          <p:cNvPr id="40" name="文本框 39">
            <a:extLst>
              <a:ext uri="{FF2B5EF4-FFF2-40B4-BE49-F238E27FC236}">
                <a16:creationId xmlns:a16="http://schemas.microsoft.com/office/drawing/2014/main" id="{3E7A368D-6725-C1CF-7FDE-7DC16DE2DC09}"/>
              </a:ext>
            </a:extLst>
          </p:cNvPr>
          <p:cNvSpPr txBox="1"/>
          <p:nvPr/>
        </p:nvSpPr>
        <p:spPr>
          <a:xfrm>
            <a:off x="9855199" y="1480062"/>
            <a:ext cx="433132" cy="1077218"/>
          </a:xfrm>
          <a:prstGeom prst="rect">
            <a:avLst/>
          </a:prstGeom>
          <a:noFill/>
        </p:spPr>
        <p:txBody>
          <a:bodyPr wrap="none" rtlCol="0">
            <a:spAutoFit/>
          </a:bodyPr>
          <a:lstStyle/>
          <a:p>
            <a:endParaRPr lang="en-US" altLang="zh-CN" sz="3200" b="1" dirty="0"/>
          </a:p>
          <a:p>
            <a:r>
              <a:rPr lang="en-US" altLang="zh-CN" sz="3200" b="1" dirty="0"/>
              <a:t>B</a:t>
            </a:r>
            <a:endParaRPr lang="zh-CN" altLang="en-US" sz="3200" b="1" dirty="0"/>
          </a:p>
        </p:txBody>
      </p:sp>
      <p:sp>
        <p:nvSpPr>
          <p:cNvPr id="41" name="文本框 40">
            <a:extLst>
              <a:ext uri="{FF2B5EF4-FFF2-40B4-BE49-F238E27FC236}">
                <a16:creationId xmlns:a16="http://schemas.microsoft.com/office/drawing/2014/main" id="{FD3D5DCA-41C0-1F62-0C3B-EDF716CF7DA7}"/>
              </a:ext>
            </a:extLst>
          </p:cNvPr>
          <p:cNvSpPr txBox="1"/>
          <p:nvPr/>
        </p:nvSpPr>
        <p:spPr>
          <a:xfrm>
            <a:off x="10710239" y="1480062"/>
            <a:ext cx="439544" cy="1077218"/>
          </a:xfrm>
          <a:prstGeom prst="rect">
            <a:avLst/>
          </a:prstGeom>
          <a:noFill/>
        </p:spPr>
        <p:txBody>
          <a:bodyPr wrap="none" rtlCol="0">
            <a:spAutoFit/>
          </a:bodyPr>
          <a:lstStyle/>
          <a:p>
            <a:endParaRPr lang="en-US" altLang="zh-CN" sz="3200" b="1" dirty="0"/>
          </a:p>
          <a:p>
            <a:r>
              <a:rPr lang="en-US" altLang="zh-CN" sz="3200" b="1" dirty="0"/>
              <a:t>C</a:t>
            </a:r>
            <a:endParaRPr lang="zh-CN" altLang="en-US" sz="3200" b="1" dirty="0"/>
          </a:p>
        </p:txBody>
      </p:sp>
      <p:sp>
        <p:nvSpPr>
          <p:cNvPr id="42" name="文本框 41">
            <a:extLst>
              <a:ext uri="{FF2B5EF4-FFF2-40B4-BE49-F238E27FC236}">
                <a16:creationId xmlns:a16="http://schemas.microsoft.com/office/drawing/2014/main" id="{2F1D0B85-8416-511F-4A67-A16101437FD1}"/>
              </a:ext>
            </a:extLst>
          </p:cNvPr>
          <p:cNvSpPr txBox="1"/>
          <p:nvPr/>
        </p:nvSpPr>
        <p:spPr>
          <a:xfrm>
            <a:off x="11277600" y="1480062"/>
            <a:ext cx="543518" cy="1077218"/>
          </a:xfrm>
          <a:prstGeom prst="rect">
            <a:avLst/>
          </a:prstGeom>
          <a:noFill/>
        </p:spPr>
        <p:txBody>
          <a:bodyPr wrap="square" rtlCol="0">
            <a:spAutoFit/>
          </a:bodyPr>
          <a:lstStyle/>
          <a:p>
            <a:endParaRPr lang="en-US" altLang="zh-CN" sz="3200" b="1" dirty="0"/>
          </a:p>
          <a:p>
            <a:r>
              <a:rPr lang="en-US" altLang="zh-CN" sz="3200" b="1" dirty="0"/>
              <a:t>D</a:t>
            </a:r>
            <a:endParaRPr lang="zh-CN" altLang="en-US" sz="3200" b="1" dirty="0"/>
          </a:p>
        </p:txBody>
      </p:sp>
    </p:spTree>
    <p:extLst>
      <p:ext uri="{BB962C8B-B14F-4D97-AF65-F5344CB8AC3E}">
        <p14:creationId xmlns:p14="http://schemas.microsoft.com/office/powerpoint/2010/main" val="29311241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63427" y="708934"/>
            <a:ext cx="10174685" cy="1294038"/>
          </a:xfrm>
        </p:spPr>
        <p:txBody>
          <a:bodyPr>
            <a:norm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4000" b="1" dirty="0">
                <a:solidFill>
                  <a:srgbClr val="FF0000"/>
                </a:solidFill>
                <a:latin typeface="华光仿宋_CNKI" panose="02000500000000000000" pitchFamily="2" charset="-122"/>
                <a:ea typeface="华光仿宋_CNKI" panose="02000500000000000000" pitchFamily="2" charset="-122"/>
              </a:rPr>
              <a:t>思考：前面两种方法存在的问题。</a:t>
            </a:r>
          </a:p>
        </p:txBody>
      </p:sp>
      <p:sp>
        <p:nvSpPr>
          <p:cNvPr id="2" name="文本框 1">
            <a:extLst>
              <a:ext uri="{FF2B5EF4-FFF2-40B4-BE49-F238E27FC236}">
                <a16:creationId xmlns:a16="http://schemas.microsoft.com/office/drawing/2014/main" id="{84CF4050-8C1C-8D0F-0FBF-D1A68091CDE6}"/>
              </a:ext>
            </a:extLst>
          </p:cNvPr>
          <p:cNvSpPr txBox="1"/>
          <p:nvPr/>
        </p:nvSpPr>
        <p:spPr>
          <a:xfrm>
            <a:off x="706573" y="2203052"/>
            <a:ext cx="9467851" cy="2252027"/>
          </a:xfrm>
          <a:prstGeom prst="rect">
            <a:avLst/>
          </a:prstGeom>
          <a:noFill/>
        </p:spPr>
        <p:txBody>
          <a:bodyPr wrap="square">
            <a:spAutoFit/>
          </a:bodyPr>
          <a:lstStyle/>
          <a:p>
            <a:pPr lvl="1" algn="just" eaLnBrk="1" hangingPunct="1">
              <a:lnSpc>
                <a:spcPct val="150000"/>
              </a:lnSpc>
              <a:buFont typeface="Wingdings" panose="05000000000000000000" pitchFamily="2" charset="2"/>
              <a:buNone/>
            </a:pPr>
            <a:r>
              <a:rPr lang="zh-CN" altLang="en-US" sz="2400" b="1" dirty="0">
                <a:solidFill>
                  <a:srgbClr val="0070C0"/>
                </a:solidFill>
              </a:rPr>
              <a:t>缺点：</a:t>
            </a:r>
            <a:r>
              <a:rPr lang="en-US" altLang="zh-CN" sz="2400" b="1" dirty="0">
                <a:solidFill>
                  <a:srgbClr val="0070C0"/>
                </a:solidFill>
              </a:rPr>
              <a:t>·</a:t>
            </a:r>
            <a:endParaRPr lang="zh-CN" altLang="en-US" sz="2400" b="1" dirty="0">
              <a:solidFill>
                <a:srgbClr val="0070C0"/>
              </a:solidFill>
            </a:endParaRPr>
          </a:p>
          <a:p>
            <a:pPr lvl="1" algn="just" eaLnBrk="1" hangingPunct="1">
              <a:lnSpc>
                <a:spcPct val="150000"/>
              </a:lnSpc>
              <a:buFont typeface="Wingdings" panose="05000000000000000000" pitchFamily="2" charset="2"/>
              <a:buNone/>
            </a:pPr>
            <a:r>
              <a:rPr lang="zh-CN" altLang="en-US" sz="2400" b="1" dirty="0">
                <a:solidFill>
                  <a:srgbClr val="0070C0"/>
                </a:solidFill>
              </a:rPr>
              <a:t>     （</a:t>
            </a:r>
            <a:r>
              <a:rPr lang="en-US" altLang="zh-CN" sz="2400" b="1" dirty="0">
                <a:solidFill>
                  <a:srgbClr val="0070C0"/>
                </a:solidFill>
              </a:rPr>
              <a:t>1</a:t>
            </a:r>
            <a:r>
              <a:rPr lang="zh-CN" altLang="en-US" sz="2400" b="1" dirty="0">
                <a:solidFill>
                  <a:srgbClr val="0070C0"/>
                </a:solidFill>
              </a:rPr>
              <a:t>）对于屏幕上的每一个像素都测试其是否在区域内效率比较低下。</a:t>
            </a:r>
            <a:endParaRPr lang="en-US" altLang="zh-CN" sz="2400" b="1" dirty="0">
              <a:solidFill>
                <a:srgbClr val="0070C0"/>
              </a:solidFill>
            </a:endParaRPr>
          </a:p>
          <a:p>
            <a:pPr lvl="1" algn="just" eaLnBrk="1" hangingPunct="1">
              <a:lnSpc>
                <a:spcPct val="150000"/>
              </a:lnSpc>
              <a:buFont typeface="Wingdings" panose="05000000000000000000" pitchFamily="2" charset="2"/>
              <a:buNone/>
            </a:pPr>
            <a:r>
              <a:rPr lang="en-US" altLang="zh-CN" sz="2400" b="1" dirty="0">
                <a:solidFill>
                  <a:srgbClr val="0070C0"/>
                </a:solidFill>
              </a:rPr>
              <a:t>    </a:t>
            </a:r>
            <a:r>
              <a:rPr lang="zh-CN" altLang="en-US" sz="2400" b="1" dirty="0">
                <a:solidFill>
                  <a:srgbClr val="0070C0"/>
                </a:solidFill>
              </a:rPr>
              <a:t>（</a:t>
            </a:r>
            <a:r>
              <a:rPr lang="en-US" altLang="zh-CN" sz="2400" b="1" dirty="0">
                <a:solidFill>
                  <a:srgbClr val="0070C0"/>
                </a:solidFill>
              </a:rPr>
              <a:t>2</a:t>
            </a:r>
            <a:r>
              <a:rPr lang="zh-CN" altLang="en-US" sz="2400" b="1" dirty="0">
                <a:solidFill>
                  <a:srgbClr val="0070C0"/>
                </a:solidFill>
              </a:rPr>
              <a:t>）没有充分利用一条线上的点在进行测试时的计算结果。</a:t>
            </a:r>
          </a:p>
        </p:txBody>
      </p:sp>
    </p:spTree>
    <p:extLst>
      <p:ext uri="{BB962C8B-B14F-4D97-AF65-F5344CB8AC3E}">
        <p14:creationId xmlns:p14="http://schemas.microsoft.com/office/powerpoint/2010/main" val="216728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659313"/>
          </a:xfrm>
        </p:spPr>
        <p:txBody>
          <a:bodyPr>
            <a:normAutofit lnSpcReduction="10000"/>
          </a:bodyPr>
          <a:lstStyle/>
          <a:p>
            <a:pPr algn="l">
              <a:lnSpc>
                <a:spcPct val="150000"/>
              </a:lnSpc>
            </a:pPr>
            <a:r>
              <a:rPr lang="en-US" altLang="zh-CN" sz="2800" dirty="0">
                <a:latin typeface="华光标题宋_CNKI" panose="02000500000000000000" pitchFamily="2" charset="-122"/>
                <a:ea typeface="华光标题宋_CNKI" panose="02000500000000000000" pitchFamily="2" charset="-122"/>
              </a:rPr>
              <a:t>3.4.3 </a:t>
            </a:r>
            <a:r>
              <a:rPr lang="zh-CN" altLang="en-US" sz="2800" dirty="0">
                <a:latin typeface="华光标题宋_CNKI" panose="02000500000000000000" pitchFamily="2" charset="-122"/>
                <a:ea typeface="华光标题宋_CNKI" panose="02000500000000000000" pitchFamily="2" charset="-122"/>
              </a:rPr>
              <a:t>扫描线法求区域内的点</a:t>
            </a:r>
          </a:p>
          <a:p>
            <a:pPr algn="l">
              <a:lnSpc>
                <a:spcPct val="150000"/>
              </a:lnSpc>
            </a:pPr>
            <a:r>
              <a:rPr lang="zh-CN" altLang="en-US" sz="2800" dirty="0">
                <a:latin typeface="华光仿宋_CNKI" panose="02000500000000000000" pitchFamily="2" charset="-122"/>
                <a:ea typeface="华光仿宋_CNKI" panose="02000500000000000000" pitchFamily="2" charset="-122"/>
              </a:rPr>
              <a:t>    根据计算机图形显示的特点，按行扫描整个屏幕区域，判断哪些像素在多边形内部。</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显然</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坐标小于多边形</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坐标最小顶点和大于多边形</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坐标最大顶点的行不会在区域内。介于二者之间的行存在全部或者部分线段在区域内。需要计算出该行哪些线段在区域内。然后绘制对应的线段即可。</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41507492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659313"/>
          </a:xfrm>
        </p:spPr>
        <p:txBody>
          <a:bodyPr>
            <a:norm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扫描线法的基本步骤如下：</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）计算扫描线与多边形各边的交点。</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）对交点按照</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轴的大小进行排序。</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3</a:t>
            </a:r>
            <a:r>
              <a:rPr lang="zh-CN" altLang="en-US" sz="2800" dirty="0">
                <a:latin typeface="华光仿宋_CNKI" panose="02000500000000000000" pitchFamily="2" charset="-122"/>
                <a:ea typeface="华光仿宋_CNKI" panose="02000500000000000000" pitchFamily="2" charset="-122"/>
              </a:rPr>
              <a:t>）</a:t>
            </a:r>
            <a:r>
              <a:rPr lang="zh-CN" altLang="en-US" sz="2800" dirty="0">
                <a:solidFill>
                  <a:srgbClr val="0070C0"/>
                </a:solidFill>
                <a:latin typeface="华光仿宋_CNKI" panose="02000500000000000000" pitchFamily="2" charset="-122"/>
                <a:ea typeface="华光仿宋_CNKI" panose="02000500000000000000" pitchFamily="2" charset="-122"/>
              </a:rPr>
              <a:t>对排序后的交点进行两两组合，相邻的两个点构成一条线段，该线段即为多边形内的线段。</a:t>
            </a:r>
            <a:endParaRPr lang="en-US" altLang="zh-CN" sz="2800" dirty="0">
              <a:solidFill>
                <a:srgbClr val="0070C0"/>
              </a:solidFill>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4</a:t>
            </a:r>
            <a:r>
              <a:rPr lang="zh-CN" altLang="en-US" sz="2800" dirty="0">
                <a:latin typeface="华光仿宋_CNKI" panose="02000500000000000000" pitchFamily="2" charset="-122"/>
                <a:ea typeface="华光仿宋_CNKI" panose="02000500000000000000" pitchFamily="2" charset="-122"/>
              </a:rPr>
              <a:t>）对区域内的线段着色。</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837803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0EE77C0C-18A0-BE04-90E8-A95926975C33}"/>
              </a:ext>
            </a:extLst>
          </p:cNvPr>
          <p:cNvGrpSpPr/>
          <p:nvPr/>
        </p:nvGrpSpPr>
        <p:grpSpPr>
          <a:xfrm>
            <a:off x="537032" y="1170254"/>
            <a:ext cx="6440358" cy="4345660"/>
            <a:chOff x="1451429" y="1815654"/>
            <a:chExt cx="6440358" cy="4345660"/>
          </a:xfrm>
        </p:grpSpPr>
        <p:grpSp>
          <p:nvGrpSpPr>
            <p:cNvPr id="5" name="Group 16">
              <a:extLst>
                <a:ext uri="{FF2B5EF4-FFF2-40B4-BE49-F238E27FC236}">
                  <a16:creationId xmlns:a16="http://schemas.microsoft.com/office/drawing/2014/main" id="{BA774BB1-1A66-6CF1-049D-E7DC4304CD07}"/>
                </a:ext>
              </a:extLst>
            </p:cNvPr>
            <p:cNvGrpSpPr>
              <a:grpSpLocks/>
            </p:cNvGrpSpPr>
            <p:nvPr/>
          </p:nvGrpSpPr>
          <p:grpSpPr bwMode="auto">
            <a:xfrm>
              <a:off x="1451429" y="1940092"/>
              <a:ext cx="6440358" cy="4221222"/>
              <a:chOff x="1338" y="2250"/>
              <a:chExt cx="2840" cy="1951"/>
            </a:xfrm>
          </p:grpSpPr>
          <p:graphicFrame>
            <p:nvGraphicFramePr>
              <p:cNvPr id="6" name="Object 4">
                <a:extLst>
                  <a:ext uri="{FF2B5EF4-FFF2-40B4-BE49-F238E27FC236}">
                    <a16:creationId xmlns:a16="http://schemas.microsoft.com/office/drawing/2014/main" id="{6A2F0B23-0769-5F80-3DC0-1E7C8D7862BC}"/>
                  </a:ext>
                </a:extLst>
              </p:cNvPr>
              <p:cNvGraphicFramePr>
                <a:graphicFrameLocks noChangeAspect="1"/>
              </p:cNvGraphicFramePr>
              <p:nvPr>
                <p:extLst>
                  <p:ext uri="{D42A27DB-BD31-4B8C-83A1-F6EECF244321}">
                    <p14:modId xmlns:p14="http://schemas.microsoft.com/office/powerpoint/2010/main" val="3311364240"/>
                  </p:ext>
                </p:extLst>
              </p:nvPr>
            </p:nvGraphicFramePr>
            <p:xfrm>
              <a:off x="1338" y="2250"/>
              <a:ext cx="2767" cy="1951"/>
            </p:xfrm>
            <a:graphic>
              <a:graphicData uri="http://schemas.openxmlformats.org/presentationml/2006/ole">
                <mc:AlternateContent xmlns:mc="http://schemas.openxmlformats.org/markup-compatibility/2006">
                  <mc:Choice xmlns:v="urn:schemas-microsoft-com:vml" Requires="v">
                    <p:oleObj r:id="rId2" imgW="4743450" imgH="2543175" progId="Visio.Drawing.6">
                      <p:embed/>
                    </p:oleObj>
                  </mc:Choice>
                  <mc:Fallback>
                    <p:oleObj r:id="rId2" imgW="4743450" imgH="2543175" progId="Visio.Drawing.6">
                      <p:embed/>
                      <p:pic>
                        <p:nvPicPr>
                          <p:cNvPr id="374788" name="Object 4">
                            <a:extLst>
                              <a:ext uri="{FF2B5EF4-FFF2-40B4-BE49-F238E27FC236}">
                                <a16:creationId xmlns:a16="http://schemas.microsoft.com/office/drawing/2014/main" id="{7A54BBAB-AD77-D15E-89A8-ABC470B0F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 y="2250"/>
                            <a:ext cx="2767" cy="1951"/>
                          </a:xfrm>
                          <a:prstGeom prst="rect">
                            <a:avLst/>
                          </a:prstGeom>
                          <a:solidFill>
                            <a:srgbClr val="92D050"/>
                          </a:solidFill>
                        </p:spPr>
                      </p:pic>
                    </p:oleObj>
                  </mc:Fallback>
                </mc:AlternateContent>
              </a:graphicData>
            </a:graphic>
          </p:graphicFrame>
          <p:sp>
            <p:nvSpPr>
              <p:cNvPr id="7" name="Line 14">
                <a:extLst>
                  <a:ext uri="{FF2B5EF4-FFF2-40B4-BE49-F238E27FC236}">
                    <a16:creationId xmlns:a16="http://schemas.microsoft.com/office/drawing/2014/main" id="{00640409-A727-90CA-DBC1-FD2DB1A5893D}"/>
                  </a:ext>
                </a:extLst>
              </p:cNvPr>
              <p:cNvSpPr>
                <a:spLocks noChangeShapeType="1"/>
              </p:cNvSpPr>
              <p:nvPr/>
            </p:nvSpPr>
            <p:spPr bwMode="auto">
              <a:xfrm>
                <a:off x="1519" y="3475"/>
                <a:ext cx="2041" cy="0"/>
              </a:xfrm>
              <a:prstGeom prst="line">
                <a:avLst/>
              </a:prstGeom>
              <a:noFill/>
              <a:ln w="9525">
                <a:solidFill>
                  <a:srgbClr val="00206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 name="Text Box 15">
                <a:extLst>
                  <a:ext uri="{FF2B5EF4-FFF2-40B4-BE49-F238E27FC236}">
                    <a16:creationId xmlns:a16="http://schemas.microsoft.com/office/drawing/2014/main" id="{D1E573B5-C20A-AF24-DC18-2E333ED337F2}"/>
                  </a:ext>
                </a:extLst>
              </p:cNvPr>
              <p:cNvSpPr txBox="1">
                <a:spLocks noChangeArrowheads="1"/>
              </p:cNvSpPr>
              <p:nvPr/>
            </p:nvSpPr>
            <p:spPr bwMode="auto">
              <a:xfrm>
                <a:off x="3497" y="3366"/>
                <a:ext cx="681" cy="15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dirty="0"/>
                  <a:t>扫描线</a:t>
                </a:r>
                <a:r>
                  <a:rPr lang="en-US" altLang="zh-CN" sz="1600" dirty="0"/>
                  <a:t>3</a:t>
                </a:r>
              </a:p>
            </p:txBody>
          </p:sp>
        </p:grpSp>
        <p:sp>
          <p:nvSpPr>
            <p:cNvPr id="9" name="Line 11">
              <a:extLst>
                <a:ext uri="{FF2B5EF4-FFF2-40B4-BE49-F238E27FC236}">
                  <a16:creationId xmlns:a16="http://schemas.microsoft.com/office/drawing/2014/main" id="{52BB4C8E-2936-B4B2-92F7-9E2F5B760F65}"/>
                </a:ext>
              </a:extLst>
            </p:cNvPr>
            <p:cNvSpPr>
              <a:spLocks noChangeShapeType="1"/>
            </p:cNvSpPr>
            <p:nvPr/>
          </p:nvSpPr>
          <p:spPr bwMode="auto">
            <a:xfrm>
              <a:off x="2170301" y="3865713"/>
              <a:ext cx="927502" cy="0"/>
            </a:xfrm>
            <a:prstGeom prst="line">
              <a:avLst/>
            </a:prstGeom>
            <a:noFill/>
            <a:ln w="5715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 name="Line 12">
              <a:extLst>
                <a:ext uri="{FF2B5EF4-FFF2-40B4-BE49-F238E27FC236}">
                  <a16:creationId xmlns:a16="http://schemas.microsoft.com/office/drawing/2014/main" id="{345C633C-FEC1-EEEB-C9D8-E820C495B7C0}"/>
                </a:ext>
              </a:extLst>
            </p:cNvPr>
            <p:cNvSpPr>
              <a:spLocks noChangeShapeType="1"/>
            </p:cNvSpPr>
            <p:nvPr/>
          </p:nvSpPr>
          <p:spPr bwMode="auto">
            <a:xfrm>
              <a:off x="2170301" y="4984305"/>
              <a:ext cx="2675923" cy="0"/>
            </a:xfrm>
            <a:prstGeom prst="line">
              <a:avLst/>
            </a:prstGeom>
            <a:noFill/>
            <a:ln w="5715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 name="Line 13">
              <a:extLst>
                <a:ext uri="{FF2B5EF4-FFF2-40B4-BE49-F238E27FC236}">
                  <a16:creationId xmlns:a16="http://schemas.microsoft.com/office/drawing/2014/main" id="{83DBF7D7-0093-EEAB-61ED-7AD07194D0ED}"/>
                </a:ext>
              </a:extLst>
            </p:cNvPr>
            <p:cNvSpPr>
              <a:spLocks noChangeShapeType="1"/>
            </p:cNvSpPr>
            <p:nvPr/>
          </p:nvSpPr>
          <p:spPr bwMode="auto">
            <a:xfrm>
              <a:off x="4247543" y="3865713"/>
              <a:ext cx="619090" cy="0"/>
            </a:xfrm>
            <a:prstGeom prst="line">
              <a:avLst/>
            </a:prstGeom>
            <a:noFill/>
            <a:ln w="5715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Line 17">
              <a:extLst>
                <a:ext uri="{FF2B5EF4-FFF2-40B4-BE49-F238E27FC236}">
                  <a16:creationId xmlns:a16="http://schemas.microsoft.com/office/drawing/2014/main" id="{B75B5928-4C5D-9957-9993-559E8E096FF1}"/>
                </a:ext>
              </a:extLst>
            </p:cNvPr>
            <p:cNvSpPr>
              <a:spLocks noChangeShapeType="1"/>
            </p:cNvSpPr>
            <p:nvPr/>
          </p:nvSpPr>
          <p:spPr bwMode="auto">
            <a:xfrm>
              <a:off x="2170301" y="4590526"/>
              <a:ext cx="2675923" cy="0"/>
            </a:xfrm>
            <a:prstGeom prst="line">
              <a:avLst/>
            </a:prstGeom>
            <a:noFill/>
            <a:ln w="5715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 name="AutoShape 18">
              <a:extLst>
                <a:ext uri="{FF2B5EF4-FFF2-40B4-BE49-F238E27FC236}">
                  <a16:creationId xmlns:a16="http://schemas.microsoft.com/office/drawing/2014/main" id="{5D696829-6EFD-0CB6-5907-0E7D71A7EECC}"/>
                </a:ext>
              </a:extLst>
            </p:cNvPr>
            <p:cNvSpPr>
              <a:spLocks noChangeArrowheads="1"/>
            </p:cNvSpPr>
            <p:nvPr/>
          </p:nvSpPr>
          <p:spPr bwMode="auto">
            <a:xfrm>
              <a:off x="2338627" y="1815654"/>
              <a:ext cx="3284458" cy="872671"/>
            </a:xfrm>
            <a:prstGeom prst="wedgeEllipseCallout">
              <a:avLst>
                <a:gd name="adj1" fmla="val -39023"/>
                <a:gd name="adj2" fmla="val 180394"/>
              </a:avLst>
            </a:prstGeom>
            <a:solidFill>
              <a:srgbClr val="FFCC99"/>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b="1" dirty="0">
                  <a:solidFill>
                    <a:srgbClr val="000066"/>
                  </a:solidFill>
                </a:rPr>
                <a:t>扫描线上点的连贯性</a:t>
              </a:r>
            </a:p>
          </p:txBody>
        </p:sp>
        <p:sp>
          <p:nvSpPr>
            <p:cNvPr id="14" name="AutoShape 19">
              <a:extLst>
                <a:ext uri="{FF2B5EF4-FFF2-40B4-BE49-F238E27FC236}">
                  <a16:creationId xmlns:a16="http://schemas.microsoft.com/office/drawing/2014/main" id="{50CBC8CB-1EDE-8208-7D9C-3128BCEDEA35}"/>
                </a:ext>
              </a:extLst>
            </p:cNvPr>
            <p:cNvSpPr>
              <a:spLocks noChangeArrowheads="1"/>
            </p:cNvSpPr>
            <p:nvPr/>
          </p:nvSpPr>
          <p:spPr bwMode="auto">
            <a:xfrm>
              <a:off x="4588836" y="2626745"/>
              <a:ext cx="2823252" cy="1047938"/>
            </a:xfrm>
            <a:prstGeom prst="wedgeEllipseCallout">
              <a:avLst>
                <a:gd name="adj1" fmla="val -54150"/>
                <a:gd name="adj2" fmla="val 130798"/>
              </a:avLst>
            </a:prstGeom>
            <a:solidFill>
              <a:srgbClr val="FFCC99"/>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b="1" dirty="0">
                  <a:solidFill>
                    <a:srgbClr val="000066"/>
                  </a:solidFill>
                </a:rPr>
                <a:t>上下两条扫描线上点的连贯性</a:t>
              </a:r>
            </a:p>
          </p:txBody>
        </p:sp>
      </p:grpSp>
      <p:sp>
        <p:nvSpPr>
          <p:cNvPr id="17" name="文本框 16">
            <a:extLst>
              <a:ext uri="{FF2B5EF4-FFF2-40B4-BE49-F238E27FC236}">
                <a16:creationId xmlns:a16="http://schemas.microsoft.com/office/drawing/2014/main" id="{FAB8B7AB-B983-C0F8-FB80-051473AC82A2}"/>
              </a:ext>
            </a:extLst>
          </p:cNvPr>
          <p:cNvSpPr txBox="1"/>
          <p:nvPr/>
        </p:nvSpPr>
        <p:spPr>
          <a:xfrm>
            <a:off x="7021698" y="500941"/>
            <a:ext cx="4686181" cy="5625001"/>
          </a:xfrm>
          <a:prstGeom prst="rect">
            <a:avLst/>
          </a:prstGeom>
          <a:noFill/>
        </p:spPr>
        <p:txBody>
          <a:bodyPr wrap="square" rtlCol="0">
            <a:spAutoFit/>
          </a:bodyPr>
          <a:lstStyle/>
          <a:p>
            <a:r>
              <a:rPr lang="zh-CN" altLang="en-US" sz="2800" dirty="0">
                <a:solidFill>
                  <a:srgbClr val="FF0000"/>
                </a:solidFill>
                <a:latin typeface="华光标题黑_CNKI" panose="02000500000000000000" pitchFamily="2" charset="-122"/>
                <a:ea typeface="华光标题黑_CNKI" panose="02000500000000000000" pitchFamily="2" charset="-122"/>
              </a:rPr>
              <a:t>问题：</a:t>
            </a:r>
            <a:endParaRPr lang="en-US" altLang="zh-CN" sz="2800" dirty="0">
              <a:solidFill>
                <a:srgbClr val="FF0000"/>
              </a:solidFill>
              <a:latin typeface="华光标题黑_CNKI" panose="02000500000000000000" pitchFamily="2" charset="-122"/>
              <a:ea typeface="华光标题黑_CNKI" panose="02000500000000000000" pitchFamily="2" charset="-122"/>
            </a:endParaRPr>
          </a:p>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）扫描线</a:t>
            </a:r>
            <a:r>
              <a:rPr lang="en-US" altLang="zh-CN" sz="2800" dirty="0">
                <a:latin typeface="华光仿宋_CNKI" panose="02000500000000000000" pitchFamily="2" charset="-122"/>
                <a:ea typeface="华光仿宋_CNKI" panose="02000500000000000000" pitchFamily="2" charset="-122"/>
              </a:rPr>
              <a:t>5</a:t>
            </a:r>
            <a:r>
              <a:rPr lang="zh-CN" altLang="en-US" sz="2800" dirty="0">
                <a:latin typeface="华光仿宋_CNKI" panose="02000500000000000000" pitchFamily="2" charset="-122"/>
                <a:ea typeface="华光仿宋_CNKI" panose="02000500000000000000" pitchFamily="2" charset="-122"/>
              </a:rPr>
              <a:t>与多边形的交点有多少个，哪些点所构成的线段在区域内，哪些在区域外？</a:t>
            </a:r>
            <a:endParaRPr lang="en-US" altLang="zh-CN" sz="2800" dirty="0">
              <a:latin typeface="华光仿宋_CNKI" panose="02000500000000000000" pitchFamily="2" charset="-122"/>
              <a:ea typeface="华光仿宋_CNKI" panose="02000500000000000000" pitchFamily="2" charset="-122"/>
            </a:endParaRPr>
          </a:p>
          <a:p>
            <a:pPr>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）如果扫描线过</a:t>
            </a:r>
            <a:r>
              <a:rPr lang="en-US" altLang="zh-CN" sz="2800" dirty="0">
                <a:latin typeface="华光仿宋_CNKI" panose="02000500000000000000" pitchFamily="2" charset="-122"/>
                <a:ea typeface="华光仿宋_CNKI" panose="02000500000000000000" pitchFamily="2" charset="-122"/>
              </a:rPr>
              <a:t>P4</a:t>
            </a:r>
            <a:r>
              <a:rPr lang="zh-CN" altLang="en-US" sz="2800" dirty="0">
                <a:latin typeface="华光仿宋_CNKI" panose="02000500000000000000" pitchFamily="2" charset="-122"/>
                <a:ea typeface="华光仿宋_CNKI" panose="02000500000000000000" pitchFamily="2" charset="-122"/>
              </a:rPr>
              <a:t>，对应的交点所构成区域内和区域外的线段与扫描线</a:t>
            </a:r>
            <a:r>
              <a:rPr lang="en-US" altLang="zh-CN" sz="2800" dirty="0">
                <a:latin typeface="华光仿宋_CNKI" panose="02000500000000000000" pitchFamily="2" charset="-122"/>
                <a:ea typeface="华光仿宋_CNKI" panose="02000500000000000000" pitchFamily="2" charset="-122"/>
              </a:rPr>
              <a:t>5</a:t>
            </a:r>
            <a:r>
              <a:rPr lang="zh-CN" altLang="en-US" sz="2800" dirty="0">
                <a:latin typeface="华光仿宋_CNKI" panose="02000500000000000000" pitchFamily="2" charset="-122"/>
                <a:ea typeface="华光仿宋_CNKI" panose="02000500000000000000" pitchFamily="2" charset="-122"/>
              </a:rPr>
              <a:t>有何不同？</a:t>
            </a:r>
          </a:p>
        </p:txBody>
      </p:sp>
    </p:spTree>
    <p:extLst>
      <p:ext uri="{BB962C8B-B14F-4D97-AF65-F5344CB8AC3E}">
        <p14:creationId xmlns:p14="http://schemas.microsoft.com/office/powerpoint/2010/main" val="17796473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659313"/>
          </a:xfrm>
        </p:spPr>
        <p:txBody>
          <a:bodyPr>
            <a:normAutofit lnSpcReduction="10000"/>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上述算法可能存在如下问题：</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）交点为奇数个。</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）交点为无穷多个。</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因此同样需要利用到前面射线法的原理，也就是交点计数的问题。只有在所求得交点的</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坐标小于多边形某条边一个顶点的</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坐标且大于等于另一个顶点的</a:t>
            </a:r>
            <a:r>
              <a:rPr lang="en-US" altLang="zh-CN" sz="2800" dirty="0">
                <a:latin typeface="华光仿宋_CNKI" panose="02000500000000000000" pitchFamily="2" charset="-122"/>
                <a:ea typeface="华光仿宋_CNKI" panose="02000500000000000000" pitchFamily="2" charset="-122"/>
              </a:rPr>
              <a:t>Y</a:t>
            </a:r>
            <a:r>
              <a:rPr lang="zh-CN" altLang="en-US" sz="2800" dirty="0">
                <a:latin typeface="华光仿宋_CNKI" panose="02000500000000000000" pitchFamily="2" charset="-122"/>
                <a:ea typeface="华光仿宋_CNKI" panose="02000500000000000000" pitchFamily="2" charset="-122"/>
              </a:rPr>
              <a:t>坐标时该顶点才有效。也就是该顶点为局部最低点或者局部最高点。</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201927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DF82B1D-2718-89F5-DD92-AE463038D2FA}"/>
              </a:ext>
            </a:extLst>
          </p:cNvPr>
          <p:cNvSpPr txBox="1">
            <a:spLocks noChangeArrowheads="1"/>
          </p:cNvSpPr>
          <p:nvPr/>
        </p:nvSpPr>
        <p:spPr>
          <a:xfrm>
            <a:off x="3804557" y="599737"/>
            <a:ext cx="4414838" cy="731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0070C0"/>
                </a:solidFill>
              </a:rPr>
              <a:t>顶点交点的计数问题 </a:t>
            </a:r>
          </a:p>
        </p:txBody>
      </p:sp>
      <p:sp>
        <p:nvSpPr>
          <p:cNvPr id="6" name="AutoShape 4">
            <a:extLst>
              <a:ext uri="{FF2B5EF4-FFF2-40B4-BE49-F238E27FC236}">
                <a16:creationId xmlns:a16="http://schemas.microsoft.com/office/drawing/2014/main" id="{ECC5386C-D208-1673-E118-6D9CD0D2959C}"/>
              </a:ext>
            </a:extLst>
          </p:cNvPr>
          <p:cNvSpPr>
            <a:spLocks/>
          </p:cNvSpPr>
          <p:nvPr/>
        </p:nvSpPr>
        <p:spPr bwMode="auto">
          <a:xfrm>
            <a:off x="6396945" y="1594304"/>
            <a:ext cx="2590800" cy="609600"/>
          </a:xfrm>
          <a:prstGeom prst="borderCallout2">
            <a:avLst>
              <a:gd name="adj1" fmla="val 18750"/>
              <a:gd name="adj2" fmla="val -2940"/>
              <a:gd name="adj3" fmla="val 18750"/>
              <a:gd name="adj4" fmla="val -57171"/>
              <a:gd name="adj5" fmla="val 77083"/>
              <a:gd name="adj6" fmla="val -113421"/>
            </a:avLst>
          </a:prstGeom>
          <a:noFill/>
          <a:ln w="9525" cap="sq">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也计数</a:t>
            </a:r>
            <a:r>
              <a:rPr lang="en-US" altLang="zh-CN" b="1"/>
              <a:t>1</a:t>
            </a:r>
            <a:r>
              <a:rPr lang="zh-CN" altLang="en-US" b="1"/>
              <a:t>次吗？</a:t>
            </a:r>
          </a:p>
        </p:txBody>
      </p:sp>
      <p:sp>
        <p:nvSpPr>
          <p:cNvPr id="7" name="AutoShape 5">
            <a:extLst>
              <a:ext uri="{FF2B5EF4-FFF2-40B4-BE49-F238E27FC236}">
                <a16:creationId xmlns:a16="http://schemas.microsoft.com/office/drawing/2014/main" id="{E36361D5-DB9C-BB7F-9FD8-53E9B165E035}"/>
              </a:ext>
            </a:extLst>
          </p:cNvPr>
          <p:cNvSpPr>
            <a:spLocks/>
          </p:cNvSpPr>
          <p:nvPr/>
        </p:nvSpPr>
        <p:spPr bwMode="auto">
          <a:xfrm>
            <a:off x="6396945" y="2457904"/>
            <a:ext cx="2590800" cy="609600"/>
          </a:xfrm>
          <a:prstGeom prst="borderCallout2">
            <a:avLst>
              <a:gd name="adj1" fmla="val 18750"/>
              <a:gd name="adj2" fmla="val -2940"/>
              <a:gd name="adj3" fmla="val 18750"/>
              <a:gd name="adj4" fmla="val -69056"/>
              <a:gd name="adj5" fmla="val 174218"/>
              <a:gd name="adj6" fmla="val -137500"/>
            </a:avLst>
          </a:prstGeom>
          <a:noFill/>
          <a:ln w="9525" cap="sq">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应该计数</a:t>
            </a:r>
            <a:r>
              <a:rPr lang="en-US" altLang="zh-CN" b="1"/>
              <a:t>1</a:t>
            </a:r>
            <a:r>
              <a:rPr lang="zh-CN" altLang="en-US" b="1"/>
              <a:t>次</a:t>
            </a:r>
          </a:p>
        </p:txBody>
      </p:sp>
      <p:sp>
        <p:nvSpPr>
          <p:cNvPr id="8" name="AutoShape 6">
            <a:extLst>
              <a:ext uri="{FF2B5EF4-FFF2-40B4-BE49-F238E27FC236}">
                <a16:creationId xmlns:a16="http://schemas.microsoft.com/office/drawing/2014/main" id="{55AC0006-A575-F8C5-DD9A-ABFA68C3AE7E}"/>
              </a:ext>
            </a:extLst>
          </p:cNvPr>
          <p:cNvSpPr>
            <a:spLocks/>
          </p:cNvSpPr>
          <p:nvPr/>
        </p:nvSpPr>
        <p:spPr bwMode="auto">
          <a:xfrm>
            <a:off x="6396945" y="3361192"/>
            <a:ext cx="2590800" cy="609600"/>
          </a:xfrm>
          <a:prstGeom prst="borderCallout2">
            <a:avLst>
              <a:gd name="adj1" fmla="val 18750"/>
              <a:gd name="adj2" fmla="val -2940"/>
              <a:gd name="adj3" fmla="val 18750"/>
              <a:gd name="adj4" fmla="val -57968"/>
              <a:gd name="adj5" fmla="val 87759"/>
              <a:gd name="adj6" fmla="val -115014"/>
            </a:avLst>
          </a:prstGeom>
          <a:noFill/>
          <a:ln w="9525" cap="sq">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也计数</a:t>
            </a:r>
            <a:r>
              <a:rPr lang="en-US" altLang="zh-CN" b="1"/>
              <a:t>1</a:t>
            </a:r>
            <a:r>
              <a:rPr lang="zh-CN" altLang="en-US" b="1"/>
              <a:t>次吗？</a:t>
            </a:r>
          </a:p>
        </p:txBody>
      </p:sp>
      <p:sp>
        <p:nvSpPr>
          <p:cNvPr id="9" name="Line 7">
            <a:extLst>
              <a:ext uri="{FF2B5EF4-FFF2-40B4-BE49-F238E27FC236}">
                <a16:creationId xmlns:a16="http://schemas.microsoft.com/office/drawing/2014/main" id="{1C88B453-30F2-6D4C-1B3D-07B1D416AF4B}"/>
              </a:ext>
            </a:extLst>
          </p:cNvPr>
          <p:cNvSpPr>
            <a:spLocks noChangeShapeType="1"/>
          </p:cNvSpPr>
          <p:nvPr/>
        </p:nvSpPr>
        <p:spPr bwMode="auto">
          <a:xfrm flipV="1">
            <a:off x="2201182" y="1738767"/>
            <a:ext cx="0" cy="231140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id="{75D87796-CD97-6D52-01D8-CA26ED4A60B8}"/>
              </a:ext>
            </a:extLst>
          </p:cNvPr>
          <p:cNvSpPr>
            <a:spLocks noChangeShapeType="1"/>
          </p:cNvSpPr>
          <p:nvPr/>
        </p:nvSpPr>
        <p:spPr bwMode="auto">
          <a:xfrm>
            <a:off x="2201182" y="4050167"/>
            <a:ext cx="3273425"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1" name="Text Box 9">
            <a:extLst>
              <a:ext uri="{FF2B5EF4-FFF2-40B4-BE49-F238E27FC236}">
                <a16:creationId xmlns:a16="http://schemas.microsoft.com/office/drawing/2014/main" id="{9D82E5C7-F573-3698-923C-8AACBCA8C9CC}"/>
              </a:ext>
            </a:extLst>
          </p:cNvPr>
          <p:cNvSpPr txBox="1">
            <a:spLocks noChangeArrowheads="1"/>
          </p:cNvSpPr>
          <p:nvPr/>
        </p:nvSpPr>
        <p:spPr bwMode="auto">
          <a:xfrm>
            <a:off x="1858282" y="1940379"/>
            <a:ext cx="446088" cy="22399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lnSpc>
                <a:spcPct val="195000"/>
              </a:lnSpc>
            </a:pPr>
            <a:r>
              <a:rPr lang="en-US" altLang="zh-CN" sz="1200"/>
              <a:t>5</a:t>
            </a:r>
          </a:p>
          <a:p>
            <a:pPr algn="just">
              <a:lnSpc>
                <a:spcPct val="195000"/>
              </a:lnSpc>
            </a:pPr>
            <a:r>
              <a:rPr lang="en-US" altLang="zh-CN" sz="1200"/>
              <a:t>4</a:t>
            </a:r>
          </a:p>
          <a:p>
            <a:pPr algn="just">
              <a:lnSpc>
                <a:spcPct val="195000"/>
              </a:lnSpc>
            </a:pPr>
            <a:r>
              <a:rPr lang="en-US" altLang="zh-CN" sz="1200"/>
              <a:t>3</a:t>
            </a:r>
          </a:p>
          <a:p>
            <a:pPr algn="just">
              <a:lnSpc>
                <a:spcPct val="195000"/>
              </a:lnSpc>
            </a:pPr>
            <a:r>
              <a:rPr lang="en-US" altLang="zh-CN" sz="1200"/>
              <a:t>2</a:t>
            </a:r>
          </a:p>
          <a:p>
            <a:pPr algn="just">
              <a:lnSpc>
                <a:spcPct val="195000"/>
              </a:lnSpc>
            </a:pPr>
            <a:r>
              <a:rPr lang="en-US" altLang="zh-CN" sz="1200"/>
              <a:t>1</a:t>
            </a:r>
          </a:p>
          <a:p>
            <a:pPr algn="just">
              <a:lnSpc>
                <a:spcPct val="195000"/>
              </a:lnSpc>
            </a:pPr>
            <a:r>
              <a:rPr lang="en-US" altLang="zh-CN" sz="1200"/>
              <a:t>0</a:t>
            </a:r>
          </a:p>
        </p:txBody>
      </p:sp>
      <p:sp>
        <p:nvSpPr>
          <p:cNvPr id="12" name="Line 10">
            <a:extLst>
              <a:ext uri="{FF2B5EF4-FFF2-40B4-BE49-F238E27FC236}">
                <a16:creationId xmlns:a16="http://schemas.microsoft.com/office/drawing/2014/main" id="{45DA24D4-1D25-0A25-554E-D5A6C1A508BF}"/>
              </a:ext>
            </a:extLst>
          </p:cNvPr>
          <p:cNvSpPr>
            <a:spLocks noChangeShapeType="1"/>
          </p:cNvSpPr>
          <p:nvPr/>
        </p:nvSpPr>
        <p:spPr bwMode="auto">
          <a:xfrm>
            <a:off x="2201182" y="3661229"/>
            <a:ext cx="2968625" cy="0"/>
          </a:xfrm>
          <a:prstGeom prst="line">
            <a:avLst/>
          </a:prstGeom>
          <a:noFill/>
          <a:ln w="1270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1">
            <a:extLst>
              <a:ext uri="{FF2B5EF4-FFF2-40B4-BE49-F238E27FC236}">
                <a16:creationId xmlns:a16="http://schemas.microsoft.com/office/drawing/2014/main" id="{334C37D0-207F-A3E0-6C10-0EDACB7C2907}"/>
              </a:ext>
            </a:extLst>
          </p:cNvPr>
          <p:cNvSpPr>
            <a:spLocks noChangeShapeType="1"/>
          </p:cNvSpPr>
          <p:nvPr/>
        </p:nvSpPr>
        <p:spPr bwMode="auto">
          <a:xfrm>
            <a:off x="2201182" y="2553154"/>
            <a:ext cx="2968625" cy="0"/>
          </a:xfrm>
          <a:prstGeom prst="line">
            <a:avLst/>
          </a:prstGeom>
          <a:noFill/>
          <a:ln w="1270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id="{5278BAF3-0C69-E5A4-9605-8539CF0D30DA}"/>
              </a:ext>
            </a:extLst>
          </p:cNvPr>
          <p:cNvSpPr>
            <a:spLocks noChangeShapeType="1"/>
          </p:cNvSpPr>
          <p:nvPr/>
        </p:nvSpPr>
        <p:spPr bwMode="auto">
          <a:xfrm>
            <a:off x="2201182" y="2175329"/>
            <a:ext cx="2968625" cy="0"/>
          </a:xfrm>
          <a:prstGeom prst="line">
            <a:avLst/>
          </a:prstGeom>
          <a:noFill/>
          <a:ln w="1270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3">
            <a:extLst>
              <a:ext uri="{FF2B5EF4-FFF2-40B4-BE49-F238E27FC236}">
                <a16:creationId xmlns:a16="http://schemas.microsoft.com/office/drawing/2014/main" id="{411B2DFE-EC95-B8CE-0ABF-BF7C50D1D157}"/>
              </a:ext>
            </a:extLst>
          </p:cNvPr>
          <p:cNvSpPr>
            <a:spLocks noChangeShapeType="1"/>
          </p:cNvSpPr>
          <p:nvPr/>
        </p:nvSpPr>
        <p:spPr bwMode="auto">
          <a:xfrm flipH="1">
            <a:off x="2672670" y="2553154"/>
            <a:ext cx="177800" cy="11080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4">
            <a:extLst>
              <a:ext uri="{FF2B5EF4-FFF2-40B4-BE49-F238E27FC236}">
                <a16:creationId xmlns:a16="http://schemas.microsoft.com/office/drawing/2014/main" id="{B02FA5AF-1436-80D7-ABDF-EF3CDC460DB9}"/>
              </a:ext>
            </a:extLst>
          </p:cNvPr>
          <p:cNvSpPr>
            <a:spLocks noChangeShapeType="1"/>
          </p:cNvSpPr>
          <p:nvPr/>
        </p:nvSpPr>
        <p:spPr bwMode="auto">
          <a:xfrm flipH="1">
            <a:off x="2850470" y="2175329"/>
            <a:ext cx="461962" cy="3778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5">
            <a:extLst>
              <a:ext uri="{FF2B5EF4-FFF2-40B4-BE49-F238E27FC236}">
                <a16:creationId xmlns:a16="http://schemas.microsoft.com/office/drawing/2014/main" id="{30F64CBF-1BFD-2894-71DB-EBD7710D7654}"/>
              </a:ext>
            </a:extLst>
          </p:cNvPr>
          <p:cNvSpPr>
            <a:spLocks noChangeShapeType="1"/>
          </p:cNvSpPr>
          <p:nvPr/>
        </p:nvSpPr>
        <p:spPr bwMode="auto">
          <a:xfrm>
            <a:off x="2672670" y="3661229"/>
            <a:ext cx="627062"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6">
            <a:extLst>
              <a:ext uri="{FF2B5EF4-FFF2-40B4-BE49-F238E27FC236}">
                <a16:creationId xmlns:a16="http://schemas.microsoft.com/office/drawing/2014/main" id="{6B3DF5BF-C832-95C3-A07F-0F174314193B}"/>
              </a:ext>
            </a:extLst>
          </p:cNvPr>
          <p:cNvSpPr>
            <a:spLocks noChangeShapeType="1"/>
          </p:cNvSpPr>
          <p:nvPr/>
        </p:nvSpPr>
        <p:spPr bwMode="auto">
          <a:xfrm>
            <a:off x="3312432" y="2175329"/>
            <a:ext cx="1804988" cy="1485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7">
            <a:extLst>
              <a:ext uri="{FF2B5EF4-FFF2-40B4-BE49-F238E27FC236}">
                <a16:creationId xmlns:a16="http://schemas.microsoft.com/office/drawing/2014/main" id="{C7FFC735-3AD1-D95A-ACCE-AB141C201843}"/>
              </a:ext>
            </a:extLst>
          </p:cNvPr>
          <p:cNvSpPr>
            <a:spLocks noChangeShapeType="1"/>
          </p:cNvSpPr>
          <p:nvPr/>
        </p:nvSpPr>
        <p:spPr bwMode="auto">
          <a:xfrm flipH="1">
            <a:off x="3299732" y="3661229"/>
            <a:ext cx="1817688"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8">
            <a:extLst>
              <a:ext uri="{FF2B5EF4-FFF2-40B4-BE49-F238E27FC236}">
                <a16:creationId xmlns:a16="http://schemas.microsoft.com/office/drawing/2014/main" id="{3B9A69BD-9080-32B1-E324-5A05592C8872}"/>
              </a:ext>
            </a:extLst>
          </p:cNvPr>
          <p:cNvSpPr txBox="1">
            <a:spLocks noChangeArrowheads="1"/>
          </p:cNvSpPr>
          <p:nvPr/>
        </p:nvSpPr>
        <p:spPr bwMode="auto">
          <a:xfrm>
            <a:off x="2434545" y="3621542"/>
            <a:ext cx="514350" cy="4000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P</a:t>
            </a:r>
            <a:r>
              <a:rPr lang="en-US" altLang="zh-CN" sz="1400" baseline="-25000"/>
              <a:t>1</a:t>
            </a:r>
            <a:endParaRPr lang="en-US" altLang="zh-CN" sz="1400"/>
          </a:p>
        </p:txBody>
      </p:sp>
      <p:sp>
        <p:nvSpPr>
          <p:cNvPr id="21" name="Text Box 19">
            <a:extLst>
              <a:ext uri="{FF2B5EF4-FFF2-40B4-BE49-F238E27FC236}">
                <a16:creationId xmlns:a16="http://schemas.microsoft.com/office/drawing/2014/main" id="{F77CAD92-487E-85AD-7513-F848F1F2014C}"/>
              </a:ext>
            </a:extLst>
          </p:cNvPr>
          <p:cNvSpPr txBox="1">
            <a:spLocks noChangeArrowheads="1"/>
          </p:cNvSpPr>
          <p:nvPr/>
        </p:nvSpPr>
        <p:spPr bwMode="auto">
          <a:xfrm>
            <a:off x="4938032" y="3619954"/>
            <a:ext cx="409575" cy="4238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P</a:t>
            </a:r>
            <a:r>
              <a:rPr lang="en-US" altLang="zh-CN" sz="1400" baseline="-25000"/>
              <a:t>2</a:t>
            </a:r>
            <a:endParaRPr lang="en-US" altLang="zh-CN" sz="1400"/>
          </a:p>
        </p:txBody>
      </p:sp>
      <p:sp>
        <p:nvSpPr>
          <p:cNvPr id="22" name="Text Box 20">
            <a:extLst>
              <a:ext uri="{FF2B5EF4-FFF2-40B4-BE49-F238E27FC236}">
                <a16:creationId xmlns:a16="http://schemas.microsoft.com/office/drawing/2014/main" id="{5718EE10-CEDF-A6C5-349E-4AAB2048DBE5}"/>
              </a:ext>
            </a:extLst>
          </p:cNvPr>
          <p:cNvSpPr txBox="1">
            <a:spLocks noChangeArrowheads="1"/>
          </p:cNvSpPr>
          <p:nvPr/>
        </p:nvSpPr>
        <p:spPr bwMode="auto">
          <a:xfrm>
            <a:off x="3144157" y="1800679"/>
            <a:ext cx="482600" cy="619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P</a:t>
            </a:r>
            <a:r>
              <a:rPr lang="en-US" altLang="zh-CN" sz="1400" baseline="-25000"/>
              <a:t>3</a:t>
            </a:r>
            <a:endParaRPr lang="en-US" altLang="zh-CN" sz="1400"/>
          </a:p>
        </p:txBody>
      </p:sp>
      <p:sp>
        <p:nvSpPr>
          <p:cNvPr id="23" name="Text Box 21">
            <a:extLst>
              <a:ext uri="{FF2B5EF4-FFF2-40B4-BE49-F238E27FC236}">
                <a16:creationId xmlns:a16="http://schemas.microsoft.com/office/drawing/2014/main" id="{EC41DD98-45A4-142D-432E-D69BD75AEE88}"/>
              </a:ext>
            </a:extLst>
          </p:cNvPr>
          <p:cNvSpPr txBox="1">
            <a:spLocks noChangeArrowheads="1"/>
          </p:cNvSpPr>
          <p:nvPr/>
        </p:nvSpPr>
        <p:spPr bwMode="auto">
          <a:xfrm>
            <a:off x="2485345" y="2469017"/>
            <a:ext cx="420687" cy="4016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P</a:t>
            </a:r>
            <a:r>
              <a:rPr lang="en-US" altLang="zh-CN" sz="1400" baseline="-25000"/>
              <a:t>4</a:t>
            </a:r>
            <a:endParaRPr lang="en-US" altLang="zh-CN" sz="1400"/>
          </a:p>
        </p:txBody>
      </p:sp>
      <p:sp>
        <p:nvSpPr>
          <p:cNvPr id="24" name="Text Box 22">
            <a:extLst>
              <a:ext uri="{FF2B5EF4-FFF2-40B4-BE49-F238E27FC236}">
                <a16:creationId xmlns:a16="http://schemas.microsoft.com/office/drawing/2014/main" id="{39BA9CE9-9B99-A32E-C16F-A07DF34F53FC}"/>
              </a:ext>
            </a:extLst>
          </p:cNvPr>
          <p:cNvSpPr txBox="1">
            <a:spLocks noChangeArrowheads="1"/>
          </p:cNvSpPr>
          <p:nvPr/>
        </p:nvSpPr>
        <p:spPr bwMode="auto">
          <a:xfrm>
            <a:off x="2478995" y="3011942"/>
            <a:ext cx="377825" cy="4000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I</a:t>
            </a:r>
            <a:r>
              <a:rPr lang="en-US" altLang="zh-CN" sz="1400" baseline="-25000"/>
              <a:t>1</a:t>
            </a:r>
            <a:endParaRPr lang="en-US" altLang="zh-CN" sz="1400"/>
          </a:p>
        </p:txBody>
      </p:sp>
      <p:sp>
        <p:nvSpPr>
          <p:cNvPr id="25" name="Text Box 23">
            <a:extLst>
              <a:ext uri="{FF2B5EF4-FFF2-40B4-BE49-F238E27FC236}">
                <a16:creationId xmlns:a16="http://schemas.microsoft.com/office/drawing/2014/main" id="{B23C7A37-0D49-1086-E497-0A197287BECB}"/>
              </a:ext>
            </a:extLst>
          </p:cNvPr>
          <p:cNvSpPr txBox="1">
            <a:spLocks noChangeArrowheads="1"/>
          </p:cNvSpPr>
          <p:nvPr/>
        </p:nvSpPr>
        <p:spPr bwMode="auto">
          <a:xfrm>
            <a:off x="3187020" y="3683454"/>
            <a:ext cx="387350" cy="4349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I</a:t>
            </a:r>
            <a:r>
              <a:rPr lang="en-US" altLang="zh-CN" sz="1400" baseline="-25000"/>
              <a:t>2</a:t>
            </a:r>
            <a:endParaRPr lang="en-US" altLang="zh-CN" sz="1400"/>
          </a:p>
        </p:txBody>
      </p:sp>
      <p:sp>
        <p:nvSpPr>
          <p:cNvPr id="26" name="Text Box 24">
            <a:extLst>
              <a:ext uri="{FF2B5EF4-FFF2-40B4-BE49-F238E27FC236}">
                <a16:creationId xmlns:a16="http://schemas.microsoft.com/office/drawing/2014/main" id="{A84AF590-F203-1A4F-D7CE-3E5B95B1EB5A}"/>
              </a:ext>
            </a:extLst>
          </p:cNvPr>
          <p:cNvSpPr txBox="1">
            <a:spLocks noChangeArrowheads="1"/>
          </p:cNvSpPr>
          <p:nvPr/>
        </p:nvSpPr>
        <p:spPr bwMode="auto">
          <a:xfrm>
            <a:off x="4560207" y="3000829"/>
            <a:ext cx="377825" cy="3762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I</a:t>
            </a:r>
            <a:r>
              <a:rPr lang="en-US" altLang="zh-CN" sz="1400" baseline="-25000"/>
              <a:t>3</a:t>
            </a:r>
            <a:endParaRPr lang="en-US" altLang="zh-CN" sz="1400"/>
          </a:p>
        </p:txBody>
      </p:sp>
      <p:sp>
        <p:nvSpPr>
          <p:cNvPr id="27" name="Text Box 25">
            <a:extLst>
              <a:ext uri="{FF2B5EF4-FFF2-40B4-BE49-F238E27FC236}">
                <a16:creationId xmlns:a16="http://schemas.microsoft.com/office/drawing/2014/main" id="{4E69E9AC-AFB1-DC8F-6353-3487663E2CA3}"/>
              </a:ext>
            </a:extLst>
          </p:cNvPr>
          <p:cNvSpPr txBox="1">
            <a:spLocks noChangeArrowheads="1"/>
          </p:cNvSpPr>
          <p:nvPr/>
        </p:nvSpPr>
        <p:spPr bwMode="auto">
          <a:xfrm>
            <a:off x="2671082" y="2246767"/>
            <a:ext cx="388938" cy="4000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I</a:t>
            </a:r>
            <a:r>
              <a:rPr lang="en-US" altLang="zh-CN" sz="1400" baseline="-25000"/>
              <a:t>4</a:t>
            </a:r>
            <a:endParaRPr lang="en-US" altLang="zh-CN" sz="1400"/>
          </a:p>
        </p:txBody>
      </p:sp>
      <p:sp>
        <p:nvSpPr>
          <p:cNvPr id="28" name="Text Box 26">
            <a:extLst>
              <a:ext uri="{FF2B5EF4-FFF2-40B4-BE49-F238E27FC236}">
                <a16:creationId xmlns:a16="http://schemas.microsoft.com/office/drawing/2014/main" id="{8CC23B40-672E-5456-7179-E4A99E108986}"/>
              </a:ext>
            </a:extLst>
          </p:cNvPr>
          <p:cNvSpPr txBox="1">
            <a:spLocks noChangeArrowheads="1"/>
          </p:cNvSpPr>
          <p:nvPr/>
        </p:nvSpPr>
        <p:spPr bwMode="auto">
          <a:xfrm>
            <a:off x="3196545" y="4042229"/>
            <a:ext cx="388937" cy="4333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P</a:t>
            </a:r>
            <a:r>
              <a:rPr lang="en-US" altLang="zh-CN" sz="1400" baseline="-25000"/>
              <a:t>5</a:t>
            </a:r>
            <a:endParaRPr lang="en-US" altLang="zh-CN" sz="1400"/>
          </a:p>
        </p:txBody>
      </p:sp>
      <p:sp>
        <p:nvSpPr>
          <p:cNvPr id="29" name="Text Box 27">
            <a:extLst>
              <a:ext uri="{FF2B5EF4-FFF2-40B4-BE49-F238E27FC236}">
                <a16:creationId xmlns:a16="http://schemas.microsoft.com/office/drawing/2014/main" id="{D09CA90E-1A23-32D4-6003-33991640A102}"/>
              </a:ext>
            </a:extLst>
          </p:cNvPr>
          <p:cNvSpPr txBox="1">
            <a:spLocks noChangeArrowheads="1"/>
          </p:cNvSpPr>
          <p:nvPr/>
        </p:nvSpPr>
        <p:spPr bwMode="auto">
          <a:xfrm>
            <a:off x="5180920" y="2035629"/>
            <a:ext cx="869950" cy="189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52000"/>
              </a:lnSpc>
            </a:pPr>
            <a:r>
              <a:rPr lang="zh-CN" altLang="en-US" sz="1400" dirty="0"/>
              <a:t>扫描线</a:t>
            </a:r>
            <a:r>
              <a:rPr lang="en-US" altLang="zh-CN" sz="1400" dirty="0"/>
              <a:t>5</a:t>
            </a:r>
          </a:p>
          <a:p>
            <a:pPr algn="just">
              <a:lnSpc>
                <a:spcPct val="152000"/>
              </a:lnSpc>
            </a:pPr>
            <a:r>
              <a:rPr lang="zh-CN" altLang="en-US" sz="1400" dirty="0"/>
              <a:t>扫描线</a:t>
            </a:r>
            <a:r>
              <a:rPr lang="en-US" altLang="zh-CN" sz="1400" dirty="0"/>
              <a:t>4</a:t>
            </a:r>
          </a:p>
          <a:p>
            <a:pPr algn="just">
              <a:lnSpc>
                <a:spcPct val="152000"/>
              </a:lnSpc>
            </a:pPr>
            <a:endParaRPr lang="en-US" altLang="zh-CN" sz="1400" dirty="0"/>
          </a:p>
          <a:p>
            <a:pPr algn="just">
              <a:lnSpc>
                <a:spcPct val="152000"/>
              </a:lnSpc>
            </a:pPr>
            <a:endParaRPr lang="en-US" altLang="zh-CN" sz="1400" dirty="0"/>
          </a:p>
          <a:p>
            <a:pPr algn="just">
              <a:lnSpc>
                <a:spcPct val="152000"/>
              </a:lnSpc>
            </a:pPr>
            <a:r>
              <a:rPr lang="zh-CN" altLang="en-US" sz="1400" dirty="0"/>
              <a:t>扫描线</a:t>
            </a:r>
            <a:r>
              <a:rPr lang="en-US" altLang="zh-CN" sz="1400" dirty="0"/>
              <a:t>1</a:t>
            </a:r>
          </a:p>
        </p:txBody>
      </p:sp>
      <p:sp>
        <p:nvSpPr>
          <p:cNvPr id="30" name="Text Box 28">
            <a:extLst>
              <a:ext uri="{FF2B5EF4-FFF2-40B4-BE49-F238E27FC236}">
                <a16:creationId xmlns:a16="http://schemas.microsoft.com/office/drawing/2014/main" id="{D911A521-56C9-152D-1DD4-56872B032EE3}"/>
              </a:ext>
            </a:extLst>
          </p:cNvPr>
          <p:cNvSpPr txBox="1">
            <a:spLocks noChangeArrowheads="1"/>
          </p:cNvSpPr>
          <p:nvPr/>
        </p:nvSpPr>
        <p:spPr bwMode="auto">
          <a:xfrm>
            <a:off x="3458482" y="1814967"/>
            <a:ext cx="388938" cy="4000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I</a:t>
            </a:r>
            <a:r>
              <a:rPr lang="en-US" altLang="zh-CN" sz="1400" baseline="-25000"/>
              <a:t>5</a:t>
            </a:r>
            <a:endParaRPr lang="en-US" altLang="zh-CN" sz="1400"/>
          </a:p>
        </p:txBody>
      </p:sp>
      <p:sp>
        <p:nvSpPr>
          <p:cNvPr id="31" name="Text Box 29">
            <a:extLst>
              <a:ext uri="{FF2B5EF4-FFF2-40B4-BE49-F238E27FC236}">
                <a16:creationId xmlns:a16="http://schemas.microsoft.com/office/drawing/2014/main" id="{E52F152F-B65E-FA27-75A9-38DCD7900246}"/>
              </a:ext>
            </a:extLst>
          </p:cNvPr>
          <p:cNvSpPr txBox="1">
            <a:spLocks noChangeArrowheads="1"/>
          </p:cNvSpPr>
          <p:nvPr/>
        </p:nvSpPr>
        <p:spPr bwMode="auto">
          <a:xfrm>
            <a:off x="2737757" y="3643767"/>
            <a:ext cx="388938" cy="4000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pPr algn="just"/>
            <a:r>
              <a:rPr lang="en-US" altLang="zh-CN" sz="1400"/>
              <a:t>I</a:t>
            </a:r>
            <a:r>
              <a:rPr lang="en-US" altLang="zh-CN" sz="1400" baseline="-25000"/>
              <a:t>6</a:t>
            </a:r>
            <a:endParaRPr lang="en-US" altLang="zh-CN" sz="1400"/>
          </a:p>
        </p:txBody>
      </p:sp>
      <p:sp>
        <p:nvSpPr>
          <p:cNvPr id="32" name="AutoShape 30">
            <a:extLst>
              <a:ext uri="{FF2B5EF4-FFF2-40B4-BE49-F238E27FC236}">
                <a16:creationId xmlns:a16="http://schemas.microsoft.com/office/drawing/2014/main" id="{6818AED4-2AAE-8FCE-53B1-C1FCDCA2BCAA}"/>
              </a:ext>
            </a:extLst>
          </p:cNvPr>
          <p:cNvSpPr>
            <a:spLocks noChangeArrowheads="1"/>
          </p:cNvSpPr>
          <p:nvPr/>
        </p:nvSpPr>
        <p:spPr bwMode="auto">
          <a:xfrm>
            <a:off x="3266395" y="2105479"/>
            <a:ext cx="107950" cy="107950"/>
          </a:xfrm>
          <a:prstGeom prst="flowChartConnector">
            <a:avLst/>
          </a:prstGeom>
          <a:solidFill>
            <a:srgbClr val="FF0000"/>
          </a:solidFill>
          <a:ln w="9525">
            <a:solidFill>
              <a:srgbClr val="FF0000"/>
            </a:solidFill>
            <a:round/>
            <a:headEnd/>
            <a:tailEnd/>
          </a:ln>
        </p:spPr>
        <p:txBody>
          <a:bodyPr/>
          <a:lstStyle/>
          <a:p>
            <a:endParaRPr lang="zh-CN" altLang="en-US"/>
          </a:p>
        </p:txBody>
      </p:sp>
      <p:sp>
        <p:nvSpPr>
          <p:cNvPr id="33" name="AutoShape 31">
            <a:extLst>
              <a:ext uri="{FF2B5EF4-FFF2-40B4-BE49-F238E27FC236}">
                <a16:creationId xmlns:a16="http://schemas.microsoft.com/office/drawing/2014/main" id="{A54D1176-A852-A9A3-CB78-60F03F590B18}"/>
              </a:ext>
            </a:extLst>
          </p:cNvPr>
          <p:cNvSpPr>
            <a:spLocks noChangeArrowheads="1"/>
          </p:cNvSpPr>
          <p:nvPr/>
        </p:nvSpPr>
        <p:spPr bwMode="auto">
          <a:xfrm>
            <a:off x="2796495" y="2494417"/>
            <a:ext cx="107950" cy="107950"/>
          </a:xfrm>
          <a:prstGeom prst="flowChartConnector">
            <a:avLst/>
          </a:prstGeom>
          <a:solidFill>
            <a:srgbClr val="FF0000"/>
          </a:solidFill>
          <a:ln w="9525">
            <a:solidFill>
              <a:srgbClr val="FF0000"/>
            </a:solidFill>
            <a:round/>
            <a:headEnd/>
            <a:tailEnd/>
          </a:ln>
        </p:spPr>
        <p:txBody>
          <a:bodyPr/>
          <a:lstStyle/>
          <a:p>
            <a:endParaRPr lang="zh-CN" altLang="en-US"/>
          </a:p>
        </p:txBody>
      </p:sp>
      <p:sp>
        <p:nvSpPr>
          <p:cNvPr id="34" name="AutoShape 32">
            <a:extLst>
              <a:ext uri="{FF2B5EF4-FFF2-40B4-BE49-F238E27FC236}">
                <a16:creationId xmlns:a16="http://schemas.microsoft.com/office/drawing/2014/main" id="{E5DD2A6A-1E48-E03A-C31A-15D04CE05A81}"/>
              </a:ext>
            </a:extLst>
          </p:cNvPr>
          <p:cNvSpPr>
            <a:spLocks noChangeArrowheads="1"/>
          </p:cNvSpPr>
          <p:nvPr/>
        </p:nvSpPr>
        <p:spPr bwMode="auto">
          <a:xfrm>
            <a:off x="3242582" y="3991429"/>
            <a:ext cx="107950" cy="107950"/>
          </a:xfrm>
          <a:prstGeom prst="flowChartConnector">
            <a:avLst/>
          </a:prstGeom>
          <a:solidFill>
            <a:srgbClr val="FF0000"/>
          </a:solidFill>
          <a:ln w="9525">
            <a:solidFill>
              <a:srgbClr val="FF0000"/>
            </a:solidFill>
            <a:round/>
            <a:headEnd/>
            <a:tailEnd/>
          </a:ln>
        </p:spPr>
        <p:txBody>
          <a:bodyPr/>
          <a:lstStyle/>
          <a:p>
            <a:endParaRPr lang="zh-CN" altLang="en-US"/>
          </a:p>
        </p:txBody>
      </p:sp>
      <p:sp>
        <p:nvSpPr>
          <p:cNvPr id="35" name="AutoShape 33">
            <a:extLst>
              <a:ext uri="{FF2B5EF4-FFF2-40B4-BE49-F238E27FC236}">
                <a16:creationId xmlns:a16="http://schemas.microsoft.com/office/drawing/2014/main" id="{F89187F2-F5F7-063B-B6A6-87D84C156341}"/>
              </a:ext>
            </a:extLst>
          </p:cNvPr>
          <p:cNvSpPr>
            <a:spLocks noChangeArrowheads="1"/>
          </p:cNvSpPr>
          <p:nvPr/>
        </p:nvSpPr>
        <p:spPr bwMode="auto">
          <a:xfrm>
            <a:off x="2623457" y="3575504"/>
            <a:ext cx="107950" cy="107950"/>
          </a:xfrm>
          <a:prstGeom prst="flowChartConnector">
            <a:avLst/>
          </a:prstGeom>
          <a:solidFill>
            <a:srgbClr val="FF0000"/>
          </a:solidFill>
          <a:ln w="9525">
            <a:solidFill>
              <a:srgbClr val="FF0000"/>
            </a:solidFill>
            <a:round/>
            <a:headEnd/>
            <a:tailEnd/>
          </a:ln>
        </p:spPr>
        <p:txBody>
          <a:bodyPr/>
          <a:lstStyle/>
          <a:p>
            <a:endParaRPr lang="zh-CN" altLang="en-US"/>
          </a:p>
        </p:txBody>
      </p:sp>
      <p:sp>
        <p:nvSpPr>
          <p:cNvPr id="36" name="AutoShape 34">
            <a:extLst>
              <a:ext uri="{FF2B5EF4-FFF2-40B4-BE49-F238E27FC236}">
                <a16:creationId xmlns:a16="http://schemas.microsoft.com/office/drawing/2014/main" id="{D8702141-A150-83CF-7A55-5A54B0AD0BB7}"/>
              </a:ext>
            </a:extLst>
          </p:cNvPr>
          <p:cNvSpPr>
            <a:spLocks noChangeArrowheads="1"/>
          </p:cNvSpPr>
          <p:nvPr/>
        </p:nvSpPr>
        <p:spPr bwMode="auto">
          <a:xfrm>
            <a:off x="5063445" y="3596142"/>
            <a:ext cx="107950" cy="107950"/>
          </a:xfrm>
          <a:prstGeom prst="flowChartConnector">
            <a:avLst/>
          </a:prstGeom>
          <a:solidFill>
            <a:srgbClr val="FF00FF"/>
          </a:solidFill>
          <a:ln w="9525">
            <a:solidFill>
              <a:srgbClr val="FF0000"/>
            </a:solidFill>
            <a:round/>
            <a:headEnd/>
            <a:tailEnd/>
          </a:ln>
        </p:spPr>
        <p:txBody>
          <a:bodyPr/>
          <a:lstStyle/>
          <a:p>
            <a:endParaRPr lang="zh-CN" altLang="en-US"/>
          </a:p>
        </p:txBody>
      </p:sp>
      <p:sp>
        <p:nvSpPr>
          <p:cNvPr id="37" name="AutoShape 35">
            <a:extLst>
              <a:ext uri="{FF2B5EF4-FFF2-40B4-BE49-F238E27FC236}">
                <a16:creationId xmlns:a16="http://schemas.microsoft.com/office/drawing/2014/main" id="{A2157F67-6C01-83A4-514E-426322AD1705}"/>
              </a:ext>
            </a:extLst>
          </p:cNvPr>
          <p:cNvSpPr>
            <a:spLocks noChangeArrowheads="1"/>
          </p:cNvSpPr>
          <p:nvPr/>
        </p:nvSpPr>
        <p:spPr bwMode="auto">
          <a:xfrm>
            <a:off x="3696607" y="2494417"/>
            <a:ext cx="107950" cy="107950"/>
          </a:xfrm>
          <a:prstGeom prst="flowChartConnector">
            <a:avLst/>
          </a:prstGeom>
          <a:solidFill>
            <a:srgbClr val="FF00FF"/>
          </a:solidFill>
          <a:ln w="9525">
            <a:solidFill>
              <a:srgbClr val="FF0000"/>
            </a:solidFill>
            <a:round/>
            <a:headEnd/>
            <a:tailEnd/>
          </a:ln>
        </p:spPr>
        <p:txBody>
          <a:bodyPr/>
          <a:lstStyle/>
          <a:p>
            <a:endParaRPr lang="zh-CN" altLang="en-US"/>
          </a:p>
        </p:txBody>
      </p:sp>
      <p:sp>
        <p:nvSpPr>
          <p:cNvPr id="40" name="文本框 39">
            <a:extLst>
              <a:ext uri="{FF2B5EF4-FFF2-40B4-BE49-F238E27FC236}">
                <a16:creationId xmlns:a16="http://schemas.microsoft.com/office/drawing/2014/main" id="{48C6B5E4-AB14-5476-F193-7E9BFE5DC5D6}"/>
              </a:ext>
            </a:extLst>
          </p:cNvPr>
          <p:cNvSpPr txBox="1"/>
          <p:nvPr/>
        </p:nvSpPr>
        <p:spPr>
          <a:xfrm>
            <a:off x="2304370" y="4821691"/>
            <a:ext cx="7183377" cy="584775"/>
          </a:xfrm>
          <a:prstGeom prst="rect">
            <a:avLst/>
          </a:prstGeom>
          <a:noFill/>
        </p:spPr>
        <p:txBody>
          <a:bodyPr wrap="none" rtlCol="0">
            <a:spAutoFit/>
          </a:bodyPr>
          <a:lstStyle/>
          <a:p>
            <a:r>
              <a:rPr lang="zh-CN" altLang="en-US" sz="3200" b="1" dirty="0"/>
              <a:t>图中哪些顶点计</a:t>
            </a:r>
            <a:r>
              <a:rPr lang="en-US" altLang="zh-CN" sz="3200" b="1" dirty="0"/>
              <a:t>1</a:t>
            </a:r>
            <a:r>
              <a:rPr lang="zh-CN" altLang="en-US" sz="3200" b="1" dirty="0"/>
              <a:t>次，哪些顶点计</a:t>
            </a:r>
            <a:r>
              <a:rPr lang="en-US" altLang="zh-CN" sz="3200" b="1" dirty="0"/>
              <a:t>2</a:t>
            </a:r>
            <a:r>
              <a:rPr lang="zh-CN" altLang="en-US" sz="3200" b="1" dirty="0"/>
              <a:t>次？</a:t>
            </a:r>
          </a:p>
        </p:txBody>
      </p:sp>
    </p:spTree>
    <p:extLst>
      <p:ext uri="{BB962C8B-B14F-4D97-AF65-F5344CB8AC3E}">
        <p14:creationId xmlns:p14="http://schemas.microsoft.com/office/powerpoint/2010/main" val="177998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659313"/>
          </a:xfrm>
        </p:spPr>
        <p:txBody>
          <a:bodyPr>
            <a:norm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算法效率分析：</a:t>
            </a:r>
            <a:r>
              <a:rPr lang="en-US" altLang="zh-CN" sz="2800" dirty="0">
                <a:latin typeface="华光仿宋_CNKI" panose="02000500000000000000" pitchFamily="2" charset="-122"/>
                <a:ea typeface="华光仿宋_CNKI" panose="02000500000000000000" pitchFamily="2" charset="-122"/>
              </a:rPr>
              <a:t> </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影响算法效率的主要因素包括：</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）将所有边放在一个表格中，并按顺序取出。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）求交点和交点的</a:t>
            </a:r>
            <a:r>
              <a:rPr lang="en-US" altLang="zh-CN" sz="2800" dirty="0">
                <a:latin typeface="华光仿宋_CNKI" panose="02000500000000000000" pitchFamily="2" charset="-122"/>
                <a:ea typeface="华光仿宋_CNKI" panose="02000500000000000000" pitchFamily="2" charset="-122"/>
              </a:rPr>
              <a:t>X</a:t>
            </a:r>
            <a:r>
              <a:rPr lang="zh-CN" altLang="en-US" sz="2800" dirty="0">
                <a:latin typeface="华光仿宋_CNKI" panose="02000500000000000000" pitchFamily="2" charset="-122"/>
                <a:ea typeface="华光仿宋_CNKI" panose="02000500000000000000" pitchFamily="2" charset="-122"/>
              </a:rPr>
              <a:t>轴排序</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因此一般而言，复杂模型均采用三角形或者四边形作为基本图元，并采用硬件对其进行像素化。</a:t>
            </a:r>
            <a:r>
              <a:rPr lang="en-US" altLang="zh-CN" sz="28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8396637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659313"/>
          </a:xfrm>
        </p:spPr>
        <p:txBody>
          <a:bodyPr>
            <a:normAutofit fontScale="92500"/>
          </a:bodyPr>
          <a:lstStyle/>
          <a:p>
            <a:pPr algn="l">
              <a:lnSpc>
                <a:spcPct val="150000"/>
              </a:lnSpc>
            </a:pPr>
            <a:r>
              <a:rPr lang="en-US" altLang="zh-CN" sz="2800" dirty="0">
                <a:latin typeface="华光标题宋_CNKI" panose="02000500000000000000" pitchFamily="2" charset="-122"/>
                <a:ea typeface="华光标题宋_CNKI" panose="02000500000000000000" pitchFamily="2" charset="-122"/>
              </a:rPr>
              <a:t>3.4.5 </a:t>
            </a:r>
            <a:r>
              <a:rPr lang="zh-CN" altLang="en-US" sz="2800" dirty="0">
                <a:latin typeface="华光标题宋_CNKI" panose="02000500000000000000" pitchFamily="2" charset="-122"/>
                <a:ea typeface="华光标题宋_CNKI" panose="02000500000000000000" pitchFamily="2" charset="-122"/>
              </a:rPr>
              <a:t>边填充法</a:t>
            </a:r>
          </a:p>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）简单的边填充法 </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latin typeface="华光仿宋_CNKI" panose="02000500000000000000" pitchFamily="2" charset="-122"/>
                <a:ea typeface="华光仿宋_CNKI" panose="02000500000000000000" pitchFamily="2" charset="-122"/>
              </a:rPr>
              <a:t>   该算法根据构成多边形各条边的情况，将该多边形每一条边右边区域像素的颜色全部取补（也就是做异或运算）。第一次做异或运算，像素被置成其他颜色，如果再进行一次异或运算，则恢复出原来的颜色。其执行过程与边的顺序无关，且易于通过缓冲区实现大面积的运算。</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其执行过程如下所示。</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617261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
            <a:extLst>
              <a:ext uri="{FF2B5EF4-FFF2-40B4-BE49-F238E27FC236}">
                <a16:creationId xmlns:a16="http://schemas.microsoft.com/office/drawing/2014/main" id="{9B4581FF-B16B-1E34-9BD8-03BC84F97AFF}"/>
              </a:ext>
            </a:extLst>
          </p:cNvPr>
          <p:cNvGraphicFramePr>
            <a:graphicFrameLocks noChangeAspect="1"/>
          </p:cNvGraphicFramePr>
          <p:nvPr>
            <p:extLst>
              <p:ext uri="{D42A27DB-BD31-4B8C-83A1-F6EECF244321}">
                <p14:modId xmlns:p14="http://schemas.microsoft.com/office/powerpoint/2010/main" val="553274008"/>
              </p:ext>
            </p:extLst>
          </p:nvPr>
        </p:nvGraphicFramePr>
        <p:xfrm>
          <a:off x="1478942" y="588396"/>
          <a:ext cx="9470004" cy="5231958"/>
        </p:xfrm>
        <a:graphic>
          <a:graphicData uri="http://schemas.openxmlformats.org/presentationml/2006/ole">
            <mc:AlternateContent xmlns:mc="http://schemas.openxmlformats.org/markup-compatibility/2006">
              <mc:Choice xmlns:v="urn:schemas-microsoft-com:vml" Requires="v">
                <p:oleObj r:id="rId2" imgW="7210425" imgH="3362325" progId="Visio.Drawing.6">
                  <p:embed/>
                </p:oleObj>
              </mc:Choice>
              <mc:Fallback>
                <p:oleObj r:id="rId2" imgW="7210425" imgH="3362325" progId="Visio.Drawing.6">
                  <p:embed/>
                  <p:pic>
                    <p:nvPicPr>
                      <p:cNvPr id="379908" name="Object 4">
                        <a:extLst>
                          <a:ext uri="{FF2B5EF4-FFF2-40B4-BE49-F238E27FC236}">
                            <a16:creationId xmlns:a16="http://schemas.microsoft.com/office/drawing/2014/main" id="{8CA5B8EE-EBED-F27E-AE20-4B80AF4CA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8942" y="588396"/>
                        <a:ext cx="9470004" cy="5231958"/>
                      </a:xfrm>
                      <a:prstGeom prst="rect">
                        <a:avLst/>
                      </a:prstGeom>
                      <a:noFill/>
                    </p:spPr>
                  </p:pic>
                </p:oleObj>
              </mc:Fallback>
            </mc:AlternateContent>
          </a:graphicData>
        </a:graphic>
      </p:graphicFrame>
    </p:spTree>
    <p:extLst>
      <p:ext uri="{BB962C8B-B14F-4D97-AF65-F5344CB8AC3E}">
        <p14:creationId xmlns:p14="http://schemas.microsoft.com/office/powerpoint/2010/main" val="39014331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BF1EE354-EB58-0FF1-079E-4903B271CA62}"/>
              </a:ext>
            </a:extLst>
          </p:cNvPr>
          <p:cNvSpPr txBox="1">
            <a:spLocks noChangeArrowheads="1"/>
          </p:cNvSpPr>
          <p:nvPr/>
        </p:nvSpPr>
        <p:spPr>
          <a:xfrm>
            <a:off x="1149033" y="795476"/>
            <a:ext cx="10475774" cy="51117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FF0000"/>
                </a:solidFill>
                <a:latin typeface="黑体" panose="02010609060101010101" pitchFamily="49" charset="-122"/>
              </a:rPr>
              <a:t>算法优点：</a:t>
            </a:r>
          </a:p>
          <a:p>
            <a:pPr lvl="1">
              <a:lnSpc>
                <a:spcPct val="150000"/>
              </a:lnSpc>
            </a:pPr>
            <a:r>
              <a:rPr lang="zh-CN" altLang="en-US" sz="2800" dirty="0">
                <a:latin typeface="华光仿宋_CNKI" panose="02000500000000000000" pitchFamily="2" charset="-122"/>
                <a:ea typeface="华光仿宋_CNKI" panose="02000500000000000000" pitchFamily="2" charset="-122"/>
              </a:rPr>
              <a:t>最适合于有帧缓存的显示器</a:t>
            </a:r>
          </a:p>
          <a:p>
            <a:pPr lvl="1">
              <a:lnSpc>
                <a:spcPct val="150000"/>
              </a:lnSpc>
            </a:pPr>
            <a:r>
              <a:rPr lang="zh-CN" altLang="en-US" sz="2800" dirty="0">
                <a:latin typeface="华光仿宋_CNKI" panose="02000500000000000000" pitchFamily="2" charset="-122"/>
                <a:ea typeface="华光仿宋_CNKI" panose="02000500000000000000" pitchFamily="2" charset="-122"/>
              </a:rPr>
              <a:t>可按任意顺序处理多边形的边</a:t>
            </a:r>
          </a:p>
          <a:p>
            <a:pPr lvl="1">
              <a:lnSpc>
                <a:spcPct val="150000"/>
              </a:lnSpc>
            </a:pPr>
            <a:r>
              <a:rPr lang="zh-CN" altLang="en-US" sz="2800" dirty="0">
                <a:latin typeface="华光仿宋_CNKI" panose="02000500000000000000" pitchFamily="2" charset="-122"/>
                <a:ea typeface="华光仿宋_CNKI" panose="02000500000000000000" pitchFamily="2" charset="-122"/>
              </a:rPr>
              <a:t>仅访问与该边有交点的扫描线上右方的像素，算法简单</a:t>
            </a:r>
          </a:p>
          <a:p>
            <a:pPr marL="0" indent="0">
              <a:buNone/>
            </a:pPr>
            <a:r>
              <a:rPr lang="zh-CN" altLang="en-US" b="1" dirty="0">
                <a:solidFill>
                  <a:srgbClr val="0070C0"/>
                </a:solidFill>
                <a:latin typeface="黑体" panose="02010609060101010101" pitchFamily="49" charset="-122"/>
              </a:rPr>
              <a:t>算法缺点：</a:t>
            </a:r>
          </a:p>
          <a:p>
            <a:pPr lvl="1">
              <a:lnSpc>
                <a:spcPct val="150000"/>
              </a:lnSpc>
            </a:pPr>
            <a:r>
              <a:rPr lang="zh-CN" altLang="en-US" sz="2800" dirty="0">
                <a:latin typeface="华光仿宋_CNKI" panose="02000500000000000000" pitchFamily="2" charset="-122"/>
                <a:ea typeface="华光仿宋_CNKI" panose="02000500000000000000" pitchFamily="2" charset="-122"/>
              </a:rPr>
              <a:t>对复杂图形，每一像素可能被访问多次，输入</a:t>
            </a:r>
            <a:r>
              <a:rPr lang="en-US" altLang="zh-CN" sz="2800" dirty="0">
                <a:latin typeface="华光仿宋_CNKI" panose="02000500000000000000" pitchFamily="2" charset="-122"/>
                <a:ea typeface="华光仿宋_CNKI" panose="02000500000000000000" pitchFamily="2" charset="-122"/>
              </a:rPr>
              <a:t>/</a:t>
            </a:r>
            <a:r>
              <a:rPr lang="zh-CN" altLang="en-US" sz="2800" dirty="0">
                <a:latin typeface="华光仿宋_CNKI" panose="02000500000000000000" pitchFamily="2" charset="-122"/>
                <a:ea typeface="华光仿宋_CNKI" panose="02000500000000000000" pitchFamily="2" charset="-122"/>
              </a:rPr>
              <a:t>输出量大</a:t>
            </a:r>
          </a:p>
          <a:p>
            <a:pPr lvl="1">
              <a:lnSpc>
                <a:spcPct val="150000"/>
              </a:lnSpc>
            </a:pPr>
            <a:r>
              <a:rPr lang="zh-CN" altLang="en-US" sz="2800" dirty="0">
                <a:latin typeface="华光仿宋_CNKI" panose="02000500000000000000" pitchFamily="2" charset="-122"/>
                <a:ea typeface="华光仿宋_CNKI" panose="02000500000000000000" pitchFamily="2" charset="-122"/>
              </a:rPr>
              <a:t>图形输出不能与扫描同步进行，只有全部画完才能打印</a:t>
            </a:r>
          </a:p>
        </p:txBody>
      </p:sp>
    </p:spTree>
    <p:extLst>
      <p:ext uri="{BB962C8B-B14F-4D97-AF65-F5344CB8AC3E}">
        <p14:creationId xmlns:p14="http://schemas.microsoft.com/office/powerpoint/2010/main" val="10709073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1099343"/>
            <a:ext cx="10730310" cy="4736914"/>
          </a:xfrm>
        </p:spPr>
        <p:txBody>
          <a:bodyPr>
            <a:norm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）栅栏填充法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引入栅栏，也就是一条与扫描线垂直的直线，其位置一般取通过多边形的顶点的直线。采用如下算法：</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）对于每一条与多边形相交的扫描线，重复后面的操作。</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）将位于栅栏和边之间的扫描线取补（做异或运算）。</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其求解过程如下图所示。</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805005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a:extLst>
              <a:ext uri="{FF2B5EF4-FFF2-40B4-BE49-F238E27FC236}">
                <a16:creationId xmlns:a16="http://schemas.microsoft.com/office/drawing/2014/main" id="{9E8F613C-C70B-05A7-4FD2-A9A7B4E1359C}"/>
              </a:ext>
            </a:extLst>
          </p:cNvPr>
          <p:cNvGraphicFramePr>
            <a:graphicFrameLocks noChangeAspect="1"/>
          </p:cNvGraphicFramePr>
          <p:nvPr>
            <p:extLst>
              <p:ext uri="{D42A27DB-BD31-4B8C-83A1-F6EECF244321}">
                <p14:modId xmlns:p14="http://schemas.microsoft.com/office/powerpoint/2010/main" val="14782668"/>
              </p:ext>
            </p:extLst>
          </p:nvPr>
        </p:nvGraphicFramePr>
        <p:xfrm>
          <a:off x="930304" y="453225"/>
          <a:ext cx="10169718" cy="5693134"/>
        </p:xfrm>
        <a:graphic>
          <a:graphicData uri="http://schemas.openxmlformats.org/presentationml/2006/ole">
            <mc:AlternateContent xmlns:mc="http://schemas.openxmlformats.org/markup-compatibility/2006">
              <mc:Choice xmlns:v="urn:schemas-microsoft-com:vml" Requires="v">
                <p:oleObj r:id="rId2" imgW="7210425" imgH="4057650" progId="Visio.Drawing.6">
                  <p:embed/>
                </p:oleObj>
              </mc:Choice>
              <mc:Fallback>
                <p:oleObj r:id="rId2" imgW="7210425" imgH="4057650" progId="Visio.Drawing.6">
                  <p:embed/>
                  <p:pic>
                    <p:nvPicPr>
                      <p:cNvPr id="465924" name="Object 4">
                        <a:extLst>
                          <a:ext uri="{FF2B5EF4-FFF2-40B4-BE49-F238E27FC236}">
                            <a16:creationId xmlns:a16="http://schemas.microsoft.com/office/drawing/2014/main" id="{E60E89A6-288A-C944-54FD-F40903D7F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304" y="453225"/>
                        <a:ext cx="10169718" cy="5693134"/>
                      </a:xfrm>
                      <a:prstGeom prst="rect">
                        <a:avLst/>
                      </a:prstGeom>
                      <a:noFill/>
                    </p:spPr>
                  </p:pic>
                </p:oleObj>
              </mc:Fallback>
            </mc:AlternateContent>
          </a:graphicData>
        </a:graphic>
      </p:graphicFrame>
    </p:spTree>
    <p:extLst>
      <p:ext uri="{BB962C8B-B14F-4D97-AF65-F5344CB8AC3E}">
        <p14:creationId xmlns:p14="http://schemas.microsoft.com/office/powerpoint/2010/main" val="2252493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65029" y="461177"/>
            <a:ext cx="10730310" cy="5780598"/>
          </a:xfrm>
        </p:spPr>
        <p:txBody>
          <a:bodyPr>
            <a:normAutofit/>
          </a:bodyPr>
          <a:lstStyle/>
          <a:p>
            <a:pPr algn="l">
              <a:lnSpc>
                <a:spcPct val="150000"/>
              </a:lnSpc>
            </a:pPr>
            <a:r>
              <a:rPr lang="en-US" altLang="zh-CN" sz="2800" dirty="0">
                <a:latin typeface="华光标题宋_CNKI" panose="02000500000000000000" pitchFamily="2" charset="-122"/>
                <a:ea typeface="华光标题宋_CNKI" panose="02000500000000000000" pitchFamily="2" charset="-122"/>
              </a:rPr>
              <a:t>3.4.6 </a:t>
            </a:r>
            <a:r>
              <a:rPr lang="zh-CN" altLang="en-US" sz="2800" dirty="0">
                <a:latin typeface="华光标题宋_CNKI" panose="02000500000000000000" pitchFamily="2" charset="-122"/>
                <a:ea typeface="华光标题宋_CNKI" panose="02000500000000000000" pitchFamily="2" charset="-122"/>
              </a:rPr>
              <a:t>种子填充法</a:t>
            </a:r>
          </a:p>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）简单的种子填充法 </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种子填充法的思路是从多边形内某个像素点开始，朝上、下、左、右四个方向或者上、下、左、右以及对角线</a:t>
            </a:r>
            <a:r>
              <a:rPr lang="en-US" altLang="zh-CN" sz="2800" dirty="0">
                <a:latin typeface="华光仿宋_CNKI" panose="02000500000000000000" pitchFamily="2" charset="-122"/>
                <a:ea typeface="华光仿宋_CNKI" panose="02000500000000000000" pitchFamily="2" charset="-122"/>
              </a:rPr>
              <a:t>8</a:t>
            </a:r>
            <a:r>
              <a:rPr lang="zh-CN" altLang="en-US" sz="2800" dirty="0">
                <a:latin typeface="华光仿宋_CNKI" panose="02000500000000000000" pitchFamily="2" charset="-122"/>
                <a:ea typeface="华光仿宋_CNKI" panose="02000500000000000000" pitchFamily="2" charset="-122"/>
              </a:rPr>
              <a:t>个方向上进行搜索，如果对应的四个方向上的某些点或者</a:t>
            </a:r>
            <a:r>
              <a:rPr lang="en-US" altLang="zh-CN" sz="2800" dirty="0">
                <a:latin typeface="华光仿宋_CNKI" panose="02000500000000000000" pitchFamily="2" charset="-122"/>
                <a:ea typeface="华光仿宋_CNKI" panose="02000500000000000000" pitchFamily="2" charset="-122"/>
              </a:rPr>
              <a:t>8</a:t>
            </a:r>
            <a:r>
              <a:rPr lang="zh-CN" altLang="en-US" sz="2800" dirty="0">
                <a:latin typeface="华光仿宋_CNKI" panose="02000500000000000000" pitchFamily="2" charset="-122"/>
                <a:ea typeface="华光仿宋_CNKI" panose="02000500000000000000" pitchFamily="2" charset="-122"/>
              </a:rPr>
              <a:t>个方向上的某些点是边界上的点，则不填充该像素，否则将填充该像素。然后重复上述操作。</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注意，上述操作只针对多边形内的像素，边界上的像素不采用上述操作。如下图所示。    </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6226100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6">
            <a:extLst>
              <a:ext uri="{FF2B5EF4-FFF2-40B4-BE49-F238E27FC236}">
                <a16:creationId xmlns:a16="http://schemas.microsoft.com/office/drawing/2014/main" id="{07CE16C8-1E3F-89D9-DB64-EB09B246B14F}"/>
              </a:ext>
            </a:extLst>
          </p:cNvPr>
          <p:cNvGrpSpPr>
            <a:grpSpLocks/>
          </p:cNvGrpSpPr>
          <p:nvPr/>
        </p:nvGrpSpPr>
        <p:grpSpPr bwMode="auto">
          <a:xfrm>
            <a:off x="1989194" y="2054225"/>
            <a:ext cx="2752725" cy="2289175"/>
            <a:chOff x="1183" y="1353"/>
            <a:chExt cx="1734" cy="1442"/>
          </a:xfrm>
        </p:grpSpPr>
        <p:sp>
          <p:nvSpPr>
            <p:cNvPr id="3" name="Oval 4">
              <a:extLst>
                <a:ext uri="{FF2B5EF4-FFF2-40B4-BE49-F238E27FC236}">
                  <a16:creationId xmlns:a16="http://schemas.microsoft.com/office/drawing/2014/main" id="{D5566E23-DF81-679E-74A0-F267E9B9D523}"/>
                </a:ext>
              </a:extLst>
            </p:cNvPr>
            <p:cNvSpPr>
              <a:spLocks noChangeArrowheads="1"/>
            </p:cNvSpPr>
            <p:nvPr/>
          </p:nvSpPr>
          <p:spPr bwMode="auto">
            <a:xfrm>
              <a:off x="1183" y="261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 name="Oval 5">
              <a:extLst>
                <a:ext uri="{FF2B5EF4-FFF2-40B4-BE49-F238E27FC236}">
                  <a16:creationId xmlns:a16="http://schemas.microsoft.com/office/drawing/2014/main" id="{21EEE93A-1346-C6C7-ED5C-ABC7CB7779E5}"/>
                </a:ext>
              </a:extLst>
            </p:cNvPr>
            <p:cNvSpPr>
              <a:spLocks noChangeArrowheads="1"/>
            </p:cNvSpPr>
            <p:nvPr/>
          </p:nvSpPr>
          <p:spPr bwMode="auto">
            <a:xfrm>
              <a:off x="1410" y="261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 name="Oval 6">
              <a:extLst>
                <a:ext uri="{FF2B5EF4-FFF2-40B4-BE49-F238E27FC236}">
                  <a16:creationId xmlns:a16="http://schemas.microsoft.com/office/drawing/2014/main" id="{8CE7AE93-33C3-FCDF-3D92-8C09AA9DAB10}"/>
                </a:ext>
              </a:extLst>
            </p:cNvPr>
            <p:cNvSpPr>
              <a:spLocks noChangeArrowheads="1"/>
            </p:cNvSpPr>
            <p:nvPr/>
          </p:nvSpPr>
          <p:spPr bwMode="auto">
            <a:xfrm>
              <a:off x="1628" y="261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 name="Oval 7">
              <a:extLst>
                <a:ext uri="{FF2B5EF4-FFF2-40B4-BE49-F238E27FC236}">
                  <a16:creationId xmlns:a16="http://schemas.microsoft.com/office/drawing/2014/main" id="{2C23C111-D0DA-4C4B-2F8B-E21AFB55E586}"/>
                </a:ext>
              </a:extLst>
            </p:cNvPr>
            <p:cNvSpPr>
              <a:spLocks noChangeArrowheads="1"/>
            </p:cNvSpPr>
            <p:nvPr/>
          </p:nvSpPr>
          <p:spPr bwMode="auto">
            <a:xfrm>
              <a:off x="1854" y="261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 name="Oval 8">
              <a:extLst>
                <a:ext uri="{FF2B5EF4-FFF2-40B4-BE49-F238E27FC236}">
                  <a16:creationId xmlns:a16="http://schemas.microsoft.com/office/drawing/2014/main" id="{941CB01F-9FF0-41A9-D4B3-B1D66A1CA57C}"/>
                </a:ext>
              </a:extLst>
            </p:cNvPr>
            <p:cNvSpPr>
              <a:spLocks noChangeArrowheads="1"/>
            </p:cNvSpPr>
            <p:nvPr/>
          </p:nvSpPr>
          <p:spPr bwMode="auto">
            <a:xfrm>
              <a:off x="2072" y="261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 name="Oval 9">
              <a:extLst>
                <a:ext uri="{FF2B5EF4-FFF2-40B4-BE49-F238E27FC236}">
                  <a16:creationId xmlns:a16="http://schemas.microsoft.com/office/drawing/2014/main" id="{3F294B10-3A0D-28C8-0F71-294999EA6A6C}"/>
                </a:ext>
              </a:extLst>
            </p:cNvPr>
            <p:cNvSpPr>
              <a:spLocks noChangeArrowheads="1"/>
            </p:cNvSpPr>
            <p:nvPr/>
          </p:nvSpPr>
          <p:spPr bwMode="auto">
            <a:xfrm>
              <a:off x="1183" y="2396"/>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 name="Oval 10">
              <a:extLst>
                <a:ext uri="{FF2B5EF4-FFF2-40B4-BE49-F238E27FC236}">
                  <a16:creationId xmlns:a16="http://schemas.microsoft.com/office/drawing/2014/main" id="{1A0EAEA8-F0C9-D4F0-70EA-1D744649064D}"/>
                </a:ext>
              </a:extLst>
            </p:cNvPr>
            <p:cNvSpPr>
              <a:spLocks noChangeArrowheads="1"/>
            </p:cNvSpPr>
            <p:nvPr/>
          </p:nvSpPr>
          <p:spPr bwMode="auto">
            <a:xfrm>
              <a:off x="1410" y="2396"/>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 name="Oval 11">
              <a:extLst>
                <a:ext uri="{FF2B5EF4-FFF2-40B4-BE49-F238E27FC236}">
                  <a16:creationId xmlns:a16="http://schemas.microsoft.com/office/drawing/2014/main" id="{114DE278-729F-FF9E-1331-4CC266303361}"/>
                </a:ext>
              </a:extLst>
            </p:cNvPr>
            <p:cNvSpPr>
              <a:spLocks noChangeArrowheads="1"/>
            </p:cNvSpPr>
            <p:nvPr/>
          </p:nvSpPr>
          <p:spPr bwMode="auto">
            <a:xfrm>
              <a:off x="1628" y="2396"/>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 name="Oval 12">
              <a:extLst>
                <a:ext uri="{FF2B5EF4-FFF2-40B4-BE49-F238E27FC236}">
                  <a16:creationId xmlns:a16="http://schemas.microsoft.com/office/drawing/2014/main" id="{012F4AF4-A7B3-B298-7CC7-0A9711D12CAC}"/>
                </a:ext>
              </a:extLst>
            </p:cNvPr>
            <p:cNvSpPr>
              <a:spLocks noChangeArrowheads="1"/>
            </p:cNvSpPr>
            <p:nvPr/>
          </p:nvSpPr>
          <p:spPr bwMode="auto">
            <a:xfrm>
              <a:off x="1854" y="2396"/>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 name="Oval 13">
              <a:extLst>
                <a:ext uri="{FF2B5EF4-FFF2-40B4-BE49-F238E27FC236}">
                  <a16:creationId xmlns:a16="http://schemas.microsoft.com/office/drawing/2014/main" id="{03F98AC6-BAB2-2F4D-4977-5813573B5C31}"/>
                </a:ext>
              </a:extLst>
            </p:cNvPr>
            <p:cNvSpPr>
              <a:spLocks noChangeArrowheads="1"/>
            </p:cNvSpPr>
            <p:nvPr/>
          </p:nvSpPr>
          <p:spPr bwMode="auto">
            <a:xfrm>
              <a:off x="2072" y="2396"/>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 name="Oval 14">
              <a:extLst>
                <a:ext uri="{FF2B5EF4-FFF2-40B4-BE49-F238E27FC236}">
                  <a16:creationId xmlns:a16="http://schemas.microsoft.com/office/drawing/2014/main" id="{725997BF-E1D8-F437-BA22-24E0CD5FD801}"/>
                </a:ext>
              </a:extLst>
            </p:cNvPr>
            <p:cNvSpPr>
              <a:spLocks noChangeArrowheads="1"/>
            </p:cNvSpPr>
            <p:nvPr/>
          </p:nvSpPr>
          <p:spPr bwMode="auto">
            <a:xfrm>
              <a:off x="1183" y="2187"/>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 name="Oval 15">
              <a:extLst>
                <a:ext uri="{FF2B5EF4-FFF2-40B4-BE49-F238E27FC236}">
                  <a16:creationId xmlns:a16="http://schemas.microsoft.com/office/drawing/2014/main" id="{342793D5-25FA-80F9-9F0A-61A17B144210}"/>
                </a:ext>
              </a:extLst>
            </p:cNvPr>
            <p:cNvSpPr>
              <a:spLocks noChangeArrowheads="1"/>
            </p:cNvSpPr>
            <p:nvPr/>
          </p:nvSpPr>
          <p:spPr bwMode="auto">
            <a:xfrm>
              <a:off x="1410" y="2187"/>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Oval 16">
              <a:extLst>
                <a:ext uri="{FF2B5EF4-FFF2-40B4-BE49-F238E27FC236}">
                  <a16:creationId xmlns:a16="http://schemas.microsoft.com/office/drawing/2014/main" id="{E325DF1F-A328-3856-E1A2-5C063107F660}"/>
                </a:ext>
              </a:extLst>
            </p:cNvPr>
            <p:cNvSpPr>
              <a:spLocks noChangeArrowheads="1"/>
            </p:cNvSpPr>
            <p:nvPr/>
          </p:nvSpPr>
          <p:spPr bwMode="auto">
            <a:xfrm>
              <a:off x="1628" y="2187"/>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 name="Oval 17">
              <a:extLst>
                <a:ext uri="{FF2B5EF4-FFF2-40B4-BE49-F238E27FC236}">
                  <a16:creationId xmlns:a16="http://schemas.microsoft.com/office/drawing/2014/main" id="{30ECD916-0413-2343-9BFD-768BC0632BCE}"/>
                </a:ext>
              </a:extLst>
            </p:cNvPr>
            <p:cNvSpPr>
              <a:spLocks noChangeArrowheads="1"/>
            </p:cNvSpPr>
            <p:nvPr/>
          </p:nvSpPr>
          <p:spPr bwMode="auto">
            <a:xfrm>
              <a:off x="1854" y="2187"/>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 name="Oval 18">
              <a:extLst>
                <a:ext uri="{FF2B5EF4-FFF2-40B4-BE49-F238E27FC236}">
                  <a16:creationId xmlns:a16="http://schemas.microsoft.com/office/drawing/2014/main" id="{8D050D1F-6995-3419-F9C8-618D46531239}"/>
                </a:ext>
              </a:extLst>
            </p:cNvPr>
            <p:cNvSpPr>
              <a:spLocks noChangeArrowheads="1"/>
            </p:cNvSpPr>
            <p:nvPr/>
          </p:nvSpPr>
          <p:spPr bwMode="auto">
            <a:xfrm>
              <a:off x="2072" y="2187"/>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9" name="Oval 19">
              <a:extLst>
                <a:ext uri="{FF2B5EF4-FFF2-40B4-BE49-F238E27FC236}">
                  <a16:creationId xmlns:a16="http://schemas.microsoft.com/office/drawing/2014/main" id="{6A0E7485-B0CD-0DC3-00D9-0297B12E52DA}"/>
                </a:ext>
              </a:extLst>
            </p:cNvPr>
            <p:cNvSpPr>
              <a:spLocks noChangeArrowheads="1"/>
            </p:cNvSpPr>
            <p:nvPr/>
          </p:nvSpPr>
          <p:spPr bwMode="auto">
            <a:xfrm>
              <a:off x="1183"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 name="Oval 20">
              <a:extLst>
                <a:ext uri="{FF2B5EF4-FFF2-40B4-BE49-F238E27FC236}">
                  <a16:creationId xmlns:a16="http://schemas.microsoft.com/office/drawing/2014/main" id="{D9643B43-8379-FF17-1651-E91B4DCE15FB}"/>
                </a:ext>
              </a:extLst>
            </p:cNvPr>
            <p:cNvSpPr>
              <a:spLocks noChangeArrowheads="1"/>
            </p:cNvSpPr>
            <p:nvPr/>
          </p:nvSpPr>
          <p:spPr bwMode="auto">
            <a:xfrm>
              <a:off x="1410"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1" name="Oval 21">
              <a:extLst>
                <a:ext uri="{FF2B5EF4-FFF2-40B4-BE49-F238E27FC236}">
                  <a16:creationId xmlns:a16="http://schemas.microsoft.com/office/drawing/2014/main" id="{25750ECD-D139-912A-0EEE-825CAC887CCA}"/>
                </a:ext>
              </a:extLst>
            </p:cNvPr>
            <p:cNvSpPr>
              <a:spLocks noChangeArrowheads="1"/>
            </p:cNvSpPr>
            <p:nvPr/>
          </p:nvSpPr>
          <p:spPr bwMode="auto">
            <a:xfrm>
              <a:off x="1628"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 name="Oval 22">
              <a:extLst>
                <a:ext uri="{FF2B5EF4-FFF2-40B4-BE49-F238E27FC236}">
                  <a16:creationId xmlns:a16="http://schemas.microsoft.com/office/drawing/2014/main" id="{16A60CD3-8018-5E28-1C23-F466A024D9CF}"/>
                </a:ext>
              </a:extLst>
            </p:cNvPr>
            <p:cNvSpPr>
              <a:spLocks noChangeArrowheads="1"/>
            </p:cNvSpPr>
            <p:nvPr/>
          </p:nvSpPr>
          <p:spPr bwMode="auto">
            <a:xfrm>
              <a:off x="1854"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 name="Oval 23">
              <a:extLst>
                <a:ext uri="{FF2B5EF4-FFF2-40B4-BE49-F238E27FC236}">
                  <a16:creationId xmlns:a16="http://schemas.microsoft.com/office/drawing/2014/main" id="{497720CE-6B25-6C58-870A-D0DCE83A7AA6}"/>
                </a:ext>
              </a:extLst>
            </p:cNvPr>
            <p:cNvSpPr>
              <a:spLocks noChangeArrowheads="1"/>
            </p:cNvSpPr>
            <p:nvPr/>
          </p:nvSpPr>
          <p:spPr bwMode="auto">
            <a:xfrm>
              <a:off x="1855" y="17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 name="Oval 24">
              <a:extLst>
                <a:ext uri="{FF2B5EF4-FFF2-40B4-BE49-F238E27FC236}">
                  <a16:creationId xmlns:a16="http://schemas.microsoft.com/office/drawing/2014/main" id="{2EADEE79-DADF-D354-338B-81CA74F96065}"/>
                </a:ext>
              </a:extLst>
            </p:cNvPr>
            <p:cNvSpPr>
              <a:spLocks noChangeArrowheads="1"/>
            </p:cNvSpPr>
            <p:nvPr/>
          </p:nvSpPr>
          <p:spPr bwMode="auto">
            <a:xfrm>
              <a:off x="1846" y="13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5" name="Oval 25">
              <a:extLst>
                <a:ext uri="{FF2B5EF4-FFF2-40B4-BE49-F238E27FC236}">
                  <a16:creationId xmlns:a16="http://schemas.microsoft.com/office/drawing/2014/main" id="{FED5C9B4-0AB4-B27D-3687-C4DCE0553119}"/>
                </a:ext>
              </a:extLst>
            </p:cNvPr>
            <p:cNvSpPr>
              <a:spLocks noChangeArrowheads="1"/>
            </p:cNvSpPr>
            <p:nvPr/>
          </p:nvSpPr>
          <p:spPr bwMode="auto">
            <a:xfrm>
              <a:off x="2064" y="13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6" name="Oval 26">
              <a:extLst>
                <a:ext uri="{FF2B5EF4-FFF2-40B4-BE49-F238E27FC236}">
                  <a16:creationId xmlns:a16="http://schemas.microsoft.com/office/drawing/2014/main" id="{9FBB0FA6-811D-3C33-9DB8-A2EC0C918CD4}"/>
                </a:ext>
              </a:extLst>
            </p:cNvPr>
            <p:cNvSpPr>
              <a:spLocks noChangeArrowheads="1"/>
            </p:cNvSpPr>
            <p:nvPr/>
          </p:nvSpPr>
          <p:spPr bwMode="auto">
            <a:xfrm>
              <a:off x="2282" y="13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7" name="Oval 27">
              <a:extLst>
                <a:ext uri="{FF2B5EF4-FFF2-40B4-BE49-F238E27FC236}">
                  <a16:creationId xmlns:a16="http://schemas.microsoft.com/office/drawing/2014/main" id="{F690FFB2-AC60-B2A8-8684-745204CCB3E8}"/>
                </a:ext>
              </a:extLst>
            </p:cNvPr>
            <p:cNvSpPr>
              <a:spLocks noChangeArrowheads="1"/>
            </p:cNvSpPr>
            <p:nvPr/>
          </p:nvSpPr>
          <p:spPr bwMode="auto">
            <a:xfrm>
              <a:off x="2517" y="13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Oval 28">
              <a:extLst>
                <a:ext uri="{FF2B5EF4-FFF2-40B4-BE49-F238E27FC236}">
                  <a16:creationId xmlns:a16="http://schemas.microsoft.com/office/drawing/2014/main" id="{3D340C28-E893-4B5B-2C0F-AE0F2116B66B}"/>
                </a:ext>
              </a:extLst>
            </p:cNvPr>
            <p:cNvSpPr>
              <a:spLocks noChangeArrowheads="1"/>
            </p:cNvSpPr>
            <p:nvPr/>
          </p:nvSpPr>
          <p:spPr bwMode="auto">
            <a:xfrm>
              <a:off x="2726" y="13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Oval 29">
              <a:extLst>
                <a:ext uri="{FF2B5EF4-FFF2-40B4-BE49-F238E27FC236}">
                  <a16:creationId xmlns:a16="http://schemas.microsoft.com/office/drawing/2014/main" id="{7C375D9F-9F12-E4C8-4376-C250745680AD}"/>
                </a:ext>
              </a:extLst>
            </p:cNvPr>
            <p:cNvSpPr>
              <a:spLocks noChangeArrowheads="1"/>
            </p:cNvSpPr>
            <p:nvPr/>
          </p:nvSpPr>
          <p:spPr bwMode="auto">
            <a:xfrm>
              <a:off x="2281" y="2178"/>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 name="Oval 30">
              <a:extLst>
                <a:ext uri="{FF2B5EF4-FFF2-40B4-BE49-F238E27FC236}">
                  <a16:creationId xmlns:a16="http://schemas.microsoft.com/office/drawing/2014/main" id="{C2562176-4918-4307-5999-1E23FC97CABD}"/>
                </a:ext>
              </a:extLst>
            </p:cNvPr>
            <p:cNvSpPr>
              <a:spLocks noChangeArrowheads="1"/>
            </p:cNvSpPr>
            <p:nvPr/>
          </p:nvSpPr>
          <p:spPr bwMode="auto">
            <a:xfrm>
              <a:off x="2281"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 name="Oval 31">
              <a:extLst>
                <a:ext uri="{FF2B5EF4-FFF2-40B4-BE49-F238E27FC236}">
                  <a16:creationId xmlns:a16="http://schemas.microsoft.com/office/drawing/2014/main" id="{AF963ECD-EA7D-D3F0-9321-B319E57F5F96}"/>
                </a:ext>
              </a:extLst>
            </p:cNvPr>
            <p:cNvSpPr>
              <a:spLocks noChangeArrowheads="1"/>
            </p:cNvSpPr>
            <p:nvPr/>
          </p:nvSpPr>
          <p:spPr bwMode="auto">
            <a:xfrm>
              <a:off x="2508"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2" name="Oval 32">
              <a:extLst>
                <a:ext uri="{FF2B5EF4-FFF2-40B4-BE49-F238E27FC236}">
                  <a16:creationId xmlns:a16="http://schemas.microsoft.com/office/drawing/2014/main" id="{DBF826CF-062C-3279-E89D-C442F0093A7B}"/>
                </a:ext>
              </a:extLst>
            </p:cNvPr>
            <p:cNvSpPr>
              <a:spLocks noChangeArrowheads="1"/>
            </p:cNvSpPr>
            <p:nvPr/>
          </p:nvSpPr>
          <p:spPr bwMode="auto">
            <a:xfrm>
              <a:off x="2734" y="197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 name="Oval 33">
              <a:extLst>
                <a:ext uri="{FF2B5EF4-FFF2-40B4-BE49-F238E27FC236}">
                  <a16:creationId xmlns:a16="http://schemas.microsoft.com/office/drawing/2014/main" id="{C64E8374-9633-9F93-3325-5C97026CD778}"/>
                </a:ext>
              </a:extLst>
            </p:cNvPr>
            <p:cNvSpPr>
              <a:spLocks noChangeArrowheads="1"/>
            </p:cNvSpPr>
            <p:nvPr/>
          </p:nvSpPr>
          <p:spPr bwMode="auto">
            <a:xfrm>
              <a:off x="2734" y="17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 name="Oval 34">
              <a:extLst>
                <a:ext uri="{FF2B5EF4-FFF2-40B4-BE49-F238E27FC236}">
                  <a16:creationId xmlns:a16="http://schemas.microsoft.com/office/drawing/2014/main" id="{81424354-D7AF-4242-6926-FB11B88FC1CC}"/>
                </a:ext>
              </a:extLst>
            </p:cNvPr>
            <p:cNvSpPr>
              <a:spLocks noChangeArrowheads="1"/>
            </p:cNvSpPr>
            <p:nvPr/>
          </p:nvSpPr>
          <p:spPr bwMode="auto">
            <a:xfrm>
              <a:off x="2735" y="1562"/>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 name="Oval 35">
              <a:extLst>
                <a:ext uri="{FF2B5EF4-FFF2-40B4-BE49-F238E27FC236}">
                  <a16:creationId xmlns:a16="http://schemas.microsoft.com/office/drawing/2014/main" id="{AE4D6166-F135-57EA-AA83-980D1D6BCE42}"/>
                </a:ext>
              </a:extLst>
            </p:cNvPr>
            <p:cNvSpPr>
              <a:spLocks noChangeArrowheads="1"/>
            </p:cNvSpPr>
            <p:nvPr/>
          </p:nvSpPr>
          <p:spPr bwMode="auto">
            <a:xfrm>
              <a:off x="1855" y="15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9" name="对话气泡: 圆角矩形 38">
            <a:extLst>
              <a:ext uri="{FF2B5EF4-FFF2-40B4-BE49-F238E27FC236}">
                <a16:creationId xmlns:a16="http://schemas.microsoft.com/office/drawing/2014/main" id="{01496098-70F8-A1E3-D794-7D8038E0DF43}"/>
              </a:ext>
            </a:extLst>
          </p:cNvPr>
          <p:cNvSpPr/>
          <p:nvPr/>
        </p:nvSpPr>
        <p:spPr>
          <a:xfrm>
            <a:off x="1383526" y="1606164"/>
            <a:ext cx="1312105" cy="735399"/>
          </a:xfrm>
          <a:prstGeom prst="wedgeRoundRectCallout">
            <a:avLst>
              <a:gd name="adj1" fmla="val 58915"/>
              <a:gd name="adj2" fmla="val 21006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多边形内部像素点</a:t>
            </a:r>
          </a:p>
        </p:txBody>
      </p:sp>
      <p:sp>
        <p:nvSpPr>
          <p:cNvPr id="40" name="对话气泡: 圆角矩形 39">
            <a:extLst>
              <a:ext uri="{FF2B5EF4-FFF2-40B4-BE49-F238E27FC236}">
                <a16:creationId xmlns:a16="http://schemas.microsoft.com/office/drawing/2014/main" id="{106367F5-EFCC-D3C4-6472-9443B6A62A7F}"/>
              </a:ext>
            </a:extLst>
          </p:cNvPr>
          <p:cNvSpPr/>
          <p:nvPr/>
        </p:nvSpPr>
        <p:spPr>
          <a:xfrm>
            <a:off x="4576682" y="1095590"/>
            <a:ext cx="1312105" cy="735399"/>
          </a:xfrm>
          <a:prstGeom prst="wedgeRoundRectCallout">
            <a:avLst>
              <a:gd name="adj1" fmla="val -101068"/>
              <a:gd name="adj2" fmla="val 997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边界上的像素点</a:t>
            </a:r>
          </a:p>
        </p:txBody>
      </p:sp>
      <p:sp>
        <p:nvSpPr>
          <p:cNvPr id="41" name="文本框 40">
            <a:extLst>
              <a:ext uri="{FF2B5EF4-FFF2-40B4-BE49-F238E27FC236}">
                <a16:creationId xmlns:a16="http://schemas.microsoft.com/office/drawing/2014/main" id="{2A8FF54B-C49B-FA86-E68C-F02334D38471}"/>
              </a:ext>
            </a:extLst>
          </p:cNvPr>
          <p:cNvSpPr txBox="1"/>
          <p:nvPr/>
        </p:nvSpPr>
        <p:spPr>
          <a:xfrm>
            <a:off x="1663687" y="4921857"/>
            <a:ext cx="3737113" cy="523220"/>
          </a:xfrm>
          <a:prstGeom prst="rect">
            <a:avLst/>
          </a:prstGeom>
          <a:noFill/>
        </p:spPr>
        <p:txBody>
          <a:bodyPr wrap="square" rtlCol="0">
            <a:spAutoFit/>
          </a:bodyPr>
          <a:lstStyle/>
          <a:p>
            <a:pPr algn="ctr"/>
            <a:r>
              <a:rPr lang="zh-CN" altLang="en-US" sz="2800" dirty="0">
                <a:latin typeface="华光大标宋_CNKI" panose="02000500000000000000" pitchFamily="2" charset="-122"/>
                <a:ea typeface="华光大标宋_CNKI" panose="02000500000000000000" pitchFamily="2" charset="-122"/>
              </a:rPr>
              <a:t>四连通区域填充结果</a:t>
            </a:r>
          </a:p>
        </p:txBody>
      </p:sp>
      <p:grpSp>
        <p:nvGrpSpPr>
          <p:cNvPr id="42" name="Group 78">
            <a:extLst>
              <a:ext uri="{FF2B5EF4-FFF2-40B4-BE49-F238E27FC236}">
                <a16:creationId xmlns:a16="http://schemas.microsoft.com/office/drawing/2014/main" id="{F39C427A-DDBD-517A-1799-A11728D0BFE9}"/>
              </a:ext>
            </a:extLst>
          </p:cNvPr>
          <p:cNvGrpSpPr>
            <a:grpSpLocks/>
          </p:cNvGrpSpPr>
          <p:nvPr/>
        </p:nvGrpSpPr>
        <p:grpSpPr bwMode="auto">
          <a:xfrm>
            <a:off x="7674748" y="1830989"/>
            <a:ext cx="2752725" cy="2289175"/>
            <a:chOff x="3051" y="1344"/>
            <a:chExt cx="1734" cy="1442"/>
          </a:xfrm>
        </p:grpSpPr>
        <p:sp>
          <p:nvSpPr>
            <p:cNvPr id="43" name="Oval 39">
              <a:extLst>
                <a:ext uri="{FF2B5EF4-FFF2-40B4-BE49-F238E27FC236}">
                  <a16:creationId xmlns:a16="http://schemas.microsoft.com/office/drawing/2014/main" id="{0D73EB05-A785-B5CF-089D-CD5286026750}"/>
                </a:ext>
              </a:extLst>
            </p:cNvPr>
            <p:cNvSpPr>
              <a:spLocks noChangeArrowheads="1"/>
            </p:cNvSpPr>
            <p:nvPr/>
          </p:nvSpPr>
          <p:spPr bwMode="auto">
            <a:xfrm>
              <a:off x="3051"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4" name="Oval 40">
              <a:extLst>
                <a:ext uri="{FF2B5EF4-FFF2-40B4-BE49-F238E27FC236}">
                  <a16:creationId xmlns:a16="http://schemas.microsoft.com/office/drawing/2014/main" id="{D14B7B41-E7BE-EC33-B40C-C187B699D49D}"/>
                </a:ext>
              </a:extLst>
            </p:cNvPr>
            <p:cNvSpPr>
              <a:spLocks noChangeArrowheads="1"/>
            </p:cNvSpPr>
            <p:nvPr/>
          </p:nvSpPr>
          <p:spPr bwMode="auto">
            <a:xfrm>
              <a:off x="3278"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5" name="Oval 41">
              <a:extLst>
                <a:ext uri="{FF2B5EF4-FFF2-40B4-BE49-F238E27FC236}">
                  <a16:creationId xmlns:a16="http://schemas.microsoft.com/office/drawing/2014/main" id="{79DEE23F-A67D-CE3F-E23A-6D5BC38AB95F}"/>
                </a:ext>
              </a:extLst>
            </p:cNvPr>
            <p:cNvSpPr>
              <a:spLocks noChangeArrowheads="1"/>
            </p:cNvSpPr>
            <p:nvPr/>
          </p:nvSpPr>
          <p:spPr bwMode="auto">
            <a:xfrm>
              <a:off x="3496"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6" name="Oval 42">
              <a:extLst>
                <a:ext uri="{FF2B5EF4-FFF2-40B4-BE49-F238E27FC236}">
                  <a16:creationId xmlns:a16="http://schemas.microsoft.com/office/drawing/2014/main" id="{AEF32E73-6742-A8C9-1847-8BB124F25DFF}"/>
                </a:ext>
              </a:extLst>
            </p:cNvPr>
            <p:cNvSpPr>
              <a:spLocks noChangeArrowheads="1"/>
            </p:cNvSpPr>
            <p:nvPr/>
          </p:nvSpPr>
          <p:spPr bwMode="auto">
            <a:xfrm>
              <a:off x="3722"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 name="Oval 43">
              <a:extLst>
                <a:ext uri="{FF2B5EF4-FFF2-40B4-BE49-F238E27FC236}">
                  <a16:creationId xmlns:a16="http://schemas.microsoft.com/office/drawing/2014/main" id="{46C0384F-2D64-044F-C769-58C997FE9DF3}"/>
                </a:ext>
              </a:extLst>
            </p:cNvPr>
            <p:cNvSpPr>
              <a:spLocks noChangeArrowheads="1"/>
            </p:cNvSpPr>
            <p:nvPr/>
          </p:nvSpPr>
          <p:spPr bwMode="auto">
            <a:xfrm>
              <a:off x="3940"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8" name="Oval 44">
              <a:extLst>
                <a:ext uri="{FF2B5EF4-FFF2-40B4-BE49-F238E27FC236}">
                  <a16:creationId xmlns:a16="http://schemas.microsoft.com/office/drawing/2014/main" id="{37115CA3-8DEA-84FF-7C27-11940CF58AC9}"/>
                </a:ext>
              </a:extLst>
            </p:cNvPr>
            <p:cNvSpPr>
              <a:spLocks noChangeArrowheads="1"/>
            </p:cNvSpPr>
            <p:nvPr/>
          </p:nvSpPr>
          <p:spPr bwMode="auto">
            <a:xfrm>
              <a:off x="3051" y="2387"/>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 name="Oval 45">
              <a:extLst>
                <a:ext uri="{FF2B5EF4-FFF2-40B4-BE49-F238E27FC236}">
                  <a16:creationId xmlns:a16="http://schemas.microsoft.com/office/drawing/2014/main" id="{9EE72FD9-ABBA-A27A-126D-14B98657AB6D}"/>
                </a:ext>
              </a:extLst>
            </p:cNvPr>
            <p:cNvSpPr>
              <a:spLocks noChangeArrowheads="1"/>
            </p:cNvSpPr>
            <p:nvPr/>
          </p:nvSpPr>
          <p:spPr bwMode="auto">
            <a:xfrm>
              <a:off x="3278" y="2387"/>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0" name="Oval 46">
              <a:extLst>
                <a:ext uri="{FF2B5EF4-FFF2-40B4-BE49-F238E27FC236}">
                  <a16:creationId xmlns:a16="http://schemas.microsoft.com/office/drawing/2014/main" id="{E95DBB2B-CF14-7F71-348C-201D3A572B11}"/>
                </a:ext>
              </a:extLst>
            </p:cNvPr>
            <p:cNvSpPr>
              <a:spLocks noChangeArrowheads="1"/>
            </p:cNvSpPr>
            <p:nvPr/>
          </p:nvSpPr>
          <p:spPr bwMode="auto">
            <a:xfrm>
              <a:off x="3496" y="2387"/>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 name="Oval 47">
              <a:extLst>
                <a:ext uri="{FF2B5EF4-FFF2-40B4-BE49-F238E27FC236}">
                  <a16:creationId xmlns:a16="http://schemas.microsoft.com/office/drawing/2014/main" id="{9D0A2D14-2D34-3B4A-6ABC-461FA865F496}"/>
                </a:ext>
              </a:extLst>
            </p:cNvPr>
            <p:cNvSpPr>
              <a:spLocks noChangeArrowheads="1"/>
            </p:cNvSpPr>
            <p:nvPr/>
          </p:nvSpPr>
          <p:spPr bwMode="auto">
            <a:xfrm>
              <a:off x="3722" y="2387"/>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2" name="Oval 48">
              <a:extLst>
                <a:ext uri="{FF2B5EF4-FFF2-40B4-BE49-F238E27FC236}">
                  <a16:creationId xmlns:a16="http://schemas.microsoft.com/office/drawing/2014/main" id="{CFE296DA-174E-39FA-4E52-4DE43BA2F467}"/>
                </a:ext>
              </a:extLst>
            </p:cNvPr>
            <p:cNvSpPr>
              <a:spLocks noChangeArrowheads="1"/>
            </p:cNvSpPr>
            <p:nvPr/>
          </p:nvSpPr>
          <p:spPr bwMode="auto">
            <a:xfrm>
              <a:off x="3940" y="2387"/>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 name="Oval 49">
              <a:extLst>
                <a:ext uri="{FF2B5EF4-FFF2-40B4-BE49-F238E27FC236}">
                  <a16:creationId xmlns:a16="http://schemas.microsoft.com/office/drawing/2014/main" id="{381BAF8D-8B41-DBA6-F7A0-6EB9F97CAA17}"/>
                </a:ext>
              </a:extLst>
            </p:cNvPr>
            <p:cNvSpPr>
              <a:spLocks noChangeArrowheads="1"/>
            </p:cNvSpPr>
            <p:nvPr/>
          </p:nvSpPr>
          <p:spPr bwMode="auto">
            <a:xfrm>
              <a:off x="3051" y="2178"/>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4" name="Oval 50">
              <a:extLst>
                <a:ext uri="{FF2B5EF4-FFF2-40B4-BE49-F238E27FC236}">
                  <a16:creationId xmlns:a16="http://schemas.microsoft.com/office/drawing/2014/main" id="{C744B553-8E78-424F-C13F-6FD521D750AC}"/>
                </a:ext>
              </a:extLst>
            </p:cNvPr>
            <p:cNvSpPr>
              <a:spLocks noChangeArrowheads="1"/>
            </p:cNvSpPr>
            <p:nvPr/>
          </p:nvSpPr>
          <p:spPr bwMode="auto">
            <a:xfrm>
              <a:off x="3278" y="2178"/>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 name="Oval 51">
              <a:extLst>
                <a:ext uri="{FF2B5EF4-FFF2-40B4-BE49-F238E27FC236}">
                  <a16:creationId xmlns:a16="http://schemas.microsoft.com/office/drawing/2014/main" id="{ADB6DB65-698B-1F11-1A2C-5D817EF70E5B}"/>
                </a:ext>
              </a:extLst>
            </p:cNvPr>
            <p:cNvSpPr>
              <a:spLocks noChangeArrowheads="1"/>
            </p:cNvSpPr>
            <p:nvPr/>
          </p:nvSpPr>
          <p:spPr bwMode="auto">
            <a:xfrm>
              <a:off x="3496" y="2178"/>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 name="Oval 52">
              <a:extLst>
                <a:ext uri="{FF2B5EF4-FFF2-40B4-BE49-F238E27FC236}">
                  <a16:creationId xmlns:a16="http://schemas.microsoft.com/office/drawing/2014/main" id="{5C593F51-237F-193A-7634-134CAB8EBE0A}"/>
                </a:ext>
              </a:extLst>
            </p:cNvPr>
            <p:cNvSpPr>
              <a:spLocks noChangeArrowheads="1"/>
            </p:cNvSpPr>
            <p:nvPr/>
          </p:nvSpPr>
          <p:spPr bwMode="auto">
            <a:xfrm>
              <a:off x="3722" y="2178"/>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 name="Oval 53">
              <a:extLst>
                <a:ext uri="{FF2B5EF4-FFF2-40B4-BE49-F238E27FC236}">
                  <a16:creationId xmlns:a16="http://schemas.microsoft.com/office/drawing/2014/main" id="{3049AD0A-A917-507D-3BA0-21E10FA615AF}"/>
                </a:ext>
              </a:extLst>
            </p:cNvPr>
            <p:cNvSpPr>
              <a:spLocks noChangeArrowheads="1"/>
            </p:cNvSpPr>
            <p:nvPr/>
          </p:nvSpPr>
          <p:spPr bwMode="auto">
            <a:xfrm>
              <a:off x="3940" y="2178"/>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8" name="Oval 54">
              <a:extLst>
                <a:ext uri="{FF2B5EF4-FFF2-40B4-BE49-F238E27FC236}">
                  <a16:creationId xmlns:a16="http://schemas.microsoft.com/office/drawing/2014/main" id="{4E7F76C3-A5E3-1433-66AD-ADEDD2DFE909}"/>
                </a:ext>
              </a:extLst>
            </p:cNvPr>
            <p:cNvSpPr>
              <a:spLocks noChangeArrowheads="1"/>
            </p:cNvSpPr>
            <p:nvPr/>
          </p:nvSpPr>
          <p:spPr bwMode="auto">
            <a:xfrm>
              <a:off x="3051"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 name="Oval 55">
              <a:extLst>
                <a:ext uri="{FF2B5EF4-FFF2-40B4-BE49-F238E27FC236}">
                  <a16:creationId xmlns:a16="http://schemas.microsoft.com/office/drawing/2014/main" id="{1B3317B5-AA23-4798-4495-08CD25BDFB3F}"/>
                </a:ext>
              </a:extLst>
            </p:cNvPr>
            <p:cNvSpPr>
              <a:spLocks noChangeArrowheads="1"/>
            </p:cNvSpPr>
            <p:nvPr/>
          </p:nvSpPr>
          <p:spPr bwMode="auto">
            <a:xfrm>
              <a:off x="3278"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0" name="Oval 56">
              <a:extLst>
                <a:ext uri="{FF2B5EF4-FFF2-40B4-BE49-F238E27FC236}">
                  <a16:creationId xmlns:a16="http://schemas.microsoft.com/office/drawing/2014/main" id="{65DB2E25-A1B8-C5D8-A2C3-48652F78843A}"/>
                </a:ext>
              </a:extLst>
            </p:cNvPr>
            <p:cNvSpPr>
              <a:spLocks noChangeArrowheads="1"/>
            </p:cNvSpPr>
            <p:nvPr/>
          </p:nvSpPr>
          <p:spPr bwMode="auto">
            <a:xfrm>
              <a:off x="3496"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1" name="Oval 57">
              <a:extLst>
                <a:ext uri="{FF2B5EF4-FFF2-40B4-BE49-F238E27FC236}">
                  <a16:creationId xmlns:a16="http://schemas.microsoft.com/office/drawing/2014/main" id="{B379619B-1BCD-D524-5340-4D205666409F}"/>
                </a:ext>
              </a:extLst>
            </p:cNvPr>
            <p:cNvSpPr>
              <a:spLocks noChangeArrowheads="1"/>
            </p:cNvSpPr>
            <p:nvPr/>
          </p:nvSpPr>
          <p:spPr bwMode="auto">
            <a:xfrm>
              <a:off x="3722"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2" name="Oval 58">
              <a:extLst>
                <a:ext uri="{FF2B5EF4-FFF2-40B4-BE49-F238E27FC236}">
                  <a16:creationId xmlns:a16="http://schemas.microsoft.com/office/drawing/2014/main" id="{F50FF2A3-8077-0100-1924-3583DAC9923F}"/>
                </a:ext>
              </a:extLst>
            </p:cNvPr>
            <p:cNvSpPr>
              <a:spLocks noChangeArrowheads="1"/>
            </p:cNvSpPr>
            <p:nvPr/>
          </p:nvSpPr>
          <p:spPr bwMode="auto">
            <a:xfrm>
              <a:off x="3723" y="1761"/>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3" name="Oval 59">
              <a:extLst>
                <a:ext uri="{FF2B5EF4-FFF2-40B4-BE49-F238E27FC236}">
                  <a16:creationId xmlns:a16="http://schemas.microsoft.com/office/drawing/2014/main" id="{801D7525-A35D-ECAB-41F3-7D6B082F3C2C}"/>
                </a:ext>
              </a:extLst>
            </p:cNvPr>
            <p:cNvSpPr>
              <a:spLocks noChangeArrowheads="1"/>
            </p:cNvSpPr>
            <p:nvPr/>
          </p:nvSpPr>
          <p:spPr bwMode="auto">
            <a:xfrm>
              <a:off x="3714"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 name="Oval 60">
              <a:extLst>
                <a:ext uri="{FF2B5EF4-FFF2-40B4-BE49-F238E27FC236}">
                  <a16:creationId xmlns:a16="http://schemas.microsoft.com/office/drawing/2014/main" id="{A964A668-19A0-2B73-1983-A9FB6929E75E}"/>
                </a:ext>
              </a:extLst>
            </p:cNvPr>
            <p:cNvSpPr>
              <a:spLocks noChangeArrowheads="1"/>
            </p:cNvSpPr>
            <p:nvPr/>
          </p:nvSpPr>
          <p:spPr bwMode="auto">
            <a:xfrm>
              <a:off x="3932"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5" name="Oval 61">
              <a:extLst>
                <a:ext uri="{FF2B5EF4-FFF2-40B4-BE49-F238E27FC236}">
                  <a16:creationId xmlns:a16="http://schemas.microsoft.com/office/drawing/2014/main" id="{4454087F-C533-0B4E-FD9A-47FBC4ABE64C}"/>
                </a:ext>
              </a:extLst>
            </p:cNvPr>
            <p:cNvSpPr>
              <a:spLocks noChangeArrowheads="1"/>
            </p:cNvSpPr>
            <p:nvPr/>
          </p:nvSpPr>
          <p:spPr bwMode="auto">
            <a:xfrm>
              <a:off x="4150"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6" name="Oval 62">
              <a:extLst>
                <a:ext uri="{FF2B5EF4-FFF2-40B4-BE49-F238E27FC236}">
                  <a16:creationId xmlns:a16="http://schemas.microsoft.com/office/drawing/2014/main" id="{D39D8308-B92B-EF13-A560-80C5AA4278EB}"/>
                </a:ext>
              </a:extLst>
            </p:cNvPr>
            <p:cNvSpPr>
              <a:spLocks noChangeArrowheads="1"/>
            </p:cNvSpPr>
            <p:nvPr/>
          </p:nvSpPr>
          <p:spPr bwMode="auto">
            <a:xfrm>
              <a:off x="4385"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7" name="Oval 63">
              <a:extLst>
                <a:ext uri="{FF2B5EF4-FFF2-40B4-BE49-F238E27FC236}">
                  <a16:creationId xmlns:a16="http://schemas.microsoft.com/office/drawing/2014/main" id="{25F48EBC-D137-CD34-EA35-CC12085117B3}"/>
                </a:ext>
              </a:extLst>
            </p:cNvPr>
            <p:cNvSpPr>
              <a:spLocks noChangeArrowheads="1"/>
            </p:cNvSpPr>
            <p:nvPr/>
          </p:nvSpPr>
          <p:spPr bwMode="auto">
            <a:xfrm>
              <a:off x="4594"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8" name="Oval 64">
              <a:extLst>
                <a:ext uri="{FF2B5EF4-FFF2-40B4-BE49-F238E27FC236}">
                  <a16:creationId xmlns:a16="http://schemas.microsoft.com/office/drawing/2014/main" id="{24381E77-70E3-FE3A-7271-AB0DC8AEA4B4}"/>
                </a:ext>
              </a:extLst>
            </p:cNvPr>
            <p:cNvSpPr>
              <a:spLocks noChangeArrowheads="1"/>
            </p:cNvSpPr>
            <p:nvPr/>
          </p:nvSpPr>
          <p:spPr bwMode="auto">
            <a:xfrm>
              <a:off x="4149" y="216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9" name="Oval 65">
              <a:extLst>
                <a:ext uri="{FF2B5EF4-FFF2-40B4-BE49-F238E27FC236}">
                  <a16:creationId xmlns:a16="http://schemas.microsoft.com/office/drawing/2014/main" id="{D15BD6BB-92DF-9863-6D14-861E93FAEFFF}"/>
                </a:ext>
              </a:extLst>
            </p:cNvPr>
            <p:cNvSpPr>
              <a:spLocks noChangeArrowheads="1"/>
            </p:cNvSpPr>
            <p:nvPr/>
          </p:nvSpPr>
          <p:spPr bwMode="auto">
            <a:xfrm>
              <a:off x="4149"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0" name="Oval 66">
              <a:extLst>
                <a:ext uri="{FF2B5EF4-FFF2-40B4-BE49-F238E27FC236}">
                  <a16:creationId xmlns:a16="http://schemas.microsoft.com/office/drawing/2014/main" id="{F4291AB0-5181-411F-C025-FD78F7EDE552}"/>
                </a:ext>
              </a:extLst>
            </p:cNvPr>
            <p:cNvSpPr>
              <a:spLocks noChangeArrowheads="1"/>
            </p:cNvSpPr>
            <p:nvPr/>
          </p:nvSpPr>
          <p:spPr bwMode="auto">
            <a:xfrm>
              <a:off x="4376"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 name="Oval 67">
              <a:extLst>
                <a:ext uri="{FF2B5EF4-FFF2-40B4-BE49-F238E27FC236}">
                  <a16:creationId xmlns:a16="http://schemas.microsoft.com/office/drawing/2014/main" id="{65042070-1F04-FFEB-F98E-4FEE7150A520}"/>
                </a:ext>
              </a:extLst>
            </p:cNvPr>
            <p:cNvSpPr>
              <a:spLocks noChangeArrowheads="1"/>
            </p:cNvSpPr>
            <p:nvPr/>
          </p:nvSpPr>
          <p:spPr bwMode="auto">
            <a:xfrm>
              <a:off x="4602"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 name="Oval 68">
              <a:extLst>
                <a:ext uri="{FF2B5EF4-FFF2-40B4-BE49-F238E27FC236}">
                  <a16:creationId xmlns:a16="http://schemas.microsoft.com/office/drawing/2014/main" id="{F69524E9-3391-332C-E5D4-BD4AEFE55898}"/>
                </a:ext>
              </a:extLst>
            </p:cNvPr>
            <p:cNvSpPr>
              <a:spLocks noChangeArrowheads="1"/>
            </p:cNvSpPr>
            <p:nvPr/>
          </p:nvSpPr>
          <p:spPr bwMode="auto">
            <a:xfrm>
              <a:off x="4602" y="1761"/>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 name="Oval 69">
              <a:extLst>
                <a:ext uri="{FF2B5EF4-FFF2-40B4-BE49-F238E27FC236}">
                  <a16:creationId xmlns:a16="http://schemas.microsoft.com/office/drawing/2014/main" id="{4594497B-7E0B-B53D-D08B-DE3EEB5A0189}"/>
                </a:ext>
              </a:extLst>
            </p:cNvPr>
            <p:cNvSpPr>
              <a:spLocks noChangeArrowheads="1"/>
            </p:cNvSpPr>
            <p:nvPr/>
          </p:nvSpPr>
          <p:spPr bwMode="auto">
            <a:xfrm>
              <a:off x="4603" y="15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4" name="Oval 70">
              <a:extLst>
                <a:ext uri="{FF2B5EF4-FFF2-40B4-BE49-F238E27FC236}">
                  <a16:creationId xmlns:a16="http://schemas.microsoft.com/office/drawing/2014/main" id="{C10C0D3F-84DD-6BED-EF5D-7137F5B6153E}"/>
                </a:ext>
              </a:extLst>
            </p:cNvPr>
            <p:cNvSpPr>
              <a:spLocks noChangeArrowheads="1"/>
            </p:cNvSpPr>
            <p:nvPr/>
          </p:nvSpPr>
          <p:spPr bwMode="auto">
            <a:xfrm>
              <a:off x="3723" y="1561"/>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5" name="Oval 71">
              <a:extLst>
                <a:ext uri="{FF2B5EF4-FFF2-40B4-BE49-F238E27FC236}">
                  <a16:creationId xmlns:a16="http://schemas.microsoft.com/office/drawing/2014/main" id="{5002604C-FE05-C7F1-13EE-A16F6A0D5B11}"/>
                </a:ext>
              </a:extLst>
            </p:cNvPr>
            <p:cNvSpPr>
              <a:spLocks noChangeArrowheads="1"/>
            </p:cNvSpPr>
            <p:nvPr/>
          </p:nvSpPr>
          <p:spPr bwMode="auto">
            <a:xfrm>
              <a:off x="3950" y="1779"/>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6" name="Oval 72">
              <a:extLst>
                <a:ext uri="{FF2B5EF4-FFF2-40B4-BE49-F238E27FC236}">
                  <a16:creationId xmlns:a16="http://schemas.microsoft.com/office/drawing/2014/main" id="{D1BFB881-E562-7AAC-2336-54386827B375}"/>
                </a:ext>
              </a:extLst>
            </p:cNvPr>
            <p:cNvSpPr>
              <a:spLocks noChangeArrowheads="1"/>
            </p:cNvSpPr>
            <p:nvPr/>
          </p:nvSpPr>
          <p:spPr bwMode="auto">
            <a:xfrm>
              <a:off x="4168" y="1779"/>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7" name="Oval 73">
              <a:extLst>
                <a:ext uri="{FF2B5EF4-FFF2-40B4-BE49-F238E27FC236}">
                  <a16:creationId xmlns:a16="http://schemas.microsoft.com/office/drawing/2014/main" id="{BC308B66-0193-2C95-D78F-62D7B5388006}"/>
                </a:ext>
              </a:extLst>
            </p:cNvPr>
            <p:cNvSpPr>
              <a:spLocks noChangeArrowheads="1"/>
            </p:cNvSpPr>
            <p:nvPr/>
          </p:nvSpPr>
          <p:spPr bwMode="auto">
            <a:xfrm>
              <a:off x="4394" y="1779"/>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8" name="Oval 74">
              <a:extLst>
                <a:ext uri="{FF2B5EF4-FFF2-40B4-BE49-F238E27FC236}">
                  <a16:creationId xmlns:a16="http://schemas.microsoft.com/office/drawing/2014/main" id="{E3C3B15D-85E3-9A34-7241-A9D205C26899}"/>
                </a:ext>
              </a:extLst>
            </p:cNvPr>
            <p:cNvSpPr>
              <a:spLocks noChangeArrowheads="1"/>
            </p:cNvSpPr>
            <p:nvPr/>
          </p:nvSpPr>
          <p:spPr bwMode="auto">
            <a:xfrm>
              <a:off x="3950" y="1570"/>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9" name="Oval 75">
              <a:extLst>
                <a:ext uri="{FF2B5EF4-FFF2-40B4-BE49-F238E27FC236}">
                  <a16:creationId xmlns:a16="http://schemas.microsoft.com/office/drawing/2014/main" id="{56BB80AD-EC9D-D29C-7F97-E6997C3C8841}"/>
                </a:ext>
              </a:extLst>
            </p:cNvPr>
            <p:cNvSpPr>
              <a:spLocks noChangeArrowheads="1"/>
            </p:cNvSpPr>
            <p:nvPr/>
          </p:nvSpPr>
          <p:spPr bwMode="auto">
            <a:xfrm>
              <a:off x="4168" y="1570"/>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0" name="Oval 76">
              <a:extLst>
                <a:ext uri="{FF2B5EF4-FFF2-40B4-BE49-F238E27FC236}">
                  <a16:creationId xmlns:a16="http://schemas.microsoft.com/office/drawing/2014/main" id="{67EA17E3-7855-6B7E-5734-BE4E0198EAFC}"/>
                </a:ext>
              </a:extLst>
            </p:cNvPr>
            <p:cNvSpPr>
              <a:spLocks noChangeArrowheads="1"/>
            </p:cNvSpPr>
            <p:nvPr/>
          </p:nvSpPr>
          <p:spPr bwMode="auto">
            <a:xfrm>
              <a:off x="4394" y="1570"/>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 name="Oval 77">
              <a:extLst>
                <a:ext uri="{FF2B5EF4-FFF2-40B4-BE49-F238E27FC236}">
                  <a16:creationId xmlns:a16="http://schemas.microsoft.com/office/drawing/2014/main" id="{EC13C954-339B-E7B8-7009-660B9DD70A9D}"/>
                </a:ext>
              </a:extLst>
            </p:cNvPr>
            <p:cNvSpPr>
              <a:spLocks noChangeArrowheads="1"/>
            </p:cNvSpPr>
            <p:nvPr/>
          </p:nvSpPr>
          <p:spPr bwMode="auto">
            <a:xfrm>
              <a:off x="3942" y="1970"/>
              <a:ext cx="182" cy="181"/>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82" name="文本框 81">
            <a:extLst>
              <a:ext uri="{FF2B5EF4-FFF2-40B4-BE49-F238E27FC236}">
                <a16:creationId xmlns:a16="http://schemas.microsoft.com/office/drawing/2014/main" id="{CE04EE0B-540A-5599-5F91-A71DA7CC869C}"/>
              </a:ext>
            </a:extLst>
          </p:cNvPr>
          <p:cNvSpPr txBox="1"/>
          <p:nvPr/>
        </p:nvSpPr>
        <p:spPr>
          <a:xfrm>
            <a:off x="7147629" y="4921857"/>
            <a:ext cx="3737113" cy="523220"/>
          </a:xfrm>
          <a:prstGeom prst="rect">
            <a:avLst/>
          </a:prstGeom>
          <a:noFill/>
        </p:spPr>
        <p:txBody>
          <a:bodyPr wrap="square" rtlCol="0">
            <a:spAutoFit/>
          </a:bodyPr>
          <a:lstStyle/>
          <a:p>
            <a:pPr algn="ctr"/>
            <a:r>
              <a:rPr lang="zh-CN" altLang="en-US" sz="2800" dirty="0">
                <a:latin typeface="华光大标宋_CNKI" panose="02000500000000000000" pitchFamily="2" charset="-122"/>
                <a:ea typeface="华光大标宋_CNKI" panose="02000500000000000000" pitchFamily="2" charset="-122"/>
              </a:rPr>
              <a:t>八通区域填充结果</a:t>
            </a:r>
          </a:p>
        </p:txBody>
      </p:sp>
      <p:sp>
        <p:nvSpPr>
          <p:cNvPr id="83" name="对话气泡: 圆角矩形 82">
            <a:extLst>
              <a:ext uri="{FF2B5EF4-FFF2-40B4-BE49-F238E27FC236}">
                <a16:creationId xmlns:a16="http://schemas.microsoft.com/office/drawing/2014/main" id="{E2DB0D7F-0A7C-637C-D60E-4CEAF0F7416D}"/>
              </a:ext>
            </a:extLst>
          </p:cNvPr>
          <p:cNvSpPr/>
          <p:nvPr/>
        </p:nvSpPr>
        <p:spPr>
          <a:xfrm>
            <a:off x="6796755" y="1363081"/>
            <a:ext cx="1312105" cy="735399"/>
          </a:xfrm>
          <a:prstGeom prst="wedgeRoundRectCallout">
            <a:avLst>
              <a:gd name="adj1" fmla="val 58915"/>
              <a:gd name="adj2" fmla="val 21006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多边形内部像素点</a:t>
            </a:r>
          </a:p>
        </p:txBody>
      </p:sp>
      <p:sp>
        <p:nvSpPr>
          <p:cNvPr id="84" name="对话气泡: 圆角矩形 83">
            <a:extLst>
              <a:ext uri="{FF2B5EF4-FFF2-40B4-BE49-F238E27FC236}">
                <a16:creationId xmlns:a16="http://schemas.microsoft.com/office/drawing/2014/main" id="{523DD542-985B-06F0-5C2C-396F375FF642}"/>
              </a:ext>
            </a:extLst>
          </p:cNvPr>
          <p:cNvSpPr/>
          <p:nvPr/>
        </p:nvSpPr>
        <p:spPr>
          <a:xfrm>
            <a:off x="10262878" y="866987"/>
            <a:ext cx="1312105" cy="735399"/>
          </a:xfrm>
          <a:prstGeom prst="wedgeRoundRectCallout">
            <a:avLst>
              <a:gd name="adj1" fmla="val -101068"/>
              <a:gd name="adj2" fmla="val 997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边界上的像素点</a:t>
            </a:r>
          </a:p>
        </p:txBody>
      </p:sp>
    </p:spTree>
    <p:extLst>
      <p:ext uri="{BB962C8B-B14F-4D97-AF65-F5344CB8AC3E}">
        <p14:creationId xmlns:p14="http://schemas.microsoft.com/office/powerpoint/2010/main" val="116687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33388" y="1073425"/>
            <a:ext cx="10730310" cy="2122999"/>
          </a:xfrm>
        </p:spPr>
        <p:txBody>
          <a:bodyPr>
            <a:noAutofit/>
          </a:bodyPr>
          <a:lstStyle/>
          <a:p>
            <a:pPr>
              <a:lnSpc>
                <a:spcPct val="150000"/>
              </a:lnSpc>
            </a:pPr>
            <a:r>
              <a:rPr lang="zh-CN" altLang="en-US" sz="4400" b="1" dirty="0">
                <a:solidFill>
                  <a:srgbClr val="FF0000"/>
                </a:solidFill>
                <a:latin typeface="华光大标宋_CNKI" panose="02000500000000000000" pitchFamily="2" charset="-122"/>
                <a:ea typeface="华光大标宋_CNKI" panose="02000500000000000000" pitchFamily="2" charset="-122"/>
              </a:rPr>
              <a:t>   请思考一下上述算法如何描述以及进行代码的实现？</a:t>
            </a:r>
            <a:r>
              <a:rPr lang="en-US" altLang="zh-CN" sz="4400" b="1" dirty="0">
                <a:solidFill>
                  <a:srgbClr val="FF0000"/>
                </a:solidFill>
                <a:latin typeface="华光大标宋_CNKI" panose="02000500000000000000" pitchFamily="2" charset="-122"/>
                <a:ea typeface="华光大标宋_CNKI" panose="02000500000000000000" pitchFamily="2" charset="-122"/>
              </a:rPr>
              <a:t>      </a:t>
            </a:r>
          </a:p>
        </p:txBody>
      </p:sp>
      <p:sp>
        <p:nvSpPr>
          <p:cNvPr id="5" name="副标题 2">
            <a:extLst>
              <a:ext uri="{FF2B5EF4-FFF2-40B4-BE49-F238E27FC236}">
                <a16:creationId xmlns:a16="http://schemas.microsoft.com/office/drawing/2014/main" id="{C201C08A-EE13-C78B-E826-2D039640CFE2}"/>
              </a:ext>
            </a:extLst>
          </p:cNvPr>
          <p:cNvSpPr txBox="1">
            <a:spLocks/>
          </p:cNvSpPr>
          <p:nvPr/>
        </p:nvSpPr>
        <p:spPr>
          <a:xfrm>
            <a:off x="533388" y="3657602"/>
            <a:ext cx="10730310" cy="212299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4400" b="1" dirty="0">
                <a:solidFill>
                  <a:srgbClr val="FF0000"/>
                </a:solidFill>
                <a:latin typeface="华光大标宋_CNKI" panose="02000500000000000000" pitchFamily="2" charset="-122"/>
                <a:ea typeface="华光大标宋_CNKI" panose="02000500000000000000" pitchFamily="2" charset="-122"/>
              </a:rPr>
              <a:t>   请分析一下上述算法对堆栈的使用是否可以进一步优化？</a:t>
            </a:r>
            <a:r>
              <a:rPr lang="en-US" altLang="zh-CN" sz="4400" b="1" dirty="0">
                <a:solidFill>
                  <a:srgbClr val="FF0000"/>
                </a:solidFill>
                <a:latin typeface="华光大标宋_CNKI" panose="02000500000000000000" pitchFamily="2" charset="-122"/>
                <a:ea typeface="华光大标宋_CNKI" panose="02000500000000000000" pitchFamily="2" charset="-122"/>
              </a:rPr>
              <a:t>      </a:t>
            </a:r>
          </a:p>
        </p:txBody>
      </p:sp>
    </p:spTree>
    <p:extLst>
      <p:ext uri="{BB962C8B-B14F-4D97-AF65-F5344CB8AC3E}">
        <p14:creationId xmlns:p14="http://schemas.microsoft.com/office/powerpoint/2010/main" val="341124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30845" y="538701"/>
            <a:ext cx="10730310" cy="5780598"/>
          </a:xfrm>
        </p:spPr>
        <p:txBody>
          <a:bodyPr>
            <a:normAutofit fontScale="92500"/>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）扫描线种子填充法 </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为了减少对堆栈的使用，该算法综合利用扫描线法以及种子填充法对算法进行了改进，改进后的算法描述如下：</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）种子像素入栈。</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）当栈非空时，重复如下操作：</a:t>
            </a:r>
            <a:endParaRPr lang="en-US" altLang="zh-CN" sz="2800" dirty="0">
              <a:latin typeface="华光仿宋_CNKI" panose="02000500000000000000" pitchFamily="2" charset="-122"/>
              <a:ea typeface="华光仿宋_CNKI" panose="02000500000000000000" pitchFamily="2" charset="-122"/>
            </a:endParaRPr>
          </a:p>
          <a:p>
            <a:pPr marL="1428750" lvl="5" indent="-514350" algn="l">
              <a:lnSpc>
                <a:spcPct val="150000"/>
              </a:lnSpc>
              <a:spcBef>
                <a:spcPts val="1000"/>
              </a:spcBef>
              <a:buFont typeface="+mj-ea"/>
              <a:buAutoNum type="circleNumDbPlain"/>
            </a:pPr>
            <a:r>
              <a:rPr lang="zh-CN" altLang="en-US" sz="2600" dirty="0">
                <a:latin typeface="华光仿宋_CNKI" panose="02000500000000000000" pitchFamily="2" charset="-122"/>
                <a:ea typeface="华光仿宋_CNKI" panose="02000500000000000000" pitchFamily="2" charset="-122"/>
              </a:rPr>
              <a:t>栈顶像素出栈。</a:t>
            </a:r>
            <a:endParaRPr lang="en-US" altLang="zh-CN" sz="2600" dirty="0">
              <a:latin typeface="华光仿宋_CNKI" panose="02000500000000000000" pitchFamily="2" charset="-122"/>
              <a:ea typeface="华光仿宋_CNKI" panose="02000500000000000000" pitchFamily="2" charset="-122"/>
            </a:endParaRPr>
          </a:p>
          <a:p>
            <a:pPr marL="1428750" lvl="5" indent="-514350" algn="l">
              <a:lnSpc>
                <a:spcPct val="150000"/>
              </a:lnSpc>
              <a:spcBef>
                <a:spcPts val="1000"/>
              </a:spcBef>
              <a:buFont typeface="+mj-ea"/>
              <a:buAutoNum type="circleNumDbPlain"/>
            </a:pPr>
            <a:r>
              <a:rPr lang="zh-CN" altLang="en-US" sz="2600" dirty="0">
                <a:latin typeface="华光仿宋_CNKI" panose="02000500000000000000" pitchFamily="2" charset="-122"/>
                <a:ea typeface="华光仿宋_CNKI" panose="02000500000000000000" pitchFamily="2" charset="-122"/>
              </a:rPr>
              <a:t>沿扫描线对出栈像素的左右像素进行填充，直到遇到边界像素为止。</a:t>
            </a:r>
            <a:endParaRPr lang="en-US" altLang="zh-CN" sz="2600" dirty="0">
              <a:latin typeface="华光仿宋_CNKI" panose="02000500000000000000" pitchFamily="2" charset="-122"/>
              <a:ea typeface="华光仿宋_CNKI" panose="02000500000000000000" pitchFamily="2" charset="-122"/>
            </a:endParaRPr>
          </a:p>
          <a:p>
            <a:pPr marL="1428750" lvl="5" indent="-514350" algn="l">
              <a:lnSpc>
                <a:spcPct val="150000"/>
              </a:lnSpc>
              <a:spcBef>
                <a:spcPts val="1000"/>
              </a:spcBef>
              <a:buFont typeface="+mj-ea"/>
              <a:buAutoNum type="circleNumDbPlain"/>
            </a:pPr>
            <a:r>
              <a:rPr lang="zh-CN" altLang="en-US" sz="2600" dirty="0">
                <a:latin typeface="华光仿宋_CNKI" panose="02000500000000000000" pitchFamily="2" charset="-122"/>
                <a:ea typeface="华光仿宋_CNKI" panose="02000500000000000000" pitchFamily="2" charset="-122"/>
              </a:rPr>
              <a:t>将上述区间内最左、最右像素记为</a:t>
            </a:r>
            <a:r>
              <a:rPr lang="en-US" altLang="zh-CN" sz="2600" dirty="0">
                <a:latin typeface="华光仿宋_CNKI" panose="02000500000000000000" pitchFamily="2" charset="-122"/>
                <a:ea typeface="华光仿宋_CNKI" panose="02000500000000000000" pitchFamily="2" charset="-122"/>
              </a:rPr>
              <a:t>xl</a:t>
            </a:r>
            <a:r>
              <a:rPr lang="zh-CN" altLang="en-US" sz="2600" dirty="0">
                <a:latin typeface="华光仿宋_CNKI" panose="02000500000000000000" pitchFamily="2" charset="-122"/>
                <a:ea typeface="华光仿宋_CNKI" panose="02000500000000000000" pitchFamily="2" charset="-122"/>
              </a:rPr>
              <a:t>和</a:t>
            </a:r>
            <a:r>
              <a:rPr lang="en-US" altLang="zh-CN" sz="2600" dirty="0" err="1">
                <a:latin typeface="华光仿宋_CNKI" panose="02000500000000000000" pitchFamily="2" charset="-122"/>
                <a:ea typeface="华光仿宋_CNKI" panose="02000500000000000000" pitchFamily="2" charset="-122"/>
              </a:rPr>
              <a:t>xr</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marL="1428750" lvl="5" indent="-514350" algn="l">
              <a:lnSpc>
                <a:spcPct val="150000"/>
              </a:lnSpc>
              <a:spcBef>
                <a:spcPts val="1000"/>
              </a:spcBef>
              <a:buFont typeface="+mj-ea"/>
              <a:buAutoNum type="circleNumDbPlain"/>
            </a:pP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4827361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35237" y="445273"/>
            <a:ext cx="10730310" cy="3216121"/>
          </a:xfrm>
        </p:spPr>
        <p:txBody>
          <a:bodyPr>
            <a:normAutofit/>
          </a:bodyPr>
          <a:lstStyle/>
          <a:p>
            <a:pPr marL="914400" lvl="4" indent="-457200" algn="l">
              <a:lnSpc>
                <a:spcPct val="150000"/>
              </a:lnSpc>
              <a:spcBef>
                <a:spcPts val="1000"/>
              </a:spcBef>
              <a:buAutoNum type="circleNumDbPlain" startAt="4"/>
            </a:pPr>
            <a:r>
              <a:rPr lang="zh-CN" altLang="en-US" sz="2400" dirty="0">
                <a:latin typeface="华光仿宋_CNKI" panose="02000500000000000000" pitchFamily="2" charset="-122"/>
                <a:ea typeface="华光仿宋_CNKI" panose="02000500000000000000" pitchFamily="2" charset="-122"/>
              </a:rPr>
              <a:t>在区间</a:t>
            </a:r>
            <a:r>
              <a:rPr lang="en-US" altLang="zh-CN" sz="2400" dirty="0">
                <a:latin typeface="华光仿宋_CNKI" panose="02000500000000000000" pitchFamily="2" charset="-122"/>
                <a:ea typeface="华光仿宋_CNKI" panose="02000500000000000000" pitchFamily="2" charset="-122"/>
              </a:rPr>
              <a:t>[</a:t>
            </a:r>
            <a:r>
              <a:rPr lang="en-US" altLang="zh-CN" sz="2400" dirty="0" err="1">
                <a:latin typeface="华光仿宋_CNKI" panose="02000500000000000000" pitchFamily="2" charset="-122"/>
                <a:ea typeface="华光仿宋_CNKI" panose="02000500000000000000" pitchFamily="2" charset="-122"/>
              </a:rPr>
              <a:t>xl,xr</a:t>
            </a:r>
            <a:r>
              <a:rPr lang="en-US" altLang="zh-CN" sz="2400" dirty="0">
                <a:latin typeface="华光仿宋_CNKI" panose="02000500000000000000" pitchFamily="2" charset="-122"/>
                <a:ea typeface="华光仿宋_CNKI" panose="02000500000000000000" pitchFamily="2" charset="-122"/>
              </a:rPr>
              <a:t>]</a:t>
            </a:r>
            <a:r>
              <a:rPr lang="zh-CN" altLang="en-US" sz="2400" dirty="0">
                <a:latin typeface="华光仿宋_CNKI" panose="02000500000000000000" pitchFamily="2" charset="-122"/>
                <a:ea typeface="华光仿宋_CNKI" panose="02000500000000000000" pitchFamily="2" charset="-122"/>
              </a:rPr>
              <a:t>中检查与当前扫描线相邻的上下两条扫描线是否全为边界像素、或已填充的像素，若为非边界、未填充的像素，则把每一区间的最右像素取为种子像素入栈。若有多个，需要把每一个区间最右边的像素压入堆栈。</a:t>
            </a:r>
            <a:endParaRPr lang="en-US" altLang="zh-CN" sz="2400" dirty="0">
              <a:latin typeface="华光仿宋_CNKI" panose="02000500000000000000" pitchFamily="2" charset="-122"/>
              <a:ea typeface="华光仿宋_CNKI" panose="02000500000000000000" pitchFamily="2" charset="-122"/>
            </a:endParaRPr>
          </a:p>
          <a:p>
            <a:pPr marL="457200" lvl="4" algn="l">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重复执行步骤（</a:t>
            </a:r>
            <a:r>
              <a:rPr lang="en-US" altLang="zh-CN" sz="2400" dirty="0">
                <a:latin typeface="华光仿宋_CNKI" panose="02000500000000000000" pitchFamily="2" charset="-122"/>
                <a:ea typeface="华光仿宋_CNKI" panose="02000500000000000000" pitchFamily="2" charset="-122"/>
              </a:rPr>
              <a:t>2</a:t>
            </a:r>
            <a:r>
              <a:rPr lang="zh-CN" altLang="en-US" sz="2400" dirty="0">
                <a:latin typeface="华光仿宋_CNKI" panose="02000500000000000000" pitchFamily="2" charset="-122"/>
                <a:ea typeface="华光仿宋_CNKI" panose="02000500000000000000" pitchFamily="2" charset="-122"/>
              </a:rPr>
              <a:t>），直到堆栈为空。</a:t>
            </a:r>
            <a:endParaRPr lang="en-US" altLang="zh-CN" sz="2400" dirty="0">
              <a:latin typeface="华光仿宋_CNKI" panose="02000500000000000000" pitchFamily="2" charset="-122"/>
              <a:ea typeface="华光仿宋_CNKI" panose="02000500000000000000" pitchFamily="2" charset="-122"/>
            </a:endParaRPr>
          </a:p>
          <a:p>
            <a:pPr marL="914400" lvl="5" algn="l">
              <a:lnSpc>
                <a:spcPct val="150000"/>
              </a:lnSpc>
              <a:spcBef>
                <a:spcPts val="1000"/>
              </a:spcBef>
            </a:pPr>
            <a:endParaRPr lang="zh-CN" altLang="en-US" sz="2400" dirty="0">
              <a:latin typeface="华光仿宋_CNKI" panose="02000500000000000000" pitchFamily="2" charset="-122"/>
              <a:ea typeface="华光仿宋_CNKI" panose="02000500000000000000" pitchFamily="2" charset="-122"/>
            </a:endParaRPr>
          </a:p>
          <a:p>
            <a:pPr algn="l">
              <a:lnSpc>
                <a:spcPct val="150000"/>
              </a:lnSpc>
            </a:pPr>
            <a:endParaRPr lang="en-US" altLang="zh-CN" sz="2800" dirty="0">
              <a:latin typeface="华光仿宋_CNKI" panose="02000500000000000000" pitchFamily="2" charset="-122"/>
              <a:ea typeface="华光仿宋_CNKI" panose="02000500000000000000" pitchFamily="2" charset="-122"/>
            </a:endParaRPr>
          </a:p>
        </p:txBody>
      </p:sp>
      <p:sp>
        <p:nvSpPr>
          <p:cNvPr id="387" name="副标题 2">
            <a:extLst>
              <a:ext uri="{FF2B5EF4-FFF2-40B4-BE49-F238E27FC236}">
                <a16:creationId xmlns:a16="http://schemas.microsoft.com/office/drawing/2014/main" id="{F04AAF42-E1E9-A228-47EC-34A1AB5360DD}"/>
              </a:ext>
            </a:extLst>
          </p:cNvPr>
          <p:cNvSpPr txBox="1">
            <a:spLocks/>
          </p:cNvSpPr>
          <p:nvPr/>
        </p:nvSpPr>
        <p:spPr>
          <a:xfrm>
            <a:off x="721072" y="3682031"/>
            <a:ext cx="5923072" cy="26372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600" b="1" dirty="0">
                <a:solidFill>
                  <a:srgbClr val="FF0000"/>
                </a:solidFill>
                <a:latin typeface="华光大标宋_CNKI" panose="02000500000000000000" pitchFamily="2" charset="-122"/>
                <a:ea typeface="华光大标宋_CNKI" panose="02000500000000000000" pitchFamily="2" charset="-122"/>
              </a:rPr>
              <a:t>请思考一下右图情况下上述算法的实现过程，并给出堆栈变化情况！</a:t>
            </a:r>
            <a:endParaRPr lang="en-US" altLang="zh-CN" sz="3600" b="1" dirty="0">
              <a:solidFill>
                <a:srgbClr val="FF0000"/>
              </a:solidFill>
              <a:latin typeface="华光大标宋_CNKI" panose="02000500000000000000" pitchFamily="2" charset="-122"/>
              <a:ea typeface="华光大标宋_CNKI" panose="02000500000000000000" pitchFamily="2" charset="-122"/>
            </a:endParaRPr>
          </a:p>
        </p:txBody>
      </p:sp>
      <p:grpSp>
        <p:nvGrpSpPr>
          <p:cNvPr id="388" name="Group 78">
            <a:extLst>
              <a:ext uri="{FF2B5EF4-FFF2-40B4-BE49-F238E27FC236}">
                <a16:creationId xmlns:a16="http://schemas.microsoft.com/office/drawing/2014/main" id="{71A1A6A5-7F35-499D-D8F0-22281DE540E0}"/>
              </a:ext>
            </a:extLst>
          </p:cNvPr>
          <p:cNvGrpSpPr>
            <a:grpSpLocks/>
          </p:cNvGrpSpPr>
          <p:nvPr/>
        </p:nvGrpSpPr>
        <p:grpSpPr bwMode="auto">
          <a:xfrm>
            <a:off x="7547527" y="3556849"/>
            <a:ext cx="2752725" cy="2289175"/>
            <a:chOff x="3051" y="1344"/>
            <a:chExt cx="1734" cy="1442"/>
          </a:xfrm>
        </p:grpSpPr>
        <p:sp>
          <p:nvSpPr>
            <p:cNvPr id="389" name="Oval 39">
              <a:extLst>
                <a:ext uri="{FF2B5EF4-FFF2-40B4-BE49-F238E27FC236}">
                  <a16:creationId xmlns:a16="http://schemas.microsoft.com/office/drawing/2014/main" id="{068AF7FA-AA6F-6C29-FD98-CD08C95CB101}"/>
                </a:ext>
              </a:extLst>
            </p:cNvPr>
            <p:cNvSpPr>
              <a:spLocks noChangeArrowheads="1"/>
            </p:cNvSpPr>
            <p:nvPr/>
          </p:nvSpPr>
          <p:spPr bwMode="auto">
            <a:xfrm>
              <a:off x="3051"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0" name="Oval 40">
              <a:extLst>
                <a:ext uri="{FF2B5EF4-FFF2-40B4-BE49-F238E27FC236}">
                  <a16:creationId xmlns:a16="http://schemas.microsoft.com/office/drawing/2014/main" id="{1CAA946A-2AA5-F70E-5E57-A55EA7584599}"/>
                </a:ext>
              </a:extLst>
            </p:cNvPr>
            <p:cNvSpPr>
              <a:spLocks noChangeArrowheads="1"/>
            </p:cNvSpPr>
            <p:nvPr/>
          </p:nvSpPr>
          <p:spPr bwMode="auto">
            <a:xfrm>
              <a:off x="3278"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1" name="Oval 41">
              <a:extLst>
                <a:ext uri="{FF2B5EF4-FFF2-40B4-BE49-F238E27FC236}">
                  <a16:creationId xmlns:a16="http://schemas.microsoft.com/office/drawing/2014/main" id="{15B61349-036B-ACD8-84F1-1AF48523D5FA}"/>
                </a:ext>
              </a:extLst>
            </p:cNvPr>
            <p:cNvSpPr>
              <a:spLocks noChangeArrowheads="1"/>
            </p:cNvSpPr>
            <p:nvPr/>
          </p:nvSpPr>
          <p:spPr bwMode="auto">
            <a:xfrm>
              <a:off x="3496"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 name="Oval 42">
              <a:extLst>
                <a:ext uri="{FF2B5EF4-FFF2-40B4-BE49-F238E27FC236}">
                  <a16:creationId xmlns:a16="http://schemas.microsoft.com/office/drawing/2014/main" id="{388308A7-080C-982F-7E4D-1D51D7C5E0C0}"/>
                </a:ext>
              </a:extLst>
            </p:cNvPr>
            <p:cNvSpPr>
              <a:spLocks noChangeArrowheads="1"/>
            </p:cNvSpPr>
            <p:nvPr/>
          </p:nvSpPr>
          <p:spPr bwMode="auto">
            <a:xfrm>
              <a:off x="3722"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3" name="Oval 43">
              <a:extLst>
                <a:ext uri="{FF2B5EF4-FFF2-40B4-BE49-F238E27FC236}">
                  <a16:creationId xmlns:a16="http://schemas.microsoft.com/office/drawing/2014/main" id="{0F53E5C5-4596-7FE2-E6C9-318293708BD4}"/>
                </a:ext>
              </a:extLst>
            </p:cNvPr>
            <p:cNvSpPr>
              <a:spLocks noChangeArrowheads="1"/>
            </p:cNvSpPr>
            <p:nvPr/>
          </p:nvSpPr>
          <p:spPr bwMode="auto">
            <a:xfrm>
              <a:off x="3940" y="2605"/>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4" name="Oval 44">
              <a:extLst>
                <a:ext uri="{FF2B5EF4-FFF2-40B4-BE49-F238E27FC236}">
                  <a16:creationId xmlns:a16="http://schemas.microsoft.com/office/drawing/2014/main" id="{C007EB54-E371-EE04-792C-B7FFDBE4AF0D}"/>
                </a:ext>
              </a:extLst>
            </p:cNvPr>
            <p:cNvSpPr>
              <a:spLocks noChangeArrowheads="1"/>
            </p:cNvSpPr>
            <p:nvPr/>
          </p:nvSpPr>
          <p:spPr bwMode="auto">
            <a:xfrm>
              <a:off x="3051" y="2387"/>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8" name="Oval 48">
              <a:extLst>
                <a:ext uri="{FF2B5EF4-FFF2-40B4-BE49-F238E27FC236}">
                  <a16:creationId xmlns:a16="http://schemas.microsoft.com/office/drawing/2014/main" id="{4C43B589-3585-5074-43AB-B47A94AED638}"/>
                </a:ext>
              </a:extLst>
            </p:cNvPr>
            <p:cNvSpPr>
              <a:spLocks noChangeArrowheads="1"/>
            </p:cNvSpPr>
            <p:nvPr/>
          </p:nvSpPr>
          <p:spPr bwMode="auto">
            <a:xfrm>
              <a:off x="3940" y="2387"/>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9" name="Oval 49">
              <a:extLst>
                <a:ext uri="{FF2B5EF4-FFF2-40B4-BE49-F238E27FC236}">
                  <a16:creationId xmlns:a16="http://schemas.microsoft.com/office/drawing/2014/main" id="{8141B9B4-8EC9-FE22-DB4A-0731B91334A4}"/>
                </a:ext>
              </a:extLst>
            </p:cNvPr>
            <p:cNvSpPr>
              <a:spLocks noChangeArrowheads="1"/>
            </p:cNvSpPr>
            <p:nvPr/>
          </p:nvSpPr>
          <p:spPr bwMode="auto">
            <a:xfrm>
              <a:off x="3051" y="2178"/>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0" name="Oval 50">
              <a:extLst>
                <a:ext uri="{FF2B5EF4-FFF2-40B4-BE49-F238E27FC236}">
                  <a16:creationId xmlns:a16="http://schemas.microsoft.com/office/drawing/2014/main" id="{858172D8-3B67-99BA-4E64-75FBE58F9574}"/>
                </a:ext>
              </a:extLst>
            </p:cNvPr>
            <p:cNvSpPr>
              <a:spLocks noChangeArrowheads="1"/>
            </p:cNvSpPr>
            <p:nvPr/>
          </p:nvSpPr>
          <p:spPr bwMode="auto">
            <a:xfrm>
              <a:off x="3278" y="2164"/>
              <a:ext cx="223" cy="218"/>
            </a:xfrm>
            <a:prstGeom prst="ellipse">
              <a:avLst/>
            </a:prstGeom>
            <a:solidFill>
              <a:srgbClr val="FF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000" dirty="0"/>
                <a:t>1</a:t>
              </a:r>
              <a:endParaRPr lang="zh-CN" altLang="en-US" sz="1000" dirty="0"/>
            </a:p>
          </p:txBody>
        </p:sp>
        <p:sp>
          <p:nvSpPr>
            <p:cNvPr id="403" name="Oval 53">
              <a:extLst>
                <a:ext uri="{FF2B5EF4-FFF2-40B4-BE49-F238E27FC236}">
                  <a16:creationId xmlns:a16="http://schemas.microsoft.com/office/drawing/2014/main" id="{ADB1D537-17E0-6D88-253A-532E9FA7F395}"/>
                </a:ext>
              </a:extLst>
            </p:cNvPr>
            <p:cNvSpPr>
              <a:spLocks noChangeArrowheads="1"/>
            </p:cNvSpPr>
            <p:nvPr/>
          </p:nvSpPr>
          <p:spPr bwMode="auto">
            <a:xfrm>
              <a:off x="4149" y="2376"/>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4" name="Oval 54">
              <a:extLst>
                <a:ext uri="{FF2B5EF4-FFF2-40B4-BE49-F238E27FC236}">
                  <a16:creationId xmlns:a16="http://schemas.microsoft.com/office/drawing/2014/main" id="{DF6770A7-A44E-CC87-7925-83135ABD6563}"/>
                </a:ext>
              </a:extLst>
            </p:cNvPr>
            <p:cNvSpPr>
              <a:spLocks noChangeArrowheads="1"/>
            </p:cNvSpPr>
            <p:nvPr/>
          </p:nvSpPr>
          <p:spPr bwMode="auto">
            <a:xfrm>
              <a:off x="3051"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5" name="Oval 55">
              <a:extLst>
                <a:ext uri="{FF2B5EF4-FFF2-40B4-BE49-F238E27FC236}">
                  <a16:creationId xmlns:a16="http://schemas.microsoft.com/office/drawing/2014/main" id="{FF37707D-54AB-51A6-3B8A-A79411A6F62C}"/>
                </a:ext>
              </a:extLst>
            </p:cNvPr>
            <p:cNvSpPr>
              <a:spLocks noChangeArrowheads="1"/>
            </p:cNvSpPr>
            <p:nvPr/>
          </p:nvSpPr>
          <p:spPr bwMode="auto">
            <a:xfrm>
              <a:off x="3278"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6" name="Oval 56">
              <a:extLst>
                <a:ext uri="{FF2B5EF4-FFF2-40B4-BE49-F238E27FC236}">
                  <a16:creationId xmlns:a16="http://schemas.microsoft.com/office/drawing/2014/main" id="{9A07D23E-59E8-E3AB-F890-5667D3F703DB}"/>
                </a:ext>
              </a:extLst>
            </p:cNvPr>
            <p:cNvSpPr>
              <a:spLocks noChangeArrowheads="1"/>
            </p:cNvSpPr>
            <p:nvPr/>
          </p:nvSpPr>
          <p:spPr bwMode="auto">
            <a:xfrm>
              <a:off x="3496"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7" name="Oval 57">
              <a:extLst>
                <a:ext uri="{FF2B5EF4-FFF2-40B4-BE49-F238E27FC236}">
                  <a16:creationId xmlns:a16="http://schemas.microsoft.com/office/drawing/2014/main" id="{8AA58B00-BE24-7F88-53CB-04BF777FC5B4}"/>
                </a:ext>
              </a:extLst>
            </p:cNvPr>
            <p:cNvSpPr>
              <a:spLocks noChangeArrowheads="1"/>
            </p:cNvSpPr>
            <p:nvPr/>
          </p:nvSpPr>
          <p:spPr bwMode="auto">
            <a:xfrm>
              <a:off x="3722"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8" name="Oval 58">
              <a:extLst>
                <a:ext uri="{FF2B5EF4-FFF2-40B4-BE49-F238E27FC236}">
                  <a16:creationId xmlns:a16="http://schemas.microsoft.com/office/drawing/2014/main" id="{0411F3CD-1929-9887-C86C-88B19556097B}"/>
                </a:ext>
              </a:extLst>
            </p:cNvPr>
            <p:cNvSpPr>
              <a:spLocks noChangeArrowheads="1"/>
            </p:cNvSpPr>
            <p:nvPr/>
          </p:nvSpPr>
          <p:spPr bwMode="auto">
            <a:xfrm>
              <a:off x="3723" y="1761"/>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9" name="Oval 59">
              <a:extLst>
                <a:ext uri="{FF2B5EF4-FFF2-40B4-BE49-F238E27FC236}">
                  <a16:creationId xmlns:a16="http://schemas.microsoft.com/office/drawing/2014/main" id="{03056B71-7BFE-9768-29D1-9FF25D15ED2C}"/>
                </a:ext>
              </a:extLst>
            </p:cNvPr>
            <p:cNvSpPr>
              <a:spLocks noChangeArrowheads="1"/>
            </p:cNvSpPr>
            <p:nvPr/>
          </p:nvSpPr>
          <p:spPr bwMode="auto">
            <a:xfrm>
              <a:off x="3714"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0" name="Oval 60">
              <a:extLst>
                <a:ext uri="{FF2B5EF4-FFF2-40B4-BE49-F238E27FC236}">
                  <a16:creationId xmlns:a16="http://schemas.microsoft.com/office/drawing/2014/main" id="{A308C23D-29D1-9D41-C6A3-93841390C46C}"/>
                </a:ext>
              </a:extLst>
            </p:cNvPr>
            <p:cNvSpPr>
              <a:spLocks noChangeArrowheads="1"/>
            </p:cNvSpPr>
            <p:nvPr/>
          </p:nvSpPr>
          <p:spPr bwMode="auto">
            <a:xfrm>
              <a:off x="3932"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1" name="Oval 61">
              <a:extLst>
                <a:ext uri="{FF2B5EF4-FFF2-40B4-BE49-F238E27FC236}">
                  <a16:creationId xmlns:a16="http://schemas.microsoft.com/office/drawing/2014/main" id="{A740149D-8DC5-EF00-6030-8F8D14413664}"/>
                </a:ext>
              </a:extLst>
            </p:cNvPr>
            <p:cNvSpPr>
              <a:spLocks noChangeArrowheads="1"/>
            </p:cNvSpPr>
            <p:nvPr/>
          </p:nvSpPr>
          <p:spPr bwMode="auto">
            <a:xfrm>
              <a:off x="4150"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2" name="Oval 62">
              <a:extLst>
                <a:ext uri="{FF2B5EF4-FFF2-40B4-BE49-F238E27FC236}">
                  <a16:creationId xmlns:a16="http://schemas.microsoft.com/office/drawing/2014/main" id="{F92E759B-EC70-7717-BBB2-F0FDF2B7851B}"/>
                </a:ext>
              </a:extLst>
            </p:cNvPr>
            <p:cNvSpPr>
              <a:spLocks noChangeArrowheads="1"/>
            </p:cNvSpPr>
            <p:nvPr/>
          </p:nvSpPr>
          <p:spPr bwMode="auto">
            <a:xfrm>
              <a:off x="4385"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3" name="Oval 63">
              <a:extLst>
                <a:ext uri="{FF2B5EF4-FFF2-40B4-BE49-F238E27FC236}">
                  <a16:creationId xmlns:a16="http://schemas.microsoft.com/office/drawing/2014/main" id="{9C3B6CA9-C250-EB1F-F29D-19A7AB2A2FD1}"/>
                </a:ext>
              </a:extLst>
            </p:cNvPr>
            <p:cNvSpPr>
              <a:spLocks noChangeArrowheads="1"/>
            </p:cNvSpPr>
            <p:nvPr/>
          </p:nvSpPr>
          <p:spPr bwMode="auto">
            <a:xfrm>
              <a:off x="4594" y="1344"/>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4" name="Oval 64">
              <a:extLst>
                <a:ext uri="{FF2B5EF4-FFF2-40B4-BE49-F238E27FC236}">
                  <a16:creationId xmlns:a16="http://schemas.microsoft.com/office/drawing/2014/main" id="{687C1C01-1CCD-8AC6-FABC-7E7C444171B7}"/>
                </a:ext>
              </a:extLst>
            </p:cNvPr>
            <p:cNvSpPr>
              <a:spLocks noChangeArrowheads="1"/>
            </p:cNvSpPr>
            <p:nvPr/>
          </p:nvSpPr>
          <p:spPr bwMode="auto">
            <a:xfrm>
              <a:off x="4149" y="2169"/>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5" name="Oval 65">
              <a:extLst>
                <a:ext uri="{FF2B5EF4-FFF2-40B4-BE49-F238E27FC236}">
                  <a16:creationId xmlns:a16="http://schemas.microsoft.com/office/drawing/2014/main" id="{7D591E27-BE96-67AD-929D-ECC50B003B70}"/>
                </a:ext>
              </a:extLst>
            </p:cNvPr>
            <p:cNvSpPr>
              <a:spLocks noChangeArrowheads="1"/>
            </p:cNvSpPr>
            <p:nvPr/>
          </p:nvSpPr>
          <p:spPr bwMode="auto">
            <a:xfrm>
              <a:off x="4149"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6" name="Oval 66">
              <a:extLst>
                <a:ext uri="{FF2B5EF4-FFF2-40B4-BE49-F238E27FC236}">
                  <a16:creationId xmlns:a16="http://schemas.microsoft.com/office/drawing/2014/main" id="{7773C0B8-412F-6C0D-C2BD-8FECA14667B0}"/>
                </a:ext>
              </a:extLst>
            </p:cNvPr>
            <p:cNvSpPr>
              <a:spLocks noChangeArrowheads="1"/>
            </p:cNvSpPr>
            <p:nvPr/>
          </p:nvSpPr>
          <p:spPr bwMode="auto">
            <a:xfrm>
              <a:off x="4376"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7" name="Oval 67">
              <a:extLst>
                <a:ext uri="{FF2B5EF4-FFF2-40B4-BE49-F238E27FC236}">
                  <a16:creationId xmlns:a16="http://schemas.microsoft.com/office/drawing/2014/main" id="{E67782CF-87DF-7B80-4735-0F84105CAEDD}"/>
                </a:ext>
              </a:extLst>
            </p:cNvPr>
            <p:cNvSpPr>
              <a:spLocks noChangeArrowheads="1"/>
            </p:cNvSpPr>
            <p:nvPr/>
          </p:nvSpPr>
          <p:spPr bwMode="auto">
            <a:xfrm>
              <a:off x="4602" y="1970"/>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8" name="Oval 68">
              <a:extLst>
                <a:ext uri="{FF2B5EF4-FFF2-40B4-BE49-F238E27FC236}">
                  <a16:creationId xmlns:a16="http://schemas.microsoft.com/office/drawing/2014/main" id="{500D6333-E8C3-45E9-1154-7B5C42E9E880}"/>
                </a:ext>
              </a:extLst>
            </p:cNvPr>
            <p:cNvSpPr>
              <a:spLocks noChangeArrowheads="1"/>
            </p:cNvSpPr>
            <p:nvPr/>
          </p:nvSpPr>
          <p:spPr bwMode="auto">
            <a:xfrm>
              <a:off x="4602" y="1761"/>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9" name="Oval 69">
              <a:extLst>
                <a:ext uri="{FF2B5EF4-FFF2-40B4-BE49-F238E27FC236}">
                  <a16:creationId xmlns:a16="http://schemas.microsoft.com/office/drawing/2014/main" id="{6BD946D7-22C7-3DF8-3E1A-9ABF15C547F0}"/>
                </a:ext>
              </a:extLst>
            </p:cNvPr>
            <p:cNvSpPr>
              <a:spLocks noChangeArrowheads="1"/>
            </p:cNvSpPr>
            <p:nvPr/>
          </p:nvSpPr>
          <p:spPr bwMode="auto">
            <a:xfrm>
              <a:off x="4603" y="1553"/>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0" name="Oval 70">
              <a:extLst>
                <a:ext uri="{FF2B5EF4-FFF2-40B4-BE49-F238E27FC236}">
                  <a16:creationId xmlns:a16="http://schemas.microsoft.com/office/drawing/2014/main" id="{A24CF658-1CBA-2CB7-BC41-8503BA5B036C}"/>
                </a:ext>
              </a:extLst>
            </p:cNvPr>
            <p:cNvSpPr>
              <a:spLocks noChangeArrowheads="1"/>
            </p:cNvSpPr>
            <p:nvPr/>
          </p:nvSpPr>
          <p:spPr bwMode="auto">
            <a:xfrm>
              <a:off x="3723" y="1561"/>
              <a:ext cx="182" cy="181"/>
            </a:xfrm>
            <a:prstGeom prst="ellipse">
              <a:avLst/>
            </a:prstGeom>
            <a:solidFill>
              <a:srgbClr val="0000FF"/>
            </a:solidFill>
            <a:ln w="9525" cap="sq">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Tree>
    <p:extLst>
      <p:ext uri="{BB962C8B-B14F-4D97-AF65-F5344CB8AC3E}">
        <p14:creationId xmlns:p14="http://schemas.microsoft.com/office/powerpoint/2010/main" val="219493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1000"/>
                                        <p:tgtEl>
                                          <p:spTgt spid="387"/>
                                        </p:tgtEl>
                                      </p:cBhvr>
                                    </p:animEffect>
                                    <p:anim calcmode="lin" valueType="num">
                                      <p:cBhvr>
                                        <p:cTn id="8" dur="1000" fill="hold"/>
                                        <p:tgtEl>
                                          <p:spTgt spid="387"/>
                                        </p:tgtEl>
                                        <p:attrNameLst>
                                          <p:attrName>ppt_x</p:attrName>
                                        </p:attrNameLst>
                                      </p:cBhvr>
                                      <p:tavLst>
                                        <p:tav tm="0">
                                          <p:val>
                                            <p:strVal val="#ppt_x"/>
                                          </p:val>
                                        </p:tav>
                                        <p:tav tm="100000">
                                          <p:val>
                                            <p:strVal val="#ppt_x"/>
                                          </p:val>
                                        </p:tav>
                                      </p:tavLst>
                                    </p:anim>
                                    <p:anim calcmode="lin" valueType="num">
                                      <p:cBhvr>
                                        <p:cTn id="9" dur="1000" fill="hold"/>
                                        <p:tgtEl>
                                          <p:spTgt spid="38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88"/>
                                        </p:tgtEl>
                                        <p:attrNameLst>
                                          <p:attrName>style.visibility</p:attrName>
                                        </p:attrNameLst>
                                      </p:cBhvr>
                                      <p:to>
                                        <p:strVal val="visible"/>
                                      </p:to>
                                    </p:set>
                                    <p:animEffect transition="in" filter="fade">
                                      <p:cBhvr>
                                        <p:cTn id="14" dur="500"/>
                                        <p:tgtEl>
                                          <p:spTgt spid="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74221" y="880608"/>
            <a:ext cx="10750587" cy="4899990"/>
          </a:xfrm>
        </p:spPr>
        <p:txBody>
          <a:bodyPr>
            <a:normAutofit/>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3.5 </a:t>
            </a:r>
            <a:r>
              <a:rPr lang="zh-CN" altLang="en-US" sz="3200" dirty="0">
                <a:latin typeface="华光大标宋_CNKI" panose="02000500000000000000" pitchFamily="2" charset="-122"/>
                <a:ea typeface="华光大标宋_CNKI" panose="02000500000000000000" pitchFamily="2" charset="-122"/>
              </a:rPr>
              <a:t>图形反走样技术</a:t>
            </a:r>
          </a:p>
          <a:p>
            <a:pPr algn="l">
              <a:lnSpc>
                <a:spcPct val="150000"/>
              </a:lnSpc>
            </a:pPr>
            <a:r>
              <a:rPr lang="zh-CN" altLang="en-US" sz="2800" b="1" dirty="0">
                <a:solidFill>
                  <a:srgbClr val="C00000"/>
                </a:solidFill>
                <a:latin typeface="华光标题宋_CNKI" panose="02000500000000000000" pitchFamily="2" charset="-122"/>
                <a:ea typeface="华光标题宋_CNKI" panose="02000500000000000000" pitchFamily="2" charset="-122"/>
              </a:rPr>
              <a:t>       光栅图形存在的问题： </a:t>
            </a:r>
            <a:endParaRPr lang="en-US" altLang="zh-CN" sz="2800" b="1" dirty="0">
              <a:solidFill>
                <a:srgbClr val="C00000"/>
              </a:solidFill>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）阶梯状边界；</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）图形细节失真；</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）狭小图形遗失：动画序列中时隐时现，产生闪烁。</a:t>
            </a:r>
          </a:p>
          <a:p>
            <a:pPr algn="l">
              <a:lnSpc>
                <a:spcPct val="150000"/>
              </a:lnSpc>
            </a:pPr>
            <a:r>
              <a:rPr lang="zh-CN" altLang="en-US" sz="2600" dirty="0">
                <a:latin typeface="华光仿宋_CNKI" panose="02000500000000000000" pitchFamily="2" charset="-122"/>
                <a:ea typeface="华光仿宋_CNKI" panose="02000500000000000000" pitchFamily="2" charset="-122"/>
              </a:rPr>
              <a:t>    其主要的原因在于用离散的像素去表示连续的图形，从而引起失真。</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799077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74221" y="880608"/>
            <a:ext cx="10750587" cy="5424776"/>
          </a:xfrm>
        </p:spPr>
        <p:txBody>
          <a:bodyPr>
            <a:normAutofit lnSpcReduction="10000"/>
          </a:bodyPr>
          <a:lstStyle/>
          <a:p>
            <a:pPr algn="l">
              <a:lnSpc>
                <a:spcPct val="150000"/>
              </a:lnSpc>
            </a:pPr>
            <a:r>
              <a:rPr lang="zh-CN" altLang="en-US" sz="3200" b="1" dirty="0">
                <a:solidFill>
                  <a:srgbClr val="0070C0"/>
                </a:solidFill>
                <a:latin typeface="华光超粗黑_CNKI" panose="02000500000000000000" pitchFamily="2" charset="-122"/>
                <a:ea typeface="华光超粗黑_CNKI" panose="02000500000000000000" pitchFamily="2" charset="-122"/>
              </a:rPr>
              <a:t>解决的方法：</a:t>
            </a:r>
            <a:endParaRPr lang="en-US" altLang="zh-CN" sz="3200" b="1" dirty="0">
              <a:solidFill>
                <a:srgbClr val="0070C0"/>
              </a:solidFill>
              <a:latin typeface="华光超粗黑_CNKI" panose="02000500000000000000" pitchFamily="2" charset="-122"/>
              <a:ea typeface="华光超粗黑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）提高硬件分辨率</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）提高软件分辨率：利用像素细分技术，实现“高分辨率计算低分辨率显示”；区域反走样技术。</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标题宋_CNKI" panose="02000500000000000000" pitchFamily="2" charset="-122"/>
                <a:ea typeface="华光标题宋_CNKI" panose="02000500000000000000" pitchFamily="2" charset="-122"/>
              </a:rPr>
              <a:t>3.5.1 </a:t>
            </a:r>
            <a:r>
              <a:rPr lang="zh-CN" altLang="en-US" sz="2600" dirty="0">
                <a:latin typeface="华光标题宋_CNKI" panose="02000500000000000000" pitchFamily="2" charset="-122"/>
                <a:ea typeface="华光标题宋_CNKI" panose="02000500000000000000" pitchFamily="2" charset="-122"/>
              </a:rPr>
              <a:t>像素细分技术</a:t>
            </a:r>
            <a:endParaRPr lang="en-US" altLang="zh-CN" sz="2600"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像素细分技术采用下面的算法实现图形的反走样：</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(1)</a:t>
            </a:r>
            <a:r>
              <a:rPr lang="zh-CN" altLang="en-US" sz="2600" dirty="0">
                <a:latin typeface="华光仿宋_CNKI" panose="02000500000000000000" pitchFamily="2" charset="-122"/>
                <a:ea typeface="华光仿宋_CNKI" panose="02000500000000000000" pitchFamily="2" charset="-122"/>
              </a:rPr>
              <a:t>将每个显示像素划分为若干个子像素。</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(2)</a:t>
            </a:r>
            <a:r>
              <a:rPr lang="zh-CN" altLang="en-US" sz="2600" dirty="0">
                <a:latin typeface="华光仿宋_CNKI" panose="02000500000000000000" pitchFamily="2" charset="-122"/>
                <a:ea typeface="华光仿宋_CNKI" panose="02000500000000000000" pitchFamily="2" charset="-122"/>
              </a:rPr>
              <a:t>按照常规的计算方法计算出每个像素的颜色和亮度。</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0109243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56469" y="582435"/>
            <a:ext cx="8256880" cy="6291468"/>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(3)</a:t>
            </a:r>
            <a:r>
              <a:rPr lang="zh-CN" altLang="en-US" sz="2600" dirty="0">
                <a:latin typeface="华光仿宋_CNKI" panose="02000500000000000000" pitchFamily="2" charset="-122"/>
                <a:ea typeface="华光仿宋_CNKI" panose="02000500000000000000" pitchFamily="2" charset="-122"/>
              </a:rPr>
              <a:t>采用算数平均或者加权平均等方法求解对应像素的亮度和颜色。</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显示出对应的像素。</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标题宋_CNKI" panose="02000500000000000000" pitchFamily="2" charset="-122"/>
                <a:ea typeface="华光标题宋_CNKI" panose="02000500000000000000" pitchFamily="2" charset="-122"/>
              </a:rPr>
              <a:t>3.5.2  </a:t>
            </a:r>
            <a:r>
              <a:rPr lang="en-US" altLang="zh-CN" sz="2600" dirty="0" err="1">
                <a:latin typeface="华光标题宋_CNKI" panose="02000500000000000000" pitchFamily="2" charset="-122"/>
                <a:ea typeface="华光标题宋_CNKI" panose="02000500000000000000" pitchFamily="2" charset="-122"/>
              </a:rPr>
              <a:t>Bresenham</a:t>
            </a:r>
            <a:r>
              <a:rPr lang="zh-CN" altLang="en-US" sz="2600" dirty="0">
                <a:latin typeface="华光标题宋_CNKI" panose="02000500000000000000" pitchFamily="2" charset="-122"/>
                <a:ea typeface="华光标题宋_CNKI" panose="02000500000000000000" pitchFamily="2" charset="-122"/>
              </a:rPr>
              <a:t>区域反走样技术</a:t>
            </a:r>
            <a:endParaRPr lang="en-US" altLang="zh-CN" sz="2600"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其基本原理是将像素看成一个由一定面积的有限区域而不是一个点。当待填充的多边形与具有一定面积的像素相交时，求出二者相交的面积，然后以此面积值来决定该像素应该显示的亮度和颜色。如右图所示。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缺点： 计算复杂度很高。</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p:grpSp>
        <p:nvGrpSpPr>
          <p:cNvPr id="70" name="组合 69">
            <a:extLst>
              <a:ext uri="{FF2B5EF4-FFF2-40B4-BE49-F238E27FC236}">
                <a16:creationId xmlns:a16="http://schemas.microsoft.com/office/drawing/2014/main" id="{336AF768-A8F5-523A-E8DD-4FB93164BD53}"/>
              </a:ext>
            </a:extLst>
          </p:cNvPr>
          <p:cNvGrpSpPr/>
          <p:nvPr/>
        </p:nvGrpSpPr>
        <p:grpSpPr>
          <a:xfrm>
            <a:off x="9300371" y="2192572"/>
            <a:ext cx="2368760" cy="2472856"/>
            <a:chOff x="9348079" y="2011680"/>
            <a:chExt cx="2368760" cy="2472856"/>
          </a:xfrm>
        </p:grpSpPr>
        <p:sp>
          <p:nvSpPr>
            <p:cNvPr id="14" name="矩形 13">
              <a:extLst>
                <a:ext uri="{FF2B5EF4-FFF2-40B4-BE49-F238E27FC236}">
                  <a16:creationId xmlns:a16="http://schemas.microsoft.com/office/drawing/2014/main" id="{EDBACE18-7432-337A-D1CE-1834D5D12706}"/>
                </a:ext>
              </a:extLst>
            </p:cNvPr>
            <p:cNvSpPr/>
            <p:nvPr/>
          </p:nvSpPr>
          <p:spPr>
            <a:xfrm>
              <a:off x="9348079"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ACB39FA-9940-74CA-1AC3-76AB7881D33D}"/>
                </a:ext>
              </a:extLst>
            </p:cNvPr>
            <p:cNvSpPr/>
            <p:nvPr/>
          </p:nvSpPr>
          <p:spPr>
            <a:xfrm>
              <a:off x="9686598"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19C9C391-7323-F566-F49F-46CD613AF60F}"/>
                </a:ext>
              </a:extLst>
            </p:cNvPr>
            <p:cNvSpPr/>
            <p:nvPr/>
          </p:nvSpPr>
          <p:spPr>
            <a:xfrm>
              <a:off x="10025117"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088EFD5-E4DC-C89D-8B01-359626E6E0AA}"/>
                </a:ext>
              </a:extLst>
            </p:cNvPr>
            <p:cNvSpPr/>
            <p:nvPr/>
          </p:nvSpPr>
          <p:spPr>
            <a:xfrm>
              <a:off x="10363636"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39EC9B6-0F82-FE6B-9D29-463A73B661A2}"/>
                </a:ext>
              </a:extLst>
            </p:cNvPr>
            <p:cNvSpPr/>
            <p:nvPr/>
          </p:nvSpPr>
          <p:spPr>
            <a:xfrm>
              <a:off x="10702155"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83AC7CC3-386E-CDCC-8DFD-179781B4568E}"/>
                </a:ext>
              </a:extLst>
            </p:cNvPr>
            <p:cNvSpPr/>
            <p:nvPr/>
          </p:nvSpPr>
          <p:spPr>
            <a:xfrm>
              <a:off x="11040674"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ACCD851-7804-F41B-C078-4EAF0345838B}"/>
                </a:ext>
              </a:extLst>
            </p:cNvPr>
            <p:cNvSpPr/>
            <p:nvPr/>
          </p:nvSpPr>
          <p:spPr>
            <a:xfrm>
              <a:off x="11379196" y="413467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AE76C0B-2AF2-6714-1D47-2BF8361C130A}"/>
                </a:ext>
              </a:extLst>
            </p:cNvPr>
            <p:cNvSpPr/>
            <p:nvPr/>
          </p:nvSpPr>
          <p:spPr>
            <a:xfrm>
              <a:off x="9348079"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38BA43E-90D9-87FF-04CA-99D67B943C49}"/>
                </a:ext>
              </a:extLst>
            </p:cNvPr>
            <p:cNvSpPr/>
            <p:nvPr/>
          </p:nvSpPr>
          <p:spPr>
            <a:xfrm>
              <a:off x="9686598"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5480B93-49E8-14BA-9B5F-0EDEB6BF2FED}"/>
                </a:ext>
              </a:extLst>
            </p:cNvPr>
            <p:cNvSpPr/>
            <p:nvPr/>
          </p:nvSpPr>
          <p:spPr>
            <a:xfrm>
              <a:off x="10025117"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A268B9C8-307E-A885-2C56-36876AF08400}"/>
                </a:ext>
              </a:extLst>
            </p:cNvPr>
            <p:cNvSpPr/>
            <p:nvPr/>
          </p:nvSpPr>
          <p:spPr>
            <a:xfrm>
              <a:off x="10363636"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43A9273D-ADB7-49BF-F5A6-B8FE72F85CA6}"/>
                </a:ext>
              </a:extLst>
            </p:cNvPr>
            <p:cNvSpPr/>
            <p:nvPr/>
          </p:nvSpPr>
          <p:spPr>
            <a:xfrm>
              <a:off x="10702155"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60000"/>
                    <a:lumOff val="40000"/>
                  </a:schemeClr>
                </a:solidFill>
              </a:endParaRPr>
            </a:p>
          </p:txBody>
        </p:sp>
        <p:sp>
          <p:nvSpPr>
            <p:cNvPr id="26" name="矩形 25">
              <a:extLst>
                <a:ext uri="{FF2B5EF4-FFF2-40B4-BE49-F238E27FC236}">
                  <a16:creationId xmlns:a16="http://schemas.microsoft.com/office/drawing/2014/main" id="{36181126-F571-AE0B-494D-8E0CC855DE7D}"/>
                </a:ext>
              </a:extLst>
            </p:cNvPr>
            <p:cNvSpPr/>
            <p:nvPr/>
          </p:nvSpPr>
          <p:spPr>
            <a:xfrm>
              <a:off x="11040674"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E6EAEC4A-7D1F-AB82-84A3-11EFBAEFF402}"/>
                </a:ext>
              </a:extLst>
            </p:cNvPr>
            <p:cNvSpPr/>
            <p:nvPr/>
          </p:nvSpPr>
          <p:spPr>
            <a:xfrm>
              <a:off x="11379196" y="3768918"/>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EDBACE18-7432-337A-D1CE-1834D5D12706}"/>
                </a:ext>
              </a:extLst>
            </p:cNvPr>
            <p:cNvSpPr/>
            <p:nvPr/>
          </p:nvSpPr>
          <p:spPr>
            <a:xfrm>
              <a:off x="9348079" y="341906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矩形 28">
              <a:extLst>
                <a:ext uri="{FF2B5EF4-FFF2-40B4-BE49-F238E27FC236}">
                  <a16:creationId xmlns:a16="http://schemas.microsoft.com/office/drawing/2014/main" id="{8ACB39FA-9940-74CA-1AC3-76AB7881D33D}"/>
                </a:ext>
              </a:extLst>
            </p:cNvPr>
            <p:cNvSpPr/>
            <p:nvPr/>
          </p:nvSpPr>
          <p:spPr>
            <a:xfrm>
              <a:off x="9686598" y="341906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0" name="矩形 29">
              <a:extLst>
                <a:ext uri="{FF2B5EF4-FFF2-40B4-BE49-F238E27FC236}">
                  <a16:creationId xmlns:a16="http://schemas.microsoft.com/office/drawing/2014/main" id="{19C9C391-7323-F566-F49F-46CD613AF60F}"/>
                </a:ext>
              </a:extLst>
            </p:cNvPr>
            <p:cNvSpPr/>
            <p:nvPr/>
          </p:nvSpPr>
          <p:spPr>
            <a:xfrm>
              <a:off x="10025117" y="3419060"/>
              <a:ext cx="333955" cy="349858"/>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矩形 30">
              <a:extLst>
                <a:ext uri="{FF2B5EF4-FFF2-40B4-BE49-F238E27FC236}">
                  <a16:creationId xmlns:a16="http://schemas.microsoft.com/office/drawing/2014/main" id="{9088EFD5-E4DC-C89D-8B01-359626E6E0AA}"/>
                </a:ext>
              </a:extLst>
            </p:cNvPr>
            <p:cNvSpPr/>
            <p:nvPr/>
          </p:nvSpPr>
          <p:spPr>
            <a:xfrm>
              <a:off x="10363636" y="3419060"/>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矩形 31">
              <a:extLst>
                <a:ext uri="{FF2B5EF4-FFF2-40B4-BE49-F238E27FC236}">
                  <a16:creationId xmlns:a16="http://schemas.microsoft.com/office/drawing/2014/main" id="{339EC9B6-0F82-FE6B-9D29-463A73B661A2}"/>
                </a:ext>
              </a:extLst>
            </p:cNvPr>
            <p:cNvSpPr/>
            <p:nvPr/>
          </p:nvSpPr>
          <p:spPr>
            <a:xfrm>
              <a:off x="10702155" y="3419060"/>
              <a:ext cx="333955" cy="34985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3" name="矩形 32">
              <a:extLst>
                <a:ext uri="{FF2B5EF4-FFF2-40B4-BE49-F238E27FC236}">
                  <a16:creationId xmlns:a16="http://schemas.microsoft.com/office/drawing/2014/main" id="{83AC7CC3-386E-CDCC-8DFD-179781B4568E}"/>
                </a:ext>
              </a:extLst>
            </p:cNvPr>
            <p:cNvSpPr/>
            <p:nvPr/>
          </p:nvSpPr>
          <p:spPr>
            <a:xfrm>
              <a:off x="11040674" y="341906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4" name="矩形 33">
              <a:extLst>
                <a:ext uri="{FF2B5EF4-FFF2-40B4-BE49-F238E27FC236}">
                  <a16:creationId xmlns:a16="http://schemas.microsoft.com/office/drawing/2014/main" id="{EACCD851-7804-F41B-C078-4EAF0345838B}"/>
                </a:ext>
              </a:extLst>
            </p:cNvPr>
            <p:cNvSpPr/>
            <p:nvPr/>
          </p:nvSpPr>
          <p:spPr>
            <a:xfrm>
              <a:off x="11379196" y="341906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矩形 34">
              <a:extLst>
                <a:ext uri="{FF2B5EF4-FFF2-40B4-BE49-F238E27FC236}">
                  <a16:creationId xmlns:a16="http://schemas.microsoft.com/office/drawing/2014/main" id="{EDBACE18-7432-337A-D1CE-1834D5D12706}"/>
                </a:ext>
              </a:extLst>
            </p:cNvPr>
            <p:cNvSpPr/>
            <p:nvPr/>
          </p:nvSpPr>
          <p:spPr>
            <a:xfrm>
              <a:off x="9348380" y="3079142"/>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6" name="矩形 35">
              <a:extLst>
                <a:ext uri="{FF2B5EF4-FFF2-40B4-BE49-F238E27FC236}">
                  <a16:creationId xmlns:a16="http://schemas.microsoft.com/office/drawing/2014/main" id="{8ACB39FA-9940-74CA-1AC3-76AB7881D33D}"/>
                </a:ext>
              </a:extLst>
            </p:cNvPr>
            <p:cNvSpPr/>
            <p:nvPr/>
          </p:nvSpPr>
          <p:spPr>
            <a:xfrm>
              <a:off x="9686899" y="3079142"/>
              <a:ext cx="333955" cy="349858"/>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矩形 36">
              <a:extLst>
                <a:ext uri="{FF2B5EF4-FFF2-40B4-BE49-F238E27FC236}">
                  <a16:creationId xmlns:a16="http://schemas.microsoft.com/office/drawing/2014/main" id="{19C9C391-7323-F566-F49F-46CD613AF60F}"/>
                </a:ext>
              </a:extLst>
            </p:cNvPr>
            <p:cNvSpPr/>
            <p:nvPr/>
          </p:nvSpPr>
          <p:spPr>
            <a:xfrm>
              <a:off x="10025418" y="3079142"/>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矩形 37">
              <a:extLst>
                <a:ext uri="{FF2B5EF4-FFF2-40B4-BE49-F238E27FC236}">
                  <a16:creationId xmlns:a16="http://schemas.microsoft.com/office/drawing/2014/main" id="{9088EFD5-E4DC-C89D-8B01-359626E6E0AA}"/>
                </a:ext>
              </a:extLst>
            </p:cNvPr>
            <p:cNvSpPr/>
            <p:nvPr/>
          </p:nvSpPr>
          <p:spPr>
            <a:xfrm>
              <a:off x="10363937" y="3079142"/>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矩形 38">
              <a:extLst>
                <a:ext uri="{FF2B5EF4-FFF2-40B4-BE49-F238E27FC236}">
                  <a16:creationId xmlns:a16="http://schemas.microsoft.com/office/drawing/2014/main" id="{339EC9B6-0F82-FE6B-9D29-463A73B661A2}"/>
                </a:ext>
              </a:extLst>
            </p:cNvPr>
            <p:cNvSpPr/>
            <p:nvPr/>
          </p:nvSpPr>
          <p:spPr>
            <a:xfrm>
              <a:off x="10702456" y="3079142"/>
              <a:ext cx="333955" cy="34985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 name="矩形 39">
              <a:extLst>
                <a:ext uri="{FF2B5EF4-FFF2-40B4-BE49-F238E27FC236}">
                  <a16:creationId xmlns:a16="http://schemas.microsoft.com/office/drawing/2014/main" id="{83AC7CC3-386E-CDCC-8DFD-179781B4568E}"/>
                </a:ext>
              </a:extLst>
            </p:cNvPr>
            <p:cNvSpPr/>
            <p:nvPr/>
          </p:nvSpPr>
          <p:spPr>
            <a:xfrm>
              <a:off x="11040975" y="3079142"/>
              <a:ext cx="333955" cy="349858"/>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矩形 41">
              <a:extLst>
                <a:ext uri="{FF2B5EF4-FFF2-40B4-BE49-F238E27FC236}">
                  <a16:creationId xmlns:a16="http://schemas.microsoft.com/office/drawing/2014/main" id="{EDBACE18-7432-337A-D1CE-1834D5D12706}"/>
                </a:ext>
              </a:extLst>
            </p:cNvPr>
            <p:cNvSpPr/>
            <p:nvPr/>
          </p:nvSpPr>
          <p:spPr>
            <a:xfrm>
              <a:off x="9348079" y="2723321"/>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3" name="矩形 42">
              <a:extLst>
                <a:ext uri="{FF2B5EF4-FFF2-40B4-BE49-F238E27FC236}">
                  <a16:creationId xmlns:a16="http://schemas.microsoft.com/office/drawing/2014/main" id="{8ACB39FA-9940-74CA-1AC3-76AB7881D33D}"/>
                </a:ext>
              </a:extLst>
            </p:cNvPr>
            <p:cNvSpPr/>
            <p:nvPr/>
          </p:nvSpPr>
          <p:spPr>
            <a:xfrm>
              <a:off x="9686598" y="2723321"/>
              <a:ext cx="333955" cy="349858"/>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矩形 43">
              <a:extLst>
                <a:ext uri="{FF2B5EF4-FFF2-40B4-BE49-F238E27FC236}">
                  <a16:creationId xmlns:a16="http://schemas.microsoft.com/office/drawing/2014/main" id="{19C9C391-7323-F566-F49F-46CD613AF60F}"/>
                </a:ext>
              </a:extLst>
            </p:cNvPr>
            <p:cNvSpPr/>
            <p:nvPr/>
          </p:nvSpPr>
          <p:spPr>
            <a:xfrm>
              <a:off x="10025117" y="2723321"/>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5" name="矩形 44">
              <a:extLst>
                <a:ext uri="{FF2B5EF4-FFF2-40B4-BE49-F238E27FC236}">
                  <a16:creationId xmlns:a16="http://schemas.microsoft.com/office/drawing/2014/main" id="{9088EFD5-E4DC-C89D-8B01-359626E6E0AA}"/>
                </a:ext>
              </a:extLst>
            </p:cNvPr>
            <p:cNvSpPr/>
            <p:nvPr/>
          </p:nvSpPr>
          <p:spPr>
            <a:xfrm>
              <a:off x="10363636" y="2723321"/>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6" name="矩形 45">
              <a:extLst>
                <a:ext uri="{FF2B5EF4-FFF2-40B4-BE49-F238E27FC236}">
                  <a16:creationId xmlns:a16="http://schemas.microsoft.com/office/drawing/2014/main" id="{339EC9B6-0F82-FE6B-9D29-463A73B661A2}"/>
                </a:ext>
              </a:extLst>
            </p:cNvPr>
            <p:cNvSpPr/>
            <p:nvPr/>
          </p:nvSpPr>
          <p:spPr>
            <a:xfrm>
              <a:off x="10702155" y="2723321"/>
              <a:ext cx="333955" cy="34985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46">
              <a:extLst>
                <a:ext uri="{FF2B5EF4-FFF2-40B4-BE49-F238E27FC236}">
                  <a16:creationId xmlns:a16="http://schemas.microsoft.com/office/drawing/2014/main" id="{83AC7CC3-386E-CDCC-8DFD-179781B4568E}"/>
                </a:ext>
              </a:extLst>
            </p:cNvPr>
            <p:cNvSpPr/>
            <p:nvPr/>
          </p:nvSpPr>
          <p:spPr>
            <a:xfrm>
              <a:off x="11040674" y="2723321"/>
              <a:ext cx="333955" cy="34985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8" name="矩形 47">
              <a:extLst>
                <a:ext uri="{FF2B5EF4-FFF2-40B4-BE49-F238E27FC236}">
                  <a16:creationId xmlns:a16="http://schemas.microsoft.com/office/drawing/2014/main" id="{EACCD851-7804-F41B-C078-4EAF0345838B}"/>
                </a:ext>
              </a:extLst>
            </p:cNvPr>
            <p:cNvSpPr/>
            <p:nvPr/>
          </p:nvSpPr>
          <p:spPr>
            <a:xfrm>
              <a:off x="11379196" y="2723321"/>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 name="矩形 48">
              <a:extLst>
                <a:ext uri="{FF2B5EF4-FFF2-40B4-BE49-F238E27FC236}">
                  <a16:creationId xmlns:a16="http://schemas.microsoft.com/office/drawing/2014/main" id="{EDBACE18-7432-337A-D1CE-1834D5D12706}"/>
                </a:ext>
              </a:extLst>
            </p:cNvPr>
            <p:cNvSpPr/>
            <p:nvPr/>
          </p:nvSpPr>
          <p:spPr>
            <a:xfrm>
              <a:off x="9348079" y="2371476"/>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0" name="矩形 49">
              <a:extLst>
                <a:ext uri="{FF2B5EF4-FFF2-40B4-BE49-F238E27FC236}">
                  <a16:creationId xmlns:a16="http://schemas.microsoft.com/office/drawing/2014/main" id="{8ACB39FA-9940-74CA-1AC3-76AB7881D33D}"/>
                </a:ext>
              </a:extLst>
            </p:cNvPr>
            <p:cNvSpPr/>
            <p:nvPr/>
          </p:nvSpPr>
          <p:spPr>
            <a:xfrm>
              <a:off x="9686598" y="2371476"/>
              <a:ext cx="333955" cy="34985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1" name="矩形 50">
              <a:extLst>
                <a:ext uri="{FF2B5EF4-FFF2-40B4-BE49-F238E27FC236}">
                  <a16:creationId xmlns:a16="http://schemas.microsoft.com/office/drawing/2014/main" id="{19C9C391-7323-F566-F49F-46CD613AF60F}"/>
                </a:ext>
              </a:extLst>
            </p:cNvPr>
            <p:cNvSpPr/>
            <p:nvPr/>
          </p:nvSpPr>
          <p:spPr>
            <a:xfrm>
              <a:off x="10025117" y="2371476"/>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2" name="矩形 51">
              <a:extLst>
                <a:ext uri="{FF2B5EF4-FFF2-40B4-BE49-F238E27FC236}">
                  <a16:creationId xmlns:a16="http://schemas.microsoft.com/office/drawing/2014/main" id="{9088EFD5-E4DC-C89D-8B01-359626E6E0AA}"/>
                </a:ext>
              </a:extLst>
            </p:cNvPr>
            <p:cNvSpPr/>
            <p:nvPr/>
          </p:nvSpPr>
          <p:spPr>
            <a:xfrm>
              <a:off x="10363636" y="2371476"/>
              <a:ext cx="333955" cy="349858"/>
            </a:xfrm>
            <a:prstGeom prst="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3" name="矩形 52">
              <a:extLst>
                <a:ext uri="{FF2B5EF4-FFF2-40B4-BE49-F238E27FC236}">
                  <a16:creationId xmlns:a16="http://schemas.microsoft.com/office/drawing/2014/main" id="{339EC9B6-0F82-FE6B-9D29-463A73B661A2}"/>
                </a:ext>
              </a:extLst>
            </p:cNvPr>
            <p:cNvSpPr/>
            <p:nvPr/>
          </p:nvSpPr>
          <p:spPr>
            <a:xfrm>
              <a:off x="10702155" y="2371476"/>
              <a:ext cx="333955" cy="34985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 name="矩形 53">
              <a:extLst>
                <a:ext uri="{FF2B5EF4-FFF2-40B4-BE49-F238E27FC236}">
                  <a16:creationId xmlns:a16="http://schemas.microsoft.com/office/drawing/2014/main" id="{83AC7CC3-386E-CDCC-8DFD-179781B4568E}"/>
                </a:ext>
              </a:extLst>
            </p:cNvPr>
            <p:cNvSpPr/>
            <p:nvPr/>
          </p:nvSpPr>
          <p:spPr>
            <a:xfrm>
              <a:off x="11040674" y="2371476"/>
              <a:ext cx="333955" cy="349858"/>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5" name="矩形 54">
              <a:extLst>
                <a:ext uri="{FF2B5EF4-FFF2-40B4-BE49-F238E27FC236}">
                  <a16:creationId xmlns:a16="http://schemas.microsoft.com/office/drawing/2014/main" id="{EACCD851-7804-F41B-C078-4EAF0345838B}"/>
                </a:ext>
              </a:extLst>
            </p:cNvPr>
            <p:cNvSpPr/>
            <p:nvPr/>
          </p:nvSpPr>
          <p:spPr>
            <a:xfrm>
              <a:off x="11379196" y="2371476"/>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6" name="矩形 55">
              <a:extLst>
                <a:ext uri="{FF2B5EF4-FFF2-40B4-BE49-F238E27FC236}">
                  <a16:creationId xmlns:a16="http://schemas.microsoft.com/office/drawing/2014/main" id="{EDBACE18-7432-337A-D1CE-1834D5D12706}"/>
                </a:ext>
              </a:extLst>
            </p:cNvPr>
            <p:cNvSpPr/>
            <p:nvPr/>
          </p:nvSpPr>
          <p:spPr>
            <a:xfrm>
              <a:off x="9351767"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7" name="矩形 56">
              <a:extLst>
                <a:ext uri="{FF2B5EF4-FFF2-40B4-BE49-F238E27FC236}">
                  <a16:creationId xmlns:a16="http://schemas.microsoft.com/office/drawing/2014/main" id="{8ACB39FA-9940-74CA-1AC3-76AB7881D33D}"/>
                </a:ext>
              </a:extLst>
            </p:cNvPr>
            <p:cNvSpPr/>
            <p:nvPr/>
          </p:nvSpPr>
          <p:spPr>
            <a:xfrm>
              <a:off x="9690286"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9" name="矩形 58">
              <a:extLst>
                <a:ext uri="{FF2B5EF4-FFF2-40B4-BE49-F238E27FC236}">
                  <a16:creationId xmlns:a16="http://schemas.microsoft.com/office/drawing/2014/main" id="{9088EFD5-E4DC-C89D-8B01-359626E6E0AA}"/>
                </a:ext>
              </a:extLst>
            </p:cNvPr>
            <p:cNvSpPr/>
            <p:nvPr/>
          </p:nvSpPr>
          <p:spPr>
            <a:xfrm>
              <a:off x="10367324"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0" name="矩形 59">
              <a:extLst>
                <a:ext uri="{FF2B5EF4-FFF2-40B4-BE49-F238E27FC236}">
                  <a16:creationId xmlns:a16="http://schemas.microsoft.com/office/drawing/2014/main" id="{339EC9B6-0F82-FE6B-9D29-463A73B661A2}"/>
                </a:ext>
              </a:extLst>
            </p:cNvPr>
            <p:cNvSpPr/>
            <p:nvPr/>
          </p:nvSpPr>
          <p:spPr>
            <a:xfrm>
              <a:off x="10705843"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1" name="矩形 60">
              <a:extLst>
                <a:ext uri="{FF2B5EF4-FFF2-40B4-BE49-F238E27FC236}">
                  <a16:creationId xmlns:a16="http://schemas.microsoft.com/office/drawing/2014/main" id="{83AC7CC3-386E-CDCC-8DFD-179781B4568E}"/>
                </a:ext>
              </a:extLst>
            </p:cNvPr>
            <p:cNvSpPr/>
            <p:nvPr/>
          </p:nvSpPr>
          <p:spPr>
            <a:xfrm>
              <a:off x="11044362"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2" name="矩形 61">
              <a:extLst>
                <a:ext uri="{FF2B5EF4-FFF2-40B4-BE49-F238E27FC236}">
                  <a16:creationId xmlns:a16="http://schemas.microsoft.com/office/drawing/2014/main" id="{EACCD851-7804-F41B-C078-4EAF0345838B}"/>
                </a:ext>
              </a:extLst>
            </p:cNvPr>
            <p:cNvSpPr/>
            <p:nvPr/>
          </p:nvSpPr>
          <p:spPr>
            <a:xfrm>
              <a:off x="11382884"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8" name="直接连接符 7">
              <a:extLst>
                <a:ext uri="{FF2B5EF4-FFF2-40B4-BE49-F238E27FC236}">
                  <a16:creationId xmlns:a16="http://schemas.microsoft.com/office/drawing/2014/main" id="{76B2B229-6919-BC0F-7D08-4E1239040A7E}"/>
                </a:ext>
              </a:extLst>
            </p:cNvPr>
            <p:cNvCxnSpPr>
              <a:cxnSpLocks/>
              <a:stCxn id="26" idx="1"/>
            </p:cNvCxnSpPr>
            <p:nvPr/>
          </p:nvCxnSpPr>
          <p:spPr>
            <a:xfrm flipH="1" flipV="1">
              <a:off x="9867569" y="3641697"/>
              <a:ext cx="1173105" cy="3021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481F873-0CF1-2CB5-B6C2-F2C280B7399D}"/>
                </a:ext>
              </a:extLst>
            </p:cNvPr>
            <p:cNvCxnSpPr>
              <a:cxnSpLocks/>
            </p:cNvCxnSpPr>
            <p:nvPr/>
          </p:nvCxnSpPr>
          <p:spPr>
            <a:xfrm flipH="1" flipV="1">
              <a:off x="9597224" y="2369489"/>
              <a:ext cx="270345" cy="12722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19C9C391-7323-F566-F49F-46CD613AF60F}"/>
                </a:ext>
              </a:extLst>
            </p:cNvPr>
            <p:cNvSpPr/>
            <p:nvPr/>
          </p:nvSpPr>
          <p:spPr>
            <a:xfrm>
              <a:off x="10028805" y="2011680"/>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12" name="直接连接符 11">
              <a:extLst>
                <a:ext uri="{FF2B5EF4-FFF2-40B4-BE49-F238E27FC236}">
                  <a16:creationId xmlns:a16="http://schemas.microsoft.com/office/drawing/2014/main" id="{A579DD21-40C9-0FA1-D25D-46D3673BA580}"/>
                </a:ext>
              </a:extLst>
            </p:cNvPr>
            <p:cNvCxnSpPr/>
            <p:nvPr/>
          </p:nvCxnSpPr>
          <p:spPr>
            <a:xfrm flipV="1">
              <a:off x="9629029" y="2186609"/>
              <a:ext cx="1113183" cy="18288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8B5E0988-86CE-F63B-56C0-AB6A7F6F139A}"/>
                </a:ext>
              </a:extLst>
            </p:cNvPr>
            <p:cNvCxnSpPr>
              <a:cxnSpLocks/>
            </p:cNvCxnSpPr>
            <p:nvPr/>
          </p:nvCxnSpPr>
          <p:spPr>
            <a:xfrm>
              <a:off x="10734261" y="2186609"/>
              <a:ext cx="866692" cy="60728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EACCD851-7804-F41B-C078-4EAF0345838B}"/>
                </a:ext>
              </a:extLst>
            </p:cNvPr>
            <p:cNvSpPr/>
            <p:nvPr/>
          </p:nvSpPr>
          <p:spPr>
            <a:xfrm>
              <a:off x="11379497" y="3079142"/>
              <a:ext cx="333955" cy="3498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6" name="直接连接符 5">
              <a:extLst>
                <a:ext uri="{FF2B5EF4-FFF2-40B4-BE49-F238E27FC236}">
                  <a16:creationId xmlns:a16="http://schemas.microsoft.com/office/drawing/2014/main" id="{D39FA5A5-93E9-4C8F-C51E-E311B5575272}"/>
                </a:ext>
              </a:extLst>
            </p:cNvPr>
            <p:cNvCxnSpPr>
              <a:cxnSpLocks/>
              <a:endCxn id="25" idx="3"/>
            </p:cNvCxnSpPr>
            <p:nvPr/>
          </p:nvCxnSpPr>
          <p:spPr>
            <a:xfrm flipH="1">
              <a:off x="11036110" y="2759103"/>
              <a:ext cx="564843" cy="11847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15362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1090632" y="830699"/>
            <a:ext cx="10010735" cy="2848554"/>
          </a:xfrm>
        </p:spPr>
        <p:txBody>
          <a:bodyPr>
            <a:normAutofit/>
          </a:bodyPr>
          <a:lstStyle/>
          <a:p>
            <a:pPr algn="l">
              <a:lnSpc>
                <a:spcPct val="150000"/>
              </a:lnSpc>
            </a:pPr>
            <a:r>
              <a:rPr lang="zh-CN" altLang="en-US" sz="2600" dirty="0">
                <a:latin typeface="华光仿宋_CNKI" panose="02000500000000000000" pitchFamily="2" charset="-122"/>
                <a:ea typeface="华光仿宋_CNKI" panose="02000500000000000000" pitchFamily="2" charset="-122"/>
              </a:rPr>
              <a:t>   </a:t>
            </a:r>
            <a:r>
              <a:rPr lang="en-US" altLang="zh-CN" sz="2600" dirty="0" err="1">
                <a:latin typeface="华光仿宋_CNKI" panose="02000500000000000000" pitchFamily="2" charset="-122"/>
                <a:ea typeface="华光仿宋_CNKI" panose="02000500000000000000" pitchFamily="2" charset="-122"/>
              </a:rPr>
              <a:t>Bresenham</a:t>
            </a:r>
            <a:r>
              <a:rPr lang="zh-CN" altLang="en-US" sz="2600" dirty="0">
                <a:latin typeface="华光仿宋_CNKI" panose="02000500000000000000" pitchFamily="2" charset="-122"/>
                <a:ea typeface="华光仿宋_CNKI" panose="02000500000000000000" pitchFamily="2" charset="-122"/>
              </a:rPr>
              <a:t>区域反走样算法首先将多边形每条边与具有一定面积的像素相交的面积大小分为</a:t>
            </a:r>
            <a:r>
              <a:rPr lang="en-US" altLang="zh-CN" sz="2600" dirty="0">
                <a:latin typeface="华光仿宋_CNKI" panose="02000500000000000000" pitchFamily="2" charset="-122"/>
                <a:ea typeface="华光仿宋_CNKI" panose="02000500000000000000" pitchFamily="2" charset="-122"/>
              </a:rPr>
              <a:t>8</a:t>
            </a:r>
            <a:r>
              <a:rPr lang="zh-CN" altLang="en-US" sz="2600" dirty="0">
                <a:latin typeface="华光仿宋_CNKI" panose="02000500000000000000" pitchFamily="2" charset="-122"/>
                <a:ea typeface="华光仿宋_CNKI" panose="02000500000000000000" pitchFamily="2" charset="-122"/>
              </a:rPr>
              <a:t>个等级，如果相交的面积小于</a:t>
            </a:r>
            <a:r>
              <a:rPr lang="en-US" altLang="zh-CN" sz="2600" dirty="0">
                <a:latin typeface="华光仿宋_CNKI" panose="02000500000000000000" pitchFamily="2" charset="-122"/>
                <a:ea typeface="华光仿宋_CNKI" panose="02000500000000000000" pitchFamily="2" charset="-122"/>
              </a:rPr>
              <a:t>1/8</a:t>
            </a:r>
            <a:r>
              <a:rPr lang="zh-CN" altLang="en-US" sz="2600" dirty="0">
                <a:latin typeface="华光仿宋_CNKI" panose="02000500000000000000" pitchFamily="2" charset="-122"/>
                <a:ea typeface="华光仿宋_CNKI" panose="02000500000000000000" pitchFamily="2" charset="-122"/>
              </a:rPr>
              <a:t>，则其灰度等级为</a:t>
            </a:r>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，介于</a:t>
            </a:r>
            <a:r>
              <a:rPr lang="en-US" altLang="zh-CN" sz="2600" dirty="0">
                <a:latin typeface="华光仿宋_CNKI" panose="02000500000000000000" pitchFamily="2" charset="-122"/>
                <a:ea typeface="华光仿宋_CNKI" panose="02000500000000000000" pitchFamily="2" charset="-122"/>
              </a:rPr>
              <a:t>1/8</a:t>
            </a:r>
            <a:r>
              <a:rPr lang="zh-CN" altLang="en-US" sz="2600" dirty="0">
                <a:latin typeface="华光仿宋_CNKI" panose="02000500000000000000" pitchFamily="2" charset="-122"/>
                <a:ea typeface="华光仿宋_CNKI" panose="02000500000000000000" pitchFamily="2" charset="-122"/>
              </a:rPr>
              <a:t>到</a:t>
            </a:r>
            <a:r>
              <a:rPr lang="en-US" altLang="zh-CN" sz="2600" dirty="0">
                <a:latin typeface="华光仿宋_CNKI" panose="02000500000000000000" pitchFamily="2" charset="-122"/>
                <a:ea typeface="华光仿宋_CNKI" panose="02000500000000000000" pitchFamily="2" charset="-122"/>
              </a:rPr>
              <a:t>2/8</a:t>
            </a:r>
            <a:r>
              <a:rPr lang="zh-CN" altLang="en-US" sz="2600" dirty="0">
                <a:latin typeface="华光仿宋_CNKI" panose="02000500000000000000" pitchFamily="2" charset="-122"/>
                <a:ea typeface="华光仿宋_CNKI" panose="02000500000000000000" pitchFamily="2" charset="-122"/>
              </a:rPr>
              <a:t>之间，则为</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，依次类推。如下图所示。从而产生如下右图所示的效果。</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p:grpSp>
        <p:nvGrpSpPr>
          <p:cNvPr id="7" name="Group 59">
            <a:extLst>
              <a:ext uri="{FF2B5EF4-FFF2-40B4-BE49-F238E27FC236}">
                <a16:creationId xmlns:a16="http://schemas.microsoft.com/office/drawing/2014/main" id="{B87117C0-9FC2-1F8B-7934-70DBD02F0285}"/>
              </a:ext>
            </a:extLst>
          </p:cNvPr>
          <p:cNvGrpSpPr>
            <a:grpSpLocks/>
          </p:cNvGrpSpPr>
          <p:nvPr/>
        </p:nvGrpSpPr>
        <p:grpSpPr bwMode="auto">
          <a:xfrm>
            <a:off x="2135464" y="3679253"/>
            <a:ext cx="3457575" cy="1095375"/>
            <a:chOff x="2925" y="2432"/>
            <a:chExt cx="2178" cy="690"/>
          </a:xfrm>
        </p:grpSpPr>
        <p:grpSp>
          <p:nvGrpSpPr>
            <p:cNvPr id="9" name="Group 55">
              <a:extLst>
                <a:ext uri="{FF2B5EF4-FFF2-40B4-BE49-F238E27FC236}">
                  <a16:creationId xmlns:a16="http://schemas.microsoft.com/office/drawing/2014/main" id="{17645BF7-C23D-000D-0139-C9C40DC1912E}"/>
                </a:ext>
              </a:extLst>
            </p:cNvPr>
            <p:cNvGrpSpPr>
              <a:grpSpLocks/>
            </p:cNvGrpSpPr>
            <p:nvPr/>
          </p:nvGrpSpPr>
          <p:grpSpPr bwMode="auto">
            <a:xfrm>
              <a:off x="2925" y="2850"/>
              <a:ext cx="2178" cy="272"/>
              <a:chOff x="2925" y="3249"/>
              <a:chExt cx="2178" cy="272"/>
            </a:xfrm>
          </p:grpSpPr>
          <p:sp>
            <p:nvSpPr>
              <p:cNvPr id="13" name="Rectangle 41">
                <a:extLst>
                  <a:ext uri="{FF2B5EF4-FFF2-40B4-BE49-F238E27FC236}">
                    <a16:creationId xmlns:a16="http://schemas.microsoft.com/office/drawing/2014/main" id="{E050F4A6-4CE2-3B16-8579-619A2C63A659}"/>
                  </a:ext>
                </a:extLst>
              </p:cNvPr>
              <p:cNvSpPr>
                <a:spLocks noChangeArrowheads="1"/>
              </p:cNvSpPr>
              <p:nvPr/>
            </p:nvSpPr>
            <p:spPr bwMode="auto">
              <a:xfrm>
                <a:off x="2925" y="3249"/>
                <a:ext cx="273" cy="272"/>
              </a:xfrm>
              <a:prstGeom prst="rect">
                <a:avLst/>
              </a:prstGeom>
              <a:solidFill>
                <a:schemeClr val="bg2"/>
              </a:solidFill>
              <a:ln w="9525" cap="sq"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p>
            </p:txBody>
          </p:sp>
          <p:sp>
            <p:nvSpPr>
              <p:cNvPr id="63" name="Rectangle 42">
                <a:extLst>
                  <a:ext uri="{FF2B5EF4-FFF2-40B4-BE49-F238E27FC236}">
                    <a16:creationId xmlns:a16="http://schemas.microsoft.com/office/drawing/2014/main" id="{36797FB4-A7DD-AFE6-3654-C3B630C5A44A}"/>
                  </a:ext>
                </a:extLst>
              </p:cNvPr>
              <p:cNvSpPr>
                <a:spLocks noChangeArrowheads="1"/>
              </p:cNvSpPr>
              <p:nvPr/>
            </p:nvSpPr>
            <p:spPr bwMode="auto">
              <a:xfrm>
                <a:off x="3197" y="3249"/>
                <a:ext cx="273" cy="272"/>
              </a:xfrm>
              <a:prstGeom prst="rect">
                <a:avLst/>
              </a:prstGeom>
              <a:solidFill>
                <a:srgbClr val="B5B5FF"/>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 name="Rectangle 43">
                <a:extLst>
                  <a:ext uri="{FF2B5EF4-FFF2-40B4-BE49-F238E27FC236}">
                    <a16:creationId xmlns:a16="http://schemas.microsoft.com/office/drawing/2014/main" id="{6B09830D-4C56-6E76-4AD0-652B975C1B70}"/>
                  </a:ext>
                </a:extLst>
              </p:cNvPr>
              <p:cNvSpPr>
                <a:spLocks noChangeArrowheads="1"/>
              </p:cNvSpPr>
              <p:nvPr/>
            </p:nvSpPr>
            <p:spPr bwMode="auto">
              <a:xfrm>
                <a:off x="3469" y="3249"/>
                <a:ext cx="273" cy="272"/>
              </a:xfrm>
              <a:prstGeom prst="rect">
                <a:avLst/>
              </a:prstGeom>
              <a:solidFill>
                <a:srgbClr val="7373FF"/>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5" name="Rectangle 44">
                <a:extLst>
                  <a:ext uri="{FF2B5EF4-FFF2-40B4-BE49-F238E27FC236}">
                    <a16:creationId xmlns:a16="http://schemas.microsoft.com/office/drawing/2014/main" id="{8312ED57-05EF-B4B1-74F6-E27DA92FD1C7}"/>
                  </a:ext>
                </a:extLst>
              </p:cNvPr>
              <p:cNvSpPr>
                <a:spLocks noChangeArrowheads="1"/>
              </p:cNvSpPr>
              <p:nvPr/>
            </p:nvSpPr>
            <p:spPr bwMode="auto">
              <a:xfrm>
                <a:off x="3741" y="3249"/>
                <a:ext cx="273" cy="272"/>
              </a:xfrm>
              <a:prstGeom prst="rect">
                <a:avLst/>
              </a:prstGeom>
              <a:solidFill>
                <a:srgbClr val="4343FF"/>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6" name="Rectangle 47">
                <a:extLst>
                  <a:ext uri="{FF2B5EF4-FFF2-40B4-BE49-F238E27FC236}">
                    <a16:creationId xmlns:a16="http://schemas.microsoft.com/office/drawing/2014/main" id="{6FA2047F-4208-B376-8632-D0C32460E865}"/>
                  </a:ext>
                </a:extLst>
              </p:cNvPr>
              <p:cNvSpPr>
                <a:spLocks noChangeArrowheads="1"/>
              </p:cNvSpPr>
              <p:nvPr/>
            </p:nvSpPr>
            <p:spPr bwMode="auto">
              <a:xfrm>
                <a:off x="4014" y="3249"/>
                <a:ext cx="273" cy="272"/>
              </a:xfrm>
              <a:prstGeom prst="rect">
                <a:avLst/>
              </a:prstGeom>
              <a:solidFill>
                <a:srgbClr val="2525FF"/>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7" name="Rectangle 48">
                <a:extLst>
                  <a:ext uri="{FF2B5EF4-FFF2-40B4-BE49-F238E27FC236}">
                    <a16:creationId xmlns:a16="http://schemas.microsoft.com/office/drawing/2014/main" id="{1F442ECB-8894-E15D-CC33-244396255FAD}"/>
                  </a:ext>
                </a:extLst>
              </p:cNvPr>
              <p:cNvSpPr>
                <a:spLocks noChangeArrowheads="1"/>
              </p:cNvSpPr>
              <p:nvPr/>
            </p:nvSpPr>
            <p:spPr bwMode="auto">
              <a:xfrm>
                <a:off x="4286" y="3249"/>
                <a:ext cx="273" cy="272"/>
              </a:xfrm>
              <a:prstGeom prst="rect">
                <a:avLst/>
              </a:prstGeom>
              <a:solidFill>
                <a:srgbClr val="0000E2"/>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8" name="Rectangle 49">
                <a:extLst>
                  <a:ext uri="{FF2B5EF4-FFF2-40B4-BE49-F238E27FC236}">
                    <a16:creationId xmlns:a16="http://schemas.microsoft.com/office/drawing/2014/main" id="{A175359E-681E-C3BD-0212-DC30CE709B53}"/>
                  </a:ext>
                </a:extLst>
              </p:cNvPr>
              <p:cNvSpPr>
                <a:spLocks noChangeArrowheads="1"/>
              </p:cNvSpPr>
              <p:nvPr/>
            </p:nvSpPr>
            <p:spPr bwMode="auto">
              <a:xfrm>
                <a:off x="4558" y="3249"/>
                <a:ext cx="273" cy="272"/>
              </a:xfrm>
              <a:prstGeom prst="rect">
                <a:avLst/>
              </a:prstGeom>
              <a:solidFill>
                <a:srgbClr val="00009C"/>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9" name="Rectangle 50">
                <a:extLst>
                  <a:ext uri="{FF2B5EF4-FFF2-40B4-BE49-F238E27FC236}">
                    <a16:creationId xmlns:a16="http://schemas.microsoft.com/office/drawing/2014/main" id="{63670286-530E-3A77-705D-F2FC9694F7B8}"/>
                  </a:ext>
                </a:extLst>
              </p:cNvPr>
              <p:cNvSpPr>
                <a:spLocks noChangeArrowheads="1"/>
              </p:cNvSpPr>
              <p:nvPr/>
            </p:nvSpPr>
            <p:spPr bwMode="auto">
              <a:xfrm>
                <a:off x="4830" y="3249"/>
                <a:ext cx="273" cy="272"/>
              </a:xfrm>
              <a:prstGeom prst="rect">
                <a:avLst/>
              </a:prstGeom>
              <a:solidFill>
                <a:srgbClr val="000052"/>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1" name="Text Box 56">
              <a:extLst>
                <a:ext uri="{FF2B5EF4-FFF2-40B4-BE49-F238E27FC236}">
                  <a16:creationId xmlns:a16="http://schemas.microsoft.com/office/drawing/2014/main" id="{0E270620-EBBB-8E4D-A2A7-1691CB93783E}"/>
                </a:ext>
              </a:extLst>
            </p:cNvPr>
            <p:cNvSpPr txBox="1">
              <a:spLocks noChangeArrowheads="1"/>
            </p:cNvSpPr>
            <p:nvPr/>
          </p:nvSpPr>
          <p:spPr bwMode="auto">
            <a:xfrm>
              <a:off x="3061" y="2432"/>
              <a:ext cx="1679" cy="3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cap="sq"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8</a:t>
              </a:r>
              <a:r>
                <a:rPr lang="zh-CN" altLang="en-US"/>
                <a:t>级灰度</a:t>
              </a:r>
            </a:p>
          </p:txBody>
        </p:sp>
      </p:grpSp>
      <p:sp>
        <p:nvSpPr>
          <p:cNvPr id="71" name="AutoShape 57">
            <a:extLst>
              <a:ext uri="{FF2B5EF4-FFF2-40B4-BE49-F238E27FC236}">
                <a16:creationId xmlns:a16="http://schemas.microsoft.com/office/drawing/2014/main" id="{36C2F694-77BB-2A04-E239-7DA9DC41D3E5}"/>
              </a:ext>
            </a:extLst>
          </p:cNvPr>
          <p:cNvSpPr>
            <a:spLocks/>
          </p:cNvSpPr>
          <p:nvPr/>
        </p:nvSpPr>
        <p:spPr bwMode="auto">
          <a:xfrm>
            <a:off x="1793123" y="5196847"/>
            <a:ext cx="1711325" cy="609600"/>
          </a:xfrm>
          <a:prstGeom prst="borderCallout2">
            <a:avLst>
              <a:gd name="adj1" fmla="val 18750"/>
              <a:gd name="adj2" fmla="val 70500"/>
              <a:gd name="adj3" fmla="val 18750"/>
              <a:gd name="adj4" fmla="val 70500"/>
              <a:gd name="adj5" fmla="val -69416"/>
              <a:gd name="adj6" fmla="val 30542"/>
            </a:avLst>
          </a:prstGeom>
          <a:noFill/>
          <a:ln w="9525" cap="sq" algn="ctr">
            <a:solidFill>
              <a:schemeClr val="tx1"/>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dirty="0"/>
              <a:t>0</a:t>
            </a:r>
            <a:r>
              <a:rPr lang="en-US" altLang="zh-CN" sz="2000" dirty="0">
                <a:latin typeface="宋体" panose="02010600030101010101" pitchFamily="2" charset="-122"/>
              </a:rPr>
              <a:t>≤</a:t>
            </a:r>
            <a:r>
              <a:rPr lang="zh-CN" altLang="en-US" sz="2000" dirty="0"/>
              <a:t>面积</a:t>
            </a:r>
            <a:r>
              <a:rPr lang="en-US" altLang="zh-CN" sz="2000" dirty="0"/>
              <a:t>≤1/8</a:t>
            </a:r>
            <a:endParaRPr lang="zh-CN" altLang="en-US" sz="2000" dirty="0"/>
          </a:p>
        </p:txBody>
      </p:sp>
      <p:sp>
        <p:nvSpPr>
          <p:cNvPr id="72" name="AutoShape 58">
            <a:extLst>
              <a:ext uri="{FF2B5EF4-FFF2-40B4-BE49-F238E27FC236}">
                <a16:creationId xmlns:a16="http://schemas.microsoft.com/office/drawing/2014/main" id="{90133119-7BF8-ABBB-8DAC-FE84D0D9CE21}"/>
              </a:ext>
            </a:extLst>
          </p:cNvPr>
          <p:cNvSpPr>
            <a:spLocks/>
          </p:cNvSpPr>
          <p:nvPr/>
        </p:nvSpPr>
        <p:spPr bwMode="auto">
          <a:xfrm>
            <a:off x="3881715" y="5196847"/>
            <a:ext cx="1711325" cy="609600"/>
          </a:xfrm>
          <a:prstGeom prst="borderCallout2">
            <a:avLst>
              <a:gd name="adj1" fmla="val 18750"/>
              <a:gd name="adj2" fmla="val 70500"/>
              <a:gd name="adj3" fmla="val 18750"/>
              <a:gd name="adj4" fmla="val 70500"/>
              <a:gd name="adj5" fmla="val -64199"/>
              <a:gd name="adj6" fmla="val 88621"/>
            </a:avLst>
          </a:prstGeom>
          <a:noFill/>
          <a:ln w="9525" cap="sq" algn="ctr">
            <a:solidFill>
              <a:schemeClr val="tx1"/>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dirty="0"/>
              <a:t>7/8</a:t>
            </a:r>
            <a:r>
              <a:rPr lang="en-US" altLang="zh-CN" sz="2000" dirty="0">
                <a:latin typeface="宋体" panose="02010600030101010101" pitchFamily="2" charset="-122"/>
              </a:rPr>
              <a:t>≤</a:t>
            </a:r>
            <a:r>
              <a:rPr lang="zh-CN" altLang="en-US" sz="2000" dirty="0"/>
              <a:t>面积</a:t>
            </a:r>
            <a:r>
              <a:rPr lang="en-US" altLang="zh-CN" sz="2000" dirty="0"/>
              <a:t>≤1</a:t>
            </a:r>
            <a:endParaRPr lang="zh-CN" altLang="en-US" sz="2000" dirty="0"/>
          </a:p>
        </p:txBody>
      </p:sp>
      <p:grpSp>
        <p:nvGrpSpPr>
          <p:cNvPr id="73" name="Group 54">
            <a:extLst>
              <a:ext uri="{FF2B5EF4-FFF2-40B4-BE49-F238E27FC236}">
                <a16:creationId xmlns:a16="http://schemas.microsoft.com/office/drawing/2014/main" id="{A51D2876-DD62-B143-C4DC-2041E8D483A4}"/>
              </a:ext>
            </a:extLst>
          </p:cNvPr>
          <p:cNvGrpSpPr>
            <a:grpSpLocks/>
          </p:cNvGrpSpPr>
          <p:nvPr/>
        </p:nvGrpSpPr>
        <p:grpSpPr bwMode="auto">
          <a:xfrm>
            <a:off x="7683985" y="3815252"/>
            <a:ext cx="2611438" cy="1800225"/>
            <a:chOff x="646" y="2886"/>
            <a:chExt cx="1645" cy="1134"/>
          </a:xfrm>
        </p:grpSpPr>
        <p:sp>
          <p:nvSpPr>
            <p:cNvPr id="74" name="Rectangle 53">
              <a:extLst>
                <a:ext uri="{FF2B5EF4-FFF2-40B4-BE49-F238E27FC236}">
                  <a16:creationId xmlns:a16="http://schemas.microsoft.com/office/drawing/2014/main" id="{F446D22E-7725-282D-64D7-250EA434C9E4}"/>
                </a:ext>
              </a:extLst>
            </p:cNvPr>
            <p:cNvSpPr>
              <a:spLocks noChangeArrowheads="1"/>
            </p:cNvSpPr>
            <p:nvPr/>
          </p:nvSpPr>
          <p:spPr bwMode="auto">
            <a:xfrm>
              <a:off x="1746" y="2930"/>
              <a:ext cx="273" cy="272"/>
            </a:xfrm>
            <a:prstGeom prst="rect">
              <a:avLst/>
            </a:prstGeom>
            <a:solidFill>
              <a:srgbClr val="B5B5FF"/>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5" name="Rectangle 13">
              <a:extLst>
                <a:ext uri="{FF2B5EF4-FFF2-40B4-BE49-F238E27FC236}">
                  <a16:creationId xmlns:a16="http://schemas.microsoft.com/office/drawing/2014/main" id="{6A5D92B8-1AA7-7BE3-DF64-41773BDD400B}"/>
                </a:ext>
              </a:extLst>
            </p:cNvPr>
            <p:cNvSpPr>
              <a:spLocks noChangeArrowheads="1"/>
            </p:cNvSpPr>
            <p:nvPr/>
          </p:nvSpPr>
          <p:spPr bwMode="auto">
            <a:xfrm>
              <a:off x="1474" y="3203"/>
              <a:ext cx="273" cy="272"/>
            </a:xfrm>
            <a:prstGeom prst="rect">
              <a:avLst/>
            </a:prstGeom>
            <a:solidFill>
              <a:srgbClr val="0033CC"/>
            </a:solidFill>
            <a:ln w="9525"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6" name="Rectangle 14">
              <a:extLst>
                <a:ext uri="{FF2B5EF4-FFF2-40B4-BE49-F238E27FC236}">
                  <a16:creationId xmlns:a16="http://schemas.microsoft.com/office/drawing/2014/main" id="{EA8DF6DB-32CA-7C7F-A289-82DEF60D228B}"/>
                </a:ext>
              </a:extLst>
            </p:cNvPr>
            <p:cNvSpPr>
              <a:spLocks noChangeArrowheads="1"/>
            </p:cNvSpPr>
            <p:nvPr/>
          </p:nvSpPr>
          <p:spPr bwMode="auto">
            <a:xfrm>
              <a:off x="1746" y="3203"/>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7" name="Rectangle 15">
              <a:extLst>
                <a:ext uri="{FF2B5EF4-FFF2-40B4-BE49-F238E27FC236}">
                  <a16:creationId xmlns:a16="http://schemas.microsoft.com/office/drawing/2014/main" id="{9BEEE6AF-70C3-FA3E-11EB-53838F757702}"/>
                </a:ext>
              </a:extLst>
            </p:cNvPr>
            <p:cNvSpPr>
              <a:spLocks noChangeArrowheads="1"/>
            </p:cNvSpPr>
            <p:nvPr/>
          </p:nvSpPr>
          <p:spPr bwMode="auto">
            <a:xfrm>
              <a:off x="2018" y="3203"/>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8" name="Rectangle 18">
              <a:extLst>
                <a:ext uri="{FF2B5EF4-FFF2-40B4-BE49-F238E27FC236}">
                  <a16:creationId xmlns:a16="http://schemas.microsoft.com/office/drawing/2014/main" id="{989EA21C-A380-2880-4F31-7230D11E0D2C}"/>
                </a:ext>
              </a:extLst>
            </p:cNvPr>
            <p:cNvSpPr>
              <a:spLocks noChangeArrowheads="1"/>
            </p:cNvSpPr>
            <p:nvPr/>
          </p:nvSpPr>
          <p:spPr bwMode="auto">
            <a:xfrm>
              <a:off x="1202" y="3476"/>
              <a:ext cx="273" cy="272"/>
            </a:xfrm>
            <a:prstGeom prst="rect">
              <a:avLst/>
            </a:prstGeom>
            <a:solidFill>
              <a:srgbClr val="0000FF"/>
            </a:solidFill>
            <a:ln w="9525" cap="sq"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9" name="Rectangle 19">
              <a:extLst>
                <a:ext uri="{FF2B5EF4-FFF2-40B4-BE49-F238E27FC236}">
                  <a16:creationId xmlns:a16="http://schemas.microsoft.com/office/drawing/2014/main" id="{437D80DC-B6B7-FC9E-C814-6E795E1ABC50}"/>
                </a:ext>
              </a:extLst>
            </p:cNvPr>
            <p:cNvSpPr>
              <a:spLocks noChangeArrowheads="1"/>
            </p:cNvSpPr>
            <p:nvPr/>
          </p:nvSpPr>
          <p:spPr bwMode="auto">
            <a:xfrm>
              <a:off x="1474" y="3476"/>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0" name="Rectangle 20">
              <a:extLst>
                <a:ext uri="{FF2B5EF4-FFF2-40B4-BE49-F238E27FC236}">
                  <a16:creationId xmlns:a16="http://schemas.microsoft.com/office/drawing/2014/main" id="{6ECDC321-4AD1-AC1F-E286-9044DD013D4F}"/>
                </a:ext>
              </a:extLst>
            </p:cNvPr>
            <p:cNvSpPr>
              <a:spLocks noChangeArrowheads="1"/>
            </p:cNvSpPr>
            <p:nvPr/>
          </p:nvSpPr>
          <p:spPr bwMode="auto">
            <a:xfrm>
              <a:off x="1746" y="3476"/>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 name="Rectangle 21">
              <a:extLst>
                <a:ext uri="{FF2B5EF4-FFF2-40B4-BE49-F238E27FC236}">
                  <a16:creationId xmlns:a16="http://schemas.microsoft.com/office/drawing/2014/main" id="{77E14C97-E5DD-A2F6-7A8A-9E5417872362}"/>
                </a:ext>
              </a:extLst>
            </p:cNvPr>
            <p:cNvSpPr>
              <a:spLocks noChangeArrowheads="1"/>
            </p:cNvSpPr>
            <p:nvPr/>
          </p:nvSpPr>
          <p:spPr bwMode="auto">
            <a:xfrm>
              <a:off x="2018" y="3476"/>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2" name="Rectangle 23">
              <a:extLst>
                <a:ext uri="{FF2B5EF4-FFF2-40B4-BE49-F238E27FC236}">
                  <a16:creationId xmlns:a16="http://schemas.microsoft.com/office/drawing/2014/main" id="{E7B2A307-0893-2807-4A4E-65F00F21B120}"/>
                </a:ext>
              </a:extLst>
            </p:cNvPr>
            <p:cNvSpPr>
              <a:spLocks noChangeArrowheads="1"/>
            </p:cNvSpPr>
            <p:nvPr/>
          </p:nvSpPr>
          <p:spPr bwMode="auto">
            <a:xfrm>
              <a:off x="930" y="3748"/>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3" name="Rectangle 24">
              <a:extLst>
                <a:ext uri="{FF2B5EF4-FFF2-40B4-BE49-F238E27FC236}">
                  <a16:creationId xmlns:a16="http://schemas.microsoft.com/office/drawing/2014/main" id="{76C6636F-CCBC-2C9E-62DB-9646B87921ED}"/>
                </a:ext>
              </a:extLst>
            </p:cNvPr>
            <p:cNvSpPr>
              <a:spLocks noChangeArrowheads="1"/>
            </p:cNvSpPr>
            <p:nvPr/>
          </p:nvSpPr>
          <p:spPr bwMode="auto">
            <a:xfrm>
              <a:off x="1202" y="3748"/>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4" name="Rectangle 25">
              <a:extLst>
                <a:ext uri="{FF2B5EF4-FFF2-40B4-BE49-F238E27FC236}">
                  <a16:creationId xmlns:a16="http://schemas.microsoft.com/office/drawing/2014/main" id="{E4ACB424-B2AF-F03A-4D77-66ACF3FB1640}"/>
                </a:ext>
              </a:extLst>
            </p:cNvPr>
            <p:cNvSpPr>
              <a:spLocks noChangeArrowheads="1"/>
            </p:cNvSpPr>
            <p:nvPr/>
          </p:nvSpPr>
          <p:spPr bwMode="auto">
            <a:xfrm>
              <a:off x="1474" y="3748"/>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5" name="Rectangle 26">
              <a:extLst>
                <a:ext uri="{FF2B5EF4-FFF2-40B4-BE49-F238E27FC236}">
                  <a16:creationId xmlns:a16="http://schemas.microsoft.com/office/drawing/2014/main" id="{9CB450F8-5D6D-544E-A1EF-AA923F70975C}"/>
                </a:ext>
              </a:extLst>
            </p:cNvPr>
            <p:cNvSpPr>
              <a:spLocks noChangeArrowheads="1"/>
            </p:cNvSpPr>
            <p:nvPr/>
          </p:nvSpPr>
          <p:spPr bwMode="auto">
            <a:xfrm>
              <a:off x="1746" y="3748"/>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 name="Rectangle 27">
              <a:extLst>
                <a:ext uri="{FF2B5EF4-FFF2-40B4-BE49-F238E27FC236}">
                  <a16:creationId xmlns:a16="http://schemas.microsoft.com/office/drawing/2014/main" id="{7741B257-3856-D66F-3098-BF9C2E555E8C}"/>
                </a:ext>
              </a:extLst>
            </p:cNvPr>
            <p:cNvSpPr>
              <a:spLocks noChangeArrowheads="1"/>
            </p:cNvSpPr>
            <p:nvPr/>
          </p:nvSpPr>
          <p:spPr bwMode="auto">
            <a:xfrm>
              <a:off x="2018" y="3748"/>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 name="Rectangle 33">
              <a:extLst>
                <a:ext uri="{FF2B5EF4-FFF2-40B4-BE49-F238E27FC236}">
                  <a16:creationId xmlns:a16="http://schemas.microsoft.com/office/drawing/2014/main" id="{B45911C1-03D0-6BDE-1B67-4D91701D1DDC}"/>
                </a:ext>
              </a:extLst>
            </p:cNvPr>
            <p:cNvSpPr>
              <a:spLocks noChangeArrowheads="1"/>
            </p:cNvSpPr>
            <p:nvPr/>
          </p:nvSpPr>
          <p:spPr bwMode="auto">
            <a:xfrm>
              <a:off x="2018" y="2931"/>
              <a:ext cx="273" cy="272"/>
            </a:xfrm>
            <a:prstGeom prst="rect">
              <a:avLst/>
            </a:prstGeom>
            <a:solidFill>
              <a:srgbClr val="000080"/>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8" name="Line 35">
              <a:extLst>
                <a:ext uri="{FF2B5EF4-FFF2-40B4-BE49-F238E27FC236}">
                  <a16:creationId xmlns:a16="http://schemas.microsoft.com/office/drawing/2014/main" id="{14468BF3-89CE-F071-7333-A8D435E886C3}"/>
                </a:ext>
              </a:extLst>
            </p:cNvPr>
            <p:cNvSpPr>
              <a:spLocks noChangeShapeType="1"/>
            </p:cNvSpPr>
            <p:nvPr/>
          </p:nvSpPr>
          <p:spPr bwMode="auto">
            <a:xfrm>
              <a:off x="657" y="4020"/>
              <a:ext cx="1588" cy="0"/>
            </a:xfrm>
            <a:prstGeom prst="line">
              <a:avLst/>
            </a:prstGeom>
            <a:noFill/>
            <a:ln w="28575"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9" name="Line 36">
              <a:extLst>
                <a:ext uri="{FF2B5EF4-FFF2-40B4-BE49-F238E27FC236}">
                  <a16:creationId xmlns:a16="http://schemas.microsoft.com/office/drawing/2014/main" id="{F2C73255-ABCE-6AD5-AACC-8337D34DE9A0}"/>
                </a:ext>
              </a:extLst>
            </p:cNvPr>
            <p:cNvSpPr>
              <a:spLocks noChangeShapeType="1"/>
            </p:cNvSpPr>
            <p:nvPr/>
          </p:nvSpPr>
          <p:spPr bwMode="auto">
            <a:xfrm flipV="1">
              <a:off x="2290" y="2886"/>
              <a:ext cx="0" cy="1134"/>
            </a:xfrm>
            <a:prstGeom prst="line">
              <a:avLst/>
            </a:prstGeom>
            <a:noFill/>
            <a:ln w="28575"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0" name="Oval 37">
              <a:extLst>
                <a:ext uri="{FF2B5EF4-FFF2-40B4-BE49-F238E27FC236}">
                  <a16:creationId xmlns:a16="http://schemas.microsoft.com/office/drawing/2014/main" id="{844807F1-0243-EF48-A2F5-D7B65F6B122E}"/>
                </a:ext>
              </a:extLst>
            </p:cNvPr>
            <p:cNvSpPr>
              <a:spLocks noChangeArrowheads="1"/>
            </p:cNvSpPr>
            <p:nvPr/>
          </p:nvSpPr>
          <p:spPr bwMode="auto">
            <a:xfrm>
              <a:off x="930" y="3476"/>
              <a:ext cx="272" cy="272"/>
            </a:xfrm>
            <a:prstGeom prst="ellipse">
              <a:avLst/>
            </a:prstGeom>
            <a:noFill/>
            <a:ln w="28575" cap="sq" algn="ctr">
              <a:solidFill>
                <a:srgbClr val="000080"/>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1" name="Rectangle 52">
              <a:extLst>
                <a:ext uri="{FF2B5EF4-FFF2-40B4-BE49-F238E27FC236}">
                  <a16:creationId xmlns:a16="http://schemas.microsoft.com/office/drawing/2014/main" id="{E2FBFD5D-4565-4C0A-1373-ECDCB3DE9816}"/>
                </a:ext>
              </a:extLst>
            </p:cNvPr>
            <p:cNvSpPr>
              <a:spLocks noChangeArrowheads="1"/>
            </p:cNvSpPr>
            <p:nvPr/>
          </p:nvSpPr>
          <p:spPr bwMode="auto">
            <a:xfrm>
              <a:off x="646" y="3737"/>
              <a:ext cx="273" cy="272"/>
            </a:xfrm>
            <a:prstGeom prst="rect">
              <a:avLst/>
            </a:prstGeom>
            <a:solidFill>
              <a:srgbClr val="4343FF"/>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2" name="Rectangle 17">
              <a:extLst>
                <a:ext uri="{FF2B5EF4-FFF2-40B4-BE49-F238E27FC236}">
                  <a16:creationId xmlns:a16="http://schemas.microsoft.com/office/drawing/2014/main" id="{1CEAB856-3C78-699A-0561-91B44E27623E}"/>
                </a:ext>
              </a:extLst>
            </p:cNvPr>
            <p:cNvSpPr>
              <a:spLocks noChangeArrowheads="1"/>
            </p:cNvSpPr>
            <p:nvPr/>
          </p:nvSpPr>
          <p:spPr bwMode="auto">
            <a:xfrm>
              <a:off x="930" y="3476"/>
              <a:ext cx="273" cy="272"/>
            </a:xfrm>
            <a:prstGeom prst="rect">
              <a:avLst/>
            </a:prstGeom>
            <a:solidFill>
              <a:schemeClr val="bg2"/>
            </a:solidFill>
            <a:ln w="9525" cap="sq"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dirty="0"/>
            </a:p>
          </p:txBody>
        </p:sp>
        <p:sp>
          <p:nvSpPr>
            <p:cNvPr id="93" name="Line 34">
              <a:extLst>
                <a:ext uri="{FF2B5EF4-FFF2-40B4-BE49-F238E27FC236}">
                  <a16:creationId xmlns:a16="http://schemas.microsoft.com/office/drawing/2014/main" id="{D5F03B69-AC23-B967-87B8-D2A4DB98E917}"/>
                </a:ext>
              </a:extLst>
            </p:cNvPr>
            <p:cNvSpPr>
              <a:spLocks noChangeShapeType="1"/>
            </p:cNvSpPr>
            <p:nvPr/>
          </p:nvSpPr>
          <p:spPr bwMode="auto">
            <a:xfrm flipV="1">
              <a:off x="657" y="2886"/>
              <a:ext cx="1633" cy="1134"/>
            </a:xfrm>
            <a:prstGeom prst="line">
              <a:avLst/>
            </a:prstGeom>
            <a:noFill/>
            <a:ln w="28575"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dirty="0"/>
            </a:p>
          </p:txBody>
        </p:sp>
      </p:grpSp>
    </p:spTree>
    <p:extLst>
      <p:ext uri="{BB962C8B-B14F-4D97-AF65-F5344CB8AC3E}">
        <p14:creationId xmlns:p14="http://schemas.microsoft.com/office/powerpoint/2010/main" val="395203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slide(fromBottom)">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slide(fromBottom)">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26096" y="880608"/>
            <a:ext cx="6075219" cy="4693256"/>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a:t>
            </a:r>
            <a:r>
              <a:rPr lang="en-US" altLang="zh-CN" sz="2600" dirty="0" err="1">
                <a:latin typeface="华光仿宋_CNKI" panose="02000500000000000000" pitchFamily="2" charset="-122"/>
                <a:ea typeface="华光仿宋_CNKI" panose="02000500000000000000" pitchFamily="2" charset="-122"/>
              </a:rPr>
              <a:t>Bersenham</a:t>
            </a:r>
            <a:r>
              <a:rPr lang="zh-CN" altLang="en-US" sz="2600" dirty="0">
                <a:latin typeface="华光仿宋_CNKI" panose="02000500000000000000" pitchFamily="2" charset="-122"/>
                <a:ea typeface="华光仿宋_CNKI" panose="02000500000000000000" pitchFamily="2" charset="-122"/>
              </a:rPr>
              <a:t>算法生成直线的过程中，每一步均要计算像素中心点与直线之间的误差，这个误差</a:t>
            </a:r>
            <a:r>
              <a:rPr lang="en-US" altLang="zh-CN" sz="2600" dirty="0">
                <a:latin typeface="华光仿宋_CNKI" panose="02000500000000000000" pitchFamily="2" charset="-122"/>
                <a:ea typeface="华光仿宋_CNKI" panose="02000500000000000000" pitchFamily="2" charset="-122"/>
              </a:rPr>
              <a:t>e</a:t>
            </a:r>
            <a:r>
              <a:rPr lang="zh-CN" altLang="en-US" sz="2600" dirty="0">
                <a:latin typeface="华光仿宋_CNKI" panose="02000500000000000000" pitchFamily="2" charset="-122"/>
                <a:ea typeface="华光仿宋_CNKI" panose="02000500000000000000" pitchFamily="2" charset="-122"/>
              </a:rPr>
              <a:t>在某种程度上也可以反映多边形某条边与具有一定面积的像素相交的面积大小。</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设直线的方程为</a:t>
            </a:r>
            <a:r>
              <a:rPr lang="en-US" altLang="zh-CN" sz="2600" dirty="0">
                <a:latin typeface="华光仿宋_CNKI" panose="02000500000000000000" pitchFamily="2" charset="-122"/>
                <a:ea typeface="华光仿宋_CNKI" panose="02000500000000000000" pitchFamily="2" charset="-122"/>
              </a:rPr>
              <a:t>y=mx(0&lt;=m&lt;=1)</a:t>
            </a:r>
            <a:r>
              <a:rPr lang="zh-CN" altLang="en-US" sz="2600" dirty="0">
                <a:latin typeface="华光仿宋_CNKI" panose="02000500000000000000" pitchFamily="2" charset="-122"/>
                <a:ea typeface="华光仿宋_CNKI" panose="02000500000000000000" pitchFamily="2" charset="-122"/>
              </a:rPr>
              <a:t>，且多边形位于该边的右侧。如右图所示。</a:t>
            </a:r>
            <a:endParaRPr lang="en-US" altLang="zh-CN" sz="2600" dirty="0">
              <a:latin typeface="华光仿宋_CNKI" panose="02000500000000000000" pitchFamily="2" charset="-122"/>
              <a:ea typeface="华光仿宋_CNKI" panose="02000500000000000000" pitchFamily="2" charset="-122"/>
            </a:endParaRPr>
          </a:p>
        </p:txBody>
      </p:sp>
      <p:cxnSp>
        <p:nvCxnSpPr>
          <p:cNvPr id="4" name="直接连接符 3">
            <a:extLst>
              <a:ext uri="{FF2B5EF4-FFF2-40B4-BE49-F238E27FC236}">
                <a16:creationId xmlns:a16="http://schemas.microsoft.com/office/drawing/2014/main" id="{A0114E86-EEEC-BC44-F65E-9809D463CE9B}"/>
              </a:ext>
            </a:extLst>
          </p:cNvPr>
          <p:cNvCxnSpPr/>
          <p:nvPr/>
        </p:nvCxnSpPr>
        <p:spPr>
          <a:xfrm>
            <a:off x="7673009" y="1884459"/>
            <a:ext cx="3657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C693427B-1A35-8037-D07F-87FB2CCBD387}"/>
              </a:ext>
            </a:extLst>
          </p:cNvPr>
          <p:cNvCxnSpPr>
            <a:cxnSpLocks/>
          </p:cNvCxnSpPr>
          <p:nvPr/>
        </p:nvCxnSpPr>
        <p:spPr>
          <a:xfrm>
            <a:off x="7537837" y="3078480"/>
            <a:ext cx="37927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B05C551-2739-3C10-6B71-ADF5D50B6069}"/>
              </a:ext>
            </a:extLst>
          </p:cNvPr>
          <p:cNvCxnSpPr/>
          <p:nvPr/>
        </p:nvCxnSpPr>
        <p:spPr>
          <a:xfrm>
            <a:off x="7991061" y="880608"/>
            <a:ext cx="0" cy="31904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AE1CC59-30C6-56AC-122F-08C76396B31B}"/>
              </a:ext>
            </a:extLst>
          </p:cNvPr>
          <p:cNvCxnSpPr/>
          <p:nvPr/>
        </p:nvCxnSpPr>
        <p:spPr>
          <a:xfrm>
            <a:off x="9177130" y="880608"/>
            <a:ext cx="0" cy="31904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3BEB1F5-993B-7D6B-4746-A23EFAA72F0B}"/>
              </a:ext>
            </a:extLst>
          </p:cNvPr>
          <p:cNvCxnSpPr/>
          <p:nvPr/>
        </p:nvCxnSpPr>
        <p:spPr>
          <a:xfrm>
            <a:off x="10330070" y="880608"/>
            <a:ext cx="0" cy="31904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60B0E6E-BAB1-68F9-331E-6A3A2770A68F}"/>
              </a:ext>
            </a:extLst>
          </p:cNvPr>
          <p:cNvCxnSpPr>
            <a:cxnSpLocks/>
          </p:cNvCxnSpPr>
          <p:nvPr/>
        </p:nvCxnSpPr>
        <p:spPr>
          <a:xfrm flipV="1">
            <a:off x="7991061" y="1979875"/>
            <a:ext cx="3244132" cy="10986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右大括号 19">
            <a:extLst>
              <a:ext uri="{FF2B5EF4-FFF2-40B4-BE49-F238E27FC236}">
                <a16:creationId xmlns:a16="http://schemas.microsoft.com/office/drawing/2014/main" id="{3995508D-B932-3DBA-27F0-C743A7DFC7E7}"/>
              </a:ext>
            </a:extLst>
          </p:cNvPr>
          <p:cNvSpPr/>
          <p:nvPr/>
        </p:nvSpPr>
        <p:spPr>
          <a:xfrm>
            <a:off x="9177129" y="2687541"/>
            <a:ext cx="152401" cy="390938"/>
          </a:xfrm>
          <a:prstGeom prst="rightBrac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 name="文本框 20">
            <a:extLst>
              <a:ext uri="{FF2B5EF4-FFF2-40B4-BE49-F238E27FC236}">
                <a16:creationId xmlns:a16="http://schemas.microsoft.com/office/drawing/2014/main" id="{15391B0F-E0D1-8E78-4719-BB9320E8DFAF}"/>
              </a:ext>
            </a:extLst>
          </p:cNvPr>
          <p:cNvSpPr txBox="1"/>
          <p:nvPr/>
        </p:nvSpPr>
        <p:spPr>
          <a:xfrm>
            <a:off x="9282579" y="2623933"/>
            <a:ext cx="343364" cy="461665"/>
          </a:xfrm>
          <a:prstGeom prst="rect">
            <a:avLst/>
          </a:prstGeom>
          <a:noFill/>
        </p:spPr>
        <p:txBody>
          <a:bodyPr wrap="none" rtlCol="0">
            <a:spAutoFit/>
          </a:bodyPr>
          <a:lstStyle/>
          <a:p>
            <a:r>
              <a:rPr lang="en-US" altLang="zh-CN" sz="2400" dirty="0"/>
              <a:t>e</a:t>
            </a:r>
            <a:endParaRPr lang="zh-CN" altLang="en-US" sz="2400"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195C46C-8009-5D7D-5AE7-3601B7F98D3C}"/>
                  </a:ext>
                </a:extLst>
              </p:cNvPr>
              <p:cNvSpPr txBox="1"/>
              <p:nvPr/>
            </p:nvSpPr>
            <p:spPr>
              <a:xfrm>
                <a:off x="9064105" y="2169730"/>
                <a:ext cx="53085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oMath>
                  </m:oMathPara>
                </a14:m>
                <a:endParaRPr lang="zh-CN" altLang="en-US" sz="2400" dirty="0"/>
              </a:p>
            </p:txBody>
          </p:sp>
        </mc:Choice>
        <mc:Fallback xmlns="">
          <p:sp>
            <p:nvSpPr>
              <p:cNvPr id="22" name="文本框 21">
                <a:extLst>
                  <a:ext uri="{FF2B5EF4-FFF2-40B4-BE49-F238E27FC236}">
                    <a16:creationId xmlns:a16="http://schemas.microsoft.com/office/drawing/2014/main" id="{8195C46C-8009-5D7D-5AE7-3601B7F98D3C}"/>
                  </a:ext>
                </a:extLst>
              </p:cNvPr>
              <p:cNvSpPr txBox="1">
                <a:spLocks noRot="1" noChangeAspect="1" noMove="1" noResize="1" noEditPoints="1" noAdjustHandles="1" noChangeArrowheads="1" noChangeShapeType="1" noTextEdit="1"/>
              </p:cNvSpPr>
              <p:nvPr/>
            </p:nvSpPr>
            <p:spPr>
              <a:xfrm>
                <a:off x="9064105" y="2169730"/>
                <a:ext cx="530850" cy="461665"/>
              </a:xfrm>
              <a:prstGeom prst="rect">
                <a:avLst/>
              </a:prstGeom>
              <a:blipFill>
                <a:blip r:embed="rId2"/>
                <a:stretch>
                  <a:fillRect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1892F745-E68A-0279-6BFE-00E78C7D2786}"/>
                  </a:ext>
                </a:extLst>
              </p:cNvPr>
              <p:cNvSpPr txBox="1"/>
              <p:nvPr/>
            </p:nvSpPr>
            <p:spPr>
              <a:xfrm>
                <a:off x="10250173" y="1788973"/>
                <a:ext cx="8242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23" name="文本框 22">
                <a:extLst>
                  <a:ext uri="{FF2B5EF4-FFF2-40B4-BE49-F238E27FC236}">
                    <a16:creationId xmlns:a16="http://schemas.microsoft.com/office/drawing/2014/main" id="{1892F745-E68A-0279-6BFE-00E78C7D2786}"/>
                  </a:ext>
                </a:extLst>
              </p:cNvPr>
              <p:cNvSpPr txBox="1">
                <a:spLocks noRot="1" noChangeAspect="1" noMove="1" noResize="1" noEditPoints="1" noAdjustHandles="1" noChangeArrowheads="1" noChangeShapeType="1" noTextEdit="1"/>
              </p:cNvSpPr>
              <p:nvPr/>
            </p:nvSpPr>
            <p:spPr>
              <a:xfrm>
                <a:off x="10250173" y="1788973"/>
                <a:ext cx="824200" cy="461665"/>
              </a:xfrm>
              <a:prstGeom prst="rect">
                <a:avLst/>
              </a:prstGeom>
              <a:blipFill>
                <a:blip r:embed="rId3"/>
                <a:stretch>
                  <a:fillRect b="-10526"/>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3C52DFA8-5874-96D0-2162-65DA1C2F140B}"/>
              </a:ext>
            </a:extLst>
          </p:cNvPr>
          <p:cNvSpPr txBox="1"/>
          <p:nvPr/>
        </p:nvSpPr>
        <p:spPr>
          <a:xfrm>
            <a:off x="11192348" y="1901227"/>
            <a:ext cx="740908" cy="369332"/>
          </a:xfrm>
          <a:prstGeom prst="rect">
            <a:avLst/>
          </a:prstGeom>
          <a:noFill/>
        </p:spPr>
        <p:txBody>
          <a:bodyPr wrap="none" rtlCol="0">
            <a:spAutoFit/>
          </a:bodyPr>
          <a:lstStyle/>
          <a:p>
            <a:r>
              <a:rPr lang="en-US" altLang="zh-CN" dirty="0"/>
              <a:t>y=mx</a:t>
            </a:r>
            <a:endParaRPr lang="zh-CN" altLang="en-US" dirty="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767963A0-BAB3-E2EF-00CF-52B7F846F723}"/>
                  </a:ext>
                </a:extLst>
              </p:cNvPr>
              <p:cNvSpPr txBox="1"/>
              <p:nvPr/>
            </p:nvSpPr>
            <p:spPr>
              <a:xfrm>
                <a:off x="7404083" y="4870577"/>
                <a:ext cx="4060279" cy="954107"/>
              </a:xfrm>
              <a:prstGeom prst="rect">
                <a:avLst/>
              </a:prstGeom>
              <a:noFill/>
            </p:spPr>
            <p:txBody>
              <a:bodyPr wrap="none" rtlCol="0">
                <a:spAutoFit/>
              </a:bodyPr>
              <a:lstStyle/>
              <a:p>
                <a:r>
                  <a:rPr lang="zh-CN" altLang="en-US" sz="2800" dirty="0"/>
                  <a:t>其中：</a:t>
                </a:r>
                <a:endParaRPr lang="en-US" altLang="zh-CN" sz="2800" dirty="0"/>
              </a:p>
              <a:p>
                <a:r>
                  <a:rPr lang="en-US" altLang="zh-CN" sz="2800" dirty="0"/>
                  <a:t>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Sub>
                  </m:oMath>
                </a14:m>
                <a:r>
                  <a:rPr lang="en-US" altLang="zh-CN" sz="2800" dirty="0"/>
                  <a:t>=m</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i="1">
                            <a:latin typeface="Cambria Math" panose="02040503050406030204" pitchFamily="18" charset="0"/>
                          </a:rPr>
                          <m:t>𝑖</m:t>
                        </m:r>
                        <m:r>
                          <a:rPr lang="en-US" altLang="zh-CN" sz="2800" i="1">
                            <a:latin typeface="Cambria Math" panose="02040503050406030204" pitchFamily="18" charset="0"/>
                          </a:rPr>
                          <m:t>+1</m:t>
                        </m:r>
                      </m:sub>
                    </m:sSub>
                  </m:oMath>
                </a14:m>
                <a:r>
                  <a:rPr lang="en-US" altLang="zh-CN"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 </m:t>
                        </m:r>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oMath>
                </a14:m>
                <a:r>
                  <a:rPr lang="en-US" altLang="zh-CN" sz="2800" dirty="0"/>
                  <a:t>+m  </a:t>
                </a:r>
                <a:endParaRPr lang="zh-CN" altLang="en-US" sz="2800" dirty="0"/>
              </a:p>
            </p:txBody>
          </p:sp>
        </mc:Choice>
        <mc:Fallback xmlns="">
          <p:sp>
            <p:nvSpPr>
              <p:cNvPr id="26" name="文本框 25">
                <a:extLst>
                  <a:ext uri="{FF2B5EF4-FFF2-40B4-BE49-F238E27FC236}">
                    <a16:creationId xmlns:a16="http://schemas.microsoft.com/office/drawing/2014/main" id="{767963A0-BAB3-E2EF-00CF-52B7F846F723}"/>
                  </a:ext>
                </a:extLst>
              </p:cNvPr>
              <p:cNvSpPr txBox="1">
                <a:spLocks noRot="1" noChangeAspect="1" noMove="1" noResize="1" noEditPoints="1" noAdjustHandles="1" noChangeArrowheads="1" noChangeShapeType="1" noTextEdit="1"/>
              </p:cNvSpPr>
              <p:nvPr/>
            </p:nvSpPr>
            <p:spPr>
              <a:xfrm>
                <a:off x="7404083" y="4870577"/>
                <a:ext cx="4060279" cy="954107"/>
              </a:xfrm>
              <a:prstGeom prst="rect">
                <a:avLst/>
              </a:prstGeom>
              <a:blipFill>
                <a:blip r:embed="rId4"/>
                <a:stretch>
                  <a:fillRect l="-3153" t="-7692" r="-1952" b="-17308"/>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30E1A5A4-7EBD-F054-38EC-990D22CB419B}"/>
              </a:ext>
            </a:extLst>
          </p:cNvPr>
          <p:cNvSpPr txBox="1"/>
          <p:nvPr/>
        </p:nvSpPr>
        <p:spPr>
          <a:xfrm>
            <a:off x="9152636" y="3103441"/>
            <a:ext cx="433132" cy="369332"/>
          </a:xfrm>
          <a:prstGeom prst="rect">
            <a:avLst/>
          </a:prstGeom>
          <a:noFill/>
        </p:spPr>
        <p:txBody>
          <a:bodyPr wrap="none" rtlCol="0">
            <a:spAutoFit/>
          </a:bodyPr>
          <a:lstStyle/>
          <a:p>
            <a:r>
              <a:rPr lang="en-US" altLang="zh-CN" dirty="0"/>
              <a:t>P1</a:t>
            </a:r>
            <a:endParaRPr lang="zh-CN" altLang="en-US" dirty="0"/>
          </a:p>
        </p:txBody>
      </p:sp>
      <p:sp>
        <p:nvSpPr>
          <p:cNvPr id="28" name="文本框 27">
            <a:extLst>
              <a:ext uri="{FF2B5EF4-FFF2-40B4-BE49-F238E27FC236}">
                <a16:creationId xmlns:a16="http://schemas.microsoft.com/office/drawing/2014/main" id="{3BD1DB78-55C0-C0F7-B132-BC6B2800E657}"/>
              </a:ext>
            </a:extLst>
          </p:cNvPr>
          <p:cNvSpPr txBox="1"/>
          <p:nvPr/>
        </p:nvSpPr>
        <p:spPr>
          <a:xfrm>
            <a:off x="9141554" y="1510288"/>
            <a:ext cx="433132" cy="369332"/>
          </a:xfrm>
          <a:prstGeom prst="rect">
            <a:avLst/>
          </a:prstGeom>
          <a:noFill/>
        </p:spPr>
        <p:txBody>
          <a:bodyPr wrap="none" rtlCol="0">
            <a:spAutoFit/>
          </a:bodyPr>
          <a:lstStyle/>
          <a:p>
            <a:r>
              <a:rPr lang="en-US" altLang="zh-CN" dirty="0"/>
              <a:t>P2</a:t>
            </a:r>
            <a:endParaRPr lang="zh-CN" altLang="en-US" dirty="0"/>
          </a:p>
        </p:txBody>
      </p:sp>
    </p:spTree>
    <p:extLst>
      <p:ext uri="{BB962C8B-B14F-4D97-AF65-F5344CB8AC3E}">
        <p14:creationId xmlns:p14="http://schemas.microsoft.com/office/powerpoint/2010/main" val="18012272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38956" y="950678"/>
                <a:ext cx="10658630" cy="4956644"/>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则对应的面积为：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S=(</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oMath>
                </a14:m>
                <a:r>
                  <a:rPr lang="en-US" altLang="zh-CN" sz="2600"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oMath>
                </a14:m>
                <a:r>
                  <a:rPr lang="en-US" altLang="zh-CN" sz="2600" dirty="0">
                    <a:latin typeface="华光仿宋_CNKI" panose="02000500000000000000" pitchFamily="2" charset="-122"/>
                    <a:ea typeface="华光仿宋_CNKI" panose="02000500000000000000" pitchFamily="2" charset="-122"/>
                  </a:rPr>
                  <a:t>+</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oMath>
                </a14:m>
                <a:r>
                  <a:rPr lang="en-US" altLang="zh-CN" sz="2600" dirty="0">
                    <a:latin typeface="华光仿宋_CNKI" panose="02000500000000000000" pitchFamily="2" charset="-122"/>
                    <a:ea typeface="华光仿宋_CNKI" panose="02000500000000000000" pitchFamily="2" charset="-122"/>
                  </a:rPr>
                  <a:t>+m)/2=</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oMath>
                </a14:m>
                <a:r>
                  <a:rPr lang="en-US" altLang="zh-CN" sz="2600" dirty="0">
                    <a:latin typeface="华光仿宋_CNKI" panose="02000500000000000000" pitchFamily="2" charset="-122"/>
                    <a:ea typeface="华光仿宋_CNKI" panose="02000500000000000000" pitchFamily="2" charset="-122"/>
                  </a:rPr>
                  <a:t>+m/2=</a:t>
                </a:r>
                <a:r>
                  <a:rPr lang="en-US" altLang="zh-CN" sz="2600" dirty="0" err="1">
                    <a:latin typeface="华光仿宋_CNKI" panose="02000500000000000000" pitchFamily="2" charset="-122"/>
                    <a:ea typeface="华光仿宋_CNKI" panose="02000500000000000000" pitchFamily="2" charset="-122"/>
                  </a:rPr>
                  <a:t>e+m</a:t>
                </a:r>
                <a:r>
                  <a:rPr lang="en-US" altLang="zh-CN" sz="2600" dirty="0">
                    <a:latin typeface="华光仿宋_CNKI" panose="02000500000000000000" pitchFamily="2" charset="-122"/>
                    <a:ea typeface="华光仿宋_CNKI" panose="02000500000000000000" pitchFamily="2" charset="-122"/>
                  </a:rPr>
                  <a:t>/2</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因此可以用</a:t>
                </a:r>
                <a:r>
                  <a:rPr lang="en-US" altLang="zh-CN" sz="2600" dirty="0">
                    <a:latin typeface="华光仿宋_CNKI" panose="02000500000000000000" pitchFamily="2" charset="-122"/>
                    <a:ea typeface="华光仿宋_CNKI" panose="02000500000000000000" pitchFamily="2" charset="-122"/>
                  </a:rPr>
                  <a:t>e</a:t>
                </a:r>
                <a:r>
                  <a:rPr lang="zh-CN" altLang="en-US" sz="2600" dirty="0">
                    <a:latin typeface="华光仿宋_CNKI" panose="02000500000000000000" pitchFamily="2" charset="-122"/>
                    <a:ea typeface="华光仿宋_CNKI" panose="02000500000000000000" pitchFamily="2" charset="-122"/>
                  </a:rPr>
                  <a:t>来确定像素（</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i="1">
                            <a:latin typeface="Cambria Math" panose="02040503050406030204" pitchFamily="18" charset="0"/>
                          </a:rPr>
                          <m:t>𝑖</m:t>
                        </m:r>
                      </m:sub>
                    </m:sSub>
                  </m:oMath>
                </a14:m>
                <a:r>
                  <a:rPr lang="en-US" altLang="zh-CN" sz="2600" dirty="0">
                    <a:latin typeface="华光仿宋_CNKI" panose="02000500000000000000" pitchFamily="2" charset="-122"/>
                    <a:ea typeface="华光仿宋_CNKI" panose="02000500000000000000" pitchFamily="2" charset="-122"/>
                  </a:rPr>
                  <a:t>,</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i="1">
                            <a:latin typeface="Cambria Math" panose="02040503050406030204" pitchFamily="18" charset="0"/>
                          </a:rPr>
                          <m:t>𝑖</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的灰度值。</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由于在</a:t>
                </a:r>
                <a:r>
                  <a:rPr lang="en-US" altLang="zh-CN" sz="2600" dirty="0" err="1">
                    <a:latin typeface="华光仿宋_CNKI" panose="02000500000000000000" pitchFamily="2" charset="-122"/>
                    <a:ea typeface="华光仿宋_CNKI" panose="02000500000000000000" pitchFamily="2" charset="-122"/>
                  </a:rPr>
                  <a:t>Bresenham</a:t>
                </a:r>
                <a:r>
                  <a:rPr lang="zh-CN" altLang="en-US" sz="2600" dirty="0">
                    <a:latin typeface="华光仿宋_CNKI" panose="02000500000000000000" pitchFamily="2" charset="-122"/>
                    <a:ea typeface="华光仿宋_CNKI" panose="02000500000000000000" pitchFamily="2" charset="-122"/>
                  </a:rPr>
                  <a:t>算法中，</a:t>
                </a:r>
                <a:r>
                  <a:rPr lang="en-US" altLang="zh-CN" sz="2600" dirty="0">
                    <a:latin typeface="华光仿宋_CNKI" panose="02000500000000000000" pitchFamily="2" charset="-122"/>
                    <a:ea typeface="华光仿宋_CNKI" panose="02000500000000000000" pitchFamily="2" charset="-122"/>
                  </a:rPr>
                  <a:t>e</a:t>
                </a:r>
                <a:r>
                  <a:rPr lang="zh-CN" altLang="en-US" sz="2600" dirty="0">
                    <a:latin typeface="华光仿宋_CNKI" panose="02000500000000000000" pitchFamily="2" charset="-122"/>
                    <a:ea typeface="华光仿宋_CNKI" panose="02000500000000000000" pitchFamily="2" charset="-122"/>
                  </a:rPr>
                  <a:t>的初值为</a:t>
                </a:r>
                <a:r>
                  <a:rPr lang="en-US" altLang="zh-CN" sz="2600" dirty="0">
                    <a:latin typeface="华光仿宋_CNKI" panose="02000500000000000000" pitchFamily="2" charset="-122"/>
                    <a:ea typeface="华光仿宋_CNKI" panose="02000500000000000000" pitchFamily="2" charset="-122"/>
                  </a:rPr>
                  <a:t>m-0.5</a:t>
                </a:r>
                <a:r>
                  <a:rPr lang="zh-CN" altLang="en-US" sz="2600" dirty="0">
                    <a:latin typeface="华光仿宋_CNKI" panose="02000500000000000000" pitchFamily="2" charset="-122"/>
                    <a:ea typeface="华光仿宋_CNKI" panose="02000500000000000000" pitchFamily="2" charset="-122"/>
                  </a:rPr>
                  <a:t>。当</a:t>
                </a:r>
                <a:r>
                  <a:rPr lang="en-US" altLang="zh-CN" sz="2600" dirty="0">
                    <a:latin typeface="华光仿宋_CNKI" panose="02000500000000000000" pitchFamily="2" charset="-122"/>
                    <a:ea typeface="华光仿宋_CNKI" panose="02000500000000000000" pitchFamily="2" charset="-122"/>
                  </a:rPr>
                  <a:t>e&lt;0</a:t>
                </a:r>
                <a:r>
                  <a:rPr lang="zh-CN" altLang="en-US" sz="2600" dirty="0">
                    <a:latin typeface="华光仿宋_CNKI" panose="02000500000000000000" pitchFamily="2" charset="-122"/>
                    <a:ea typeface="华光仿宋_CNKI" panose="02000500000000000000" pitchFamily="2" charset="-122"/>
                  </a:rPr>
                  <a:t>时取</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，下一步的误差为</a:t>
                </a:r>
                <a:r>
                  <a:rPr lang="en-US" altLang="zh-CN" sz="2600" dirty="0">
                    <a:latin typeface="华光仿宋_CNKI" panose="02000500000000000000" pitchFamily="2" charset="-122"/>
                    <a:ea typeface="华光仿宋_CNKI" panose="02000500000000000000" pitchFamily="2" charset="-122"/>
                  </a:rPr>
                  <a:t>e=</a:t>
                </a:r>
                <a:r>
                  <a:rPr lang="en-US" altLang="zh-CN" sz="2600" dirty="0" err="1">
                    <a:latin typeface="华光仿宋_CNKI" panose="02000500000000000000" pitchFamily="2" charset="-122"/>
                    <a:ea typeface="华光仿宋_CNKI" panose="02000500000000000000" pitchFamily="2" charset="-122"/>
                  </a:rPr>
                  <a:t>e+m</a:t>
                </a:r>
                <a:r>
                  <a:rPr lang="zh-CN" altLang="en-US" sz="2600" dirty="0">
                    <a:latin typeface="华光仿宋_CNKI" panose="02000500000000000000" pitchFamily="2" charset="-122"/>
                    <a:ea typeface="华光仿宋_CNKI" panose="02000500000000000000" pitchFamily="2" charset="-122"/>
                  </a:rPr>
                  <a:t>；当</a:t>
                </a:r>
                <a:r>
                  <a:rPr lang="en-US" altLang="zh-CN" sz="2600" dirty="0">
                    <a:latin typeface="华光仿宋_CNKI" panose="02000500000000000000" pitchFamily="2" charset="-122"/>
                    <a:ea typeface="华光仿宋_CNKI" panose="02000500000000000000" pitchFamily="2" charset="-122"/>
                  </a:rPr>
                  <a:t>e&gt;=0</a:t>
                </a:r>
                <a:r>
                  <a:rPr lang="zh-CN" altLang="en-US" sz="2600" dirty="0">
                    <a:latin typeface="华光仿宋_CNKI" panose="02000500000000000000" pitchFamily="2" charset="-122"/>
                    <a:ea typeface="华光仿宋_CNKI" panose="02000500000000000000" pitchFamily="2" charset="-122"/>
                  </a:rPr>
                  <a:t>时取</a:t>
                </a:r>
                <a:r>
                  <a:rPr lang="en-US" altLang="zh-CN" sz="2600" dirty="0">
                    <a:latin typeface="华光仿宋_CNKI" panose="02000500000000000000" pitchFamily="2" charset="-122"/>
                    <a:ea typeface="华光仿宋_CNKI" panose="02000500000000000000" pitchFamily="2" charset="-122"/>
                  </a:rPr>
                  <a:t>P2</a:t>
                </a:r>
                <a:r>
                  <a:rPr lang="zh-CN" altLang="en-US" sz="2600" dirty="0">
                    <a:latin typeface="华光仿宋_CNKI" panose="02000500000000000000" pitchFamily="2" charset="-122"/>
                    <a:ea typeface="华光仿宋_CNKI" panose="02000500000000000000" pitchFamily="2" charset="-122"/>
                  </a:rPr>
                  <a:t>，下一步的误差为</a:t>
                </a:r>
                <a:r>
                  <a:rPr lang="en-US" altLang="zh-CN" sz="2600" dirty="0">
                    <a:latin typeface="华光仿宋_CNKI" panose="02000500000000000000" pitchFamily="2" charset="-122"/>
                    <a:ea typeface="华光仿宋_CNKI" panose="02000500000000000000" pitchFamily="2" charset="-122"/>
                  </a:rPr>
                  <a:t>e=e+m-1</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需要注意的是由于颜色不能为负，但上述计算可能导致颜色为负，因此将其映射到正的区间，然后再给以相应的颜色值。</a:t>
                </a:r>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38956" y="950678"/>
                <a:ext cx="10658630" cy="4956644"/>
              </a:xfrm>
              <a:blipFill>
                <a:blip r:embed="rId2"/>
                <a:stretch>
                  <a:fillRect l="-10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45338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74221" y="880608"/>
            <a:ext cx="10750587" cy="4899990"/>
          </a:xfrm>
        </p:spPr>
        <p:txBody>
          <a:bodyPr>
            <a:normAutofit/>
          </a:bodyPr>
          <a:lstStyle/>
          <a:p>
            <a:pPr algn="l">
              <a:lnSpc>
                <a:spcPct val="150000"/>
              </a:lnSpc>
            </a:pPr>
            <a:r>
              <a:rPr lang="en-US" altLang="zh-CN" sz="3200" dirty="0">
                <a:latin typeface="华光大标宋_CNKI" panose="02000500000000000000" pitchFamily="2" charset="-122"/>
                <a:ea typeface="华光大标宋_CNKI" panose="02000500000000000000" pitchFamily="2" charset="-122"/>
              </a:rPr>
              <a:t>3.6 </a:t>
            </a:r>
            <a:r>
              <a:rPr lang="zh-CN" altLang="en-US" sz="3200" dirty="0">
                <a:latin typeface="华光大标宋_CNKI" panose="02000500000000000000" pitchFamily="2" charset="-122"/>
                <a:ea typeface="华光大标宋_CNKI" panose="02000500000000000000" pitchFamily="2" charset="-122"/>
              </a:rPr>
              <a:t>曲线的生成</a:t>
            </a:r>
          </a:p>
          <a:p>
            <a:pPr algn="l">
              <a:lnSpc>
                <a:spcPct val="150000"/>
              </a:lnSpc>
            </a:pPr>
            <a:r>
              <a:rPr lang="en-US" altLang="zh-CN" sz="2600" b="1" dirty="0">
                <a:latin typeface="华光标题宋_CNKI" panose="02000500000000000000" pitchFamily="2" charset="-122"/>
                <a:ea typeface="华光标题宋_CNKI" panose="02000500000000000000" pitchFamily="2" charset="-122"/>
              </a:rPr>
              <a:t>3.6.1 </a:t>
            </a:r>
            <a:r>
              <a:rPr lang="zh-CN" altLang="en-US" sz="2600" b="1" dirty="0">
                <a:latin typeface="华光标题宋_CNKI" panose="02000500000000000000" pitchFamily="2" charset="-122"/>
                <a:ea typeface="华光标题宋_CNKI" panose="02000500000000000000" pitchFamily="2" charset="-122"/>
              </a:rPr>
              <a:t>曲线的分类</a:t>
            </a:r>
            <a:endParaRPr lang="en-US" altLang="zh-CN" sz="2600" b="1"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）规则曲线：可用初等解析函数来描述。</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）自由曲线：无法用初等函数来描述，且光滑，连续，没有拐点。</a:t>
            </a:r>
            <a:endParaRPr lang="en-US" altLang="zh-CN" sz="2600" dirty="0">
              <a:latin typeface="华光仿宋_CNKI" panose="02000500000000000000" pitchFamily="2" charset="-122"/>
              <a:ea typeface="华光仿宋_CNKI" panose="02000500000000000000" pitchFamily="2" charset="-122"/>
            </a:endParaRPr>
          </a:p>
          <a:p>
            <a:pPr marL="0" lvl="1" algn="l">
              <a:lnSpc>
                <a:spcPct val="150000"/>
              </a:lnSpc>
              <a:spcBef>
                <a:spcPts val="1000"/>
              </a:spcBef>
              <a:defRPr/>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）随机曲线：处处连续，处处不光滑，处处不可导；比如地图边界，海岸线，水波，超声等。</a:t>
            </a: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822210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696297" y="736262"/>
                <a:ext cx="7574240" cy="5799710"/>
              </a:xfrm>
            </p:spPr>
            <p:txBody>
              <a:bodyPr>
                <a:normAutofit fontScale="92500" lnSpcReduction="10000"/>
              </a:bodyPr>
              <a:lstStyle/>
              <a:p>
                <a:pPr algn="l">
                  <a:lnSpc>
                    <a:spcPct val="160000"/>
                  </a:lnSpc>
                </a:pPr>
                <a:r>
                  <a:rPr lang="en-US" altLang="zh-CN" sz="2800" b="1" dirty="0">
                    <a:latin typeface="华光标题宋_CNKI" panose="02000500000000000000" pitchFamily="2" charset="-122"/>
                    <a:ea typeface="华光标题宋_CNKI" panose="02000500000000000000" pitchFamily="2" charset="-122"/>
                  </a:rPr>
                  <a:t>3.6.2 </a:t>
                </a:r>
                <a:r>
                  <a:rPr lang="zh-CN" altLang="en-US" sz="2800" b="1" dirty="0">
                    <a:latin typeface="华光标题宋_CNKI" panose="02000500000000000000" pitchFamily="2" charset="-122"/>
                    <a:ea typeface="华光标题宋_CNKI" panose="02000500000000000000" pitchFamily="2" charset="-122"/>
                  </a:rPr>
                  <a:t>对形状的数学描述的要求</a:t>
                </a:r>
                <a:endParaRPr lang="en-US" altLang="zh-CN" sz="2800" b="1"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 唯一性。</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）几何不变性。用相同的方法去拟合平面空间中不同坐标系下相同的几个点，得到的拟合曲线不变。</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在直角坐标系下，设有三个点，其坐标为</a:t>
                </a:r>
                <a:r>
                  <a:rPr lang="en-US" altLang="zh-CN" sz="2600" dirty="0">
                    <a:latin typeface="华光仿宋_CNKI" panose="02000500000000000000" pitchFamily="2" charset="-122"/>
                    <a:ea typeface="华光仿宋_CNKI" panose="02000500000000000000" pitchFamily="2" charset="-122"/>
                  </a:rPr>
                  <a:t>O(0,0),A (1,0.5),B(2,0)</a:t>
                </a:r>
                <a:r>
                  <a:rPr lang="zh-CN" altLang="en-US" sz="2600" dirty="0">
                    <a:latin typeface="华光仿宋_CNKI" panose="02000500000000000000" pitchFamily="2" charset="-122"/>
                    <a:ea typeface="华光仿宋_CNKI" panose="02000500000000000000" pitchFamily="2" charset="-122"/>
                  </a:rPr>
                  <a:t>，如果将其坐标轴沿顺时针旋转</a:t>
                </a:r>
                <a:r>
                  <a:rPr lang="en-US" altLang="zh-CN" sz="2600" dirty="0">
                    <a:latin typeface="华光仿宋_CNKI" panose="02000500000000000000" pitchFamily="2" charset="-122"/>
                    <a:ea typeface="华光仿宋_CNKI" panose="02000500000000000000" pitchFamily="2" charset="-122"/>
                  </a:rPr>
                  <a:t>45</a:t>
                </a:r>
                <a:r>
                  <a:rPr lang="zh-CN" altLang="en-US" sz="2600" dirty="0">
                    <a:latin typeface="华光仿宋_CNKI" panose="02000500000000000000" pitchFamily="2" charset="-122"/>
                    <a:ea typeface="华光仿宋_CNKI" panose="02000500000000000000" pitchFamily="2" charset="-122"/>
                  </a:rPr>
                  <a:t>度，则这些点在新坐标系下的坐标分别为</a:t>
                </a:r>
                <a:r>
                  <a:rPr lang="en-US" altLang="zh-CN" sz="2600" dirty="0">
                    <a:latin typeface="华光仿宋_CNKI" panose="02000500000000000000" pitchFamily="2" charset="-122"/>
                    <a:ea typeface="华光仿宋_CNKI" panose="02000500000000000000" pitchFamily="2" charset="-122"/>
                  </a:rPr>
                  <a:t>O(0,0),A(</a:t>
                </a:r>
                <a14:m>
                  <m:oMath xmlns:m="http://schemas.openxmlformats.org/officeDocument/2006/math">
                    <m:rad>
                      <m:radPr>
                        <m:degHide m:val="on"/>
                        <m:ctrlPr>
                          <a:rPr lang="zh-CN" altLang="en-US" sz="2600" i="1">
                            <a:latin typeface="Cambria Math" panose="02040503050406030204" pitchFamily="18" charset="0"/>
                            <a:ea typeface="华光仿宋_CNKI" panose="02000500000000000000" pitchFamily="2" charset="-122"/>
                          </a:rPr>
                        </m:ctrlPr>
                      </m:radPr>
                      <m:deg/>
                      <m:e>
                        <m:r>
                          <a:rPr lang="zh-CN" altLang="en-US" sz="2600">
                            <a:latin typeface="Cambria Math" panose="02040503050406030204" pitchFamily="18" charset="0"/>
                            <a:ea typeface="华光仿宋_CNKI" panose="02000500000000000000" pitchFamily="2" charset="-122"/>
                          </a:rPr>
                          <m:t>2</m:t>
                        </m:r>
                      </m:e>
                    </m:rad>
                    <m:r>
                      <a:rPr lang="zh-CN" altLang="en-US" sz="2600">
                        <a:latin typeface="Cambria Math" panose="02040503050406030204" pitchFamily="18" charset="0"/>
                        <a:ea typeface="华光仿宋_CNKI" panose="02000500000000000000" pitchFamily="2" charset="-122"/>
                      </a:rPr>
                      <m:t>/4,3</m:t>
                    </m:r>
                    <m:rad>
                      <m:radPr>
                        <m:degHide m:val="on"/>
                        <m:ctrlPr>
                          <a:rPr lang="zh-CN" altLang="en-US" sz="2600" i="1">
                            <a:latin typeface="Cambria Math" panose="02040503050406030204" pitchFamily="18" charset="0"/>
                            <a:ea typeface="华光仿宋_CNKI" panose="02000500000000000000" pitchFamily="2" charset="-122"/>
                          </a:rPr>
                        </m:ctrlPr>
                      </m:radPr>
                      <m:deg/>
                      <m:e>
                        <m:r>
                          <a:rPr lang="zh-CN" altLang="en-US" sz="2600">
                            <a:latin typeface="Cambria Math" panose="02040503050406030204" pitchFamily="18" charset="0"/>
                            <a:ea typeface="华光仿宋_CNKI" panose="02000500000000000000" pitchFamily="2" charset="-122"/>
                          </a:rPr>
                          <m:t>2</m:t>
                        </m:r>
                      </m:e>
                    </m:rad>
                    <m:r>
                      <a:rPr lang="zh-CN" altLang="en-US" sz="2600">
                        <a:latin typeface="Cambria Math" panose="02040503050406030204" pitchFamily="18" charset="0"/>
                        <a:ea typeface="华光仿宋_CNKI" panose="02000500000000000000" pitchFamily="2" charset="-122"/>
                      </a:rPr>
                      <m:t>/4</m:t>
                    </m:r>
                  </m:oMath>
                </a14:m>
                <a:r>
                  <a:rPr lang="en-US" altLang="zh-CN" sz="2600" dirty="0">
                    <a:latin typeface="华光仿宋_CNKI" panose="02000500000000000000" pitchFamily="2" charset="-122"/>
                    <a:ea typeface="华光仿宋_CNKI" panose="02000500000000000000" pitchFamily="2" charset="-122"/>
                  </a:rPr>
                  <a:t>),B(</a:t>
                </a:r>
                <a14:m>
                  <m:oMath xmlns:m="http://schemas.openxmlformats.org/officeDocument/2006/math">
                    <m:rad>
                      <m:radPr>
                        <m:degHide m:val="on"/>
                        <m:ctrlPr>
                          <a:rPr lang="zh-CN" altLang="en-US" sz="2600" i="1">
                            <a:latin typeface="Cambria Math" panose="02040503050406030204" pitchFamily="18" charset="0"/>
                            <a:ea typeface="华光仿宋_CNKI" panose="02000500000000000000" pitchFamily="2" charset="-122"/>
                          </a:rPr>
                        </m:ctrlPr>
                      </m:radPr>
                      <m:deg/>
                      <m:e>
                        <m:r>
                          <a:rPr lang="zh-CN" altLang="en-US" sz="2600">
                            <a:latin typeface="Cambria Math" panose="02040503050406030204" pitchFamily="18" charset="0"/>
                            <a:ea typeface="华光仿宋_CNKI" panose="02000500000000000000" pitchFamily="2" charset="-122"/>
                          </a:rPr>
                          <m:t>2</m:t>
                        </m:r>
                      </m:e>
                    </m:rad>
                    <m:r>
                      <a:rPr lang="zh-CN" altLang="en-US" sz="2600">
                        <a:latin typeface="Cambria Math" panose="02040503050406030204" pitchFamily="18" charset="0"/>
                        <a:ea typeface="华光仿宋_CNKI" panose="02000500000000000000" pitchFamily="2" charset="-122"/>
                      </a:rPr>
                      <m:t>,</m:t>
                    </m:r>
                    <m:rad>
                      <m:radPr>
                        <m:degHide m:val="on"/>
                        <m:ctrlPr>
                          <a:rPr lang="zh-CN" altLang="en-US" sz="2600" i="1">
                            <a:latin typeface="Cambria Math" panose="02040503050406030204" pitchFamily="18" charset="0"/>
                            <a:ea typeface="华光仿宋_CNKI" panose="02000500000000000000" pitchFamily="2" charset="-122"/>
                          </a:rPr>
                        </m:ctrlPr>
                      </m:radPr>
                      <m:deg/>
                      <m:e>
                        <m:r>
                          <a:rPr lang="zh-CN" altLang="en-US" sz="2600">
                            <a:latin typeface="Cambria Math" panose="02040503050406030204" pitchFamily="18" charset="0"/>
                            <a:ea typeface="华光仿宋_CNKI" panose="02000500000000000000" pitchFamily="2" charset="-122"/>
                          </a:rPr>
                          <m:t>2</m:t>
                        </m:r>
                      </m:e>
                    </m:rad>
                    <m:r>
                      <a:rPr lang="zh-CN" altLang="en-US" sz="2600">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m:t>
                    </m:r>
                  </m:oMath>
                </a14:m>
                <a:r>
                  <a:rPr lang="zh-CN" altLang="en-US" sz="2600" dirty="0">
                    <a:latin typeface="华光仿宋_CNKI" panose="02000500000000000000" pitchFamily="2" charset="-122"/>
                    <a:ea typeface="华光仿宋_CNKI" panose="02000500000000000000" pitchFamily="2" charset="-122"/>
                  </a:rPr>
                  <a:t>然后再进行抛物线拟合，得到的抛物线曲线方程将会与原来不同，对应的曲线也不一样，如右图所示。</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696297" y="736262"/>
                <a:ext cx="7574240" cy="5799710"/>
              </a:xfrm>
              <a:blipFill>
                <a:blip r:embed="rId2"/>
                <a:stretch>
                  <a:fillRect l="-1448" r="-644" b="-1157"/>
                </a:stretch>
              </a:blipFill>
            </p:spPr>
            <p:txBody>
              <a:bodyPr/>
              <a:lstStyle/>
              <a:p>
                <a:r>
                  <a:rPr lang="zh-CN" altLang="en-US">
                    <a:noFill/>
                  </a:rPr>
                  <a:t> </a:t>
                </a:r>
              </a:p>
            </p:txBody>
          </p:sp>
        </mc:Fallback>
      </mc:AlternateContent>
      <p:grpSp>
        <p:nvGrpSpPr>
          <p:cNvPr id="2" name="Group 52">
            <a:extLst>
              <a:ext uri="{FF2B5EF4-FFF2-40B4-BE49-F238E27FC236}">
                <a16:creationId xmlns:a16="http://schemas.microsoft.com/office/drawing/2014/main" id="{BDD8F69F-3C9F-6564-F6FD-5EB4ADC4D987}"/>
              </a:ext>
            </a:extLst>
          </p:cNvPr>
          <p:cNvGrpSpPr>
            <a:grpSpLocks/>
          </p:cNvGrpSpPr>
          <p:nvPr/>
        </p:nvGrpSpPr>
        <p:grpSpPr bwMode="auto">
          <a:xfrm>
            <a:off x="8399127" y="414152"/>
            <a:ext cx="3643312" cy="2439987"/>
            <a:chOff x="431" y="913"/>
            <a:chExt cx="2295" cy="1537"/>
          </a:xfrm>
        </p:grpSpPr>
        <p:sp>
          <p:nvSpPr>
            <p:cNvPr id="4" name="Oval 14">
              <a:extLst>
                <a:ext uri="{FF2B5EF4-FFF2-40B4-BE49-F238E27FC236}">
                  <a16:creationId xmlns:a16="http://schemas.microsoft.com/office/drawing/2014/main" id="{C043CE02-D428-B639-813C-222AA48B230F}"/>
                </a:ext>
              </a:extLst>
            </p:cNvPr>
            <p:cNvSpPr>
              <a:spLocks noChangeArrowheads="1"/>
            </p:cNvSpPr>
            <p:nvPr/>
          </p:nvSpPr>
          <p:spPr bwMode="auto">
            <a:xfrm>
              <a:off x="1292" y="1507"/>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 name="Oval 15">
              <a:extLst>
                <a:ext uri="{FF2B5EF4-FFF2-40B4-BE49-F238E27FC236}">
                  <a16:creationId xmlns:a16="http://schemas.microsoft.com/office/drawing/2014/main" id="{5FD7D959-6702-CF13-9C4C-7AE3A26BF9A0}"/>
                </a:ext>
              </a:extLst>
            </p:cNvPr>
            <p:cNvSpPr>
              <a:spLocks noChangeArrowheads="1"/>
            </p:cNvSpPr>
            <p:nvPr/>
          </p:nvSpPr>
          <p:spPr bwMode="auto">
            <a:xfrm>
              <a:off x="2073" y="1851"/>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Oval 16">
              <a:extLst>
                <a:ext uri="{FF2B5EF4-FFF2-40B4-BE49-F238E27FC236}">
                  <a16:creationId xmlns:a16="http://schemas.microsoft.com/office/drawing/2014/main" id="{A09D4CA4-65BB-4501-98A7-96FD18D68227}"/>
                </a:ext>
              </a:extLst>
            </p:cNvPr>
            <p:cNvSpPr>
              <a:spLocks noChangeArrowheads="1"/>
            </p:cNvSpPr>
            <p:nvPr/>
          </p:nvSpPr>
          <p:spPr bwMode="auto">
            <a:xfrm>
              <a:off x="494" y="1850"/>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 name="Text Box 20">
              <a:extLst>
                <a:ext uri="{FF2B5EF4-FFF2-40B4-BE49-F238E27FC236}">
                  <a16:creationId xmlns:a16="http://schemas.microsoft.com/office/drawing/2014/main" id="{324A6F1A-5AC2-315C-F440-AB450BE99DE7}"/>
                </a:ext>
              </a:extLst>
            </p:cNvPr>
            <p:cNvSpPr txBox="1">
              <a:spLocks noChangeArrowheads="1"/>
            </p:cNvSpPr>
            <p:nvPr/>
          </p:nvSpPr>
          <p:spPr bwMode="auto">
            <a:xfrm>
              <a:off x="2318" y="1761"/>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x</a:t>
              </a:r>
            </a:p>
          </p:txBody>
        </p:sp>
        <p:sp>
          <p:nvSpPr>
            <p:cNvPr id="8" name="Text Box 23">
              <a:extLst>
                <a:ext uri="{FF2B5EF4-FFF2-40B4-BE49-F238E27FC236}">
                  <a16:creationId xmlns:a16="http://schemas.microsoft.com/office/drawing/2014/main" id="{8C553F52-752E-FECA-EBC1-91A5236BCA75}"/>
                </a:ext>
              </a:extLst>
            </p:cNvPr>
            <p:cNvSpPr txBox="1">
              <a:spLocks noChangeArrowheads="1"/>
            </p:cNvSpPr>
            <p:nvPr/>
          </p:nvSpPr>
          <p:spPr bwMode="auto">
            <a:xfrm>
              <a:off x="440" y="913"/>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y</a:t>
              </a:r>
            </a:p>
          </p:txBody>
        </p:sp>
        <p:grpSp>
          <p:nvGrpSpPr>
            <p:cNvPr id="9" name="Group 49">
              <a:extLst>
                <a:ext uri="{FF2B5EF4-FFF2-40B4-BE49-F238E27FC236}">
                  <a16:creationId xmlns:a16="http://schemas.microsoft.com/office/drawing/2014/main" id="{3F86E606-90C3-0DD0-1CF8-5A0CBB084FA2}"/>
                </a:ext>
              </a:extLst>
            </p:cNvPr>
            <p:cNvGrpSpPr>
              <a:grpSpLocks/>
            </p:cNvGrpSpPr>
            <p:nvPr/>
          </p:nvGrpSpPr>
          <p:grpSpPr bwMode="auto">
            <a:xfrm>
              <a:off x="431" y="1117"/>
              <a:ext cx="2123" cy="1333"/>
              <a:chOff x="431" y="1117"/>
              <a:chExt cx="2123" cy="1333"/>
            </a:xfrm>
          </p:grpSpPr>
          <p:grpSp>
            <p:nvGrpSpPr>
              <p:cNvPr id="10" name="Group 9">
                <a:extLst>
                  <a:ext uri="{FF2B5EF4-FFF2-40B4-BE49-F238E27FC236}">
                    <a16:creationId xmlns:a16="http://schemas.microsoft.com/office/drawing/2014/main" id="{19A24852-FD73-168E-B15C-18036A54F439}"/>
                  </a:ext>
                </a:extLst>
              </p:cNvPr>
              <p:cNvGrpSpPr>
                <a:grpSpLocks/>
              </p:cNvGrpSpPr>
              <p:nvPr/>
            </p:nvGrpSpPr>
            <p:grpSpPr bwMode="auto">
              <a:xfrm>
                <a:off x="522" y="1117"/>
                <a:ext cx="1814" cy="1333"/>
                <a:chOff x="839" y="1480"/>
                <a:chExt cx="1814" cy="1333"/>
              </a:xfrm>
            </p:grpSpPr>
            <p:sp>
              <p:nvSpPr>
                <p:cNvPr id="14" name="Line 4">
                  <a:extLst>
                    <a:ext uri="{FF2B5EF4-FFF2-40B4-BE49-F238E27FC236}">
                      <a16:creationId xmlns:a16="http://schemas.microsoft.com/office/drawing/2014/main" id="{48C69953-16CB-23E8-7C9E-08BC9441DE4E}"/>
                    </a:ext>
                  </a:extLst>
                </p:cNvPr>
                <p:cNvSpPr>
                  <a:spLocks noChangeShapeType="1"/>
                </p:cNvSpPr>
                <p:nvPr/>
              </p:nvSpPr>
              <p:spPr bwMode="auto">
                <a:xfrm>
                  <a:off x="839" y="2251"/>
                  <a:ext cx="18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p>
              </p:txBody>
            </p:sp>
            <p:sp>
              <p:nvSpPr>
                <p:cNvPr id="15" name="Line 5">
                  <a:extLst>
                    <a:ext uri="{FF2B5EF4-FFF2-40B4-BE49-F238E27FC236}">
                      <a16:creationId xmlns:a16="http://schemas.microsoft.com/office/drawing/2014/main" id="{0B1D9041-41B8-B42D-0C4B-5AA62A1754D8}"/>
                    </a:ext>
                  </a:extLst>
                </p:cNvPr>
                <p:cNvSpPr>
                  <a:spLocks noChangeShapeType="1"/>
                </p:cNvSpPr>
                <p:nvPr/>
              </p:nvSpPr>
              <p:spPr bwMode="auto">
                <a:xfrm flipV="1">
                  <a:off x="839" y="1480"/>
                  <a:ext cx="0" cy="77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Arc 7">
                  <a:extLst>
                    <a:ext uri="{FF2B5EF4-FFF2-40B4-BE49-F238E27FC236}">
                      <a16:creationId xmlns:a16="http://schemas.microsoft.com/office/drawing/2014/main" id="{2D211F2B-5CC3-BC10-78A7-262ED925C1D9}"/>
                    </a:ext>
                  </a:extLst>
                </p:cNvPr>
                <p:cNvSpPr>
                  <a:spLocks/>
                </p:cNvSpPr>
                <p:nvPr/>
              </p:nvSpPr>
              <p:spPr bwMode="auto">
                <a:xfrm rot="-2655454">
                  <a:off x="1084" y="1679"/>
                  <a:ext cx="1134" cy="1134"/>
                </a:xfrm>
                <a:custGeom>
                  <a:avLst/>
                  <a:gdLst>
                    <a:gd name="T0" fmla="*/ 0 w 21600"/>
                    <a:gd name="T1" fmla="*/ 0 h 21600"/>
                    <a:gd name="T2" fmla="*/ 60 w 21600"/>
                    <a:gd name="T3" fmla="*/ 60 h 21600"/>
                    <a:gd name="T4" fmla="*/ 0 w 21600"/>
                    <a:gd name="T5" fmla="*/ 6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1" name="Text Box 22">
                <a:extLst>
                  <a:ext uri="{FF2B5EF4-FFF2-40B4-BE49-F238E27FC236}">
                    <a16:creationId xmlns:a16="http://schemas.microsoft.com/office/drawing/2014/main" id="{F7FCC0D0-802B-450F-7420-4C3140756464}"/>
                  </a:ext>
                </a:extLst>
              </p:cNvPr>
              <p:cNvSpPr txBox="1">
                <a:spLocks noChangeArrowheads="1"/>
              </p:cNvSpPr>
              <p:nvPr/>
            </p:nvSpPr>
            <p:spPr bwMode="auto">
              <a:xfrm>
                <a:off x="431" y="1915"/>
                <a:ext cx="6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O(0,0)</a:t>
                </a:r>
              </a:p>
            </p:txBody>
          </p:sp>
          <p:sp>
            <p:nvSpPr>
              <p:cNvPr id="12" name="Text Box 26">
                <a:extLst>
                  <a:ext uri="{FF2B5EF4-FFF2-40B4-BE49-F238E27FC236}">
                    <a16:creationId xmlns:a16="http://schemas.microsoft.com/office/drawing/2014/main" id="{8AA73A52-CB49-E62E-5159-DDB251BF8574}"/>
                  </a:ext>
                </a:extLst>
              </p:cNvPr>
              <p:cNvSpPr txBox="1">
                <a:spLocks noChangeArrowheads="1"/>
              </p:cNvSpPr>
              <p:nvPr/>
            </p:nvSpPr>
            <p:spPr bwMode="auto">
              <a:xfrm>
                <a:off x="1111" y="1298"/>
                <a:ext cx="7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A(1,1/2)</a:t>
                </a:r>
              </a:p>
            </p:txBody>
          </p:sp>
          <p:sp>
            <p:nvSpPr>
              <p:cNvPr id="13" name="Text Box 27">
                <a:extLst>
                  <a:ext uri="{FF2B5EF4-FFF2-40B4-BE49-F238E27FC236}">
                    <a16:creationId xmlns:a16="http://schemas.microsoft.com/office/drawing/2014/main" id="{FD81D311-AA78-D161-01A8-E1D6C81F3C33}"/>
                  </a:ext>
                </a:extLst>
              </p:cNvPr>
              <p:cNvSpPr txBox="1">
                <a:spLocks noChangeArrowheads="1"/>
              </p:cNvSpPr>
              <p:nvPr/>
            </p:nvSpPr>
            <p:spPr bwMode="auto">
              <a:xfrm>
                <a:off x="1928" y="1906"/>
                <a:ext cx="6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B(2,0)</a:t>
                </a:r>
              </a:p>
            </p:txBody>
          </p:sp>
        </p:grpSp>
      </p:grpSp>
      <p:graphicFrame>
        <p:nvGraphicFramePr>
          <p:cNvPr id="18" name="Object 40">
            <a:extLst>
              <a:ext uri="{FF2B5EF4-FFF2-40B4-BE49-F238E27FC236}">
                <a16:creationId xmlns:a16="http://schemas.microsoft.com/office/drawing/2014/main" id="{684D5049-DA2A-4861-69C4-3BA6EE18E9D1}"/>
              </a:ext>
            </a:extLst>
          </p:cNvPr>
          <p:cNvGraphicFramePr>
            <a:graphicFrameLocks noChangeAspect="1"/>
          </p:cNvGraphicFramePr>
          <p:nvPr>
            <p:extLst>
              <p:ext uri="{D42A27DB-BD31-4B8C-83A1-F6EECF244321}">
                <p14:modId xmlns:p14="http://schemas.microsoft.com/office/powerpoint/2010/main" val="3347370376"/>
              </p:ext>
            </p:extLst>
          </p:nvPr>
        </p:nvGraphicFramePr>
        <p:xfrm>
          <a:off x="8967175" y="2513191"/>
          <a:ext cx="2159000" cy="731838"/>
        </p:xfrm>
        <a:graphic>
          <a:graphicData uri="http://schemas.openxmlformats.org/presentationml/2006/ole">
            <mc:AlternateContent xmlns:mc="http://schemas.openxmlformats.org/markup-compatibility/2006">
              <mc:Choice xmlns:v="urn:schemas-microsoft-com:vml" Requires="v">
                <p:oleObj name="公式" r:id="rId3" imgW="838200" imgH="368300" progId="Equation.3">
                  <p:embed/>
                </p:oleObj>
              </mc:Choice>
              <mc:Fallback>
                <p:oleObj name="公式" r:id="rId3" imgW="838200" imgH="368300" progId="Equation.3">
                  <p:embed/>
                  <p:pic>
                    <p:nvPicPr>
                      <p:cNvPr id="105512" name="Object 40">
                        <a:extLst>
                          <a:ext uri="{FF2B5EF4-FFF2-40B4-BE49-F238E27FC236}">
                            <a16:creationId xmlns:a16="http://schemas.microsoft.com/office/drawing/2014/main" id="{4F7E1891-8BDC-6231-7520-2F198F24F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7175" y="2513191"/>
                        <a:ext cx="2159000" cy="731838"/>
                      </a:xfrm>
                      <a:prstGeom prst="rect">
                        <a:avLst/>
                      </a:prstGeom>
                      <a:solidFill>
                        <a:schemeClr val="bg1"/>
                      </a:solidFill>
                      <a:ln>
                        <a:noFill/>
                      </a:ln>
                    </p:spPr>
                  </p:pic>
                </p:oleObj>
              </mc:Fallback>
            </mc:AlternateContent>
          </a:graphicData>
        </a:graphic>
      </p:graphicFrame>
      <p:grpSp>
        <p:nvGrpSpPr>
          <p:cNvPr id="19" name="Group 51">
            <a:extLst>
              <a:ext uri="{FF2B5EF4-FFF2-40B4-BE49-F238E27FC236}">
                <a16:creationId xmlns:a16="http://schemas.microsoft.com/office/drawing/2014/main" id="{53FF15D1-5896-7430-FE02-1C38CB56E0CA}"/>
              </a:ext>
            </a:extLst>
          </p:cNvPr>
          <p:cNvGrpSpPr>
            <a:grpSpLocks/>
          </p:cNvGrpSpPr>
          <p:nvPr/>
        </p:nvGrpSpPr>
        <p:grpSpPr bwMode="auto">
          <a:xfrm>
            <a:off x="8471516" y="3382811"/>
            <a:ext cx="3570923" cy="1947863"/>
            <a:chOff x="431" y="2840"/>
            <a:chExt cx="2285" cy="1227"/>
          </a:xfrm>
        </p:grpSpPr>
        <p:sp>
          <p:nvSpPr>
            <p:cNvPr id="20" name="Line 11">
              <a:extLst>
                <a:ext uri="{FF2B5EF4-FFF2-40B4-BE49-F238E27FC236}">
                  <a16:creationId xmlns:a16="http://schemas.microsoft.com/office/drawing/2014/main" id="{63198F6B-29A3-4CB5-BA2F-0AC6C19724A7}"/>
                </a:ext>
              </a:extLst>
            </p:cNvPr>
            <p:cNvSpPr>
              <a:spLocks noChangeShapeType="1"/>
            </p:cNvSpPr>
            <p:nvPr/>
          </p:nvSpPr>
          <p:spPr bwMode="auto">
            <a:xfrm>
              <a:off x="521" y="3820"/>
              <a:ext cx="181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12">
              <a:extLst>
                <a:ext uri="{FF2B5EF4-FFF2-40B4-BE49-F238E27FC236}">
                  <a16:creationId xmlns:a16="http://schemas.microsoft.com/office/drawing/2014/main" id="{F4672FB5-02D1-CADB-0EE9-28A2C1BB9CA7}"/>
                </a:ext>
              </a:extLst>
            </p:cNvPr>
            <p:cNvSpPr>
              <a:spLocks noChangeShapeType="1"/>
            </p:cNvSpPr>
            <p:nvPr/>
          </p:nvSpPr>
          <p:spPr bwMode="auto">
            <a:xfrm flipV="1">
              <a:off x="521" y="3049"/>
              <a:ext cx="0" cy="77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Arc 13">
              <a:extLst>
                <a:ext uri="{FF2B5EF4-FFF2-40B4-BE49-F238E27FC236}">
                  <a16:creationId xmlns:a16="http://schemas.microsoft.com/office/drawing/2014/main" id="{EF011392-A05E-AABD-36A0-E2FDDE30101E}"/>
                </a:ext>
              </a:extLst>
            </p:cNvPr>
            <p:cNvSpPr>
              <a:spLocks/>
            </p:cNvSpPr>
            <p:nvPr/>
          </p:nvSpPr>
          <p:spPr bwMode="auto">
            <a:xfrm rot="-2655454">
              <a:off x="503" y="3318"/>
              <a:ext cx="1150" cy="479"/>
            </a:xfrm>
            <a:custGeom>
              <a:avLst/>
              <a:gdLst>
                <a:gd name="T0" fmla="*/ 0 w 31018"/>
                <a:gd name="T1" fmla="*/ 1 h 21600"/>
                <a:gd name="T2" fmla="*/ 43 w 31018"/>
                <a:gd name="T3" fmla="*/ 10 h 21600"/>
                <a:gd name="T4" fmla="*/ 13 w 31018"/>
                <a:gd name="T5" fmla="*/ 11 h 21600"/>
                <a:gd name="T6" fmla="*/ 0 60000 65536"/>
                <a:gd name="T7" fmla="*/ 0 60000 65536"/>
                <a:gd name="T8" fmla="*/ 0 60000 65536"/>
                <a:gd name="T9" fmla="*/ 0 w 31018"/>
                <a:gd name="T10" fmla="*/ 0 h 21600"/>
                <a:gd name="T11" fmla="*/ 31018 w 31018"/>
                <a:gd name="T12" fmla="*/ 21600 h 21600"/>
              </a:gdLst>
              <a:ahLst/>
              <a:cxnLst>
                <a:cxn ang="T6">
                  <a:pos x="T0" y="T1"/>
                </a:cxn>
                <a:cxn ang="T7">
                  <a:pos x="T2" y="T3"/>
                </a:cxn>
                <a:cxn ang="T8">
                  <a:pos x="T4" y="T5"/>
                </a:cxn>
              </a:cxnLst>
              <a:rect l="T9" t="T10" r="T11" b="T12"/>
              <a:pathLst>
                <a:path w="31018" h="21600" fill="none" extrusionOk="0">
                  <a:moveTo>
                    <a:pt x="0" y="2164"/>
                  </a:moveTo>
                  <a:cubicBezTo>
                    <a:pt x="2937" y="739"/>
                    <a:pt x="6159" y="-1"/>
                    <a:pt x="9424" y="0"/>
                  </a:cubicBezTo>
                  <a:cubicBezTo>
                    <a:pt x="21152" y="0"/>
                    <a:pt x="30737" y="9359"/>
                    <a:pt x="31017" y="21084"/>
                  </a:cubicBezTo>
                </a:path>
                <a:path w="31018" h="21600" stroke="0" extrusionOk="0">
                  <a:moveTo>
                    <a:pt x="0" y="2164"/>
                  </a:moveTo>
                  <a:cubicBezTo>
                    <a:pt x="2937" y="739"/>
                    <a:pt x="6159" y="-1"/>
                    <a:pt x="9424" y="0"/>
                  </a:cubicBezTo>
                  <a:cubicBezTo>
                    <a:pt x="21152" y="0"/>
                    <a:pt x="30737" y="9359"/>
                    <a:pt x="31017" y="21084"/>
                  </a:cubicBezTo>
                  <a:lnTo>
                    <a:pt x="9424"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 name="Oval 17">
              <a:extLst>
                <a:ext uri="{FF2B5EF4-FFF2-40B4-BE49-F238E27FC236}">
                  <a16:creationId xmlns:a16="http://schemas.microsoft.com/office/drawing/2014/main" id="{0C7C397F-E27B-2CE4-C2C1-5B5EB563C14B}"/>
                </a:ext>
              </a:extLst>
            </p:cNvPr>
            <p:cNvSpPr>
              <a:spLocks noChangeArrowheads="1"/>
            </p:cNvSpPr>
            <p:nvPr/>
          </p:nvSpPr>
          <p:spPr bwMode="auto">
            <a:xfrm>
              <a:off x="494" y="3765"/>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 name="Oval 18">
              <a:extLst>
                <a:ext uri="{FF2B5EF4-FFF2-40B4-BE49-F238E27FC236}">
                  <a16:creationId xmlns:a16="http://schemas.microsoft.com/office/drawing/2014/main" id="{0FEC8D88-DC9D-1E1C-C713-8F79C4D91B8A}"/>
                </a:ext>
              </a:extLst>
            </p:cNvPr>
            <p:cNvSpPr>
              <a:spLocks noChangeArrowheads="1"/>
            </p:cNvSpPr>
            <p:nvPr/>
          </p:nvSpPr>
          <p:spPr bwMode="auto">
            <a:xfrm>
              <a:off x="1582" y="3265"/>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 name="Oval 19">
              <a:extLst>
                <a:ext uri="{FF2B5EF4-FFF2-40B4-BE49-F238E27FC236}">
                  <a16:creationId xmlns:a16="http://schemas.microsoft.com/office/drawing/2014/main" id="{16F337B3-CC81-DB9D-EFF6-F8CC9D25DF02}"/>
                </a:ext>
              </a:extLst>
            </p:cNvPr>
            <p:cNvSpPr>
              <a:spLocks noChangeArrowheads="1"/>
            </p:cNvSpPr>
            <p:nvPr/>
          </p:nvSpPr>
          <p:spPr bwMode="auto">
            <a:xfrm>
              <a:off x="938" y="3338"/>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Text Box 21">
              <a:extLst>
                <a:ext uri="{FF2B5EF4-FFF2-40B4-BE49-F238E27FC236}">
                  <a16:creationId xmlns:a16="http://schemas.microsoft.com/office/drawing/2014/main" id="{7DF88C71-0FC0-7FC2-9089-F68A460C60BD}"/>
                </a:ext>
              </a:extLst>
            </p:cNvPr>
            <p:cNvSpPr txBox="1">
              <a:spLocks noChangeArrowheads="1"/>
            </p:cNvSpPr>
            <p:nvPr/>
          </p:nvSpPr>
          <p:spPr bwMode="auto">
            <a:xfrm>
              <a:off x="2308" y="3697"/>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x</a:t>
              </a:r>
            </a:p>
          </p:txBody>
        </p:sp>
        <p:sp>
          <p:nvSpPr>
            <p:cNvPr id="27" name="Text Box 24">
              <a:extLst>
                <a:ext uri="{FF2B5EF4-FFF2-40B4-BE49-F238E27FC236}">
                  <a16:creationId xmlns:a16="http://schemas.microsoft.com/office/drawing/2014/main" id="{68101569-BC5C-0375-485C-B94564D8FAE7}"/>
                </a:ext>
              </a:extLst>
            </p:cNvPr>
            <p:cNvSpPr txBox="1">
              <a:spLocks noChangeArrowheads="1"/>
            </p:cNvSpPr>
            <p:nvPr/>
          </p:nvSpPr>
          <p:spPr bwMode="auto">
            <a:xfrm>
              <a:off x="440" y="284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y</a:t>
              </a:r>
            </a:p>
          </p:txBody>
        </p:sp>
        <p:sp>
          <p:nvSpPr>
            <p:cNvPr id="28" name="Text Box 25">
              <a:extLst>
                <a:ext uri="{FF2B5EF4-FFF2-40B4-BE49-F238E27FC236}">
                  <a16:creationId xmlns:a16="http://schemas.microsoft.com/office/drawing/2014/main" id="{BDCAE63A-7AD6-1E0D-33F8-FDA371D472F5}"/>
                </a:ext>
              </a:extLst>
            </p:cNvPr>
            <p:cNvSpPr txBox="1">
              <a:spLocks noChangeArrowheads="1"/>
            </p:cNvSpPr>
            <p:nvPr/>
          </p:nvSpPr>
          <p:spPr bwMode="auto">
            <a:xfrm>
              <a:off x="431" y="3834"/>
              <a:ext cx="63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O(0,0)</a:t>
              </a:r>
            </a:p>
          </p:txBody>
        </p:sp>
        <mc:AlternateContent xmlns:mc="http://schemas.openxmlformats.org/markup-compatibility/2006" xmlns:a14="http://schemas.microsoft.com/office/drawing/2010/main">
          <mc:Choice Requires="a14">
            <p:sp>
              <p:nvSpPr>
                <p:cNvPr id="29" name="Object 35">
                  <a:extLst>
                    <a:ext uri="{FF2B5EF4-FFF2-40B4-BE49-F238E27FC236}">
                      <a16:creationId xmlns:a16="http://schemas.microsoft.com/office/drawing/2014/main" id="{434313F4-2C67-CB99-973C-61EFBD462CB8}"/>
                    </a:ext>
                  </a:extLst>
                </p:cNvPr>
                <p:cNvSpPr txBox="1"/>
                <p:nvPr/>
              </p:nvSpPr>
              <p:spPr bwMode="auto">
                <a:xfrm>
                  <a:off x="565" y="2994"/>
                  <a:ext cx="1047" cy="202"/>
                </a:xfrm>
                <a:prstGeom prst="rect">
                  <a:avLst/>
                </a:prstGeom>
                <a:solidFill>
                  <a:schemeClr val="bg1"/>
                </a:solidFill>
              </p:spPr>
              <p:txBody>
                <a:bodyPr>
                  <a:noAutofit/>
                </a:bodyPr>
                <a:lstStyle/>
                <a:p>
                  <a:pPr/>
                  <a14:m>
                    <m:oMathPara xmlns:m="http://schemas.openxmlformats.org/officeDocument/2006/math">
                      <m:oMathParaPr>
                        <m:jc m:val="left"/>
                      </m:oMathParaPr>
                      <m:oMath xmlns:m="http://schemas.openxmlformats.org/officeDocument/2006/math">
                        <m:r>
                          <a:rPr lang="en-US" altLang="zh-CN" sz="1600" b="0" i="1" smtClean="0">
                            <a:solidFill>
                              <a:srgbClr val="000000"/>
                            </a:solidFill>
                            <a:latin typeface="Cambria Math" panose="02040503050406030204" pitchFamily="18" charset="0"/>
                          </a:rPr>
                          <m:t>𝐴</m:t>
                        </m:r>
                        <m:r>
                          <a:rPr lang="zh-CN" altLang="en-US" sz="1600" i="1">
                            <a:solidFill>
                              <a:srgbClr val="000000"/>
                            </a:solidFill>
                            <a:latin typeface="Cambria Math" panose="02040503050406030204" pitchFamily="18" charset="0"/>
                          </a:rPr>
                          <m:t>(</m:t>
                        </m:r>
                        <m:rad>
                          <m:radPr>
                            <m:degHide m:val="on"/>
                            <m:ctrlPr>
                              <a:rPr lang="zh-CN" altLang="en-US" sz="1600" i="1">
                                <a:solidFill>
                                  <a:srgbClr val="000000"/>
                                </a:solidFill>
                                <a:latin typeface="Cambria Math" panose="02040503050406030204" pitchFamily="18" charset="0"/>
                              </a:rPr>
                            </m:ctrlPr>
                          </m:radPr>
                          <m:deg/>
                          <m:e>
                            <m:r>
                              <a:rPr lang="zh-CN" altLang="en-US" sz="1600" i="1">
                                <a:solidFill>
                                  <a:srgbClr val="000000"/>
                                </a:solidFill>
                                <a:latin typeface="Cambria Math" panose="02040503050406030204" pitchFamily="18" charset="0"/>
                              </a:rPr>
                              <m:t>2</m:t>
                            </m:r>
                          </m:e>
                        </m:rad>
                        <m:r>
                          <a:rPr lang="zh-CN" altLang="en-US" sz="1600" i="1">
                            <a:solidFill>
                              <a:srgbClr val="000000"/>
                            </a:solidFill>
                            <a:latin typeface="Cambria Math" panose="02040503050406030204" pitchFamily="18" charset="0"/>
                          </a:rPr>
                          <m:t>/4,3</m:t>
                        </m:r>
                        <m:rad>
                          <m:radPr>
                            <m:degHide m:val="on"/>
                            <m:ctrlPr>
                              <a:rPr lang="zh-CN" altLang="en-US" sz="1600" i="1">
                                <a:solidFill>
                                  <a:srgbClr val="000000"/>
                                </a:solidFill>
                                <a:latin typeface="Cambria Math" panose="02040503050406030204" pitchFamily="18" charset="0"/>
                              </a:rPr>
                            </m:ctrlPr>
                          </m:radPr>
                          <m:deg/>
                          <m:e>
                            <m:r>
                              <a:rPr lang="zh-CN" altLang="en-US" sz="1600" i="1">
                                <a:solidFill>
                                  <a:srgbClr val="000000"/>
                                </a:solidFill>
                                <a:latin typeface="Cambria Math" panose="02040503050406030204" pitchFamily="18" charset="0"/>
                              </a:rPr>
                              <m:t>2</m:t>
                            </m:r>
                          </m:e>
                        </m:rad>
                        <m:r>
                          <a:rPr lang="zh-CN" altLang="en-US" sz="1600" i="1">
                            <a:solidFill>
                              <a:srgbClr val="000000"/>
                            </a:solidFill>
                            <a:latin typeface="Cambria Math" panose="02040503050406030204" pitchFamily="18" charset="0"/>
                          </a:rPr>
                          <m:t>/4)</m:t>
                        </m:r>
                      </m:oMath>
                    </m:oMathPara>
                  </a14:m>
                  <a:endParaRPr lang="zh-CN" altLang="en-US" sz="1600" dirty="0"/>
                </a:p>
              </p:txBody>
            </p:sp>
          </mc:Choice>
          <mc:Fallback xmlns="">
            <p:sp>
              <p:nvSpPr>
                <p:cNvPr id="29" name="Object 35">
                  <a:extLst>
                    <a:ext uri="{FF2B5EF4-FFF2-40B4-BE49-F238E27FC236}">
                      <a16:creationId xmlns:a16="http://schemas.microsoft.com/office/drawing/2014/main" id="{434313F4-2C67-CB99-973C-61EFBD462CB8}"/>
                    </a:ext>
                  </a:extLst>
                </p:cNvPr>
                <p:cNvSpPr txBox="1">
                  <a:spLocks noRot="1" noChangeAspect="1" noMove="1" noResize="1" noEditPoints="1" noAdjustHandles="1" noChangeArrowheads="1" noChangeShapeType="1" noTextEdit="1"/>
                </p:cNvSpPr>
                <p:nvPr/>
              </p:nvSpPr>
              <p:spPr bwMode="auto">
                <a:xfrm>
                  <a:off x="565" y="2994"/>
                  <a:ext cx="1047" cy="202"/>
                </a:xfrm>
                <a:prstGeom prst="rect">
                  <a:avLst/>
                </a:prstGeom>
                <a:blipFill>
                  <a:blip r:embed="rId5"/>
                  <a:stretch>
                    <a:fillRect b="-245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37">
                  <a:extLst>
                    <a:ext uri="{FF2B5EF4-FFF2-40B4-BE49-F238E27FC236}">
                      <a16:creationId xmlns:a16="http://schemas.microsoft.com/office/drawing/2014/main" id="{6742833B-3CB3-AAA9-164F-7FEB36E982BA}"/>
                    </a:ext>
                  </a:extLst>
                </p:cNvPr>
                <p:cNvSpPr txBox="1"/>
                <p:nvPr/>
              </p:nvSpPr>
              <p:spPr bwMode="auto">
                <a:xfrm>
                  <a:off x="1684" y="3172"/>
                  <a:ext cx="751" cy="264"/>
                </a:xfrm>
                <a:prstGeom prst="rect">
                  <a:avLst/>
                </a:prstGeom>
                <a:solidFill>
                  <a:schemeClr val="bg1"/>
                </a:solidFill>
              </p:spPr>
              <p:txBody>
                <a:bodyPr>
                  <a:noAutofit/>
                </a:bodyPr>
                <a:lstStyle/>
                <a:p>
                  <a:r>
                    <a:rPr lang="en-US" altLang="zh-CN" dirty="0">
                      <a:solidFill>
                        <a:srgbClr val="000000"/>
                      </a:solidFill>
                    </a:rPr>
                    <a:t>B</a:t>
                  </a:r>
                  <a14:m>
                    <m:oMath xmlns:m="http://schemas.openxmlformats.org/officeDocument/2006/math">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2</m:t>
                          </m:r>
                        </m:e>
                      </m:rad>
                      <m:r>
                        <a:rPr lang="zh-CN" altLang="en-US" i="1">
                          <a:solidFill>
                            <a:srgbClr val="000000"/>
                          </a:solidFill>
                          <a:latin typeface="Cambria Math" panose="02040503050406030204" pitchFamily="18" charset="0"/>
                        </a:rPr>
                        <m:t>)</m:t>
                      </m:r>
                    </m:oMath>
                  </a14:m>
                  <a:endParaRPr lang="zh-CN" altLang="en-US" dirty="0"/>
                </a:p>
              </p:txBody>
            </p:sp>
          </mc:Choice>
          <mc:Fallback xmlns="">
            <p:sp>
              <p:nvSpPr>
                <p:cNvPr id="30" name="Object 37">
                  <a:extLst>
                    <a:ext uri="{FF2B5EF4-FFF2-40B4-BE49-F238E27FC236}">
                      <a16:creationId xmlns:a16="http://schemas.microsoft.com/office/drawing/2014/main" id="{6742833B-3CB3-AAA9-164F-7FEB36E982BA}"/>
                    </a:ext>
                  </a:extLst>
                </p:cNvPr>
                <p:cNvSpPr txBox="1">
                  <a:spLocks noRot="1" noChangeAspect="1" noMove="1" noResize="1" noEditPoints="1" noAdjustHandles="1" noChangeArrowheads="1" noChangeShapeType="1" noTextEdit="1"/>
                </p:cNvSpPr>
                <p:nvPr/>
              </p:nvSpPr>
              <p:spPr bwMode="auto">
                <a:xfrm>
                  <a:off x="1684" y="3172"/>
                  <a:ext cx="751" cy="264"/>
                </a:xfrm>
                <a:prstGeom prst="rect">
                  <a:avLst/>
                </a:prstGeom>
                <a:blipFill>
                  <a:blip r:embed="rId6"/>
                  <a:stretch>
                    <a:fillRect l="-4688" b="-17391"/>
                  </a:stretch>
                </a:blipFill>
              </p:spPr>
              <p:txBody>
                <a:bodyPr/>
                <a:lstStyle/>
                <a:p>
                  <a:r>
                    <a:rPr lang="zh-CN" altLang="en-US">
                      <a:noFill/>
                    </a:rPr>
                    <a:t> </a:t>
                  </a:r>
                </a:p>
              </p:txBody>
            </p:sp>
          </mc:Fallback>
        </mc:AlternateContent>
      </p:grpSp>
      <p:graphicFrame>
        <p:nvGraphicFramePr>
          <p:cNvPr id="31" name="Object 42">
            <a:extLst>
              <a:ext uri="{FF2B5EF4-FFF2-40B4-BE49-F238E27FC236}">
                <a16:creationId xmlns:a16="http://schemas.microsoft.com/office/drawing/2014/main" id="{B5960323-CB47-31B8-91AC-BF5E28E2DBB5}"/>
              </a:ext>
            </a:extLst>
          </p:cNvPr>
          <p:cNvGraphicFramePr>
            <a:graphicFrameLocks noChangeAspect="1"/>
          </p:cNvGraphicFramePr>
          <p:nvPr>
            <p:extLst>
              <p:ext uri="{D42A27DB-BD31-4B8C-83A1-F6EECF244321}">
                <p14:modId xmlns:p14="http://schemas.microsoft.com/office/powerpoint/2010/main" val="3063234682"/>
              </p:ext>
            </p:extLst>
          </p:nvPr>
        </p:nvGraphicFramePr>
        <p:xfrm>
          <a:off x="8722977" y="5546745"/>
          <a:ext cx="2160587" cy="768350"/>
        </p:xfrm>
        <a:graphic>
          <a:graphicData uri="http://schemas.openxmlformats.org/presentationml/2006/ole">
            <mc:AlternateContent xmlns:mc="http://schemas.openxmlformats.org/markup-compatibility/2006">
              <mc:Choice xmlns:v="urn:schemas-microsoft-com:vml" Requires="v">
                <p:oleObj name="公式" r:id="rId7" imgW="1167893" imgH="406224" progId="Equation.3">
                  <p:embed/>
                </p:oleObj>
              </mc:Choice>
              <mc:Fallback>
                <p:oleObj name="公式" r:id="rId7" imgW="1167893" imgH="406224" progId="Equation.3">
                  <p:embed/>
                  <p:pic>
                    <p:nvPicPr>
                      <p:cNvPr id="105514" name="Object 42">
                        <a:extLst>
                          <a:ext uri="{FF2B5EF4-FFF2-40B4-BE49-F238E27FC236}">
                            <a16:creationId xmlns:a16="http://schemas.microsoft.com/office/drawing/2014/main" id="{9DF4DA0B-6882-268A-403A-835B03F31F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22977" y="5546745"/>
                        <a:ext cx="2160587" cy="76835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689716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12299" y="641400"/>
            <a:ext cx="10435430" cy="3382592"/>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显然，采用直角坐标系不具备几何不变性。因为</a:t>
            </a:r>
            <a:r>
              <a:rPr lang="en-US" altLang="zh-CN" sz="2600" dirty="0">
                <a:latin typeface="华光仿宋_CNKI" panose="02000500000000000000" pitchFamily="2" charset="-122"/>
                <a:ea typeface="华光仿宋_CNKI" panose="02000500000000000000" pitchFamily="2" charset="-122"/>
              </a:rPr>
              <a:t>O</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A</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三点在相对位置不变的情况下，如果坐标系发生变化，对应得到的曲线也发生了变化。</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如果采用极坐标，在保持三个点相对位置不变的情况下，其得到的表达式不会因为其旋转变化而发生变化。</a:t>
            </a:r>
            <a:r>
              <a:rPr lang="en-US" altLang="zh-CN" sz="2600" dirty="0">
                <a:latin typeface="华光仿宋_CNKI" panose="02000500000000000000" pitchFamily="2" charset="-122"/>
                <a:ea typeface="华光仿宋_CNKI" panose="02000500000000000000" pitchFamily="2" charset="-122"/>
              </a:rPr>
              <a:t>   </a:t>
            </a:r>
          </a:p>
        </p:txBody>
      </p:sp>
      <p:grpSp>
        <p:nvGrpSpPr>
          <p:cNvPr id="2" name="Group 52">
            <a:extLst>
              <a:ext uri="{FF2B5EF4-FFF2-40B4-BE49-F238E27FC236}">
                <a16:creationId xmlns:a16="http://schemas.microsoft.com/office/drawing/2014/main" id="{BDD8F69F-3C9F-6564-F6FD-5EB4ADC4D987}"/>
              </a:ext>
            </a:extLst>
          </p:cNvPr>
          <p:cNvGrpSpPr>
            <a:grpSpLocks/>
          </p:cNvGrpSpPr>
          <p:nvPr/>
        </p:nvGrpSpPr>
        <p:grpSpPr bwMode="auto">
          <a:xfrm>
            <a:off x="1667947" y="4486717"/>
            <a:ext cx="3643312" cy="1987550"/>
            <a:chOff x="431" y="1198"/>
            <a:chExt cx="2295" cy="1252"/>
          </a:xfrm>
        </p:grpSpPr>
        <p:sp>
          <p:nvSpPr>
            <p:cNvPr id="4" name="Oval 14">
              <a:extLst>
                <a:ext uri="{FF2B5EF4-FFF2-40B4-BE49-F238E27FC236}">
                  <a16:creationId xmlns:a16="http://schemas.microsoft.com/office/drawing/2014/main" id="{C043CE02-D428-B639-813C-222AA48B230F}"/>
                </a:ext>
              </a:extLst>
            </p:cNvPr>
            <p:cNvSpPr>
              <a:spLocks noChangeArrowheads="1"/>
            </p:cNvSpPr>
            <p:nvPr/>
          </p:nvSpPr>
          <p:spPr bwMode="auto">
            <a:xfrm>
              <a:off x="1292" y="1507"/>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 name="Oval 15">
              <a:extLst>
                <a:ext uri="{FF2B5EF4-FFF2-40B4-BE49-F238E27FC236}">
                  <a16:creationId xmlns:a16="http://schemas.microsoft.com/office/drawing/2014/main" id="{5FD7D959-6702-CF13-9C4C-7AE3A26BF9A0}"/>
                </a:ext>
              </a:extLst>
            </p:cNvPr>
            <p:cNvSpPr>
              <a:spLocks noChangeArrowheads="1"/>
            </p:cNvSpPr>
            <p:nvPr/>
          </p:nvSpPr>
          <p:spPr bwMode="auto">
            <a:xfrm>
              <a:off x="2073" y="1851"/>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Oval 16">
              <a:extLst>
                <a:ext uri="{FF2B5EF4-FFF2-40B4-BE49-F238E27FC236}">
                  <a16:creationId xmlns:a16="http://schemas.microsoft.com/office/drawing/2014/main" id="{A09D4CA4-65BB-4501-98A7-96FD18D68227}"/>
                </a:ext>
              </a:extLst>
            </p:cNvPr>
            <p:cNvSpPr>
              <a:spLocks noChangeArrowheads="1"/>
            </p:cNvSpPr>
            <p:nvPr/>
          </p:nvSpPr>
          <p:spPr bwMode="auto">
            <a:xfrm>
              <a:off x="494" y="1850"/>
              <a:ext cx="73" cy="73"/>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 name="Text Box 20">
              <a:extLst>
                <a:ext uri="{FF2B5EF4-FFF2-40B4-BE49-F238E27FC236}">
                  <a16:creationId xmlns:a16="http://schemas.microsoft.com/office/drawing/2014/main" id="{324A6F1A-5AC2-315C-F440-AB450BE99DE7}"/>
                </a:ext>
              </a:extLst>
            </p:cNvPr>
            <p:cNvSpPr txBox="1">
              <a:spLocks noChangeArrowheads="1"/>
            </p:cNvSpPr>
            <p:nvPr/>
          </p:nvSpPr>
          <p:spPr bwMode="auto">
            <a:xfrm>
              <a:off x="2318" y="1761"/>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x</a:t>
              </a:r>
            </a:p>
          </p:txBody>
        </p:sp>
        <p:grpSp>
          <p:nvGrpSpPr>
            <p:cNvPr id="9" name="Group 49">
              <a:extLst>
                <a:ext uri="{FF2B5EF4-FFF2-40B4-BE49-F238E27FC236}">
                  <a16:creationId xmlns:a16="http://schemas.microsoft.com/office/drawing/2014/main" id="{3F86E606-90C3-0DD0-1CF8-5A0CBB084FA2}"/>
                </a:ext>
              </a:extLst>
            </p:cNvPr>
            <p:cNvGrpSpPr>
              <a:grpSpLocks/>
            </p:cNvGrpSpPr>
            <p:nvPr/>
          </p:nvGrpSpPr>
          <p:grpSpPr bwMode="auto">
            <a:xfrm>
              <a:off x="431" y="1198"/>
              <a:ext cx="1905" cy="1252"/>
              <a:chOff x="431" y="1198"/>
              <a:chExt cx="1905" cy="1252"/>
            </a:xfrm>
          </p:grpSpPr>
          <p:grpSp>
            <p:nvGrpSpPr>
              <p:cNvPr id="10" name="Group 9">
                <a:extLst>
                  <a:ext uri="{FF2B5EF4-FFF2-40B4-BE49-F238E27FC236}">
                    <a16:creationId xmlns:a16="http://schemas.microsoft.com/office/drawing/2014/main" id="{19A24852-FD73-168E-B15C-18036A54F439}"/>
                  </a:ext>
                </a:extLst>
              </p:cNvPr>
              <p:cNvGrpSpPr>
                <a:grpSpLocks/>
              </p:cNvGrpSpPr>
              <p:nvPr/>
            </p:nvGrpSpPr>
            <p:grpSpPr bwMode="auto">
              <a:xfrm>
                <a:off x="522" y="1316"/>
                <a:ext cx="1814" cy="1134"/>
                <a:chOff x="839" y="1679"/>
                <a:chExt cx="1814" cy="1134"/>
              </a:xfrm>
            </p:grpSpPr>
            <p:sp>
              <p:nvSpPr>
                <p:cNvPr id="14" name="Line 4">
                  <a:extLst>
                    <a:ext uri="{FF2B5EF4-FFF2-40B4-BE49-F238E27FC236}">
                      <a16:creationId xmlns:a16="http://schemas.microsoft.com/office/drawing/2014/main" id="{48C69953-16CB-23E8-7C9E-08BC9441DE4E}"/>
                    </a:ext>
                  </a:extLst>
                </p:cNvPr>
                <p:cNvSpPr>
                  <a:spLocks noChangeShapeType="1"/>
                </p:cNvSpPr>
                <p:nvPr/>
              </p:nvSpPr>
              <p:spPr bwMode="auto">
                <a:xfrm>
                  <a:off x="839" y="2251"/>
                  <a:ext cx="18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p>
              </p:txBody>
            </p:sp>
            <p:sp>
              <p:nvSpPr>
                <p:cNvPr id="16" name="Arc 7">
                  <a:extLst>
                    <a:ext uri="{FF2B5EF4-FFF2-40B4-BE49-F238E27FC236}">
                      <a16:creationId xmlns:a16="http://schemas.microsoft.com/office/drawing/2014/main" id="{2D211F2B-5CC3-BC10-78A7-262ED925C1D9}"/>
                    </a:ext>
                  </a:extLst>
                </p:cNvPr>
                <p:cNvSpPr>
                  <a:spLocks/>
                </p:cNvSpPr>
                <p:nvPr/>
              </p:nvSpPr>
              <p:spPr bwMode="auto">
                <a:xfrm rot="-2655454">
                  <a:off x="1084" y="1679"/>
                  <a:ext cx="1134" cy="1134"/>
                </a:xfrm>
                <a:custGeom>
                  <a:avLst/>
                  <a:gdLst>
                    <a:gd name="T0" fmla="*/ 0 w 21600"/>
                    <a:gd name="T1" fmla="*/ 0 h 21600"/>
                    <a:gd name="T2" fmla="*/ 60 w 21600"/>
                    <a:gd name="T3" fmla="*/ 60 h 21600"/>
                    <a:gd name="T4" fmla="*/ 0 w 21600"/>
                    <a:gd name="T5" fmla="*/ 6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1" name="Text Box 22">
                <a:extLst>
                  <a:ext uri="{FF2B5EF4-FFF2-40B4-BE49-F238E27FC236}">
                    <a16:creationId xmlns:a16="http://schemas.microsoft.com/office/drawing/2014/main" id="{F7FCC0D0-802B-450F-7420-4C3140756464}"/>
                  </a:ext>
                </a:extLst>
              </p:cNvPr>
              <p:cNvSpPr txBox="1">
                <a:spLocks noChangeArrowheads="1"/>
              </p:cNvSpPr>
              <p:nvPr/>
            </p:nvSpPr>
            <p:spPr bwMode="auto">
              <a:xfrm>
                <a:off x="431" y="1915"/>
                <a:ext cx="5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O(0,0)</a:t>
                </a:r>
              </a:p>
            </p:txBody>
          </p:sp>
          <p:sp>
            <p:nvSpPr>
              <p:cNvPr id="12" name="Text Box 26">
                <a:extLst>
                  <a:ext uri="{FF2B5EF4-FFF2-40B4-BE49-F238E27FC236}">
                    <a16:creationId xmlns:a16="http://schemas.microsoft.com/office/drawing/2014/main" id="{8AA73A52-CB49-E62E-5159-DDB251BF8574}"/>
                  </a:ext>
                </a:extLst>
              </p:cNvPr>
              <p:cNvSpPr txBox="1">
                <a:spLocks noChangeArrowheads="1"/>
              </p:cNvSpPr>
              <p:nvPr/>
            </p:nvSpPr>
            <p:spPr bwMode="auto">
              <a:xfrm>
                <a:off x="984" y="1198"/>
                <a:ext cx="8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P1</a:t>
                </a:r>
              </a:p>
            </p:txBody>
          </p:sp>
          <p:sp>
            <p:nvSpPr>
              <p:cNvPr id="13" name="Text Box 27">
                <a:extLst>
                  <a:ext uri="{FF2B5EF4-FFF2-40B4-BE49-F238E27FC236}">
                    <a16:creationId xmlns:a16="http://schemas.microsoft.com/office/drawing/2014/main" id="{FD81D311-AA78-D161-01A8-E1D6C81F3C33}"/>
                  </a:ext>
                </a:extLst>
              </p:cNvPr>
              <p:cNvSpPr txBox="1">
                <a:spLocks noChangeArrowheads="1"/>
              </p:cNvSpPr>
              <p:nvPr/>
            </p:nvSpPr>
            <p:spPr bwMode="auto">
              <a:xfrm>
                <a:off x="1928" y="1906"/>
                <a:ext cx="4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P2</a:t>
                </a:r>
              </a:p>
            </p:txBody>
          </p:sp>
        </p:grpSp>
      </p:grpSp>
      <p:cxnSp>
        <p:nvCxnSpPr>
          <p:cNvPr id="32" name="直接箭头连接符 31">
            <a:extLst>
              <a:ext uri="{FF2B5EF4-FFF2-40B4-BE49-F238E27FC236}">
                <a16:creationId xmlns:a16="http://schemas.microsoft.com/office/drawing/2014/main" id="{EEC8602E-FA69-F967-BFBB-237754235F6A}"/>
              </a:ext>
            </a:extLst>
          </p:cNvPr>
          <p:cNvCxnSpPr>
            <a:cxnSpLocks/>
            <a:stCxn id="6" idx="2"/>
          </p:cNvCxnSpPr>
          <p:nvPr/>
        </p:nvCxnSpPr>
        <p:spPr>
          <a:xfrm flipV="1">
            <a:off x="1767959" y="5102671"/>
            <a:ext cx="1266825" cy="477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786F1932-AD46-9ADF-F60C-8952D2AD7811}"/>
              </a:ext>
            </a:extLst>
          </p:cNvPr>
          <p:cNvCxnSpPr>
            <a:cxnSpLocks/>
            <a:stCxn id="6" idx="3"/>
          </p:cNvCxnSpPr>
          <p:nvPr/>
        </p:nvCxnSpPr>
        <p:spPr>
          <a:xfrm flipV="1">
            <a:off x="1784930" y="5213793"/>
            <a:ext cx="1986454" cy="406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B705C9A1-75DC-DB3F-7C49-975A0D79AFC3}"/>
              </a:ext>
            </a:extLst>
          </p:cNvPr>
          <p:cNvSpPr txBox="1"/>
          <p:nvPr/>
        </p:nvSpPr>
        <p:spPr>
          <a:xfrm>
            <a:off x="4750066" y="3904401"/>
            <a:ext cx="7009480" cy="1317861"/>
          </a:xfrm>
          <a:prstGeom prst="rect">
            <a:avLst/>
          </a:prstGeom>
          <a:noFill/>
        </p:spPr>
        <p:txBody>
          <a:bodyPr wrap="square" rtlCol="0">
            <a:spAutoFit/>
          </a:bodyPr>
          <a:lstStyle/>
          <a:p>
            <a:pPr>
              <a:lnSpc>
                <a:spcPct val="150000"/>
              </a:lnSpc>
              <a:spcBef>
                <a:spcPts val="1000"/>
              </a:spcBef>
            </a:pPr>
            <a:r>
              <a:rPr lang="zh-CN" altLang="en-US" sz="2600" dirty="0">
                <a:latin typeface="华光仿宋_CNKI" panose="02000500000000000000" pitchFamily="2" charset="-122"/>
                <a:ea typeface="华光仿宋_CNKI" panose="02000500000000000000" pitchFamily="2" charset="-122"/>
              </a:rPr>
              <a:t>设</a:t>
            </a:r>
            <a:r>
              <a:rPr lang="en-US" altLang="zh-CN" sz="2600" dirty="0">
                <a:latin typeface="华光仿宋_CNKI" panose="02000500000000000000" pitchFamily="2" charset="-122"/>
                <a:ea typeface="华光仿宋_CNKI" panose="02000500000000000000" pitchFamily="2" charset="-122"/>
              </a:rPr>
              <a:t>x=t,</a:t>
            </a:r>
            <a:r>
              <a:rPr lang="zh-CN" altLang="en-US" sz="2600" dirty="0">
                <a:latin typeface="华光仿宋_CNKI" panose="02000500000000000000" pitchFamily="2" charset="-122"/>
                <a:ea typeface="华光仿宋_CNKI" panose="02000500000000000000" pitchFamily="2" charset="-122"/>
              </a:rPr>
              <a:t>则该曲线用</a:t>
            </a:r>
            <a:r>
              <a:rPr lang="en-US" altLang="zh-CN" sz="2600" dirty="0">
                <a:latin typeface="华光仿宋_CNKI" panose="02000500000000000000" pitchFamily="2" charset="-122"/>
                <a:ea typeface="华光仿宋_CNKI" panose="02000500000000000000" pitchFamily="2" charset="-122"/>
              </a:rPr>
              <a:t>P0,P1</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P2</a:t>
            </a:r>
            <a:r>
              <a:rPr lang="zh-CN" altLang="en-US" sz="2600" dirty="0">
                <a:latin typeface="华光仿宋_CNKI" panose="02000500000000000000" pitchFamily="2" charset="-122"/>
                <a:ea typeface="华光仿宋_CNKI" panose="02000500000000000000" pitchFamily="2" charset="-122"/>
              </a:rPr>
              <a:t>及向量可表示为：</a:t>
            </a:r>
            <a:endParaRPr lang="en-US" altLang="zh-CN" sz="2600" dirty="0">
              <a:latin typeface="华光仿宋_CNKI" panose="02000500000000000000" pitchFamily="2" charset="-122"/>
              <a:ea typeface="华光仿宋_CNKI" panose="02000500000000000000" pitchFamily="2" charset="-122"/>
            </a:endParaRP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 P(t) = 0.5(t-1)(t-2)P0–t(t-2)P1+ 0.5t(t-1)P2</a:t>
            </a:r>
            <a:endParaRPr lang="zh-CN" altLang="en-US" sz="2400" dirty="0"/>
          </a:p>
        </p:txBody>
      </p:sp>
    </p:spTree>
    <p:extLst>
      <p:ext uri="{BB962C8B-B14F-4D97-AF65-F5344CB8AC3E}">
        <p14:creationId xmlns:p14="http://schemas.microsoft.com/office/powerpoint/2010/main" val="269276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696296" y="736262"/>
                <a:ext cx="10507091" cy="5799710"/>
              </a:xfrm>
            </p:spPr>
            <p:txBody>
              <a:bodyPr>
                <a:normAutofit lnSpcReduction="10000"/>
              </a:bodyPr>
              <a:lstStyle/>
              <a:p>
                <a:pPr algn="l">
                  <a:lnSpc>
                    <a:spcPct val="150000"/>
                  </a:lnSpc>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）易于定界。</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在工业应用中，产品的形状总是有界限的。直角坐标系中，由于一个</a:t>
                </a:r>
                <a:r>
                  <a:rPr lang="en-US" altLang="zh-CN" sz="2600" dirty="0">
                    <a:latin typeface="华光仿宋_CNKI" panose="02000500000000000000" pitchFamily="2" charset="-122"/>
                    <a:ea typeface="华光仿宋_CNKI" panose="02000500000000000000" pitchFamily="2" charset="-122"/>
                  </a:rPr>
                  <a:t>X</a:t>
                </a:r>
                <a:r>
                  <a:rPr lang="zh-CN" altLang="en-US" sz="2600" dirty="0">
                    <a:latin typeface="华光仿宋_CNKI" panose="02000500000000000000" pitchFamily="2" charset="-122"/>
                    <a:ea typeface="华光仿宋_CNKI" panose="02000500000000000000" pitchFamily="2" charset="-122"/>
                  </a:rPr>
                  <a:t>值可能对应多个</a:t>
                </a:r>
                <a:r>
                  <a:rPr lang="en-US" altLang="zh-CN" sz="2600" dirty="0">
                    <a:latin typeface="华光仿宋_CNKI" panose="02000500000000000000" pitchFamily="2" charset="-122"/>
                    <a:ea typeface="华光仿宋_CNKI" panose="02000500000000000000" pitchFamily="2" charset="-122"/>
                  </a:rPr>
                  <a:t>Y</a:t>
                </a:r>
                <a:r>
                  <a:rPr lang="zh-CN" altLang="en-US" sz="2600" dirty="0">
                    <a:latin typeface="华光仿宋_CNKI" panose="02000500000000000000" pitchFamily="2" charset="-122"/>
                    <a:ea typeface="华光仿宋_CNKI" panose="02000500000000000000" pitchFamily="2" charset="-122"/>
                  </a:rPr>
                  <a:t>值，因此很难对其进行界限标定。而在矢量坐标系中，由于每一个变量都用统一的</a:t>
                </a:r>
                <a:r>
                  <a:rPr lang="en-US" altLang="zh-CN" sz="2600" dirty="0">
                    <a:latin typeface="华光仿宋_CNKI" panose="02000500000000000000" pitchFamily="2" charset="-122"/>
                    <a:ea typeface="华光仿宋_CNKI" panose="02000500000000000000" pitchFamily="2" charset="-122"/>
                  </a:rPr>
                  <a:t>t</a:t>
                </a:r>
                <a:r>
                  <a:rPr lang="zh-CN" altLang="en-US" sz="2600" dirty="0">
                    <a:latin typeface="华光仿宋_CNKI" panose="02000500000000000000" pitchFamily="2" charset="-122"/>
                    <a:ea typeface="华光仿宋_CNKI" panose="02000500000000000000" pitchFamily="2" charset="-122"/>
                  </a:rPr>
                  <a:t>标量来描述，因此可以非常容易确定其边界。</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一般的矢量表示为：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p(t)=[x(t),y(t),z(t)]</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其中</a:t>
                </a:r>
                <a:r>
                  <a:rPr lang="en-US" altLang="zh-CN" sz="2600" dirty="0">
                    <a:latin typeface="华光仿宋_CNKI" panose="02000500000000000000" pitchFamily="2" charset="-122"/>
                    <a:ea typeface="华光仿宋_CNKI" panose="02000500000000000000" pitchFamily="2" charset="-122"/>
                  </a:rPr>
                  <a:t>x(t),y(t),z(t)</a:t>
                </a:r>
                <a:r>
                  <a:rPr lang="zh-CN" altLang="en-US" sz="2600" dirty="0">
                    <a:latin typeface="华光仿宋_CNKI" panose="02000500000000000000" pitchFamily="2" charset="-122"/>
                    <a:ea typeface="华光仿宋_CNKI" panose="02000500000000000000" pitchFamily="2" charset="-122"/>
                  </a:rPr>
                  <a:t>为以标量</a:t>
                </a:r>
                <a:r>
                  <a:rPr lang="en-US" altLang="zh-CN" sz="2600" dirty="0">
                    <a:latin typeface="华光仿宋_CNKI" panose="02000500000000000000" pitchFamily="2" charset="-122"/>
                    <a:ea typeface="华光仿宋_CNKI" panose="02000500000000000000" pitchFamily="2" charset="-122"/>
                  </a:rPr>
                  <a:t>t</a:t>
                </a:r>
                <a:r>
                  <a:rPr lang="zh-CN" altLang="en-US" sz="2600" dirty="0">
                    <a:latin typeface="华光仿宋_CNKI" panose="02000500000000000000" pitchFamily="2" charset="-122"/>
                    <a:ea typeface="华光仿宋_CNKI" panose="02000500000000000000" pitchFamily="2" charset="-122"/>
                  </a:rPr>
                  <a:t>为自变量的函数，</a:t>
                </a:r>
                <a:r>
                  <a:rPr lang="en-US" altLang="zh-CN" sz="2600" dirty="0">
                    <a:latin typeface="华光仿宋_CNKI" panose="02000500000000000000" pitchFamily="2" charset="-122"/>
                    <a:ea typeface="华光仿宋_CNKI" panose="02000500000000000000" pitchFamily="2" charset="-122"/>
                  </a:rPr>
                  <a:t>t</a:t>
                </a:r>
                <a14:m>
                  <m:oMath xmlns:m="http://schemas.openxmlformats.org/officeDocument/2006/math">
                    <m:r>
                      <a:rPr lang="en-US" altLang="zh-CN" sz="2600" i="1" smtClean="0">
                        <a:latin typeface="Cambria Math" panose="02040503050406030204" pitchFamily="18" charset="0"/>
                        <a:ea typeface="Cambria Math" panose="02040503050406030204" pitchFamily="18" charset="0"/>
                      </a:rPr>
                      <m:t>∈</m:t>
                    </m:r>
                  </m:oMath>
                </a14:m>
                <a:r>
                  <a:rPr lang="en-US" altLang="zh-CN" sz="2600" dirty="0">
                    <a:latin typeface="华光仿宋_CNKI" panose="02000500000000000000" pitchFamily="2" charset="-122"/>
                    <a:ea typeface="华光仿宋_CNKI" panose="02000500000000000000" pitchFamily="2" charset="-122"/>
                  </a:rPr>
                  <a:t>[</a:t>
                </a:r>
                <a:r>
                  <a:rPr lang="en-US" altLang="zh-CN" sz="2600" dirty="0" err="1">
                    <a:latin typeface="华光仿宋_CNKI" panose="02000500000000000000" pitchFamily="2" charset="-122"/>
                    <a:ea typeface="华光仿宋_CNKI" panose="02000500000000000000" pitchFamily="2" charset="-122"/>
                  </a:rPr>
                  <a:t>a,b</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a</a:t>
                </a:r>
                <a:r>
                  <a:rPr lang="zh-CN" altLang="en-US" sz="2600" dirty="0">
                    <a:latin typeface="华光仿宋_CNKI" panose="02000500000000000000" pitchFamily="2" charset="-122"/>
                    <a:ea typeface="华光仿宋_CNKI" panose="02000500000000000000" pitchFamily="2" charset="-122"/>
                  </a:rPr>
                  <a:t>表示对应的起点，</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表示对应的终点。</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696296" y="736262"/>
                <a:ext cx="10507091" cy="5799710"/>
              </a:xfrm>
              <a:blipFill>
                <a:blip r:embed="rId2"/>
                <a:stretch>
                  <a:fillRect l="-10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969609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696296" y="736262"/>
            <a:ext cx="10507091" cy="4304865"/>
          </a:xfrm>
        </p:spPr>
        <p:txBody>
          <a:bodyPr>
            <a:normAutofit/>
          </a:bodyPr>
          <a:lstStyle/>
          <a:p>
            <a:pPr algn="l">
              <a:lnSpc>
                <a:spcPct val="150000"/>
              </a:lnSpc>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）统一性</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主要指描述上统一。比如数学表现形式统一，可以在不增加其他参数的情况下进行维数的扩充。比如在矢量表示情况下：</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buClr>
                <a:schemeClr val="hlink"/>
              </a:buClr>
              <a:buSzPct val="75000"/>
              <a:defRPr/>
            </a:pPr>
            <a:r>
              <a:rPr lang="zh-CN" altLang="en-US" sz="2600" dirty="0">
                <a:latin typeface="华光仿宋_CNKI" panose="02000500000000000000" pitchFamily="2" charset="-122"/>
                <a:ea typeface="华光仿宋_CNKI" panose="02000500000000000000" pitchFamily="2" charset="-122"/>
              </a:rPr>
              <a:t>     平面曲线  </a:t>
            </a:r>
            <a:r>
              <a:rPr lang="en-US" altLang="zh-CN" sz="2600" dirty="0">
                <a:latin typeface="华光仿宋_CNKI" panose="02000500000000000000" pitchFamily="2" charset="-122"/>
                <a:ea typeface="华光仿宋_CNKI" panose="02000500000000000000" pitchFamily="2" charset="-122"/>
              </a:rPr>
              <a:t>P(t) = [x(t)  y(t)]</a:t>
            </a:r>
          </a:p>
          <a:p>
            <a:pPr algn="l">
              <a:lnSpc>
                <a:spcPct val="150000"/>
              </a:lnSpc>
              <a:buClr>
                <a:schemeClr val="hlink"/>
              </a:buClr>
              <a:buSzPct val="75000"/>
              <a:defRPr/>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空间曲线  </a:t>
            </a:r>
            <a:r>
              <a:rPr lang="en-US" altLang="zh-CN" sz="2600" dirty="0">
                <a:latin typeface="华光仿宋_CNKI" panose="02000500000000000000" pitchFamily="2" charset="-122"/>
                <a:ea typeface="华光仿宋_CNKI" panose="02000500000000000000" pitchFamily="2" charset="-122"/>
              </a:rPr>
              <a:t>P(t) = [x(t)  y(t)  z(t)]</a:t>
            </a:r>
          </a:p>
          <a:p>
            <a:pPr algn="l">
              <a:lnSpc>
                <a:spcPct val="150000"/>
              </a:lnSpc>
              <a:buClr>
                <a:schemeClr val="hlink"/>
              </a:buClr>
              <a:buSzPct val="75000"/>
              <a:defRPr/>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可以通过增加存储单元来对原始数据进行扩成，便于数据库存储。</a:t>
            </a:r>
            <a:endParaRPr lang="en-US" altLang="zh-CN" sz="2600" dirty="0">
              <a:latin typeface="华光仿宋_CNKI" panose="02000500000000000000" pitchFamily="2" charset="-122"/>
              <a:ea typeface="华光仿宋_CNKI" panose="02000500000000000000" pitchFamily="2" charset="-122"/>
            </a:endParaRPr>
          </a:p>
        </p:txBody>
      </p:sp>
      <p:sp>
        <p:nvSpPr>
          <p:cNvPr id="2" name="文本框 1">
            <a:extLst>
              <a:ext uri="{FF2B5EF4-FFF2-40B4-BE49-F238E27FC236}">
                <a16:creationId xmlns:a16="http://schemas.microsoft.com/office/drawing/2014/main" id="{CB8091B1-4A47-222F-388D-D92BF003F8A0}"/>
              </a:ext>
            </a:extLst>
          </p:cNvPr>
          <p:cNvSpPr txBox="1"/>
          <p:nvPr/>
        </p:nvSpPr>
        <p:spPr>
          <a:xfrm>
            <a:off x="1439187" y="5041127"/>
            <a:ext cx="8682823" cy="1328120"/>
          </a:xfrm>
          <a:prstGeom prst="rect">
            <a:avLst/>
          </a:prstGeom>
          <a:noFill/>
        </p:spPr>
        <p:txBody>
          <a:bodyPr wrap="square" rtlCol="0">
            <a:spAutoFit/>
          </a:bodyPr>
          <a:lstStyle/>
          <a:p>
            <a:pPr>
              <a:lnSpc>
                <a:spcPct val="150000"/>
              </a:lnSpc>
            </a:pPr>
            <a:r>
              <a:rPr lang="en-US" altLang="zh-CN" sz="3200" dirty="0">
                <a:solidFill>
                  <a:srgbClr val="FF0000"/>
                </a:solidFill>
                <a:latin typeface="华光仿宋_CNKI" panose="02000500000000000000" pitchFamily="2" charset="-122"/>
                <a:ea typeface="华光仿宋_CNKI" panose="02000500000000000000" pitchFamily="2" charset="-122"/>
              </a:rPr>
              <a:t> </a:t>
            </a:r>
            <a:r>
              <a:rPr lang="zh-CN" altLang="en-US" sz="3200" b="1" dirty="0">
                <a:solidFill>
                  <a:srgbClr val="FF0000"/>
                </a:solidFill>
                <a:latin typeface="华光仿宋_CNKI" panose="02000500000000000000" pitchFamily="2" charset="-122"/>
                <a:ea typeface="华光仿宋_CNKI" panose="02000500000000000000" pitchFamily="2" charset="-122"/>
              </a:rPr>
              <a:t>课外阅读：</a:t>
            </a:r>
            <a:r>
              <a:rPr lang="en-US" altLang="zh-CN" sz="3200" b="1" dirty="0">
                <a:solidFill>
                  <a:srgbClr val="FF0000"/>
                </a:solidFill>
                <a:latin typeface="华光仿宋_CNKI" panose="02000500000000000000" pitchFamily="2" charset="-122"/>
                <a:ea typeface="华光仿宋_CNKI" panose="02000500000000000000" pitchFamily="2" charset="-122"/>
              </a:rPr>
              <a:t>     </a:t>
            </a:r>
          </a:p>
          <a:p>
            <a:pPr>
              <a:lnSpc>
                <a:spcPct val="150000"/>
              </a:lnSpc>
            </a:pPr>
            <a:r>
              <a:rPr lang="en-US" altLang="zh-CN" b="1" dirty="0">
                <a:solidFill>
                  <a:srgbClr val="FF0000"/>
                </a:solidFill>
                <a:latin typeface="华光仿宋_CNKI" panose="02000500000000000000" pitchFamily="2" charset="-122"/>
                <a:ea typeface="华光仿宋_CNKI" panose="02000500000000000000" pitchFamily="2" charset="-122"/>
              </a:rPr>
              <a:t>       </a:t>
            </a:r>
            <a:r>
              <a:rPr lang="zh-CN" altLang="en-US" sz="2400" b="1" dirty="0">
                <a:solidFill>
                  <a:srgbClr val="FF0000"/>
                </a:solidFill>
                <a:latin typeface="华光仿宋_CNKI" panose="02000500000000000000" pitchFamily="2" charset="-122"/>
                <a:ea typeface="华光仿宋_CNKI" panose="02000500000000000000" pitchFamily="2" charset="-122"/>
              </a:rPr>
              <a:t>教材</a:t>
            </a:r>
            <a:r>
              <a:rPr lang="en-US" altLang="zh-CN" sz="2400" b="1" dirty="0">
                <a:solidFill>
                  <a:srgbClr val="FF0000"/>
                </a:solidFill>
                <a:latin typeface="华光仿宋_CNKI" panose="02000500000000000000" pitchFamily="2" charset="-122"/>
                <a:ea typeface="华光仿宋_CNKI" panose="02000500000000000000" pitchFamily="2" charset="-122"/>
              </a:rPr>
              <a:t>P75 4.1.4</a:t>
            </a:r>
            <a:r>
              <a:rPr lang="zh-CN" altLang="en-US" sz="2400" b="1" dirty="0">
                <a:solidFill>
                  <a:srgbClr val="FF0000"/>
                </a:solidFill>
                <a:latin typeface="华光仿宋_CNKI" panose="02000500000000000000" pitchFamily="2" charset="-122"/>
                <a:ea typeface="华光仿宋_CNKI" panose="02000500000000000000" pitchFamily="2" charset="-122"/>
              </a:rPr>
              <a:t>节了解自由曲线和曲面的发展历程。</a:t>
            </a:r>
            <a:endParaRPr lang="zh-CN" altLang="en-US" sz="2400" dirty="0"/>
          </a:p>
        </p:txBody>
      </p:sp>
    </p:spTree>
    <p:extLst>
      <p:ext uri="{BB962C8B-B14F-4D97-AF65-F5344CB8AC3E}">
        <p14:creationId xmlns:p14="http://schemas.microsoft.com/office/powerpoint/2010/main" val="310224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74221" y="880606"/>
            <a:ext cx="10750587" cy="3476709"/>
          </a:xfrm>
        </p:spPr>
        <p:txBody>
          <a:bodyPr>
            <a:normAutofit/>
          </a:body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3.6.3 </a:t>
            </a:r>
            <a:r>
              <a:rPr lang="zh-CN" altLang="en-US" sz="2600" b="1" dirty="0">
                <a:latin typeface="华光标题宋_CNKI" panose="02000500000000000000" pitchFamily="2" charset="-122"/>
                <a:ea typeface="华光标题宋_CNKI" panose="02000500000000000000" pitchFamily="2" charset="-122"/>
              </a:rPr>
              <a:t>参数样条曲线</a:t>
            </a:r>
            <a:endParaRPr lang="en-US" altLang="zh-CN" sz="2600" b="1"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目标：绘制出通过若干个点（型值点）的光滑曲线，或者绘制出无线接近于这些点（控制点）的光滑曲线。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考虑到前面对形状数学描述的要求，一般采用矢量方式来描述曲线。如下所示。</a:t>
            </a:r>
            <a:r>
              <a:rPr lang="en-US" altLang="zh-CN" sz="2600" dirty="0">
                <a:latin typeface="华光仿宋_CNKI" panose="02000500000000000000" pitchFamily="2" charset="-122"/>
                <a:ea typeface="华光仿宋_CNKI" panose="02000500000000000000" pitchFamily="2" charset="-122"/>
              </a:rPr>
              <a:t>    </a:t>
            </a:r>
          </a:p>
        </p:txBody>
      </p:sp>
      <p:graphicFrame>
        <p:nvGraphicFramePr>
          <p:cNvPr id="2" name="对象 1">
            <a:extLst>
              <a:ext uri="{FF2B5EF4-FFF2-40B4-BE49-F238E27FC236}">
                <a16:creationId xmlns:a16="http://schemas.microsoft.com/office/drawing/2014/main" id="{A772796F-3896-6F9B-B083-EF1E3E80446F}"/>
              </a:ext>
            </a:extLst>
          </p:cNvPr>
          <p:cNvGraphicFramePr>
            <a:graphicFrameLocks noChangeAspect="1"/>
          </p:cNvGraphicFramePr>
          <p:nvPr>
            <p:extLst>
              <p:ext uri="{D42A27DB-BD31-4B8C-83A1-F6EECF244321}">
                <p14:modId xmlns:p14="http://schemas.microsoft.com/office/powerpoint/2010/main" val="309655416"/>
              </p:ext>
            </p:extLst>
          </p:nvPr>
        </p:nvGraphicFramePr>
        <p:xfrm>
          <a:off x="2090738" y="4357688"/>
          <a:ext cx="3776662" cy="1412875"/>
        </p:xfrm>
        <a:graphic>
          <a:graphicData uri="http://schemas.openxmlformats.org/presentationml/2006/ole">
            <mc:AlternateContent xmlns:mc="http://schemas.openxmlformats.org/markup-compatibility/2006">
              <mc:Choice xmlns:v="urn:schemas-microsoft-com:vml" Requires="v">
                <p:oleObj r:id="rId2" imgW="1333440" imgH="711000" progId="">
                  <p:embed/>
                </p:oleObj>
              </mc:Choice>
              <mc:Fallback>
                <p:oleObj r:id="rId2" imgW="1333440" imgH="711000" progId="">
                  <p:embed/>
                  <p:pic>
                    <p:nvPicPr>
                      <p:cNvPr id="0" name=""/>
                      <p:cNvPicPr/>
                      <p:nvPr/>
                    </p:nvPicPr>
                    <p:blipFill>
                      <a:blip r:embed="rId3"/>
                      <a:stretch>
                        <a:fillRect/>
                      </a:stretch>
                    </p:blipFill>
                    <p:spPr>
                      <a:xfrm>
                        <a:off x="2090738" y="4357688"/>
                        <a:ext cx="3776662" cy="141287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4" name="Object 6">
                <a:extLst>
                  <a:ext uri="{FF2B5EF4-FFF2-40B4-BE49-F238E27FC236}">
                    <a16:creationId xmlns:a16="http://schemas.microsoft.com/office/drawing/2014/main" id="{5EC2CAEC-0D7E-1227-12D2-B3410F8E4D31}"/>
                  </a:ext>
                </a:extLst>
              </p:cNvPr>
              <p:cNvSpPr txBox="1"/>
              <p:nvPr/>
            </p:nvSpPr>
            <p:spPr bwMode="auto">
              <a:xfrm>
                <a:off x="6412575" y="4209014"/>
                <a:ext cx="5100915" cy="1561769"/>
              </a:xfrm>
              <a:prstGeom prst="rect">
                <a:avLst/>
              </a:prstGeom>
              <a:noFill/>
              <a:ln>
                <a:noFill/>
              </a:ln>
              <a:effectLst/>
            </p:spPr>
            <p:txBody>
              <a:bodyPr>
                <a:noAutofit/>
              </a:bodyPr>
              <a:lstStyle/>
              <a:p>
                <a:pPr>
                  <a:lnSpc>
                    <a:spcPct val="150000"/>
                  </a:lnSpc>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𝑃</m:t>
                      </m:r>
                      <m:r>
                        <a:rPr lang="zh-CN" altLang="en-US" sz="2800" i="1" smtClean="0">
                          <a:solidFill>
                            <a:srgbClr val="000000"/>
                          </a:solidFill>
                          <a:latin typeface="Cambria Math" panose="02040503050406030204" pitchFamily="18" charset="0"/>
                        </a:rPr>
                        <m:t>(</m:t>
                      </m:r>
                      <m:r>
                        <a:rPr lang="zh-CN" altLang="en-US" sz="2800" i="1" smtClean="0">
                          <a:solidFill>
                            <a:srgbClr val="000000"/>
                          </a:solidFill>
                          <a:latin typeface="Cambria Math" panose="02040503050406030204" pitchFamily="18" charset="0"/>
                        </a:rPr>
                        <m:t>𝑡</m:t>
                      </m:r>
                      <m:r>
                        <a:rPr lang="zh-CN" altLang="en-US"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𝑥</m:t>
                      </m:r>
                      <m:d>
                        <m:dPr>
                          <m:ctrlPr>
                            <a:rPr lang="en-US" altLang="zh-CN" sz="2800" b="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𝑡</m:t>
                          </m:r>
                        </m:e>
                      </m:d>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𝑦</m:t>
                      </m:r>
                      <m:d>
                        <m:dPr>
                          <m:ctrlPr>
                            <a:rPr lang="en-US" altLang="zh-CN" sz="2800" b="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𝑡</m:t>
                          </m:r>
                        </m:e>
                      </m:d>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𝑧</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𝑡</m:t>
                      </m:r>
                      <m:r>
                        <a:rPr lang="en-US" altLang="zh-CN" sz="2800" b="0" i="1" smtClean="0">
                          <a:solidFill>
                            <a:srgbClr val="000000"/>
                          </a:solidFill>
                          <a:latin typeface="Cambria Math" panose="02040503050406030204" pitchFamily="18" charset="0"/>
                        </a:rPr>
                        <m:t>)]</m:t>
                      </m:r>
                    </m:oMath>
                  </m:oMathPara>
                </a14:m>
                <a:endParaRPr lang="en-US" altLang="zh-CN" sz="2800" dirty="0"/>
              </a:p>
              <a:p>
                <a:pPr>
                  <a:lnSpc>
                    <a:spcPct val="150000"/>
                  </a:lnSpc>
                </a:pPr>
                <a:r>
                  <a:rPr lang="zh-CN" altLang="en-US" sz="2800" dirty="0"/>
                  <a:t>        </a:t>
                </a:r>
                <a:r>
                  <a:rPr lang="en-US" altLang="zh-CN" sz="2800" dirty="0"/>
                  <a:t>=</a:t>
                </a:r>
                <a:r>
                  <a:rPr lang="en-US" altLang="zh-CN" sz="2800" b="0" dirty="0">
                    <a:solidFill>
                      <a:srgbClr val="000000"/>
                    </a:solidFill>
                  </a:rPr>
                  <a:t> </a:t>
                </a:r>
                <a14:m>
                  <m:oMath xmlns:m="http://schemas.openxmlformats.org/officeDocument/2006/math">
                    <m:r>
                      <a:rPr lang="en-US" altLang="zh-CN" sz="2800" b="0" i="1" smtClean="0">
                        <a:solidFill>
                          <a:srgbClr val="000000"/>
                        </a:solidFill>
                        <a:latin typeface="Cambria Math" panose="02040503050406030204" pitchFamily="18" charset="0"/>
                      </a:rPr>
                      <m:t>𝑥</m:t>
                    </m:r>
                    <m:d>
                      <m:dPr>
                        <m:ctrlPr>
                          <a:rPr lang="en-US" altLang="zh-CN" sz="2800" b="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𝑡</m:t>
                        </m:r>
                      </m:e>
                    </m:d>
                    <m:r>
                      <a:rPr lang="en-US" altLang="zh-CN" sz="2800" b="0" i="1" smtClean="0">
                        <a:solidFill>
                          <a:srgbClr val="000000"/>
                        </a:solidFill>
                        <a:latin typeface="Cambria Math" panose="02040503050406030204" pitchFamily="18" charset="0"/>
                      </a:rPr>
                      <m:t>𝑖</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𝑦</m:t>
                    </m:r>
                    <m:d>
                      <m:dPr>
                        <m:ctrlPr>
                          <a:rPr lang="en-US" altLang="zh-CN" sz="2800" b="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𝑡</m:t>
                        </m:r>
                      </m:e>
                    </m:d>
                    <m:r>
                      <a:rPr lang="en-US" altLang="zh-CN" sz="2800" b="0" i="1" smtClean="0">
                        <a:solidFill>
                          <a:srgbClr val="000000"/>
                        </a:solidFill>
                        <a:latin typeface="Cambria Math" panose="02040503050406030204" pitchFamily="18" charset="0"/>
                      </a:rPr>
                      <m:t>𝑗</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𝑧</m:t>
                    </m:r>
                    <m:d>
                      <m:dPr>
                        <m:ctrlPr>
                          <a:rPr lang="en-US" altLang="zh-CN" sz="2800" b="0" i="1" smtClean="0">
                            <a:solidFill>
                              <a:srgbClr val="000000"/>
                            </a:solidFill>
                            <a:latin typeface="Cambria Math" panose="02040503050406030204" pitchFamily="18" charset="0"/>
                          </a:rPr>
                        </m:ctrlPr>
                      </m:dPr>
                      <m:e>
                        <m:r>
                          <a:rPr lang="en-US" altLang="zh-CN" sz="2800" b="0" i="1" smtClean="0">
                            <a:solidFill>
                              <a:srgbClr val="000000"/>
                            </a:solidFill>
                            <a:latin typeface="Cambria Math" panose="02040503050406030204" pitchFamily="18" charset="0"/>
                          </a:rPr>
                          <m:t>𝑡</m:t>
                        </m:r>
                      </m:e>
                    </m:d>
                    <m:r>
                      <a:rPr lang="en-US" altLang="zh-CN" sz="2800" b="0" i="1" smtClean="0">
                        <a:solidFill>
                          <a:srgbClr val="000000"/>
                        </a:solidFill>
                        <a:latin typeface="Cambria Math" panose="02040503050406030204" pitchFamily="18" charset="0"/>
                      </a:rPr>
                      <m:t>𝑘</m:t>
                    </m:r>
                  </m:oMath>
                </a14:m>
                <a:endParaRPr lang="zh-CN" altLang="en-US" sz="2800" dirty="0"/>
              </a:p>
            </p:txBody>
          </p:sp>
        </mc:Choice>
        <mc:Fallback xmlns="">
          <p:sp>
            <p:nvSpPr>
              <p:cNvPr id="4" name="Object 6">
                <a:extLst>
                  <a:ext uri="{FF2B5EF4-FFF2-40B4-BE49-F238E27FC236}">
                    <a16:creationId xmlns:a16="http://schemas.microsoft.com/office/drawing/2014/main" id="{5EC2CAEC-0D7E-1227-12D2-B3410F8E4D31}"/>
                  </a:ext>
                </a:extLst>
              </p:cNvPr>
              <p:cNvSpPr txBox="1">
                <a:spLocks noRot="1" noChangeAspect="1" noMove="1" noResize="1" noEditPoints="1" noAdjustHandles="1" noChangeArrowheads="1" noChangeShapeType="1" noTextEdit="1"/>
              </p:cNvSpPr>
              <p:nvPr/>
            </p:nvSpPr>
            <p:spPr bwMode="auto">
              <a:xfrm>
                <a:off x="6412575" y="4209014"/>
                <a:ext cx="5100915" cy="1561769"/>
              </a:xfrm>
              <a:prstGeom prst="rect">
                <a:avLst/>
              </a:prstGeom>
              <a:blipFill>
                <a:blip r:embed="rId4"/>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40406923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74220" y="564542"/>
                <a:ext cx="10750587" cy="2284013"/>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常见的一些矢量表达式及其含义：</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）直线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设直线通过矢量</a:t>
                </a:r>
                <a14:m>
                  <m:oMath xmlns:m="http://schemas.openxmlformats.org/officeDocument/2006/math">
                    <m:acc>
                      <m:accPr>
                        <m:chr m:val="⃗"/>
                        <m:ctrlPr>
                          <a:rPr lang="zh-CN" altLang="en-US" sz="2600" i="1" smtClean="0">
                            <a:latin typeface="Cambria Math" panose="02040503050406030204" pitchFamily="18" charset="0"/>
                            <a:ea typeface="华光仿宋_CNKI" panose="02000500000000000000" pitchFamily="2" charset="-122"/>
                          </a:rPr>
                        </m:ctrlPr>
                      </m:accPr>
                      <m:e>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0</m:t>
                            </m:r>
                          </m:sub>
                        </m:sSub>
                      </m:e>
                    </m:acc>
                  </m:oMath>
                </a14:m>
                <a:r>
                  <a:rPr lang="zh-CN" altLang="en-US" sz="2600" dirty="0">
                    <a:latin typeface="华光仿宋_CNKI" panose="02000500000000000000" pitchFamily="2" charset="-122"/>
                    <a:ea typeface="华光仿宋_CNKI" panose="02000500000000000000" pitchFamily="2" charset="-122"/>
                  </a:rPr>
                  <a:t>和</a:t>
                </a:r>
                <a14:m>
                  <m:oMath xmlns:m="http://schemas.openxmlformats.org/officeDocument/2006/math">
                    <m:acc>
                      <m:accPr>
                        <m:chr m:val="⃗"/>
                        <m:ctrlPr>
                          <a:rPr lang="zh-CN" altLang="en-US" sz="2600" i="1">
                            <a:latin typeface="Cambria Math" panose="02040503050406030204" pitchFamily="18" charset="0"/>
                            <a:ea typeface="华光仿宋_CNKI" panose="02000500000000000000" pitchFamily="2" charset="-122"/>
                          </a:rPr>
                        </m:ctrlPr>
                      </m:accPr>
                      <m:e>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1</m:t>
                            </m:r>
                          </m:sub>
                        </m:sSub>
                      </m:e>
                    </m:acc>
                  </m:oMath>
                </a14:m>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，则可以用如下的形式来描述该直线：</a:t>
                </a:r>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74220" y="564542"/>
                <a:ext cx="10750587" cy="2284013"/>
              </a:xfrm>
              <a:blipFill>
                <a:blip r:embed="rId2"/>
                <a:stretch>
                  <a:fillRect/>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7D376861-9E66-F3A8-A9D5-7C2F04F4336A}"/>
              </a:ext>
            </a:extLst>
          </p:cNvPr>
          <p:cNvGraphicFramePr>
            <a:graphicFrameLocks noChangeAspect="1"/>
          </p:cNvGraphicFramePr>
          <p:nvPr>
            <p:extLst>
              <p:ext uri="{D42A27DB-BD31-4B8C-83A1-F6EECF244321}">
                <p14:modId xmlns:p14="http://schemas.microsoft.com/office/powerpoint/2010/main" val="3681101175"/>
              </p:ext>
            </p:extLst>
          </p:nvPr>
        </p:nvGraphicFramePr>
        <p:xfrm>
          <a:off x="1836738" y="2851150"/>
          <a:ext cx="8162925" cy="488950"/>
        </p:xfrm>
        <a:graphic>
          <a:graphicData uri="http://schemas.openxmlformats.org/presentationml/2006/ole">
            <mc:AlternateContent xmlns:mc="http://schemas.openxmlformats.org/markup-compatibility/2006">
              <mc:Choice xmlns:v="urn:schemas-microsoft-com:vml" Requires="v">
                <p:oleObj r:id="rId3" imgW="3301920" imgH="215640" progId="">
                  <p:embed/>
                </p:oleObj>
              </mc:Choice>
              <mc:Fallback>
                <p:oleObj r:id="rId3" imgW="3301920" imgH="215640" progId="">
                  <p:embed/>
                  <p:pic>
                    <p:nvPicPr>
                      <p:cNvPr id="0" name=""/>
                      <p:cNvPicPr/>
                      <p:nvPr/>
                    </p:nvPicPr>
                    <p:blipFill>
                      <a:blip r:embed="rId4"/>
                      <a:stretch>
                        <a:fillRect/>
                      </a:stretch>
                    </p:blipFill>
                    <p:spPr>
                      <a:xfrm>
                        <a:off x="1836738" y="2851150"/>
                        <a:ext cx="8162925" cy="4889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3BAC634B-79E8-5465-2906-1192F61E9873}"/>
                  </a:ext>
                </a:extLst>
              </p:cNvPr>
              <p:cNvSpPr txBox="1">
                <a:spLocks/>
              </p:cNvSpPr>
              <p:nvPr/>
            </p:nvSpPr>
            <p:spPr>
              <a:xfrm>
                <a:off x="1232027" y="3817841"/>
                <a:ext cx="8627589" cy="16061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）圆</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t>   </a:t>
                </a:r>
                <a:r>
                  <a:rPr lang="en-US" altLang="zh-CN" sz="2800" dirty="0">
                    <a:latin typeface="华光仿宋_CNKI" panose="02000500000000000000" pitchFamily="2" charset="-122"/>
                    <a:ea typeface="华光仿宋_CNKI" panose="02000500000000000000" pitchFamily="2" charset="-122"/>
                  </a:rPr>
                  <a:t> P(t)=[</a:t>
                </a:r>
                <a:r>
                  <a:rPr lang="en-US" altLang="zh-CN" sz="2800" dirty="0" err="1">
                    <a:latin typeface="华光仿宋_CNKI" panose="02000500000000000000" pitchFamily="2" charset="-122"/>
                    <a:ea typeface="华光仿宋_CNKI" panose="02000500000000000000" pitchFamily="2" charset="-122"/>
                  </a:rPr>
                  <a:t>rcos</a:t>
                </a:r>
                <a:r>
                  <a:rPr lang="en-US" altLang="zh-CN" sz="2800" dirty="0">
                    <a:latin typeface="华光仿宋_CNKI" panose="02000500000000000000" pitchFamily="2" charset="-122"/>
                    <a:ea typeface="华光仿宋_CNKI" panose="02000500000000000000" pitchFamily="2" charset="-122"/>
                  </a:rPr>
                  <a:t>(t),</a:t>
                </a:r>
                <a:r>
                  <a:rPr lang="en-US" altLang="zh-CN" sz="2800" dirty="0" err="1">
                    <a:latin typeface="华光仿宋_CNKI" panose="02000500000000000000" pitchFamily="2" charset="-122"/>
                    <a:ea typeface="华光仿宋_CNKI" panose="02000500000000000000" pitchFamily="2" charset="-122"/>
                  </a:rPr>
                  <a:t>rsin</a:t>
                </a:r>
                <a:r>
                  <a:rPr lang="en-US" altLang="zh-CN" sz="2800" dirty="0">
                    <a:latin typeface="华光仿宋_CNKI" panose="02000500000000000000" pitchFamily="2" charset="-122"/>
                    <a:ea typeface="华光仿宋_CNKI" panose="02000500000000000000" pitchFamily="2" charset="-122"/>
                  </a:rPr>
                  <a:t>(t)]    </a:t>
                </a:r>
                <a:r>
                  <a:rPr lang="zh-CN" altLang="en-US" sz="2800" dirty="0">
                    <a:latin typeface="华光仿宋_CNKI" panose="02000500000000000000" pitchFamily="2" charset="-122"/>
                    <a:ea typeface="华光仿宋_CNKI" panose="02000500000000000000" pitchFamily="2" charset="-122"/>
                  </a:rPr>
                  <a:t>其中</a:t>
                </a:r>
                <a:r>
                  <a:rPr lang="en-US" altLang="zh-CN" sz="2800" dirty="0">
                    <a:latin typeface="华光仿宋_CNKI" panose="02000500000000000000" pitchFamily="2" charset="-122"/>
                    <a:ea typeface="华光仿宋_CNKI" panose="02000500000000000000" pitchFamily="2" charset="-122"/>
                  </a:rPr>
                  <a:t>t</a:t>
                </a:r>
                <a14:m>
                  <m:oMath xmlns:m="http://schemas.openxmlformats.org/officeDocument/2006/math">
                    <m:r>
                      <a:rPr lang="en-US" altLang="zh-CN" sz="2800">
                        <a:latin typeface="Cambria Math" panose="02040503050406030204" pitchFamily="18" charset="0"/>
                        <a:ea typeface="华光仿宋_CNKI" panose="02000500000000000000" pitchFamily="2" charset="-122"/>
                      </a:rPr>
                      <m:t>∈</m:t>
                    </m:r>
                  </m:oMath>
                </a14:m>
                <a:r>
                  <a:rPr lang="en-US" altLang="zh-CN" sz="2800" dirty="0">
                    <a:latin typeface="华光仿宋_CNKI" panose="02000500000000000000" pitchFamily="2" charset="-122"/>
                    <a:ea typeface="华光仿宋_CNKI" panose="02000500000000000000" pitchFamily="2" charset="-122"/>
                  </a:rPr>
                  <a:t>[0,2</a:t>
                </a:r>
                <a14:m>
                  <m:oMath xmlns:m="http://schemas.openxmlformats.org/officeDocument/2006/math">
                    <m:r>
                      <a:rPr lang="zh-CN" altLang="en-US" sz="2800">
                        <a:latin typeface="Cambria Math" panose="02040503050406030204" pitchFamily="18" charset="0"/>
                        <a:ea typeface="华光仿宋_CNKI" panose="02000500000000000000" pitchFamily="2" charset="-122"/>
                      </a:rPr>
                      <m:t>𝜋</m:t>
                    </m:r>
                  </m:oMath>
                </a14:m>
                <a:r>
                  <a:rPr lang="en-US" altLang="zh-CN" sz="2800" dirty="0">
                    <a:latin typeface="华光仿宋_CNKI" panose="02000500000000000000" pitchFamily="2" charset="-122"/>
                    <a:ea typeface="华光仿宋_CNKI" panose="02000500000000000000" pitchFamily="2" charset="-122"/>
                  </a:rPr>
                  <a:t>]  </a:t>
                </a:r>
                <a:br>
                  <a:rPr lang="en-US" altLang="zh-CN" sz="2800" dirty="0"/>
                </a:b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6" name="副标题 2">
                <a:extLst>
                  <a:ext uri="{FF2B5EF4-FFF2-40B4-BE49-F238E27FC236}">
                    <a16:creationId xmlns:a16="http://schemas.microsoft.com/office/drawing/2014/main" id="{3BAC634B-79E8-5465-2906-1192F61E9873}"/>
                  </a:ext>
                </a:extLst>
              </p:cNvPr>
              <p:cNvSpPr txBox="1">
                <a:spLocks noRot="1" noChangeAspect="1" noMove="1" noResize="1" noEditPoints="1" noAdjustHandles="1" noChangeArrowheads="1" noChangeShapeType="1" noTextEdit="1"/>
              </p:cNvSpPr>
              <p:nvPr/>
            </p:nvSpPr>
            <p:spPr>
              <a:xfrm>
                <a:off x="1232027" y="3817841"/>
                <a:ext cx="8627589" cy="1606164"/>
              </a:xfrm>
              <a:prstGeom prst="rect">
                <a:avLst/>
              </a:prstGeom>
              <a:blipFill>
                <a:blip r:embed="rId5"/>
                <a:stretch>
                  <a:fillRect l="-1413"/>
                </a:stretch>
              </a:blipFill>
            </p:spPr>
            <p:txBody>
              <a:bodyPr/>
              <a:lstStyle/>
              <a:p>
                <a:r>
                  <a:rPr lang="zh-CN" altLang="en-US">
                    <a:noFill/>
                  </a:rPr>
                  <a:t> </a:t>
                </a:r>
              </a:p>
            </p:txBody>
          </p:sp>
        </mc:Fallback>
      </mc:AlternateContent>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5328843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74220" y="564542"/>
                <a:ext cx="10750587" cy="2329733"/>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标题宋_CNKI" panose="02000500000000000000" pitchFamily="2" charset="-122"/>
                    <a:ea typeface="华光标题宋_CNKI" panose="02000500000000000000" pitchFamily="2" charset="-122"/>
                  </a:rPr>
                  <a:t>参数连续性定义：</a:t>
                </a:r>
                <a:endParaRPr lang="en-US" altLang="zh-CN" sz="2600" dirty="0">
                  <a:latin typeface="华光标题宋_CNKI" panose="02000500000000000000" pitchFamily="2" charset="-122"/>
                  <a:ea typeface="华光标题宋_CNKI" panose="02000500000000000000" pitchFamily="2" charset="-122"/>
                </a:endParaRPr>
              </a:p>
              <a:p>
                <a:pPr algn="l">
                  <a:lnSpc>
                    <a:spcPct val="150000"/>
                  </a:lnSpc>
                </a:pPr>
                <a:r>
                  <a:rPr lang="zh-CN" altLang="en-US" sz="26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  称曲线</a:t>
                </a:r>
                <a:r>
                  <a:rPr lang="en-US" altLang="zh-CN" sz="3000" dirty="0">
                    <a:latin typeface="华光仿宋_CNKI" panose="02000500000000000000" pitchFamily="2" charset="-122"/>
                    <a:ea typeface="华光仿宋_CNKI" panose="02000500000000000000" pitchFamily="2" charset="-122"/>
                  </a:rPr>
                  <a:t>P=P(t)</a:t>
                </a:r>
                <a:r>
                  <a:rPr lang="zh-CN" altLang="en-US" sz="3000" dirty="0">
                    <a:latin typeface="华光仿宋_CNKI" panose="02000500000000000000" pitchFamily="2" charset="-122"/>
                    <a:ea typeface="华光仿宋_CNKI" panose="02000500000000000000" pitchFamily="2" charset="-122"/>
                  </a:rPr>
                  <a:t>在</a:t>
                </a:r>
                <a:r>
                  <a:rPr lang="en-US" altLang="zh-CN" sz="3000" dirty="0">
                    <a:latin typeface="华光仿宋_CNKI" panose="02000500000000000000" pitchFamily="2" charset="-122"/>
                    <a:ea typeface="华光仿宋_CNKI" panose="02000500000000000000" pitchFamily="2" charset="-122"/>
                  </a:rPr>
                  <a:t>t=</a:t>
                </a:r>
                <a14:m>
                  <m:oMath xmlns:m="http://schemas.openxmlformats.org/officeDocument/2006/math">
                    <m:sSub>
                      <m:sSubPr>
                        <m:ctrlPr>
                          <a:rPr lang="en-US" altLang="zh-CN" sz="3000" i="1">
                            <a:latin typeface="Cambria Math" panose="02040503050406030204" pitchFamily="18" charset="0"/>
                            <a:ea typeface="华光仿宋_CNKI" panose="02000500000000000000" pitchFamily="2" charset="-122"/>
                          </a:rPr>
                        </m:ctrlPr>
                      </m:sSubPr>
                      <m:e>
                        <m:r>
                          <a:rPr lang="en-US" altLang="zh-CN" sz="3000">
                            <a:latin typeface="Cambria Math" panose="02040503050406030204" pitchFamily="18" charset="0"/>
                            <a:ea typeface="华光仿宋_CNKI" panose="02000500000000000000" pitchFamily="2" charset="-122"/>
                          </a:rPr>
                          <m:t>𝒕</m:t>
                        </m:r>
                      </m:e>
                      <m:sub>
                        <m:r>
                          <a:rPr lang="en-US" altLang="zh-CN" sz="3000">
                            <a:latin typeface="Cambria Math" panose="02040503050406030204" pitchFamily="18" charset="0"/>
                            <a:ea typeface="华光仿宋_CNKI" panose="02000500000000000000" pitchFamily="2" charset="-122"/>
                          </a:rPr>
                          <m:t>𝟎</m:t>
                        </m:r>
                      </m:sub>
                    </m:sSub>
                  </m:oMath>
                </a14:m>
                <a:r>
                  <a:rPr lang="zh-CN" altLang="en-US" sz="3000" dirty="0">
                    <a:latin typeface="华光仿宋_CNKI" panose="02000500000000000000" pitchFamily="2" charset="-122"/>
                    <a:ea typeface="华光仿宋_CNKI" panose="02000500000000000000" pitchFamily="2" charset="-122"/>
                  </a:rPr>
                  <a:t>处</a:t>
                </a:r>
                <a:r>
                  <a:rPr lang="en-US" altLang="zh-CN" sz="3000" dirty="0">
                    <a:latin typeface="华光仿宋_CNKI" panose="02000500000000000000" pitchFamily="2" charset="-122"/>
                    <a:ea typeface="华光仿宋_CNKI" panose="02000500000000000000" pitchFamily="2" charset="-122"/>
                  </a:rPr>
                  <a:t>n</a:t>
                </a:r>
                <a:r>
                  <a:rPr lang="zh-CN" altLang="en-US" sz="3000" dirty="0">
                    <a:latin typeface="华光仿宋_CNKI" panose="02000500000000000000" pitchFamily="2" charset="-122"/>
                    <a:ea typeface="华光仿宋_CNKI" panose="02000500000000000000" pitchFamily="2" charset="-122"/>
                  </a:rPr>
                  <a:t>阶参数连续，如果它在</a:t>
                </a:r>
                <a:r>
                  <a:rPr lang="en-US" altLang="zh-CN" sz="3000" dirty="0">
                    <a:latin typeface="华光仿宋_CNKI" panose="02000500000000000000" pitchFamily="2" charset="-122"/>
                    <a:ea typeface="华光仿宋_CNKI" panose="02000500000000000000" pitchFamily="2" charset="-122"/>
                  </a:rPr>
                  <a:t>t=</a:t>
                </a:r>
                <a14:m>
                  <m:oMath xmlns:m="http://schemas.openxmlformats.org/officeDocument/2006/math">
                    <m:sSub>
                      <m:sSubPr>
                        <m:ctrlPr>
                          <a:rPr lang="en-US" altLang="zh-CN" sz="3000" i="1">
                            <a:latin typeface="Cambria Math" panose="02040503050406030204" pitchFamily="18" charset="0"/>
                            <a:ea typeface="华光仿宋_CNKI" panose="02000500000000000000" pitchFamily="2" charset="-122"/>
                          </a:rPr>
                        </m:ctrlPr>
                      </m:sSubPr>
                      <m:e>
                        <m:r>
                          <a:rPr lang="en-US" altLang="zh-CN" sz="3000">
                            <a:latin typeface="Cambria Math" panose="02040503050406030204" pitchFamily="18" charset="0"/>
                            <a:ea typeface="华光仿宋_CNKI" panose="02000500000000000000" pitchFamily="2" charset="-122"/>
                          </a:rPr>
                          <m:t>𝒕</m:t>
                        </m:r>
                      </m:e>
                      <m:sub>
                        <m:r>
                          <a:rPr lang="en-US" altLang="zh-CN" sz="3000">
                            <a:latin typeface="Cambria Math" panose="02040503050406030204" pitchFamily="18" charset="0"/>
                            <a:ea typeface="华光仿宋_CNKI" panose="02000500000000000000" pitchFamily="2" charset="-122"/>
                          </a:rPr>
                          <m:t>𝟎</m:t>
                        </m:r>
                      </m:sub>
                    </m:sSub>
                  </m:oMath>
                </a14:m>
                <a:r>
                  <a:rPr lang="zh-CN" altLang="en-US" sz="3000" dirty="0">
                    <a:latin typeface="华光仿宋_CNKI" panose="02000500000000000000" pitchFamily="2" charset="-122"/>
                    <a:ea typeface="华光仿宋_CNKI" panose="02000500000000000000" pitchFamily="2" charset="-122"/>
                  </a:rPr>
                  <a:t>处</a:t>
                </a:r>
                <a:r>
                  <a:rPr lang="en-US" altLang="zh-CN" sz="3000" dirty="0">
                    <a:latin typeface="华光仿宋_CNKI" panose="02000500000000000000" pitchFamily="2" charset="-122"/>
                    <a:ea typeface="华光仿宋_CNKI" panose="02000500000000000000" pitchFamily="2" charset="-122"/>
                  </a:rPr>
                  <a:t>n</a:t>
                </a:r>
                <a:r>
                  <a:rPr lang="zh-CN" altLang="en-US" sz="3000" dirty="0">
                    <a:latin typeface="华光仿宋_CNKI" panose="02000500000000000000" pitchFamily="2" charset="-122"/>
                    <a:ea typeface="华光仿宋_CNKI" panose="02000500000000000000" pitchFamily="2" charset="-122"/>
                  </a:rPr>
                  <a:t>阶左右导数存在，并且满足</a:t>
                </a:r>
                <a:r>
                  <a:rPr lang="en-US" altLang="zh-CN" sz="3000" dirty="0">
                    <a:latin typeface="华光仿宋_CNKI" panose="02000500000000000000" pitchFamily="2" charset="-122"/>
                    <a:ea typeface="华光仿宋_CNKI" panose="02000500000000000000" pitchFamily="2" charset="-122"/>
                  </a:rPr>
                  <a:t>:</a:t>
                </a:r>
                <a:endParaRPr lang="zh-CN" altLang="en-US" sz="30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74220" y="564542"/>
                <a:ext cx="10750587" cy="2329733"/>
              </a:xfrm>
              <a:blipFill>
                <a:blip r:embed="rId2"/>
                <a:stretch>
                  <a:fillRect l="-1304" r="-2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3BAC634B-79E8-5465-2906-1192F61E9873}"/>
                  </a:ext>
                </a:extLst>
              </p:cNvPr>
              <p:cNvSpPr txBox="1">
                <a:spLocks/>
              </p:cNvSpPr>
              <p:nvPr/>
            </p:nvSpPr>
            <p:spPr>
              <a:xfrm>
                <a:off x="1097279" y="4509604"/>
                <a:ext cx="10352599" cy="184479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3000" dirty="0">
                    <a:latin typeface="华光仿宋_CNKI" panose="02000500000000000000" pitchFamily="2" charset="-122"/>
                    <a:ea typeface="华光仿宋_CNKI" panose="02000500000000000000" pitchFamily="2" charset="-122"/>
                  </a:rPr>
                  <a:t>    记</a:t>
                </a:r>
                <a14:m>
                  <m:oMath xmlns:m="http://schemas.openxmlformats.org/officeDocument/2006/math">
                    <m:r>
                      <a:rPr lang="zh-CN" altLang="en-US" sz="3000" dirty="0">
                        <a:latin typeface="Cambria Math" panose="02040503050406030204" pitchFamily="18" charset="0"/>
                        <a:ea typeface="华光仿宋_CNKI" panose="02000500000000000000" pitchFamily="2" charset="-122"/>
                      </a:rPr>
                      <m:t>做</m:t>
                    </m:r>
                    <m:sSup>
                      <m:sSupPr>
                        <m:ctrlPr>
                          <a:rPr lang="en-US" altLang="zh-CN" sz="3000" i="1">
                            <a:latin typeface="Cambria Math" panose="02040503050406030204" pitchFamily="18" charset="0"/>
                            <a:ea typeface="华光仿宋_CNKI" panose="02000500000000000000" pitchFamily="2" charset="-122"/>
                          </a:rPr>
                        </m:ctrlPr>
                      </m:sSupPr>
                      <m:e>
                        <m:r>
                          <a:rPr lang="en-US" altLang="zh-CN" sz="3000">
                            <a:latin typeface="Cambria Math" panose="02040503050406030204" pitchFamily="18" charset="0"/>
                            <a:ea typeface="华光仿宋_CNKI" panose="02000500000000000000" pitchFamily="2" charset="-122"/>
                          </a:rPr>
                          <m:t>𝑪</m:t>
                        </m:r>
                      </m:e>
                      <m:sup>
                        <m:r>
                          <a:rPr lang="en-US" altLang="zh-CN" sz="3000">
                            <a:latin typeface="Cambria Math" panose="02040503050406030204" pitchFamily="18" charset="0"/>
                            <a:ea typeface="华光仿宋_CNKI" panose="02000500000000000000" pitchFamily="2" charset="-122"/>
                          </a:rPr>
                          <m:t>𝒏</m:t>
                        </m:r>
                      </m:sup>
                    </m:sSup>
                  </m:oMath>
                </a14:m>
                <a:r>
                  <a:rPr lang="zh-CN" altLang="en-US" sz="3000" dirty="0">
                    <a:latin typeface="华光仿宋_CNKI" panose="02000500000000000000" pitchFamily="2" charset="-122"/>
                    <a:ea typeface="华光仿宋_CNKI" panose="02000500000000000000" pitchFamily="2" charset="-122"/>
                  </a:rPr>
                  <a:t>。其中</a:t>
                </a:r>
                <a14:m>
                  <m:oMath xmlns:m="http://schemas.openxmlformats.org/officeDocument/2006/math">
                    <m:sSubSup>
                      <m:sSubSupPr>
                        <m:ctrlPr>
                          <a:rPr lang="en-US" altLang="zh-CN" sz="3000" i="1">
                            <a:latin typeface="Cambria Math" panose="02040503050406030204" pitchFamily="18" charset="0"/>
                            <a:ea typeface="华光仿宋_CNKI" panose="02000500000000000000" pitchFamily="2" charset="-122"/>
                          </a:rPr>
                        </m:ctrlPr>
                      </m:sSubSupPr>
                      <m:e>
                        <m:r>
                          <a:rPr lang="en-US" altLang="zh-CN" sz="3000">
                            <a:latin typeface="Cambria Math" panose="02040503050406030204" pitchFamily="18" charset="0"/>
                            <a:ea typeface="华光仿宋_CNKI" panose="02000500000000000000" pitchFamily="2" charset="-122"/>
                          </a:rPr>
                          <m:t>𝒕</m:t>
                        </m:r>
                      </m:e>
                      <m:sub>
                        <m:r>
                          <a:rPr lang="en-US" altLang="zh-CN" sz="3000">
                            <a:latin typeface="Cambria Math" panose="02040503050406030204" pitchFamily="18" charset="0"/>
                            <a:ea typeface="华光仿宋_CNKI" panose="02000500000000000000" pitchFamily="2" charset="-122"/>
                          </a:rPr>
                          <m:t>𝟎</m:t>
                        </m:r>
                      </m:sub>
                      <m:sup>
                        <m:r>
                          <a:rPr lang="en-US" altLang="zh-CN" sz="3000">
                            <a:latin typeface="Cambria Math" panose="02040503050406030204" pitchFamily="18" charset="0"/>
                            <a:ea typeface="华光仿宋_CNKI" panose="02000500000000000000" pitchFamily="2" charset="-122"/>
                          </a:rPr>
                          <m:t>−</m:t>
                        </m:r>
                      </m:sup>
                    </m:sSubSup>
                  </m:oMath>
                </a14:m>
                <a:r>
                  <a:rPr lang="zh-CN" altLang="en-US" sz="3000" dirty="0">
                    <a:latin typeface="华光仿宋_CNKI" panose="02000500000000000000" pitchFamily="2" charset="-122"/>
                    <a:ea typeface="华光仿宋_CNKI" panose="02000500000000000000" pitchFamily="2" charset="-122"/>
                  </a:rPr>
                  <a:t>表示曲线连接处前一条曲线的终点所对应的</a:t>
                </a:r>
                <a:r>
                  <a:rPr lang="en-US" altLang="zh-CN" sz="3000" dirty="0">
                    <a:latin typeface="华光仿宋_CNKI" panose="02000500000000000000" pitchFamily="2" charset="-122"/>
                    <a:ea typeface="华光仿宋_CNKI" panose="02000500000000000000" pitchFamily="2" charset="-122"/>
                  </a:rPr>
                  <a:t>t</a:t>
                </a:r>
                <a:r>
                  <a:rPr lang="zh-CN" altLang="en-US" sz="3000" dirty="0">
                    <a:latin typeface="华光仿宋_CNKI" panose="02000500000000000000" pitchFamily="2" charset="-122"/>
                    <a:ea typeface="华光仿宋_CNKI" panose="02000500000000000000" pitchFamily="2" charset="-122"/>
                  </a:rPr>
                  <a:t>值，</a:t>
                </a:r>
                <a:r>
                  <a:rPr lang="en-US" altLang="zh-CN" sz="3000" dirty="0">
                    <a:ea typeface="华光仿宋_CNKI" panose="02000500000000000000" pitchFamily="2" charset="-122"/>
                  </a:rPr>
                  <a:t> </a:t>
                </a:r>
                <a14:m>
                  <m:oMath xmlns:m="http://schemas.openxmlformats.org/officeDocument/2006/math">
                    <m:sSubSup>
                      <m:sSubSupPr>
                        <m:ctrlPr>
                          <a:rPr lang="en-US" altLang="zh-CN" sz="3000" i="1">
                            <a:latin typeface="Cambria Math" panose="02040503050406030204" pitchFamily="18" charset="0"/>
                            <a:ea typeface="华光仿宋_CNKI" panose="02000500000000000000" pitchFamily="2" charset="-122"/>
                          </a:rPr>
                        </m:ctrlPr>
                      </m:sSubSupPr>
                      <m:e>
                        <m:r>
                          <a:rPr lang="en-US" altLang="zh-CN" sz="3000">
                            <a:latin typeface="Cambria Math" panose="02040503050406030204" pitchFamily="18" charset="0"/>
                            <a:ea typeface="华光仿宋_CNKI" panose="02000500000000000000" pitchFamily="2" charset="-122"/>
                          </a:rPr>
                          <m:t>𝒕</m:t>
                        </m:r>
                      </m:e>
                      <m:sub>
                        <m:r>
                          <a:rPr lang="en-US" altLang="zh-CN" sz="3000">
                            <a:latin typeface="Cambria Math" panose="02040503050406030204" pitchFamily="18" charset="0"/>
                            <a:ea typeface="华光仿宋_CNKI" panose="02000500000000000000" pitchFamily="2" charset="-122"/>
                          </a:rPr>
                          <m:t>𝟎</m:t>
                        </m:r>
                      </m:sub>
                      <m:sup>
                        <m:r>
                          <a:rPr lang="en-US" altLang="zh-CN" sz="3000" b="0" i="0" smtClean="0">
                            <a:latin typeface="Cambria Math" panose="02040503050406030204" pitchFamily="18" charset="0"/>
                            <a:ea typeface="华光仿宋_CNKI" panose="02000500000000000000" pitchFamily="2" charset="-122"/>
                          </a:rPr>
                          <m:t>+</m:t>
                        </m:r>
                      </m:sup>
                    </m:sSubSup>
                  </m:oMath>
                </a14:m>
                <a:r>
                  <a:rPr lang="zh-CN" altLang="en-US" sz="3000" dirty="0">
                    <a:latin typeface="华光仿宋_CNKI" panose="02000500000000000000" pitchFamily="2" charset="-122"/>
                    <a:ea typeface="华光仿宋_CNKI" panose="02000500000000000000" pitchFamily="2" charset="-122"/>
                  </a:rPr>
                  <a:t>表示曲线连接处后一条曲线的起点所对应的</a:t>
                </a:r>
                <a:r>
                  <a:rPr lang="en-US" altLang="zh-CN" sz="3000" dirty="0">
                    <a:latin typeface="华光仿宋_CNKI" panose="02000500000000000000" pitchFamily="2" charset="-122"/>
                    <a:ea typeface="华光仿宋_CNKI" panose="02000500000000000000" pitchFamily="2" charset="-122"/>
                  </a:rPr>
                  <a:t>t</a:t>
                </a:r>
                <a:r>
                  <a:rPr lang="zh-CN" altLang="en-US" sz="3000" dirty="0">
                    <a:latin typeface="华光仿宋_CNKI" panose="02000500000000000000" pitchFamily="2" charset="-122"/>
                    <a:ea typeface="华光仿宋_CNKI" panose="02000500000000000000" pitchFamily="2" charset="-122"/>
                  </a:rPr>
                  <a:t>值。</a:t>
                </a:r>
                <a:br>
                  <a:rPr lang="en-US" altLang="zh-CN" sz="3000" dirty="0">
                    <a:latin typeface="华光仿宋_CNKI" panose="02000500000000000000" pitchFamily="2" charset="-122"/>
                    <a:ea typeface="华光仿宋_CNKI" panose="02000500000000000000" pitchFamily="2" charset="-122"/>
                  </a:rPr>
                </a:br>
                <a:endParaRPr lang="en-US" altLang="zh-CN" sz="30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6" name="副标题 2">
                <a:extLst>
                  <a:ext uri="{FF2B5EF4-FFF2-40B4-BE49-F238E27FC236}">
                    <a16:creationId xmlns:a16="http://schemas.microsoft.com/office/drawing/2014/main" id="{3BAC634B-79E8-5465-2906-1192F61E9873}"/>
                  </a:ext>
                </a:extLst>
              </p:cNvPr>
              <p:cNvSpPr txBox="1">
                <a:spLocks noRot="1" noChangeAspect="1" noMove="1" noResize="1" noEditPoints="1" noAdjustHandles="1" noChangeArrowheads="1" noChangeShapeType="1" noTextEdit="1"/>
              </p:cNvSpPr>
              <p:nvPr/>
            </p:nvSpPr>
            <p:spPr>
              <a:xfrm>
                <a:off x="1097279" y="4509604"/>
                <a:ext cx="10352599" cy="1844799"/>
              </a:xfrm>
              <a:prstGeom prst="rect">
                <a:avLst/>
              </a:prstGeom>
              <a:blipFill>
                <a:blip r:embed="rId3"/>
                <a:stretch>
                  <a:fillRect l="-1355" r="-5006"/>
                </a:stretch>
              </a:blipFill>
            </p:spPr>
            <p:txBody>
              <a:bodyPr/>
              <a:lstStyle/>
              <a:p>
                <a:r>
                  <a:rPr lang="zh-CN" altLang="en-US">
                    <a:noFill/>
                  </a:rPr>
                  <a:t> </a:t>
                </a:r>
              </a:p>
            </p:txBody>
          </p:sp>
        </mc:Fallback>
      </mc:AlternateContent>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2" name="对象 1">
            <a:extLst>
              <a:ext uri="{FF2B5EF4-FFF2-40B4-BE49-F238E27FC236}">
                <a16:creationId xmlns:a16="http://schemas.microsoft.com/office/drawing/2014/main" id="{9C478992-D0D3-3440-4B80-E16DE603EE05}"/>
              </a:ext>
            </a:extLst>
          </p:cNvPr>
          <p:cNvGraphicFramePr>
            <a:graphicFrameLocks noChangeAspect="1"/>
          </p:cNvGraphicFramePr>
          <p:nvPr>
            <p:extLst>
              <p:ext uri="{D42A27DB-BD31-4B8C-83A1-F6EECF244321}">
                <p14:modId xmlns:p14="http://schemas.microsoft.com/office/powerpoint/2010/main" val="3072285502"/>
              </p:ext>
            </p:extLst>
          </p:nvPr>
        </p:nvGraphicFramePr>
        <p:xfrm>
          <a:off x="2854517" y="2893322"/>
          <a:ext cx="6647291" cy="1132302"/>
        </p:xfrm>
        <a:graphic>
          <a:graphicData uri="http://schemas.openxmlformats.org/presentationml/2006/ole">
            <mc:AlternateContent xmlns:mc="http://schemas.openxmlformats.org/markup-compatibility/2006">
              <mc:Choice xmlns:v="urn:schemas-microsoft-com:vml" Requires="v">
                <p:oleObj r:id="rId4" imgW="2336760" imgH="419040" progId="">
                  <p:embed/>
                </p:oleObj>
              </mc:Choice>
              <mc:Fallback>
                <p:oleObj r:id="rId4" imgW="2336760" imgH="419040" progId="">
                  <p:embed/>
                  <p:pic>
                    <p:nvPicPr>
                      <p:cNvPr id="0" name=""/>
                      <p:cNvPicPr/>
                      <p:nvPr/>
                    </p:nvPicPr>
                    <p:blipFill>
                      <a:blip r:embed="rId5"/>
                      <a:stretch>
                        <a:fillRect/>
                      </a:stretch>
                    </p:blipFill>
                    <p:spPr>
                      <a:xfrm>
                        <a:off x="2854517" y="2893322"/>
                        <a:ext cx="6647291" cy="1132302"/>
                      </a:xfrm>
                      <a:prstGeom prst="rect">
                        <a:avLst/>
                      </a:prstGeom>
                    </p:spPr>
                  </p:pic>
                </p:oleObj>
              </mc:Fallback>
            </mc:AlternateContent>
          </a:graphicData>
        </a:graphic>
      </p:graphicFrame>
    </p:spTree>
    <p:extLst>
      <p:ext uri="{BB962C8B-B14F-4D97-AF65-F5344CB8AC3E}">
        <p14:creationId xmlns:p14="http://schemas.microsoft.com/office/powerpoint/2010/main" val="11235710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906025" y="628153"/>
                <a:ext cx="7562114" cy="5454594"/>
              </a:xfrm>
            </p:spPr>
            <p:txBody>
              <a:bodyPr>
                <a:no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基于前面的定义，有以下几种情况：</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）零阶几何连续性</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如果曲线</a:t>
                </a:r>
                <a:r>
                  <a:rPr lang="en-US" altLang="zh-CN" sz="2800" dirty="0">
                    <a:latin typeface="华光仿宋_CNKI" panose="02000500000000000000" pitchFamily="2" charset="-122"/>
                    <a:ea typeface="华光仿宋_CNKI" panose="02000500000000000000" pitchFamily="2" charset="-122"/>
                  </a:rPr>
                  <a:t>P=P(t)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处首尾相接，位置连续，即满足：</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P(</a:t>
                </a:r>
                <a14:m>
                  <m:oMath xmlns:m="http://schemas.openxmlformats.org/officeDocument/2006/math">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up>
                        <m:r>
                          <a:rPr lang="en-US" altLang="zh-CN" sz="2800">
                            <a:latin typeface="Cambria Math" panose="02040503050406030204" pitchFamily="18" charset="0"/>
                            <a:ea typeface="华光仿宋_CNKI" panose="02000500000000000000" pitchFamily="2" charset="-122"/>
                          </a:rPr>
                          <m:t>−</m:t>
                        </m:r>
                      </m:sup>
                    </m:sSubSup>
                  </m:oMath>
                </a14:m>
                <a:r>
                  <a:rPr lang="en-US" altLang="zh-CN" sz="2800" dirty="0">
                    <a:latin typeface="华光仿宋_CNKI" panose="02000500000000000000" pitchFamily="2" charset="-122"/>
                    <a:ea typeface="华光仿宋_CNKI" panose="02000500000000000000" pitchFamily="2" charset="-122"/>
                  </a:rPr>
                  <a:t>)=P(</a:t>
                </a:r>
                <a14:m>
                  <m:oMath xmlns:m="http://schemas.openxmlformats.org/officeDocument/2006/math">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up>
                        <m:r>
                          <a:rPr lang="en-US" altLang="zh-CN" sz="2800" b="0" i="1" smtClean="0">
                            <a:latin typeface="Cambria Math" panose="02040503050406030204" pitchFamily="18" charset="0"/>
                            <a:ea typeface="华光仿宋_CNKI" panose="02000500000000000000" pitchFamily="2" charset="-122"/>
                          </a:rPr>
                          <m:t>+</m:t>
                        </m:r>
                      </m:sup>
                    </m:sSubSup>
                  </m:oMath>
                </a14:m>
                <a:r>
                  <a:rPr lang="en-US" altLang="zh-CN" sz="2800" dirty="0">
                    <a:latin typeface="华光仿宋_CNKI" panose="02000500000000000000" pitchFamily="2" charset="-122"/>
                    <a:ea typeface="华光仿宋_CNKI" panose="02000500000000000000" pitchFamily="2" charset="-122"/>
                  </a:rPr>
                  <a:t>)</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则称曲线</a:t>
                </a:r>
                <a:r>
                  <a:rPr lang="en-US" altLang="zh-CN" sz="2800" dirty="0">
                    <a:latin typeface="华光仿宋_CNKI" panose="02000500000000000000" pitchFamily="2" charset="-122"/>
                    <a:ea typeface="华光仿宋_CNKI" panose="02000500000000000000" pitchFamily="2" charset="-122"/>
                  </a:rPr>
                  <a:t>P=P(t)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处零阶几何连续。记为</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m:rPr>
                            <m:sty m:val="p"/>
                          </m:rPr>
                          <a:rPr lang="en-US" altLang="zh-CN" sz="2800" b="0" i="0" smtClean="0">
                            <a:latin typeface="Cambria Math" panose="02040503050406030204" pitchFamily="18" charset="0"/>
                            <a:ea typeface="华光仿宋_CNKI" panose="02000500000000000000" pitchFamily="2" charset="-122"/>
                          </a:rPr>
                          <m:t>G</m:t>
                        </m:r>
                        <m:r>
                          <a:rPr lang="en-US" altLang="zh-CN" sz="2800">
                            <a:latin typeface="Cambria Math" panose="02040503050406030204" pitchFamily="18" charset="0"/>
                            <a:ea typeface="华光仿宋_CNKI" panose="02000500000000000000" pitchFamily="2" charset="-122"/>
                          </a:rPr>
                          <m:t>𝑪</m:t>
                        </m:r>
                      </m:e>
                      <m:sup>
                        <m:r>
                          <a:rPr lang="en-US" altLang="zh-CN" sz="2800" b="0" i="1" smtClean="0">
                            <a:latin typeface="Cambria Math" panose="02040503050406030204" pitchFamily="18" charset="0"/>
                            <a:ea typeface="华光仿宋_CNKI" panose="02000500000000000000" pitchFamily="2" charset="-122"/>
                          </a:rPr>
                          <m:t>0</m:t>
                        </m:r>
                      </m:sup>
                    </m:sSup>
                  </m:oMath>
                </a14:m>
                <a:r>
                  <a:rPr lang="zh-CN" altLang="en-US" sz="2800" dirty="0">
                    <a:latin typeface="华光仿宋_CNKI" panose="02000500000000000000" pitchFamily="2" charset="-122"/>
                    <a:ea typeface="华光仿宋_CNKI" panose="02000500000000000000" pitchFamily="2" charset="-122"/>
                  </a:rPr>
                  <a:t>。如右图所示。</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906025" y="628153"/>
                <a:ext cx="7562114" cy="5454594"/>
              </a:xfrm>
              <a:blipFill>
                <a:blip r:embed="rId2"/>
                <a:stretch>
                  <a:fillRect l="-1694" r="-806"/>
                </a:stretch>
              </a:blipFill>
            </p:spPr>
            <p:txBody>
              <a:bodyPr/>
              <a:lstStyle/>
              <a:p>
                <a:r>
                  <a:rPr lang="zh-CN" altLang="en-US">
                    <a:noFill/>
                  </a:rPr>
                  <a:t> </a:t>
                </a:r>
              </a:p>
            </p:txBody>
          </p:sp>
        </mc:Fallback>
      </mc:AlternateContent>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任意多边形: 形状 3">
            <a:extLst>
              <a:ext uri="{FF2B5EF4-FFF2-40B4-BE49-F238E27FC236}">
                <a16:creationId xmlns:a16="http://schemas.microsoft.com/office/drawing/2014/main" id="{063A0317-6C5F-450C-4A5F-A68F787EA2BA}"/>
              </a:ext>
            </a:extLst>
          </p:cNvPr>
          <p:cNvSpPr/>
          <p:nvPr/>
        </p:nvSpPr>
        <p:spPr>
          <a:xfrm>
            <a:off x="9144000" y="2305878"/>
            <a:ext cx="1192696" cy="1784367"/>
          </a:xfrm>
          <a:custGeom>
            <a:avLst/>
            <a:gdLst>
              <a:gd name="connsiteX0" fmla="*/ 0 w 1781093"/>
              <a:gd name="connsiteY0" fmla="*/ 0 h 1784367"/>
              <a:gd name="connsiteX1" fmla="*/ 699715 w 1781093"/>
              <a:gd name="connsiteY1" fmla="*/ 1757239 h 1784367"/>
              <a:gd name="connsiteX2" fmla="*/ 1781093 w 1781093"/>
              <a:gd name="connsiteY2" fmla="*/ 1073426 h 1784367"/>
            </a:gdLst>
            <a:ahLst/>
            <a:cxnLst>
              <a:cxn ang="0">
                <a:pos x="connsiteX0" y="connsiteY0"/>
              </a:cxn>
              <a:cxn ang="0">
                <a:pos x="connsiteX1" y="connsiteY1"/>
              </a:cxn>
              <a:cxn ang="0">
                <a:pos x="connsiteX2" y="connsiteY2"/>
              </a:cxn>
            </a:cxnLst>
            <a:rect l="l" t="t" r="r" b="b"/>
            <a:pathLst>
              <a:path w="1781093" h="1784367">
                <a:moveTo>
                  <a:pt x="0" y="0"/>
                </a:moveTo>
                <a:cubicBezTo>
                  <a:pt x="201433" y="789167"/>
                  <a:pt x="402866" y="1578335"/>
                  <a:pt x="699715" y="1757239"/>
                </a:cubicBezTo>
                <a:cubicBezTo>
                  <a:pt x="996564" y="1936143"/>
                  <a:pt x="1603514" y="1175468"/>
                  <a:pt x="1781093" y="107342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a:extLst>
              <a:ext uri="{FF2B5EF4-FFF2-40B4-BE49-F238E27FC236}">
                <a16:creationId xmlns:a16="http://schemas.microsoft.com/office/drawing/2014/main" id="{BF3A67EF-74FC-FB1B-2C3D-60C776224E48}"/>
              </a:ext>
            </a:extLst>
          </p:cNvPr>
          <p:cNvSpPr/>
          <p:nvPr/>
        </p:nvSpPr>
        <p:spPr>
          <a:xfrm>
            <a:off x="10336696" y="1995777"/>
            <a:ext cx="1439186" cy="2441882"/>
          </a:xfrm>
          <a:custGeom>
            <a:avLst/>
            <a:gdLst>
              <a:gd name="connsiteX0" fmla="*/ 0 w 1439186"/>
              <a:gd name="connsiteY0" fmla="*/ 1375575 h 2441882"/>
              <a:gd name="connsiteX1" fmla="*/ 461175 w 1439186"/>
              <a:gd name="connsiteY1" fmla="*/ 2393342 h 2441882"/>
              <a:gd name="connsiteX2" fmla="*/ 1439186 w 1439186"/>
              <a:gd name="connsiteY2" fmla="*/ 0 h 2441882"/>
            </a:gdLst>
            <a:ahLst/>
            <a:cxnLst>
              <a:cxn ang="0">
                <a:pos x="connsiteX0" y="connsiteY0"/>
              </a:cxn>
              <a:cxn ang="0">
                <a:pos x="connsiteX1" y="connsiteY1"/>
              </a:cxn>
              <a:cxn ang="0">
                <a:pos x="connsiteX2" y="connsiteY2"/>
              </a:cxn>
            </a:cxnLst>
            <a:rect l="l" t="t" r="r" b="b"/>
            <a:pathLst>
              <a:path w="1439186" h="2441882">
                <a:moveTo>
                  <a:pt x="0" y="1375575"/>
                </a:moveTo>
                <a:cubicBezTo>
                  <a:pt x="110655" y="1999090"/>
                  <a:pt x="221311" y="2622605"/>
                  <a:pt x="461175" y="2393342"/>
                </a:cubicBezTo>
                <a:cubicBezTo>
                  <a:pt x="701039" y="2164080"/>
                  <a:pt x="1070112" y="1082040"/>
                  <a:pt x="1439186" y="0"/>
                </a:cubicBezTo>
              </a:path>
            </a:pathLst>
          </a:custGeom>
          <a:noFill/>
          <a:ln>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94337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548640" y="389613"/>
                <a:ext cx="9088341" cy="5637475"/>
              </a:xfrm>
            </p:spPr>
            <p:txBody>
              <a:bodyPr>
                <a:no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）一阶几何连续性</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如果曲线</a:t>
                </a:r>
                <a:r>
                  <a:rPr lang="en-US" altLang="zh-CN" sz="2800" dirty="0">
                    <a:latin typeface="华光仿宋_CNKI" panose="02000500000000000000" pitchFamily="2" charset="-122"/>
                    <a:ea typeface="华光仿宋_CNKI" panose="02000500000000000000" pitchFamily="2" charset="-122"/>
                  </a:rPr>
                  <a:t>P=P(t)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处首尾相接，且切矢量方向连续，即满足：</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𝑃</m:t>
                        </m:r>
                      </m:e>
                      <m:sup>
                        <m:r>
                          <a:rPr lang="en-US" altLang="zh-CN" sz="2800" b="0" i="1" smtClean="0">
                            <a:latin typeface="Cambria Math" panose="02040503050406030204" pitchFamily="18" charset="0"/>
                            <a:ea typeface="华光仿宋_CNKI" panose="02000500000000000000" pitchFamily="2" charset="-122"/>
                          </a:rPr>
                          <m:t>′</m:t>
                        </m:r>
                      </m:sup>
                    </m:sSup>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up>
                        <m:r>
                          <a:rPr lang="en-US" altLang="zh-CN" sz="2800">
                            <a:latin typeface="Cambria Math" panose="02040503050406030204" pitchFamily="18" charset="0"/>
                            <a:ea typeface="华光仿宋_CNKI" panose="02000500000000000000" pitchFamily="2" charset="-122"/>
                          </a:rPr>
                          <m:t>−</m:t>
                        </m:r>
                      </m:sup>
                    </m:sSubSup>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r>
                      <a:rPr lang="zh-CN" altLang="en-US" sz="2800" i="1" dirty="0" smtClean="0">
                        <a:latin typeface="Cambria Math" panose="02040503050406030204" pitchFamily="18" charset="0"/>
                        <a:ea typeface="华光仿宋_CNKI" panose="02000500000000000000" pitchFamily="2" charset="-122"/>
                      </a:rPr>
                      <m:t>𝛼</m:t>
                    </m:r>
                    <m:r>
                      <a:rPr lang="en-US" altLang="zh-CN" sz="2800" b="0" i="1" dirty="0" smtClean="0">
                        <a:latin typeface="Cambria Math" panose="02040503050406030204" pitchFamily="18" charset="0"/>
                        <a:ea typeface="华光仿宋_CNKI" panose="02000500000000000000" pitchFamily="2" charset="-122"/>
                      </a:rPr>
                      <m:t>.</m:t>
                    </m:r>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i="1">
                            <a:latin typeface="Cambria Math" panose="02040503050406030204" pitchFamily="18" charset="0"/>
                            <a:ea typeface="华光仿宋_CNKI" panose="02000500000000000000" pitchFamily="2" charset="-122"/>
                          </a:rPr>
                          <m:t>𝑃</m:t>
                        </m:r>
                      </m:e>
                      <m:sup>
                        <m:r>
                          <a:rPr lang="en-US" altLang="zh-CN" sz="2800" i="1">
                            <a:latin typeface="Cambria Math" panose="02040503050406030204" pitchFamily="18" charset="0"/>
                            <a:ea typeface="华光仿宋_CNKI" panose="02000500000000000000" pitchFamily="2" charset="-122"/>
                          </a:rPr>
                          <m:t>′</m:t>
                        </m:r>
                      </m:sup>
                    </m:sSup>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up>
                        <m:r>
                          <a:rPr lang="en-US" altLang="zh-CN" sz="2800" b="0" i="1" smtClean="0">
                            <a:latin typeface="Cambria Math" panose="02040503050406030204" pitchFamily="18" charset="0"/>
                            <a:ea typeface="华光仿宋_CNKI" panose="02000500000000000000" pitchFamily="2" charset="-122"/>
                          </a:rPr>
                          <m:t>+</m:t>
                        </m:r>
                      </m:sup>
                    </m:sSubSup>
                  </m:oMath>
                </a14:m>
                <a:r>
                  <a:rPr lang="en-US" altLang="zh-CN" sz="2800" dirty="0">
                    <a:latin typeface="华光仿宋_CNKI" panose="02000500000000000000" pitchFamily="2" charset="-122"/>
                    <a:ea typeface="华光仿宋_CNKI" panose="02000500000000000000" pitchFamily="2" charset="-122"/>
                  </a:rPr>
                  <a:t>)</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则称曲线</a:t>
                </a:r>
                <a:r>
                  <a:rPr lang="en-US" altLang="zh-CN" sz="2800" dirty="0">
                    <a:latin typeface="华光仿宋_CNKI" panose="02000500000000000000" pitchFamily="2" charset="-122"/>
                    <a:ea typeface="华光仿宋_CNKI" panose="02000500000000000000" pitchFamily="2" charset="-122"/>
                  </a:rPr>
                  <a:t>P=P(t)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处一阶几何连续。记为</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m:rPr>
                            <m:sty m:val="p"/>
                          </m:rPr>
                          <a:rPr lang="en-US" altLang="zh-CN" sz="2800" b="0" i="0" smtClean="0">
                            <a:latin typeface="Cambria Math" panose="02040503050406030204" pitchFamily="18" charset="0"/>
                            <a:ea typeface="华光仿宋_CNKI" panose="02000500000000000000" pitchFamily="2" charset="-122"/>
                          </a:rPr>
                          <m:t>G</m:t>
                        </m:r>
                        <m:r>
                          <a:rPr lang="en-US" altLang="zh-CN" sz="2800">
                            <a:latin typeface="Cambria Math" panose="02040503050406030204" pitchFamily="18" charset="0"/>
                            <a:ea typeface="华光仿宋_CNKI" panose="02000500000000000000" pitchFamily="2" charset="-122"/>
                          </a:rPr>
                          <m:t>𝑪</m:t>
                        </m:r>
                      </m:e>
                      <m:sup>
                        <m:r>
                          <a:rPr lang="en-US" altLang="zh-CN" sz="2800" b="0" i="1" smtClean="0">
                            <a:latin typeface="Cambria Math" panose="02040503050406030204" pitchFamily="18" charset="0"/>
                            <a:ea typeface="华光仿宋_CNKI" panose="02000500000000000000" pitchFamily="2" charset="-122"/>
                          </a:rPr>
                          <m:t>1</m:t>
                        </m:r>
                      </m:sup>
                    </m:sSup>
                  </m:oMath>
                </a14:m>
                <a:r>
                  <a:rPr lang="zh-CN" altLang="en-US" sz="2800" dirty="0">
                    <a:latin typeface="华光仿宋_CNKI" panose="02000500000000000000" pitchFamily="2" charset="-122"/>
                    <a:ea typeface="华光仿宋_CNKI" panose="02000500000000000000" pitchFamily="2" charset="-122"/>
                  </a:rPr>
                  <a:t>。如右图所示。</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从曲线来看，可以保证相连曲线的光滑性。但不能保准光顺。光顺还要求曲率变化小，绝对曲率较小等。</a:t>
                </a: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548640" y="389613"/>
                <a:ext cx="9088341" cy="5637475"/>
              </a:xfrm>
              <a:blipFill>
                <a:blip r:embed="rId2"/>
                <a:stretch>
                  <a:fillRect l="-1341" b="-3459"/>
                </a:stretch>
              </a:blipFill>
            </p:spPr>
            <p:txBody>
              <a:bodyPr/>
              <a:lstStyle/>
              <a:p>
                <a:r>
                  <a:rPr lang="zh-CN" altLang="en-US">
                    <a:noFill/>
                  </a:rPr>
                  <a:t> </a:t>
                </a:r>
              </a:p>
            </p:txBody>
          </p:sp>
        </mc:Fallback>
      </mc:AlternateContent>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任意多边形: 形状 10">
            <a:extLst>
              <a:ext uri="{FF2B5EF4-FFF2-40B4-BE49-F238E27FC236}">
                <a16:creationId xmlns:a16="http://schemas.microsoft.com/office/drawing/2014/main" id="{E31683AB-9B41-E3B0-B8DD-A81C26F5565C}"/>
              </a:ext>
            </a:extLst>
          </p:cNvPr>
          <p:cNvSpPr/>
          <p:nvPr/>
        </p:nvSpPr>
        <p:spPr>
          <a:xfrm>
            <a:off x="8698725" y="1717482"/>
            <a:ext cx="1431235" cy="1781092"/>
          </a:xfrm>
          <a:custGeom>
            <a:avLst/>
            <a:gdLst>
              <a:gd name="connsiteX0" fmla="*/ 0 w 1431235"/>
              <a:gd name="connsiteY0" fmla="*/ 683316 h 1072930"/>
              <a:gd name="connsiteX1" fmla="*/ 691763 w 1431235"/>
              <a:gd name="connsiteY1" fmla="*/ 7456 h 1072930"/>
              <a:gd name="connsiteX2" fmla="*/ 1431235 w 1431235"/>
              <a:gd name="connsiteY2" fmla="*/ 1072930 h 1072930"/>
            </a:gdLst>
            <a:ahLst/>
            <a:cxnLst>
              <a:cxn ang="0">
                <a:pos x="connsiteX0" y="connsiteY0"/>
              </a:cxn>
              <a:cxn ang="0">
                <a:pos x="connsiteX1" y="connsiteY1"/>
              </a:cxn>
              <a:cxn ang="0">
                <a:pos x="connsiteX2" y="connsiteY2"/>
              </a:cxn>
            </a:cxnLst>
            <a:rect l="l" t="t" r="r" b="b"/>
            <a:pathLst>
              <a:path w="1431235" h="1072930">
                <a:moveTo>
                  <a:pt x="0" y="683316"/>
                </a:moveTo>
                <a:cubicBezTo>
                  <a:pt x="226612" y="312918"/>
                  <a:pt x="453224" y="-57480"/>
                  <a:pt x="691763" y="7456"/>
                </a:cubicBezTo>
                <a:cubicBezTo>
                  <a:pt x="930302" y="72392"/>
                  <a:pt x="1180768" y="572661"/>
                  <a:pt x="1431235" y="107293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a:extLst>
              <a:ext uri="{FF2B5EF4-FFF2-40B4-BE49-F238E27FC236}">
                <a16:creationId xmlns:a16="http://schemas.microsoft.com/office/drawing/2014/main" id="{49190D93-6C17-5A56-F6C4-6C457E8A601A}"/>
              </a:ext>
            </a:extLst>
          </p:cNvPr>
          <p:cNvSpPr/>
          <p:nvPr/>
        </p:nvSpPr>
        <p:spPr>
          <a:xfrm>
            <a:off x="10129960" y="2798861"/>
            <a:ext cx="1590261" cy="1590260"/>
          </a:xfrm>
          <a:custGeom>
            <a:avLst/>
            <a:gdLst>
              <a:gd name="connsiteX0" fmla="*/ 0 w 1272208"/>
              <a:gd name="connsiteY0" fmla="*/ 580445 h 1341849"/>
              <a:gd name="connsiteX1" fmla="*/ 413467 w 1272208"/>
              <a:gd name="connsiteY1" fmla="*/ 1327868 h 1341849"/>
              <a:gd name="connsiteX2" fmla="*/ 1272208 w 1272208"/>
              <a:gd name="connsiteY2" fmla="*/ 0 h 1341849"/>
            </a:gdLst>
            <a:ahLst/>
            <a:cxnLst>
              <a:cxn ang="0">
                <a:pos x="connsiteX0" y="connsiteY0"/>
              </a:cxn>
              <a:cxn ang="0">
                <a:pos x="connsiteX1" y="connsiteY1"/>
              </a:cxn>
              <a:cxn ang="0">
                <a:pos x="connsiteX2" y="connsiteY2"/>
              </a:cxn>
            </a:cxnLst>
            <a:rect l="l" t="t" r="r" b="b"/>
            <a:pathLst>
              <a:path w="1272208" h="1341849">
                <a:moveTo>
                  <a:pt x="0" y="580445"/>
                </a:moveTo>
                <a:cubicBezTo>
                  <a:pt x="100716" y="1002527"/>
                  <a:pt x="201432" y="1424609"/>
                  <a:pt x="413467" y="1327868"/>
                </a:cubicBezTo>
                <a:cubicBezTo>
                  <a:pt x="625502" y="1231127"/>
                  <a:pt x="948855" y="615563"/>
                  <a:pt x="1272208" y="0"/>
                </a:cubicBezTo>
              </a:path>
            </a:pathLst>
          </a:custGeom>
          <a:noFill/>
          <a:ln>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24269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6512" y="894190"/>
                <a:ext cx="7562114" cy="5387340"/>
              </a:xfrm>
            </p:spPr>
            <p:txBody>
              <a:bodyPr>
                <a:no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）二阶几何连续性</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如果曲线</a:t>
                </a:r>
                <a:r>
                  <a:rPr lang="en-US" altLang="zh-CN" sz="2800" dirty="0">
                    <a:latin typeface="华光仿宋_CNKI" panose="02000500000000000000" pitchFamily="2" charset="-122"/>
                    <a:ea typeface="华光仿宋_CNKI" panose="02000500000000000000" pitchFamily="2" charset="-122"/>
                  </a:rPr>
                  <a:t>P=P(t)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处一阶几何连续，且副法矢量方向连续，曲率连续，即满足：</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𝑃</m:t>
                        </m:r>
                      </m:e>
                      <m:sup>
                        <m:r>
                          <a:rPr lang="en-US" altLang="zh-CN" sz="2800" b="0" i="1" smtClean="0">
                            <a:latin typeface="Cambria Math" panose="02040503050406030204" pitchFamily="18" charset="0"/>
                            <a:ea typeface="华光仿宋_CNKI" panose="02000500000000000000" pitchFamily="2" charset="-122"/>
                          </a:rPr>
                          <m:t>′′</m:t>
                        </m:r>
                      </m:sup>
                    </m:sSup>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up>
                        <m:r>
                          <a:rPr lang="en-US" altLang="zh-CN" sz="2800">
                            <a:latin typeface="Cambria Math" panose="02040503050406030204" pitchFamily="18" charset="0"/>
                            <a:ea typeface="华光仿宋_CNKI" panose="02000500000000000000" pitchFamily="2" charset="-122"/>
                          </a:rPr>
                          <m:t>−</m:t>
                        </m:r>
                      </m:sup>
                    </m:sSubSup>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r>
                      <a:rPr lang="zh-CN" altLang="en-US" sz="2800" i="1" dirty="0" smtClean="0">
                        <a:latin typeface="Cambria Math" panose="02040503050406030204" pitchFamily="18" charset="0"/>
                        <a:ea typeface="华光仿宋_CNKI" panose="02000500000000000000" pitchFamily="2" charset="-122"/>
                      </a:rPr>
                      <m:t>𝛼</m:t>
                    </m:r>
                    <m:r>
                      <a:rPr lang="en-US" altLang="zh-CN" sz="2800" b="0" i="1" dirty="0" smtClean="0">
                        <a:latin typeface="Cambria Math" panose="02040503050406030204" pitchFamily="18" charset="0"/>
                        <a:ea typeface="华光仿宋_CNKI" panose="02000500000000000000" pitchFamily="2" charset="-122"/>
                      </a:rPr>
                      <m:t>.</m:t>
                    </m:r>
                  </m:oMath>
                </a14:m>
                <a:r>
                  <a:rPr lang="en-US" altLang="zh-CN" sz="28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a:rPr lang="en-US" altLang="zh-CN" sz="2800" i="1">
                            <a:latin typeface="Cambria Math" panose="02040503050406030204" pitchFamily="18" charset="0"/>
                            <a:ea typeface="华光仿宋_CNKI" panose="02000500000000000000" pitchFamily="2" charset="-122"/>
                          </a:rPr>
                          <m:t>𝑃</m:t>
                        </m:r>
                      </m:e>
                      <m:sup>
                        <m:r>
                          <a:rPr lang="en-US" altLang="zh-CN" sz="2800" i="1">
                            <a:latin typeface="Cambria Math" panose="02040503050406030204" pitchFamily="18" charset="0"/>
                            <a:ea typeface="华光仿宋_CNKI" panose="02000500000000000000" pitchFamily="2" charset="-122"/>
                          </a:rPr>
                          <m:t>′</m:t>
                        </m:r>
                        <m:r>
                          <a:rPr lang="en-US" altLang="zh-CN" sz="2800" b="0" i="1" smtClean="0">
                            <a:latin typeface="Cambria Math" panose="02040503050406030204" pitchFamily="18" charset="0"/>
                            <a:ea typeface="华光仿宋_CNKI" panose="02000500000000000000" pitchFamily="2" charset="-122"/>
                          </a:rPr>
                          <m:t>′</m:t>
                        </m:r>
                      </m:sup>
                    </m:sSup>
                  </m:oMath>
                </a14:m>
                <a:r>
                  <a:rPr lang="en-US" altLang="zh-CN" sz="2800" dirty="0">
                    <a:latin typeface="华光仿宋_CNKI" panose="02000500000000000000" pitchFamily="2" charset="-122"/>
                    <a:ea typeface="华光仿宋_CNKI" panose="02000500000000000000" pitchFamily="2" charset="-122"/>
                  </a:rPr>
                  <a:t>(</a:t>
                </a:r>
                <a14:m>
                  <m:oMath xmlns:m="http://schemas.openxmlformats.org/officeDocument/2006/math">
                    <m:sSubSup>
                      <m:sSubSupPr>
                        <m:ctrlPr>
                          <a:rPr lang="en-US" altLang="zh-CN" sz="2800" i="1">
                            <a:latin typeface="Cambria Math" panose="02040503050406030204" pitchFamily="18" charset="0"/>
                            <a:ea typeface="华光仿宋_CNKI" panose="02000500000000000000" pitchFamily="2" charset="-122"/>
                          </a:rPr>
                        </m:ctrlPr>
                      </m:sSubSup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up>
                        <m:r>
                          <a:rPr lang="en-US" altLang="zh-CN" sz="2800" b="0" i="1" smtClean="0">
                            <a:latin typeface="Cambria Math" panose="02040503050406030204" pitchFamily="18" charset="0"/>
                            <a:ea typeface="华光仿宋_CNKI" panose="02000500000000000000" pitchFamily="2" charset="-122"/>
                          </a:rPr>
                          <m:t>+</m:t>
                        </m:r>
                      </m:sup>
                    </m:sSubSup>
                  </m:oMath>
                </a14:m>
                <a:r>
                  <a:rPr lang="en-US" altLang="zh-CN" sz="2800" dirty="0">
                    <a:latin typeface="华光仿宋_CNKI" panose="02000500000000000000" pitchFamily="2" charset="-122"/>
                    <a:ea typeface="华光仿宋_CNKI" panose="02000500000000000000" pitchFamily="2" charset="-122"/>
                  </a:rPr>
                  <a:t>)</a:t>
                </a: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则称曲线</a:t>
                </a:r>
                <a:r>
                  <a:rPr lang="en-US" altLang="zh-CN" sz="2800" dirty="0">
                    <a:latin typeface="华光仿宋_CNKI" panose="02000500000000000000" pitchFamily="2" charset="-122"/>
                    <a:ea typeface="华光仿宋_CNKI" panose="02000500000000000000" pitchFamily="2" charset="-122"/>
                  </a:rPr>
                  <a:t>P=P(t)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处二阶几何连续。记为</a:t>
                </a:r>
                <a14:m>
                  <m:oMath xmlns:m="http://schemas.openxmlformats.org/officeDocument/2006/math">
                    <m:sSup>
                      <m:sSupPr>
                        <m:ctrlPr>
                          <a:rPr lang="en-US" altLang="zh-CN" sz="2800" i="1">
                            <a:latin typeface="Cambria Math" panose="02040503050406030204" pitchFamily="18" charset="0"/>
                            <a:ea typeface="华光仿宋_CNKI" panose="02000500000000000000" pitchFamily="2" charset="-122"/>
                          </a:rPr>
                        </m:ctrlPr>
                      </m:sSupPr>
                      <m:e>
                        <m:r>
                          <m:rPr>
                            <m:sty m:val="p"/>
                          </m:rPr>
                          <a:rPr lang="en-US" altLang="zh-CN" sz="2800" b="0" i="0" smtClean="0">
                            <a:latin typeface="Cambria Math" panose="02040503050406030204" pitchFamily="18" charset="0"/>
                            <a:ea typeface="华光仿宋_CNKI" panose="02000500000000000000" pitchFamily="2" charset="-122"/>
                          </a:rPr>
                          <m:t>G</m:t>
                        </m:r>
                        <m:r>
                          <a:rPr lang="en-US" altLang="zh-CN" sz="2800">
                            <a:latin typeface="Cambria Math" panose="02040503050406030204" pitchFamily="18" charset="0"/>
                            <a:ea typeface="华光仿宋_CNKI" panose="02000500000000000000" pitchFamily="2" charset="-122"/>
                          </a:rPr>
                          <m:t>𝑪</m:t>
                        </m:r>
                      </m:e>
                      <m:sup>
                        <m:r>
                          <a:rPr lang="en-US" altLang="zh-CN" sz="2800" b="0" i="1" smtClean="0">
                            <a:latin typeface="Cambria Math" panose="02040503050406030204" pitchFamily="18" charset="0"/>
                            <a:ea typeface="华光仿宋_CNKI" panose="02000500000000000000" pitchFamily="2" charset="-122"/>
                          </a:rPr>
                          <m:t>2</m:t>
                        </m:r>
                      </m:sup>
                    </m:sSup>
                  </m:oMath>
                </a14:m>
                <a:r>
                  <a:rPr lang="zh-CN" altLang="en-US" sz="2800" dirty="0">
                    <a:latin typeface="华光仿宋_CNKI" panose="02000500000000000000" pitchFamily="2" charset="-122"/>
                    <a:ea typeface="华光仿宋_CNKI" panose="02000500000000000000" pitchFamily="2" charset="-122"/>
                  </a:rPr>
                  <a:t>。如右图所示。</a:t>
                </a: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826512" y="894190"/>
                <a:ext cx="7562114" cy="5387340"/>
              </a:xfrm>
              <a:blipFill>
                <a:blip r:embed="rId2"/>
                <a:stretch>
                  <a:fillRect l="-1694" r="-1290"/>
                </a:stretch>
              </a:blipFill>
            </p:spPr>
            <p:txBody>
              <a:bodyPr/>
              <a:lstStyle/>
              <a:p>
                <a:r>
                  <a:rPr lang="zh-CN" altLang="en-US">
                    <a:noFill/>
                  </a:rPr>
                  <a:t> </a:t>
                </a:r>
              </a:p>
            </p:txBody>
          </p:sp>
        </mc:Fallback>
      </mc:AlternateContent>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任意多边形: 形状 4">
            <a:extLst>
              <a:ext uri="{FF2B5EF4-FFF2-40B4-BE49-F238E27FC236}">
                <a16:creationId xmlns:a16="http://schemas.microsoft.com/office/drawing/2014/main" id="{E4E7D329-2EF8-A768-FE85-78CB6788EC20}"/>
              </a:ext>
            </a:extLst>
          </p:cNvPr>
          <p:cNvSpPr/>
          <p:nvPr/>
        </p:nvSpPr>
        <p:spPr>
          <a:xfrm>
            <a:off x="8595360" y="2826026"/>
            <a:ext cx="1065475" cy="755374"/>
          </a:xfrm>
          <a:custGeom>
            <a:avLst/>
            <a:gdLst>
              <a:gd name="connsiteX0" fmla="*/ 0 w 1208598"/>
              <a:gd name="connsiteY0" fmla="*/ 722809 h 722809"/>
              <a:gd name="connsiteX1" fmla="*/ 787179 w 1208598"/>
              <a:gd name="connsiteY1" fmla="*/ 102607 h 722809"/>
              <a:gd name="connsiteX2" fmla="*/ 1208598 w 1208598"/>
              <a:gd name="connsiteY2" fmla="*/ 7192 h 722809"/>
            </a:gdLst>
            <a:ahLst/>
            <a:cxnLst>
              <a:cxn ang="0">
                <a:pos x="connsiteX0" y="connsiteY0"/>
              </a:cxn>
              <a:cxn ang="0">
                <a:pos x="connsiteX1" y="connsiteY1"/>
              </a:cxn>
              <a:cxn ang="0">
                <a:pos x="connsiteX2" y="connsiteY2"/>
              </a:cxn>
            </a:cxnLst>
            <a:rect l="l" t="t" r="r" b="b"/>
            <a:pathLst>
              <a:path w="1208598" h="722809">
                <a:moveTo>
                  <a:pt x="0" y="722809"/>
                </a:moveTo>
                <a:cubicBezTo>
                  <a:pt x="292873" y="472342"/>
                  <a:pt x="585746" y="221876"/>
                  <a:pt x="787179" y="102607"/>
                </a:cubicBezTo>
                <a:cubicBezTo>
                  <a:pt x="988612" y="-16662"/>
                  <a:pt x="1098605" y="-4735"/>
                  <a:pt x="1208598" y="719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2306274A-8BB3-459E-E6AC-6716AD2D166D}"/>
              </a:ext>
            </a:extLst>
          </p:cNvPr>
          <p:cNvSpPr/>
          <p:nvPr/>
        </p:nvSpPr>
        <p:spPr>
          <a:xfrm>
            <a:off x="9589273" y="2371606"/>
            <a:ext cx="2242268" cy="832107"/>
          </a:xfrm>
          <a:custGeom>
            <a:avLst/>
            <a:gdLst>
              <a:gd name="connsiteX0" fmla="*/ 0 w 2242268"/>
              <a:gd name="connsiteY0" fmla="*/ 429371 h 792350"/>
              <a:gd name="connsiteX1" fmla="*/ 469127 w 2242268"/>
              <a:gd name="connsiteY1" fmla="*/ 485030 h 792350"/>
              <a:gd name="connsiteX2" fmla="*/ 1494846 w 2242268"/>
              <a:gd name="connsiteY2" fmla="*/ 779228 h 792350"/>
              <a:gd name="connsiteX3" fmla="*/ 2242268 w 2242268"/>
              <a:gd name="connsiteY3" fmla="*/ 0 h 792350"/>
            </a:gdLst>
            <a:ahLst/>
            <a:cxnLst>
              <a:cxn ang="0">
                <a:pos x="connsiteX0" y="connsiteY0"/>
              </a:cxn>
              <a:cxn ang="0">
                <a:pos x="connsiteX1" y="connsiteY1"/>
              </a:cxn>
              <a:cxn ang="0">
                <a:pos x="connsiteX2" y="connsiteY2"/>
              </a:cxn>
              <a:cxn ang="0">
                <a:pos x="connsiteX3" y="connsiteY3"/>
              </a:cxn>
            </a:cxnLst>
            <a:rect l="l" t="t" r="r" b="b"/>
            <a:pathLst>
              <a:path w="2242268" h="792350">
                <a:moveTo>
                  <a:pt x="0" y="429371"/>
                </a:moveTo>
                <a:cubicBezTo>
                  <a:pt x="109993" y="428046"/>
                  <a:pt x="219986" y="426721"/>
                  <a:pt x="469127" y="485030"/>
                </a:cubicBezTo>
                <a:cubicBezTo>
                  <a:pt x="718268" y="543339"/>
                  <a:pt x="1199322" y="860066"/>
                  <a:pt x="1494846" y="779228"/>
                </a:cubicBezTo>
                <a:cubicBezTo>
                  <a:pt x="1790370" y="698390"/>
                  <a:pt x="2016319" y="349195"/>
                  <a:pt x="2242268" y="0"/>
                </a:cubicBezTo>
              </a:path>
            </a:pathLst>
          </a:custGeom>
          <a:noFill/>
          <a:ln>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71488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756036" y="667080"/>
                <a:ext cx="6633197" cy="5383861"/>
              </a:xfrm>
            </p:spPr>
            <p:txBody>
              <a:bodyPr>
                <a:no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其中</a:t>
                </a:r>
                <a:r>
                  <a:rPr lang="zh-CN" altLang="en-US" sz="2800" b="1" dirty="0">
                    <a:latin typeface="华光标题宋_CNKI" panose="02000500000000000000" pitchFamily="2" charset="-122"/>
                    <a:ea typeface="华光标题宋_CNKI" panose="02000500000000000000" pitchFamily="2" charset="-122"/>
                  </a:rPr>
                  <a:t>副法矢量</a:t>
                </a:r>
                <a:r>
                  <a:rPr lang="en-US" altLang="zh-CN" sz="2800" dirty="0">
                    <a:latin typeface="华光仿宋_CNKI" panose="02000500000000000000" pitchFamily="2" charset="-122"/>
                    <a:ea typeface="华光仿宋_CNKI" panose="02000500000000000000" pitchFamily="2" charset="-122"/>
                  </a:rPr>
                  <a:t>B(t)=T(t)</a:t>
                </a: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oMath>
                </a14:m>
                <a:r>
                  <a:rPr lang="en-US" altLang="zh-CN" sz="2800" dirty="0">
                    <a:latin typeface="华光仿宋_CNKI" panose="02000500000000000000" pitchFamily="2" charset="-122"/>
                    <a:ea typeface="华光仿宋_CNKI" panose="02000500000000000000" pitchFamily="2" charset="-122"/>
                  </a:rPr>
                  <a:t>N(t)</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T(t)</a:t>
                </a:r>
                <a:r>
                  <a:rPr lang="zh-CN" altLang="en-US" sz="2800" dirty="0">
                    <a:latin typeface="华光仿宋_CNKI" panose="02000500000000000000" pitchFamily="2" charset="-122"/>
                    <a:ea typeface="华光仿宋_CNKI" panose="02000500000000000000" pitchFamily="2" charset="-122"/>
                  </a:rPr>
                  <a:t>为曲线</a:t>
                </a:r>
                <a:r>
                  <a:rPr lang="en-US" altLang="zh-CN" sz="2800" dirty="0">
                    <a:latin typeface="华光仿宋_CNKI" panose="02000500000000000000" pitchFamily="2" charset="-122"/>
                    <a:ea typeface="华光仿宋_CNKI" panose="02000500000000000000" pitchFamily="2" charset="-122"/>
                  </a:rPr>
                  <a:t>P(t)</a:t>
                </a:r>
                <a:r>
                  <a:rPr lang="zh-CN" altLang="en-US" sz="2800" dirty="0">
                    <a:latin typeface="华光仿宋_CNKI" panose="02000500000000000000" pitchFamily="2" charset="-122"/>
                    <a:ea typeface="华光仿宋_CNKI" panose="02000500000000000000" pitchFamily="2" charset="-122"/>
                  </a:rPr>
                  <a:t>在</a:t>
                </a:r>
                <a:r>
                  <a:rPr lang="en-US" altLang="zh-CN" sz="2800" dirty="0">
                    <a:latin typeface="华光仿宋_CNKI" panose="02000500000000000000" pitchFamily="2" charset="-122"/>
                    <a:ea typeface="华光仿宋_CNKI" panose="02000500000000000000" pitchFamily="2" charset="-122"/>
                  </a:rPr>
                  <a:t>t=</a:t>
                </a:r>
                <a:r>
                  <a:rPr lang="en-US" altLang="zh-CN" sz="2800" dirty="0">
                    <a:ea typeface="华光仿宋_CNKI" panose="02000500000000000000" pitchFamily="2" charset="-122"/>
                  </a:rPr>
                  <a:t> </a:t>
                </a:r>
                <a14:m>
                  <m:oMath xmlns:m="http://schemas.openxmlformats.org/officeDocument/2006/math">
                    <m:sSub>
                      <m:sSubPr>
                        <m:ctrlPr>
                          <a:rPr lang="en-US" altLang="zh-CN" sz="2800" i="1">
                            <a:latin typeface="Cambria Math" panose="02040503050406030204" pitchFamily="18" charset="0"/>
                            <a:ea typeface="华光仿宋_CNKI" panose="02000500000000000000" pitchFamily="2" charset="-122"/>
                          </a:rPr>
                        </m:ctrlPr>
                      </m:sSubPr>
                      <m:e>
                        <m:r>
                          <a:rPr lang="en-US" altLang="zh-CN" sz="2800">
                            <a:latin typeface="Cambria Math" panose="02040503050406030204" pitchFamily="18" charset="0"/>
                            <a:ea typeface="华光仿宋_CNKI" panose="02000500000000000000" pitchFamily="2" charset="-122"/>
                          </a:rPr>
                          <m:t>𝒕</m:t>
                        </m:r>
                      </m:e>
                      <m:sub>
                        <m:r>
                          <a:rPr lang="en-US" altLang="zh-CN" sz="2800">
                            <a:latin typeface="Cambria Math" panose="02040503050406030204" pitchFamily="18" charset="0"/>
                            <a:ea typeface="华光仿宋_CNKI" panose="02000500000000000000" pitchFamily="2" charset="-122"/>
                          </a:rPr>
                          <m:t>𝟎</m:t>
                        </m:r>
                      </m:sub>
                    </m:sSub>
                  </m:oMath>
                </a14:m>
                <a:r>
                  <a:rPr lang="zh-CN" altLang="en-US" sz="2800" dirty="0">
                    <a:latin typeface="华光仿宋_CNKI" panose="02000500000000000000" pitchFamily="2" charset="-122"/>
                    <a:ea typeface="华光仿宋_CNKI" panose="02000500000000000000" pitchFamily="2" charset="-122"/>
                  </a:rPr>
                  <a:t>的</a:t>
                </a:r>
                <a:r>
                  <a:rPr lang="zh-CN" altLang="en-US" sz="2800" b="1" dirty="0">
                    <a:latin typeface="华光标题宋_CNKI" panose="02000500000000000000" pitchFamily="2" charset="-122"/>
                    <a:ea typeface="华光标题宋_CNKI" panose="02000500000000000000" pitchFamily="2" charset="-122"/>
                  </a:rPr>
                  <a:t>切矢量</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N(t)</a:t>
                </a:r>
                <a:r>
                  <a:rPr lang="zh-CN" altLang="en-US" sz="2800" dirty="0">
                    <a:latin typeface="华光仿宋_CNKI" panose="02000500000000000000" pitchFamily="2" charset="-122"/>
                    <a:ea typeface="华光仿宋_CNKI" panose="02000500000000000000" pitchFamily="2" charset="-122"/>
                  </a:rPr>
                  <a:t>为</a:t>
                </a:r>
                <a:r>
                  <a:rPr lang="zh-CN" altLang="en-US" sz="2800" b="1" dirty="0">
                    <a:latin typeface="华光标题宋_CNKI" panose="02000500000000000000" pitchFamily="2" charset="-122"/>
                    <a:ea typeface="华光标题宋_CNKI" panose="02000500000000000000" pitchFamily="2" charset="-122"/>
                  </a:rPr>
                  <a:t>主法矢量</a:t>
                </a:r>
                <a:r>
                  <a:rPr lang="zh-CN" altLang="en-US" sz="2800" dirty="0">
                    <a:latin typeface="华光仿宋_CNKI" panose="02000500000000000000" pitchFamily="2" charset="-122"/>
                    <a:ea typeface="华光仿宋_CNKI" panose="02000500000000000000" pitchFamily="2" charset="-122"/>
                  </a:rPr>
                  <a:t>，其与</a:t>
                </a:r>
                <a:r>
                  <a:rPr lang="en-US" altLang="zh-CN" sz="2800" dirty="0">
                    <a:latin typeface="华光仿宋_CNKI" panose="02000500000000000000" pitchFamily="2" charset="-122"/>
                    <a:ea typeface="华光仿宋_CNKI" panose="02000500000000000000" pitchFamily="2" charset="-122"/>
                  </a:rPr>
                  <a:t>T(t)</a:t>
                </a:r>
                <a:r>
                  <a:rPr lang="zh-CN" altLang="en-US" sz="2800" dirty="0">
                    <a:latin typeface="华光仿宋_CNKI" panose="02000500000000000000" pitchFamily="2" charset="-122"/>
                    <a:ea typeface="华光仿宋_CNKI" panose="02000500000000000000" pitchFamily="2" charset="-122"/>
                  </a:rPr>
                  <a:t>垂直。副法矢量</a:t>
                </a:r>
                <a:r>
                  <a:rPr lang="en-US" altLang="zh-CN" sz="2800" dirty="0">
                    <a:latin typeface="华光仿宋_CNKI" panose="02000500000000000000" pitchFamily="2" charset="-122"/>
                    <a:ea typeface="华光仿宋_CNKI" panose="02000500000000000000" pitchFamily="2" charset="-122"/>
                  </a:rPr>
                  <a:t>B(t)</a:t>
                </a:r>
                <a:r>
                  <a:rPr lang="zh-CN" altLang="en-US" sz="2800" dirty="0">
                    <a:latin typeface="华光仿宋_CNKI" panose="02000500000000000000" pitchFamily="2" charset="-122"/>
                    <a:ea typeface="华光仿宋_CNKI" panose="02000500000000000000" pitchFamily="2" charset="-122"/>
                  </a:rPr>
                  <a:t>与切矢量</a:t>
                </a:r>
                <a:r>
                  <a:rPr lang="en-US" altLang="zh-CN" sz="2800" dirty="0">
                    <a:latin typeface="华光仿宋_CNKI" panose="02000500000000000000" pitchFamily="2" charset="-122"/>
                    <a:ea typeface="华光仿宋_CNKI" panose="02000500000000000000" pitchFamily="2" charset="-122"/>
                  </a:rPr>
                  <a:t>T(t)</a:t>
                </a:r>
                <a:r>
                  <a:rPr lang="zh-CN" altLang="en-US" sz="2800" dirty="0">
                    <a:latin typeface="华光仿宋_CNKI" panose="02000500000000000000" pitchFamily="2" charset="-122"/>
                    <a:ea typeface="华光仿宋_CNKI" panose="02000500000000000000" pitchFamily="2" charset="-122"/>
                  </a:rPr>
                  <a:t>构成的平面称为</a:t>
                </a:r>
                <a:r>
                  <a:rPr lang="zh-CN" altLang="en-US" sz="2800" b="1" dirty="0">
                    <a:latin typeface="华光标题宋_CNKI" panose="02000500000000000000" pitchFamily="2" charset="-122"/>
                    <a:ea typeface="华光标题宋_CNKI" panose="02000500000000000000" pitchFamily="2" charset="-122"/>
                  </a:rPr>
                  <a:t>副法平面</a:t>
                </a:r>
                <a:r>
                  <a:rPr lang="zh-CN" altLang="en-US" sz="2800" dirty="0">
                    <a:latin typeface="华光仿宋_CNKI" panose="02000500000000000000" pitchFamily="2" charset="-122"/>
                    <a:ea typeface="华光仿宋_CNKI" panose="02000500000000000000" pitchFamily="2" charset="-122"/>
                  </a:rPr>
                  <a:t>，副法矢量</a:t>
                </a:r>
                <a:r>
                  <a:rPr lang="en-US" altLang="zh-CN" sz="2800" dirty="0">
                    <a:latin typeface="华光仿宋_CNKI" panose="02000500000000000000" pitchFamily="2" charset="-122"/>
                    <a:ea typeface="华光仿宋_CNKI" panose="02000500000000000000" pitchFamily="2" charset="-122"/>
                  </a:rPr>
                  <a:t>B(t)</a:t>
                </a:r>
                <a:r>
                  <a:rPr lang="zh-CN" altLang="en-US" sz="2800" dirty="0">
                    <a:latin typeface="华光仿宋_CNKI" panose="02000500000000000000" pitchFamily="2" charset="-122"/>
                    <a:ea typeface="华光仿宋_CNKI" panose="02000500000000000000" pitchFamily="2" charset="-122"/>
                  </a:rPr>
                  <a:t>与主法矢量</a:t>
                </a:r>
                <a:r>
                  <a:rPr lang="en-US" altLang="zh-CN" sz="2800" dirty="0">
                    <a:latin typeface="华光仿宋_CNKI" panose="02000500000000000000" pitchFamily="2" charset="-122"/>
                    <a:ea typeface="华光仿宋_CNKI" panose="02000500000000000000" pitchFamily="2" charset="-122"/>
                  </a:rPr>
                  <a:t>N(t)</a:t>
                </a:r>
                <a:r>
                  <a:rPr lang="zh-CN" altLang="en-US" sz="2800" dirty="0">
                    <a:latin typeface="华光仿宋_CNKI" panose="02000500000000000000" pitchFamily="2" charset="-122"/>
                    <a:ea typeface="华光仿宋_CNKI" panose="02000500000000000000" pitchFamily="2" charset="-122"/>
                  </a:rPr>
                  <a:t>构成的平面称为</a:t>
                </a:r>
                <a:r>
                  <a:rPr lang="zh-CN" altLang="en-US" sz="2800" b="1" dirty="0">
                    <a:latin typeface="华光标题宋_CNKI" panose="02000500000000000000" pitchFamily="2" charset="-122"/>
                    <a:ea typeface="华光标题宋_CNKI" panose="02000500000000000000" pitchFamily="2" charset="-122"/>
                  </a:rPr>
                  <a:t>法平面</a:t>
                </a:r>
                <a:r>
                  <a:rPr lang="zh-CN" altLang="en-US" sz="2800" dirty="0">
                    <a:latin typeface="华光仿宋_CNKI" panose="02000500000000000000" pitchFamily="2" charset="-122"/>
                    <a:ea typeface="华光仿宋_CNKI" panose="02000500000000000000" pitchFamily="2" charset="-122"/>
                  </a:rPr>
                  <a:t>；主法矢量</a:t>
                </a:r>
                <a:r>
                  <a:rPr lang="en-US" altLang="zh-CN" sz="2800" dirty="0">
                    <a:latin typeface="华光仿宋_CNKI" panose="02000500000000000000" pitchFamily="2" charset="-122"/>
                    <a:ea typeface="华光仿宋_CNKI" panose="02000500000000000000" pitchFamily="2" charset="-122"/>
                  </a:rPr>
                  <a:t>N(t)</a:t>
                </a:r>
                <a:r>
                  <a:rPr lang="zh-CN" altLang="en-US" sz="2800" dirty="0">
                    <a:latin typeface="华光仿宋_CNKI" panose="02000500000000000000" pitchFamily="2" charset="-122"/>
                    <a:ea typeface="华光仿宋_CNKI" panose="02000500000000000000" pitchFamily="2" charset="-122"/>
                  </a:rPr>
                  <a:t>和切矢量</a:t>
                </a:r>
                <a:r>
                  <a:rPr lang="en-US" altLang="zh-CN" sz="2800" dirty="0">
                    <a:latin typeface="华光仿宋_CNKI" panose="02000500000000000000" pitchFamily="2" charset="-122"/>
                    <a:ea typeface="华光仿宋_CNKI" panose="02000500000000000000" pitchFamily="2" charset="-122"/>
                  </a:rPr>
                  <a:t>T(t)</a:t>
                </a:r>
                <a:r>
                  <a:rPr lang="zh-CN" altLang="en-US" sz="2800" dirty="0">
                    <a:latin typeface="华光仿宋_CNKI" panose="02000500000000000000" pitchFamily="2" charset="-122"/>
                    <a:ea typeface="华光仿宋_CNKI" panose="02000500000000000000" pitchFamily="2" charset="-122"/>
                  </a:rPr>
                  <a:t>所构成的平面称为</a:t>
                </a:r>
                <a:r>
                  <a:rPr lang="zh-CN" altLang="en-US" sz="2800" b="1" dirty="0">
                    <a:latin typeface="华光标题宋_CNKI" panose="02000500000000000000" pitchFamily="2" charset="-122"/>
                    <a:ea typeface="华光标题宋_CNKI" panose="02000500000000000000" pitchFamily="2" charset="-122"/>
                  </a:rPr>
                  <a:t>密切平面</a:t>
                </a:r>
                <a:r>
                  <a:rPr lang="zh-CN" altLang="en-US" sz="2800" dirty="0">
                    <a:latin typeface="华光仿宋_CNKI" panose="02000500000000000000" pitchFamily="2" charset="-122"/>
                    <a:ea typeface="华光仿宋_CNKI" panose="02000500000000000000" pitchFamily="2" charset="-122"/>
                  </a:rPr>
                  <a:t>。</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Choice>
        <mc:Fallback xmlns="">
          <p:sp>
            <p:nvSpPr>
              <p:cNvPr id="3" name="副标题 2">
                <a:extLst>
                  <a:ext uri="{FF2B5EF4-FFF2-40B4-BE49-F238E27FC236}">
                    <a16:creationId xmlns:a16="http://schemas.microsoft.com/office/drawing/2014/main" id="{0A978A23-732B-ED28-A503-82A32FA8B045}"/>
                  </a:ext>
                </a:extLst>
              </p:cNvPr>
              <p:cNvSpPr>
                <a:spLocks noGrp="1" noRot="1" noChangeAspect="1" noMove="1" noResize="1" noEditPoints="1" noAdjustHandles="1" noChangeArrowheads="1" noChangeShapeType="1" noTextEdit="1"/>
              </p:cNvSpPr>
              <p:nvPr>
                <p:ph type="subTitle" idx="1"/>
              </p:nvPr>
            </p:nvSpPr>
            <p:spPr>
              <a:xfrm>
                <a:off x="756036" y="667080"/>
                <a:ext cx="6633197" cy="5383861"/>
              </a:xfrm>
              <a:blipFill>
                <a:blip r:embed="rId2"/>
                <a:stretch>
                  <a:fillRect l="-1838" r="-2206"/>
                </a:stretch>
              </a:blipFill>
            </p:spPr>
            <p:txBody>
              <a:bodyPr/>
              <a:lstStyle/>
              <a:p>
                <a:r>
                  <a:rPr lang="zh-CN" altLang="en-US">
                    <a:noFill/>
                  </a:rPr>
                  <a:t> </a:t>
                </a:r>
              </a:p>
            </p:txBody>
          </p:sp>
        </mc:Fallback>
      </mc:AlternateContent>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任意多边形: 形状 4">
            <a:extLst>
              <a:ext uri="{FF2B5EF4-FFF2-40B4-BE49-F238E27FC236}">
                <a16:creationId xmlns:a16="http://schemas.microsoft.com/office/drawing/2014/main" id="{E4E7D329-2EF8-A768-FE85-78CB6788EC20}"/>
              </a:ext>
            </a:extLst>
          </p:cNvPr>
          <p:cNvSpPr/>
          <p:nvPr/>
        </p:nvSpPr>
        <p:spPr>
          <a:xfrm>
            <a:off x="8595360" y="3764280"/>
            <a:ext cx="1065475" cy="755374"/>
          </a:xfrm>
          <a:custGeom>
            <a:avLst/>
            <a:gdLst>
              <a:gd name="connsiteX0" fmla="*/ 0 w 1208598"/>
              <a:gd name="connsiteY0" fmla="*/ 722809 h 722809"/>
              <a:gd name="connsiteX1" fmla="*/ 787179 w 1208598"/>
              <a:gd name="connsiteY1" fmla="*/ 102607 h 722809"/>
              <a:gd name="connsiteX2" fmla="*/ 1208598 w 1208598"/>
              <a:gd name="connsiteY2" fmla="*/ 7192 h 722809"/>
            </a:gdLst>
            <a:ahLst/>
            <a:cxnLst>
              <a:cxn ang="0">
                <a:pos x="connsiteX0" y="connsiteY0"/>
              </a:cxn>
              <a:cxn ang="0">
                <a:pos x="connsiteX1" y="connsiteY1"/>
              </a:cxn>
              <a:cxn ang="0">
                <a:pos x="connsiteX2" y="connsiteY2"/>
              </a:cxn>
            </a:cxnLst>
            <a:rect l="l" t="t" r="r" b="b"/>
            <a:pathLst>
              <a:path w="1208598" h="722809">
                <a:moveTo>
                  <a:pt x="0" y="722809"/>
                </a:moveTo>
                <a:cubicBezTo>
                  <a:pt x="292873" y="472342"/>
                  <a:pt x="585746" y="221876"/>
                  <a:pt x="787179" y="102607"/>
                </a:cubicBezTo>
                <a:cubicBezTo>
                  <a:pt x="988612" y="-16662"/>
                  <a:pt x="1098605" y="-4735"/>
                  <a:pt x="1208598" y="719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2306274A-8BB3-459E-E6AC-6716AD2D166D}"/>
              </a:ext>
            </a:extLst>
          </p:cNvPr>
          <p:cNvSpPr/>
          <p:nvPr/>
        </p:nvSpPr>
        <p:spPr>
          <a:xfrm>
            <a:off x="9589273" y="3309860"/>
            <a:ext cx="2242268" cy="832107"/>
          </a:xfrm>
          <a:custGeom>
            <a:avLst/>
            <a:gdLst>
              <a:gd name="connsiteX0" fmla="*/ 0 w 2242268"/>
              <a:gd name="connsiteY0" fmla="*/ 429371 h 792350"/>
              <a:gd name="connsiteX1" fmla="*/ 469127 w 2242268"/>
              <a:gd name="connsiteY1" fmla="*/ 485030 h 792350"/>
              <a:gd name="connsiteX2" fmla="*/ 1494846 w 2242268"/>
              <a:gd name="connsiteY2" fmla="*/ 779228 h 792350"/>
              <a:gd name="connsiteX3" fmla="*/ 2242268 w 2242268"/>
              <a:gd name="connsiteY3" fmla="*/ 0 h 792350"/>
            </a:gdLst>
            <a:ahLst/>
            <a:cxnLst>
              <a:cxn ang="0">
                <a:pos x="connsiteX0" y="connsiteY0"/>
              </a:cxn>
              <a:cxn ang="0">
                <a:pos x="connsiteX1" y="connsiteY1"/>
              </a:cxn>
              <a:cxn ang="0">
                <a:pos x="connsiteX2" y="connsiteY2"/>
              </a:cxn>
              <a:cxn ang="0">
                <a:pos x="connsiteX3" y="connsiteY3"/>
              </a:cxn>
            </a:cxnLst>
            <a:rect l="l" t="t" r="r" b="b"/>
            <a:pathLst>
              <a:path w="2242268" h="792350">
                <a:moveTo>
                  <a:pt x="0" y="429371"/>
                </a:moveTo>
                <a:cubicBezTo>
                  <a:pt x="109993" y="428046"/>
                  <a:pt x="219986" y="426721"/>
                  <a:pt x="469127" y="485030"/>
                </a:cubicBezTo>
                <a:cubicBezTo>
                  <a:pt x="718268" y="543339"/>
                  <a:pt x="1199322" y="860066"/>
                  <a:pt x="1494846" y="779228"/>
                </a:cubicBezTo>
                <a:cubicBezTo>
                  <a:pt x="1790370" y="698390"/>
                  <a:pt x="2016319" y="349195"/>
                  <a:pt x="2242268" y="0"/>
                </a:cubicBezTo>
              </a:path>
            </a:pathLst>
          </a:custGeom>
          <a:noFill/>
          <a:ln>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E0CEDDF9-3FE9-D218-019E-765A4EA37656}"/>
              </a:ext>
            </a:extLst>
          </p:cNvPr>
          <p:cNvCxnSpPr>
            <a:cxnSpLocks/>
          </p:cNvCxnSpPr>
          <p:nvPr/>
        </p:nvCxnSpPr>
        <p:spPr>
          <a:xfrm>
            <a:off x="7999012" y="3764280"/>
            <a:ext cx="318052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768345A-773E-A264-0B96-FFE0ED6C47C6}"/>
              </a:ext>
            </a:extLst>
          </p:cNvPr>
          <p:cNvSpPr txBox="1"/>
          <p:nvPr/>
        </p:nvSpPr>
        <p:spPr>
          <a:xfrm>
            <a:off x="10710407" y="3411513"/>
            <a:ext cx="725556" cy="369332"/>
          </a:xfrm>
          <a:prstGeom prst="rect">
            <a:avLst/>
          </a:prstGeom>
          <a:noFill/>
        </p:spPr>
        <p:txBody>
          <a:bodyPr wrap="square">
            <a:spAutoFit/>
          </a:bodyPr>
          <a:lstStyle/>
          <a:p>
            <a:r>
              <a:rPr lang="en-US" altLang="zh-CN" sz="1800" dirty="0">
                <a:latin typeface="华光仿宋_CNKI" panose="02000500000000000000" pitchFamily="2" charset="-122"/>
                <a:ea typeface="华光仿宋_CNKI" panose="02000500000000000000" pitchFamily="2" charset="-122"/>
              </a:rPr>
              <a:t>T(t)</a:t>
            </a:r>
            <a:endParaRPr lang="zh-CN" altLang="en-US" dirty="0"/>
          </a:p>
        </p:txBody>
      </p:sp>
      <p:cxnSp>
        <p:nvCxnSpPr>
          <p:cNvPr id="12" name="直接箭头连接符 11">
            <a:extLst>
              <a:ext uri="{FF2B5EF4-FFF2-40B4-BE49-F238E27FC236}">
                <a16:creationId xmlns:a16="http://schemas.microsoft.com/office/drawing/2014/main" id="{4688998C-7383-A177-62BA-93FA8EE3F722}"/>
              </a:ext>
            </a:extLst>
          </p:cNvPr>
          <p:cNvCxnSpPr>
            <a:stCxn id="6" idx="0"/>
          </p:cNvCxnSpPr>
          <p:nvPr/>
        </p:nvCxnSpPr>
        <p:spPr>
          <a:xfrm flipV="1">
            <a:off x="9589273" y="2401294"/>
            <a:ext cx="0" cy="135948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B0438D9-DC72-CB70-1740-B7CAE1BA95FE}"/>
              </a:ext>
            </a:extLst>
          </p:cNvPr>
          <p:cNvSpPr txBox="1"/>
          <p:nvPr/>
        </p:nvSpPr>
        <p:spPr>
          <a:xfrm>
            <a:off x="9671769" y="2369821"/>
            <a:ext cx="725556" cy="369332"/>
          </a:xfrm>
          <a:prstGeom prst="rect">
            <a:avLst/>
          </a:prstGeom>
          <a:noFill/>
        </p:spPr>
        <p:txBody>
          <a:bodyPr wrap="square">
            <a:spAutoFit/>
          </a:bodyPr>
          <a:lstStyle/>
          <a:p>
            <a:r>
              <a:rPr lang="en-US" altLang="zh-CN" sz="1800" dirty="0">
                <a:latin typeface="华光仿宋_CNKI" panose="02000500000000000000" pitchFamily="2" charset="-122"/>
                <a:ea typeface="华光仿宋_CNKI" panose="02000500000000000000" pitchFamily="2" charset="-122"/>
              </a:rPr>
              <a:t>N(t)</a:t>
            </a:r>
            <a:endParaRPr lang="zh-CN" altLang="en-US" dirty="0"/>
          </a:p>
        </p:txBody>
      </p:sp>
      <p:cxnSp>
        <p:nvCxnSpPr>
          <p:cNvPr id="15" name="直接箭头连接符 14">
            <a:extLst>
              <a:ext uri="{FF2B5EF4-FFF2-40B4-BE49-F238E27FC236}">
                <a16:creationId xmlns:a16="http://schemas.microsoft.com/office/drawing/2014/main" id="{919598AF-C5C6-A01C-C381-E714BA4BF7E2}"/>
              </a:ext>
            </a:extLst>
          </p:cNvPr>
          <p:cNvCxnSpPr>
            <a:cxnSpLocks/>
            <a:stCxn id="6" idx="0"/>
          </p:cNvCxnSpPr>
          <p:nvPr/>
        </p:nvCxnSpPr>
        <p:spPr>
          <a:xfrm flipH="1">
            <a:off x="8213697" y="3760775"/>
            <a:ext cx="1375576" cy="111337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0AE9C4BD-F5B1-191C-F59D-4C3742DD2E63}"/>
              </a:ext>
            </a:extLst>
          </p:cNvPr>
          <p:cNvSpPr txBox="1"/>
          <p:nvPr/>
        </p:nvSpPr>
        <p:spPr>
          <a:xfrm>
            <a:off x="8240023" y="4828467"/>
            <a:ext cx="725556" cy="369332"/>
          </a:xfrm>
          <a:prstGeom prst="rect">
            <a:avLst/>
          </a:prstGeom>
          <a:noFill/>
        </p:spPr>
        <p:txBody>
          <a:bodyPr wrap="square">
            <a:spAutoFit/>
          </a:bodyPr>
          <a:lstStyle/>
          <a:p>
            <a:r>
              <a:rPr lang="en-US" altLang="zh-CN" sz="1800" dirty="0">
                <a:latin typeface="华光仿宋_CNKI" panose="02000500000000000000" pitchFamily="2" charset="-122"/>
                <a:ea typeface="华光仿宋_CNKI" panose="02000500000000000000" pitchFamily="2" charset="-122"/>
              </a:rPr>
              <a:t>B(t)</a:t>
            </a:r>
            <a:endParaRPr lang="zh-CN" altLang="en-US" dirty="0"/>
          </a:p>
        </p:txBody>
      </p:sp>
      <p:sp>
        <p:nvSpPr>
          <p:cNvPr id="18" name="矩形 17">
            <a:extLst>
              <a:ext uri="{FF2B5EF4-FFF2-40B4-BE49-F238E27FC236}">
                <a16:creationId xmlns:a16="http://schemas.microsoft.com/office/drawing/2014/main" id="{2BBA00D4-11C6-3B4D-03E4-E66648136080}"/>
              </a:ext>
            </a:extLst>
          </p:cNvPr>
          <p:cNvSpPr/>
          <p:nvPr/>
        </p:nvSpPr>
        <p:spPr>
          <a:xfrm>
            <a:off x="8576474" y="2907031"/>
            <a:ext cx="2242246" cy="8738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9F76FE18-9F6D-AFF3-171E-CBCD023CB312}"/>
              </a:ext>
            </a:extLst>
          </p:cNvPr>
          <p:cNvCxnSpPr/>
          <p:nvPr/>
        </p:nvCxnSpPr>
        <p:spPr>
          <a:xfrm>
            <a:off x="10567283" y="2106268"/>
            <a:ext cx="0" cy="803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AF12B905-B695-3997-C802-231C3D7EE6CA}"/>
              </a:ext>
            </a:extLst>
          </p:cNvPr>
          <p:cNvCxnSpPr>
            <a:cxnSpLocks/>
          </p:cNvCxnSpPr>
          <p:nvPr/>
        </p:nvCxnSpPr>
        <p:spPr>
          <a:xfrm flipH="1">
            <a:off x="8738483" y="2106268"/>
            <a:ext cx="1828800" cy="14638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4558087-DAA6-55D8-588A-EE355AF60576}"/>
              </a:ext>
            </a:extLst>
          </p:cNvPr>
          <p:cNvCxnSpPr>
            <a:cxnSpLocks/>
          </p:cNvCxnSpPr>
          <p:nvPr/>
        </p:nvCxnSpPr>
        <p:spPr>
          <a:xfrm>
            <a:off x="8738483" y="3570136"/>
            <a:ext cx="0" cy="866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20801A29-FCF6-8D47-634B-56ADA3348C36}"/>
              </a:ext>
            </a:extLst>
          </p:cNvPr>
          <p:cNvCxnSpPr>
            <a:cxnSpLocks/>
          </p:cNvCxnSpPr>
          <p:nvPr/>
        </p:nvCxnSpPr>
        <p:spPr>
          <a:xfrm flipH="1">
            <a:off x="10169718" y="3776870"/>
            <a:ext cx="649002" cy="659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36C7B78-A843-B47E-EDB4-7D98F4A00E12}"/>
              </a:ext>
            </a:extLst>
          </p:cNvPr>
          <p:cNvCxnSpPr/>
          <p:nvPr/>
        </p:nvCxnSpPr>
        <p:spPr>
          <a:xfrm flipH="1">
            <a:off x="7688911" y="3760775"/>
            <a:ext cx="906449" cy="6760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8B0A6B3-EB0F-C00F-A98B-E6FE6EB454AD}"/>
              </a:ext>
            </a:extLst>
          </p:cNvPr>
          <p:cNvCxnSpPr/>
          <p:nvPr/>
        </p:nvCxnSpPr>
        <p:spPr>
          <a:xfrm>
            <a:off x="7698848" y="4436828"/>
            <a:ext cx="2480807"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对话气泡: 椭圆形 37">
            <a:extLst>
              <a:ext uri="{FF2B5EF4-FFF2-40B4-BE49-F238E27FC236}">
                <a16:creationId xmlns:a16="http://schemas.microsoft.com/office/drawing/2014/main" id="{B9F110B8-B306-A87E-ABAF-1F99BF8A9456}"/>
              </a:ext>
            </a:extLst>
          </p:cNvPr>
          <p:cNvSpPr/>
          <p:nvPr/>
        </p:nvSpPr>
        <p:spPr>
          <a:xfrm>
            <a:off x="10015638" y="4874150"/>
            <a:ext cx="1606164" cy="500270"/>
          </a:xfrm>
          <a:prstGeom prst="wedgeEllipseCallout">
            <a:avLst>
              <a:gd name="adj1" fmla="val -52607"/>
              <a:gd name="adj2" fmla="val -12981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华光标题宋_CNKI" panose="02000500000000000000" pitchFamily="2" charset="-122"/>
                <a:ea typeface="华光标题宋_CNKI" panose="02000500000000000000" pitchFamily="2" charset="-122"/>
              </a:rPr>
              <a:t>副法平面</a:t>
            </a:r>
          </a:p>
        </p:txBody>
      </p:sp>
      <p:sp>
        <p:nvSpPr>
          <p:cNvPr id="39" name="对话气泡: 椭圆形 38">
            <a:extLst>
              <a:ext uri="{FF2B5EF4-FFF2-40B4-BE49-F238E27FC236}">
                <a16:creationId xmlns:a16="http://schemas.microsoft.com/office/drawing/2014/main" id="{81F1A7BC-62E7-A3E1-EF15-139BA45D9BC0}"/>
              </a:ext>
            </a:extLst>
          </p:cNvPr>
          <p:cNvSpPr/>
          <p:nvPr/>
        </p:nvSpPr>
        <p:spPr>
          <a:xfrm>
            <a:off x="10357568" y="1040728"/>
            <a:ext cx="1606164" cy="500270"/>
          </a:xfrm>
          <a:prstGeom prst="wedgeEllipseCallout">
            <a:avLst>
              <a:gd name="adj1" fmla="val -38250"/>
              <a:gd name="adj2" fmla="val 1721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华光标题宋_CNKI" panose="02000500000000000000" pitchFamily="2" charset="-122"/>
                <a:ea typeface="华光标题宋_CNKI" panose="02000500000000000000" pitchFamily="2" charset="-122"/>
              </a:rPr>
              <a:t>法平面</a:t>
            </a:r>
          </a:p>
        </p:txBody>
      </p:sp>
      <p:sp>
        <p:nvSpPr>
          <p:cNvPr id="40" name="对话气泡: 椭圆形 39">
            <a:extLst>
              <a:ext uri="{FF2B5EF4-FFF2-40B4-BE49-F238E27FC236}">
                <a16:creationId xmlns:a16="http://schemas.microsoft.com/office/drawing/2014/main" id="{178AB39B-238D-AC61-37A5-4AB7AB2747D7}"/>
              </a:ext>
            </a:extLst>
          </p:cNvPr>
          <p:cNvSpPr/>
          <p:nvPr/>
        </p:nvSpPr>
        <p:spPr>
          <a:xfrm>
            <a:off x="7999012" y="1572725"/>
            <a:ext cx="1606164" cy="584671"/>
          </a:xfrm>
          <a:prstGeom prst="wedgeEllipseCallout">
            <a:avLst>
              <a:gd name="adj1" fmla="val -7558"/>
              <a:gd name="adj2" fmla="val 17768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华光标题宋_CNKI" panose="02000500000000000000" pitchFamily="2" charset="-122"/>
                <a:ea typeface="华光标题宋_CNKI" panose="02000500000000000000" pitchFamily="2" charset="-122"/>
              </a:rPr>
              <a:t>密切平面</a:t>
            </a:r>
          </a:p>
        </p:txBody>
      </p:sp>
      <p:cxnSp>
        <p:nvCxnSpPr>
          <p:cNvPr id="43" name="直接连接符 42">
            <a:extLst>
              <a:ext uri="{FF2B5EF4-FFF2-40B4-BE49-F238E27FC236}">
                <a16:creationId xmlns:a16="http://schemas.microsoft.com/office/drawing/2014/main" id="{5D800B45-A28A-31D4-AF04-A09C02C0BAA6}"/>
              </a:ext>
            </a:extLst>
          </p:cNvPr>
          <p:cNvCxnSpPr>
            <a:cxnSpLocks/>
            <a:stCxn id="6" idx="0"/>
          </p:cNvCxnSpPr>
          <p:nvPr/>
        </p:nvCxnSpPr>
        <p:spPr>
          <a:xfrm flipV="1">
            <a:off x="9589273" y="2449097"/>
            <a:ext cx="1571377" cy="1311678"/>
          </a:xfrm>
          <a:prstGeom prst="line">
            <a:avLst/>
          </a:prstGeom>
          <a:ln w="57150">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1611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826512" y="894190"/>
            <a:ext cx="7562114" cy="4764819"/>
          </a:xfrm>
        </p:spPr>
        <p:txBody>
          <a:bodyPr>
            <a:no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对于满足二阶连续性的曲线，一般具有如下的性质：</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）连接处的切矢量变化率相等。</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）切线从一个曲线可光滑的过渡到另一个曲线，两个相连曲线端总的形状不会有拐点。</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a:t>
            </a:r>
            <a:r>
              <a:rPr lang="en-US" altLang="zh-CN" sz="2800" dirty="0">
                <a:latin typeface="华光仿宋_CNKI" panose="02000500000000000000" pitchFamily="2" charset="-122"/>
                <a:ea typeface="华光仿宋_CNKI" panose="02000500000000000000" pitchFamily="2" charset="-122"/>
              </a:rPr>
              <a:t>3</a:t>
            </a:r>
            <a:r>
              <a:rPr lang="zh-CN" altLang="en-US" sz="2800" dirty="0">
                <a:latin typeface="华光仿宋_CNKI" panose="02000500000000000000" pitchFamily="2" charset="-122"/>
                <a:ea typeface="华光仿宋_CNKI" panose="02000500000000000000" pitchFamily="2" charset="-122"/>
              </a:rPr>
              <a:t>）曲率变化小，绝对曲率较小。</a:t>
            </a:r>
            <a:endParaRPr lang="en-US" altLang="zh-CN" sz="2800" dirty="0">
              <a:latin typeface="华光仿宋_CNKI" panose="02000500000000000000" pitchFamily="2" charset="-122"/>
              <a:ea typeface="华光仿宋_CNKI" panose="02000500000000000000" pitchFamily="2" charset="-122"/>
            </a:endParaRPr>
          </a:p>
        </p:txBody>
      </p:sp>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任意多边形: 形状 4">
            <a:extLst>
              <a:ext uri="{FF2B5EF4-FFF2-40B4-BE49-F238E27FC236}">
                <a16:creationId xmlns:a16="http://schemas.microsoft.com/office/drawing/2014/main" id="{E4E7D329-2EF8-A768-FE85-78CB6788EC20}"/>
              </a:ext>
            </a:extLst>
          </p:cNvPr>
          <p:cNvSpPr/>
          <p:nvPr/>
        </p:nvSpPr>
        <p:spPr>
          <a:xfrm>
            <a:off x="8595360" y="2826026"/>
            <a:ext cx="1065475" cy="755374"/>
          </a:xfrm>
          <a:custGeom>
            <a:avLst/>
            <a:gdLst>
              <a:gd name="connsiteX0" fmla="*/ 0 w 1208598"/>
              <a:gd name="connsiteY0" fmla="*/ 722809 h 722809"/>
              <a:gd name="connsiteX1" fmla="*/ 787179 w 1208598"/>
              <a:gd name="connsiteY1" fmla="*/ 102607 h 722809"/>
              <a:gd name="connsiteX2" fmla="*/ 1208598 w 1208598"/>
              <a:gd name="connsiteY2" fmla="*/ 7192 h 722809"/>
            </a:gdLst>
            <a:ahLst/>
            <a:cxnLst>
              <a:cxn ang="0">
                <a:pos x="connsiteX0" y="connsiteY0"/>
              </a:cxn>
              <a:cxn ang="0">
                <a:pos x="connsiteX1" y="connsiteY1"/>
              </a:cxn>
              <a:cxn ang="0">
                <a:pos x="connsiteX2" y="connsiteY2"/>
              </a:cxn>
            </a:cxnLst>
            <a:rect l="l" t="t" r="r" b="b"/>
            <a:pathLst>
              <a:path w="1208598" h="722809">
                <a:moveTo>
                  <a:pt x="0" y="722809"/>
                </a:moveTo>
                <a:cubicBezTo>
                  <a:pt x="292873" y="472342"/>
                  <a:pt x="585746" y="221876"/>
                  <a:pt x="787179" y="102607"/>
                </a:cubicBezTo>
                <a:cubicBezTo>
                  <a:pt x="988612" y="-16662"/>
                  <a:pt x="1098605" y="-4735"/>
                  <a:pt x="1208598" y="719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2306274A-8BB3-459E-E6AC-6716AD2D166D}"/>
              </a:ext>
            </a:extLst>
          </p:cNvPr>
          <p:cNvSpPr/>
          <p:nvPr/>
        </p:nvSpPr>
        <p:spPr>
          <a:xfrm>
            <a:off x="9589273" y="2371606"/>
            <a:ext cx="2242268" cy="832107"/>
          </a:xfrm>
          <a:custGeom>
            <a:avLst/>
            <a:gdLst>
              <a:gd name="connsiteX0" fmla="*/ 0 w 2242268"/>
              <a:gd name="connsiteY0" fmla="*/ 429371 h 792350"/>
              <a:gd name="connsiteX1" fmla="*/ 469127 w 2242268"/>
              <a:gd name="connsiteY1" fmla="*/ 485030 h 792350"/>
              <a:gd name="connsiteX2" fmla="*/ 1494846 w 2242268"/>
              <a:gd name="connsiteY2" fmla="*/ 779228 h 792350"/>
              <a:gd name="connsiteX3" fmla="*/ 2242268 w 2242268"/>
              <a:gd name="connsiteY3" fmla="*/ 0 h 792350"/>
            </a:gdLst>
            <a:ahLst/>
            <a:cxnLst>
              <a:cxn ang="0">
                <a:pos x="connsiteX0" y="connsiteY0"/>
              </a:cxn>
              <a:cxn ang="0">
                <a:pos x="connsiteX1" y="connsiteY1"/>
              </a:cxn>
              <a:cxn ang="0">
                <a:pos x="connsiteX2" y="connsiteY2"/>
              </a:cxn>
              <a:cxn ang="0">
                <a:pos x="connsiteX3" y="connsiteY3"/>
              </a:cxn>
            </a:cxnLst>
            <a:rect l="l" t="t" r="r" b="b"/>
            <a:pathLst>
              <a:path w="2242268" h="792350">
                <a:moveTo>
                  <a:pt x="0" y="429371"/>
                </a:moveTo>
                <a:cubicBezTo>
                  <a:pt x="109993" y="428046"/>
                  <a:pt x="219986" y="426721"/>
                  <a:pt x="469127" y="485030"/>
                </a:cubicBezTo>
                <a:cubicBezTo>
                  <a:pt x="718268" y="543339"/>
                  <a:pt x="1199322" y="860066"/>
                  <a:pt x="1494846" y="779228"/>
                </a:cubicBezTo>
                <a:cubicBezTo>
                  <a:pt x="1790370" y="698390"/>
                  <a:pt x="2016319" y="349195"/>
                  <a:pt x="2242268" y="0"/>
                </a:cubicBezTo>
              </a:path>
            </a:pathLst>
          </a:custGeom>
          <a:noFill/>
          <a:ln>
            <a:headEnd type="oval"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468780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627730" y="308914"/>
            <a:ext cx="10750587" cy="1710718"/>
          </a:xfrm>
        </p:spPr>
        <p:txBody>
          <a:bodyPr>
            <a:normAutofit/>
          </a:body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标题宋_CNKI" panose="02000500000000000000" pitchFamily="2" charset="-122"/>
                <a:ea typeface="华光标题宋_CNKI" panose="02000500000000000000" pitchFamily="2" charset="-122"/>
              </a:rPr>
              <a:t>参数样条曲线的数学表示</a:t>
            </a:r>
            <a:endParaRPr lang="en-US" altLang="zh-CN" sz="2600"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对于</a:t>
            </a:r>
            <a:r>
              <a:rPr lang="en-US" altLang="zh-CN" sz="2600" dirty="0">
                <a:latin typeface="华光仿宋_CNKI" panose="02000500000000000000" pitchFamily="2" charset="-122"/>
                <a:ea typeface="华光仿宋_CNKI" panose="02000500000000000000" pitchFamily="2" charset="-122"/>
              </a:rPr>
              <a:t>n</a:t>
            </a:r>
            <a:r>
              <a:rPr lang="zh-CN" altLang="en-US" sz="2600" dirty="0">
                <a:latin typeface="华光仿宋_CNKI" panose="02000500000000000000" pitchFamily="2" charset="-122"/>
                <a:ea typeface="华光仿宋_CNKI" panose="02000500000000000000" pitchFamily="2" charset="-122"/>
              </a:rPr>
              <a:t>次参数样条曲线关于</a:t>
            </a:r>
            <a:r>
              <a:rPr lang="en-US" altLang="zh-CN" sz="2600" dirty="0" err="1">
                <a:latin typeface="华光仿宋_CNKI" panose="02000500000000000000" pitchFamily="2" charset="-122"/>
                <a:ea typeface="华光仿宋_CNKI" panose="02000500000000000000" pitchFamily="2" charset="-122"/>
              </a:rPr>
              <a:t>x,y,z</a:t>
            </a:r>
            <a:r>
              <a:rPr lang="zh-CN" altLang="en-US" sz="2600" dirty="0">
                <a:latin typeface="华光仿宋_CNKI" panose="02000500000000000000" pitchFamily="2" charset="-122"/>
                <a:ea typeface="华光仿宋_CNKI" panose="02000500000000000000" pitchFamily="2" charset="-122"/>
              </a:rPr>
              <a:t>坐标的三次多项式可表示如下：</a:t>
            </a:r>
            <a:endParaRPr lang="en-US" altLang="zh-CN" sz="2600" dirty="0">
              <a:latin typeface="华光仿宋_CNKI" panose="02000500000000000000" pitchFamily="2" charset="-122"/>
              <a:ea typeface="华光仿宋_CNKI" panose="02000500000000000000" pitchFamily="2" charset="-122"/>
            </a:endParaRPr>
          </a:p>
        </p:txBody>
      </p:sp>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4" name="Object 4">
            <a:extLst>
              <a:ext uri="{FF2B5EF4-FFF2-40B4-BE49-F238E27FC236}">
                <a16:creationId xmlns:a16="http://schemas.microsoft.com/office/drawing/2014/main" id="{DF8190D1-17F4-7C3F-AF8A-B8530E789E47}"/>
              </a:ext>
            </a:extLst>
          </p:cNvPr>
          <p:cNvGraphicFramePr>
            <a:graphicFrameLocks noChangeAspect="1"/>
          </p:cNvGraphicFramePr>
          <p:nvPr>
            <p:extLst>
              <p:ext uri="{D42A27DB-BD31-4B8C-83A1-F6EECF244321}">
                <p14:modId xmlns:p14="http://schemas.microsoft.com/office/powerpoint/2010/main" val="1757938102"/>
              </p:ext>
            </p:extLst>
          </p:nvPr>
        </p:nvGraphicFramePr>
        <p:xfrm>
          <a:off x="1932168" y="1716157"/>
          <a:ext cx="7410615" cy="1941443"/>
        </p:xfrm>
        <a:graphic>
          <a:graphicData uri="http://schemas.openxmlformats.org/presentationml/2006/ole">
            <mc:AlternateContent xmlns:mc="http://schemas.openxmlformats.org/markup-compatibility/2006">
              <mc:Choice xmlns:v="urn:schemas-microsoft-com:vml" Requires="v">
                <p:oleObj name="Equation" r:id="rId2" imgW="2501640" imgH="736560" progId="Equation.3">
                  <p:embed/>
                </p:oleObj>
              </mc:Choice>
              <mc:Fallback>
                <p:oleObj name="Equation" r:id="rId2" imgW="2501640" imgH="736560" progId="Equation.3">
                  <p:embed/>
                  <p:pic>
                    <p:nvPicPr>
                      <p:cNvPr id="10242" name="Object 4">
                        <a:extLst>
                          <a:ext uri="{FF2B5EF4-FFF2-40B4-BE49-F238E27FC236}">
                            <a16:creationId xmlns:a16="http://schemas.microsoft.com/office/drawing/2014/main" id="{2ECB1E78-D275-2769-BAC7-F733F2396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168" y="1716157"/>
                        <a:ext cx="7410615" cy="1941443"/>
                      </a:xfrm>
                      <a:prstGeom prst="rect">
                        <a:avLst/>
                      </a:prstGeom>
                      <a:solidFill>
                        <a:schemeClr val="accent1"/>
                      </a:solidFill>
                      <a:ln>
                        <a:noFill/>
                      </a:ln>
                      <a:effectLst/>
                    </p:spPr>
                  </p:pic>
                </p:oleObj>
              </mc:Fallback>
            </mc:AlternateContent>
          </a:graphicData>
        </a:graphic>
      </p:graphicFrame>
      <p:graphicFrame>
        <p:nvGraphicFramePr>
          <p:cNvPr id="5" name="Object 4">
            <a:extLst>
              <a:ext uri="{FF2B5EF4-FFF2-40B4-BE49-F238E27FC236}">
                <a16:creationId xmlns:a16="http://schemas.microsoft.com/office/drawing/2014/main" id="{1111516D-9749-B344-C444-84AA1617C3A2}"/>
              </a:ext>
            </a:extLst>
          </p:cNvPr>
          <p:cNvGraphicFramePr>
            <a:graphicFrameLocks noChangeAspect="1"/>
          </p:cNvGraphicFramePr>
          <p:nvPr>
            <p:extLst>
              <p:ext uri="{D42A27DB-BD31-4B8C-83A1-F6EECF244321}">
                <p14:modId xmlns:p14="http://schemas.microsoft.com/office/powerpoint/2010/main" val="3398231153"/>
              </p:ext>
            </p:extLst>
          </p:nvPr>
        </p:nvGraphicFramePr>
        <p:xfrm>
          <a:off x="1932168" y="4519582"/>
          <a:ext cx="7410615" cy="1777852"/>
        </p:xfrm>
        <a:graphic>
          <a:graphicData uri="http://schemas.openxmlformats.org/presentationml/2006/ole">
            <mc:AlternateContent xmlns:mc="http://schemas.openxmlformats.org/markup-compatibility/2006">
              <mc:Choice xmlns:v="urn:schemas-microsoft-com:vml" Requires="v">
                <p:oleObj name="Microsoft 公式 3.0" r:id="rId4" imgW="3504960" imgH="761760" progId="Equation.3">
                  <p:embed/>
                </p:oleObj>
              </mc:Choice>
              <mc:Fallback>
                <p:oleObj name="Microsoft 公式 3.0" r:id="rId4" imgW="3504960" imgH="761760" progId="Equation.3">
                  <p:embed/>
                  <p:pic>
                    <p:nvPicPr>
                      <p:cNvPr id="11266" name="Object 4">
                        <a:extLst>
                          <a:ext uri="{FF2B5EF4-FFF2-40B4-BE49-F238E27FC236}">
                            <a16:creationId xmlns:a16="http://schemas.microsoft.com/office/drawing/2014/main" id="{82FD17A7-028C-B8CC-C00E-E61200E7E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168" y="4519582"/>
                        <a:ext cx="7410615" cy="1777852"/>
                      </a:xfrm>
                      <a:prstGeom prst="rect">
                        <a:avLst/>
                      </a:prstGeom>
                      <a:solidFill>
                        <a:srgbClr val="7030A0"/>
                      </a:solidFill>
                      <a:ln>
                        <a:noFill/>
                      </a:ln>
                      <a:effectLst/>
                    </p:spPr>
                  </p:pic>
                </p:oleObj>
              </mc:Fallback>
            </mc:AlternateContent>
          </a:graphicData>
        </a:graphic>
      </p:graphicFrame>
      <p:sp>
        <p:nvSpPr>
          <p:cNvPr id="9" name="文本框 8">
            <a:extLst>
              <a:ext uri="{FF2B5EF4-FFF2-40B4-BE49-F238E27FC236}">
                <a16:creationId xmlns:a16="http://schemas.microsoft.com/office/drawing/2014/main" id="{AC496944-0EB3-95B9-2B77-51DE153E25B5}"/>
              </a:ext>
            </a:extLst>
          </p:cNvPr>
          <p:cNvSpPr txBox="1"/>
          <p:nvPr/>
        </p:nvSpPr>
        <p:spPr>
          <a:xfrm>
            <a:off x="1298051" y="3857758"/>
            <a:ext cx="6094674" cy="461665"/>
          </a:xfrm>
          <a:prstGeom prst="rect">
            <a:avLst/>
          </a:prstGeom>
          <a:noFill/>
        </p:spPr>
        <p:txBody>
          <a:bodyPr wrap="square">
            <a:spAutoFit/>
          </a:bodyPr>
          <a:lstStyle/>
          <a:p>
            <a:r>
              <a:rPr lang="zh-CN" altLang="en-US" sz="2400" dirty="0">
                <a:latin typeface="华光标题宋_CNKI" panose="02000500000000000000" pitchFamily="2" charset="-122"/>
                <a:ea typeface="华光标题宋_CNKI" panose="02000500000000000000" pitchFamily="2" charset="-122"/>
              </a:rPr>
              <a:t>可用矢量表示如下：</a:t>
            </a:r>
          </a:p>
        </p:txBody>
      </p:sp>
    </p:spTree>
    <p:extLst>
      <p:ext uri="{BB962C8B-B14F-4D97-AF65-F5344CB8AC3E}">
        <p14:creationId xmlns:p14="http://schemas.microsoft.com/office/powerpoint/2010/main" val="38405330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8" name="Object 5">
            <a:extLst>
              <a:ext uri="{FF2B5EF4-FFF2-40B4-BE49-F238E27FC236}">
                <a16:creationId xmlns:a16="http://schemas.microsoft.com/office/drawing/2014/main" id="{491FCC92-3882-6797-7B8B-E2897FE8C3F4}"/>
              </a:ext>
            </a:extLst>
          </p:cNvPr>
          <p:cNvGraphicFramePr>
            <a:graphicFrameLocks noChangeAspect="1"/>
          </p:cNvGraphicFramePr>
          <p:nvPr>
            <p:extLst>
              <p:ext uri="{D42A27DB-BD31-4B8C-83A1-F6EECF244321}">
                <p14:modId xmlns:p14="http://schemas.microsoft.com/office/powerpoint/2010/main" val="320923851"/>
              </p:ext>
            </p:extLst>
          </p:nvPr>
        </p:nvGraphicFramePr>
        <p:xfrm>
          <a:off x="1741336" y="660388"/>
          <a:ext cx="8404528" cy="1876079"/>
        </p:xfrm>
        <a:graphic>
          <a:graphicData uri="http://schemas.openxmlformats.org/presentationml/2006/ole">
            <mc:AlternateContent xmlns:mc="http://schemas.openxmlformats.org/markup-compatibility/2006">
              <mc:Choice xmlns:v="urn:schemas-microsoft-com:vml" Requires="v">
                <p:oleObj name="公式" r:id="rId2" imgW="3606480" imgH="850680" progId="Equation.3">
                  <p:embed/>
                </p:oleObj>
              </mc:Choice>
              <mc:Fallback>
                <p:oleObj name="公式" r:id="rId2" imgW="3606480" imgH="850680" progId="Equation.3">
                  <p:embed/>
                  <p:pic>
                    <p:nvPicPr>
                      <p:cNvPr id="11267" name="Object 5">
                        <a:extLst>
                          <a:ext uri="{FF2B5EF4-FFF2-40B4-BE49-F238E27FC236}">
                            <a16:creationId xmlns:a16="http://schemas.microsoft.com/office/drawing/2014/main" id="{6A6741E9-B582-8F4D-5487-D80CC4BAE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336" y="660388"/>
                        <a:ext cx="8404528" cy="1876079"/>
                      </a:xfrm>
                      <a:prstGeom prst="rect">
                        <a:avLst/>
                      </a:prstGeom>
                      <a:solidFill>
                        <a:srgbClr val="0070C0"/>
                      </a:solid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0" name="副标题 2">
                <a:extLst>
                  <a:ext uri="{FF2B5EF4-FFF2-40B4-BE49-F238E27FC236}">
                    <a16:creationId xmlns:a16="http://schemas.microsoft.com/office/drawing/2014/main" id="{59D8146F-6B9F-0EFA-EF61-17A95959DBD3}"/>
                  </a:ext>
                </a:extLst>
              </p:cNvPr>
              <p:cNvSpPr>
                <a:spLocks noGrp="1"/>
              </p:cNvSpPr>
              <p:nvPr>
                <p:ph type="subTitle" idx="1"/>
              </p:nvPr>
            </p:nvSpPr>
            <p:spPr>
              <a:xfrm>
                <a:off x="956779" y="2794055"/>
                <a:ext cx="10580563" cy="1574690"/>
              </a:xfrm>
            </p:spPr>
            <p:txBody>
              <a:bodyPr>
                <a:no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由于表达式中</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𝑃</m:t>
                        </m:r>
                      </m:e>
                      <m:sub>
                        <m:r>
                          <a:rPr lang="en-US" altLang="zh-CN" sz="2800" b="0" i="1" smtClean="0">
                            <a:latin typeface="Cambria Math" panose="02040503050406030204" pitchFamily="18" charset="0"/>
                            <a:ea typeface="华光仿宋_CNKI" panose="02000500000000000000" pitchFamily="2" charset="-122"/>
                          </a:rPr>
                          <m:t>𝑖</m:t>
                        </m:r>
                      </m:sub>
                    </m:sSub>
                  </m:oMath>
                </a14:m>
                <a:r>
                  <a:rPr lang="zh-CN" altLang="en-US" sz="2800" dirty="0">
                    <a:latin typeface="华光仿宋_CNKI" panose="02000500000000000000" pitchFamily="2" charset="-122"/>
                    <a:ea typeface="华光仿宋_CNKI" panose="02000500000000000000" pitchFamily="2" charset="-122"/>
                  </a:rPr>
                  <a:t>没有明确的几何意义，因为很难对曲线进行控制。如果将其表示为如下的形式：</a:t>
                </a:r>
                <a:endParaRPr lang="en-US" altLang="zh-CN" sz="2800" dirty="0">
                  <a:latin typeface="华光仿宋_CNKI" panose="02000500000000000000" pitchFamily="2" charset="-122"/>
                  <a:ea typeface="华光仿宋_CNKI" panose="02000500000000000000" pitchFamily="2" charset="-122"/>
                </a:endParaRPr>
              </a:p>
            </p:txBody>
          </p:sp>
        </mc:Choice>
        <mc:Fallback xmlns="">
          <p:sp>
            <p:nvSpPr>
              <p:cNvPr id="10" name="副标题 2">
                <a:extLst>
                  <a:ext uri="{FF2B5EF4-FFF2-40B4-BE49-F238E27FC236}">
                    <a16:creationId xmlns:a16="http://schemas.microsoft.com/office/drawing/2014/main" id="{59D8146F-6B9F-0EFA-EF61-17A95959DBD3}"/>
                  </a:ext>
                </a:extLst>
              </p:cNvPr>
              <p:cNvSpPr>
                <a:spLocks noGrp="1" noRot="1" noChangeAspect="1" noMove="1" noResize="1" noEditPoints="1" noAdjustHandles="1" noChangeArrowheads="1" noChangeShapeType="1" noTextEdit="1"/>
              </p:cNvSpPr>
              <p:nvPr>
                <p:ph type="subTitle" idx="1"/>
              </p:nvPr>
            </p:nvSpPr>
            <p:spPr>
              <a:xfrm>
                <a:off x="956779" y="2794055"/>
                <a:ext cx="10580563" cy="1574690"/>
              </a:xfrm>
              <a:blipFill>
                <a:blip r:embed="rId4"/>
                <a:stretch>
                  <a:fillRect l="-12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5">
                <a:extLst>
                  <a:ext uri="{FF2B5EF4-FFF2-40B4-BE49-F238E27FC236}">
                    <a16:creationId xmlns:a16="http://schemas.microsoft.com/office/drawing/2014/main" id="{C1139C8F-74E4-FAF4-325C-7AFD5687DA06}"/>
                  </a:ext>
                </a:extLst>
              </p:cNvPr>
              <p:cNvSpPr txBox="1"/>
              <p:nvPr/>
            </p:nvSpPr>
            <p:spPr bwMode="auto">
              <a:xfrm>
                <a:off x="1812925" y="4465638"/>
                <a:ext cx="7132638" cy="74295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𝐶</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𝑇</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𝐺</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𝑀</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𝑇</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𝐺</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F</m:t>
                      </m:r>
                      <m:m>
                        <m:mPr>
                          <m:plcHide m:val="on"/>
                          <m:mcs>
                            <m:mc>
                              <m:mcPr>
                                <m:count m:val="2"/>
                                <m:mcJc m:val="center"/>
                              </m:mcPr>
                            </m:mc>
                          </m:mcs>
                          <m:ctrlPr>
                            <a:rPr lang="zh-CN" altLang="en-US" sz="2800" i="1">
                              <a:solidFill>
                                <a:srgbClr val="000000"/>
                              </a:solidFill>
                              <a:latin typeface="Cambria Math" panose="02040503050406030204" pitchFamily="18" charset="0"/>
                            </a:rPr>
                          </m:ctrlPr>
                        </m:mPr>
                        <m:mr>
                          <m:e/>
                          <m:e>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e>
                        </m:mr>
                      </m:m>
                    </m:oMath>
                  </m:oMathPara>
                </a14:m>
                <a:endParaRPr lang="zh-CN" altLang="en-US" sz="2800" dirty="0"/>
              </a:p>
            </p:txBody>
          </p:sp>
        </mc:Choice>
        <mc:Fallback xmlns="">
          <p:sp>
            <p:nvSpPr>
              <p:cNvPr id="11" name="Object 5">
                <a:extLst>
                  <a:ext uri="{FF2B5EF4-FFF2-40B4-BE49-F238E27FC236}">
                    <a16:creationId xmlns:a16="http://schemas.microsoft.com/office/drawing/2014/main" id="{C1139C8F-74E4-FAF4-325C-7AFD5687DA06}"/>
                  </a:ext>
                </a:extLst>
              </p:cNvPr>
              <p:cNvSpPr txBox="1">
                <a:spLocks noRot="1" noChangeAspect="1" noMove="1" noResize="1" noEditPoints="1" noAdjustHandles="1" noChangeArrowheads="1" noChangeShapeType="1" noTextEdit="1"/>
              </p:cNvSpPr>
              <p:nvPr/>
            </p:nvSpPr>
            <p:spPr bwMode="auto">
              <a:xfrm>
                <a:off x="1812925" y="4465638"/>
                <a:ext cx="7132638" cy="742950"/>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23E3ECC1-5BA7-C9D8-673C-97E11E093CA4}"/>
                  </a:ext>
                </a:extLst>
              </p:cNvPr>
              <p:cNvSpPr txBox="1"/>
              <p:nvPr/>
            </p:nvSpPr>
            <p:spPr bwMode="auto">
              <a:xfrm>
                <a:off x="1812925" y="5826137"/>
                <a:ext cx="1995750" cy="742950"/>
              </a:xfrm>
              <a:prstGeom prst="rect">
                <a:avLst/>
              </a:prstGeom>
              <a:solidFill>
                <a:schemeClr val="bg1"/>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𝐶</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𝐺</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𝑀</m:t>
                      </m:r>
                    </m:oMath>
                  </m:oMathPara>
                </a14:m>
                <a:endParaRPr lang="zh-CN" altLang="en-US" sz="2800" dirty="0"/>
              </a:p>
            </p:txBody>
          </p:sp>
        </mc:Choice>
        <mc:Fallback xmlns="">
          <p:sp>
            <p:nvSpPr>
              <p:cNvPr id="12" name="Object 4">
                <a:extLst>
                  <a:ext uri="{FF2B5EF4-FFF2-40B4-BE49-F238E27FC236}">
                    <a16:creationId xmlns:a16="http://schemas.microsoft.com/office/drawing/2014/main" id="{23E3ECC1-5BA7-C9D8-673C-97E11E093CA4}"/>
                  </a:ext>
                </a:extLst>
              </p:cNvPr>
              <p:cNvSpPr txBox="1">
                <a:spLocks noRot="1" noChangeAspect="1" noMove="1" noResize="1" noEditPoints="1" noAdjustHandles="1" noChangeArrowheads="1" noChangeShapeType="1" noTextEdit="1"/>
              </p:cNvSpPr>
              <p:nvPr/>
            </p:nvSpPr>
            <p:spPr bwMode="auto">
              <a:xfrm>
                <a:off x="1812925" y="5826137"/>
                <a:ext cx="1995750" cy="742950"/>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6">
                <a:extLst>
                  <a:ext uri="{FF2B5EF4-FFF2-40B4-BE49-F238E27FC236}">
                    <a16:creationId xmlns:a16="http://schemas.microsoft.com/office/drawing/2014/main" id="{34F58E77-8763-F637-2E6A-BE1C34233260}"/>
                  </a:ext>
                </a:extLst>
              </p:cNvPr>
              <p:cNvSpPr txBox="1"/>
              <p:nvPr/>
            </p:nvSpPr>
            <p:spPr bwMode="auto">
              <a:xfrm>
                <a:off x="1812925" y="5208588"/>
                <a:ext cx="7680932" cy="560305"/>
              </a:xfrm>
              <a:prstGeom prst="rect">
                <a:avLst/>
              </a:prstGeom>
              <a:solidFill>
                <a:schemeClr val="bg1"/>
              </a:solidFill>
              <a:ln>
                <a:noFill/>
              </a:ln>
              <a:effectLst/>
            </p:spPr>
            <p:txBody>
              <a:bodyPr>
                <a:noAutofit/>
              </a:bodyPr>
              <a:lstStyle/>
              <a:p>
                <a14:m>
                  <m:oMath xmlns:m="http://schemas.openxmlformats.org/officeDocument/2006/math">
                    <m:r>
                      <a:rPr lang="zh-CN" altLang="en-US" sz="2800" i="1">
                        <a:solidFill>
                          <a:srgbClr val="000000"/>
                        </a:solidFill>
                        <a:latin typeface="Cambria Math" panose="02040503050406030204" pitchFamily="18" charset="0"/>
                      </a:rPr>
                      <m:t>𝐺</m:t>
                    </m:r>
                    <m:r>
                      <a:rPr lang="zh-CN" altLang="en-US" sz="2800" i="1">
                        <a:solidFill>
                          <a:srgbClr val="000000"/>
                        </a:solidFill>
                        <a:latin typeface="Cambria Math" panose="02040503050406030204" pitchFamily="18" charset="0"/>
                      </a:rPr>
                      <m:t>=</m:t>
                    </m:r>
                    <m:d>
                      <m:dPr>
                        <m:begChr m:val="["/>
                        <m:endChr m:val="]"/>
                        <m:ctrlPr>
                          <a:rPr lang="zh-CN" altLang="en-US" sz="2800" i="1" smtClean="0">
                            <a:solidFill>
                              <a:srgbClr val="000000"/>
                            </a:solidFill>
                            <a:latin typeface="Cambria Math" panose="02040503050406030204" pitchFamily="18" charset="0"/>
                          </a:rPr>
                        </m:ctrlPr>
                      </m:dPr>
                      <m:e>
                        <m:m>
                          <m:mPr>
                            <m:plcHide m:val="on"/>
                            <m:mcs>
                              <m:mc>
                                <m:mcPr>
                                  <m:count m:val="4"/>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𝐺</m:t>
                                  </m:r>
                                </m:e>
                                <m:sub>
                                  <m:r>
                                    <a:rPr lang="zh-CN" altLang="en-US" sz="2800" i="1">
                                      <a:solidFill>
                                        <a:srgbClr val="000000"/>
                                      </a:solidFill>
                                      <a:latin typeface="Cambria Math" panose="02040503050406030204" pitchFamily="18" charset="0"/>
                                    </a:rPr>
                                    <m:t>0</m:t>
                                  </m:r>
                                </m:sub>
                              </m:sSub>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𝐺</m:t>
                                  </m:r>
                                </m:e>
                                <m:sub>
                                  <m:r>
                                    <a:rPr lang="zh-CN" altLang="en-US" sz="2800" i="1">
                                      <a:solidFill>
                                        <a:srgbClr val="000000"/>
                                      </a:solidFill>
                                      <a:latin typeface="Cambria Math" panose="02040503050406030204" pitchFamily="18" charset="0"/>
                                    </a:rPr>
                                    <m:t>1</m:t>
                                  </m:r>
                                </m:sub>
                              </m:sSub>
                            </m:e>
                            <m:e>
                              <m:r>
                                <a:rPr lang="zh-CN" altLang="en-US" sz="2800" i="1">
                                  <a:solidFill>
                                    <a:srgbClr val="000000"/>
                                  </a:solidFill>
                                  <a:latin typeface="Cambria Math" panose="02040503050406030204" pitchFamily="18" charset="0"/>
                                </a:rPr>
                                <m:t>⋯</m:t>
                              </m:r>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𝐺</m:t>
                                  </m:r>
                                </m:e>
                                <m:sub>
                                  <m:r>
                                    <a:rPr lang="zh-CN" altLang="en-US" sz="2800" i="1">
                                      <a:solidFill>
                                        <a:srgbClr val="000000"/>
                                      </a:solidFill>
                                      <a:latin typeface="Cambria Math" panose="02040503050406030204" pitchFamily="18" charset="0"/>
                                    </a:rPr>
                                    <m:t>𝑛</m:t>
                                  </m:r>
                                </m:sub>
                              </m:sSub>
                            </m:e>
                          </m:mr>
                        </m:m>
                      </m:e>
                    </m:d>
                  </m:oMath>
                </a14:m>
                <a:r>
                  <a:rPr lang="zh-CN" altLang="en-US" sz="2800" dirty="0"/>
                  <a:t>，</a:t>
                </a:r>
                <a:r>
                  <a:rPr lang="en-US" altLang="zh-CN" sz="2800" dirty="0"/>
                  <a:t>F=M.T </a:t>
                </a:r>
                <a:r>
                  <a:rPr lang="zh-CN" altLang="en-US" sz="2800" dirty="0"/>
                  <a:t>确定一组基函数</a:t>
                </a:r>
              </a:p>
            </p:txBody>
          </p:sp>
        </mc:Choice>
        <mc:Fallback xmlns="">
          <p:sp>
            <p:nvSpPr>
              <p:cNvPr id="13" name="Object 6">
                <a:extLst>
                  <a:ext uri="{FF2B5EF4-FFF2-40B4-BE49-F238E27FC236}">
                    <a16:creationId xmlns:a16="http://schemas.microsoft.com/office/drawing/2014/main" id="{34F58E77-8763-F637-2E6A-BE1C34233260}"/>
                  </a:ext>
                </a:extLst>
              </p:cNvPr>
              <p:cNvSpPr txBox="1">
                <a:spLocks noRot="1" noChangeAspect="1" noMove="1" noResize="1" noEditPoints="1" noAdjustHandles="1" noChangeArrowheads="1" noChangeShapeType="1" noTextEdit="1"/>
              </p:cNvSpPr>
              <p:nvPr/>
            </p:nvSpPr>
            <p:spPr bwMode="auto">
              <a:xfrm>
                <a:off x="1812925" y="5208588"/>
                <a:ext cx="7680932" cy="560305"/>
              </a:xfrm>
              <a:prstGeom prst="rect">
                <a:avLst/>
              </a:prstGeom>
              <a:blipFill>
                <a:blip r:embed="rId7"/>
                <a:stretch>
                  <a:fillRect t="-10870" b="-22826"/>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4284041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副标题 2">
            <a:extLst>
              <a:ext uri="{FF2B5EF4-FFF2-40B4-BE49-F238E27FC236}">
                <a16:creationId xmlns:a16="http://schemas.microsoft.com/office/drawing/2014/main" id="{59D8146F-6B9F-0EFA-EF61-17A95959DBD3}"/>
              </a:ext>
            </a:extLst>
          </p:cNvPr>
          <p:cNvSpPr>
            <a:spLocks noGrp="1"/>
          </p:cNvSpPr>
          <p:nvPr>
            <p:ph type="subTitle" idx="1"/>
          </p:nvPr>
        </p:nvSpPr>
        <p:spPr>
          <a:xfrm>
            <a:off x="567179" y="501216"/>
            <a:ext cx="10580563" cy="1574690"/>
          </a:xfrm>
        </p:spPr>
        <p:txBody>
          <a:bodyPr>
            <a:noAutofit/>
          </a:body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上式中</a:t>
            </a:r>
            <a:r>
              <a:rPr lang="en-US" altLang="zh-CN" sz="2800" dirty="0">
                <a:latin typeface="华光仿宋_CNKI" panose="02000500000000000000" pitchFamily="2" charset="-122"/>
                <a:ea typeface="华光仿宋_CNKI" panose="02000500000000000000" pitchFamily="2" charset="-122"/>
              </a:rPr>
              <a:t>G</a:t>
            </a:r>
            <a:r>
              <a:rPr lang="zh-CN" altLang="en-US" sz="2800" dirty="0">
                <a:latin typeface="华光仿宋_CNKI" panose="02000500000000000000" pitchFamily="2" charset="-122"/>
                <a:ea typeface="华光仿宋_CNKI" panose="02000500000000000000" pitchFamily="2" charset="-122"/>
              </a:rPr>
              <a:t>可以看成是包含一系列控制点坐标及其他几何约束条件在内的几何系数矩阵。</a:t>
            </a:r>
            <a:r>
              <a:rPr lang="en-US" altLang="zh-CN" sz="2800" dirty="0">
                <a:latin typeface="华光仿宋_CNKI" panose="02000500000000000000" pitchFamily="2" charset="-122"/>
                <a:ea typeface="华光仿宋_CNKI" panose="02000500000000000000" pitchFamily="2" charset="-122"/>
              </a:rPr>
              <a:t>F</a:t>
            </a:r>
            <a:r>
              <a:rPr lang="zh-CN" altLang="en-US" sz="2800" dirty="0">
                <a:latin typeface="华光仿宋_CNKI" panose="02000500000000000000" pitchFamily="2" charset="-122"/>
                <a:ea typeface="华光仿宋_CNKI" panose="02000500000000000000" pitchFamily="2" charset="-122"/>
              </a:rPr>
              <a:t>为一个</a:t>
            </a:r>
            <a:r>
              <a:rPr lang="en-US" altLang="zh-CN" sz="2800" dirty="0">
                <a:latin typeface="华光仿宋_CNKI" panose="02000500000000000000" pitchFamily="2" charset="-122"/>
                <a:ea typeface="华光仿宋_CNKI" panose="02000500000000000000" pitchFamily="2" charset="-122"/>
              </a:rPr>
              <a:t>n*n</a:t>
            </a:r>
            <a:r>
              <a:rPr lang="zh-CN" altLang="en-US" sz="2800" dirty="0">
                <a:latin typeface="华光仿宋_CNKI" panose="02000500000000000000" pitchFamily="2" charset="-122"/>
                <a:ea typeface="华光仿宋_CNKI" panose="02000500000000000000" pitchFamily="2" charset="-122"/>
              </a:rPr>
              <a:t>的矩阵，确定一组基函数。</a:t>
            </a:r>
            <a:endParaRPr lang="en-US" altLang="zh-CN" sz="2800" dirty="0">
              <a:latin typeface="华光仿宋_CNKI" panose="02000500000000000000" pitchFamily="2" charset="-122"/>
              <a:ea typeface="华光仿宋_CNKI" panose="02000500000000000000" pitchFamily="2" charset="-122"/>
            </a:endParaRPr>
          </a:p>
        </p:txBody>
      </p:sp>
      <mc:AlternateContent xmlns:mc="http://schemas.openxmlformats.org/markup-compatibility/2006" xmlns:a14="http://schemas.microsoft.com/office/drawing/2010/main">
        <mc:Choice Requires="a14">
          <p:sp>
            <p:nvSpPr>
              <p:cNvPr id="11" name="Object 5">
                <a:extLst>
                  <a:ext uri="{FF2B5EF4-FFF2-40B4-BE49-F238E27FC236}">
                    <a16:creationId xmlns:a16="http://schemas.microsoft.com/office/drawing/2014/main" id="{C1139C8F-74E4-FAF4-325C-7AFD5687DA06}"/>
                  </a:ext>
                </a:extLst>
              </p:cNvPr>
              <p:cNvSpPr txBox="1"/>
              <p:nvPr/>
            </p:nvSpPr>
            <p:spPr bwMode="auto">
              <a:xfrm>
                <a:off x="1280187" y="1845732"/>
                <a:ext cx="3315667" cy="1430868"/>
              </a:xfrm>
              <a:prstGeom prst="rect">
                <a:avLst/>
              </a:prstGeom>
              <a:solidFill>
                <a:schemeClr val="bg1"/>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𝑃</m:t>
                      </m:r>
                      <m:r>
                        <a:rPr lang="zh-CN" altLang="en-US" sz="2800" i="1" smtClean="0">
                          <a:solidFill>
                            <a:srgbClr val="000000"/>
                          </a:solidFill>
                          <a:latin typeface="Cambria Math" panose="02040503050406030204" pitchFamily="18" charset="0"/>
                        </a:rPr>
                        <m:t>(</m:t>
                      </m:r>
                      <m:r>
                        <a:rPr lang="zh-CN" altLang="en-US" sz="2800" i="1" smtClean="0">
                          <a:solidFill>
                            <a:srgbClr val="000000"/>
                          </a:solidFill>
                          <a:latin typeface="Cambria Math" panose="02040503050406030204" pitchFamily="18" charset="0"/>
                        </a:rPr>
                        <m:t>𝑡</m:t>
                      </m:r>
                      <m:r>
                        <a:rPr lang="zh-CN" altLang="en-US" sz="2800" i="1" smtClean="0">
                          <a:solidFill>
                            <a:srgbClr val="000000"/>
                          </a:solidFill>
                          <a:latin typeface="Cambria Math" panose="02040503050406030204" pitchFamily="18" charset="0"/>
                        </a:rPr>
                        <m:t>)=</m:t>
                      </m:r>
                      <m:nary>
                        <m:naryPr>
                          <m:chr m:val="∑"/>
                          <m:ctrlPr>
                            <a:rPr lang="zh-CN" altLang="en-US" sz="2800" i="1" smtClean="0">
                              <a:solidFill>
                                <a:srgbClr val="000000"/>
                              </a:solidFill>
                              <a:latin typeface="Cambria Math" panose="02040503050406030204" pitchFamily="18" charset="0"/>
                            </a:rPr>
                          </m:ctrlPr>
                        </m:naryPr>
                        <m:sub>
                          <m:r>
                            <m:rPr>
                              <m:brk m:alnAt="23"/>
                            </m:rPr>
                            <a:rPr lang="en-US" altLang="zh-CN" sz="2800" b="0" i="1" smtClean="0">
                              <a:solidFill>
                                <a:srgbClr val="000000"/>
                              </a:solidFill>
                              <a:latin typeface="Cambria Math" panose="02040503050406030204" pitchFamily="18" charset="0"/>
                            </a:rPr>
                            <m:t>𝑘</m:t>
                          </m:r>
                          <m:r>
                            <a:rPr lang="en-US" altLang="zh-CN" sz="2800" b="0" i="1" smtClean="0">
                              <a:solidFill>
                                <a:srgbClr val="000000"/>
                              </a:solidFill>
                              <a:latin typeface="Cambria Math" panose="02040503050406030204" pitchFamily="18" charset="0"/>
                            </a:rPr>
                            <m:t>=0</m:t>
                          </m:r>
                        </m:sub>
                        <m:sup>
                          <m:r>
                            <a:rPr lang="en-US" altLang="zh-CN" sz="2800" b="0" i="1" smtClean="0">
                              <a:solidFill>
                                <a:srgbClr val="000000"/>
                              </a:solidFill>
                              <a:latin typeface="Cambria Math" panose="02040503050406030204" pitchFamily="18" charset="0"/>
                            </a:rPr>
                            <m:t>𝑛</m:t>
                          </m:r>
                        </m:sup>
                        <m:e>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𝐺</m:t>
                              </m:r>
                            </m:e>
                            <m:sub>
                              <m:r>
                                <a:rPr lang="en-US" altLang="zh-CN" sz="2800" b="0" i="1" smtClean="0">
                                  <a:solidFill>
                                    <a:srgbClr val="000000"/>
                                  </a:solidFill>
                                  <a:latin typeface="Cambria Math" panose="02040503050406030204" pitchFamily="18" charset="0"/>
                                </a:rPr>
                                <m:t>𝑘</m:t>
                              </m:r>
                            </m:sub>
                          </m:sSub>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𝐹</m:t>
                              </m:r>
                            </m:e>
                            <m:sub>
                              <m:r>
                                <a:rPr lang="en-US" altLang="zh-CN" sz="2800" b="0" i="1" smtClean="0">
                                  <a:solidFill>
                                    <a:srgbClr val="000000"/>
                                  </a:solidFill>
                                  <a:latin typeface="Cambria Math" panose="02040503050406030204" pitchFamily="18" charset="0"/>
                                </a:rPr>
                                <m:t>𝑘</m:t>
                              </m:r>
                            </m:sub>
                          </m:sSub>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𝑡</m:t>
                          </m:r>
                          <m:r>
                            <a:rPr lang="en-US" altLang="zh-CN" sz="2800" b="0" i="1" smtClean="0">
                              <a:solidFill>
                                <a:srgbClr val="000000"/>
                              </a:solidFill>
                              <a:latin typeface="Cambria Math" panose="02040503050406030204" pitchFamily="18" charset="0"/>
                            </a:rPr>
                            <m:t>)</m:t>
                          </m:r>
                        </m:e>
                      </m:nary>
                    </m:oMath>
                  </m:oMathPara>
                </a14:m>
                <a:endParaRPr lang="zh-CN" altLang="en-US" sz="2800" dirty="0"/>
              </a:p>
            </p:txBody>
          </p:sp>
        </mc:Choice>
        <mc:Fallback xmlns="">
          <p:sp>
            <p:nvSpPr>
              <p:cNvPr id="11" name="Object 5">
                <a:extLst>
                  <a:ext uri="{FF2B5EF4-FFF2-40B4-BE49-F238E27FC236}">
                    <a16:creationId xmlns:a16="http://schemas.microsoft.com/office/drawing/2014/main" id="{C1139C8F-74E4-FAF4-325C-7AFD5687DA06}"/>
                  </a:ext>
                </a:extLst>
              </p:cNvPr>
              <p:cNvSpPr txBox="1">
                <a:spLocks noRot="1" noChangeAspect="1" noMove="1" noResize="1" noEditPoints="1" noAdjustHandles="1" noChangeArrowheads="1" noChangeShapeType="1" noTextEdit="1"/>
              </p:cNvSpPr>
              <p:nvPr/>
            </p:nvSpPr>
            <p:spPr bwMode="auto">
              <a:xfrm>
                <a:off x="1280187" y="1845732"/>
                <a:ext cx="3315667" cy="1430868"/>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A09FADC1-E333-1E98-C905-8B145A682171}"/>
              </a:ext>
            </a:extLst>
          </p:cNvPr>
          <p:cNvSpPr txBox="1">
            <a:spLocks/>
          </p:cNvSpPr>
          <p:nvPr/>
        </p:nvSpPr>
        <p:spPr>
          <a:xfrm>
            <a:off x="487666" y="3326369"/>
            <a:ext cx="10580563" cy="93824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800" dirty="0">
                <a:latin typeface="华光仿宋_CNKI" panose="02000500000000000000" pitchFamily="2" charset="-122"/>
                <a:ea typeface="华光仿宋_CNKI" panose="02000500000000000000" pitchFamily="2" charset="-122"/>
              </a:rPr>
              <a:t>    用上面的形式可以表示直线为：</a:t>
            </a:r>
            <a:r>
              <a:rPr lang="en-US" altLang="zh-CN" sz="2800" dirty="0">
                <a:latin typeface="华光仿宋_CNKI" panose="02000500000000000000" pitchFamily="2" charset="-122"/>
                <a:ea typeface="华光仿宋_CNKI" panose="02000500000000000000" pitchFamily="2" charset="-122"/>
              </a:rPr>
              <a:t>  </a:t>
            </a:r>
          </a:p>
        </p:txBody>
      </p:sp>
      <mc:AlternateContent xmlns:mc="http://schemas.openxmlformats.org/markup-compatibility/2006" xmlns:a14="http://schemas.microsoft.com/office/drawing/2010/main">
        <mc:Choice Requires="a14">
          <p:sp>
            <p:nvSpPr>
              <p:cNvPr id="3" name="Object 4">
                <a:extLst>
                  <a:ext uri="{FF2B5EF4-FFF2-40B4-BE49-F238E27FC236}">
                    <a16:creationId xmlns:a16="http://schemas.microsoft.com/office/drawing/2014/main" id="{BD121CD1-5E4D-9CA7-73FA-6D99BEA2210A}"/>
                  </a:ext>
                </a:extLst>
              </p:cNvPr>
              <p:cNvSpPr txBox="1"/>
              <p:nvPr/>
            </p:nvSpPr>
            <p:spPr bwMode="auto">
              <a:xfrm>
                <a:off x="1185449" y="3975652"/>
                <a:ext cx="6646586" cy="2000567"/>
              </a:xfrm>
              <a:prstGeom prst="rect">
                <a:avLst/>
              </a:prstGeom>
              <a:noFill/>
              <a:ln>
                <a:noFill/>
              </a:ln>
              <a:effectLst/>
            </p:spPr>
            <p:txBody>
              <a:bodyPr>
                <a:noAutofit/>
              </a:bodyPr>
              <a:lstStyle/>
              <a:p>
                <a:pPr>
                  <a:lnSpc>
                    <a:spcPct val="150000"/>
                  </a:lnSpc>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oMath>
                    <m:oMath xmlns:m="http://schemas.openxmlformats.org/officeDocument/2006/math">
                      <m:r>
                        <a:rPr lang="zh-CN" altLang="en-US" sz="2800" i="1">
                          <a:solidFill>
                            <a:srgbClr val="000000"/>
                          </a:solidFill>
                          <a:latin typeface="Cambria Math" panose="02040503050406030204" pitchFamily="18" charset="0"/>
                        </a:rPr>
                        <m:t>=</m:t>
                      </m:r>
                      <m:m>
                        <m:mPr>
                          <m:plcHide m:val="on"/>
                          <m:mcs>
                            <m:mc>
                              <m:mcPr>
                                <m:count m:val="2"/>
                                <m:mcJc m:val="center"/>
                              </m:mcPr>
                            </m:mc>
                          </m:mcs>
                          <m:ctrlPr>
                            <a:rPr lang="zh-CN" altLang="en-US" sz="2800" i="1">
                              <a:solidFill>
                                <a:srgbClr val="000000"/>
                              </a:solidFill>
                              <a:latin typeface="Cambria Math" panose="02040503050406030204" pitchFamily="18" charset="0"/>
                            </a:rPr>
                          </m:ctrlPr>
                        </m:mPr>
                        <m:mr>
                          <m:e>
                            <m:d>
                              <m:dPr>
                                <m:begChr m:val="["/>
                                <m:endChr m:val="]"/>
                                <m:ctrlPr>
                                  <a:rPr lang="zh-CN" altLang="en-US" sz="2800" i="1">
                                    <a:solidFill>
                                      <a:srgbClr val="000000"/>
                                    </a:solidFill>
                                    <a:latin typeface="Cambria Math" panose="02040503050406030204" pitchFamily="18" charset="0"/>
                                  </a:rPr>
                                </m:ctrlPr>
                              </m:dPr>
                              <m:e>
                                <m:m>
                                  <m:mPr>
                                    <m:plcHide m:val="on"/>
                                    <m:mcs>
                                      <m:mc>
                                        <m:mcPr>
                                          <m:count m:val="2"/>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1</m:t>
                                          </m:r>
                                        </m:sub>
                                      </m:sSub>
                                    </m:e>
                                  </m:mr>
                                </m:m>
                              </m:e>
                            </m:d>
                            <m:d>
                              <m:dPr>
                                <m:begChr m:val="["/>
                                <m:endChr m:val="]"/>
                                <m:ctrlPr>
                                  <a:rPr lang="zh-CN" altLang="en-US" sz="2800" i="1">
                                    <a:solidFill>
                                      <a:srgbClr val="000000"/>
                                    </a:solidFill>
                                    <a:latin typeface="Cambria Math" panose="02040503050406030204" pitchFamily="18" charset="0"/>
                                  </a:rPr>
                                </m:ctrlPr>
                              </m:dPr>
                              <m:e>
                                <m:m>
                                  <m:mPr>
                                    <m:plcHide m:val="on"/>
                                    <m:mcs>
                                      <m:mc>
                                        <m:mcPr>
                                          <m:count m:val="2"/>
                                          <m:mcJc m:val="center"/>
                                        </m:mcPr>
                                      </m:mc>
                                    </m:mcs>
                                    <m:ctrlPr>
                                      <a:rPr lang="zh-CN" altLang="en-US" sz="2800" i="1">
                                        <a:solidFill>
                                          <a:srgbClr val="000000"/>
                                        </a:solidFill>
                                        <a:latin typeface="Cambria Math" panose="02040503050406030204" pitchFamily="18" charset="0"/>
                                      </a:rPr>
                                    </m:ctrlPr>
                                  </m:mPr>
                                  <m:mr>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mr>
                                </m:m>
                              </m:e>
                            </m:d>
                            <m:d>
                              <m:dPr>
                                <m:begChr m:val="["/>
                                <m:endChr m:val="]"/>
                                <m:ctrlPr>
                                  <a:rPr lang="zh-CN" altLang="en-US" sz="2800" i="1">
                                    <a:solidFill>
                                      <a:srgbClr val="000000"/>
                                    </a:solidFill>
                                    <a:latin typeface="Cambria Math" panose="02040503050406030204" pitchFamily="18" charset="0"/>
                                  </a:rPr>
                                </m:ctrlPr>
                              </m:dPr>
                              <m:e>
                                <m:m>
                                  <m:mPr>
                                    <m:plcHide m:val="on"/>
                                    <m:mcs>
                                      <m:mc>
                                        <m:mcPr>
                                          <m:count m:val="1"/>
                                          <m:mcJc m:val="center"/>
                                        </m:mcPr>
                                      </m:mc>
                                    </m:mcs>
                                    <m:ctrlPr>
                                      <a:rPr lang="zh-CN" altLang="en-US" sz="2800" i="1">
                                        <a:solidFill>
                                          <a:srgbClr val="000000"/>
                                        </a:solidFill>
                                        <a:latin typeface="Cambria Math" panose="02040503050406030204" pitchFamily="18" charset="0"/>
                                      </a:rPr>
                                    </m:ctrlPr>
                                  </m:mPr>
                                  <m:mr>
                                    <m:e>
                                      <m:r>
                                        <a:rPr lang="zh-CN" altLang="en-US" sz="2800" i="1">
                                          <a:solidFill>
                                            <a:srgbClr val="000000"/>
                                          </a:solidFill>
                                          <a:latin typeface="Cambria Math" panose="02040503050406030204" pitchFamily="18" charset="0"/>
                                        </a:rPr>
                                        <m:t>1</m:t>
                                      </m:r>
                                    </m:e>
                                  </m:mr>
                                  <m:mr>
                                    <m:e>
                                      <m:r>
                                        <a:rPr lang="zh-CN" altLang="en-US" sz="2800" i="1">
                                          <a:solidFill>
                                            <a:srgbClr val="000000"/>
                                          </a:solidFill>
                                          <a:latin typeface="Cambria Math" panose="02040503050406030204" pitchFamily="18" charset="0"/>
                                        </a:rPr>
                                        <m:t>𝑡</m:t>
                                      </m:r>
                                    </m:e>
                                  </m:mr>
                                </m:m>
                              </m:e>
                            </m:d>
                          </m:e>
                          <m:e>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e>
                        </m:mr>
                      </m:m>
                    </m:oMath>
                  </m:oMathPara>
                </a14:m>
                <a:endParaRPr lang="zh-CN" altLang="en-US" sz="2800" dirty="0"/>
              </a:p>
            </p:txBody>
          </p:sp>
        </mc:Choice>
        <mc:Fallback xmlns="">
          <p:sp>
            <p:nvSpPr>
              <p:cNvPr id="3" name="Object 4">
                <a:extLst>
                  <a:ext uri="{FF2B5EF4-FFF2-40B4-BE49-F238E27FC236}">
                    <a16:creationId xmlns:a16="http://schemas.microsoft.com/office/drawing/2014/main" id="{BD121CD1-5E4D-9CA7-73FA-6D99BEA2210A}"/>
                  </a:ext>
                </a:extLst>
              </p:cNvPr>
              <p:cNvSpPr txBox="1">
                <a:spLocks noRot="1" noChangeAspect="1" noMove="1" noResize="1" noEditPoints="1" noAdjustHandles="1" noChangeArrowheads="1" noChangeShapeType="1" noTextEdit="1"/>
              </p:cNvSpPr>
              <p:nvPr/>
            </p:nvSpPr>
            <p:spPr bwMode="auto">
              <a:xfrm>
                <a:off x="1185449" y="3975652"/>
                <a:ext cx="6646586" cy="2000567"/>
              </a:xfrm>
              <a:prstGeom prst="rect">
                <a:avLst/>
              </a:prstGeom>
              <a:blipFill>
                <a:blip r:embed="rId4"/>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5116419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651597" y="487740"/>
                <a:ext cx="10591547" cy="579379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3.6.4 Hermite</a:t>
                </a:r>
                <a:r>
                  <a:rPr lang="zh-CN" altLang="en-US" sz="2600" b="1" dirty="0">
                    <a:latin typeface="华光标题宋_CNKI" panose="02000500000000000000" pitchFamily="2" charset="-122"/>
                    <a:ea typeface="华光标题宋_CNKI" panose="02000500000000000000" pitchFamily="2" charset="-122"/>
                  </a:rPr>
                  <a:t>插值样条</a:t>
                </a:r>
                <a:endParaRPr lang="en-US" altLang="zh-CN" sz="2600" b="1"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Hermite</a:t>
                </a:r>
                <a:r>
                  <a:rPr lang="zh-CN" altLang="en-US" sz="2600" dirty="0">
                    <a:latin typeface="华光仿宋_CNKI" panose="02000500000000000000" pitchFamily="2" charset="-122"/>
                    <a:ea typeface="华光仿宋_CNKI" panose="02000500000000000000" pitchFamily="2" charset="-122"/>
                  </a:rPr>
                  <a:t>插值样条是法国数学家</a:t>
                </a:r>
                <a:r>
                  <a:rPr lang="en-US" altLang="zh-CN" sz="2600" dirty="0">
                    <a:latin typeface="华光仿宋_CNKI" panose="02000500000000000000" pitchFamily="2" charset="-122"/>
                    <a:ea typeface="华光仿宋_CNKI" panose="02000500000000000000" pitchFamily="2" charset="-122"/>
                  </a:rPr>
                  <a:t>Charles Hermite</a:t>
                </a:r>
                <a:r>
                  <a:rPr lang="zh-CN" altLang="en-US" sz="2600" dirty="0">
                    <a:latin typeface="华光仿宋_CNKI" panose="02000500000000000000" pitchFamily="2" charset="-122"/>
                    <a:ea typeface="华光仿宋_CNKI" panose="02000500000000000000" pitchFamily="2" charset="-122"/>
                  </a:rPr>
                  <a:t>给出的一个分段三次多项式。它要求已知每个型值点的位置矢量及其切矢量，然后绘制出的样条曲线。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在给定</a:t>
                </a:r>
                <a:r>
                  <a:rPr lang="en-US" altLang="zh-CN" sz="2600" dirty="0">
                    <a:latin typeface="华光仿宋_CNKI" panose="02000500000000000000" pitchFamily="2" charset="-122"/>
                    <a:ea typeface="华光仿宋_CNKI" panose="02000500000000000000" pitchFamily="2" charset="-122"/>
                  </a:rPr>
                  <a:t>P0,P1,R0,R1</a:t>
                </a:r>
                <a:r>
                  <a:rPr lang="zh-CN" altLang="en-US" sz="2600" dirty="0">
                    <a:latin typeface="华光仿宋_CNKI" panose="02000500000000000000" pitchFamily="2" charset="-122"/>
                    <a:ea typeface="华光仿宋_CNKI" panose="02000500000000000000" pitchFamily="2" charset="-122"/>
                  </a:rPr>
                  <a:t>的情况下，可以绘制出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600" dirty="0">
                    <a:latin typeface="华光仿宋_CNKI" panose="02000500000000000000" pitchFamily="2" charset="-122"/>
                    <a:ea typeface="华光仿宋_CNKI" panose="02000500000000000000" pitchFamily="2" charset="-122"/>
                  </a:rPr>
                  <a:t>经过</a:t>
                </a:r>
                <a:r>
                  <a:rPr lang="en-US" altLang="zh-CN" sz="2600" dirty="0">
                    <a:latin typeface="华光仿宋_CNKI" panose="02000500000000000000" pitchFamily="2" charset="-122"/>
                    <a:ea typeface="华光仿宋_CNKI" panose="02000500000000000000" pitchFamily="2" charset="-122"/>
                  </a:rPr>
                  <a:t>P0</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的插值曲线。</a:t>
                </a:r>
                <a:r>
                  <a:rPr lang="en-US" altLang="zh-CN" sz="2600" dirty="0">
                    <a:latin typeface="华光仿宋_CNKI" panose="02000500000000000000" pitchFamily="2" charset="-122"/>
                    <a:ea typeface="华光仿宋_CNKI" panose="02000500000000000000" pitchFamily="2" charset="-122"/>
                  </a:rPr>
                  <a:t>R0</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R1</a:t>
                </a:r>
                <a:r>
                  <a:rPr lang="zh-CN" altLang="en-US" sz="2600" dirty="0">
                    <a:latin typeface="华光仿宋_CNKI" panose="02000500000000000000" pitchFamily="2" charset="-122"/>
                    <a:ea typeface="华光仿宋_CNKI" panose="02000500000000000000" pitchFamily="2" charset="-122"/>
                  </a:rPr>
                  <a:t>分别为</a:t>
                </a:r>
                <a:r>
                  <a:rPr lang="en-US" altLang="zh-CN" sz="2600" dirty="0">
                    <a:latin typeface="华光仿宋_CNKI" panose="02000500000000000000" pitchFamily="2" charset="-122"/>
                    <a:ea typeface="华光仿宋_CNKI" panose="02000500000000000000" pitchFamily="2" charset="-122"/>
                  </a:rPr>
                  <a:t>P0</a:t>
                </a:r>
                <a:r>
                  <a:rPr lang="zh-CN" altLang="en-US" sz="2600" dirty="0">
                    <a:latin typeface="华光仿宋_CNKI" panose="02000500000000000000" pitchFamily="2" charset="-122"/>
                    <a:ea typeface="华光仿宋_CNKI" panose="02000500000000000000" pitchFamily="2" charset="-122"/>
                  </a:rPr>
                  <a:t>和</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的切线矢量。</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r>
                      <a:rPr lang="en-US" altLang="zh-CN" sz="2600" b="0" i="1" smtClean="0">
                        <a:latin typeface="Cambria Math" panose="02040503050406030204" pitchFamily="18" charset="0"/>
                        <a:ea typeface="华光仿宋_CNKI" panose="02000500000000000000" pitchFamily="2" charset="-122"/>
                      </a:rPr>
                      <m:t>𝑃</m:t>
                    </m:r>
                    <m:d>
                      <m:dPr>
                        <m:ctrlPr>
                          <a:rPr lang="en-US" altLang="zh-CN" sz="2600" b="0" i="1" smtClean="0">
                            <a:latin typeface="Cambria Math" panose="02040503050406030204" pitchFamily="18" charset="0"/>
                            <a:ea typeface="华光仿宋_CNKI" panose="02000500000000000000" pitchFamily="2" charset="-122"/>
                          </a:rPr>
                        </m:ctrlPr>
                      </m:dPr>
                      <m:e>
                        <m:r>
                          <a:rPr lang="en-US" altLang="zh-CN" sz="2600" b="0" i="1" smtClean="0">
                            <a:latin typeface="Cambria Math" panose="02040503050406030204" pitchFamily="18" charset="0"/>
                            <a:ea typeface="华光仿宋_CNKI" panose="02000500000000000000" pitchFamily="2" charset="-122"/>
                          </a:rPr>
                          <m:t>𝑡</m:t>
                        </m:r>
                      </m:e>
                    </m:d>
                    <m:sSub>
                      <m:sSubPr>
                        <m:ctrlPr>
                          <a:rPr lang="en-US" altLang="zh-CN" sz="2600" b="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m:t>
                        </m:r>
                      </m:e>
                      <m:sub>
                        <m:r>
                          <a:rPr lang="en-US" altLang="zh-CN" sz="2600" b="0" i="1" smtClean="0">
                            <a:latin typeface="Cambria Math" panose="02040503050406030204" pitchFamily="18" charset="0"/>
                            <a:ea typeface="华光仿宋_CNKI" panose="02000500000000000000" pitchFamily="2" charset="-122"/>
                          </a:rPr>
                          <m:t>𝑡</m:t>
                        </m:r>
                        <m:r>
                          <a:rPr lang="en-US" altLang="zh-CN" sz="2600" b="0" i="1" smtClean="0">
                            <a:latin typeface="Cambria Math" panose="02040503050406030204" pitchFamily="18" charset="0"/>
                            <a:ea typeface="华光仿宋_CNKI" panose="02000500000000000000" pitchFamily="2" charset="-122"/>
                          </a:rPr>
                          <m:t>=0</m:t>
                        </m:r>
                      </m:sub>
                    </m:sSub>
                    <m:r>
                      <a:rPr lang="en-US" altLang="zh-CN" sz="2600" b="0" i="1" smtClean="0">
                        <a:latin typeface="Cambria Math" panose="02040503050406030204" pitchFamily="18" charset="0"/>
                        <a:ea typeface="华光仿宋_CNKI" panose="02000500000000000000" pitchFamily="2" charset="-122"/>
                      </a:rPr>
                      <m:t>=</m:t>
                    </m:r>
                    <m:sSub>
                      <m:sSubPr>
                        <m:ctrlPr>
                          <a:rPr lang="en-US" altLang="zh-CN" sz="2600" b="0" i="1" smtClean="0">
                            <a:latin typeface="Cambria Math" panose="02040503050406030204" pitchFamily="18" charset="0"/>
                            <a:ea typeface="华光仿宋_CNKI" panose="02000500000000000000" pitchFamily="2" charset="-122"/>
                          </a:rPr>
                        </m:ctrlPr>
                      </m:sSubPr>
                      <m:e>
                        <m:r>
                          <m:rPr>
                            <m:sty m:val="p"/>
                          </m:rPr>
                          <a:rPr lang="en-US" altLang="zh-CN" sz="2600" i="1">
                            <a:latin typeface="Cambria Math" panose="02040503050406030204" pitchFamily="18" charset="0"/>
                            <a:ea typeface="华光仿宋_CNKI" panose="02000500000000000000" pitchFamily="2" charset="-122"/>
                          </a:rPr>
                          <m:t>P</m:t>
                        </m:r>
                      </m:e>
                      <m:sub>
                        <m:r>
                          <a:rPr lang="en-US" altLang="zh-CN" sz="2600" b="0" i="1" smtClean="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r>
                      <a:rPr lang="en-US" altLang="zh-CN" sz="2600" i="1">
                        <a:latin typeface="Cambria Math" panose="02040503050406030204" pitchFamily="18" charset="0"/>
                        <a:ea typeface="华光仿宋_CNKI" panose="02000500000000000000" pitchFamily="2" charset="-122"/>
                      </a:rPr>
                      <m:t>𝑃</m:t>
                    </m:r>
                    <m:d>
                      <m:dPr>
                        <m:ctrlPr>
                          <a:rPr lang="en-US" altLang="zh-CN" sz="2600" i="1">
                            <a:latin typeface="Cambria Math" panose="02040503050406030204" pitchFamily="18" charset="0"/>
                            <a:ea typeface="华光仿宋_CNKI" panose="02000500000000000000" pitchFamily="2" charset="-122"/>
                          </a:rPr>
                        </m:ctrlPr>
                      </m:dPr>
                      <m:e>
                        <m:r>
                          <a:rPr lang="en-US" altLang="zh-CN" sz="2600" i="1">
                            <a:latin typeface="Cambria Math" panose="02040503050406030204" pitchFamily="18" charset="0"/>
                            <a:ea typeface="华光仿宋_CNKI" panose="02000500000000000000" pitchFamily="2" charset="-122"/>
                          </a:rPr>
                          <m:t>𝑡</m:t>
                        </m:r>
                      </m:e>
                    </m:d>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m:t>
                        </m:r>
                      </m:e>
                      <m:sub>
                        <m:r>
                          <a:rPr lang="en-US" altLang="zh-CN" sz="2600" i="1">
                            <a:latin typeface="Cambria Math" panose="02040503050406030204" pitchFamily="18" charset="0"/>
                            <a:ea typeface="华光仿宋_CNKI" panose="02000500000000000000" pitchFamily="2" charset="-122"/>
                          </a:rPr>
                          <m:t>𝑡</m:t>
                        </m:r>
                        <m:r>
                          <a:rPr lang="en-US" altLang="zh-CN" sz="260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1</m:t>
                        </m:r>
                      </m:sub>
                    </m:sSub>
                    <m:r>
                      <a:rPr lang="en-US" altLang="zh-CN" sz="2600" i="1">
                        <a:latin typeface="Cambria Math" panose="02040503050406030204" pitchFamily="18" charset="0"/>
                        <a:ea typeface="华光仿宋_CNKI" panose="02000500000000000000" pitchFamily="2" charset="-122"/>
                      </a:rPr>
                      <m:t>=</m:t>
                    </m:r>
                    <m:sSub>
                      <m:sSubPr>
                        <m:ctrlPr>
                          <a:rPr lang="en-US" altLang="zh-CN" sz="2600" i="1">
                            <a:latin typeface="Cambria Math" panose="02040503050406030204" pitchFamily="18" charset="0"/>
                            <a:ea typeface="华光仿宋_CNKI" panose="02000500000000000000" pitchFamily="2" charset="-122"/>
                          </a:rPr>
                        </m:ctrlPr>
                      </m:sSubPr>
                      <m:e>
                        <m:r>
                          <m:rPr>
                            <m:sty m:val="p"/>
                          </m:rPr>
                          <a:rPr lang="en-US" altLang="zh-CN" sz="2600" i="1">
                            <a:latin typeface="Cambria Math" panose="02040503050406030204" pitchFamily="18" charset="0"/>
                            <a:ea typeface="华光仿宋_CNKI" panose="02000500000000000000" pitchFamily="2" charset="-122"/>
                          </a:rPr>
                          <m:t>P</m:t>
                        </m:r>
                      </m:e>
                      <m:sub>
                        <m:r>
                          <a:rPr lang="en-US" altLang="zh-CN" sz="2600" b="0" i="1" smtClean="0">
                            <a:latin typeface="Cambria Math" panose="02040503050406030204" pitchFamily="18" charset="0"/>
                            <a:ea typeface="华光仿宋_CNKI" panose="02000500000000000000" pitchFamily="2" charset="-122"/>
                          </a:rPr>
                          <m:t>1</m:t>
                        </m:r>
                      </m:sub>
                    </m:sSub>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600" b="0" i="1" smtClean="0">
                            <a:latin typeface="Cambria Math" panose="02040503050406030204" pitchFamily="18" charset="0"/>
                            <a:ea typeface="华光仿宋_CNKI" panose="02000500000000000000" pitchFamily="2" charset="-122"/>
                          </a:rPr>
                        </m:ctrlPr>
                      </m:sSupPr>
                      <m:e>
                        <m:r>
                          <a:rPr lang="en-US" altLang="zh-CN" sz="2600" b="0" i="1" smtClean="0">
                            <a:latin typeface="Cambria Math" panose="02040503050406030204" pitchFamily="18" charset="0"/>
                            <a:ea typeface="华光仿宋_CNKI" panose="02000500000000000000" pitchFamily="2" charset="-122"/>
                          </a:rPr>
                          <m:t>𝑃</m:t>
                        </m:r>
                      </m:e>
                      <m:sup>
                        <m:r>
                          <a:rPr lang="en-US" altLang="zh-CN" sz="2600" b="0" i="1" smtClean="0">
                            <a:latin typeface="Cambria Math" panose="02040503050406030204" pitchFamily="18" charset="0"/>
                            <a:ea typeface="华光仿宋_CNKI" panose="02000500000000000000" pitchFamily="2" charset="-122"/>
                          </a:rPr>
                          <m:t>′</m:t>
                        </m:r>
                      </m:sup>
                    </m:sSup>
                    <m:d>
                      <m:dPr>
                        <m:ctrlPr>
                          <a:rPr lang="en-US" altLang="zh-CN" sz="2600" b="0" i="1" smtClean="0">
                            <a:latin typeface="Cambria Math" panose="02040503050406030204" pitchFamily="18" charset="0"/>
                            <a:ea typeface="华光仿宋_CNKI" panose="02000500000000000000" pitchFamily="2" charset="-122"/>
                          </a:rPr>
                        </m:ctrlPr>
                      </m:dPr>
                      <m:e>
                        <m:r>
                          <a:rPr lang="en-US" altLang="zh-CN" sz="2600" b="0" i="1" smtClean="0">
                            <a:latin typeface="Cambria Math" panose="02040503050406030204" pitchFamily="18" charset="0"/>
                            <a:ea typeface="华光仿宋_CNKI" panose="02000500000000000000" pitchFamily="2" charset="-122"/>
                          </a:rPr>
                          <m:t>𝑡</m:t>
                        </m:r>
                      </m:e>
                    </m:d>
                    <m:sSub>
                      <m:sSubPr>
                        <m:ctrlPr>
                          <a:rPr lang="en-US" altLang="zh-CN" sz="2600" b="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m:t>
                        </m:r>
                      </m:e>
                      <m:sub>
                        <m:r>
                          <a:rPr lang="en-US" altLang="zh-CN" sz="2600" b="0" i="1" smtClean="0">
                            <a:latin typeface="Cambria Math" panose="02040503050406030204" pitchFamily="18" charset="0"/>
                            <a:ea typeface="华光仿宋_CNKI" panose="02000500000000000000" pitchFamily="2" charset="-122"/>
                          </a:rPr>
                          <m:t>𝑡</m:t>
                        </m:r>
                        <m:r>
                          <a:rPr lang="en-US" altLang="zh-CN" sz="2600" b="0" i="1" smtClean="0">
                            <a:latin typeface="Cambria Math" panose="02040503050406030204" pitchFamily="18" charset="0"/>
                            <a:ea typeface="华光仿宋_CNKI" panose="02000500000000000000" pitchFamily="2" charset="-122"/>
                          </a:rPr>
                          <m:t>=0</m:t>
                        </m:r>
                      </m:sub>
                    </m:sSub>
                    <m:r>
                      <a:rPr lang="en-US" altLang="zh-CN" sz="2600" b="0" i="1" smtClean="0">
                        <a:latin typeface="Cambria Math" panose="02040503050406030204" pitchFamily="18" charset="0"/>
                        <a:ea typeface="华光仿宋_CNKI" panose="02000500000000000000" pitchFamily="2" charset="-122"/>
                      </a:rPr>
                      <m:t>=</m:t>
                    </m:r>
                    <m:sSub>
                      <m:sSubPr>
                        <m:ctrlPr>
                          <a:rPr lang="en-US" altLang="zh-CN" sz="2600" b="0" i="1" smtClean="0">
                            <a:latin typeface="Cambria Math" panose="02040503050406030204" pitchFamily="18" charset="0"/>
                            <a:ea typeface="华光仿宋_CNKI" panose="02000500000000000000" pitchFamily="2" charset="-122"/>
                          </a:rPr>
                        </m:ctrlPr>
                      </m:sSubPr>
                      <m:e>
                        <m:r>
                          <m:rPr>
                            <m:sty m:val="p"/>
                          </m:rPr>
                          <a:rPr lang="en-US" altLang="zh-CN" sz="2600" i="1">
                            <a:latin typeface="Cambria Math" panose="02040503050406030204" pitchFamily="18" charset="0"/>
                            <a:ea typeface="华光仿宋_CNKI" panose="02000500000000000000" pitchFamily="2" charset="-122"/>
                          </a:rPr>
                          <m:t>R</m:t>
                        </m:r>
                      </m:e>
                      <m:sub>
                        <m:r>
                          <a:rPr lang="en-US" altLang="zh-CN" sz="2600" b="0" i="1" smtClean="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600" i="1" smtClean="0">
                            <a:latin typeface="Cambria Math" panose="02040503050406030204" pitchFamily="18" charset="0"/>
                            <a:ea typeface="华光仿宋_CNKI" panose="02000500000000000000" pitchFamily="2" charset="-122"/>
                          </a:rPr>
                        </m:ctrlPr>
                      </m:sSupPr>
                      <m:e>
                        <m:r>
                          <a:rPr lang="en-US" altLang="zh-CN" sz="2600" b="0" i="1" smtClean="0">
                            <a:latin typeface="Cambria Math" panose="02040503050406030204" pitchFamily="18" charset="0"/>
                            <a:ea typeface="华光仿宋_CNKI" panose="02000500000000000000" pitchFamily="2" charset="-122"/>
                          </a:rPr>
                          <m:t>𝑃</m:t>
                        </m:r>
                      </m:e>
                      <m:sup>
                        <m:r>
                          <a:rPr lang="en-US" altLang="zh-CN" sz="2600" b="0" i="1" smtClean="0">
                            <a:latin typeface="Cambria Math" panose="02040503050406030204" pitchFamily="18" charset="0"/>
                            <a:ea typeface="华光仿宋_CNKI" panose="02000500000000000000" pitchFamily="2" charset="-122"/>
                          </a:rPr>
                          <m:t>′</m:t>
                        </m:r>
                      </m:sup>
                    </m:sSup>
                    <m:d>
                      <m:dPr>
                        <m:ctrlPr>
                          <a:rPr lang="en-US" altLang="zh-CN" sz="2600" i="1">
                            <a:latin typeface="Cambria Math" panose="02040503050406030204" pitchFamily="18" charset="0"/>
                            <a:ea typeface="华光仿宋_CNKI" panose="02000500000000000000" pitchFamily="2" charset="-122"/>
                          </a:rPr>
                        </m:ctrlPr>
                      </m:dPr>
                      <m:e>
                        <m:r>
                          <a:rPr lang="en-US" altLang="zh-CN" sz="2600" i="1">
                            <a:latin typeface="Cambria Math" panose="02040503050406030204" pitchFamily="18" charset="0"/>
                            <a:ea typeface="华光仿宋_CNKI" panose="02000500000000000000" pitchFamily="2" charset="-122"/>
                          </a:rPr>
                          <m:t>𝑡</m:t>
                        </m:r>
                      </m:e>
                    </m:d>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m:t>
                        </m:r>
                      </m:e>
                      <m:sub>
                        <m:r>
                          <a:rPr lang="en-US" altLang="zh-CN" sz="2600" i="1">
                            <a:latin typeface="Cambria Math" panose="02040503050406030204" pitchFamily="18" charset="0"/>
                            <a:ea typeface="华光仿宋_CNKI" panose="02000500000000000000" pitchFamily="2" charset="-122"/>
                          </a:rPr>
                          <m:t>𝑡</m:t>
                        </m:r>
                        <m:r>
                          <a:rPr lang="en-US" altLang="zh-CN" sz="260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1</m:t>
                        </m:r>
                      </m:sub>
                    </m:sSub>
                    <m:r>
                      <a:rPr lang="en-US" altLang="zh-CN" sz="2600" i="1">
                        <a:latin typeface="Cambria Math" panose="02040503050406030204" pitchFamily="18" charset="0"/>
                        <a:ea typeface="华光仿宋_CNKI" panose="02000500000000000000" pitchFamily="2" charset="-122"/>
                      </a:rPr>
                      <m:t>=</m:t>
                    </m:r>
                    <m:sSub>
                      <m:sSubPr>
                        <m:ctrlPr>
                          <a:rPr lang="en-US" altLang="zh-CN"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𝑅</m:t>
                        </m:r>
                      </m:e>
                      <m:sub>
                        <m:r>
                          <a:rPr lang="en-US" altLang="zh-CN" sz="2600" b="0" i="1" smtClean="0">
                            <a:latin typeface="Cambria Math" panose="02040503050406030204" pitchFamily="18" charset="0"/>
                            <a:ea typeface="华光仿宋_CNKI" panose="02000500000000000000" pitchFamily="2" charset="-122"/>
                          </a:rPr>
                          <m:t>1</m:t>
                        </m:r>
                      </m:sub>
                    </m:sSub>
                  </m:oMath>
                </a14:m>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651597" y="487740"/>
                <a:ext cx="10591547" cy="5793790"/>
              </a:xfrm>
              <a:prstGeom prst="rect">
                <a:avLst/>
              </a:prstGeom>
              <a:blipFill>
                <a:blip r:embed="rId3"/>
                <a:stretch>
                  <a:fillRect l="-1036" r="-173"/>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00F2FB77-6AFF-D868-FA84-3A26976734AD}"/>
              </a:ext>
            </a:extLst>
          </p:cNvPr>
          <p:cNvGrpSpPr/>
          <p:nvPr/>
        </p:nvGrpSpPr>
        <p:grpSpPr>
          <a:xfrm>
            <a:off x="7642170" y="3030109"/>
            <a:ext cx="3760014" cy="2463800"/>
            <a:chOff x="4572000" y="3276600"/>
            <a:chExt cx="3760014" cy="246380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47694FB1-DD1E-AAB5-D8EE-1E8F8881AD16}"/>
                </a:ext>
              </a:extLst>
            </p:cNvPr>
            <p:cNvSpPr>
              <a:spLocks/>
            </p:cNvSpPr>
            <p:nvPr/>
          </p:nvSpPr>
          <p:spPr bwMode="auto">
            <a:xfrm>
              <a:off x="4892675" y="3657600"/>
              <a:ext cx="2286000" cy="1397000"/>
            </a:xfrm>
            <a:custGeom>
              <a:avLst/>
              <a:gdLst>
                <a:gd name="T0" fmla="*/ 0 w 1440"/>
                <a:gd name="T1" fmla="*/ 1397000 h 880"/>
                <a:gd name="T2" fmla="*/ 1143000 w 1440"/>
                <a:gd name="T3" fmla="*/ 25400 h 880"/>
                <a:gd name="T4" fmla="*/ 2286000 w 1440"/>
                <a:gd name="T5" fmla="*/ 1244600 h 880"/>
                <a:gd name="T6" fmla="*/ 0 60000 65536"/>
                <a:gd name="T7" fmla="*/ 0 60000 65536"/>
                <a:gd name="T8" fmla="*/ 0 60000 65536"/>
                <a:gd name="T9" fmla="*/ 0 w 1440"/>
                <a:gd name="T10" fmla="*/ 0 h 880"/>
                <a:gd name="T11" fmla="*/ 1440 w 1440"/>
                <a:gd name="T12" fmla="*/ 880 h 880"/>
              </a:gdLst>
              <a:ahLst/>
              <a:cxnLst>
                <a:cxn ang="T6">
                  <a:pos x="T0" y="T1"/>
                </a:cxn>
                <a:cxn ang="T7">
                  <a:pos x="T2" y="T3"/>
                </a:cxn>
                <a:cxn ang="T8">
                  <a:pos x="T4" y="T5"/>
                </a:cxn>
              </a:cxnLst>
              <a:rect l="T9" t="T10" r="T11" b="T12"/>
              <a:pathLst>
                <a:path w="1440" h="880">
                  <a:moveTo>
                    <a:pt x="0" y="880"/>
                  </a:moveTo>
                  <a:cubicBezTo>
                    <a:pt x="240" y="456"/>
                    <a:pt x="480" y="32"/>
                    <a:pt x="720" y="16"/>
                  </a:cubicBezTo>
                  <a:cubicBezTo>
                    <a:pt x="960" y="0"/>
                    <a:pt x="1200" y="392"/>
                    <a:pt x="1440" y="78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Line 7">
              <a:extLst>
                <a:ext uri="{FF2B5EF4-FFF2-40B4-BE49-F238E27FC236}">
                  <a16:creationId xmlns:a16="http://schemas.microsoft.com/office/drawing/2014/main" id="{4C8A34BF-1494-8C50-9553-619F2D6B3BFD}"/>
                </a:ext>
              </a:extLst>
            </p:cNvPr>
            <p:cNvSpPr>
              <a:spLocks noChangeShapeType="1"/>
            </p:cNvSpPr>
            <p:nvPr/>
          </p:nvSpPr>
          <p:spPr bwMode="auto">
            <a:xfrm flipV="1">
              <a:off x="4892675" y="4064000"/>
              <a:ext cx="5334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8">
              <a:extLst>
                <a:ext uri="{FF2B5EF4-FFF2-40B4-BE49-F238E27FC236}">
                  <a16:creationId xmlns:a16="http://schemas.microsoft.com/office/drawing/2014/main" id="{921C0668-05E0-0732-F679-0696D165704C}"/>
                </a:ext>
              </a:extLst>
            </p:cNvPr>
            <p:cNvSpPr>
              <a:spLocks noChangeShapeType="1"/>
            </p:cNvSpPr>
            <p:nvPr/>
          </p:nvSpPr>
          <p:spPr bwMode="auto">
            <a:xfrm>
              <a:off x="7178675" y="4902200"/>
              <a:ext cx="6096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9">
              <a:extLst>
                <a:ext uri="{FF2B5EF4-FFF2-40B4-BE49-F238E27FC236}">
                  <a16:creationId xmlns:a16="http://schemas.microsoft.com/office/drawing/2014/main" id="{B6F69328-C298-5D7C-795F-ED18FC5B5925}"/>
                </a:ext>
              </a:extLst>
            </p:cNvPr>
            <p:cNvSpPr txBox="1">
              <a:spLocks noChangeArrowheads="1"/>
            </p:cNvSpPr>
            <p:nvPr/>
          </p:nvSpPr>
          <p:spPr bwMode="auto">
            <a:xfrm>
              <a:off x="4572000" y="4943475"/>
              <a:ext cx="430213" cy="457200"/>
            </a:xfrm>
            <a:prstGeom prst="rect">
              <a:avLst/>
            </a:prstGeom>
            <a:noFill/>
            <a:ln w="9525">
              <a:no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kumimoji="1" lang="en-US" altLang="zh-CN" sz="2400" dirty="0">
                  <a:latin typeface="Times New Roman" panose="02020603050405020304" pitchFamily="18" charset="0"/>
                </a:rPr>
                <a:t>P</a:t>
              </a:r>
              <a:r>
                <a:rPr kumimoji="1" lang="en-US" altLang="zh-CN" sz="1200" dirty="0">
                  <a:latin typeface="Times New Roman" panose="02020603050405020304" pitchFamily="18" charset="0"/>
                </a:rPr>
                <a:t>0</a:t>
              </a:r>
            </a:p>
          </p:txBody>
        </p:sp>
        <p:sp>
          <p:nvSpPr>
            <p:cNvPr id="14" name="Text Box 10">
              <a:extLst>
                <a:ext uri="{FF2B5EF4-FFF2-40B4-BE49-F238E27FC236}">
                  <a16:creationId xmlns:a16="http://schemas.microsoft.com/office/drawing/2014/main" id="{B9BE1F8D-F537-206D-39C6-738AB015B2B9}"/>
                </a:ext>
              </a:extLst>
            </p:cNvPr>
            <p:cNvSpPr txBox="1">
              <a:spLocks noChangeArrowheads="1"/>
            </p:cNvSpPr>
            <p:nvPr/>
          </p:nvSpPr>
          <p:spPr bwMode="auto">
            <a:xfrm>
              <a:off x="7010400" y="4333875"/>
              <a:ext cx="940904" cy="461665"/>
            </a:xfrm>
            <a:prstGeom prst="rect">
              <a:avLst/>
            </a:prstGeom>
            <a:noFill/>
            <a:ln w="9525">
              <a:noFill/>
              <a:miter lim="800000"/>
              <a:headEnd/>
              <a:tailEnd/>
            </a:ln>
          </p:spPr>
          <p:txBody>
            <a:bodyPr wrap="square">
              <a:spAutoFit/>
            </a:bodyPr>
            <a:lstStyle>
              <a:defPPr>
                <a:defRPr lang="zh-CN"/>
              </a:defPPr>
              <a:lvl1pPr>
                <a:spcBef>
                  <a:spcPct val="0"/>
                </a:spcBef>
                <a:defRPr kumimoji="1" sz="2400">
                  <a:latin typeface="Times New Roman" panose="02020603050405020304" pitchFamily="18" charset="0"/>
                  <a:ea typeface="宋体" panose="02010600030101010101" pitchFamily="2"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latin typeface="Arial" panose="020B0604020202020204" pitchFamily="34" charset="0"/>
                  <a:ea typeface="宋体" panose="02010600030101010101" pitchFamily="2" charset="-122"/>
                </a:defRPr>
              </a:lvl9pPr>
            </a:lstStyle>
            <a:p>
              <a:r>
                <a:rPr lang="en-US" altLang="zh-CN" dirty="0"/>
                <a:t>P1</a:t>
              </a:r>
            </a:p>
          </p:txBody>
        </p:sp>
        <p:sp>
          <p:nvSpPr>
            <p:cNvPr id="15" name="Text Box 11">
              <a:extLst>
                <a:ext uri="{FF2B5EF4-FFF2-40B4-BE49-F238E27FC236}">
                  <a16:creationId xmlns:a16="http://schemas.microsoft.com/office/drawing/2014/main" id="{02C5B0A5-25B0-F263-992A-C66E535173D6}"/>
                </a:ext>
              </a:extLst>
            </p:cNvPr>
            <p:cNvSpPr txBox="1">
              <a:spLocks noChangeArrowheads="1"/>
            </p:cNvSpPr>
            <p:nvPr/>
          </p:nvSpPr>
          <p:spPr bwMode="auto">
            <a:xfrm>
              <a:off x="5098664" y="3502784"/>
              <a:ext cx="543739" cy="461665"/>
            </a:xfrm>
            <a:prstGeom prst="rect">
              <a:avLst/>
            </a:prstGeom>
            <a:noFill/>
            <a:ln w="9525">
              <a:noFill/>
              <a:miter lim="800000"/>
              <a:headEnd/>
              <a:tailEnd/>
            </a:ln>
          </p:spPr>
          <p:txBody>
            <a:bodyPr wrap="square">
              <a:spAutoFit/>
            </a:bodyPr>
            <a:lstStyle>
              <a:defPPr>
                <a:defRPr lang="zh-CN"/>
              </a:defPPr>
              <a:lvl1pPr>
                <a:spcBef>
                  <a:spcPct val="0"/>
                </a:spcBef>
                <a:defRPr kumimoji="1" sz="2400">
                  <a:latin typeface="Times New Roman" panose="02020603050405020304" pitchFamily="18" charset="0"/>
                  <a:ea typeface="宋体" panose="02010600030101010101" pitchFamily="2"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latin typeface="Arial" panose="020B0604020202020204" pitchFamily="34" charset="0"/>
                  <a:ea typeface="宋体" panose="02010600030101010101" pitchFamily="2" charset="-122"/>
                </a:defRPr>
              </a:lvl9pPr>
            </a:lstStyle>
            <a:p>
              <a:r>
                <a:rPr lang="en-US" altLang="zh-CN" dirty="0"/>
                <a:t>R0</a:t>
              </a:r>
            </a:p>
          </p:txBody>
        </p:sp>
        <p:sp>
          <p:nvSpPr>
            <p:cNvPr id="16" name="Text Box 12">
              <a:extLst>
                <a:ext uri="{FF2B5EF4-FFF2-40B4-BE49-F238E27FC236}">
                  <a16:creationId xmlns:a16="http://schemas.microsoft.com/office/drawing/2014/main" id="{AEA541BB-0EEF-C2B5-3223-C261F3F791DA}"/>
                </a:ext>
              </a:extLst>
            </p:cNvPr>
            <p:cNvSpPr txBox="1">
              <a:spLocks noChangeArrowheads="1"/>
            </p:cNvSpPr>
            <p:nvPr/>
          </p:nvSpPr>
          <p:spPr bwMode="auto">
            <a:xfrm>
              <a:off x="7788275" y="5219341"/>
              <a:ext cx="543739" cy="461665"/>
            </a:xfrm>
            <a:prstGeom prst="rect">
              <a:avLst/>
            </a:prstGeom>
            <a:solidFill>
              <a:schemeClr val="bg1"/>
            </a:solidFill>
            <a:ln w="9525">
              <a:noFill/>
              <a:miter lim="800000"/>
              <a:headEnd/>
              <a:tailEnd/>
            </a:ln>
          </p:spPr>
          <p:txBody>
            <a:bodyPr wrap="none">
              <a:spAutoFit/>
            </a:bodyPr>
            <a:lstStyle>
              <a:defPPr>
                <a:defRPr lang="zh-CN"/>
              </a:defPPr>
              <a:lvl1pPr>
                <a:spcBef>
                  <a:spcPct val="0"/>
                </a:spcBef>
                <a:defRPr kumimoji="1" sz="2400">
                  <a:latin typeface="Times New Roman" panose="02020603050405020304" pitchFamily="18" charset="0"/>
                  <a:ea typeface="宋体" panose="02010600030101010101" pitchFamily="2"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latin typeface="Arial" panose="020B0604020202020204" pitchFamily="34" charset="0"/>
                  <a:ea typeface="宋体" panose="02010600030101010101" pitchFamily="2" charset="-122"/>
                </a:defRPr>
              </a:lvl9pPr>
            </a:lstStyle>
            <a:p>
              <a:r>
                <a:rPr lang="en-US" altLang="zh-CN" dirty="0"/>
                <a:t>R1</a:t>
              </a:r>
            </a:p>
          </p:txBody>
        </p:sp>
        <p:sp>
          <p:nvSpPr>
            <p:cNvPr id="17" name="Oval 13">
              <a:extLst>
                <a:ext uri="{FF2B5EF4-FFF2-40B4-BE49-F238E27FC236}">
                  <a16:creationId xmlns:a16="http://schemas.microsoft.com/office/drawing/2014/main" id="{49C0D7AE-280A-1A29-C63E-7114666F0352}"/>
                </a:ext>
              </a:extLst>
            </p:cNvPr>
            <p:cNvSpPr>
              <a:spLocks noChangeArrowheads="1"/>
            </p:cNvSpPr>
            <p:nvPr/>
          </p:nvSpPr>
          <p:spPr bwMode="auto">
            <a:xfrm>
              <a:off x="4876800" y="5029200"/>
              <a:ext cx="76200" cy="76200"/>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Oval 14">
              <a:extLst>
                <a:ext uri="{FF2B5EF4-FFF2-40B4-BE49-F238E27FC236}">
                  <a16:creationId xmlns:a16="http://schemas.microsoft.com/office/drawing/2014/main" id="{D7398A1F-24C4-556D-9BAA-F216A92D7F4D}"/>
                </a:ext>
              </a:extLst>
            </p:cNvPr>
            <p:cNvSpPr>
              <a:spLocks noChangeArrowheads="1"/>
            </p:cNvSpPr>
            <p:nvPr/>
          </p:nvSpPr>
          <p:spPr bwMode="auto">
            <a:xfrm>
              <a:off x="7086600" y="4800600"/>
              <a:ext cx="76200" cy="76200"/>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10767738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27697" y="351513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副标题 2">
            <a:extLst>
              <a:ext uri="{FF2B5EF4-FFF2-40B4-BE49-F238E27FC236}">
                <a16:creationId xmlns:a16="http://schemas.microsoft.com/office/drawing/2014/main" id="{59D8146F-6B9F-0EFA-EF61-17A95959DBD3}"/>
              </a:ext>
            </a:extLst>
          </p:cNvPr>
          <p:cNvSpPr>
            <a:spLocks noGrp="1"/>
          </p:cNvSpPr>
          <p:nvPr>
            <p:ph type="subTitle" idx="1"/>
          </p:nvPr>
        </p:nvSpPr>
        <p:spPr>
          <a:xfrm>
            <a:off x="367078" y="656264"/>
            <a:ext cx="11457844" cy="880466"/>
          </a:xfrm>
        </p:spPr>
        <p:txBody>
          <a:bodyPr>
            <a:no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根据上面的初始条件以及三次参数样条的表示形式可得：</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AD2F0E8-7E40-A0C2-1BE2-3A244EC6D021}"/>
                  </a:ext>
                </a:extLst>
              </p:cNvPr>
              <p:cNvSpPr txBox="1"/>
              <p:nvPr/>
            </p:nvSpPr>
            <p:spPr>
              <a:xfrm>
                <a:off x="1275521" y="3747052"/>
                <a:ext cx="7384773" cy="1679755"/>
              </a:xfrm>
              <a:prstGeom prst="rect">
                <a:avLst/>
              </a:prstGeom>
              <a:noFill/>
            </p:spPr>
            <p:txBody>
              <a:bodyPr wrap="square">
                <a:spAutoFit/>
              </a:bodyPr>
              <a:lstStyle/>
              <a:p>
                <a14:m>
                  <m:oMath xmlns:m="http://schemas.openxmlformats.org/officeDocument/2006/math">
                    <m:sSup>
                      <m:sSupPr>
                        <m:ctrlPr>
                          <a:rPr lang="en-US" altLang="zh-CN" sz="2800" i="1" smtClean="0">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𝑃</m:t>
                        </m:r>
                      </m:e>
                      <m:sup>
                        <m:r>
                          <a:rPr lang="en-US" altLang="zh-CN" sz="2800" b="0" i="1" smtClean="0">
                            <a:latin typeface="Cambria Math" panose="02040503050406030204" pitchFamily="18" charset="0"/>
                            <a:ea typeface="华光仿宋_CNKI" panose="02000500000000000000" pitchFamily="2" charset="-122"/>
                          </a:rPr>
                          <m:t>′</m:t>
                        </m:r>
                      </m:sup>
                    </m:sSup>
                    <m:d>
                      <m:dPr>
                        <m:ctrlPr>
                          <a:rPr lang="en-US" altLang="zh-CN" sz="2800" i="1">
                            <a:latin typeface="Cambria Math" panose="02040503050406030204" pitchFamily="18" charset="0"/>
                            <a:ea typeface="华光仿宋_CNKI" panose="02000500000000000000" pitchFamily="2" charset="-122"/>
                          </a:rPr>
                        </m:ctrlPr>
                      </m:dPr>
                      <m:e>
                        <m:r>
                          <a:rPr lang="en-US" altLang="zh-CN" sz="2800" i="1">
                            <a:latin typeface="Cambria Math" panose="02040503050406030204" pitchFamily="18" charset="0"/>
                            <a:ea typeface="华光仿宋_CNKI" panose="02000500000000000000" pitchFamily="2" charset="-122"/>
                          </a:rPr>
                          <m:t>𝑡</m:t>
                        </m:r>
                      </m:e>
                    </m:d>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1</m:t>
                        </m:r>
                      </m:sub>
                    </m:sSub>
                    <m:r>
                      <m:rPr>
                        <m:nor/>
                      </m:rPr>
                      <a:rPr lang="en-US" altLang="zh-CN" sz="2800" b="0" i="0" smtClean="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2</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ea typeface="华光仿宋_CNKI" panose="02000500000000000000" pitchFamily="2" charset="-122"/>
                      </a:rPr>
                      <m:t> </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3</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latin typeface="华光仿宋_CNKI" panose="02000500000000000000" pitchFamily="2" charset="-122"/>
                        <a:ea typeface="华光仿宋_CNKI" panose="02000500000000000000" pitchFamily="2" charset="-122"/>
                      </a:rPr>
                      <m:t>M</m:t>
                    </m:r>
                    <m:r>
                      <m:rPr>
                        <m:nor/>
                      </m:rPr>
                      <a:rPr lang="en-US" altLang="zh-CN" sz="2800" dirty="0">
                        <a:latin typeface="华光仿宋_CNKI" panose="02000500000000000000" pitchFamily="2" charset="-122"/>
                        <a:ea typeface="华光仿宋_CNKI" panose="02000500000000000000" pitchFamily="2" charset="-122"/>
                      </a:rPr>
                      <m:t>.</m:t>
                    </m:r>
                    <m:d>
                      <m:dPr>
                        <m:begChr m:val="["/>
                        <m:endChr m:val="]"/>
                        <m:ctrlPr>
                          <a:rPr lang="en-US" altLang="zh-CN" sz="280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i="1">
                                  <a:latin typeface="Cambria Math" panose="02040503050406030204" pitchFamily="18" charset="0"/>
                                  <a:ea typeface="华光仿宋_CNKI" panose="02000500000000000000" pitchFamily="2" charset="-122"/>
                                </a:rPr>
                                <m:t>1</m:t>
                              </m:r>
                            </m:e>
                          </m:mr>
                          <m:mr>
                            <m:e>
                              <m:r>
                                <a:rPr lang="en-US" altLang="zh-CN" sz="2800" i="1">
                                  <a:latin typeface="Cambria Math" panose="02040503050406030204" pitchFamily="18" charset="0"/>
                                  <a:ea typeface="华光仿宋_CNKI" panose="02000500000000000000" pitchFamily="2" charset="-122"/>
                                </a:rPr>
                                <m:t>𝑡</m:t>
                              </m:r>
                            </m:e>
                          </m:mr>
                          <m:m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2</m:t>
                                    </m:r>
                                    <m:r>
                                      <a:rPr lang="en-US" altLang="zh-CN" sz="2800" b="0" i="1" smtClean="0">
                                        <a:latin typeface="Cambria Math" panose="02040503050406030204" pitchFamily="18" charset="0"/>
                                        <a:ea typeface="华光仿宋_CNKI" panose="02000500000000000000" pitchFamily="2" charset="-122"/>
                                      </a:rPr>
                                      <m:t>𝑡</m:t>
                                    </m:r>
                                  </m:e>
                                </m:mr>
                                <m:mr>
                                  <m:e>
                                    <m:sSup>
                                      <m:sSupPr>
                                        <m:ctrlPr>
                                          <a:rPr lang="en-US" altLang="zh-CN" sz="2800" i="1">
                                            <a:latin typeface="Cambria Math" panose="02040503050406030204" pitchFamily="18" charset="0"/>
                                            <a:ea typeface="华光仿宋_CNKI" panose="02000500000000000000" pitchFamily="2" charset="-122"/>
                                          </a:rPr>
                                        </m:ctrlPr>
                                      </m:sSupPr>
                                      <m:e>
                                        <m:r>
                                          <a:rPr lang="en-US" altLang="zh-CN" sz="2800" b="0" i="1" smtClean="0">
                                            <a:latin typeface="Cambria Math" panose="02040503050406030204" pitchFamily="18" charset="0"/>
                                            <a:ea typeface="华光仿宋_CNKI" panose="02000500000000000000" pitchFamily="2" charset="-122"/>
                                          </a:rPr>
                                          <m:t>3</m:t>
                                        </m:r>
                                        <m:r>
                                          <a:rPr lang="en-US" altLang="zh-CN" sz="2800" i="1">
                                            <a:latin typeface="Cambria Math" panose="02040503050406030204" pitchFamily="18" charset="0"/>
                                            <a:ea typeface="华光仿宋_CNKI" panose="02000500000000000000" pitchFamily="2" charset="-122"/>
                                          </a:rPr>
                                          <m:t>𝑡</m:t>
                                        </m:r>
                                      </m:e>
                                      <m:sup>
                                        <m:r>
                                          <a:rPr lang="en-US" altLang="zh-CN" sz="2800" b="0" i="1" smtClean="0">
                                            <a:latin typeface="Cambria Math" panose="02040503050406030204" pitchFamily="18" charset="0"/>
                                            <a:ea typeface="华光仿宋_CNKI" panose="02000500000000000000" pitchFamily="2" charset="-122"/>
                                          </a:rPr>
                                          <m:t>2</m:t>
                                        </m:r>
                                      </m:sup>
                                    </m:sSup>
                                  </m:e>
                                </m:mr>
                              </m:m>
                            </m:e>
                          </m:mr>
                        </m:m>
                      </m:e>
                    </m:d>
                  </m:oMath>
                </a14:m>
                <a:r>
                  <a:rPr lang="zh-CN" altLang="en-US" sz="2800" dirty="0"/>
                  <a:t>  </a:t>
                </a:r>
                <a:r>
                  <a:rPr lang="en-US" altLang="zh-CN" sz="2800" dirty="0">
                    <a:latin typeface="华光仿宋_CNKI" panose="02000500000000000000" pitchFamily="2" charset="-122"/>
                    <a:ea typeface="华光仿宋_CNKI" panose="02000500000000000000" pitchFamily="2" charset="-122"/>
                  </a:rPr>
                  <a:t>t</a:t>
                </a:r>
                <a14:m>
                  <m:oMath xmlns:m="http://schemas.openxmlformats.org/officeDocument/2006/math">
                    <m:r>
                      <a:rPr lang="en-US" altLang="zh-CN" sz="2800" i="1" dirty="0">
                        <a:latin typeface="Cambria Math" panose="02040503050406030204" pitchFamily="18" charset="0"/>
                        <a:ea typeface="Cambria Math" panose="02040503050406030204" pitchFamily="18" charset="0"/>
                      </a:rPr>
                      <m:t>∈[0,1]</m:t>
                    </m:r>
                  </m:oMath>
                </a14:m>
                <a:endParaRPr lang="zh-CN" altLang="en-US" sz="2800" dirty="0"/>
              </a:p>
            </p:txBody>
          </p:sp>
        </mc:Choice>
        <mc:Fallback xmlns="">
          <p:sp>
            <p:nvSpPr>
              <p:cNvPr id="8" name="文本框 7">
                <a:extLst>
                  <a:ext uri="{FF2B5EF4-FFF2-40B4-BE49-F238E27FC236}">
                    <a16:creationId xmlns:a16="http://schemas.microsoft.com/office/drawing/2014/main" id="{DAD2F0E8-7E40-A0C2-1BE2-3A244EC6D021}"/>
                  </a:ext>
                </a:extLst>
              </p:cNvPr>
              <p:cNvSpPr txBox="1">
                <a:spLocks noRot="1" noChangeAspect="1" noMove="1" noResize="1" noEditPoints="1" noAdjustHandles="1" noChangeArrowheads="1" noChangeShapeType="1" noTextEdit="1"/>
              </p:cNvSpPr>
              <p:nvPr/>
            </p:nvSpPr>
            <p:spPr>
              <a:xfrm>
                <a:off x="1275521" y="3747052"/>
                <a:ext cx="7384773" cy="167975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093464A-1FB6-A90E-59C5-1DFE124C97D5}"/>
                  </a:ext>
                </a:extLst>
              </p:cNvPr>
              <p:cNvSpPr txBox="1"/>
              <p:nvPr/>
            </p:nvSpPr>
            <p:spPr>
              <a:xfrm>
                <a:off x="1275521" y="1833338"/>
                <a:ext cx="7384773" cy="1679755"/>
              </a:xfrm>
              <a:prstGeom prst="rect">
                <a:avLst/>
              </a:prstGeom>
              <a:noFill/>
            </p:spPr>
            <p:txBody>
              <a:bodyPr wrap="square">
                <a:spAutoFit/>
              </a:bodyPr>
              <a:lstStyle/>
              <a:p>
                <a14:m>
                  <m:oMath xmlns:m="http://schemas.openxmlformats.org/officeDocument/2006/math">
                    <m:r>
                      <a:rPr lang="en-US" altLang="zh-CN" sz="2800" i="1" smtClean="0">
                        <a:latin typeface="Cambria Math" panose="02040503050406030204" pitchFamily="18" charset="0"/>
                        <a:ea typeface="华光仿宋_CNKI" panose="02000500000000000000" pitchFamily="2" charset="-122"/>
                      </a:rPr>
                      <m:t>𝑃</m:t>
                    </m:r>
                    <m:d>
                      <m:dPr>
                        <m:ctrlPr>
                          <a:rPr lang="en-US" altLang="zh-CN" sz="2800" i="1">
                            <a:latin typeface="Cambria Math" panose="02040503050406030204" pitchFamily="18" charset="0"/>
                            <a:ea typeface="华光仿宋_CNKI" panose="02000500000000000000" pitchFamily="2" charset="-122"/>
                          </a:rPr>
                        </m:ctrlPr>
                      </m:dPr>
                      <m:e>
                        <m:r>
                          <a:rPr lang="en-US" altLang="zh-CN" sz="2800" i="1">
                            <a:latin typeface="Cambria Math" panose="02040503050406030204" pitchFamily="18" charset="0"/>
                            <a:ea typeface="华光仿宋_CNKI" panose="02000500000000000000" pitchFamily="2" charset="-122"/>
                          </a:rPr>
                          <m:t>𝑡</m:t>
                        </m:r>
                      </m:e>
                    </m:d>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2</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ea typeface="华光仿宋_CNKI" panose="02000500000000000000" pitchFamily="2" charset="-122"/>
                      </a:rPr>
                      <m:t> </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3</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latin typeface="华光仿宋_CNKI" panose="02000500000000000000" pitchFamily="2" charset="-122"/>
                        <a:ea typeface="华光仿宋_CNKI" panose="02000500000000000000" pitchFamily="2" charset="-122"/>
                      </a:rPr>
                      <m:t>M</m:t>
                    </m:r>
                    <m:r>
                      <m:rPr>
                        <m:nor/>
                      </m:rPr>
                      <a:rPr lang="en-US" altLang="zh-CN" sz="2800" dirty="0">
                        <a:latin typeface="华光仿宋_CNKI" panose="02000500000000000000" pitchFamily="2" charset="-122"/>
                        <a:ea typeface="华光仿宋_CNKI" panose="02000500000000000000" pitchFamily="2" charset="-122"/>
                      </a:rPr>
                      <m:t>.</m:t>
                    </m:r>
                    <m:d>
                      <m:dPr>
                        <m:begChr m:val="["/>
                        <m:endChr m:val="]"/>
                        <m:ctrlPr>
                          <a:rPr lang="en-US" altLang="zh-CN" sz="280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i="1">
                                  <a:latin typeface="Cambria Math" panose="02040503050406030204" pitchFamily="18" charset="0"/>
                                  <a:ea typeface="华光仿宋_CNKI" panose="02000500000000000000" pitchFamily="2" charset="-122"/>
                                </a:rPr>
                                <m:t>1</m:t>
                              </m:r>
                            </m:e>
                          </m:mr>
                          <m:mr>
                            <m:e>
                              <m:r>
                                <a:rPr lang="en-US" altLang="zh-CN" sz="2800" i="1">
                                  <a:latin typeface="Cambria Math" panose="02040503050406030204" pitchFamily="18" charset="0"/>
                                  <a:ea typeface="华光仿宋_CNKI" panose="02000500000000000000" pitchFamily="2" charset="-122"/>
                                </a:rPr>
                                <m:t>𝑡</m:t>
                              </m:r>
                            </m:e>
                          </m:mr>
                          <m:m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sSup>
                                      <m:sSupPr>
                                        <m:ctrlPr>
                                          <a:rPr lang="en-US" altLang="zh-CN" sz="2800" i="1">
                                            <a:latin typeface="Cambria Math" panose="02040503050406030204" pitchFamily="18" charset="0"/>
                                            <a:ea typeface="华光仿宋_CNKI" panose="02000500000000000000" pitchFamily="2" charset="-122"/>
                                          </a:rPr>
                                        </m:ctrlPr>
                                      </m:sSupPr>
                                      <m:e>
                                        <m:r>
                                          <a:rPr lang="en-US" altLang="zh-CN" sz="2800" i="1">
                                            <a:latin typeface="Cambria Math" panose="02040503050406030204" pitchFamily="18" charset="0"/>
                                            <a:ea typeface="华光仿宋_CNKI" panose="02000500000000000000" pitchFamily="2" charset="-122"/>
                                          </a:rPr>
                                          <m:t>𝑡</m:t>
                                        </m:r>
                                      </m:e>
                                      <m:sup>
                                        <m:r>
                                          <a:rPr lang="en-US" altLang="zh-CN" sz="2800" i="1">
                                            <a:latin typeface="Cambria Math" panose="02040503050406030204" pitchFamily="18" charset="0"/>
                                            <a:ea typeface="华光仿宋_CNKI" panose="02000500000000000000" pitchFamily="2" charset="-122"/>
                                          </a:rPr>
                                          <m:t>2</m:t>
                                        </m:r>
                                      </m:sup>
                                    </m:sSup>
                                  </m:e>
                                </m:mr>
                                <m:mr>
                                  <m:e>
                                    <m:sSup>
                                      <m:sSupPr>
                                        <m:ctrlPr>
                                          <a:rPr lang="en-US" altLang="zh-CN" sz="2800" i="1">
                                            <a:latin typeface="Cambria Math" panose="02040503050406030204" pitchFamily="18" charset="0"/>
                                            <a:ea typeface="华光仿宋_CNKI" panose="02000500000000000000" pitchFamily="2" charset="-122"/>
                                          </a:rPr>
                                        </m:ctrlPr>
                                      </m:sSupPr>
                                      <m:e>
                                        <m:r>
                                          <a:rPr lang="en-US" altLang="zh-CN" sz="2800" i="1">
                                            <a:latin typeface="Cambria Math" panose="02040503050406030204" pitchFamily="18" charset="0"/>
                                            <a:ea typeface="华光仿宋_CNKI" panose="02000500000000000000" pitchFamily="2" charset="-122"/>
                                          </a:rPr>
                                          <m:t>𝑡</m:t>
                                        </m:r>
                                      </m:e>
                                      <m:sup>
                                        <m:r>
                                          <a:rPr lang="en-US" altLang="zh-CN" sz="2800" i="1">
                                            <a:latin typeface="Cambria Math" panose="02040503050406030204" pitchFamily="18" charset="0"/>
                                            <a:ea typeface="华光仿宋_CNKI" panose="02000500000000000000" pitchFamily="2" charset="-122"/>
                                          </a:rPr>
                                          <m:t>3</m:t>
                                        </m:r>
                                      </m:sup>
                                    </m:sSup>
                                  </m:e>
                                </m:mr>
                              </m:m>
                            </m:e>
                          </m:mr>
                        </m:m>
                      </m:e>
                    </m:d>
                  </m:oMath>
                </a14:m>
                <a:r>
                  <a:rPr lang="zh-CN" altLang="en-US" sz="2800" dirty="0"/>
                  <a:t>  </a:t>
                </a:r>
                <a:r>
                  <a:rPr lang="en-US" altLang="zh-CN" sz="2800" dirty="0">
                    <a:latin typeface="华光仿宋_CNKI" panose="02000500000000000000" pitchFamily="2" charset="-122"/>
                    <a:ea typeface="华光仿宋_CNKI" panose="02000500000000000000" pitchFamily="2" charset="-122"/>
                  </a:rPr>
                  <a:t>t</a:t>
                </a:r>
                <a14:m>
                  <m:oMath xmlns:m="http://schemas.openxmlformats.org/officeDocument/2006/math">
                    <m:r>
                      <a:rPr lang="en-US" altLang="zh-CN" sz="2800" i="1" dirty="0">
                        <a:latin typeface="Cambria Math" panose="02040503050406030204" pitchFamily="18" charset="0"/>
                        <a:ea typeface="Cambria Math" panose="02040503050406030204" pitchFamily="18" charset="0"/>
                      </a:rPr>
                      <m:t>∈[0,1]</m:t>
                    </m:r>
                  </m:oMath>
                </a14:m>
                <a:endParaRPr lang="zh-CN" altLang="en-US" sz="2800" dirty="0"/>
              </a:p>
            </p:txBody>
          </p:sp>
        </mc:Choice>
        <mc:Fallback xmlns="">
          <p:sp>
            <p:nvSpPr>
              <p:cNvPr id="9" name="文本框 8">
                <a:extLst>
                  <a:ext uri="{FF2B5EF4-FFF2-40B4-BE49-F238E27FC236}">
                    <a16:creationId xmlns:a16="http://schemas.microsoft.com/office/drawing/2014/main" id="{A093464A-1FB6-A90E-59C5-1DFE124C97D5}"/>
                  </a:ext>
                </a:extLst>
              </p:cNvPr>
              <p:cNvSpPr txBox="1">
                <a:spLocks noRot="1" noChangeAspect="1" noMove="1" noResize="1" noEditPoints="1" noAdjustHandles="1" noChangeArrowheads="1" noChangeShapeType="1" noTextEdit="1"/>
              </p:cNvSpPr>
              <p:nvPr/>
            </p:nvSpPr>
            <p:spPr>
              <a:xfrm>
                <a:off x="1275521" y="1833338"/>
                <a:ext cx="7384773" cy="167975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34132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27697" y="351513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副标题 2">
            <a:extLst>
              <a:ext uri="{FF2B5EF4-FFF2-40B4-BE49-F238E27FC236}">
                <a16:creationId xmlns:a16="http://schemas.microsoft.com/office/drawing/2014/main" id="{59D8146F-6B9F-0EFA-EF61-17A95959DBD3}"/>
              </a:ext>
            </a:extLst>
          </p:cNvPr>
          <p:cNvSpPr>
            <a:spLocks noGrp="1"/>
          </p:cNvSpPr>
          <p:nvPr>
            <p:ph type="subTitle" idx="1"/>
          </p:nvPr>
        </p:nvSpPr>
        <p:spPr>
          <a:xfrm>
            <a:off x="367078" y="550727"/>
            <a:ext cx="11457844" cy="880466"/>
          </a:xfrm>
        </p:spPr>
        <p:txBody>
          <a:bodyPr>
            <a:no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则有如下表达式：</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AD2F0E8-7E40-A0C2-1BE2-3A244EC6D021}"/>
                  </a:ext>
                </a:extLst>
              </p:cNvPr>
              <p:cNvSpPr txBox="1"/>
              <p:nvPr/>
            </p:nvSpPr>
            <p:spPr>
              <a:xfrm>
                <a:off x="949518" y="3574774"/>
                <a:ext cx="5522844" cy="1679755"/>
              </a:xfrm>
              <a:prstGeom prst="rect">
                <a:avLst/>
              </a:prstGeom>
              <a:noFill/>
            </p:spPr>
            <p:txBody>
              <a:bodyPr wrap="square">
                <a:spAutoFit/>
              </a:bodyPr>
              <a:lstStyle/>
              <a:p>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𝑅</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1</m:t>
                        </m:r>
                      </m:sub>
                    </m:sSub>
                    <m:r>
                      <m:rPr>
                        <m:nor/>
                      </m:rPr>
                      <a:rPr lang="en-US" altLang="zh-CN" sz="2800" dirty="0">
                        <a:latin typeface="华光仿宋_CNKI" panose="02000500000000000000" pitchFamily="2" charset="-122"/>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2</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ea typeface="华光仿宋_CNKI" panose="02000500000000000000" pitchFamily="2" charset="-122"/>
                      </a:rPr>
                      <m:t> </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3</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latin typeface="华光仿宋_CNKI" panose="02000500000000000000" pitchFamily="2" charset="-122"/>
                        <a:ea typeface="华光仿宋_CNKI" panose="02000500000000000000" pitchFamily="2" charset="-122"/>
                      </a:rPr>
                      <m:t>M</m:t>
                    </m:r>
                    <m:r>
                      <m:rPr>
                        <m:nor/>
                      </m:rPr>
                      <a:rPr lang="en-US" altLang="zh-CN" sz="2800" dirty="0">
                        <a:latin typeface="华光仿宋_CNKI" panose="02000500000000000000" pitchFamily="2" charset="-122"/>
                        <a:ea typeface="华光仿宋_CNKI" panose="02000500000000000000" pitchFamily="2" charset="-122"/>
                      </a:rPr>
                      <m:t>.</m:t>
                    </m:r>
                    <m:d>
                      <m:dPr>
                        <m:begChr m:val="["/>
                        <m:endChr m:val="]"/>
                        <m:ctrlPr>
                          <a:rPr lang="en-US" altLang="zh-CN" sz="280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0</m:t>
                              </m:r>
                            </m:e>
                          </m:mr>
                          <m:mr>
                            <m:e>
                              <m:r>
                                <a:rPr lang="en-US" altLang="zh-CN" sz="2800" b="0" i="1" smtClean="0">
                                  <a:latin typeface="Cambria Math" panose="02040503050406030204" pitchFamily="18" charset="0"/>
                                  <a:ea typeface="华光仿宋_CNKI" panose="02000500000000000000" pitchFamily="2" charset="-122"/>
                                </a:rPr>
                                <m:t>1</m:t>
                              </m:r>
                            </m:e>
                          </m:mr>
                          <m:m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0</m:t>
                                    </m:r>
                                  </m:e>
                                </m:mr>
                                <m:mr>
                                  <m:e>
                                    <m:r>
                                      <a:rPr lang="en-US" altLang="zh-CN" sz="2800" b="0" i="1" smtClean="0">
                                        <a:latin typeface="Cambria Math" panose="02040503050406030204" pitchFamily="18" charset="0"/>
                                        <a:ea typeface="华光仿宋_CNKI" panose="02000500000000000000" pitchFamily="2" charset="-122"/>
                                      </a:rPr>
                                      <m:t>0</m:t>
                                    </m:r>
                                  </m:e>
                                </m:mr>
                              </m:m>
                            </m:e>
                          </m:mr>
                        </m:m>
                      </m:e>
                    </m:d>
                  </m:oMath>
                </a14:m>
                <a:r>
                  <a:rPr lang="zh-CN" altLang="en-US" sz="2800" dirty="0"/>
                  <a:t>  </a:t>
                </a:r>
                <a:r>
                  <a:rPr lang="en-US" altLang="zh-CN" sz="2800" dirty="0">
                    <a:latin typeface="华光仿宋_CNKI" panose="02000500000000000000" pitchFamily="2" charset="-122"/>
                    <a:ea typeface="华光仿宋_CNKI" panose="02000500000000000000" pitchFamily="2" charset="-122"/>
                  </a:rPr>
                  <a:t>t=0</a:t>
                </a:r>
                <a:endParaRPr lang="zh-CN" altLang="en-US" sz="2800" dirty="0"/>
              </a:p>
            </p:txBody>
          </p:sp>
        </mc:Choice>
        <mc:Fallback xmlns="">
          <p:sp>
            <p:nvSpPr>
              <p:cNvPr id="8" name="文本框 7">
                <a:extLst>
                  <a:ext uri="{FF2B5EF4-FFF2-40B4-BE49-F238E27FC236}">
                    <a16:creationId xmlns:a16="http://schemas.microsoft.com/office/drawing/2014/main" id="{DAD2F0E8-7E40-A0C2-1BE2-3A244EC6D021}"/>
                  </a:ext>
                </a:extLst>
              </p:cNvPr>
              <p:cNvSpPr txBox="1">
                <a:spLocks noRot="1" noChangeAspect="1" noMove="1" noResize="1" noEditPoints="1" noAdjustHandles="1" noChangeArrowheads="1" noChangeShapeType="1" noTextEdit="1"/>
              </p:cNvSpPr>
              <p:nvPr/>
            </p:nvSpPr>
            <p:spPr>
              <a:xfrm>
                <a:off x="949518" y="3574774"/>
                <a:ext cx="5522844" cy="167975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093464A-1FB6-A90E-59C5-1DFE124C97D5}"/>
                  </a:ext>
                </a:extLst>
              </p:cNvPr>
              <p:cNvSpPr txBox="1"/>
              <p:nvPr/>
            </p:nvSpPr>
            <p:spPr>
              <a:xfrm>
                <a:off x="1060835" y="1663106"/>
                <a:ext cx="5602358" cy="1679755"/>
              </a:xfrm>
              <a:prstGeom prst="rect">
                <a:avLst/>
              </a:prstGeom>
              <a:noFill/>
            </p:spPr>
            <p:txBody>
              <a:bodyPr wrap="square">
                <a:spAutoFit/>
              </a:bodyPr>
              <a:lstStyle/>
              <a:p>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𝑃</m:t>
                        </m:r>
                      </m:e>
                      <m:sub>
                        <m:r>
                          <a:rPr lang="en-US" altLang="zh-CN" sz="2800" b="0" i="1" smtClean="0">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2</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ea typeface="华光仿宋_CNKI" panose="02000500000000000000" pitchFamily="2" charset="-122"/>
                      </a:rPr>
                      <m:t> </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3</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latin typeface="华光仿宋_CNKI" panose="02000500000000000000" pitchFamily="2" charset="-122"/>
                        <a:ea typeface="华光仿宋_CNKI" panose="02000500000000000000" pitchFamily="2" charset="-122"/>
                      </a:rPr>
                      <m:t>M</m:t>
                    </m:r>
                    <m:r>
                      <m:rPr>
                        <m:nor/>
                      </m:rPr>
                      <a:rPr lang="en-US" altLang="zh-CN" sz="2800" dirty="0">
                        <a:latin typeface="华光仿宋_CNKI" panose="02000500000000000000" pitchFamily="2" charset="-122"/>
                        <a:ea typeface="华光仿宋_CNKI" panose="02000500000000000000" pitchFamily="2" charset="-122"/>
                      </a:rPr>
                      <m:t>.</m:t>
                    </m:r>
                    <m:d>
                      <m:dPr>
                        <m:begChr m:val="["/>
                        <m:endChr m:val="]"/>
                        <m:ctrlPr>
                          <a:rPr lang="en-US" altLang="zh-CN" sz="280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i="1">
                                  <a:latin typeface="Cambria Math" panose="02040503050406030204" pitchFamily="18" charset="0"/>
                                  <a:ea typeface="华光仿宋_CNKI" panose="02000500000000000000" pitchFamily="2" charset="-122"/>
                                </a:rPr>
                                <m:t>1</m:t>
                              </m:r>
                            </m:e>
                          </m:mr>
                          <m:mr>
                            <m:e>
                              <m:r>
                                <a:rPr lang="en-US" altLang="zh-CN" sz="2800" b="0" i="1" smtClean="0">
                                  <a:latin typeface="Cambria Math" panose="02040503050406030204" pitchFamily="18" charset="0"/>
                                  <a:ea typeface="华光仿宋_CNKI" panose="02000500000000000000" pitchFamily="2" charset="-122"/>
                                </a:rPr>
                                <m:t>0</m:t>
                              </m:r>
                            </m:e>
                          </m:mr>
                          <m:m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0</m:t>
                                    </m:r>
                                  </m:e>
                                </m:mr>
                                <m:mr>
                                  <m:e>
                                    <m:r>
                                      <a:rPr lang="en-US" altLang="zh-CN" sz="2800" b="0" i="1" smtClean="0">
                                        <a:latin typeface="Cambria Math" panose="02040503050406030204" pitchFamily="18" charset="0"/>
                                        <a:ea typeface="华光仿宋_CNKI" panose="02000500000000000000" pitchFamily="2" charset="-122"/>
                                      </a:rPr>
                                      <m:t>0</m:t>
                                    </m:r>
                                  </m:e>
                                </m:mr>
                              </m:m>
                            </m:e>
                          </m:mr>
                        </m:m>
                      </m:e>
                    </m:d>
                  </m:oMath>
                </a14:m>
                <a:r>
                  <a:rPr lang="zh-CN" altLang="en-US" sz="2800" dirty="0"/>
                  <a:t>  </a:t>
                </a:r>
                <a:r>
                  <a:rPr lang="en-US" altLang="zh-CN" sz="2800" dirty="0">
                    <a:latin typeface="华光仿宋_CNKI" panose="02000500000000000000" pitchFamily="2" charset="-122"/>
                    <a:ea typeface="华光仿宋_CNKI" panose="02000500000000000000" pitchFamily="2" charset="-122"/>
                  </a:rPr>
                  <a:t>t=0</a:t>
                </a:r>
                <a:endParaRPr lang="zh-CN" altLang="en-US" sz="2800" dirty="0"/>
              </a:p>
            </p:txBody>
          </p:sp>
        </mc:Choice>
        <mc:Fallback xmlns="">
          <p:sp>
            <p:nvSpPr>
              <p:cNvPr id="9" name="文本框 8">
                <a:extLst>
                  <a:ext uri="{FF2B5EF4-FFF2-40B4-BE49-F238E27FC236}">
                    <a16:creationId xmlns:a16="http://schemas.microsoft.com/office/drawing/2014/main" id="{A093464A-1FB6-A90E-59C5-1DFE124C97D5}"/>
                  </a:ext>
                </a:extLst>
              </p:cNvPr>
              <p:cNvSpPr txBox="1">
                <a:spLocks noRot="1" noChangeAspect="1" noMove="1" noResize="1" noEditPoints="1" noAdjustHandles="1" noChangeArrowheads="1" noChangeShapeType="1" noTextEdit="1"/>
              </p:cNvSpPr>
              <p:nvPr/>
            </p:nvSpPr>
            <p:spPr>
              <a:xfrm>
                <a:off x="1060835" y="1663106"/>
                <a:ext cx="5602358" cy="167975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24A4706-C59C-0E3E-97C1-7E82C89BFCCA}"/>
                  </a:ext>
                </a:extLst>
              </p:cNvPr>
              <p:cNvSpPr txBox="1"/>
              <p:nvPr/>
            </p:nvSpPr>
            <p:spPr>
              <a:xfrm>
                <a:off x="6663193" y="1663106"/>
                <a:ext cx="5602358" cy="1679755"/>
              </a:xfrm>
              <a:prstGeom prst="rect">
                <a:avLst/>
              </a:prstGeom>
              <a:noFill/>
            </p:spPr>
            <p:txBody>
              <a:bodyPr wrap="square">
                <a:spAutoFit/>
              </a:bodyPr>
              <a:lstStyle/>
              <a:p>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𝑃</m:t>
                        </m:r>
                      </m:e>
                      <m:sub>
                        <m:r>
                          <a:rPr lang="en-US" altLang="zh-CN" sz="2800" b="0" i="1" smtClean="0">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2</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ea typeface="华光仿宋_CNKI" panose="02000500000000000000" pitchFamily="2" charset="-122"/>
                      </a:rPr>
                      <m:t> </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3</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latin typeface="华光仿宋_CNKI" panose="02000500000000000000" pitchFamily="2" charset="-122"/>
                        <a:ea typeface="华光仿宋_CNKI" panose="02000500000000000000" pitchFamily="2" charset="-122"/>
                      </a:rPr>
                      <m:t>M</m:t>
                    </m:r>
                    <m:r>
                      <m:rPr>
                        <m:nor/>
                      </m:rPr>
                      <a:rPr lang="en-US" altLang="zh-CN" sz="2800" dirty="0">
                        <a:latin typeface="华光仿宋_CNKI" panose="02000500000000000000" pitchFamily="2" charset="-122"/>
                        <a:ea typeface="华光仿宋_CNKI" panose="02000500000000000000" pitchFamily="2" charset="-122"/>
                      </a:rPr>
                      <m:t>.</m:t>
                    </m:r>
                    <m:d>
                      <m:dPr>
                        <m:begChr m:val="["/>
                        <m:endChr m:val="]"/>
                        <m:ctrlPr>
                          <a:rPr lang="en-US" altLang="zh-CN" sz="280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i="1">
                                  <a:latin typeface="Cambria Math" panose="02040503050406030204" pitchFamily="18" charset="0"/>
                                  <a:ea typeface="华光仿宋_CNKI" panose="02000500000000000000" pitchFamily="2" charset="-122"/>
                                </a:rPr>
                                <m:t>1</m:t>
                              </m:r>
                            </m:e>
                          </m:mr>
                          <m:mr>
                            <m:e>
                              <m:r>
                                <a:rPr lang="en-US" altLang="zh-CN" sz="2800" b="0" i="1" smtClean="0">
                                  <a:latin typeface="Cambria Math" panose="02040503050406030204" pitchFamily="18" charset="0"/>
                                  <a:ea typeface="华光仿宋_CNKI" panose="02000500000000000000" pitchFamily="2" charset="-122"/>
                                </a:rPr>
                                <m:t>1</m:t>
                              </m:r>
                            </m:e>
                          </m:mr>
                          <m:m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1</m:t>
                                    </m:r>
                                  </m:e>
                                </m:mr>
                                <m:mr>
                                  <m:e>
                                    <m:r>
                                      <a:rPr lang="en-US" altLang="zh-CN" sz="2800" b="0" i="1" smtClean="0">
                                        <a:latin typeface="Cambria Math" panose="02040503050406030204" pitchFamily="18" charset="0"/>
                                        <a:ea typeface="华光仿宋_CNKI" panose="02000500000000000000" pitchFamily="2" charset="-122"/>
                                      </a:rPr>
                                      <m:t>1</m:t>
                                    </m:r>
                                  </m:e>
                                </m:mr>
                              </m:m>
                            </m:e>
                          </m:mr>
                        </m:m>
                      </m:e>
                    </m:d>
                  </m:oMath>
                </a14:m>
                <a:r>
                  <a:rPr lang="zh-CN" altLang="en-US" sz="2800" dirty="0"/>
                  <a:t>  </a:t>
                </a:r>
                <a:r>
                  <a:rPr lang="en-US" altLang="zh-CN" sz="2800" dirty="0">
                    <a:latin typeface="华光仿宋_CNKI" panose="02000500000000000000" pitchFamily="2" charset="-122"/>
                    <a:ea typeface="华光仿宋_CNKI" panose="02000500000000000000" pitchFamily="2" charset="-122"/>
                  </a:rPr>
                  <a:t>t=1</a:t>
                </a:r>
                <a:endParaRPr lang="zh-CN" altLang="en-US" sz="2800" dirty="0"/>
              </a:p>
            </p:txBody>
          </p:sp>
        </mc:Choice>
        <mc:Fallback xmlns="">
          <p:sp>
            <p:nvSpPr>
              <p:cNvPr id="2" name="文本框 1">
                <a:extLst>
                  <a:ext uri="{FF2B5EF4-FFF2-40B4-BE49-F238E27FC236}">
                    <a16:creationId xmlns:a16="http://schemas.microsoft.com/office/drawing/2014/main" id="{D24A4706-C59C-0E3E-97C1-7E82C89BFCCA}"/>
                  </a:ext>
                </a:extLst>
              </p:cNvPr>
              <p:cNvSpPr txBox="1">
                <a:spLocks noRot="1" noChangeAspect="1" noMove="1" noResize="1" noEditPoints="1" noAdjustHandles="1" noChangeArrowheads="1" noChangeShapeType="1" noTextEdit="1"/>
              </p:cNvSpPr>
              <p:nvPr/>
            </p:nvSpPr>
            <p:spPr>
              <a:xfrm>
                <a:off x="6663193" y="1663106"/>
                <a:ext cx="5602358" cy="167975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151BC79-5BC9-A410-C3EA-944C50D0BB56}"/>
                  </a:ext>
                </a:extLst>
              </p:cNvPr>
              <p:cNvSpPr txBox="1"/>
              <p:nvPr/>
            </p:nvSpPr>
            <p:spPr>
              <a:xfrm>
                <a:off x="6663193" y="3515139"/>
                <a:ext cx="5522844" cy="1679755"/>
              </a:xfrm>
              <a:prstGeom prst="rect">
                <a:avLst/>
              </a:prstGeom>
              <a:noFill/>
            </p:spPr>
            <p:txBody>
              <a:bodyPr wrap="square">
                <a:spAutoFit/>
              </a:bodyPr>
              <a:lstStyle/>
              <a:p>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a:rPr lang="en-US" altLang="zh-CN" sz="2800" b="0" i="1" smtClean="0">
                            <a:latin typeface="Cambria Math" panose="02040503050406030204" pitchFamily="18" charset="0"/>
                            <a:ea typeface="华光仿宋_CNKI" panose="02000500000000000000" pitchFamily="2" charset="-122"/>
                          </a:rPr>
                          <m:t>𝑅</m:t>
                        </m:r>
                      </m:e>
                      <m:sub>
                        <m:r>
                          <a:rPr lang="en-US" altLang="zh-CN" sz="2800" b="0" i="1" smtClean="0">
                            <a:latin typeface="Cambria Math" panose="02040503050406030204" pitchFamily="18" charset="0"/>
                            <a:ea typeface="华光仿宋_CNKI" panose="02000500000000000000" pitchFamily="2" charset="-122"/>
                          </a:rPr>
                          <m:t>1</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0</m:t>
                        </m:r>
                      </m:sub>
                    </m:sSub>
                    <m:r>
                      <a:rPr lang="en-US" altLang="zh-CN" sz="2800" i="1">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1</m:t>
                        </m:r>
                      </m:sub>
                    </m:sSub>
                    <m:r>
                      <a:rPr lang="en-US" altLang="zh-CN" sz="2800" b="0" i="1" smtClean="0">
                        <a:latin typeface="Cambria Math" panose="02040503050406030204" pitchFamily="18" charset="0"/>
                        <a:ea typeface="华光仿宋_CNKI" panose="02000500000000000000" pitchFamily="2" charset="-122"/>
                      </a:rPr>
                      <m:t>,</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2</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ea typeface="华光仿宋_CNKI" panose="02000500000000000000" pitchFamily="2" charset="-122"/>
                      </a:rPr>
                      <m:t> </m:t>
                    </m:r>
                    <m:sSub>
                      <m:sSubPr>
                        <m:ctrlPr>
                          <a:rPr lang="en-US" altLang="zh-CN" sz="2800" i="1">
                            <a:latin typeface="Cambria Math" panose="02040503050406030204" pitchFamily="18" charset="0"/>
                            <a:ea typeface="华光仿宋_CNKI" panose="02000500000000000000" pitchFamily="2" charset="-122"/>
                          </a:rPr>
                        </m:ctrlPr>
                      </m:sSubPr>
                      <m:e>
                        <m:r>
                          <a:rPr lang="en-US" altLang="zh-CN" sz="2800" i="1">
                            <a:latin typeface="Cambria Math" panose="02040503050406030204" pitchFamily="18" charset="0"/>
                            <a:ea typeface="华光仿宋_CNKI" panose="02000500000000000000" pitchFamily="2" charset="-122"/>
                          </a:rPr>
                          <m:t>𝐺</m:t>
                        </m:r>
                      </m:e>
                      <m:sub>
                        <m:r>
                          <a:rPr lang="en-US" altLang="zh-CN" sz="2800" i="1">
                            <a:latin typeface="Cambria Math" panose="02040503050406030204" pitchFamily="18" charset="0"/>
                            <a:ea typeface="华光仿宋_CNKI" panose="02000500000000000000" pitchFamily="2" charset="-122"/>
                          </a:rPr>
                          <m:t>3</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latin typeface="华光仿宋_CNKI" panose="02000500000000000000" pitchFamily="2" charset="-122"/>
                        <a:ea typeface="华光仿宋_CNKI" panose="02000500000000000000" pitchFamily="2" charset="-122"/>
                      </a:rPr>
                      <m:t>M</m:t>
                    </m:r>
                    <m:r>
                      <m:rPr>
                        <m:nor/>
                      </m:rPr>
                      <a:rPr lang="en-US" altLang="zh-CN" sz="2800" dirty="0">
                        <a:latin typeface="华光仿宋_CNKI" panose="02000500000000000000" pitchFamily="2" charset="-122"/>
                        <a:ea typeface="华光仿宋_CNKI" panose="02000500000000000000" pitchFamily="2" charset="-122"/>
                      </a:rPr>
                      <m:t>.</m:t>
                    </m:r>
                    <m:d>
                      <m:dPr>
                        <m:begChr m:val="["/>
                        <m:endChr m:val="]"/>
                        <m:ctrlPr>
                          <a:rPr lang="en-US" altLang="zh-CN" sz="280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0</m:t>
                              </m:r>
                            </m:e>
                          </m:mr>
                          <m:mr>
                            <m:e>
                              <m:r>
                                <a:rPr lang="en-US" altLang="zh-CN" sz="2800" b="0" i="1" smtClean="0">
                                  <a:latin typeface="Cambria Math" panose="02040503050406030204" pitchFamily="18" charset="0"/>
                                  <a:ea typeface="华光仿宋_CNKI" panose="02000500000000000000" pitchFamily="2" charset="-122"/>
                                </a:rPr>
                                <m:t>1</m:t>
                              </m:r>
                            </m:e>
                          </m:mr>
                          <m:mr>
                            <m:e>
                              <m:m>
                                <m:mPr>
                                  <m:mcs>
                                    <m:mc>
                                      <m:mcPr>
                                        <m:count m:val="1"/>
                                        <m:mcJc m:val="center"/>
                                      </m:mcPr>
                                    </m:mc>
                                  </m:mcs>
                                  <m:ctrlPr>
                                    <a:rPr lang="en-US" altLang="zh-CN" sz="2800" i="1">
                                      <a:latin typeface="Cambria Math" panose="02040503050406030204" pitchFamily="18" charset="0"/>
                                      <a:ea typeface="华光仿宋_CNKI" panose="02000500000000000000" pitchFamily="2" charset="-122"/>
                                    </a:rPr>
                                  </m:ctrlPr>
                                </m:mPr>
                                <m:mr>
                                  <m:e>
                                    <m:r>
                                      <m:rPr>
                                        <m:brk m:alnAt="7"/>
                                      </m:rPr>
                                      <a:rPr lang="en-US" altLang="zh-CN" sz="2800" b="0" i="1" smtClean="0">
                                        <a:latin typeface="Cambria Math" panose="02040503050406030204" pitchFamily="18" charset="0"/>
                                        <a:ea typeface="华光仿宋_CNKI" panose="02000500000000000000" pitchFamily="2" charset="-122"/>
                                      </a:rPr>
                                      <m:t>2</m:t>
                                    </m:r>
                                  </m:e>
                                </m:mr>
                                <m:mr>
                                  <m:e>
                                    <m:r>
                                      <a:rPr lang="en-US" altLang="zh-CN" sz="2800" b="0" i="1" smtClean="0">
                                        <a:latin typeface="Cambria Math" panose="02040503050406030204" pitchFamily="18" charset="0"/>
                                        <a:ea typeface="华光仿宋_CNKI" panose="02000500000000000000" pitchFamily="2" charset="-122"/>
                                      </a:rPr>
                                      <m:t>3</m:t>
                                    </m:r>
                                  </m:e>
                                </m:mr>
                              </m:m>
                            </m:e>
                          </m:mr>
                        </m:m>
                      </m:e>
                    </m:d>
                  </m:oMath>
                </a14:m>
                <a:r>
                  <a:rPr lang="zh-CN" altLang="en-US" sz="2800" dirty="0"/>
                  <a:t>  </a:t>
                </a:r>
                <a:r>
                  <a:rPr lang="en-US" altLang="zh-CN" sz="2800" dirty="0">
                    <a:latin typeface="华光仿宋_CNKI" panose="02000500000000000000" pitchFamily="2" charset="-122"/>
                    <a:ea typeface="华光仿宋_CNKI" panose="02000500000000000000" pitchFamily="2" charset="-122"/>
                  </a:rPr>
                  <a:t>t=1</a:t>
                </a:r>
                <a:endParaRPr lang="zh-CN" altLang="en-US" sz="2800" dirty="0"/>
              </a:p>
            </p:txBody>
          </p:sp>
        </mc:Choice>
        <mc:Fallback xmlns="">
          <p:sp>
            <p:nvSpPr>
              <p:cNvPr id="3" name="文本框 2">
                <a:extLst>
                  <a:ext uri="{FF2B5EF4-FFF2-40B4-BE49-F238E27FC236}">
                    <a16:creationId xmlns:a16="http://schemas.microsoft.com/office/drawing/2014/main" id="{8151BC79-5BC9-A410-C3EA-944C50D0BB56}"/>
                  </a:ext>
                </a:extLst>
              </p:cNvPr>
              <p:cNvSpPr txBox="1">
                <a:spLocks noRot="1" noChangeAspect="1" noMove="1" noResize="1" noEditPoints="1" noAdjustHandles="1" noChangeArrowheads="1" noChangeShapeType="1" noTextEdit="1"/>
              </p:cNvSpPr>
              <p:nvPr/>
            </p:nvSpPr>
            <p:spPr>
              <a:xfrm>
                <a:off x="6663193" y="3515139"/>
                <a:ext cx="5522844" cy="1679755"/>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840425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27697" y="351513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副标题 2">
            <a:extLst>
              <a:ext uri="{FF2B5EF4-FFF2-40B4-BE49-F238E27FC236}">
                <a16:creationId xmlns:a16="http://schemas.microsoft.com/office/drawing/2014/main" id="{59D8146F-6B9F-0EFA-EF61-17A95959DBD3}"/>
              </a:ext>
            </a:extLst>
          </p:cNvPr>
          <p:cNvSpPr>
            <a:spLocks noGrp="1"/>
          </p:cNvSpPr>
          <p:nvPr>
            <p:ph type="subTitle" idx="1"/>
          </p:nvPr>
        </p:nvSpPr>
        <p:spPr>
          <a:xfrm>
            <a:off x="367078" y="550727"/>
            <a:ext cx="11457844" cy="880466"/>
          </a:xfrm>
        </p:spPr>
        <p:txBody>
          <a:bodyPr>
            <a:no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合并后有：</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99DB0E97-95B2-330F-DD0F-E76117F6D481}"/>
                  </a:ext>
                </a:extLst>
              </p:cNvPr>
              <p:cNvSpPr txBox="1"/>
              <p:nvPr/>
            </p:nvSpPr>
            <p:spPr bwMode="auto">
              <a:xfrm>
                <a:off x="1289995" y="1363139"/>
                <a:ext cx="9275403" cy="197972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4"/>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1</m:t>
                                    </m:r>
                                  </m:sub>
                                </m:sSub>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𝑅</m:t>
                                    </m:r>
                                  </m:e>
                                  <m:sub>
                                    <m:r>
                                      <a:rPr lang="zh-CN" altLang="en-US" sz="2800" i="1">
                                        <a:solidFill>
                                          <a:srgbClr val="000000"/>
                                        </a:solidFill>
                                        <a:latin typeface="Cambria Math" panose="02040503050406030204" pitchFamily="18" charset="0"/>
                                      </a:rPr>
                                      <m:t>0</m:t>
                                    </m:r>
                                  </m:sub>
                                </m:sSub>
                              </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𝑅</m:t>
                                    </m:r>
                                  </m:e>
                                  <m:sub>
                                    <m:r>
                                      <a:rPr lang="zh-CN" altLang="en-US" sz="2800" i="1">
                                        <a:solidFill>
                                          <a:srgbClr val="000000"/>
                                        </a:solidFill>
                                        <a:latin typeface="Cambria Math" panose="02040503050406030204" pitchFamily="18" charset="0"/>
                                      </a:rPr>
                                      <m:t>1</m:t>
                                    </m:r>
                                  </m:sub>
                                </m:sSub>
                              </m:e>
                            </m:mr>
                          </m:m>
                        </m:e>
                      </m:d>
                      <m:r>
                        <a:rPr lang="en-US" altLang="zh-CN"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G</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M</m:t>
                      </m:r>
                      <m:r>
                        <a:rPr lang="zh-CN" altLang="en-US" sz="280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4"/>
                                    <m:mcJc m:val="center"/>
                                  </m:mcPr>
                                </m:mc>
                              </m:mcs>
                              <m:ctrlPr>
                                <a:rPr lang="zh-CN" altLang="en-US" sz="2800" i="1">
                                  <a:solidFill>
                                    <a:srgbClr val="000000"/>
                                  </a:solidFill>
                                  <a:latin typeface="Cambria Math" panose="02040503050406030204" pitchFamily="18" charset="0"/>
                                </a:rPr>
                              </m:ctrlPr>
                            </m:mPr>
                            <m:mr>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2</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3</m:t>
                                </m:r>
                              </m:e>
                            </m:mr>
                          </m:m>
                        </m:e>
                      </m:d>
                    </m:oMath>
                  </m:oMathPara>
                </a14:m>
                <a:endParaRPr lang="zh-CN" altLang="en-US" sz="2800" dirty="0"/>
              </a:p>
            </p:txBody>
          </p:sp>
        </mc:Choice>
        <mc:Fallback xmlns="">
          <p:sp>
            <p:nvSpPr>
              <p:cNvPr id="4" name="Object 4">
                <a:extLst>
                  <a:ext uri="{FF2B5EF4-FFF2-40B4-BE49-F238E27FC236}">
                    <a16:creationId xmlns:a16="http://schemas.microsoft.com/office/drawing/2014/main" id="{99DB0E97-95B2-330F-DD0F-E76117F6D481}"/>
                  </a:ext>
                </a:extLst>
              </p:cNvPr>
              <p:cNvSpPr txBox="1">
                <a:spLocks noRot="1" noChangeAspect="1" noMove="1" noResize="1" noEditPoints="1" noAdjustHandles="1" noChangeArrowheads="1" noChangeShapeType="1" noTextEdit="1"/>
              </p:cNvSpPr>
              <p:nvPr/>
            </p:nvSpPr>
            <p:spPr bwMode="auto">
              <a:xfrm>
                <a:off x="1289995" y="1363139"/>
                <a:ext cx="9275403" cy="1979722"/>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1" name="副标题 2">
            <a:extLst>
              <a:ext uri="{FF2B5EF4-FFF2-40B4-BE49-F238E27FC236}">
                <a16:creationId xmlns:a16="http://schemas.microsoft.com/office/drawing/2014/main" id="{E9F2956F-3E0B-1E6B-47DD-FEE224E86304}"/>
              </a:ext>
            </a:extLst>
          </p:cNvPr>
          <p:cNvSpPr txBox="1">
            <a:spLocks/>
          </p:cNvSpPr>
          <p:nvPr/>
        </p:nvSpPr>
        <p:spPr>
          <a:xfrm>
            <a:off x="351175" y="3342861"/>
            <a:ext cx="11457844" cy="88046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如果令</a:t>
            </a:r>
            <a:r>
              <a:rPr lang="en-US" altLang="zh-CN" sz="2800" dirty="0">
                <a:latin typeface="华光仿宋_CNKI" panose="02000500000000000000" pitchFamily="2" charset="-122"/>
                <a:ea typeface="华光仿宋_CNKI" panose="02000500000000000000" pitchFamily="2" charset="-122"/>
              </a:rPr>
              <a:t>P=G</a:t>
            </a:r>
            <a:r>
              <a:rPr lang="zh-CN" altLang="en-US" sz="2800" dirty="0">
                <a:latin typeface="华光仿宋_CNKI" panose="02000500000000000000" pitchFamily="2" charset="-122"/>
                <a:ea typeface="华光仿宋_CNKI" panose="02000500000000000000" pitchFamily="2" charset="-122"/>
              </a:rPr>
              <a:t>，则有：</a:t>
            </a:r>
            <a:endParaRPr lang="en-US" altLang="zh-CN" sz="2800" dirty="0">
              <a:latin typeface="华光仿宋_CNKI" panose="02000500000000000000" pitchFamily="2" charset="-122"/>
              <a:ea typeface="华光仿宋_CNKI" panose="02000500000000000000" pitchFamily="2" charset="-122"/>
            </a:endParaRPr>
          </a:p>
          <a:p>
            <a:pPr algn="l">
              <a:lnSpc>
                <a:spcPct val="150000"/>
              </a:lnSpc>
            </a:pPr>
            <a:r>
              <a:rPr lang="en-US" altLang="zh-CN" sz="2800" dirty="0">
                <a:latin typeface="华光仿宋_CNKI" panose="02000500000000000000" pitchFamily="2" charset="-122"/>
                <a:ea typeface="华光仿宋_CNKI" panose="02000500000000000000" pitchFamily="2" charset="-122"/>
              </a:rPr>
              <a:t>     </a:t>
            </a:r>
          </a:p>
        </p:txBody>
      </p:sp>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0B4EAD1D-F0F8-B8BA-2DD7-D4F13E15321C}"/>
                  </a:ext>
                </a:extLst>
              </p:cNvPr>
              <p:cNvSpPr txBox="1"/>
              <p:nvPr/>
            </p:nvSpPr>
            <p:spPr bwMode="auto">
              <a:xfrm>
                <a:off x="1560139" y="4223327"/>
                <a:ext cx="7925767" cy="19891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𝑀</m:t>
                          </m:r>
                        </m:e>
                        <m:sub>
                          <m:r>
                            <a:rPr lang="zh-CN" altLang="en-US" sz="2800" i="1">
                              <a:solidFill>
                                <a:srgbClr val="000000"/>
                              </a:solidFill>
                              <a:latin typeface="Cambria Math" panose="02040503050406030204" pitchFamily="18" charset="0"/>
                            </a:rPr>
                            <m:t>𝐻</m:t>
                          </m:r>
                        </m:sub>
                      </m:sSub>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d>
                            <m:dPr>
                              <m:begChr m:val="["/>
                              <m:endChr m:val="]"/>
                              <m:ctrlPr>
                                <a:rPr lang="zh-CN" altLang="en-US" sz="2800" i="1">
                                  <a:solidFill>
                                    <a:srgbClr val="000000"/>
                                  </a:solidFill>
                                  <a:latin typeface="Cambria Math" panose="02040503050406030204" pitchFamily="18" charset="0"/>
                                </a:rPr>
                              </m:ctrlPr>
                            </m:dPr>
                            <m:e>
                              <m:m>
                                <m:mPr>
                                  <m:plcHide m:val="on"/>
                                  <m:mcs>
                                    <m:mc>
                                      <m:mcPr>
                                        <m:count m:val="4"/>
                                        <m:mcJc m:val="center"/>
                                      </m:mcPr>
                                    </m:mc>
                                  </m:mcs>
                                  <m:ctrlPr>
                                    <a:rPr lang="zh-CN" altLang="en-US" sz="2800" i="1">
                                      <a:solidFill>
                                        <a:srgbClr val="000000"/>
                                      </a:solidFill>
                                      <a:latin typeface="Cambria Math" panose="02040503050406030204" pitchFamily="18" charset="0"/>
                                    </a:rPr>
                                  </m:ctrlPr>
                                </m:mPr>
                                <m:mr>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2</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3</m:t>
                                    </m:r>
                                  </m:e>
                                </m:mr>
                              </m:m>
                            </m:e>
                          </m:d>
                        </m:e>
                        <m:sup>
                          <m:r>
                            <a:rPr lang="zh-CN" altLang="en-US" sz="2800" i="1">
                              <a:solidFill>
                                <a:srgbClr val="000000"/>
                              </a:solidFill>
                              <a:latin typeface="Cambria Math" panose="02040503050406030204" pitchFamily="18" charset="0"/>
                            </a:rPr>
                            <m:t>−1</m:t>
                          </m:r>
                        </m:sup>
                      </m:sSup>
                      <m:r>
                        <a:rPr lang="zh-CN" altLang="en-US" sz="280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4"/>
                                    <m:mcJc m:val="center"/>
                                  </m:mcPr>
                                </m:mc>
                              </m:mcs>
                              <m:ctrlPr>
                                <a:rPr lang="zh-CN" altLang="en-US" sz="2800" i="1">
                                  <a:solidFill>
                                    <a:srgbClr val="000000"/>
                                  </a:solidFill>
                                  <a:latin typeface="Cambria Math" panose="02040503050406030204" pitchFamily="18" charset="0"/>
                                </a:rPr>
                              </m:ctrlPr>
                            </m:mPr>
                            <m:mr>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−3</m:t>
                                </m:r>
                              </m:e>
                              <m:e>
                                <m:r>
                                  <a:rPr lang="zh-CN" altLang="en-US" sz="2800" i="1">
                                    <a:solidFill>
                                      <a:srgbClr val="000000"/>
                                    </a:solidFill>
                                    <a:latin typeface="Cambria Math" panose="02040503050406030204" pitchFamily="18" charset="0"/>
                                  </a:rPr>
                                  <m:t>2</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3</m:t>
                                </m:r>
                              </m:e>
                              <m:e>
                                <m:r>
                                  <a:rPr lang="zh-CN" altLang="en-US" sz="2800" i="1">
                                    <a:solidFill>
                                      <a:srgbClr val="000000"/>
                                    </a:solidFill>
                                    <a:latin typeface="Cambria Math" panose="02040503050406030204" pitchFamily="18" charset="0"/>
                                  </a:rPr>
                                  <m:t>−2</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−2</m:t>
                                </m:r>
                              </m:e>
                              <m:e>
                                <m:r>
                                  <a:rPr lang="zh-CN" altLang="en-US" sz="2800" i="1">
                                    <a:solidFill>
                                      <a:srgbClr val="000000"/>
                                    </a:solidFill>
                                    <a:latin typeface="Cambria Math" panose="02040503050406030204" pitchFamily="18" charset="0"/>
                                  </a:rPr>
                                  <m:t>1</m:t>
                                </m:r>
                              </m:e>
                            </m:mr>
                            <m:mr>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0</m:t>
                                </m:r>
                              </m:e>
                              <m:e>
                                <m:r>
                                  <a:rPr lang="zh-CN" altLang="en-US" sz="2800" i="1">
                                    <a:solidFill>
                                      <a:srgbClr val="000000"/>
                                    </a:solidFill>
                                    <a:latin typeface="Cambria Math" panose="02040503050406030204" pitchFamily="18" charset="0"/>
                                  </a:rPr>
                                  <m:t>−1</m:t>
                                </m:r>
                              </m:e>
                              <m:e>
                                <m:r>
                                  <a:rPr lang="zh-CN" altLang="en-US" sz="2800" i="1">
                                    <a:solidFill>
                                      <a:srgbClr val="000000"/>
                                    </a:solidFill>
                                    <a:latin typeface="Cambria Math" panose="02040503050406030204" pitchFamily="18" charset="0"/>
                                  </a:rPr>
                                  <m:t>1</m:t>
                                </m:r>
                              </m:e>
                            </m:mr>
                          </m:m>
                        </m:e>
                      </m:d>
                    </m:oMath>
                  </m:oMathPara>
                </a14:m>
                <a:endParaRPr lang="zh-CN" altLang="en-US" sz="2800" dirty="0"/>
              </a:p>
            </p:txBody>
          </p:sp>
        </mc:Choice>
        <mc:Fallback xmlns="">
          <p:sp>
            <p:nvSpPr>
              <p:cNvPr id="12" name="Object 5">
                <a:extLst>
                  <a:ext uri="{FF2B5EF4-FFF2-40B4-BE49-F238E27FC236}">
                    <a16:creationId xmlns:a16="http://schemas.microsoft.com/office/drawing/2014/main" id="{0B4EAD1D-F0F8-B8BA-2DD7-D4F13E15321C}"/>
                  </a:ext>
                </a:extLst>
              </p:cNvPr>
              <p:cNvSpPr txBox="1">
                <a:spLocks noRot="1" noChangeAspect="1" noMove="1" noResize="1" noEditPoints="1" noAdjustHandles="1" noChangeArrowheads="1" noChangeShapeType="1" noTextEdit="1"/>
              </p:cNvSpPr>
              <p:nvPr/>
            </p:nvSpPr>
            <p:spPr bwMode="auto">
              <a:xfrm>
                <a:off x="1560139" y="4223327"/>
                <a:ext cx="7925767" cy="1989137"/>
              </a:xfrm>
              <a:prstGeom prst="rect">
                <a:avLst/>
              </a:prstGeom>
              <a:blipFill>
                <a:blip r:embed="rId4"/>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41099317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a:extLst>
              <a:ext uri="{FF2B5EF4-FFF2-40B4-BE49-F238E27FC236}">
                <a16:creationId xmlns:a16="http://schemas.microsoft.com/office/drawing/2014/main" id="{AAE01ADC-097C-64A3-415C-45F22AFC0EA6}"/>
              </a:ext>
            </a:extLst>
          </p:cNvPr>
          <p:cNvSpPr>
            <a:spLocks noChangeAspect="1" noChangeArrowheads="1"/>
          </p:cNvSpPr>
          <p:nvPr/>
        </p:nvSpPr>
        <p:spPr bwMode="auto">
          <a:xfrm>
            <a:off x="5927697" y="351513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副标题 2">
            <a:extLst>
              <a:ext uri="{FF2B5EF4-FFF2-40B4-BE49-F238E27FC236}">
                <a16:creationId xmlns:a16="http://schemas.microsoft.com/office/drawing/2014/main" id="{59D8146F-6B9F-0EFA-EF61-17A95959DBD3}"/>
              </a:ext>
            </a:extLst>
          </p:cNvPr>
          <p:cNvSpPr>
            <a:spLocks noGrp="1"/>
          </p:cNvSpPr>
          <p:nvPr>
            <p:ph type="subTitle" idx="1"/>
          </p:nvPr>
        </p:nvSpPr>
        <p:spPr>
          <a:xfrm>
            <a:off x="367078" y="656264"/>
            <a:ext cx="11457844" cy="880466"/>
          </a:xfrm>
        </p:spPr>
        <p:txBody>
          <a:bodyPr>
            <a:noAutofit/>
          </a:bodyPr>
          <a:lstStyle/>
          <a:p>
            <a:pPr algn="l">
              <a:lnSpc>
                <a:spcPct val="150000"/>
              </a:lnSpc>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从而得到：</a:t>
            </a:r>
            <a:r>
              <a:rPr lang="en-US" altLang="zh-CN" sz="2800" dirty="0">
                <a:latin typeface="华光仿宋_CNKI" panose="02000500000000000000" pitchFamily="2" charset="-122"/>
                <a:ea typeface="华光仿宋_CNKI" panose="02000500000000000000" pitchFamily="2" charset="-122"/>
              </a:rPr>
              <a:t>     </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093464A-1FB6-A90E-59C5-1DFE124C97D5}"/>
                  </a:ext>
                </a:extLst>
              </p:cNvPr>
              <p:cNvSpPr txBox="1"/>
              <p:nvPr/>
            </p:nvSpPr>
            <p:spPr>
              <a:xfrm>
                <a:off x="1213243" y="1568993"/>
                <a:ext cx="10667338" cy="4632743"/>
              </a:xfrm>
              <a:prstGeom prst="rect">
                <a:avLst/>
              </a:prstGeom>
              <a:noFill/>
            </p:spPr>
            <p:txBody>
              <a:bodyPr wrap="square">
                <a:spAutoFit/>
              </a:bodyPr>
              <a:lstStyle/>
              <a:p>
                <a:pPr>
                  <a:spcBef>
                    <a:spcPts val="1200"/>
                  </a:spcBef>
                </a:pPr>
                <a14:m>
                  <m:oMath xmlns:m="http://schemas.openxmlformats.org/officeDocument/2006/math">
                    <m:r>
                      <a:rPr lang="en-US" altLang="zh-CN" sz="2400" i="1" smtClean="0">
                        <a:latin typeface="Cambria Math" panose="02040503050406030204" pitchFamily="18" charset="0"/>
                        <a:ea typeface="华光仿宋_CNKI" panose="02000500000000000000" pitchFamily="2" charset="-122"/>
                      </a:rPr>
                      <m:t>𝑃</m:t>
                    </m:r>
                    <m:d>
                      <m:dPr>
                        <m:ctrlPr>
                          <a:rPr lang="en-US" altLang="zh-CN" sz="2400" i="1">
                            <a:latin typeface="Cambria Math" panose="02040503050406030204" pitchFamily="18" charset="0"/>
                            <a:ea typeface="华光仿宋_CNKI" panose="02000500000000000000" pitchFamily="2" charset="-122"/>
                          </a:rPr>
                        </m:ctrlPr>
                      </m:dPr>
                      <m:e>
                        <m:r>
                          <a:rPr lang="en-US" altLang="zh-CN" sz="2400" i="1">
                            <a:latin typeface="Cambria Math" panose="02040503050406030204" pitchFamily="18" charset="0"/>
                            <a:ea typeface="华光仿宋_CNKI" panose="02000500000000000000" pitchFamily="2" charset="-122"/>
                          </a:rPr>
                          <m:t>𝑡</m:t>
                        </m:r>
                      </m:e>
                    </m:d>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0</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1</m:t>
                        </m:r>
                      </m:sub>
                    </m:sSub>
                    <m:r>
                      <a:rPr lang="en-US" altLang="zh-CN" sz="2400" b="0" i="1" smtClean="0">
                        <a:latin typeface="Cambria Math" panose="02040503050406030204" pitchFamily="18" charset="0"/>
                        <a:ea typeface="华光仿宋_CNKI" panose="02000500000000000000" pitchFamily="2" charset="-122"/>
                      </a:rPr>
                      <m:t>,</m:t>
                    </m:r>
                    <m:sSub>
                      <m:sSubPr>
                        <m:ctrlPr>
                          <a:rPr lang="en-US" altLang="zh-CN" sz="2400" i="1" smtClean="0">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𝑅</m:t>
                        </m:r>
                      </m:e>
                      <m:sub>
                        <m:r>
                          <a:rPr lang="en-US" altLang="zh-CN" sz="2400" b="0" i="1" smtClean="0">
                            <a:latin typeface="Cambria Math" panose="02040503050406030204" pitchFamily="18" charset="0"/>
                            <a:ea typeface="华光仿宋_CNKI" panose="02000500000000000000" pitchFamily="2" charset="-122"/>
                          </a:rPr>
                          <m:t>0</m:t>
                        </m:r>
                      </m:sub>
                    </m:sSub>
                    <m:r>
                      <m:rPr>
                        <m:nor/>
                      </m:rPr>
                      <a:rPr lang="en-US" altLang="zh-CN" sz="2400" dirty="0">
                        <a:latin typeface="华光仿宋_CNKI" panose="02000500000000000000" pitchFamily="2" charset="-122"/>
                        <a:ea typeface="华光仿宋_CNKI" panose="02000500000000000000" pitchFamily="2" charset="-122"/>
                      </a:rPr>
                      <m:t>,</m:t>
                    </m:r>
                    <m:r>
                      <m:rPr>
                        <m:nor/>
                      </m:rPr>
                      <a:rPr lang="en-US" altLang="zh-CN" sz="2400" dirty="0">
                        <a:ea typeface="华光仿宋_CNKI" panose="02000500000000000000" pitchFamily="2" charset="-122"/>
                      </a:rPr>
                      <m:t> </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b="0" i="1" smtClean="0">
                            <a:latin typeface="Cambria Math" panose="02040503050406030204" pitchFamily="18" charset="0"/>
                            <a:ea typeface="华光仿宋_CNKI" panose="02000500000000000000" pitchFamily="2" charset="-122"/>
                          </a:rPr>
                          <m:t>𝑅</m:t>
                        </m:r>
                      </m:e>
                      <m:sub>
                        <m:r>
                          <a:rPr lang="en-US" altLang="zh-CN" sz="2400" b="0" i="1" smtClean="0">
                            <a:latin typeface="Cambria Math" panose="02040503050406030204" pitchFamily="18" charset="0"/>
                            <a:ea typeface="华光仿宋_CNKI" panose="02000500000000000000" pitchFamily="2" charset="-122"/>
                          </a:rPr>
                          <m:t>1</m:t>
                        </m:r>
                      </m:sub>
                    </m:sSub>
                    <m:r>
                      <m:rPr>
                        <m:nor/>
                      </m:rPr>
                      <a:rPr lang="en-US" altLang="zh-CN" sz="2400" dirty="0">
                        <a:latin typeface="华光仿宋_CNKI" panose="02000500000000000000" pitchFamily="2" charset="-122"/>
                        <a:ea typeface="华光仿宋_CNKI" panose="02000500000000000000" pitchFamily="2" charset="-122"/>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4"/>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−3</m:t>
                              </m:r>
                            </m:e>
                            <m:e>
                              <m:r>
                                <a:rPr lang="zh-CN" altLang="en-US" sz="2400" i="1">
                                  <a:solidFill>
                                    <a:srgbClr val="000000"/>
                                  </a:solidFill>
                                  <a:latin typeface="Cambria Math" panose="02040503050406030204" pitchFamily="18" charset="0"/>
                                </a:rPr>
                                <m:t>2</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3</m:t>
                              </m:r>
                            </m:e>
                            <m:e>
                              <m:r>
                                <a:rPr lang="zh-CN" altLang="en-US" sz="2400" i="1">
                                  <a:solidFill>
                                    <a:srgbClr val="000000"/>
                                  </a:solidFill>
                                  <a:latin typeface="Cambria Math" panose="02040503050406030204" pitchFamily="18" charset="0"/>
                                </a:rPr>
                                <m:t>−2</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−2</m:t>
                              </m:r>
                            </m:e>
                            <m:e>
                              <m:r>
                                <a:rPr lang="zh-CN" altLang="en-US" sz="2400" i="1">
                                  <a:solidFill>
                                    <a:srgbClr val="000000"/>
                                  </a:solidFill>
                                  <a:latin typeface="Cambria Math" panose="02040503050406030204" pitchFamily="18" charset="0"/>
                                </a:rPr>
                                <m:t>1</m:t>
                              </m:r>
                            </m:e>
                          </m:mr>
                          <m:mr>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−1</m:t>
                              </m:r>
                            </m:e>
                            <m:e>
                              <m:r>
                                <a:rPr lang="zh-CN" altLang="en-US" sz="2400" i="1">
                                  <a:solidFill>
                                    <a:srgbClr val="000000"/>
                                  </a:solidFill>
                                  <a:latin typeface="Cambria Math" panose="02040503050406030204" pitchFamily="18" charset="0"/>
                                </a:rPr>
                                <m:t>1</m:t>
                              </m:r>
                            </m:e>
                          </m:mr>
                        </m:m>
                      </m:e>
                    </m:d>
                  </m:oMath>
                </a14:m>
                <a:r>
                  <a:rPr lang="en-US" altLang="zh-CN" sz="2400" dirty="0">
                    <a:ea typeface="华光仿宋_CNKI" panose="02000500000000000000" pitchFamily="2" charset="-122"/>
                  </a:rPr>
                  <a:t> </a:t>
                </a:r>
                <a14:m>
                  <m:oMath xmlns:m="http://schemas.openxmlformats.org/officeDocument/2006/math">
                    <m:d>
                      <m:dPr>
                        <m:begChr m:val="["/>
                        <m:endChr m:val="]"/>
                        <m:ctrlPr>
                          <a:rPr lang="en-US" altLang="zh-CN" sz="2400" i="1">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400" i="1">
                                <a:latin typeface="Cambria Math" panose="02040503050406030204" pitchFamily="18" charset="0"/>
                                <a:ea typeface="华光仿宋_CNKI" panose="02000500000000000000" pitchFamily="2" charset="-122"/>
                              </a:rPr>
                            </m:ctrlPr>
                          </m:mPr>
                          <m:mr>
                            <m:e>
                              <m:r>
                                <m:rPr>
                                  <m:brk m:alnAt="7"/>
                                </m:rPr>
                                <a:rPr lang="en-US" altLang="zh-CN" sz="2400" i="1">
                                  <a:latin typeface="Cambria Math" panose="02040503050406030204" pitchFamily="18" charset="0"/>
                                  <a:ea typeface="华光仿宋_CNKI" panose="02000500000000000000" pitchFamily="2" charset="-122"/>
                                </a:rPr>
                                <m:t>1</m:t>
                              </m:r>
                            </m:e>
                          </m:mr>
                          <m:mr>
                            <m:e>
                              <m:r>
                                <a:rPr lang="en-US" altLang="zh-CN" sz="2400" i="1">
                                  <a:latin typeface="Cambria Math" panose="02040503050406030204" pitchFamily="18" charset="0"/>
                                  <a:ea typeface="华光仿宋_CNKI" panose="02000500000000000000" pitchFamily="2" charset="-122"/>
                                </a:rPr>
                                <m:t>𝑡</m:t>
                              </m:r>
                            </m:e>
                          </m:mr>
                          <m:mr>
                            <m:e>
                              <m:m>
                                <m:mPr>
                                  <m:mcs>
                                    <m:mc>
                                      <m:mcPr>
                                        <m:count m:val="1"/>
                                        <m:mcJc m:val="center"/>
                                      </m:mcPr>
                                    </m:mc>
                                  </m:mcs>
                                  <m:ctrlPr>
                                    <a:rPr lang="en-US" altLang="zh-CN" sz="2400" i="1">
                                      <a:latin typeface="Cambria Math" panose="02040503050406030204" pitchFamily="18" charset="0"/>
                                      <a:ea typeface="华光仿宋_CNKI" panose="02000500000000000000" pitchFamily="2" charset="-122"/>
                                    </a:rPr>
                                  </m:ctrlPr>
                                </m:mPr>
                                <m:mr>
                                  <m:e>
                                    <m:sSup>
                                      <m:sSupPr>
                                        <m:ctrlPr>
                                          <a:rPr lang="en-US" altLang="zh-CN" sz="2400" i="1">
                                            <a:latin typeface="Cambria Math" panose="02040503050406030204" pitchFamily="18" charset="0"/>
                                            <a:ea typeface="华光仿宋_CNKI" panose="02000500000000000000" pitchFamily="2" charset="-122"/>
                                          </a:rPr>
                                        </m:ctrlPr>
                                      </m:sSupPr>
                                      <m:e>
                                        <m:r>
                                          <a:rPr lang="en-US" altLang="zh-CN" sz="2400" i="1">
                                            <a:latin typeface="Cambria Math" panose="02040503050406030204" pitchFamily="18" charset="0"/>
                                            <a:ea typeface="华光仿宋_CNKI" panose="02000500000000000000" pitchFamily="2" charset="-122"/>
                                          </a:rPr>
                                          <m:t>𝑡</m:t>
                                        </m:r>
                                      </m:e>
                                      <m:sup>
                                        <m:r>
                                          <a:rPr lang="en-US" altLang="zh-CN" sz="2400" i="1">
                                            <a:latin typeface="Cambria Math" panose="02040503050406030204" pitchFamily="18" charset="0"/>
                                            <a:ea typeface="华光仿宋_CNKI" panose="02000500000000000000" pitchFamily="2" charset="-122"/>
                                          </a:rPr>
                                          <m:t>2</m:t>
                                        </m:r>
                                      </m:sup>
                                    </m:sSup>
                                  </m:e>
                                </m:mr>
                                <m:mr>
                                  <m:e>
                                    <m:sSup>
                                      <m:sSupPr>
                                        <m:ctrlPr>
                                          <a:rPr lang="en-US" altLang="zh-CN" sz="2400" i="1">
                                            <a:latin typeface="Cambria Math" panose="02040503050406030204" pitchFamily="18" charset="0"/>
                                            <a:ea typeface="华光仿宋_CNKI" panose="02000500000000000000" pitchFamily="2" charset="-122"/>
                                          </a:rPr>
                                        </m:ctrlPr>
                                      </m:sSupPr>
                                      <m:e>
                                        <m:r>
                                          <a:rPr lang="en-US" altLang="zh-CN" sz="2400" i="1">
                                            <a:latin typeface="Cambria Math" panose="02040503050406030204" pitchFamily="18" charset="0"/>
                                            <a:ea typeface="华光仿宋_CNKI" panose="02000500000000000000" pitchFamily="2" charset="-122"/>
                                          </a:rPr>
                                          <m:t>𝑡</m:t>
                                        </m:r>
                                      </m:e>
                                      <m:sup>
                                        <m:r>
                                          <a:rPr lang="en-US" altLang="zh-CN" sz="2400" i="1">
                                            <a:latin typeface="Cambria Math" panose="02040503050406030204" pitchFamily="18" charset="0"/>
                                            <a:ea typeface="华光仿宋_CNKI" panose="02000500000000000000" pitchFamily="2" charset="-122"/>
                                          </a:rPr>
                                          <m:t>3</m:t>
                                        </m:r>
                                      </m:sup>
                                    </m:sSup>
                                  </m:e>
                                </m:mr>
                              </m:m>
                            </m:e>
                          </m:mr>
                        </m:m>
                      </m:e>
                    </m:d>
                  </m:oMath>
                </a14:m>
                <a:endParaRPr lang="en-US" altLang="zh-CN" sz="2400" dirty="0"/>
              </a:p>
              <a:p>
                <a:pPr>
                  <a:spcBef>
                    <a:spcPts val="1200"/>
                  </a:spcBef>
                </a:pPr>
                <a:r>
                  <a:rPr lang="en-US" altLang="zh-CN" sz="2400" dirty="0"/>
                  <a:t>         =</a:t>
                </a:r>
                <a14:m>
                  <m:oMath xmlns:m="http://schemas.openxmlformats.org/officeDocument/2006/math">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0</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1</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𝑅</m:t>
                        </m:r>
                      </m:e>
                      <m:sub>
                        <m:r>
                          <a:rPr lang="en-US" altLang="zh-CN" sz="2400" i="1">
                            <a:latin typeface="Cambria Math" panose="02040503050406030204" pitchFamily="18" charset="0"/>
                            <a:ea typeface="华光仿宋_CNKI" panose="02000500000000000000" pitchFamily="2" charset="-122"/>
                          </a:rPr>
                          <m:t>0</m:t>
                        </m:r>
                      </m:sub>
                    </m:sSub>
                    <m:r>
                      <m:rPr>
                        <m:nor/>
                      </m:rPr>
                      <a:rPr lang="en-US" altLang="zh-CN" sz="2400" dirty="0">
                        <a:latin typeface="华光仿宋_CNKI" panose="02000500000000000000" pitchFamily="2" charset="-122"/>
                        <a:ea typeface="华光仿宋_CNKI" panose="02000500000000000000" pitchFamily="2" charset="-122"/>
                      </a:rPr>
                      <m:t>,</m:t>
                    </m:r>
                    <m:r>
                      <m:rPr>
                        <m:nor/>
                      </m:rPr>
                      <a:rPr lang="en-US" altLang="zh-CN" sz="2400" dirty="0">
                        <a:ea typeface="华光仿宋_CNKI" panose="02000500000000000000" pitchFamily="2" charset="-122"/>
                      </a:rPr>
                      <m:t> </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𝑅</m:t>
                        </m:r>
                      </m:e>
                      <m:sub>
                        <m:r>
                          <a:rPr lang="en-US" altLang="zh-CN" sz="2400" i="1">
                            <a:latin typeface="Cambria Math" panose="02040503050406030204" pitchFamily="18" charset="0"/>
                            <a:ea typeface="华光仿宋_CNKI" panose="02000500000000000000" pitchFamily="2" charset="-122"/>
                          </a:rPr>
                          <m:t>1</m:t>
                        </m:r>
                      </m:sub>
                    </m:sSub>
                    <m:r>
                      <m:rPr>
                        <m:nor/>
                      </m:rPr>
                      <a:rPr lang="en-US" altLang="zh-CN" sz="2400" dirty="0">
                        <a:latin typeface="华光仿宋_CNKI" panose="02000500000000000000" pitchFamily="2" charset="-122"/>
                        <a:ea typeface="华光仿宋_CNKI" panose="02000500000000000000" pitchFamily="2" charset="-122"/>
                      </a:rPr>
                      <m:t>]</m:t>
                    </m:r>
                  </m:oMath>
                </a14:m>
                <a:r>
                  <a:rPr lang="zh-CN" altLang="en-US" sz="2400" dirty="0">
                    <a:solidFill>
                      <a:srgbClr val="000000"/>
                    </a:solidFill>
                  </a:rPr>
                  <a:t> </a:t>
                </a:r>
                <a14:m>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1−3</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+2</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3</m:t>
                                  </m:r>
                                </m:sup>
                              </m:sSup>
                            </m:e>
                          </m:mr>
                          <m:mr>
                            <m:e>
                              <m:r>
                                <a:rPr lang="zh-CN" altLang="en-US" sz="2400" i="1">
                                  <a:solidFill>
                                    <a:srgbClr val="000000"/>
                                  </a:solidFill>
                                  <a:latin typeface="Cambria Math" panose="02040503050406030204" pitchFamily="18" charset="0"/>
                                </a:rPr>
                                <m:t>3</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−2</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3</m:t>
                                  </m:r>
                                </m:sup>
                              </m:sSup>
                            </m:e>
                          </m:mr>
                          <m:mr>
                            <m:e>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−2</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3</m:t>
                                  </m:r>
                                </m:sup>
                              </m:sSup>
                            </m:e>
                          </m:mr>
                          <m:mr>
                            <m:e>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3</m:t>
                                  </m:r>
                                </m:sup>
                              </m:sSup>
                            </m:e>
                          </m:mr>
                        </m:m>
                      </m:e>
                    </m:d>
                  </m:oMath>
                </a14:m>
                <a:endParaRPr lang="en-US" altLang="zh-CN" sz="2400" dirty="0"/>
              </a:p>
              <a:p>
                <a:pPr>
                  <a:spcBef>
                    <a:spcPts val="1200"/>
                  </a:spcBef>
                </a:pPr>
                <a:r>
                  <a:rPr lang="en-US" altLang="zh-CN" sz="2400" dirty="0"/>
                  <a:t>        </a:t>
                </a:r>
                <a14:m>
                  <m:oMath xmlns:m="http://schemas.openxmlformats.org/officeDocument/2006/math">
                    <m:r>
                      <a:rPr lang="zh-CN" altLang="en-US" sz="2400" i="1">
                        <a:solidFill>
                          <a:srgbClr val="000000"/>
                        </a:solidFill>
                        <a:latin typeface="Cambria Math" panose="02040503050406030204" pitchFamily="18" charset="0"/>
                      </a:rPr>
                      <m:t>=</m:t>
                    </m:r>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0</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1</m:t>
                        </m:r>
                      </m:sub>
                    </m:sSub>
                    <m:r>
                      <a:rPr lang="en-US" altLang="zh-CN" sz="2400" i="1">
                        <a:latin typeface="Cambria Math" panose="02040503050406030204" pitchFamily="18" charset="0"/>
                        <a:ea typeface="华光仿宋_CNKI" panose="02000500000000000000" pitchFamily="2" charset="-122"/>
                      </a:rPr>
                      <m:t>,</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𝑅</m:t>
                        </m:r>
                      </m:e>
                      <m:sub>
                        <m:r>
                          <a:rPr lang="en-US" altLang="zh-CN" sz="2400" i="1">
                            <a:latin typeface="Cambria Math" panose="02040503050406030204" pitchFamily="18" charset="0"/>
                            <a:ea typeface="华光仿宋_CNKI" panose="02000500000000000000" pitchFamily="2" charset="-122"/>
                          </a:rPr>
                          <m:t>0</m:t>
                        </m:r>
                      </m:sub>
                    </m:sSub>
                    <m:r>
                      <m:rPr>
                        <m:nor/>
                      </m:rPr>
                      <a:rPr lang="en-US" altLang="zh-CN" sz="2400" dirty="0">
                        <a:latin typeface="华光仿宋_CNKI" panose="02000500000000000000" pitchFamily="2" charset="-122"/>
                        <a:ea typeface="华光仿宋_CNKI" panose="02000500000000000000" pitchFamily="2" charset="-122"/>
                      </a:rPr>
                      <m:t>,</m:t>
                    </m:r>
                    <m:r>
                      <m:rPr>
                        <m:nor/>
                      </m:rPr>
                      <a:rPr lang="en-US" altLang="zh-CN" sz="2400" dirty="0">
                        <a:ea typeface="华光仿宋_CNKI" panose="02000500000000000000" pitchFamily="2" charset="-122"/>
                      </a:rPr>
                      <m:t> </m:t>
                    </m:r>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𝑅</m:t>
                        </m:r>
                      </m:e>
                      <m:sub>
                        <m:r>
                          <a:rPr lang="en-US" altLang="zh-CN" sz="2400" i="1">
                            <a:latin typeface="Cambria Math" panose="02040503050406030204" pitchFamily="18" charset="0"/>
                            <a:ea typeface="华光仿宋_CNKI" panose="02000500000000000000" pitchFamily="2" charset="-122"/>
                          </a:rPr>
                          <m:t>1</m:t>
                        </m:r>
                      </m:sub>
                    </m:sSub>
                    <m:r>
                      <m:rPr>
                        <m:nor/>
                      </m:rPr>
                      <a:rPr lang="en-US" altLang="zh-CN" sz="2400" dirty="0">
                        <a:latin typeface="华光仿宋_CNKI" panose="02000500000000000000" pitchFamily="2" charset="-122"/>
                        <a:ea typeface="华光仿宋_CNKI" panose="02000500000000000000" pitchFamily="2" charset="-122"/>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sSub>
                                <m:sSubPr>
                                  <m:ctrlPr>
                                    <a:rPr lang="zh-CN" altLang="en-US"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0</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e>
                          </m:mr>
                          <m:mr>
                            <m:e>
                              <m:sSub>
                                <m:sSubPr>
                                  <m:ctrlPr>
                                    <a:rPr lang="zh-CN" altLang="en-US" sz="240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e>
                          </m:m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en-US" altLang="zh-CN" sz="2400" b="0" i="1" smtClean="0">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e>
                          </m:m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en-US" altLang="zh-CN" sz="2400" b="0" i="1" smtClean="0">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e>
                          </m:mr>
                        </m:m>
                      </m:e>
                    </m:d>
                  </m:oMath>
                </a14:m>
                <a:r>
                  <a:rPr lang="en-US" altLang="zh-CN" sz="2400" dirty="0"/>
                  <a:t>=</a:t>
                </a:r>
                <a:r>
                  <a:rPr lang="en-US" altLang="zh-CN" sz="2400" dirty="0">
                    <a:ea typeface="华光仿宋_CNKI" panose="02000500000000000000" pitchFamily="2" charset="-122"/>
                  </a:rPr>
                  <a:t> </a:t>
                </a:r>
                <a14:m>
                  <m:oMath xmlns:m="http://schemas.openxmlformats.org/officeDocument/2006/math">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0</m:t>
                        </m:r>
                      </m:sub>
                    </m:sSub>
                  </m:oMath>
                </a14:m>
                <a:r>
                  <a:rPr lang="zh-CN" altLang="en-US" sz="2400" dirty="0">
                    <a:solidFill>
                      <a:srgbClr val="000000"/>
                    </a:solidFill>
                  </a:rPr>
                  <a:t> </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0</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a14:m>
                <a:r>
                  <a:rPr lang="en-US" altLang="zh-CN" sz="2400" dirty="0"/>
                  <a:t>+</a:t>
                </a:r>
                <a:r>
                  <a:rPr lang="en-US" altLang="zh-CN" sz="2400" dirty="0">
                    <a:ea typeface="华光仿宋_CNKI" panose="02000500000000000000" pitchFamily="2" charset="-122"/>
                  </a:rPr>
                  <a:t> </a:t>
                </a:r>
                <a14:m>
                  <m:oMath xmlns:m="http://schemas.openxmlformats.org/officeDocument/2006/math">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𝑃</m:t>
                        </m:r>
                      </m:e>
                      <m:sub>
                        <m:r>
                          <a:rPr lang="en-US" altLang="zh-CN" sz="2400" i="1">
                            <a:latin typeface="Cambria Math" panose="02040503050406030204" pitchFamily="18" charset="0"/>
                            <a:ea typeface="华光仿宋_CNKI" panose="02000500000000000000" pitchFamily="2" charset="-122"/>
                          </a:rPr>
                          <m:t>1</m:t>
                        </m:r>
                      </m:sub>
                    </m:sSub>
                  </m:oMath>
                </a14:m>
                <a:r>
                  <a:rPr lang="zh-CN" altLang="en-US" sz="2400" dirty="0">
                    <a:solidFill>
                      <a:srgbClr val="000000"/>
                    </a:solidFill>
                  </a:rPr>
                  <a:t> </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a14:m>
                <a:r>
                  <a:rPr lang="en-US" altLang="zh-CN" sz="2400" dirty="0"/>
                  <a:t>+</a:t>
                </a:r>
                <a:r>
                  <a:rPr lang="en-US" altLang="zh-CN" sz="2400" dirty="0">
                    <a:ea typeface="华光仿宋_CNKI" panose="02000500000000000000" pitchFamily="2" charset="-122"/>
                  </a:rPr>
                  <a:t> </a:t>
                </a:r>
                <a14:m>
                  <m:oMath xmlns:m="http://schemas.openxmlformats.org/officeDocument/2006/math">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𝑅</m:t>
                        </m:r>
                      </m:e>
                      <m:sub>
                        <m:r>
                          <a:rPr lang="en-US" altLang="zh-CN" sz="2400" i="1">
                            <a:latin typeface="Cambria Math" panose="02040503050406030204" pitchFamily="18" charset="0"/>
                            <a:ea typeface="华光仿宋_CNKI" panose="02000500000000000000" pitchFamily="2" charset="-122"/>
                          </a:rPr>
                          <m:t>0</m:t>
                        </m:r>
                      </m:sub>
                    </m:sSub>
                  </m:oMath>
                </a14:m>
                <a:r>
                  <a:rPr lang="zh-CN" altLang="en-US" sz="2400" dirty="0">
                    <a:solidFill>
                      <a:srgbClr val="000000"/>
                    </a:solidFill>
                  </a:rPr>
                  <a:t> </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en-US" altLang="zh-CN"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a14:m>
                <a:r>
                  <a:rPr lang="en-US" altLang="zh-CN" sz="2400" dirty="0"/>
                  <a:t>+</a:t>
                </a:r>
                <a:r>
                  <a:rPr lang="en-US" altLang="zh-CN" sz="2400" dirty="0">
                    <a:ea typeface="华光仿宋_CNKI" panose="02000500000000000000" pitchFamily="2" charset="-122"/>
                  </a:rPr>
                  <a:t> </a:t>
                </a:r>
                <a14:m>
                  <m:oMath xmlns:m="http://schemas.openxmlformats.org/officeDocument/2006/math">
                    <m:sSub>
                      <m:sSubPr>
                        <m:ctrlPr>
                          <a:rPr lang="en-US" altLang="zh-CN" sz="2400" i="1">
                            <a:latin typeface="Cambria Math" panose="02040503050406030204" pitchFamily="18" charset="0"/>
                            <a:ea typeface="华光仿宋_CNKI" panose="02000500000000000000" pitchFamily="2" charset="-122"/>
                          </a:rPr>
                        </m:ctrlPr>
                      </m:sSubPr>
                      <m:e>
                        <m:r>
                          <a:rPr lang="en-US" altLang="zh-CN" sz="2400" i="1">
                            <a:latin typeface="Cambria Math" panose="02040503050406030204" pitchFamily="18" charset="0"/>
                            <a:ea typeface="华光仿宋_CNKI" panose="02000500000000000000" pitchFamily="2" charset="-122"/>
                          </a:rPr>
                          <m:t>𝑅</m:t>
                        </m:r>
                      </m:e>
                      <m:sub>
                        <m:r>
                          <a:rPr lang="en-US" altLang="zh-CN" sz="2400" i="1">
                            <a:latin typeface="Cambria Math" panose="02040503050406030204" pitchFamily="18" charset="0"/>
                            <a:ea typeface="华光仿宋_CNKI" panose="02000500000000000000" pitchFamily="2" charset="-122"/>
                          </a:rPr>
                          <m:t>1</m:t>
                        </m:r>
                      </m:sub>
                    </m:sSub>
                  </m:oMath>
                </a14:m>
                <a:r>
                  <a:rPr lang="zh-CN" altLang="en-US" sz="2400" dirty="0">
                    <a:solidFill>
                      <a:srgbClr val="000000"/>
                    </a:solidFill>
                  </a:rPr>
                  <a:t> </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en-US" altLang="zh-CN"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a14:m>
                <a:endParaRPr lang="zh-CN" altLang="en-US" sz="2400" dirty="0"/>
              </a:p>
            </p:txBody>
          </p:sp>
        </mc:Choice>
        <mc:Fallback xmlns="">
          <p:sp>
            <p:nvSpPr>
              <p:cNvPr id="9" name="文本框 8">
                <a:extLst>
                  <a:ext uri="{FF2B5EF4-FFF2-40B4-BE49-F238E27FC236}">
                    <a16:creationId xmlns:a16="http://schemas.microsoft.com/office/drawing/2014/main" id="{A093464A-1FB6-A90E-59C5-1DFE124C97D5}"/>
                  </a:ext>
                </a:extLst>
              </p:cNvPr>
              <p:cNvSpPr txBox="1">
                <a:spLocks noRot="1" noChangeAspect="1" noMove="1" noResize="1" noEditPoints="1" noAdjustHandles="1" noChangeArrowheads="1" noChangeShapeType="1" noTextEdit="1"/>
              </p:cNvSpPr>
              <p:nvPr/>
            </p:nvSpPr>
            <p:spPr>
              <a:xfrm>
                <a:off x="1213243" y="1568993"/>
                <a:ext cx="10667338" cy="463274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29288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2">
            <a:extLst>
              <a:ext uri="{FF2B5EF4-FFF2-40B4-BE49-F238E27FC236}">
                <a16:creationId xmlns:a16="http://schemas.microsoft.com/office/drawing/2014/main" id="{20DEA536-060B-0BA8-8F70-4E87D2898BD3}"/>
              </a:ext>
            </a:extLst>
          </p:cNvPr>
          <p:cNvSpPr txBox="1">
            <a:spLocks/>
          </p:cNvSpPr>
          <p:nvPr/>
        </p:nvSpPr>
        <p:spPr>
          <a:xfrm>
            <a:off x="651597" y="487740"/>
            <a:ext cx="10591547" cy="21828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3600" b="1" dirty="0">
                <a:solidFill>
                  <a:srgbClr val="C00000"/>
                </a:solidFill>
                <a:latin typeface="华光标题宋_CNKI" panose="02000500000000000000" pitchFamily="2" charset="-122"/>
                <a:ea typeface="华光标题宋_CNKI" panose="02000500000000000000" pitchFamily="2" charset="-122"/>
              </a:rPr>
              <a:t>分析：</a:t>
            </a:r>
            <a:endParaRPr lang="en-US" altLang="zh-CN" sz="3600" b="1" dirty="0">
              <a:solidFill>
                <a:srgbClr val="C00000"/>
              </a:solidFill>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P(t)</a:t>
            </a:r>
            <a:r>
              <a:rPr lang="zh-CN" altLang="en-US" sz="2600" dirty="0">
                <a:latin typeface="华光仿宋_CNKI" panose="02000500000000000000" pitchFamily="2" charset="-122"/>
                <a:ea typeface="华光仿宋_CNKI" panose="02000500000000000000" pitchFamily="2" charset="-122"/>
              </a:rPr>
              <a:t>的构成来看，该曲线与曲线的起始顶点和起始点的切线有关，改变切线矢量的方向和长度对曲线的形状将有很大的影响</a:t>
            </a:r>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如下图所示。</a:t>
            </a:r>
            <a:r>
              <a:rPr lang="en-US" altLang="zh-CN" sz="2600" dirty="0">
                <a:latin typeface="华光仿宋_CNKI" panose="02000500000000000000" pitchFamily="2" charset="-122"/>
                <a:ea typeface="华光仿宋_CNKI" panose="02000500000000000000" pitchFamily="2" charset="-122"/>
              </a:rPr>
              <a:t>    </a:t>
            </a:r>
          </a:p>
        </p:txBody>
      </p:sp>
      <p:pic>
        <p:nvPicPr>
          <p:cNvPr id="2" name="Picture 7" descr="10P8">
            <a:extLst>
              <a:ext uri="{FF2B5EF4-FFF2-40B4-BE49-F238E27FC236}">
                <a16:creationId xmlns:a16="http://schemas.microsoft.com/office/drawing/2014/main" id="{2B022575-5610-C50B-1C8B-9102C2BE3D4B}"/>
              </a:ext>
            </a:extLst>
          </p:cNvPr>
          <p:cNvPicPr>
            <a:picLocks noChangeAspect="1" noChangeArrowheads="1"/>
          </p:cNvPicPr>
          <p:nvPr/>
        </p:nvPicPr>
        <p:blipFill>
          <a:blip r:embed="rId3">
            <a:lum bright="-96000" contrast="98000"/>
            <a:extLst>
              <a:ext uri="{28A0092B-C50C-407E-A947-70E740481C1C}">
                <a14:useLocalDpi xmlns:a14="http://schemas.microsoft.com/office/drawing/2010/main" val="0"/>
              </a:ext>
            </a:extLst>
          </a:blip>
          <a:srcRect/>
          <a:stretch>
            <a:fillRect/>
          </a:stretch>
        </p:blipFill>
        <p:spPr bwMode="auto">
          <a:xfrm>
            <a:off x="1795340" y="2758950"/>
            <a:ext cx="8458200" cy="2182812"/>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9DC22D94-62BD-E60D-6698-6D821E0BB7BA}"/>
              </a:ext>
            </a:extLst>
          </p:cNvPr>
          <p:cNvSpPr txBox="1"/>
          <p:nvPr/>
        </p:nvSpPr>
        <p:spPr>
          <a:xfrm>
            <a:off x="3525999" y="5231957"/>
            <a:ext cx="4996881" cy="492443"/>
          </a:xfrm>
          <a:prstGeom prst="rect">
            <a:avLst/>
          </a:prstGeom>
          <a:noFill/>
        </p:spPr>
        <p:txBody>
          <a:bodyPr wrap="none" rtlCol="0">
            <a:spAutoFit/>
          </a:bodyPr>
          <a:lstStyle/>
          <a:p>
            <a:r>
              <a:rPr lang="zh-CN" altLang="en-US" sz="2600" dirty="0">
                <a:latin typeface="华光仿宋_CNKI" panose="02000500000000000000" pitchFamily="2" charset="-122"/>
                <a:ea typeface="华光仿宋_CNKI" panose="02000500000000000000" pitchFamily="2" charset="-122"/>
              </a:rPr>
              <a:t>切矢量方向对</a:t>
            </a:r>
            <a:r>
              <a:rPr lang="en-US" altLang="zh-CN" sz="2600" dirty="0">
                <a:latin typeface="华光仿宋_CNKI" panose="02000500000000000000" pitchFamily="2" charset="-122"/>
                <a:ea typeface="华光仿宋_CNKI" panose="02000500000000000000" pitchFamily="2" charset="-122"/>
              </a:rPr>
              <a:t>Hermite</a:t>
            </a:r>
            <a:r>
              <a:rPr lang="zh-CN" altLang="en-US" sz="2600" dirty="0">
                <a:latin typeface="华光仿宋_CNKI" panose="02000500000000000000" pitchFamily="2" charset="-122"/>
                <a:ea typeface="华光仿宋_CNKI" panose="02000500000000000000" pitchFamily="2" charset="-122"/>
              </a:rPr>
              <a:t>曲线的影响</a:t>
            </a:r>
          </a:p>
        </p:txBody>
      </p:sp>
    </p:spTree>
    <p:extLst>
      <p:ext uri="{BB962C8B-B14F-4D97-AF65-F5344CB8AC3E}">
        <p14:creationId xmlns:p14="http://schemas.microsoft.com/office/powerpoint/2010/main" val="40237589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DC22D94-62BD-E60D-6698-6D821E0BB7BA}"/>
              </a:ext>
            </a:extLst>
          </p:cNvPr>
          <p:cNvSpPr txBox="1"/>
          <p:nvPr/>
        </p:nvSpPr>
        <p:spPr>
          <a:xfrm>
            <a:off x="7099703" y="2576221"/>
            <a:ext cx="4996881" cy="492443"/>
          </a:xfrm>
          <a:prstGeom prst="rect">
            <a:avLst/>
          </a:prstGeom>
          <a:noFill/>
        </p:spPr>
        <p:txBody>
          <a:bodyPr wrap="none" rtlCol="0">
            <a:spAutoFit/>
          </a:bodyPr>
          <a:lstStyle/>
          <a:p>
            <a:r>
              <a:rPr lang="zh-CN" altLang="en-US" sz="2600" dirty="0">
                <a:latin typeface="华光仿宋_CNKI" panose="02000500000000000000" pitchFamily="2" charset="-122"/>
                <a:ea typeface="华光仿宋_CNKI" panose="02000500000000000000" pitchFamily="2" charset="-122"/>
              </a:rPr>
              <a:t>切矢量长度对</a:t>
            </a:r>
            <a:r>
              <a:rPr lang="en-US" altLang="zh-CN" sz="2600" dirty="0">
                <a:latin typeface="华光仿宋_CNKI" panose="02000500000000000000" pitchFamily="2" charset="-122"/>
                <a:ea typeface="华光仿宋_CNKI" panose="02000500000000000000" pitchFamily="2" charset="-122"/>
              </a:rPr>
              <a:t>Hermite</a:t>
            </a:r>
            <a:r>
              <a:rPr lang="zh-CN" altLang="en-US" sz="2600" dirty="0">
                <a:latin typeface="华光仿宋_CNKI" panose="02000500000000000000" pitchFamily="2" charset="-122"/>
                <a:ea typeface="华光仿宋_CNKI" panose="02000500000000000000" pitchFamily="2" charset="-122"/>
              </a:rPr>
              <a:t>曲线的影响</a:t>
            </a:r>
          </a:p>
        </p:txBody>
      </p:sp>
      <p:grpSp>
        <p:nvGrpSpPr>
          <p:cNvPr id="33" name="组合 32">
            <a:extLst>
              <a:ext uri="{FF2B5EF4-FFF2-40B4-BE49-F238E27FC236}">
                <a16:creationId xmlns:a16="http://schemas.microsoft.com/office/drawing/2014/main" id="{64974510-A6F6-0BE5-B189-CB0D37BD6116}"/>
              </a:ext>
            </a:extLst>
          </p:cNvPr>
          <p:cNvGrpSpPr/>
          <p:nvPr/>
        </p:nvGrpSpPr>
        <p:grpSpPr>
          <a:xfrm>
            <a:off x="7938970" y="954157"/>
            <a:ext cx="3037398" cy="1160890"/>
            <a:chOff x="2735249" y="1455089"/>
            <a:chExt cx="3037398" cy="1160890"/>
          </a:xfrm>
        </p:grpSpPr>
        <p:sp>
          <p:nvSpPr>
            <p:cNvPr id="4" name="任意多边形: 形状 3">
              <a:extLst>
                <a:ext uri="{FF2B5EF4-FFF2-40B4-BE49-F238E27FC236}">
                  <a16:creationId xmlns:a16="http://schemas.microsoft.com/office/drawing/2014/main" id="{6A9BCB52-1AF0-DB56-0BD8-B340A28383E4}"/>
                </a:ext>
              </a:extLst>
            </p:cNvPr>
            <p:cNvSpPr/>
            <p:nvPr/>
          </p:nvSpPr>
          <p:spPr>
            <a:xfrm>
              <a:off x="2735249" y="1971800"/>
              <a:ext cx="2496709" cy="644179"/>
            </a:xfrm>
            <a:custGeom>
              <a:avLst/>
              <a:gdLst>
                <a:gd name="connsiteX0" fmla="*/ 0 w 2496709"/>
                <a:gd name="connsiteY0" fmla="*/ 644179 h 644179"/>
                <a:gd name="connsiteX1" fmla="*/ 938254 w 2496709"/>
                <a:gd name="connsiteY1" fmla="*/ 8075 h 644179"/>
                <a:gd name="connsiteX2" fmla="*/ 2496709 w 2496709"/>
                <a:gd name="connsiteY2" fmla="*/ 334078 h 644179"/>
              </a:gdLst>
              <a:ahLst/>
              <a:cxnLst>
                <a:cxn ang="0">
                  <a:pos x="connsiteX0" y="connsiteY0"/>
                </a:cxn>
                <a:cxn ang="0">
                  <a:pos x="connsiteX1" y="connsiteY1"/>
                </a:cxn>
                <a:cxn ang="0">
                  <a:pos x="connsiteX2" y="connsiteY2"/>
                </a:cxn>
              </a:cxnLst>
              <a:rect l="l" t="t" r="r" b="b"/>
              <a:pathLst>
                <a:path w="2496709" h="644179">
                  <a:moveTo>
                    <a:pt x="0" y="644179"/>
                  </a:moveTo>
                  <a:cubicBezTo>
                    <a:pt x="261068" y="351968"/>
                    <a:pt x="522136" y="59758"/>
                    <a:pt x="938254" y="8075"/>
                  </a:cubicBezTo>
                  <a:cubicBezTo>
                    <a:pt x="1354372" y="-43608"/>
                    <a:pt x="2129624" y="163125"/>
                    <a:pt x="2496709" y="334078"/>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AB296FC1-EF32-F24B-3865-02583C5F6009}"/>
                </a:ext>
              </a:extLst>
            </p:cNvPr>
            <p:cNvCxnSpPr>
              <a:cxnSpLocks/>
            </p:cNvCxnSpPr>
            <p:nvPr/>
          </p:nvCxnSpPr>
          <p:spPr>
            <a:xfrm flipV="1">
              <a:off x="2735249" y="2027583"/>
              <a:ext cx="445273" cy="588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F7733B41-1F97-8625-0E97-584A8D0B76C6}"/>
                </a:ext>
              </a:extLst>
            </p:cNvPr>
            <p:cNvCxnSpPr>
              <a:stCxn id="4" idx="0"/>
            </p:cNvCxnSpPr>
            <p:nvPr/>
          </p:nvCxnSpPr>
          <p:spPr>
            <a:xfrm flipV="1">
              <a:off x="2735249" y="1717482"/>
              <a:ext cx="659958" cy="898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C576E4FE-A24C-EC3D-43F8-93AE62830ACB}"/>
                </a:ext>
              </a:extLst>
            </p:cNvPr>
            <p:cNvCxnSpPr>
              <a:stCxn id="4" idx="0"/>
            </p:cNvCxnSpPr>
            <p:nvPr/>
          </p:nvCxnSpPr>
          <p:spPr>
            <a:xfrm flipV="1">
              <a:off x="2735249" y="1455089"/>
              <a:ext cx="858741" cy="1160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任意多边形: 形状 26">
              <a:extLst>
                <a:ext uri="{FF2B5EF4-FFF2-40B4-BE49-F238E27FC236}">
                  <a16:creationId xmlns:a16="http://schemas.microsoft.com/office/drawing/2014/main" id="{292DEF62-20C2-8E17-25B0-0890512A7922}"/>
                </a:ext>
              </a:extLst>
            </p:cNvPr>
            <p:cNvSpPr/>
            <p:nvPr/>
          </p:nvSpPr>
          <p:spPr>
            <a:xfrm>
              <a:off x="2751151" y="1632706"/>
              <a:ext cx="2464905" cy="983273"/>
            </a:xfrm>
            <a:custGeom>
              <a:avLst/>
              <a:gdLst>
                <a:gd name="connsiteX0" fmla="*/ 0 w 2464905"/>
                <a:gd name="connsiteY0" fmla="*/ 983273 h 983273"/>
                <a:gd name="connsiteX1" fmla="*/ 1097280 w 2464905"/>
                <a:gd name="connsiteY1" fmla="*/ 5263 h 983273"/>
                <a:gd name="connsiteX2" fmla="*/ 2464905 w 2464905"/>
                <a:gd name="connsiteY2" fmla="*/ 665221 h 983273"/>
              </a:gdLst>
              <a:ahLst/>
              <a:cxnLst>
                <a:cxn ang="0">
                  <a:pos x="connsiteX0" y="connsiteY0"/>
                </a:cxn>
                <a:cxn ang="0">
                  <a:pos x="connsiteX1" y="connsiteY1"/>
                </a:cxn>
                <a:cxn ang="0">
                  <a:pos x="connsiteX2" y="connsiteY2"/>
                </a:cxn>
              </a:cxnLst>
              <a:rect l="l" t="t" r="r" b="b"/>
              <a:pathLst>
                <a:path w="2464905" h="983273">
                  <a:moveTo>
                    <a:pt x="0" y="983273"/>
                  </a:moveTo>
                  <a:cubicBezTo>
                    <a:pt x="343231" y="520772"/>
                    <a:pt x="686463" y="58272"/>
                    <a:pt x="1097280" y="5263"/>
                  </a:cubicBezTo>
                  <a:cubicBezTo>
                    <a:pt x="1508097" y="-47746"/>
                    <a:pt x="1986501" y="308737"/>
                    <a:pt x="2464905" y="66522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形状 27">
              <a:extLst>
                <a:ext uri="{FF2B5EF4-FFF2-40B4-BE49-F238E27FC236}">
                  <a16:creationId xmlns:a16="http://schemas.microsoft.com/office/drawing/2014/main" id="{06E61334-1D2D-E88D-A887-7E708BEAB69B}"/>
                </a:ext>
              </a:extLst>
            </p:cNvPr>
            <p:cNvSpPr/>
            <p:nvPr/>
          </p:nvSpPr>
          <p:spPr>
            <a:xfrm>
              <a:off x="2759103" y="1744097"/>
              <a:ext cx="2504660" cy="863931"/>
            </a:xfrm>
            <a:custGeom>
              <a:avLst/>
              <a:gdLst>
                <a:gd name="connsiteX0" fmla="*/ 0 w 2504660"/>
                <a:gd name="connsiteY0" fmla="*/ 863931 h 863931"/>
                <a:gd name="connsiteX1" fmla="*/ 993913 w 2504660"/>
                <a:gd name="connsiteY1" fmla="*/ 5190 h 863931"/>
                <a:gd name="connsiteX2" fmla="*/ 2504660 w 2504660"/>
                <a:gd name="connsiteY2" fmla="*/ 569733 h 863931"/>
              </a:gdLst>
              <a:ahLst/>
              <a:cxnLst>
                <a:cxn ang="0">
                  <a:pos x="connsiteX0" y="connsiteY0"/>
                </a:cxn>
                <a:cxn ang="0">
                  <a:pos x="connsiteX1" y="connsiteY1"/>
                </a:cxn>
                <a:cxn ang="0">
                  <a:pos x="connsiteX2" y="connsiteY2"/>
                </a:cxn>
              </a:cxnLst>
              <a:rect l="l" t="t" r="r" b="b"/>
              <a:pathLst>
                <a:path w="2504660" h="863931">
                  <a:moveTo>
                    <a:pt x="0" y="863931"/>
                  </a:moveTo>
                  <a:cubicBezTo>
                    <a:pt x="288235" y="459077"/>
                    <a:pt x="576470" y="54223"/>
                    <a:pt x="993913" y="5190"/>
                  </a:cubicBezTo>
                  <a:cubicBezTo>
                    <a:pt x="1411356" y="-43843"/>
                    <a:pt x="1958008" y="262945"/>
                    <a:pt x="2504660" y="56973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箭头连接符 31">
              <a:extLst>
                <a:ext uri="{FF2B5EF4-FFF2-40B4-BE49-F238E27FC236}">
                  <a16:creationId xmlns:a16="http://schemas.microsoft.com/office/drawing/2014/main" id="{46D17500-4D9F-944F-8498-21085F628898}"/>
                </a:ext>
              </a:extLst>
            </p:cNvPr>
            <p:cNvCxnSpPr>
              <a:stCxn id="28" idx="2"/>
            </p:cNvCxnSpPr>
            <p:nvPr/>
          </p:nvCxnSpPr>
          <p:spPr>
            <a:xfrm>
              <a:off x="5263763" y="2313830"/>
              <a:ext cx="508884" cy="302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4" name="副标题 2">
            <a:extLst>
              <a:ext uri="{FF2B5EF4-FFF2-40B4-BE49-F238E27FC236}">
                <a16:creationId xmlns:a16="http://schemas.microsoft.com/office/drawing/2014/main" id="{F9ED716E-7423-4E6A-5280-EBDD438962A1}"/>
              </a:ext>
            </a:extLst>
          </p:cNvPr>
          <p:cNvSpPr txBox="1">
            <a:spLocks/>
          </p:cNvSpPr>
          <p:nvPr/>
        </p:nvSpPr>
        <p:spPr>
          <a:xfrm>
            <a:off x="651597" y="487740"/>
            <a:ext cx="6400399" cy="3678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Hermite</a:t>
            </a:r>
            <a:r>
              <a:rPr lang="zh-CN" altLang="en-US" sz="2600" dirty="0">
                <a:latin typeface="华光仿宋_CNKI" panose="02000500000000000000" pitchFamily="2" charset="-122"/>
                <a:ea typeface="华光仿宋_CNKI" panose="02000500000000000000" pitchFamily="2" charset="-122"/>
              </a:rPr>
              <a:t>函数虽然曲线比较简单，且易于理解，但对于设计者来说，由于很难给出两个端点出的切矢量，且切矢量对曲线的形状有很大的影响，因此很难对曲线的走向进行控制，在实际设计中并不实用。</a:t>
            </a:r>
            <a:r>
              <a:rPr lang="en-US" altLang="zh-CN" sz="2600" dirty="0">
                <a:latin typeface="华光仿宋_CNKI" panose="02000500000000000000" pitchFamily="2" charset="-122"/>
                <a:ea typeface="华光仿宋_CNKI" panose="02000500000000000000" pitchFamily="2" charset="-122"/>
              </a:rPr>
              <a:t>    </a:t>
            </a:r>
          </a:p>
        </p:txBody>
      </p:sp>
      <p:sp>
        <p:nvSpPr>
          <p:cNvPr id="38" name="文本框 37">
            <a:extLst>
              <a:ext uri="{FF2B5EF4-FFF2-40B4-BE49-F238E27FC236}">
                <a16:creationId xmlns:a16="http://schemas.microsoft.com/office/drawing/2014/main" id="{2EB8131A-7AEE-8A54-F5A8-11CD7BF94D7E}"/>
              </a:ext>
            </a:extLst>
          </p:cNvPr>
          <p:cNvSpPr txBox="1"/>
          <p:nvPr/>
        </p:nvSpPr>
        <p:spPr>
          <a:xfrm>
            <a:off x="733508" y="3788520"/>
            <a:ext cx="11177546" cy="2429063"/>
          </a:xfrm>
          <a:prstGeom prst="rect">
            <a:avLst/>
          </a:prstGeom>
          <a:noFill/>
        </p:spPr>
        <p:txBody>
          <a:bodyPr wrap="square">
            <a:spAutoFit/>
          </a:bodyPr>
          <a:lstStyle/>
          <a:p>
            <a:pPr>
              <a:lnSpc>
                <a:spcPct val="150000"/>
              </a:lnSpc>
              <a:spcBef>
                <a:spcPts val="1000"/>
              </a:spcBef>
            </a:pPr>
            <a:r>
              <a:rPr lang="en-US" altLang="zh-CN" sz="2600" b="1" dirty="0">
                <a:latin typeface="华光标题宋_CNKI" panose="02000500000000000000" pitchFamily="2" charset="-122"/>
                <a:ea typeface="华光标题宋_CNKI" panose="02000500000000000000" pitchFamily="2" charset="-122"/>
              </a:rPr>
              <a:t>3.6.5 Bezier</a:t>
            </a:r>
            <a:r>
              <a:rPr lang="zh-CN" altLang="en-US" sz="2600" b="1" dirty="0">
                <a:latin typeface="华光标题宋_CNKI" panose="02000500000000000000" pitchFamily="2" charset="-122"/>
                <a:ea typeface="华光标题宋_CNKI" panose="02000500000000000000" pitchFamily="2" charset="-122"/>
              </a:rPr>
              <a:t>曲线</a:t>
            </a:r>
            <a:endParaRPr lang="en-US" altLang="zh-CN" sz="2600" b="1" dirty="0">
              <a:latin typeface="华光标题宋_CNKI" panose="02000500000000000000" pitchFamily="2" charset="-122"/>
              <a:ea typeface="华光标题宋_CNKI" panose="02000500000000000000" pitchFamily="2" charset="-122"/>
            </a:endParaRPr>
          </a:p>
          <a:p>
            <a:pPr algn="l">
              <a:lnSpc>
                <a:spcPct val="150000"/>
              </a:lnSpc>
            </a:pP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曲线通过控制点来控制曲线的形状。把相邻的点连接起来形成一个</a:t>
            </a:r>
            <a:r>
              <a:rPr lang="zh-CN" altLang="en-US" sz="2600" dirty="0">
                <a:latin typeface="华光标题宋_CNKI" panose="02000500000000000000" pitchFamily="2" charset="-122"/>
                <a:ea typeface="华光标题宋_CNKI" panose="02000500000000000000" pitchFamily="2" charset="-122"/>
              </a:rPr>
              <a:t>特征多边形</a:t>
            </a:r>
            <a:r>
              <a:rPr lang="zh-CN" altLang="en-US" sz="2600" dirty="0">
                <a:latin typeface="华光仿宋_CNKI" panose="02000500000000000000" pitchFamily="2" charset="-122"/>
                <a:ea typeface="华光仿宋_CNKI" panose="02000500000000000000" pitchFamily="2" charset="-122"/>
              </a:rPr>
              <a:t>，并将其作为曲线的轮廓线，然后在每个特征多边形顶点配以伯恩斯坦（</a:t>
            </a:r>
            <a:r>
              <a:rPr lang="en-US" altLang="zh-CN" sz="2600" dirty="0">
                <a:latin typeface="华光仿宋_CNKI" panose="02000500000000000000" pitchFamily="2" charset="-122"/>
                <a:ea typeface="华光仿宋_CNKI" panose="02000500000000000000" pitchFamily="2" charset="-122"/>
              </a:rPr>
              <a:t>Bernstein)</a:t>
            </a:r>
            <a:r>
              <a:rPr lang="zh-CN" altLang="en-US" sz="2600" dirty="0">
                <a:latin typeface="华光仿宋_CNKI" panose="02000500000000000000" pitchFamily="2" charset="-122"/>
                <a:ea typeface="华光仿宋_CNKI" panose="02000500000000000000" pitchFamily="2" charset="-122"/>
              </a:rPr>
              <a:t>多项式作为权函数，对特征多边形的各顶点进行加权</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0539186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651597" y="487740"/>
                <a:ext cx="10591547" cy="57937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dirty="0">
                    <a:latin typeface="华光仿宋_CNKI" panose="02000500000000000000" pitchFamily="2" charset="-122"/>
                    <a:ea typeface="华光仿宋_CNKI" panose="02000500000000000000" pitchFamily="2" charset="-122"/>
                  </a:rPr>
                  <a:t>求和，最后生成一条曲线，称之为</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其数学表达式如下：</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400" i="1" smtClean="0">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𝑃</m:t>
                        </m:r>
                      </m:e>
                      <m:sub>
                        <m:r>
                          <a:rPr lang="zh-CN" altLang="en-US" sz="2400" i="1">
                            <a:solidFill>
                              <a:srgbClr val="000000"/>
                            </a:solidFill>
                            <a:latin typeface="Cambria Math" panose="02040503050406030204" pitchFamily="18" charset="0"/>
                          </a:rPr>
                          <m:t>𝑖</m:t>
                        </m:r>
                      </m:sub>
                    </m:sSub>
                  </m:oMath>
                </a14:m>
                <a:r>
                  <a:rPr lang="zh-CN" altLang="en-US" sz="2600" dirty="0">
                    <a:latin typeface="华光仿宋_CNKI" panose="02000500000000000000" pitchFamily="2" charset="-122"/>
                    <a:ea typeface="华光仿宋_CNKI" panose="02000500000000000000" pitchFamily="2" charset="-122"/>
                  </a:rPr>
                  <a:t>为对应的控制点矢量。控制点的个数与曲线形状有直接关系。</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曲线多项式的次数比控制点的个数少</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651597" y="487740"/>
                <a:ext cx="10591547" cy="5793790"/>
              </a:xfrm>
              <a:prstGeom prst="rect">
                <a:avLst/>
              </a:prstGeom>
              <a:blipFill>
                <a:blip r:embed="rId3"/>
                <a:stretch>
                  <a:fillRect l="-10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Object 4">
                <a:extLst>
                  <a:ext uri="{FF2B5EF4-FFF2-40B4-BE49-F238E27FC236}">
                    <a16:creationId xmlns:a16="http://schemas.microsoft.com/office/drawing/2014/main" id="{F5F700EB-02C8-E1EF-8E43-9A7DF0304462}"/>
                  </a:ext>
                </a:extLst>
              </p:cNvPr>
              <p:cNvSpPr txBox="1"/>
              <p:nvPr/>
            </p:nvSpPr>
            <p:spPr bwMode="auto">
              <a:xfrm>
                <a:off x="1331787" y="2092118"/>
                <a:ext cx="7072741" cy="147006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nary>
                        <m:naryPr>
                          <m:chr m:val="∑"/>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=0</m:t>
                          </m:r>
                        </m:sub>
                        <m:sup>
                          <m:r>
                            <a:rPr lang="zh-CN" altLang="en-US" sz="2800" i="1">
                              <a:solidFill>
                                <a:srgbClr val="000000"/>
                              </a:solidFill>
                              <a:latin typeface="Cambria Math" panose="02040503050406030204" pitchFamily="18" charset="0"/>
                            </a:rPr>
                            <m:t>𝑛</m:t>
                          </m:r>
                        </m:sup>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𝑖</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𝐵𝐸</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𝑍</m:t>
                              </m:r>
                            </m:e>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𝑛</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e>
                      </m:nary>
                      <m:m>
                        <m:mPr>
                          <m:plcHide m:val="on"/>
                          <m:mcs>
                            <m:mc>
                              <m:mcPr>
                                <m:count m:val="2"/>
                                <m:mcJc m:val="center"/>
                              </m:mcPr>
                            </m:mc>
                          </m:mcs>
                          <m:ctrlPr>
                            <a:rPr lang="zh-CN" altLang="en-US" sz="2800" i="1">
                              <a:solidFill>
                                <a:srgbClr val="000000"/>
                              </a:solidFill>
                              <a:latin typeface="Cambria Math" panose="02040503050406030204" pitchFamily="18" charset="0"/>
                            </a:rPr>
                          </m:ctrlPr>
                        </m:mPr>
                        <m:mr>
                          <m:e/>
                          <m:e>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e>
                        </m:mr>
                      </m:m>
                    </m:oMath>
                  </m:oMathPara>
                </a14:m>
                <a:endParaRPr lang="zh-CN" altLang="en-US" sz="2800" dirty="0"/>
              </a:p>
            </p:txBody>
          </p:sp>
        </mc:Choice>
        <mc:Fallback xmlns="">
          <p:sp>
            <p:nvSpPr>
              <p:cNvPr id="2" name="Object 4">
                <a:extLst>
                  <a:ext uri="{FF2B5EF4-FFF2-40B4-BE49-F238E27FC236}">
                    <a16:creationId xmlns:a16="http://schemas.microsoft.com/office/drawing/2014/main" id="{F5F700EB-02C8-E1EF-8E43-9A7DF0304462}"/>
                  </a:ext>
                </a:extLst>
              </p:cNvPr>
              <p:cNvSpPr txBox="1">
                <a:spLocks noRot="1" noChangeAspect="1" noMove="1" noResize="1" noEditPoints="1" noAdjustHandles="1" noChangeArrowheads="1" noChangeShapeType="1" noTextEdit="1"/>
              </p:cNvSpPr>
              <p:nvPr/>
            </p:nvSpPr>
            <p:spPr bwMode="auto">
              <a:xfrm>
                <a:off x="1331787" y="2092118"/>
                <a:ext cx="7072741" cy="1470066"/>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B9C04A14-B2D3-ED09-AE77-C6A472235C1E}"/>
                  </a:ext>
                </a:extLst>
              </p:cNvPr>
              <p:cNvSpPr txBox="1"/>
              <p:nvPr/>
            </p:nvSpPr>
            <p:spPr bwMode="auto">
              <a:xfrm>
                <a:off x="1331913" y="3811588"/>
                <a:ext cx="6635294" cy="6270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𝐵𝐸</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𝑍</m:t>
                          </m:r>
                        </m:e>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𝑛</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𝑛</m:t>
                          </m:r>
                        </m:sub>
                        <m:sup>
                          <m:r>
                            <a:rPr lang="zh-CN" altLang="en-US" sz="2800" i="1">
                              <a:solidFill>
                                <a:srgbClr val="000000"/>
                              </a:solidFill>
                              <a:latin typeface="Cambria Math" panose="02040503050406030204" pitchFamily="18" charset="0"/>
                            </a:rPr>
                            <m:t>𝑖</m:t>
                          </m:r>
                        </m:sup>
                      </m:sSubSup>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𝑡</m:t>
                          </m:r>
                        </m:e>
                        <m:sup>
                          <m:r>
                            <a:rPr lang="zh-CN" altLang="en-US" sz="2800" i="1">
                              <a:solidFill>
                                <a:srgbClr val="000000"/>
                              </a:solidFill>
                              <a:latin typeface="Cambria Math" panose="02040503050406030204" pitchFamily="18" charset="0"/>
                            </a:rPr>
                            <m:t>𝑖</m:t>
                          </m:r>
                        </m:sup>
                      </m:sSup>
                      <m:r>
                        <a:rPr lang="zh-CN" altLang="en-US"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𝑡</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m:t>
                          </m:r>
                        </m:e>
                        <m:sup>
                          <m:r>
                            <a:rPr lang="zh-CN" altLang="en-US" sz="2800" i="1">
                              <a:solidFill>
                                <a:srgbClr val="000000"/>
                              </a:solidFill>
                              <a:latin typeface="Cambria Math" panose="02040503050406030204" pitchFamily="18" charset="0"/>
                            </a:rPr>
                            <m:t>𝑛</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𝑖</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oMath>
                  </m:oMathPara>
                </a14:m>
                <a:endParaRPr lang="zh-CN" altLang="en-US" sz="2800" dirty="0"/>
              </a:p>
            </p:txBody>
          </p:sp>
        </mc:Choice>
        <mc:Fallback xmlns="">
          <p:sp>
            <p:nvSpPr>
              <p:cNvPr id="5" name="Object 4">
                <a:extLst>
                  <a:ext uri="{FF2B5EF4-FFF2-40B4-BE49-F238E27FC236}">
                    <a16:creationId xmlns:a16="http://schemas.microsoft.com/office/drawing/2014/main" id="{B9C04A14-B2D3-ED09-AE77-C6A472235C1E}"/>
                  </a:ext>
                </a:extLst>
              </p:cNvPr>
              <p:cNvSpPr txBox="1">
                <a:spLocks noRot="1" noChangeAspect="1" noMove="1" noResize="1" noEditPoints="1" noAdjustHandles="1" noChangeArrowheads="1" noChangeShapeType="1" noTextEdit="1"/>
              </p:cNvSpPr>
              <p:nvPr/>
            </p:nvSpPr>
            <p:spPr bwMode="auto">
              <a:xfrm>
                <a:off x="1331913" y="3811588"/>
                <a:ext cx="6635294" cy="627062"/>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5">
                <a:extLst>
                  <a:ext uri="{FF2B5EF4-FFF2-40B4-BE49-F238E27FC236}">
                    <a16:creationId xmlns:a16="http://schemas.microsoft.com/office/drawing/2014/main" id="{16044702-DFF0-1A1B-1436-D1ABB2256199}"/>
                  </a:ext>
                </a:extLst>
              </p:cNvPr>
              <p:cNvSpPr txBox="1"/>
              <p:nvPr/>
            </p:nvSpPr>
            <p:spPr bwMode="auto">
              <a:xfrm>
                <a:off x="8030921" y="3497884"/>
                <a:ext cx="2575573" cy="9683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𝑛</m:t>
                          </m:r>
                        </m:sub>
                        <m:sup>
                          <m:r>
                            <a:rPr lang="zh-CN" altLang="en-US" sz="2800" i="1">
                              <a:solidFill>
                                <a:srgbClr val="000000"/>
                              </a:solidFill>
                              <a:latin typeface="Cambria Math" panose="02040503050406030204" pitchFamily="18" charset="0"/>
                            </a:rPr>
                            <m:t>𝑖</m:t>
                          </m:r>
                        </m:sup>
                      </m:sSubSup>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𝑛</m:t>
                          </m:r>
                          <m:r>
                            <a:rPr lang="zh-CN" altLang="en-US" sz="2800" i="1">
                              <a:solidFill>
                                <a:srgbClr val="000000"/>
                              </a:solidFill>
                              <a:latin typeface="Cambria Math" panose="02040503050406030204" pitchFamily="18" charset="0"/>
                            </a:rPr>
                            <m:t>!</m:t>
                          </m:r>
                        </m:num>
                        <m:den>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𝑛</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m:t>
                          </m:r>
                        </m:den>
                      </m:f>
                    </m:oMath>
                  </m:oMathPara>
                </a14:m>
                <a:endParaRPr lang="zh-CN" altLang="en-US" sz="2800" dirty="0"/>
              </a:p>
            </p:txBody>
          </p:sp>
        </mc:Choice>
        <mc:Fallback xmlns="">
          <p:sp>
            <p:nvSpPr>
              <p:cNvPr id="19" name="Object 5">
                <a:extLst>
                  <a:ext uri="{FF2B5EF4-FFF2-40B4-BE49-F238E27FC236}">
                    <a16:creationId xmlns:a16="http://schemas.microsoft.com/office/drawing/2014/main" id="{16044702-DFF0-1A1B-1436-D1ABB2256199}"/>
                  </a:ext>
                </a:extLst>
              </p:cNvPr>
              <p:cNvSpPr txBox="1">
                <a:spLocks noRot="1" noChangeAspect="1" noMove="1" noResize="1" noEditPoints="1" noAdjustHandles="1" noChangeArrowheads="1" noChangeShapeType="1" noTextEdit="1"/>
              </p:cNvSpPr>
              <p:nvPr/>
            </p:nvSpPr>
            <p:spPr bwMode="auto">
              <a:xfrm>
                <a:off x="8030921" y="3497884"/>
                <a:ext cx="2575573" cy="968375"/>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4">
                <a:extLst>
                  <a:ext uri="{FF2B5EF4-FFF2-40B4-BE49-F238E27FC236}">
                    <a16:creationId xmlns:a16="http://schemas.microsoft.com/office/drawing/2014/main" id="{C3A8BB6F-9B3B-7D4D-79DD-034C6B1A30CA}"/>
                  </a:ext>
                </a:extLst>
              </p:cNvPr>
              <p:cNvSpPr txBox="1"/>
              <p:nvPr/>
            </p:nvSpPr>
            <p:spPr bwMode="auto">
              <a:xfrm>
                <a:off x="8062181" y="2092118"/>
                <a:ext cx="2513054" cy="5095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m:t>
                          </m:r>
                        </m:e>
                        <m:sub>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0</m:t>
                          </m:r>
                        </m:sub>
                      </m:sSub>
                    </m:oMath>
                  </m:oMathPara>
                </a14:m>
                <a:endParaRPr lang="zh-CN" altLang="en-US" sz="2800" dirty="0"/>
              </a:p>
            </p:txBody>
          </p:sp>
        </mc:Choice>
        <mc:Fallback xmlns="">
          <p:sp>
            <p:nvSpPr>
              <p:cNvPr id="23" name="Object 4">
                <a:extLst>
                  <a:ext uri="{FF2B5EF4-FFF2-40B4-BE49-F238E27FC236}">
                    <a16:creationId xmlns:a16="http://schemas.microsoft.com/office/drawing/2014/main" id="{C3A8BB6F-9B3B-7D4D-79DD-034C6B1A30CA}"/>
                  </a:ext>
                </a:extLst>
              </p:cNvPr>
              <p:cNvSpPr txBox="1">
                <a:spLocks noRot="1" noChangeAspect="1" noMove="1" noResize="1" noEditPoints="1" noAdjustHandles="1" noChangeArrowheads="1" noChangeShapeType="1" noTextEdit="1"/>
              </p:cNvSpPr>
              <p:nvPr/>
            </p:nvSpPr>
            <p:spPr bwMode="auto">
              <a:xfrm>
                <a:off x="8062181" y="2092118"/>
                <a:ext cx="2513054" cy="509587"/>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5">
                <a:extLst>
                  <a:ext uri="{FF2B5EF4-FFF2-40B4-BE49-F238E27FC236}">
                    <a16:creationId xmlns:a16="http://schemas.microsoft.com/office/drawing/2014/main" id="{888DDBE5-2CAF-86AE-A5CB-D96317A1BA12}"/>
                  </a:ext>
                </a:extLst>
              </p:cNvPr>
              <p:cNvSpPr txBox="1"/>
              <p:nvPr/>
            </p:nvSpPr>
            <p:spPr bwMode="auto">
              <a:xfrm>
                <a:off x="8034704" y="2768814"/>
                <a:ext cx="2797174" cy="5095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m:t>
                          </m:r>
                        </m:e>
                        <m:sub>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zh-CN" altLang="en-US" sz="2800" i="1">
                              <a:solidFill>
                                <a:srgbClr val="000000"/>
                              </a:solidFill>
                              <a:latin typeface="Cambria Math" panose="02040503050406030204" pitchFamily="18" charset="0"/>
                            </a:rPr>
                            <m:t>𝑛</m:t>
                          </m:r>
                        </m:sub>
                      </m:sSub>
                    </m:oMath>
                  </m:oMathPara>
                </a14:m>
                <a:endParaRPr lang="zh-CN" altLang="en-US" sz="2800" dirty="0"/>
              </a:p>
            </p:txBody>
          </p:sp>
        </mc:Choice>
        <mc:Fallback xmlns="">
          <p:sp>
            <p:nvSpPr>
              <p:cNvPr id="26" name="Object 5">
                <a:extLst>
                  <a:ext uri="{FF2B5EF4-FFF2-40B4-BE49-F238E27FC236}">
                    <a16:creationId xmlns:a16="http://schemas.microsoft.com/office/drawing/2014/main" id="{888DDBE5-2CAF-86AE-A5CB-D96317A1BA12}"/>
                  </a:ext>
                </a:extLst>
              </p:cNvPr>
              <p:cNvSpPr txBox="1">
                <a:spLocks noRot="1" noChangeAspect="1" noMove="1" noResize="1" noEditPoints="1" noAdjustHandles="1" noChangeArrowheads="1" noChangeShapeType="1" noTextEdit="1"/>
              </p:cNvSpPr>
              <p:nvPr/>
            </p:nvSpPr>
            <p:spPr bwMode="auto">
              <a:xfrm>
                <a:off x="8034704" y="2768814"/>
                <a:ext cx="2797174" cy="509588"/>
              </a:xfrm>
              <a:prstGeom prst="rect">
                <a:avLst/>
              </a:prstGeom>
              <a:blipFill>
                <a:blip r:embed="rId8"/>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487132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61511" y="184581"/>
                <a:ext cx="8118692" cy="619135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    Bezier</a:t>
                </a:r>
                <a:r>
                  <a:rPr lang="zh-CN" altLang="en-US" sz="2600" b="1" dirty="0">
                    <a:latin typeface="华光标题宋_CNKI" panose="02000500000000000000" pitchFamily="2" charset="-122"/>
                    <a:ea typeface="华光标题宋_CNKI" panose="02000500000000000000" pitchFamily="2" charset="-122"/>
                  </a:rPr>
                  <a:t>曲线的性质</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(1) </a:t>
                </a:r>
                <a:r>
                  <a:rPr lang="zh-CN" altLang="en-US" sz="2600" dirty="0">
                    <a:latin typeface="华光大标宋_CNKI" panose="02000500000000000000" pitchFamily="2" charset="-122"/>
                    <a:ea typeface="华光大标宋_CNKI" panose="02000500000000000000" pitchFamily="2" charset="-122"/>
                  </a:rPr>
                  <a:t>过起点和终点</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对于有</a:t>
                </a:r>
                <a:r>
                  <a:rPr lang="en-US" altLang="zh-CN" sz="2600" dirty="0">
                    <a:latin typeface="华光仿宋_CNKI" panose="02000500000000000000" pitchFamily="2" charset="-122"/>
                    <a:ea typeface="华光仿宋_CNKI" panose="02000500000000000000" pitchFamily="2" charset="-122"/>
                  </a:rPr>
                  <a:t>n</a:t>
                </a:r>
                <a:r>
                  <a:rPr lang="zh-CN" altLang="en-US" sz="2600" dirty="0">
                    <a:latin typeface="华光仿宋_CNKI" panose="02000500000000000000" pitchFamily="2" charset="-122"/>
                    <a:ea typeface="华光仿宋_CNKI" panose="02000500000000000000" pitchFamily="2" charset="-122"/>
                  </a:rPr>
                  <a:t>个控制点的</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曲线，在</a:t>
                </a:r>
                <a:r>
                  <a:rPr lang="en-US" altLang="zh-CN" sz="2600" dirty="0">
                    <a:latin typeface="华光仿宋_CNKI" panose="02000500000000000000" pitchFamily="2" charset="-122"/>
                    <a:ea typeface="华光仿宋_CNKI" panose="02000500000000000000" pitchFamily="2" charset="-122"/>
                  </a:rPr>
                  <a:t>t=0</a:t>
                </a:r>
                <a:r>
                  <a:rPr lang="zh-CN" altLang="en-US" sz="2600" dirty="0">
                    <a:latin typeface="华光仿宋_CNKI" panose="02000500000000000000" pitchFamily="2" charset="-122"/>
                    <a:ea typeface="华光仿宋_CNKI" panose="02000500000000000000" pitchFamily="2" charset="-122"/>
                  </a:rPr>
                  <a:t>和</a:t>
                </a:r>
                <a:r>
                  <a:rPr lang="en-US" altLang="zh-CN" sz="2600" dirty="0">
                    <a:latin typeface="华光仿宋_CNKI" panose="02000500000000000000" pitchFamily="2" charset="-122"/>
                    <a:ea typeface="华光仿宋_CNKI" panose="02000500000000000000" pitchFamily="2" charset="-122"/>
                  </a:rPr>
                  <a:t>t=1</a:t>
                </a:r>
                <a:r>
                  <a:rPr lang="zh-CN" altLang="en-US" sz="2600" dirty="0">
                    <a:latin typeface="华光仿宋_CNKI" panose="02000500000000000000" pitchFamily="2" charset="-122"/>
                    <a:ea typeface="华光仿宋_CNKI" panose="02000500000000000000" pitchFamily="2" charset="-122"/>
                  </a:rPr>
                  <a:t>时，曲线过控制点</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0</m:t>
                        </m:r>
                      </m:sub>
                    </m:sSub>
                  </m:oMath>
                </a14:m>
                <a:r>
                  <a:rPr lang="zh-CN" altLang="en-US" sz="2600" dirty="0">
                    <a:latin typeface="华光仿宋_CNKI" panose="02000500000000000000" pitchFamily="2" charset="-122"/>
                    <a:ea typeface="华光仿宋_CNKI" panose="02000500000000000000" pitchFamily="2" charset="-122"/>
                  </a:rPr>
                  <a:t>和</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𝑛</m:t>
                        </m:r>
                      </m:sub>
                    </m:sSub>
                  </m:oMath>
                </a14:m>
                <a:r>
                  <a:rPr lang="zh-CN" altLang="en-US" sz="2600" dirty="0">
                    <a:latin typeface="华光仿宋_CNKI" panose="02000500000000000000" pitchFamily="2" charset="-122"/>
                    <a:ea typeface="华光仿宋_CNKI" panose="02000500000000000000" pitchFamily="2" charset="-122"/>
                  </a:rPr>
                  <a:t>，也就是过第一个和最后一个控制点。从曲线的方程可以看出：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400" dirty="0">
                    <a:solidFill>
                      <a:srgbClr val="000000"/>
                    </a:solidFill>
                  </a:rPr>
                  <a:t>      </a:t>
                </a:r>
                <a14:m>
                  <m:oMath xmlns:m="http://schemas.openxmlformats.org/officeDocument/2006/math">
                    <m:r>
                      <a:rPr lang="zh-CN" altLang="en-US" sz="2400" i="1" smtClean="0">
                        <a:solidFill>
                          <a:srgbClr val="000000"/>
                        </a:solidFill>
                        <a:latin typeface="Cambria Math" panose="02040503050406030204" pitchFamily="18" charset="0"/>
                      </a:rPr>
                      <m:t>𝑃</m:t>
                    </m:r>
                    <m:d>
                      <m:dPr>
                        <m:ctrlPr>
                          <a:rPr lang="zh-CN" altLang="en-US" sz="2400" i="1" smtClean="0">
                            <a:solidFill>
                              <a:srgbClr val="000000"/>
                            </a:solidFill>
                            <a:latin typeface="Cambria Math" panose="02040503050406030204" pitchFamily="18" charset="0"/>
                          </a:rPr>
                        </m:ctrlPr>
                      </m:dPr>
                      <m:e>
                        <m:r>
                          <a:rPr lang="zh-CN" altLang="en-US" sz="2400" i="1" smtClean="0">
                            <a:solidFill>
                              <a:srgbClr val="000000"/>
                            </a:solidFill>
                            <a:latin typeface="Cambria Math" panose="02040503050406030204" pitchFamily="18" charset="0"/>
                          </a:rPr>
                          <m:t>𝑡</m:t>
                        </m:r>
                      </m:e>
                    </m:d>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m:t>
                        </m:r>
                      </m:e>
                      <m:sub>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=0</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𝑃</m:t>
                        </m:r>
                      </m:e>
                      <m:sub>
                        <m:r>
                          <a:rPr lang="zh-CN" altLang="en-US" sz="2400" i="1">
                            <a:solidFill>
                              <a:srgbClr val="000000"/>
                            </a:solidFill>
                            <a:latin typeface="Cambria Math" panose="02040503050406030204" pitchFamily="18" charset="0"/>
                          </a:rPr>
                          <m:t>0</m:t>
                        </m:r>
                      </m:sub>
                    </m:sSub>
                    <m:r>
                      <a:rPr lang="en-US" altLang="zh-CN" sz="2400"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m:t>
                        </m:r>
                      </m:e>
                      <m:sub>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𝑃</m:t>
                        </m:r>
                      </m:e>
                      <m:sub>
                        <m:r>
                          <a:rPr lang="zh-CN" altLang="en-US" i="1">
                            <a:solidFill>
                              <a:srgbClr val="000000"/>
                            </a:solidFill>
                            <a:latin typeface="Cambria Math" panose="02040503050406030204" pitchFamily="18" charset="0"/>
                          </a:rPr>
                          <m:t>𝑛</m:t>
                        </m:r>
                      </m:sub>
                    </m:sSub>
                  </m:oMath>
                </a14:m>
                <a:endParaRPr lang="en-US" altLang="zh-CN" dirty="0"/>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(2)</a:t>
                </a:r>
                <a:r>
                  <a:rPr lang="zh-CN" altLang="en-US" sz="2600" dirty="0">
                    <a:latin typeface="华光大标宋_CNKI" panose="02000500000000000000" pitchFamily="2" charset="-122"/>
                    <a:ea typeface="华光大标宋_CNKI" panose="02000500000000000000" pitchFamily="2" charset="-122"/>
                  </a:rPr>
                  <a:t> 曲线在起点和终点的切线与第一条边和最后一条边走向一致</a:t>
                </a:r>
                <a:r>
                  <a:rPr lang="en-US" altLang="zh-CN" sz="2600" dirty="0">
                    <a:latin typeface="华光仿宋_CNKI" panose="02000500000000000000" pitchFamily="2" charset="-122"/>
                    <a:ea typeface="华光仿宋_CNKI" panose="02000500000000000000" pitchFamily="2" charset="-122"/>
                  </a:rPr>
                  <a:t>       </a:t>
                </a:r>
                <a:br>
                  <a:rPr lang="en-US" altLang="zh-CN" sz="2600" dirty="0">
                    <a:latin typeface="华光仿宋_CNKI" panose="02000500000000000000" pitchFamily="2" charset="-122"/>
                    <a:ea typeface="华光仿宋_CNKI" panose="02000500000000000000" pitchFamily="2" charset="-122"/>
                  </a:rPr>
                </a:b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𝑃</m:t>
                        </m:r>
                      </m:e>
                      <m:sup>
                        <m:r>
                          <a:rPr lang="en-US" altLang="zh-CN" b="0" i="1" smtClean="0">
                            <a:solidFill>
                              <a:srgbClr val="000000"/>
                            </a:solidFill>
                            <a:latin typeface="Cambria Math" panose="02040503050406030204" pitchFamily="18" charset="0"/>
                          </a:rPr>
                          <m:t>′</m:t>
                        </m:r>
                      </m:sup>
                    </m:sSup>
                    <m:d>
                      <m:dPr>
                        <m:ctrlPr>
                          <a:rPr lang="zh-CN" altLang="en-US" i="1" smtClean="0">
                            <a:solidFill>
                              <a:srgbClr val="000000"/>
                            </a:solidFill>
                            <a:latin typeface="Cambria Math" panose="02040503050406030204" pitchFamily="18" charset="0"/>
                          </a:rPr>
                        </m:ctrlPr>
                      </m:dPr>
                      <m:e>
                        <m:r>
                          <a:rPr lang="zh-CN" altLang="en-US" i="1" smtClean="0">
                            <a:solidFill>
                              <a:srgbClr val="000000"/>
                            </a:solidFill>
                            <a:latin typeface="Cambria Math" panose="02040503050406030204" pitchFamily="18" charset="0"/>
                          </a:rPr>
                          <m:t>𝑡</m:t>
                        </m:r>
                      </m:e>
                    </m:d>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m:t>
                        </m:r>
                      </m:e>
                      <m:sub>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𝑛</m:t>
                        </m:r>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m:t>
                    </m:r>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0</m:t>
                        </m:r>
                      </m:sub>
                    </m:sSub>
                    <m:r>
                      <a:rPr lang="en-US" altLang="zh-CN" b="0" i="1" smtClean="0">
                        <a:solidFill>
                          <a:srgbClr val="000000"/>
                        </a:solidFill>
                        <a:latin typeface="Cambria Math" panose="02040503050406030204" pitchFamily="18" charset="0"/>
                      </a:rPr>
                      <m:t>)   </m:t>
                    </m:r>
                    <m:sSup>
                      <m:sSupPr>
                        <m:ctrlPr>
                          <a:rPr lang="en-US" altLang="zh-CN" i="1">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𝑃</m:t>
                        </m:r>
                      </m:e>
                      <m:sup>
                        <m:r>
                          <a:rPr lang="en-US" altLang="zh-CN" i="1">
                            <a:solidFill>
                              <a:srgbClr val="000000"/>
                            </a:solidFill>
                            <a:latin typeface="Cambria Math" panose="02040503050406030204" pitchFamily="18" charset="0"/>
                          </a:rPr>
                          <m:t>′</m:t>
                        </m:r>
                      </m:sup>
                    </m:sSup>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m:t>
                        </m:r>
                      </m:e>
                      <m:sub>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𝑛</m:t>
                        </m:r>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𝑛</m:t>
                        </m:r>
                      </m:sub>
                    </m:sSub>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𝑛</m:t>
                        </m:r>
                        <m:r>
                          <a:rPr lang="en-US" altLang="zh-CN" b="0" i="1" smtClean="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m:t>
                    </m:r>
                  </m:oMath>
                </a14:m>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61511" y="184581"/>
                <a:ext cx="8118692" cy="6191356"/>
              </a:xfrm>
              <a:prstGeom prst="rect">
                <a:avLst/>
              </a:prstGeom>
              <a:blipFill>
                <a:blip r:embed="rId3"/>
                <a:stretch>
                  <a:fillRect l="-1351" r="-1051"/>
                </a:stretch>
              </a:blipFill>
            </p:spPr>
            <p:txBody>
              <a:bodyPr/>
              <a:lstStyle/>
              <a:p>
                <a:r>
                  <a:rPr lang="zh-CN" altLang="en-US">
                    <a:noFill/>
                  </a:rPr>
                  <a:t> </a:t>
                </a:r>
              </a:p>
            </p:txBody>
          </p:sp>
        </mc:Fallback>
      </mc:AlternateContent>
      <p:grpSp>
        <p:nvGrpSpPr>
          <p:cNvPr id="41" name="组合 40">
            <a:extLst>
              <a:ext uri="{FF2B5EF4-FFF2-40B4-BE49-F238E27FC236}">
                <a16:creationId xmlns:a16="http://schemas.microsoft.com/office/drawing/2014/main" id="{86D078FF-B128-5D00-7208-93A1331AD5FC}"/>
              </a:ext>
            </a:extLst>
          </p:cNvPr>
          <p:cNvGrpSpPr/>
          <p:nvPr/>
        </p:nvGrpSpPr>
        <p:grpSpPr>
          <a:xfrm>
            <a:off x="9035876" y="1009482"/>
            <a:ext cx="2886615" cy="1707725"/>
            <a:chOff x="9114971" y="1905739"/>
            <a:chExt cx="2886615" cy="1707725"/>
          </a:xfrm>
        </p:grpSpPr>
        <p:cxnSp>
          <p:nvCxnSpPr>
            <p:cNvPr id="4" name="直接连接符 3">
              <a:extLst>
                <a:ext uri="{FF2B5EF4-FFF2-40B4-BE49-F238E27FC236}">
                  <a16:creationId xmlns:a16="http://schemas.microsoft.com/office/drawing/2014/main" id="{40FA2284-7AD3-33D9-6CC6-646357DD9E82}"/>
                </a:ext>
              </a:extLst>
            </p:cNvPr>
            <p:cNvCxnSpPr>
              <a:cxnSpLocks/>
              <a:stCxn id="11" idx="0"/>
            </p:cNvCxnSpPr>
            <p:nvPr/>
          </p:nvCxnSpPr>
          <p:spPr>
            <a:xfrm flipV="1">
              <a:off x="9342783" y="2393343"/>
              <a:ext cx="341906" cy="850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6C54484-AFC1-069B-9A5A-28B0FAB934E4}"/>
                </a:ext>
              </a:extLst>
            </p:cNvPr>
            <p:cNvCxnSpPr/>
            <p:nvPr/>
          </p:nvCxnSpPr>
          <p:spPr>
            <a:xfrm flipV="1">
              <a:off x="9684689" y="2289976"/>
              <a:ext cx="1049572" cy="1033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6C78BAF-04CA-8FE9-4EE3-FE5078EB73A9}"/>
                </a:ext>
              </a:extLst>
            </p:cNvPr>
            <p:cNvCxnSpPr>
              <a:cxnSpLocks/>
              <a:endCxn id="11" idx="3"/>
            </p:cNvCxnSpPr>
            <p:nvPr/>
          </p:nvCxnSpPr>
          <p:spPr>
            <a:xfrm>
              <a:off x="10734261" y="2289976"/>
              <a:ext cx="479840" cy="588396"/>
            </a:xfrm>
            <a:prstGeom prst="line">
              <a:avLst/>
            </a:prstGeom>
          </p:spPr>
          <p:style>
            <a:lnRef idx="1">
              <a:schemeClr val="accent1"/>
            </a:lnRef>
            <a:fillRef idx="0">
              <a:schemeClr val="accent1"/>
            </a:fillRef>
            <a:effectRef idx="0">
              <a:schemeClr val="accent1"/>
            </a:effectRef>
            <a:fontRef idx="minor">
              <a:schemeClr val="tx1"/>
            </a:fontRef>
          </p:style>
        </p:cxnSp>
        <p:sp>
          <p:nvSpPr>
            <p:cNvPr id="11" name="任意多边形: 形状 10">
              <a:extLst>
                <a:ext uri="{FF2B5EF4-FFF2-40B4-BE49-F238E27FC236}">
                  <a16:creationId xmlns:a16="http://schemas.microsoft.com/office/drawing/2014/main" id="{477E2793-233A-7561-E47B-918FAE5E1DA4}"/>
                </a:ext>
              </a:extLst>
            </p:cNvPr>
            <p:cNvSpPr/>
            <p:nvPr/>
          </p:nvSpPr>
          <p:spPr>
            <a:xfrm>
              <a:off x="9342783" y="2408248"/>
              <a:ext cx="1871318" cy="835884"/>
            </a:xfrm>
            <a:custGeom>
              <a:avLst/>
              <a:gdLst>
                <a:gd name="connsiteX0" fmla="*/ 0 w 1979875"/>
                <a:gd name="connsiteY0" fmla="*/ 835884 h 835884"/>
                <a:gd name="connsiteX1" fmla="*/ 500933 w 1979875"/>
                <a:gd name="connsiteY1" fmla="*/ 88461 h 835884"/>
                <a:gd name="connsiteX2" fmla="*/ 1439187 w 1979875"/>
                <a:gd name="connsiteY2" fmla="*/ 56656 h 835884"/>
                <a:gd name="connsiteX3" fmla="*/ 1979875 w 1979875"/>
                <a:gd name="connsiteY3" fmla="*/ 470124 h 835884"/>
              </a:gdLst>
              <a:ahLst/>
              <a:cxnLst>
                <a:cxn ang="0">
                  <a:pos x="connsiteX0" y="connsiteY0"/>
                </a:cxn>
                <a:cxn ang="0">
                  <a:pos x="connsiteX1" y="connsiteY1"/>
                </a:cxn>
                <a:cxn ang="0">
                  <a:pos x="connsiteX2" y="connsiteY2"/>
                </a:cxn>
                <a:cxn ang="0">
                  <a:pos x="connsiteX3" y="connsiteY3"/>
                </a:cxn>
              </a:cxnLst>
              <a:rect l="l" t="t" r="r" b="b"/>
              <a:pathLst>
                <a:path w="1979875" h="835884">
                  <a:moveTo>
                    <a:pt x="0" y="835884"/>
                  </a:moveTo>
                  <a:cubicBezTo>
                    <a:pt x="130534" y="527108"/>
                    <a:pt x="261069" y="218332"/>
                    <a:pt x="500933" y="88461"/>
                  </a:cubicBezTo>
                  <a:cubicBezTo>
                    <a:pt x="740797" y="-41410"/>
                    <a:pt x="1192697" y="-6954"/>
                    <a:pt x="1439187" y="56656"/>
                  </a:cubicBezTo>
                  <a:cubicBezTo>
                    <a:pt x="1685677" y="120266"/>
                    <a:pt x="1832776" y="295195"/>
                    <a:pt x="1979875" y="47012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590ECF2-F1F6-B029-1E0E-2E557584C2E7}"/>
                    </a:ext>
                  </a:extLst>
                </p:cNvPr>
                <p:cNvSpPr txBox="1"/>
                <p:nvPr/>
              </p:nvSpPr>
              <p:spPr>
                <a:xfrm>
                  <a:off x="9114971" y="3244132"/>
                  <a:ext cx="47237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0</m:t>
                            </m:r>
                          </m:sub>
                        </m:sSub>
                      </m:oMath>
                    </m:oMathPara>
                  </a14:m>
                  <a:endParaRPr lang="zh-CN" altLang="en-US" dirty="0"/>
                </a:p>
              </p:txBody>
            </p:sp>
          </mc:Choice>
          <mc:Fallback xmlns="">
            <p:sp>
              <p:nvSpPr>
                <p:cNvPr id="20" name="文本框 19">
                  <a:extLst>
                    <a:ext uri="{FF2B5EF4-FFF2-40B4-BE49-F238E27FC236}">
                      <a16:creationId xmlns:a16="http://schemas.microsoft.com/office/drawing/2014/main" id="{6590ECF2-F1F6-B029-1E0E-2E557584C2E7}"/>
                    </a:ext>
                  </a:extLst>
                </p:cNvPr>
                <p:cNvSpPr txBox="1">
                  <a:spLocks noRot="1" noChangeAspect="1" noMove="1" noResize="1" noEditPoints="1" noAdjustHandles="1" noChangeArrowheads="1" noChangeShapeType="1" noTextEdit="1"/>
                </p:cNvSpPr>
                <p:nvPr/>
              </p:nvSpPr>
              <p:spPr>
                <a:xfrm>
                  <a:off x="9114971" y="3244132"/>
                  <a:ext cx="472373"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186FB9F-9B19-48E0-6A69-EDFD5EDF499E}"/>
                    </a:ext>
                  </a:extLst>
                </p:cNvPr>
                <p:cNvSpPr txBox="1"/>
                <p:nvPr/>
              </p:nvSpPr>
              <p:spPr>
                <a:xfrm>
                  <a:off x="9488259" y="2038916"/>
                  <a:ext cx="4670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21" name="文本框 20">
                  <a:extLst>
                    <a:ext uri="{FF2B5EF4-FFF2-40B4-BE49-F238E27FC236}">
                      <a16:creationId xmlns:a16="http://schemas.microsoft.com/office/drawing/2014/main" id="{5186FB9F-9B19-48E0-6A69-EDFD5EDF499E}"/>
                    </a:ext>
                  </a:extLst>
                </p:cNvPr>
                <p:cNvSpPr txBox="1">
                  <a:spLocks noRot="1" noChangeAspect="1" noMove="1" noResize="1" noEditPoints="1" noAdjustHandles="1" noChangeArrowheads="1" noChangeShapeType="1" noTextEdit="1"/>
                </p:cNvSpPr>
                <p:nvPr/>
              </p:nvSpPr>
              <p:spPr>
                <a:xfrm>
                  <a:off x="9488259" y="2038916"/>
                  <a:ext cx="467051"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9E26571-DE35-81C3-8E3A-92359EC9DAF0}"/>
                    </a:ext>
                  </a:extLst>
                </p:cNvPr>
                <p:cNvSpPr txBox="1"/>
                <p:nvPr/>
              </p:nvSpPr>
              <p:spPr>
                <a:xfrm>
                  <a:off x="10498074" y="1905739"/>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09E26571-DE35-81C3-8E3A-92359EC9DAF0}"/>
                    </a:ext>
                  </a:extLst>
                </p:cNvPr>
                <p:cNvSpPr txBox="1">
                  <a:spLocks noRot="1" noChangeAspect="1" noMove="1" noResize="1" noEditPoints="1" noAdjustHandles="1" noChangeArrowheads="1" noChangeShapeType="1" noTextEdit="1"/>
                </p:cNvSpPr>
                <p:nvPr/>
              </p:nvSpPr>
              <p:spPr>
                <a:xfrm>
                  <a:off x="10498074" y="1905739"/>
                  <a:ext cx="472372"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E33DB40-35E5-9AB8-E8FF-595C80DF6B1C}"/>
                    </a:ext>
                  </a:extLst>
                </p:cNvPr>
                <p:cNvSpPr txBox="1"/>
                <p:nvPr/>
              </p:nvSpPr>
              <p:spPr>
                <a:xfrm flipH="1">
                  <a:off x="10666930" y="2634071"/>
                  <a:ext cx="13346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3</m:t>
                            </m:r>
                          </m:sub>
                        </m:sSub>
                      </m:oMath>
                    </m:oMathPara>
                  </a14:m>
                  <a:endParaRPr lang="zh-CN" altLang="en-US" dirty="0"/>
                </a:p>
              </p:txBody>
            </p:sp>
          </mc:Choice>
          <mc:Fallback xmlns="">
            <p:sp>
              <p:nvSpPr>
                <p:cNvPr id="24" name="文本框 23">
                  <a:extLst>
                    <a:ext uri="{FF2B5EF4-FFF2-40B4-BE49-F238E27FC236}">
                      <a16:creationId xmlns:a16="http://schemas.microsoft.com/office/drawing/2014/main" id="{AE33DB40-35E5-9AB8-E8FF-595C80DF6B1C}"/>
                    </a:ext>
                  </a:extLst>
                </p:cNvPr>
                <p:cNvSpPr txBox="1">
                  <a:spLocks noRot="1" noChangeAspect="1" noMove="1" noResize="1" noEditPoints="1" noAdjustHandles="1" noChangeArrowheads="1" noChangeShapeType="1" noTextEdit="1"/>
                </p:cNvSpPr>
                <p:nvPr/>
              </p:nvSpPr>
              <p:spPr>
                <a:xfrm flipH="1">
                  <a:off x="10666930" y="2634071"/>
                  <a:ext cx="1334656" cy="369332"/>
                </a:xfrm>
                <a:prstGeom prst="rect">
                  <a:avLst/>
                </a:prstGeom>
                <a:blipFill>
                  <a:blip r:embed="rId7"/>
                  <a:stretch>
                    <a:fillRect/>
                  </a:stretch>
                </a:blipFill>
              </p:spPr>
              <p:txBody>
                <a:bodyPr/>
                <a:lstStyle/>
                <a:p>
                  <a:r>
                    <a:rPr lang="zh-CN" altLang="en-US">
                      <a:noFill/>
                    </a:rPr>
                    <a:t> </a:t>
                  </a:r>
                </a:p>
              </p:txBody>
            </p:sp>
          </mc:Fallback>
        </mc:AlternateContent>
      </p:grpSp>
      <p:grpSp>
        <p:nvGrpSpPr>
          <p:cNvPr id="42" name="组合 41">
            <a:extLst>
              <a:ext uri="{FF2B5EF4-FFF2-40B4-BE49-F238E27FC236}">
                <a16:creationId xmlns:a16="http://schemas.microsoft.com/office/drawing/2014/main" id="{EE636F2A-4C54-3AC0-3B69-ED8DA9E8B37F}"/>
              </a:ext>
            </a:extLst>
          </p:cNvPr>
          <p:cNvGrpSpPr/>
          <p:nvPr/>
        </p:nvGrpSpPr>
        <p:grpSpPr>
          <a:xfrm>
            <a:off x="9130563" y="3429000"/>
            <a:ext cx="2499926" cy="2275058"/>
            <a:chOff x="9013286" y="3834532"/>
            <a:chExt cx="2499926" cy="2275058"/>
          </a:xfrm>
        </p:grpSpPr>
        <p:cxnSp>
          <p:nvCxnSpPr>
            <p:cNvPr id="27" name="直接连接符 26">
              <a:extLst>
                <a:ext uri="{FF2B5EF4-FFF2-40B4-BE49-F238E27FC236}">
                  <a16:creationId xmlns:a16="http://schemas.microsoft.com/office/drawing/2014/main" id="{BBDB052B-2116-B901-A024-AD842AFC9521}"/>
                </a:ext>
              </a:extLst>
            </p:cNvPr>
            <p:cNvCxnSpPr/>
            <p:nvPr/>
          </p:nvCxnSpPr>
          <p:spPr>
            <a:xfrm flipV="1">
              <a:off x="9267371" y="4158343"/>
              <a:ext cx="687939" cy="93617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0D44707-8080-9761-8788-CEDB87226401}"/>
                </a:ext>
              </a:extLst>
            </p:cNvPr>
            <p:cNvCxnSpPr/>
            <p:nvPr/>
          </p:nvCxnSpPr>
          <p:spPr>
            <a:xfrm>
              <a:off x="9955310" y="4158343"/>
              <a:ext cx="778951" cy="1553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1475D10-7075-ADD5-26BF-F26268F38A65}"/>
                </a:ext>
              </a:extLst>
            </p:cNvPr>
            <p:cNvCxnSpPr>
              <a:cxnSpLocks/>
            </p:cNvCxnSpPr>
            <p:nvPr/>
          </p:nvCxnSpPr>
          <p:spPr>
            <a:xfrm flipV="1">
              <a:off x="10734261" y="4666343"/>
              <a:ext cx="778951" cy="1045028"/>
            </a:xfrm>
            <a:prstGeom prst="line">
              <a:avLst/>
            </a:prstGeom>
          </p:spPr>
          <p:style>
            <a:lnRef idx="1">
              <a:schemeClr val="accent1"/>
            </a:lnRef>
            <a:fillRef idx="0">
              <a:schemeClr val="accent1"/>
            </a:fillRef>
            <a:effectRef idx="0">
              <a:schemeClr val="accent1"/>
            </a:effectRef>
            <a:fontRef idx="minor">
              <a:schemeClr val="tx1"/>
            </a:fontRef>
          </p:style>
        </p:cxnSp>
        <p:sp>
          <p:nvSpPr>
            <p:cNvPr id="35" name="任意多边形: 形状 34">
              <a:extLst>
                <a:ext uri="{FF2B5EF4-FFF2-40B4-BE49-F238E27FC236}">
                  <a16:creationId xmlns:a16="http://schemas.microsoft.com/office/drawing/2014/main" id="{95881712-A164-3771-5398-F49E0D5F6C1E}"/>
                </a:ext>
              </a:extLst>
            </p:cNvPr>
            <p:cNvSpPr/>
            <p:nvPr/>
          </p:nvSpPr>
          <p:spPr>
            <a:xfrm>
              <a:off x="9289143" y="4540009"/>
              <a:ext cx="2206171" cy="744256"/>
            </a:xfrm>
            <a:custGeom>
              <a:avLst/>
              <a:gdLst>
                <a:gd name="connsiteX0" fmla="*/ 0 w 2206171"/>
                <a:gd name="connsiteY0" fmla="*/ 532734 h 744256"/>
                <a:gd name="connsiteX1" fmla="*/ 631371 w 2206171"/>
                <a:gd name="connsiteY1" fmla="*/ 2962 h 744256"/>
                <a:gd name="connsiteX2" fmla="*/ 1407886 w 2206171"/>
                <a:gd name="connsiteY2" fmla="*/ 743191 h 744256"/>
                <a:gd name="connsiteX3" fmla="*/ 2206171 w 2206171"/>
                <a:gd name="connsiteY3" fmla="*/ 133591 h 744256"/>
              </a:gdLst>
              <a:ahLst/>
              <a:cxnLst>
                <a:cxn ang="0">
                  <a:pos x="connsiteX0" y="connsiteY0"/>
                </a:cxn>
                <a:cxn ang="0">
                  <a:pos x="connsiteX1" y="connsiteY1"/>
                </a:cxn>
                <a:cxn ang="0">
                  <a:pos x="connsiteX2" y="connsiteY2"/>
                </a:cxn>
                <a:cxn ang="0">
                  <a:pos x="connsiteX3" y="connsiteY3"/>
                </a:cxn>
              </a:cxnLst>
              <a:rect l="l" t="t" r="r" b="b"/>
              <a:pathLst>
                <a:path w="2206171" h="744256">
                  <a:moveTo>
                    <a:pt x="0" y="532734"/>
                  </a:moveTo>
                  <a:cubicBezTo>
                    <a:pt x="198361" y="250310"/>
                    <a:pt x="396723" y="-32114"/>
                    <a:pt x="631371" y="2962"/>
                  </a:cubicBezTo>
                  <a:cubicBezTo>
                    <a:pt x="866019" y="38038"/>
                    <a:pt x="1145419" y="721420"/>
                    <a:pt x="1407886" y="743191"/>
                  </a:cubicBezTo>
                  <a:cubicBezTo>
                    <a:pt x="1670353" y="764963"/>
                    <a:pt x="1938262" y="449277"/>
                    <a:pt x="2206171" y="13359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CDEA3EF-49D9-87D2-4C28-FCEDA90A4910}"/>
                    </a:ext>
                  </a:extLst>
                </p:cNvPr>
                <p:cNvSpPr txBox="1"/>
                <p:nvPr/>
              </p:nvSpPr>
              <p:spPr>
                <a:xfrm>
                  <a:off x="9013286" y="5066934"/>
                  <a:ext cx="4723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0</m:t>
                            </m:r>
                          </m:sub>
                        </m:sSub>
                      </m:oMath>
                    </m:oMathPara>
                  </a14:m>
                  <a:endParaRPr lang="zh-CN" altLang="en-US" dirty="0"/>
                </a:p>
              </p:txBody>
            </p:sp>
          </mc:Choice>
          <mc:Fallback xmlns="">
            <p:sp>
              <p:nvSpPr>
                <p:cNvPr id="36" name="文本框 35">
                  <a:extLst>
                    <a:ext uri="{FF2B5EF4-FFF2-40B4-BE49-F238E27FC236}">
                      <a16:creationId xmlns:a16="http://schemas.microsoft.com/office/drawing/2014/main" id="{2CDEA3EF-49D9-87D2-4C28-FCEDA90A4910}"/>
                    </a:ext>
                  </a:extLst>
                </p:cNvPr>
                <p:cNvSpPr txBox="1">
                  <a:spLocks noRot="1" noChangeAspect="1" noMove="1" noResize="1" noEditPoints="1" noAdjustHandles="1" noChangeArrowheads="1" noChangeShapeType="1" noTextEdit="1"/>
                </p:cNvSpPr>
                <p:nvPr/>
              </p:nvSpPr>
              <p:spPr>
                <a:xfrm>
                  <a:off x="9013286" y="5066934"/>
                  <a:ext cx="472373"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9D0D93AC-6B34-E565-ED5C-FA8CC2E9B679}"/>
                    </a:ext>
                  </a:extLst>
                </p:cNvPr>
                <p:cNvSpPr txBox="1"/>
                <p:nvPr/>
              </p:nvSpPr>
              <p:spPr>
                <a:xfrm>
                  <a:off x="9684689" y="3834532"/>
                  <a:ext cx="4670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37" name="文本框 36">
                  <a:extLst>
                    <a:ext uri="{FF2B5EF4-FFF2-40B4-BE49-F238E27FC236}">
                      <a16:creationId xmlns:a16="http://schemas.microsoft.com/office/drawing/2014/main" id="{9D0D93AC-6B34-E565-ED5C-FA8CC2E9B679}"/>
                    </a:ext>
                  </a:extLst>
                </p:cNvPr>
                <p:cNvSpPr txBox="1">
                  <a:spLocks noRot="1" noChangeAspect="1" noMove="1" noResize="1" noEditPoints="1" noAdjustHandles="1" noChangeArrowheads="1" noChangeShapeType="1" noTextEdit="1"/>
                </p:cNvSpPr>
                <p:nvPr/>
              </p:nvSpPr>
              <p:spPr>
                <a:xfrm>
                  <a:off x="9684689" y="3834532"/>
                  <a:ext cx="467051"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00157E6-1EED-C237-7373-91B8191D2CE5}"/>
                    </a:ext>
                  </a:extLst>
                </p:cNvPr>
                <p:cNvSpPr txBox="1"/>
                <p:nvPr/>
              </p:nvSpPr>
              <p:spPr>
                <a:xfrm>
                  <a:off x="10479184" y="5740258"/>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38" name="文本框 37">
                  <a:extLst>
                    <a:ext uri="{FF2B5EF4-FFF2-40B4-BE49-F238E27FC236}">
                      <a16:creationId xmlns:a16="http://schemas.microsoft.com/office/drawing/2014/main" id="{100157E6-1EED-C237-7373-91B8191D2CE5}"/>
                    </a:ext>
                  </a:extLst>
                </p:cNvPr>
                <p:cNvSpPr txBox="1">
                  <a:spLocks noRot="1" noChangeAspect="1" noMove="1" noResize="1" noEditPoints="1" noAdjustHandles="1" noChangeArrowheads="1" noChangeShapeType="1" noTextEdit="1"/>
                </p:cNvSpPr>
                <p:nvPr/>
              </p:nvSpPr>
              <p:spPr>
                <a:xfrm>
                  <a:off x="10479184" y="5740258"/>
                  <a:ext cx="472372" cy="369332"/>
                </a:xfrm>
                <a:prstGeom prst="rect">
                  <a:avLst/>
                </a:prstGeom>
                <a:blipFill>
                  <a:blip r:embed="rId10"/>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7680BD2-DF2C-B7FB-2111-3B2CC500118B}"/>
                  </a:ext>
                </a:extLst>
              </p:cNvPr>
              <p:cNvSpPr txBox="1"/>
              <p:nvPr/>
            </p:nvSpPr>
            <p:spPr>
              <a:xfrm>
                <a:off x="11500480" y="4185478"/>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3</m:t>
                          </m:r>
                        </m:sub>
                      </m:sSub>
                    </m:oMath>
                  </m:oMathPara>
                </a14:m>
                <a:endParaRPr lang="zh-CN" altLang="en-US" dirty="0"/>
              </a:p>
            </p:txBody>
          </p:sp>
        </mc:Choice>
        <mc:Fallback xmlns="">
          <p:sp>
            <p:nvSpPr>
              <p:cNvPr id="39" name="文本框 38">
                <a:extLst>
                  <a:ext uri="{FF2B5EF4-FFF2-40B4-BE49-F238E27FC236}">
                    <a16:creationId xmlns:a16="http://schemas.microsoft.com/office/drawing/2014/main" id="{17680BD2-DF2C-B7FB-2111-3B2CC500118B}"/>
                  </a:ext>
                </a:extLst>
              </p:cNvPr>
              <p:cNvSpPr txBox="1">
                <a:spLocks noRot="1" noChangeAspect="1" noMove="1" noResize="1" noEditPoints="1" noAdjustHandles="1" noChangeArrowheads="1" noChangeShapeType="1" noTextEdit="1"/>
              </p:cNvSpPr>
              <p:nvPr/>
            </p:nvSpPr>
            <p:spPr>
              <a:xfrm>
                <a:off x="11500480" y="4185478"/>
                <a:ext cx="472372" cy="369332"/>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91750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56923" y="333322"/>
                <a:ext cx="8118692" cy="595136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(3) </a:t>
                </a:r>
                <a:r>
                  <a:rPr lang="zh-CN" altLang="en-US" sz="2600" dirty="0">
                    <a:latin typeface="华光大标宋_CNKI" panose="02000500000000000000" pitchFamily="2" charset="-122"/>
                    <a:ea typeface="华光大标宋_CNKI" panose="02000500000000000000" pitchFamily="2" charset="-122"/>
                  </a:rPr>
                  <a:t>对称性</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将</a:t>
                </a:r>
                <a14:m>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0</m:t>
                        </m:r>
                      </m:sub>
                    </m:sSub>
                  </m:oMath>
                </a14:m>
                <a:r>
                  <a:rPr lang="zh-CN" altLang="en-US" sz="2600" dirty="0">
                    <a:latin typeface="华光仿宋_CNKI" panose="02000500000000000000" pitchFamily="2" charset="-122"/>
                    <a:ea typeface="华光仿宋_CNKI" panose="02000500000000000000" pitchFamily="2" charset="-122"/>
                  </a:rPr>
                  <a:t>与</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𝑛</m:t>
                        </m:r>
                      </m:sub>
                    </m:sSub>
                  </m:oMath>
                </a14:m>
                <a:r>
                  <a:rPr lang="zh-CN" altLang="en-US" sz="2600" dirty="0">
                    <a:latin typeface="华光仿宋_CNKI" panose="02000500000000000000" pitchFamily="2" charset="-122"/>
                    <a:ea typeface="华光仿宋_CNKI" panose="02000500000000000000" pitchFamily="2" charset="-122"/>
                  </a:rPr>
                  <a:t>，</a:t>
                </a:r>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1</m:t>
                        </m:r>
                      </m:sub>
                    </m:sSub>
                  </m:oMath>
                </a14:m>
                <a:r>
                  <a:rPr lang="zh-CN" altLang="en-US" sz="2600" dirty="0">
                    <a:latin typeface="华光仿宋_CNKI" panose="02000500000000000000" pitchFamily="2" charset="-122"/>
                    <a:ea typeface="华光仿宋_CNKI" panose="02000500000000000000" pitchFamily="2" charset="-122"/>
                  </a:rPr>
                  <a:t>与</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𝑛</m:t>
                        </m:r>
                        <m:r>
                          <a:rPr lang="en-US" altLang="zh-CN" sz="2800" b="0" i="1" smtClean="0">
                            <a:solidFill>
                              <a:srgbClr val="000000"/>
                            </a:solidFill>
                            <a:latin typeface="Cambria Math" panose="02040503050406030204" pitchFamily="18" charset="0"/>
                          </a:rPr>
                          <m:t>−1</m:t>
                        </m:r>
                      </m:sub>
                    </m:sSub>
                  </m:oMath>
                </a14:m>
                <a:r>
                  <a:rPr lang="zh-CN" altLang="en-US" sz="2600" dirty="0">
                    <a:latin typeface="华光仿宋_CNKI" panose="02000500000000000000" pitchFamily="2" charset="-122"/>
                    <a:ea typeface="华光仿宋_CNKI" panose="02000500000000000000" pitchFamily="2" charset="-122"/>
                  </a:rPr>
                  <a:t>交换形成新的控制点所生成的</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曲线的形状不变。如右上图所示。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b="1" dirty="0">
                    <a:latin typeface="华光标题宋_CNKI" panose="02000500000000000000" pitchFamily="2" charset="-122"/>
                    <a:ea typeface="华光标题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(4) </a:t>
                </a:r>
                <a:r>
                  <a:rPr lang="zh-CN" altLang="en-US" sz="2600" dirty="0">
                    <a:latin typeface="华光大标宋_CNKI" panose="02000500000000000000" pitchFamily="2" charset="-122"/>
                    <a:ea typeface="华光大标宋_CNKI" panose="02000500000000000000" pitchFamily="2" charset="-122"/>
                  </a:rPr>
                  <a:t>凸包性</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Bezier</a:t>
                </a:r>
                <a:r>
                  <a:rPr lang="zh-CN" altLang="en-US" sz="2600" dirty="0">
                    <a:latin typeface="华光仿宋_CNKI" panose="02000500000000000000" pitchFamily="2" charset="-122"/>
                    <a:ea typeface="华光仿宋_CNKI" panose="02000500000000000000" pitchFamily="2" charset="-122"/>
                  </a:rPr>
                  <a:t>曲线上所有的点均应在有控制多边形所形成的凸多边形之内。如右下图所示。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b="1" dirty="0">
                    <a:latin typeface="华光标题宋_CNKI" panose="02000500000000000000" pitchFamily="2" charset="-122"/>
                    <a:ea typeface="华光标题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(5) </a:t>
                </a:r>
                <a:r>
                  <a:rPr lang="zh-CN" altLang="en-US" sz="2600" dirty="0">
                    <a:latin typeface="华光大标宋_CNKI" panose="02000500000000000000" pitchFamily="2" charset="-122"/>
                    <a:ea typeface="华光大标宋_CNKI" panose="02000500000000000000" pitchFamily="2" charset="-122"/>
                  </a:rPr>
                  <a:t>几何不变性</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由于</a:t>
                </a:r>
                <a:r>
                  <a:rPr lang="en-US" altLang="zh-CN" sz="2600" dirty="0">
                    <a:latin typeface="华光仿宋_CNKI" panose="02000500000000000000" pitchFamily="2" charset="-122"/>
                    <a:ea typeface="华光仿宋_CNKI" panose="02000500000000000000" pitchFamily="2" charset="-122"/>
                  </a:rPr>
                  <a:t>P(t)</a:t>
                </a:r>
                <a:r>
                  <a:rPr lang="zh-CN" altLang="en-US" sz="2600" dirty="0">
                    <a:latin typeface="华光仿宋_CNKI" panose="02000500000000000000" pitchFamily="2" charset="-122"/>
                    <a:ea typeface="华光仿宋_CNKI" panose="02000500000000000000" pitchFamily="2" charset="-122"/>
                  </a:rPr>
                  <a:t>只与多边形的边矢量有关，因此任意的坐标性下其形状也不会发生改变。</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56923" y="333322"/>
                <a:ext cx="8118692" cy="5951364"/>
              </a:xfrm>
              <a:prstGeom prst="rect">
                <a:avLst/>
              </a:prstGeom>
              <a:blipFill>
                <a:blip r:embed="rId3"/>
                <a:stretch>
                  <a:fillRect l="-1351" r="-601"/>
                </a:stretch>
              </a:blipFill>
            </p:spPr>
            <p:txBody>
              <a:bodyPr/>
              <a:lstStyle/>
              <a:p>
                <a:r>
                  <a:rPr lang="zh-CN" altLang="en-US">
                    <a:noFill/>
                  </a:rPr>
                  <a:t> </a:t>
                </a:r>
              </a:p>
            </p:txBody>
          </p:sp>
        </mc:Fallback>
      </mc:AlternateContent>
      <p:grpSp>
        <p:nvGrpSpPr>
          <p:cNvPr id="41" name="组合 40">
            <a:extLst>
              <a:ext uri="{FF2B5EF4-FFF2-40B4-BE49-F238E27FC236}">
                <a16:creationId xmlns:a16="http://schemas.microsoft.com/office/drawing/2014/main" id="{86D078FF-B128-5D00-7208-93A1331AD5FC}"/>
              </a:ext>
            </a:extLst>
          </p:cNvPr>
          <p:cNvGrpSpPr/>
          <p:nvPr/>
        </p:nvGrpSpPr>
        <p:grpSpPr>
          <a:xfrm>
            <a:off x="9035876" y="1009482"/>
            <a:ext cx="2886615" cy="1707725"/>
            <a:chOff x="9114971" y="1905739"/>
            <a:chExt cx="2886615" cy="1707725"/>
          </a:xfrm>
        </p:grpSpPr>
        <p:cxnSp>
          <p:nvCxnSpPr>
            <p:cNvPr id="4" name="直接连接符 3">
              <a:extLst>
                <a:ext uri="{FF2B5EF4-FFF2-40B4-BE49-F238E27FC236}">
                  <a16:creationId xmlns:a16="http://schemas.microsoft.com/office/drawing/2014/main" id="{40FA2284-7AD3-33D9-6CC6-646357DD9E82}"/>
                </a:ext>
              </a:extLst>
            </p:cNvPr>
            <p:cNvCxnSpPr>
              <a:cxnSpLocks/>
              <a:stCxn id="11" idx="0"/>
            </p:cNvCxnSpPr>
            <p:nvPr/>
          </p:nvCxnSpPr>
          <p:spPr>
            <a:xfrm flipV="1">
              <a:off x="9342783" y="2393343"/>
              <a:ext cx="341906" cy="85078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6C54484-AFC1-069B-9A5A-28B0FAB934E4}"/>
                </a:ext>
              </a:extLst>
            </p:cNvPr>
            <p:cNvCxnSpPr/>
            <p:nvPr/>
          </p:nvCxnSpPr>
          <p:spPr>
            <a:xfrm flipV="1">
              <a:off x="9684689" y="2289976"/>
              <a:ext cx="1049572" cy="1033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6C78BAF-04CA-8FE9-4EE3-FE5078EB73A9}"/>
                </a:ext>
              </a:extLst>
            </p:cNvPr>
            <p:cNvCxnSpPr>
              <a:cxnSpLocks/>
              <a:endCxn id="11" idx="3"/>
            </p:cNvCxnSpPr>
            <p:nvPr/>
          </p:nvCxnSpPr>
          <p:spPr>
            <a:xfrm>
              <a:off x="10734261" y="2289976"/>
              <a:ext cx="479840" cy="588396"/>
            </a:xfrm>
            <a:prstGeom prst="line">
              <a:avLst/>
            </a:prstGeom>
          </p:spPr>
          <p:style>
            <a:lnRef idx="1">
              <a:schemeClr val="accent1"/>
            </a:lnRef>
            <a:fillRef idx="0">
              <a:schemeClr val="accent1"/>
            </a:fillRef>
            <a:effectRef idx="0">
              <a:schemeClr val="accent1"/>
            </a:effectRef>
            <a:fontRef idx="minor">
              <a:schemeClr val="tx1"/>
            </a:fontRef>
          </p:style>
        </p:cxnSp>
        <p:sp>
          <p:nvSpPr>
            <p:cNvPr id="11" name="任意多边形: 形状 10">
              <a:extLst>
                <a:ext uri="{FF2B5EF4-FFF2-40B4-BE49-F238E27FC236}">
                  <a16:creationId xmlns:a16="http://schemas.microsoft.com/office/drawing/2014/main" id="{477E2793-233A-7561-E47B-918FAE5E1DA4}"/>
                </a:ext>
              </a:extLst>
            </p:cNvPr>
            <p:cNvSpPr/>
            <p:nvPr/>
          </p:nvSpPr>
          <p:spPr>
            <a:xfrm>
              <a:off x="9342783" y="2408248"/>
              <a:ext cx="1871318" cy="835884"/>
            </a:xfrm>
            <a:custGeom>
              <a:avLst/>
              <a:gdLst>
                <a:gd name="connsiteX0" fmla="*/ 0 w 1979875"/>
                <a:gd name="connsiteY0" fmla="*/ 835884 h 835884"/>
                <a:gd name="connsiteX1" fmla="*/ 500933 w 1979875"/>
                <a:gd name="connsiteY1" fmla="*/ 88461 h 835884"/>
                <a:gd name="connsiteX2" fmla="*/ 1439187 w 1979875"/>
                <a:gd name="connsiteY2" fmla="*/ 56656 h 835884"/>
                <a:gd name="connsiteX3" fmla="*/ 1979875 w 1979875"/>
                <a:gd name="connsiteY3" fmla="*/ 470124 h 835884"/>
              </a:gdLst>
              <a:ahLst/>
              <a:cxnLst>
                <a:cxn ang="0">
                  <a:pos x="connsiteX0" y="connsiteY0"/>
                </a:cxn>
                <a:cxn ang="0">
                  <a:pos x="connsiteX1" y="connsiteY1"/>
                </a:cxn>
                <a:cxn ang="0">
                  <a:pos x="connsiteX2" y="connsiteY2"/>
                </a:cxn>
                <a:cxn ang="0">
                  <a:pos x="connsiteX3" y="connsiteY3"/>
                </a:cxn>
              </a:cxnLst>
              <a:rect l="l" t="t" r="r" b="b"/>
              <a:pathLst>
                <a:path w="1979875" h="835884">
                  <a:moveTo>
                    <a:pt x="0" y="835884"/>
                  </a:moveTo>
                  <a:cubicBezTo>
                    <a:pt x="130534" y="527108"/>
                    <a:pt x="261069" y="218332"/>
                    <a:pt x="500933" y="88461"/>
                  </a:cubicBezTo>
                  <a:cubicBezTo>
                    <a:pt x="740797" y="-41410"/>
                    <a:pt x="1192697" y="-6954"/>
                    <a:pt x="1439187" y="56656"/>
                  </a:cubicBezTo>
                  <a:cubicBezTo>
                    <a:pt x="1685677" y="120266"/>
                    <a:pt x="1832776" y="295195"/>
                    <a:pt x="1979875" y="47012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590ECF2-F1F6-B029-1E0E-2E557584C2E7}"/>
                    </a:ext>
                  </a:extLst>
                </p:cNvPr>
                <p:cNvSpPr txBox="1"/>
                <p:nvPr/>
              </p:nvSpPr>
              <p:spPr>
                <a:xfrm>
                  <a:off x="9114971" y="3244132"/>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3</m:t>
                            </m:r>
                          </m:sub>
                        </m:sSub>
                      </m:oMath>
                    </m:oMathPara>
                  </a14:m>
                  <a:endParaRPr lang="zh-CN" altLang="en-US" dirty="0"/>
                </a:p>
              </p:txBody>
            </p:sp>
          </mc:Choice>
          <mc:Fallback xmlns="">
            <p:sp>
              <p:nvSpPr>
                <p:cNvPr id="20" name="文本框 19">
                  <a:extLst>
                    <a:ext uri="{FF2B5EF4-FFF2-40B4-BE49-F238E27FC236}">
                      <a16:creationId xmlns:a16="http://schemas.microsoft.com/office/drawing/2014/main" id="{6590ECF2-F1F6-B029-1E0E-2E557584C2E7}"/>
                    </a:ext>
                  </a:extLst>
                </p:cNvPr>
                <p:cNvSpPr txBox="1">
                  <a:spLocks noRot="1" noChangeAspect="1" noMove="1" noResize="1" noEditPoints="1" noAdjustHandles="1" noChangeArrowheads="1" noChangeShapeType="1" noTextEdit="1"/>
                </p:cNvSpPr>
                <p:nvPr/>
              </p:nvSpPr>
              <p:spPr>
                <a:xfrm>
                  <a:off x="9114971" y="3244132"/>
                  <a:ext cx="47237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186FB9F-9B19-48E0-6A69-EDFD5EDF499E}"/>
                    </a:ext>
                  </a:extLst>
                </p:cNvPr>
                <p:cNvSpPr txBox="1"/>
                <p:nvPr/>
              </p:nvSpPr>
              <p:spPr>
                <a:xfrm>
                  <a:off x="9488259" y="2038916"/>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21" name="文本框 20">
                  <a:extLst>
                    <a:ext uri="{FF2B5EF4-FFF2-40B4-BE49-F238E27FC236}">
                      <a16:creationId xmlns:a16="http://schemas.microsoft.com/office/drawing/2014/main" id="{5186FB9F-9B19-48E0-6A69-EDFD5EDF499E}"/>
                    </a:ext>
                  </a:extLst>
                </p:cNvPr>
                <p:cNvSpPr txBox="1">
                  <a:spLocks noRot="1" noChangeAspect="1" noMove="1" noResize="1" noEditPoints="1" noAdjustHandles="1" noChangeArrowheads="1" noChangeShapeType="1" noTextEdit="1"/>
                </p:cNvSpPr>
                <p:nvPr/>
              </p:nvSpPr>
              <p:spPr>
                <a:xfrm>
                  <a:off x="9488259" y="2038916"/>
                  <a:ext cx="472372"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9E26571-DE35-81C3-8E3A-92359EC9DAF0}"/>
                    </a:ext>
                  </a:extLst>
                </p:cNvPr>
                <p:cNvSpPr txBox="1"/>
                <p:nvPr/>
              </p:nvSpPr>
              <p:spPr>
                <a:xfrm>
                  <a:off x="10498074" y="1905739"/>
                  <a:ext cx="4670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09E26571-DE35-81C3-8E3A-92359EC9DAF0}"/>
                    </a:ext>
                  </a:extLst>
                </p:cNvPr>
                <p:cNvSpPr txBox="1">
                  <a:spLocks noRot="1" noChangeAspect="1" noMove="1" noResize="1" noEditPoints="1" noAdjustHandles="1" noChangeArrowheads="1" noChangeShapeType="1" noTextEdit="1"/>
                </p:cNvSpPr>
                <p:nvPr/>
              </p:nvSpPr>
              <p:spPr>
                <a:xfrm>
                  <a:off x="10498074" y="1905739"/>
                  <a:ext cx="46705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E33DB40-35E5-9AB8-E8FF-595C80DF6B1C}"/>
                    </a:ext>
                  </a:extLst>
                </p:cNvPr>
                <p:cNvSpPr txBox="1"/>
                <p:nvPr/>
              </p:nvSpPr>
              <p:spPr>
                <a:xfrm flipH="1">
                  <a:off x="10666930" y="2634071"/>
                  <a:ext cx="13346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0</m:t>
                            </m:r>
                          </m:sub>
                        </m:sSub>
                      </m:oMath>
                    </m:oMathPara>
                  </a14:m>
                  <a:endParaRPr lang="zh-CN" altLang="en-US" dirty="0"/>
                </a:p>
              </p:txBody>
            </p:sp>
          </mc:Choice>
          <mc:Fallback xmlns="">
            <p:sp>
              <p:nvSpPr>
                <p:cNvPr id="24" name="文本框 23">
                  <a:extLst>
                    <a:ext uri="{FF2B5EF4-FFF2-40B4-BE49-F238E27FC236}">
                      <a16:creationId xmlns:a16="http://schemas.microsoft.com/office/drawing/2014/main" id="{AE33DB40-35E5-9AB8-E8FF-595C80DF6B1C}"/>
                    </a:ext>
                  </a:extLst>
                </p:cNvPr>
                <p:cNvSpPr txBox="1">
                  <a:spLocks noRot="1" noChangeAspect="1" noMove="1" noResize="1" noEditPoints="1" noAdjustHandles="1" noChangeArrowheads="1" noChangeShapeType="1" noTextEdit="1"/>
                </p:cNvSpPr>
                <p:nvPr/>
              </p:nvSpPr>
              <p:spPr>
                <a:xfrm flipH="1">
                  <a:off x="10666930" y="2634071"/>
                  <a:ext cx="1334656" cy="369332"/>
                </a:xfrm>
                <a:prstGeom prst="rect">
                  <a:avLst/>
                </a:prstGeom>
                <a:blipFill>
                  <a:blip r:embed="rId7"/>
                  <a:stretch>
                    <a:fillRect/>
                  </a:stretch>
                </a:blipFill>
              </p:spPr>
              <p:txBody>
                <a:bodyPr/>
                <a:lstStyle/>
                <a:p>
                  <a:r>
                    <a:rPr lang="zh-CN" altLang="en-US">
                      <a:noFill/>
                    </a:rPr>
                    <a:t> </a:t>
                  </a:r>
                </a:p>
              </p:txBody>
            </p:sp>
          </mc:Fallback>
        </mc:AlternateContent>
      </p:grpSp>
      <p:grpSp>
        <p:nvGrpSpPr>
          <p:cNvPr id="42" name="组合 41">
            <a:extLst>
              <a:ext uri="{FF2B5EF4-FFF2-40B4-BE49-F238E27FC236}">
                <a16:creationId xmlns:a16="http://schemas.microsoft.com/office/drawing/2014/main" id="{EE636F2A-4C54-3AC0-3B69-ED8DA9E8B37F}"/>
              </a:ext>
            </a:extLst>
          </p:cNvPr>
          <p:cNvGrpSpPr/>
          <p:nvPr/>
        </p:nvGrpSpPr>
        <p:grpSpPr>
          <a:xfrm>
            <a:off x="9148461" y="3345895"/>
            <a:ext cx="2464130" cy="2373835"/>
            <a:chOff x="9031184" y="3751427"/>
            <a:chExt cx="2464130" cy="2373835"/>
          </a:xfrm>
        </p:grpSpPr>
        <p:cxnSp>
          <p:nvCxnSpPr>
            <p:cNvPr id="27" name="直接连接符 26">
              <a:extLst>
                <a:ext uri="{FF2B5EF4-FFF2-40B4-BE49-F238E27FC236}">
                  <a16:creationId xmlns:a16="http://schemas.microsoft.com/office/drawing/2014/main" id="{BBDB052B-2116-B901-A024-AD842AFC9521}"/>
                </a:ext>
              </a:extLst>
            </p:cNvPr>
            <p:cNvCxnSpPr>
              <a:cxnSpLocks/>
            </p:cNvCxnSpPr>
            <p:nvPr/>
          </p:nvCxnSpPr>
          <p:spPr>
            <a:xfrm flipV="1">
              <a:off x="9289143" y="4158343"/>
              <a:ext cx="666167" cy="919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0D44707-8080-9761-8788-CEDB87226401}"/>
                </a:ext>
              </a:extLst>
            </p:cNvPr>
            <p:cNvCxnSpPr/>
            <p:nvPr/>
          </p:nvCxnSpPr>
          <p:spPr>
            <a:xfrm>
              <a:off x="9955310" y="4158343"/>
              <a:ext cx="778951" cy="1553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1475D10-7075-ADD5-26BF-F26268F38A65}"/>
                </a:ext>
              </a:extLst>
            </p:cNvPr>
            <p:cNvCxnSpPr>
              <a:cxnSpLocks/>
            </p:cNvCxnSpPr>
            <p:nvPr/>
          </p:nvCxnSpPr>
          <p:spPr>
            <a:xfrm flipV="1">
              <a:off x="10734261" y="4666343"/>
              <a:ext cx="761053" cy="1045028"/>
            </a:xfrm>
            <a:prstGeom prst="line">
              <a:avLst/>
            </a:prstGeom>
          </p:spPr>
          <p:style>
            <a:lnRef idx="1">
              <a:schemeClr val="accent1"/>
            </a:lnRef>
            <a:fillRef idx="0">
              <a:schemeClr val="accent1"/>
            </a:fillRef>
            <a:effectRef idx="0">
              <a:schemeClr val="accent1"/>
            </a:effectRef>
            <a:fontRef idx="minor">
              <a:schemeClr val="tx1"/>
            </a:fontRef>
          </p:style>
        </p:cxnSp>
        <p:sp>
          <p:nvSpPr>
            <p:cNvPr id="35" name="任意多边形: 形状 34">
              <a:extLst>
                <a:ext uri="{FF2B5EF4-FFF2-40B4-BE49-F238E27FC236}">
                  <a16:creationId xmlns:a16="http://schemas.microsoft.com/office/drawing/2014/main" id="{95881712-A164-3771-5398-F49E0D5F6C1E}"/>
                </a:ext>
              </a:extLst>
            </p:cNvPr>
            <p:cNvSpPr/>
            <p:nvPr/>
          </p:nvSpPr>
          <p:spPr>
            <a:xfrm>
              <a:off x="9289143" y="4540009"/>
              <a:ext cx="2206171" cy="744256"/>
            </a:xfrm>
            <a:custGeom>
              <a:avLst/>
              <a:gdLst>
                <a:gd name="connsiteX0" fmla="*/ 0 w 2206171"/>
                <a:gd name="connsiteY0" fmla="*/ 532734 h 744256"/>
                <a:gd name="connsiteX1" fmla="*/ 631371 w 2206171"/>
                <a:gd name="connsiteY1" fmla="*/ 2962 h 744256"/>
                <a:gd name="connsiteX2" fmla="*/ 1407886 w 2206171"/>
                <a:gd name="connsiteY2" fmla="*/ 743191 h 744256"/>
                <a:gd name="connsiteX3" fmla="*/ 2206171 w 2206171"/>
                <a:gd name="connsiteY3" fmla="*/ 133591 h 744256"/>
              </a:gdLst>
              <a:ahLst/>
              <a:cxnLst>
                <a:cxn ang="0">
                  <a:pos x="connsiteX0" y="connsiteY0"/>
                </a:cxn>
                <a:cxn ang="0">
                  <a:pos x="connsiteX1" y="connsiteY1"/>
                </a:cxn>
                <a:cxn ang="0">
                  <a:pos x="connsiteX2" y="connsiteY2"/>
                </a:cxn>
                <a:cxn ang="0">
                  <a:pos x="connsiteX3" y="connsiteY3"/>
                </a:cxn>
              </a:cxnLst>
              <a:rect l="l" t="t" r="r" b="b"/>
              <a:pathLst>
                <a:path w="2206171" h="744256">
                  <a:moveTo>
                    <a:pt x="0" y="532734"/>
                  </a:moveTo>
                  <a:cubicBezTo>
                    <a:pt x="198361" y="250310"/>
                    <a:pt x="396723" y="-32114"/>
                    <a:pt x="631371" y="2962"/>
                  </a:cubicBezTo>
                  <a:cubicBezTo>
                    <a:pt x="866019" y="38038"/>
                    <a:pt x="1145419" y="721420"/>
                    <a:pt x="1407886" y="743191"/>
                  </a:cubicBezTo>
                  <a:cubicBezTo>
                    <a:pt x="1670353" y="764963"/>
                    <a:pt x="1938262" y="449277"/>
                    <a:pt x="2206171" y="13359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CDEA3EF-49D9-87D2-4C28-FCEDA90A4910}"/>
                    </a:ext>
                  </a:extLst>
                </p:cNvPr>
                <p:cNvSpPr txBox="1"/>
                <p:nvPr/>
              </p:nvSpPr>
              <p:spPr>
                <a:xfrm>
                  <a:off x="9031184" y="5122009"/>
                  <a:ext cx="4723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3</m:t>
                            </m:r>
                          </m:sub>
                        </m:sSub>
                      </m:oMath>
                    </m:oMathPara>
                  </a14:m>
                  <a:endParaRPr lang="zh-CN" altLang="en-US" dirty="0"/>
                </a:p>
              </p:txBody>
            </p:sp>
          </mc:Choice>
          <mc:Fallback xmlns="">
            <p:sp>
              <p:nvSpPr>
                <p:cNvPr id="36" name="文本框 35">
                  <a:extLst>
                    <a:ext uri="{FF2B5EF4-FFF2-40B4-BE49-F238E27FC236}">
                      <a16:creationId xmlns:a16="http://schemas.microsoft.com/office/drawing/2014/main" id="{2CDEA3EF-49D9-87D2-4C28-FCEDA90A4910}"/>
                    </a:ext>
                  </a:extLst>
                </p:cNvPr>
                <p:cNvSpPr txBox="1">
                  <a:spLocks noRot="1" noChangeAspect="1" noMove="1" noResize="1" noEditPoints="1" noAdjustHandles="1" noChangeArrowheads="1" noChangeShapeType="1" noTextEdit="1"/>
                </p:cNvSpPr>
                <p:nvPr/>
              </p:nvSpPr>
              <p:spPr>
                <a:xfrm>
                  <a:off x="9031184" y="5122009"/>
                  <a:ext cx="472373"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9D0D93AC-6B34-E565-ED5C-FA8CC2E9B679}"/>
                    </a:ext>
                  </a:extLst>
                </p:cNvPr>
                <p:cNvSpPr txBox="1"/>
                <p:nvPr/>
              </p:nvSpPr>
              <p:spPr>
                <a:xfrm>
                  <a:off x="9675164" y="3751427"/>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37" name="文本框 36">
                  <a:extLst>
                    <a:ext uri="{FF2B5EF4-FFF2-40B4-BE49-F238E27FC236}">
                      <a16:creationId xmlns:a16="http://schemas.microsoft.com/office/drawing/2014/main" id="{9D0D93AC-6B34-E565-ED5C-FA8CC2E9B679}"/>
                    </a:ext>
                  </a:extLst>
                </p:cNvPr>
                <p:cNvSpPr txBox="1">
                  <a:spLocks noRot="1" noChangeAspect="1" noMove="1" noResize="1" noEditPoints="1" noAdjustHandles="1" noChangeArrowheads="1" noChangeShapeType="1" noTextEdit="1"/>
                </p:cNvSpPr>
                <p:nvPr/>
              </p:nvSpPr>
              <p:spPr>
                <a:xfrm>
                  <a:off x="9675164" y="3751427"/>
                  <a:ext cx="472372"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100157E6-1EED-C237-7373-91B8191D2CE5}"/>
                    </a:ext>
                  </a:extLst>
                </p:cNvPr>
                <p:cNvSpPr txBox="1"/>
                <p:nvPr/>
              </p:nvSpPr>
              <p:spPr>
                <a:xfrm>
                  <a:off x="10522507" y="5755930"/>
                  <a:ext cx="4670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38" name="文本框 37">
                  <a:extLst>
                    <a:ext uri="{FF2B5EF4-FFF2-40B4-BE49-F238E27FC236}">
                      <a16:creationId xmlns:a16="http://schemas.microsoft.com/office/drawing/2014/main" id="{100157E6-1EED-C237-7373-91B8191D2CE5}"/>
                    </a:ext>
                  </a:extLst>
                </p:cNvPr>
                <p:cNvSpPr txBox="1">
                  <a:spLocks noRot="1" noChangeAspect="1" noMove="1" noResize="1" noEditPoints="1" noAdjustHandles="1" noChangeArrowheads="1" noChangeShapeType="1" noTextEdit="1"/>
                </p:cNvSpPr>
                <p:nvPr/>
              </p:nvSpPr>
              <p:spPr>
                <a:xfrm>
                  <a:off x="10522507" y="5755930"/>
                  <a:ext cx="467051" cy="369332"/>
                </a:xfrm>
                <a:prstGeom prst="rect">
                  <a:avLst/>
                </a:prstGeom>
                <a:blipFill>
                  <a:blip r:embed="rId10"/>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7680BD2-DF2C-B7FB-2111-3B2CC500118B}"/>
                  </a:ext>
                </a:extLst>
              </p:cNvPr>
              <p:cNvSpPr txBox="1"/>
              <p:nvPr/>
            </p:nvSpPr>
            <p:spPr>
              <a:xfrm>
                <a:off x="11500480" y="4185478"/>
                <a:ext cx="472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𝑃</m:t>
                          </m:r>
                        </m:e>
                        <m:sub>
                          <m:r>
                            <a:rPr lang="en-US" altLang="zh-CN" sz="1800" b="0" i="1" smtClean="0">
                              <a:solidFill>
                                <a:srgbClr val="000000"/>
                              </a:solidFill>
                              <a:latin typeface="Cambria Math" panose="02040503050406030204" pitchFamily="18" charset="0"/>
                            </a:rPr>
                            <m:t>0</m:t>
                          </m:r>
                        </m:sub>
                      </m:sSub>
                    </m:oMath>
                  </m:oMathPara>
                </a14:m>
                <a:endParaRPr lang="zh-CN" altLang="en-US" dirty="0"/>
              </a:p>
            </p:txBody>
          </p:sp>
        </mc:Choice>
        <mc:Fallback xmlns="">
          <p:sp>
            <p:nvSpPr>
              <p:cNvPr id="39" name="文本框 38">
                <a:extLst>
                  <a:ext uri="{FF2B5EF4-FFF2-40B4-BE49-F238E27FC236}">
                    <a16:creationId xmlns:a16="http://schemas.microsoft.com/office/drawing/2014/main" id="{17680BD2-DF2C-B7FB-2111-3B2CC500118B}"/>
                  </a:ext>
                </a:extLst>
              </p:cNvPr>
              <p:cNvSpPr txBox="1">
                <a:spLocks noRot="1" noChangeAspect="1" noMove="1" noResize="1" noEditPoints="1" noAdjustHandles="1" noChangeArrowheads="1" noChangeShapeType="1" noTextEdit="1"/>
              </p:cNvSpPr>
              <p:nvPr/>
            </p:nvSpPr>
            <p:spPr>
              <a:xfrm>
                <a:off x="11500480" y="4185478"/>
                <a:ext cx="472372" cy="369332"/>
              </a:xfrm>
              <a:prstGeom prst="rect">
                <a:avLst/>
              </a:prstGeom>
              <a:blipFill>
                <a:blip r:embed="rId11"/>
                <a:stretch>
                  <a:fillRect/>
                </a:stretch>
              </a:blipFill>
            </p:spPr>
            <p:txBody>
              <a:bodyPr/>
              <a:lstStyle/>
              <a:p>
                <a:r>
                  <a:rPr lang="zh-CN" altLang="en-US">
                    <a:noFill/>
                  </a:rPr>
                  <a:t> </a:t>
                </a:r>
              </a:p>
            </p:txBody>
          </p:sp>
        </mc:Fallback>
      </mc:AlternateContent>
      <p:cxnSp>
        <p:nvCxnSpPr>
          <p:cNvPr id="3" name="直接连接符 2">
            <a:extLst>
              <a:ext uri="{FF2B5EF4-FFF2-40B4-BE49-F238E27FC236}">
                <a16:creationId xmlns:a16="http://schemas.microsoft.com/office/drawing/2014/main" id="{F194A4C1-7C2C-9030-2716-4C8B0A4990AB}"/>
              </a:ext>
            </a:extLst>
          </p:cNvPr>
          <p:cNvCxnSpPr>
            <a:cxnSpLocks/>
            <a:stCxn id="35" idx="0"/>
          </p:cNvCxnSpPr>
          <p:nvPr/>
        </p:nvCxnSpPr>
        <p:spPr>
          <a:xfrm>
            <a:off x="9406420" y="4667211"/>
            <a:ext cx="1445118" cy="6386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8ED36D1-812C-C3B1-6753-FCFCAE70ED3F}"/>
              </a:ext>
            </a:extLst>
          </p:cNvPr>
          <p:cNvCxnSpPr>
            <a:cxnSpLocks/>
          </p:cNvCxnSpPr>
          <p:nvPr/>
        </p:nvCxnSpPr>
        <p:spPr>
          <a:xfrm>
            <a:off x="10072587" y="3752811"/>
            <a:ext cx="1540004" cy="50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5314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2">
            <a:extLst>
              <a:ext uri="{FF2B5EF4-FFF2-40B4-BE49-F238E27FC236}">
                <a16:creationId xmlns:a16="http://schemas.microsoft.com/office/drawing/2014/main" id="{20DEA536-060B-0BA8-8F70-4E87D2898BD3}"/>
              </a:ext>
            </a:extLst>
          </p:cNvPr>
          <p:cNvSpPr txBox="1">
            <a:spLocks/>
          </p:cNvSpPr>
          <p:nvPr/>
        </p:nvSpPr>
        <p:spPr>
          <a:xfrm>
            <a:off x="762000" y="453318"/>
            <a:ext cx="10496549" cy="595136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(6) </a:t>
            </a:r>
            <a:r>
              <a:rPr lang="zh-CN" altLang="en-US" sz="2600" dirty="0">
                <a:latin typeface="华光大标宋_CNKI" panose="02000500000000000000" pitchFamily="2" charset="-122"/>
                <a:ea typeface="华光大标宋_CNKI" panose="02000500000000000000" pitchFamily="2" charset="-122"/>
              </a:rPr>
              <a:t>变差缩减性</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Bezier</a:t>
            </a:r>
            <a:r>
              <a:rPr lang="zh-CN" altLang="en-US" sz="2600" dirty="0">
                <a:latin typeface="华光仿宋_CNKI" panose="02000500000000000000" pitchFamily="2" charset="-122"/>
                <a:ea typeface="华光仿宋_CNKI" panose="02000500000000000000" pitchFamily="2" charset="-122"/>
              </a:rPr>
              <a:t>曲线的波动比其控制多边形的波动更小，其生成的曲线比其控制多边形所在的折线更光滑。</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b="1" dirty="0">
                <a:latin typeface="华光标题宋_CNKI" panose="02000500000000000000" pitchFamily="2" charset="-122"/>
                <a:ea typeface="华光标题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(7) </a:t>
            </a:r>
            <a:r>
              <a:rPr lang="zh-CN" altLang="en-US" sz="2600" dirty="0">
                <a:latin typeface="华光大标宋_CNKI" panose="02000500000000000000" pitchFamily="2" charset="-122"/>
                <a:ea typeface="华光大标宋_CNKI" panose="02000500000000000000" pitchFamily="2" charset="-122"/>
              </a:rPr>
              <a:t>多值性</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由于</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曲线过起点和终点，因此如果将控制多边形的起点和终点重合时所生成的曲线将是一个封闭的曲线。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b="1" dirty="0">
                <a:latin typeface="华光标题宋_CNKI" panose="02000500000000000000" pitchFamily="2" charset="-122"/>
                <a:ea typeface="华光标题宋_CNKI" panose="02000500000000000000" pitchFamily="2" charset="-122"/>
              </a:rPr>
              <a:t> </a:t>
            </a:r>
            <a:r>
              <a:rPr lang="en-US" altLang="zh-CN" sz="2600" dirty="0">
                <a:latin typeface="华光大标宋_CNKI" panose="02000500000000000000" pitchFamily="2" charset="-122"/>
                <a:ea typeface="华光大标宋_CNKI" panose="02000500000000000000" pitchFamily="2" charset="-122"/>
              </a:rPr>
              <a:t>(8) </a:t>
            </a:r>
            <a:r>
              <a:rPr lang="zh-CN" altLang="en-US" sz="2600" dirty="0">
                <a:latin typeface="华光大标宋_CNKI" panose="02000500000000000000" pitchFamily="2" charset="-122"/>
                <a:ea typeface="华光大标宋_CNKI" panose="02000500000000000000" pitchFamily="2" charset="-122"/>
              </a:rPr>
              <a:t>交互性</a:t>
            </a:r>
            <a:endParaRPr lang="en-US" altLang="zh-CN" sz="2600" dirty="0">
              <a:latin typeface="华光大标宋_CNKI" panose="02000500000000000000" pitchFamily="2" charset="-122"/>
              <a:ea typeface="华光大标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通过修改区域控制点将可以改变曲线的形状，因此比较容易修改曲线的形状，具有较好的交互能力。</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494697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61510" y="184581"/>
                <a:ext cx="10938969" cy="58678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    </a:t>
                </a:r>
                <a:r>
                  <a:rPr lang="zh-CN" altLang="en-US" sz="2600" b="1" dirty="0">
                    <a:latin typeface="华光标题宋_CNKI" panose="02000500000000000000" pitchFamily="2" charset="-122"/>
                    <a:ea typeface="华光标题宋_CNKI" panose="02000500000000000000" pitchFamily="2" charset="-122"/>
                  </a:rPr>
                  <a:t>二次</a:t>
                </a:r>
                <a:r>
                  <a:rPr lang="en-US" altLang="zh-CN" sz="2600" b="1" dirty="0">
                    <a:latin typeface="华光标题宋_CNKI" panose="02000500000000000000" pitchFamily="2" charset="-122"/>
                    <a:ea typeface="华光标题宋_CNKI" panose="02000500000000000000" pitchFamily="2" charset="-122"/>
                  </a:rPr>
                  <a:t>Bezier</a:t>
                </a:r>
                <a:r>
                  <a:rPr lang="zh-CN" altLang="en-US" sz="2600" b="1" dirty="0">
                    <a:latin typeface="华光标题宋_CNKI" panose="02000500000000000000" pitchFamily="2" charset="-122"/>
                    <a:ea typeface="华光标题宋_CNKI" panose="02000500000000000000" pitchFamily="2" charset="-122"/>
                  </a:rPr>
                  <a:t>曲线：</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当控制点的个数为</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时，可以得到如下的</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曲线方程：</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solidFill>
                      <a:srgbClr val="000000"/>
                    </a:solidFill>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400" i="1" smtClean="0">
                        <a:solidFill>
                          <a:srgbClr val="000000"/>
                        </a:solidFill>
                        <a:latin typeface="Cambria Math" panose="02040503050406030204" pitchFamily="18" charset="0"/>
                      </a:rPr>
                      <m:t>𝑃</m:t>
                    </m:r>
                    <m:d>
                      <m:dPr>
                        <m:ctrlPr>
                          <a:rPr lang="zh-CN" altLang="en-US" sz="2400" i="1" smtClean="0">
                            <a:solidFill>
                              <a:srgbClr val="000000"/>
                            </a:solidFill>
                            <a:latin typeface="Cambria Math" panose="02040503050406030204" pitchFamily="18" charset="0"/>
                          </a:rPr>
                        </m:ctrlPr>
                      </m:dPr>
                      <m:e>
                        <m:r>
                          <a:rPr lang="zh-CN" altLang="en-US" sz="2400" i="1" smtClean="0">
                            <a:solidFill>
                              <a:srgbClr val="000000"/>
                            </a:solidFill>
                            <a:latin typeface="Cambria Math" panose="02040503050406030204" pitchFamily="18" charset="0"/>
                          </a:rPr>
                          <m:t>𝑡</m:t>
                        </m:r>
                      </m:e>
                    </m:d>
                    <m:r>
                      <a:rPr lang="zh-CN" altLang="en-US" sz="2400" i="1" smtClean="0">
                        <a:solidFill>
                          <a:srgbClr val="000000"/>
                        </a:solidFill>
                        <a:latin typeface="Cambria Math" panose="02040503050406030204" pitchFamily="18" charset="0"/>
                      </a:rPr>
                      <m:t>=</m:t>
                    </m:r>
                    <m:sSup>
                      <m:sSupPr>
                        <m:ctrlPr>
                          <a:rPr lang="en-US" altLang="zh-CN" sz="2400" b="0" i="1" smtClean="0">
                            <a:solidFill>
                              <a:srgbClr val="000000"/>
                            </a:solidFill>
                            <a:latin typeface="Cambria Math" panose="02040503050406030204" pitchFamily="18" charset="0"/>
                          </a:rPr>
                        </m:ctrlPr>
                      </m:sSupPr>
                      <m:e>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1−</m:t>
                            </m:r>
                            <m:r>
                              <a:rPr lang="en-US" altLang="zh-CN" i="1">
                                <a:solidFill>
                                  <a:srgbClr val="000000"/>
                                </a:solidFill>
                                <a:latin typeface="Cambria Math" panose="02040503050406030204" pitchFamily="18" charset="0"/>
                              </a:rPr>
                              <m:t>𝑡</m:t>
                            </m:r>
                          </m:e>
                        </m:d>
                      </m:e>
                      <m:sup>
                        <m:r>
                          <a:rPr lang="en-US" altLang="zh-CN" sz="2400" b="0" i="1" smtClean="0">
                            <a:solidFill>
                              <a:srgbClr val="000000"/>
                            </a:solidFill>
                            <a:latin typeface="Cambria Math" panose="02040503050406030204" pitchFamily="18" charset="0"/>
                          </a:rPr>
                          <m:t>2</m:t>
                        </m:r>
                      </m:sup>
                    </m:sSup>
                    <m:sSub>
                      <m:sSubPr>
                        <m:ctrlPr>
                          <a:rPr lang="en-US" altLang="zh-CN" sz="2400" b="0" i="1" smtClean="0">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𝑃</m:t>
                        </m:r>
                      </m:e>
                      <m:sub>
                        <m:r>
                          <a:rPr lang="en-US" altLang="zh-CN" sz="2400" b="0" i="1" smtClean="0">
                            <a:solidFill>
                              <a:srgbClr val="000000"/>
                            </a:solidFill>
                            <a:latin typeface="Cambria Math" panose="02040503050406030204" pitchFamily="18" charset="0"/>
                          </a:rPr>
                          <m:t>0</m:t>
                        </m:r>
                      </m:sub>
                    </m:sSub>
                    <m:r>
                      <a:rPr lang="en-US" altLang="zh-CN" sz="2400" b="0" i="1" smtClean="0">
                        <a:solidFill>
                          <a:srgbClr val="000000"/>
                        </a:solidFill>
                        <a:latin typeface="Cambria Math" panose="02040503050406030204" pitchFamily="18" charset="0"/>
                      </a:rPr>
                      <m:t>+2</m:t>
                    </m:r>
                    <m:r>
                      <a:rPr lang="en-US" altLang="zh-CN" sz="2400" b="0" i="1" smtClean="0">
                        <a:solidFill>
                          <a:srgbClr val="000000"/>
                        </a:solidFill>
                        <a:latin typeface="Cambria Math" panose="02040503050406030204" pitchFamily="18" charset="0"/>
                      </a:rPr>
                      <m:t>𝑡</m:t>
                    </m:r>
                    <m:d>
                      <m:dPr>
                        <m:ctrlPr>
                          <a:rPr lang="en-US" altLang="zh-CN" sz="2400" b="0" i="1" smtClean="0">
                            <a:solidFill>
                              <a:srgbClr val="000000"/>
                            </a:solidFill>
                            <a:latin typeface="Cambria Math" panose="02040503050406030204" pitchFamily="18" charset="0"/>
                          </a:rPr>
                        </m:ctrlPr>
                      </m:dPr>
                      <m:e>
                        <m:r>
                          <a:rPr lang="en-US" altLang="zh-CN" sz="2400" b="0" i="1" smtClean="0">
                            <a:solidFill>
                              <a:srgbClr val="000000"/>
                            </a:solidFill>
                            <a:latin typeface="Cambria Math" panose="02040503050406030204" pitchFamily="18" charset="0"/>
                          </a:rPr>
                          <m:t>1−</m:t>
                        </m:r>
                        <m:r>
                          <a:rPr lang="en-US" altLang="zh-CN" sz="2400" b="0" i="1" smtClean="0">
                            <a:solidFill>
                              <a:srgbClr val="000000"/>
                            </a:solidFill>
                            <a:latin typeface="Cambria Math" panose="02040503050406030204" pitchFamily="18" charset="0"/>
                          </a:rPr>
                          <m:t>𝑡</m:t>
                        </m:r>
                      </m:e>
                    </m:d>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1</m:t>
                        </m:r>
                      </m:sub>
                    </m:sSub>
                    <m:r>
                      <a:rPr lang="en-US" altLang="zh-CN" sz="2800" b="0" i="1" smtClean="0">
                        <a:solidFill>
                          <a:srgbClr val="000000"/>
                        </a:solidFill>
                        <a:latin typeface="Cambria Math" panose="02040503050406030204" pitchFamily="18" charset="0"/>
                      </a:rPr>
                      <m:t>+</m:t>
                    </m:r>
                    <m:sSup>
                      <m:sSupPr>
                        <m:ctrlPr>
                          <a:rPr lang="en-US" altLang="zh-CN" sz="2800" b="0" i="1" smtClean="0">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𝑡</m:t>
                        </m:r>
                      </m:e>
                      <m:sup>
                        <m:r>
                          <a:rPr lang="en-US" altLang="zh-CN" sz="2800" b="0" i="1" smtClean="0">
                            <a:solidFill>
                              <a:srgbClr val="000000"/>
                            </a:solidFill>
                            <a:latin typeface="Cambria Math" panose="02040503050406030204" pitchFamily="18" charset="0"/>
                          </a:rPr>
                          <m:t>2</m:t>
                        </m:r>
                      </m:sup>
                    </m:sSup>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m>
                      <m:mPr>
                        <m:plcHide m:val="on"/>
                        <m:mcs>
                          <m:mc>
                            <m:mcPr>
                              <m:count m:val="2"/>
                              <m:mcJc m:val="center"/>
                            </m:mcPr>
                          </m:mc>
                        </m:mcs>
                        <m:ctrlPr>
                          <a:rPr lang="zh-CN" altLang="en-US" sz="2800" i="1">
                            <a:solidFill>
                              <a:srgbClr val="000000"/>
                            </a:solidFill>
                            <a:latin typeface="Cambria Math" panose="02040503050406030204" pitchFamily="18" charset="0"/>
                          </a:rPr>
                        </m:ctrlPr>
                      </m:mPr>
                      <m:mr>
                        <m:e/>
                        <m:e>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e>
                      </m:mr>
                    </m:m>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用矩阵形式表示为：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solidFill>
                      <a:srgbClr val="000000"/>
                    </a:solidFill>
                  </a:rPr>
                  <a:t>       </a:t>
                </a:r>
                <a14:m>
                  <m:oMath xmlns:m="http://schemas.openxmlformats.org/officeDocument/2006/math">
                    <m:r>
                      <a:rPr lang="zh-CN" altLang="en-US" sz="2800" i="1" smtClean="0">
                        <a:solidFill>
                          <a:srgbClr val="000000"/>
                        </a:solidFill>
                        <a:latin typeface="Cambria Math" panose="02040503050406030204" pitchFamily="18" charset="0"/>
                      </a:rPr>
                      <m:t>𝑃</m:t>
                    </m:r>
                    <m:d>
                      <m:dPr>
                        <m:ctrlPr>
                          <a:rPr lang="zh-CN" altLang="en-US" sz="2800" i="1" smtClean="0">
                            <a:solidFill>
                              <a:srgbClr val="000000"/>
                            </a:solidFill>
                            <a:latin typeface="Cambria Math" panose="02040503050406030204" pitchFamily="18" charset="0"/>
                          </a:rPr>
                        </m:ctrlPr>
                      </m:dPr>
                      <m:e>
                        <m:r>
                          <a:rPr lang="zh-CN" altLang="en-US" sz="2800" i="1" smtClean="0">
                            <a:solidFill>
                              <a:srgbClr val="000000"/>
                            </a:solidFill>
                            <a:latin typeface="Cambria Math" panose="02040503050406030204" pitchFamily="18" charset="0"/>
                          </a:rPr>
                          <m:t>𝑡</m:t>
                        </m:r>
                      </m:e>
                    </m:d>
                    <m:r>
                      <a:rPr lang="en-US" altLang="zh-CN" sz="2800" i="1">
                        <a:solidFill>
                          <a:srgbClr val="000000"/>
                        </a:solidFill>
                        <a:latin typeface="Cambria Math" panose="02040503050406030204" pitchFamily="18" charset="0"/>
                      </a:rPr>
                      <m:t>=</m:t>
                    </m:r>
                    <m:r>
                      <a:rPr lang="en-US" altLang="zh-CN" sz="2800" b="0" i="0" smtClean="0">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i="1">
                            <a:solidFill>
                              <a:srgbClr val="000000"/>
                            </a:solidFill>
                            <a:latin typeface="Cambria Math" panose="02040503050406030204" pitchFamily="18" charset="0"/>
                          </a:rPr>
                          <m:t>0</m:t>
                        </m:r>
                      </m:sub>
                    </m:sSub>
                  </m:oMath>
                </a14:m>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1</m:t>
                        </m:r>
                      </m:sub>
                    </m:sSub>
                  </m:oMath>
                </a14:m>
                <a:r>
                  <a:rPr lang="en-US" altLang="zh-CN" sz="2800" dirty="0">
                    <a:latin typeface="华光仿宋_CNKI" panose="02000500000000000000" pitchFamily="2" charset="-122"/>
                    <a:ea typeface="华光仿宋_CNKI" panose="02000500000000000000" pitchFamily="2" charset="-122"/>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b="0" i="1" smtClean="0">
                            <a:solidFill>
                              <a:srgbClr val="000000"/>
                            </a:solidFill>
                            <a:latin typeface="Cambria Math" panose="02040503050406030204" pitchFamily="18" charset="0"/>
                          </a:rPr>
                          <m:t>2</m:t>
                        </m:r>
                      </m:sub>
                    </m:sSub>
                    <m:r>
                      <a:rPr lang="en-US" altLang="zh-CN" sz="2800" b="0" i="1" smtClean="0">
                        <a:solidFill>
                          <a:srgbClr val="000000"/>
                        </a:solidFill>
                        <a:latin typeface="Cambria Math" panose="02040503050406030204" pitchFamily="18" charset="0"/>
                      </a:rPr>
                      <m:t>]</m:t>
                    </m:r>
                    <m:d>
                      <m:dPr>
                        <m:begChr m:val="["/>
                        <m:endChr m:val="]"/>
                        <m:ctrlPr>
                          <a:rPr lang="en-US" altLang="zh-CN" sz="2800" b="0" i="1" smtClean="0">
                            <a:solidFill>
                              <a:srgbClr val="000000"/>
                            </a:solidFill>
                            <a:latin typeface="Cambria Math" panose="02040503050406030204" pitchFamily="18" charset="0"/>
                          </a:rPr>
                        </m:ctrlPr>
                      </m:dPr>
                      <m:e>
                        <m:m>
                          <m:mPr>
                            <m:mcs>
                              <m:mc>
                                <m:mcPr>
                                  <m:count m:val="3"/>
                                  <m:mcJc m:val="center"/>
                                </m:mcPr>
                              </m:mc>
                            </m:mcs>
                            <m:ctrlPr>
                              <a:rPr lang="en-US" altLang="zh-CN" sz="2800" b="0" i="1" smtClean="0">
                                <a:solidFill>
                                  <a:srgbClr val="000000"/>
                                </a:solidFill>
                                <a:latin typeface="Cambria Math" panose="02040503050406030204" pitchFamily="18" charset="0"/>
                              </a:rPr>
                            </m:ctrlPr>
                          </m:mPr>
                          <m:mr>
                            <m:e>
                              <m:r>
                                <m:rPr>
                                  <m:brk m:alnAt="7"/>
                                </m:rPr>
                                <a:rPr lang="en-US" altLang="zh-CN" sz="2800" b="0" i="1" smtClean="0">
                                  <a:solidFill>
                                    <a:srgbClr val="000000"/>
                                  </a:solidFill>
                                  <a:latin typeface="Cambria Math" panose="02040503050406030204" pitchFamily="18" charset="0"/>
                                </a:rPr>
                                <m:t>1</m:t>
                              </m:r>
                            </m:e>
                            <m:e>
                              <m:r>
                                <a:rPr lang="en-US" altLang="zh-CN" sz="2800" b="0" i="1" smtClean="0">
                                  <a:solidFill>
                                    <a:srgbClr val="000000"/>
                                  </a:solidFill>
                                  <a:latin typeface="Cambria Math" panose="02040503050406030204" pitchFamily="18" charset="0"/>
                                </a:rPr>
                                <m:t>−2</m:t>
                              </m:r>
                            </m:e>
                            <m:e>
                              <m:r>
                                <a:rPr lang="en-US" altLang="zh-CN" sz="2800" b="0" i="1" smtClean="0">
                                  <a:solidFill>
                                    <a:srgbClr val="000000"/>
                                  </a:solidFill>
                                  <a:latin typeface="Cambria Math" panose="02040503050406030204" pitchFamily="18" charset="0"/>
                                </a:rPr>
                                <m:t>1</m:t>
                              </m:r>
                            </m:e>
                          </m:mr>
                          <m:mr>
                            <m:e>
                              <m:r>
                                <a:rPr lang="en-US" altLang="zh-CN" sz="2800" b="0" i="1" smtClean="0">
                                  <a:solidFill>
                                    <a:srgbClr val="000000"/>
                                  </a:solidFill>
                                  <a:latin typeface="Cambria Math" panose="02040503050406030204" pitchFamily="18" charset="0"/>
                                </a:rPr>
                                <m:t>0</m:t>
                              </m:r>
                            </m:e>
                            <m:e>
                              <m:r>
                                <a:rPr lang="en-US" altLang="zh-CN" sz="2800" b="0" i="1" smtClean="0">
                                  <a:solidFill>
                                    <a:srgbClr val="000000"/>
                                  </a:solidFill>
                                  <a:latin typeface="Cambria Math" panose="02040503050406030204" pitchFamily="18" charset="0"/>
                                </a:rPr>
                                <m:t>2</m:t>
                              </m:r>
                            </m:e>
                            <m:e>
                              <m:r>
                                <a:rPr lang="en-US" altLang="zh-CN" sz="2800" b="0" i="1" smtClean="0">
                                  <a:solidFill>
                                    <a:srgbClr val="000000"/>
                                  </a:solidFill>
                                  <a:latin typeface="Cambria Math" panose="02040503050406030204" pitchFamily="18" charset="0"/>
                                </a:rPr>
                                <m:t>−2</m:t>
                              </m:r>
                            </m:e>
                          </m:mr>
                          <m:mr>
                            <m:e>
                              <m:r>
                                <a:rPr lang="en-US" altLang="zh-CN" sz="2800" b="0" i="1" smtClean="0">
                                  <a:solidFill>
                                    <a:srgbClr val="000000"/>
                                  </a:solidFill>
                                  <a:latin typeface="Cambria Math" panose="02040503050406030204" pitchFamily="18" charset="0"/>
                                </a:rPr>
                                <m:t>0</m:t>
                              </m:r>
                            </m:e>
                            <m:e>
                              <m:r>
                                <a:rPr lang="en-US" altLang="zh-CN" sz="2800" b="0" i="1" smtClean="0">
                                  <a:solidFill>
                                    <a:srgbClr val="000000"/>
                                  </a:solidFill>
                                  <a:latin typeface="Cambria Math" panose="02040503050406030204" pitchFamily="18" charset="0"/>
                                </a:rPr>
                                <m:t>0</m:t>
                              </m:r>
                            </m:e>
                            <m:e>
                              <m:r>
                                <a:rPr lang="en-US" altLang="zh-CN" sz="2800" b="0" i="1" smtClean="0">
                                  <a:solidFill>
                                    <a:srgbClr val="000000"/>
                                  </a:solidFill>
                                  <a:latin typeface="Cambria Math" panose="02040503050406030204" pitchFamily="18" charset="0"/>
                                </a:rPr>
                                <m:t>1</m:t>
                              </m:r>
                            </m:e>
                          </m:mr>
                        </m:m>
                      </m:e>
                    </m:d>
                    <m:d>
                      <m:dPr>
                        <m:begChr m:val="["/>
                        <m:endChr m:val="]"/>
                        <m:ctrlPr>
                          <a:rPr lang="en-US" altLang="zh-CN" sz="2800" b="0" i="1" smtClean="0">
                            <a:solidFill>
                              <a:srgbClr val="000000"/>
                            </a:solidFill>
                            <a:latin typeface="Cambria Math" panose="02040503050406030204" pitchFamily="18" charset="0"/>
                          </a:rPr>
                        </m:ctrlPr>
                      </m:dPr>
                      <m:e>
                        <m:m>
                          <m:mPr>
                            <m:mcs>
                              <m:mc>
                                <m:mcPr>
                                  <m:count m:val="1"/>
                                  <m:mcJc m:val="center"/>
                                </m:mcPr>
                              </m:mc>
                            </m:mcs>
                            <m:ctrlPr>
                              <a:rPr lang="en-US" altLang="zh-CN" sz="2800" b="0" i="1" smtClean="0">
                                <a:solidFill>
                                  <a:srgbClr val="000000"/>
                                </a:solidFill>
                                <a:latin typeface="Cambria Math" panose="02040503050406030204" pitchFamily="18" charset="0"/>
                              </a:rPr>
                            </m:ctrlPr>
                          </m:mPr>
                          <m:mr>
                            <m:e>
                              <m:r>
                                <m:rPr>
                                  <m:brk m:alnAt="7"/>
                                </m:rPr>
                                <a:rPr lang="en-US" altLang="zh-CN" sz="2800" b="0" i="1" smtClean="0">
                                  <a:solidFill>
                                    <a:srgbClr val="000000"/>
                                  </a:solidFill>
                                  <a:latin typeface="Cambria Math" panose="02040503050406030204" pitchFamily="18" charset="0"/>
                                </a:rPr>
                                <m:t>1</m:t>
                              </m:r>
                            </m:e>
                          </m:mr>
                          <m:mr>
                            <m:e>
                              <m:r>
                                <a:rPr lang="en-US" altLang="zh-CN" sz="2800" b="0" i="1" smtClean="0">
                                  <a:solidFill>
                                    <a:srgbClr val="000000"/>
                                  </a:solidFill>
                                  <a:latin typeface="Cambria Math" panose="02040503050406030204" pitchFamily="18" charset="0"/>
                                </a:rPr>
                                <m:t>𝑡</m:t>
                              </m:r>
                            </m:e>
                          </m:mr>
                          <m:mr>
                            <m:e>
                              <m:sSup>
                                <m:sSupPr>
                                  <m:ctrlPr>
                                    <a:rPr lang="en-US" altLang="zh-CN" sz="2800" b="0" i="1" smtClean="0">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𝑡</m:t>
                                  </m:r>
                                </m:e>
                                <m:sup>
                                  <m:r>
                                    <a:rPr lang="en-US" altLang="zh-CN" sz="2800" b="0" i="1" smtClean="0">
                                      <a:solidFill>
                                        <a:srgbClr val="000000"/>
                                      </a:solidFill>
                                      <a:latin typeface="Cambria Math" panose="02040503050406030204" pitchFamily="18" charset="0"/>
                                    </a:rPr>
                                    <m:t>2</m:t>
                                  </m:r>
                                </m:sup>
                              </m:sSup>
                            </m:e>
                          </m:mr>
                        </m:m>
                      </m:e>
                    </m:d>
                  </m:oMath>
                </a14:m>
                <a:r>
                  <a:rPr lang="zh-CN" altLang="en-US" sz="2800" dirty="0">
                    <a:solidFill>
                      <a:srgbClr val="000000"/>
                    </a:solidFill>
                  </a:rPr>
                  <a:t> </a:t>
                </a:r>
                <a14:m>
                  <m:oMath xmlns:m="http://schemas.openxmlformats.org/officeDocument/2006/math">
                    <m:m>
                      <m:mPr>
                        <m:plcHide m:val="on"/>
                        <m:mcs>
                          <m:mc>
                            <m:mcPr>
                              <m:count m:val="2"/>
                              <m:mcJc m:val="center"/>
                            </m:mcPr>
                          </m:mc>
                        </m:mcs>
                        <m:ctrlPr>
                          <a:rPr lang="zh-CN" altLang="en-US" sz="2800" i="1">
                            <a:solidFill>
                              <a:srgbClr val="000000"/>
                            </a:solidFill>
                            <a:latin typeface="Cambria Math" panose="02040503050406030204" pitchFamily="18" charset="0"/>
                          </a:rPr>
                        </m:ctrlPr>
                      </m:mPr>
                      <m:mr>
                        <m:e/>
                        <m:e>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e>
                      </m:mr>
                    </m:m>
                  </m:oMath>
                </a14:m>
                <a:endParaRPr lang="en-US" altLang="zh-CN" sz="2800" dirty="0">
                  <a:solidFill>
                    <a:srgbClr val="000000"/>
                  </a:solidFill>
                </a:endParaRPr>
              </a:p>
              <a:p>
                <a:pPr algn="l">
                  <a:lnSpc>
                    <a:spcPct val="150000"/>
                  </a:lnSpc>
                </a:pPr>
                <a:r>
                  <a:rPr lang="en-US" altLang="zh-CN" sz="2800" dirty="0">
                    <a:solidFill>
                      <a:srgbClr val="000000"/>
                    </a:solidFill>
                  </a:rPr>
                  <a:t>       </a:t>
                </a:r>
                <a:r>
                  <a:rPr lang="zh-CN" altLang="en-US" sz="2600" dirty="0">
                    <a:latin typeface="华光仿宋_CNKI" panose="02000500000000000000" pitchFamily="2" charset="-122"/>
                    <a:ea typeface="华光仿宋_CNKI" panose="02000500000000000000" pitchFamily="2" charset="-122"/>
                  </a:rPr>
                  <a:t>显然具有如下的特性：   </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zh-CN" altLang="en-US" sz="2400" b="1" dirty="0"/>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61510" y="184581"/>
                <a:ext cx="10938969" cy="586787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92434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61510" y="184581"/>
                <a:ext cx="11289403" cy="27327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dirty="0">
                    <a:solidFill>
                      <a:srgbClr val="000000"/>
                    </a:solidFill>
                    <a:latin typeface="Cambria Math" panose="02040503050406030204" pitchFamily="18" charset="0"/>
                  </a:rPr>
                  <a:t>       P(0)= </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m:rPr>
                        <m:nor/>
                      </m:rPr>
                      <a:rPr lang="en-US" altLang="zh-CN" i="1" dirty="0">
                        <a:solidFill>
                          <a:srgbClr val="000000"/>
                        </a:solidFill>
                        <a:latin typeface="Cambria Math" panose="02040503050406030204" pitchFamily="18" charset="0"/>
                      </a:rPr>
                      <m:t>P</m:t>
                    </m:r>
                    <m:r>
                      <m:rPr>
                        <m:nor/>
                      </m:rPr>
                      <a:rPr lang="en-US" altLang="zh-CN" i="1" dirty="0">
                        <a:solidFill>
                          <a:srgbClr val="000000"/>
                        </a:solidFill>
                        <a:latin typeface="Cambria Math" panose="02040503050406030204" pitchFamily="18" charset="0"/>
                      </a:rPr>
                      <m:t>(1)= </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m:rPr>
                            <m:sty m:val="p"/>
                          </m:rPr>
                          <a:rPr lang="en-US" altLang="zh-CN" i="0">
                            <a:solidFill>
                              <a:srgbClr val="000000"/>
                            </a:solidFill>
                            <a:latin typeface="Cambria Math" panose="02040503050406030204" pitchFamily="18" charset="0"/>
                          </a:rPr>
                          <m:t>P</m:t>
                        </m:r>
                      </m:e>
                      <m:sup>
                        <m:r>
                          <a:rPr lang="en-US" altLang="zh-CN" i="0">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(0)=2(</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1</m:t>
                        </m:r>
                      </m:sub>
                    </m:sSub>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0</m:t>
                        </m:r>
                      </m:sub>
                    </m:sSub>
                    <m:r>
                      <a:rPr lang="en-US" altLang="zh-CN" i="0">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m:rPr>
                            <m:sty m:val="p"/>
                          </m:rPr>
                          <a:rPr lang="en-US" altLang="zh-CN" i="0">
                            <a:solidFill>
                              <a:srgbClr val="000000"/>
                            </a:solidFill>
                            <a:latin typeface="Cambria Math" panose="02040503050406030204" pitchFamily="18" charset="0"/>
                          </a:rPr>
                          <m:t>P</m:t>
                        </m:r>
                      </m:e>
                      <m:sup>
                        <m:r>
                          <a:rPr lang="en-US" altLang="zh-CN" i="0">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(1)=2(</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2</m:t>
                        </m:r>
                      </m:sub>
                    </m:sSub>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1</m:t>
                        </m:r>
                      </m:sub>
                    </m:sSub>
                    <m:r>
                      <a:rPr lang="en-US" altLang="zh-CN" i="0">
                        <a:solidFill>
                          <a:srgbClr val="000000"/>
                        </a:solidFill>
                        <a:latin typeface="Cambria Math" panose="02040503050406030204" pitchFamily="18" charset="0"/>
                      </a:rPr>
                      <m:t>)</m:t>
                    </m:r>
                  </m:oMath>
                </a14:m>
                <a:endParaRPr lang="en-US" altLang="zh-CN" dirty="0">
                  <a:solidFill>
                    <a:srgbClr val="000000"/>
                  </a:solidFill>
                  <a:latin typeface="Cambria Math" panose="02040503050406030204" pitchFamily="18" charset="0"/>
                </a:endParaRPr>
              </a:p>
              <a:p>
                <a:pPr algn="l">
                  <a:lnSpc>
                    <a:spcPct val="150000"/>
                  </a:lnSpc>
                </a:pPr>
                <a:r>
                  <a:rPr lang="en-US" altLang="zh-CN" dirty="0">
                    <a:solidFill>
                      <a:srgbClr val="000000"/>
                    </a:solidFill>
                    <a:latin typeface="Cambria Math" panose="02040503050406030204" pitchFamily="18" charset="0"/>
                  </a:rPr>
                  <a:t>        P(0.5)=0.5(</a:t>
                </a:r>
                <a14:m>
                  <m:oMath xmlns:m="http://schemas.openxmlformats.org/officeDocument/2006/math">
                    <m:sSub>
                      <m:sSubPr>
                        <m:ctrlPr>
                          <a:rPr lang="en-US" altLang="zh-CN" i="1" smtClean="0">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lang="en-US" altLang="zh-CN" dirty="0">
                    <a:solidFill>
                      <a:srgbClr val="000000"/>
                    </a:solidFill>
                    <a:latin typeface="Cambria Math" panose="02040503050406030204" pitchFamily="18" charset="0"/>
                  </a:rPr>
                  <a:t>+0.5(</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i="1">
                            <a:solidFill>
                              <a:srgbClr val="000000"/>
                            </a:solidFill>
                            <a:latin typeface="Cambria Math" panose="02040503050406030204" pitchFamily="18" charset="0"/>
                          </a:rPr>
                          <m:t>0</m:t>
                        </m:r>
                      </m:sub>
                    </m:sSub>
                    <m:r>
                      <a:rPr lang="en-US" altLang="zh-CN" i="1">
                        <a:solidFill>
                          <a:srgbClr val="000000"/>
                        </a:solidFill>
                        <a:latin typeface="Cambria Math" panose="02040503050406030204" pitchFamily="18" charset="0"/>
                      </a:rPr>
                      <m:t> </m:t>
                    </m:r>
                  </m:oMath>
                </a14:m>
                <a:r>
                  <a:rPr lang="en-US" altLang="zh-CN" dirty="0">
                    <a:solidFill>
                      <a:srgbClr val="000000"/>
                    </a:solidFill>
                    <a:latin typeface="Cambria Math" panose="02040503050406030204" pitchFamily="18" charset="0"/>
                  </a:rPr>
                  <a:t>+</a:t>
                </a:r>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2</m:t>
                        </m:r>
                      </m:sub>
                    </m:sSub>
                  </m:oMath>
                </a14:m>
                <a:r>
                  <a:rPr lang="en-US" altLang="zh-CN" dirty="0">
                    <a:solidFill>
                      <a:srgbClr val="000000"/>
                    </a:solidFill>
                    <a:latin typeface="Cambria Math" panose="02040503050406030204" pitchFamily="18" charset="0"/>
                  </a:rPr>
                  <a:t>)</a:t>
                </a:r>
                <a:r>
                  <a:rPr lang="zh-CN" altLang="en-US" dirty="0">
                    <a:solidFill>
                      <a:srgbClr val="000000"/>
                    </a:solidFill>
                    <a:latin typeface="Cambria Math" panose="02040503050406030204" pitchFamily="18" charset="0"/>
                  </a:rPr>
                  <a:t>）</a:t>
                </a:r>
                <a:r>
                  <a:rPr lang="en-US" altLang="zh-CN" dirty="0">
                    <a:solidFill>
                      <a:srgbClr val="000000"/>
                    </a:solidFill>
                    <a:latin typeface="Cambria Math" panose="02040503050406030204" pitchFamily="18" charset="0"/>
                  </a:rPr>
                  <a:t>=0.5(</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lang="en-US" altLang="zh-CN" dirty="0">
                    <a:solidFill>
                      <a:srgbClr val="000000"/>
                    </a:solidFill>
                    <a:latin typeface="Cambria Math" panose="02040503050406030204" pitchFamily="18" charset="0"/>
                  </a:rPr>
                  <a:t>+</a:t>
                </a:r>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1" smtClean="0">
                            <a:solidFill>
                              <a:srgbClr val="000000"/>
                            </a:solidFill>
                            <a:latin typeface="Cambria Math" panose="02040503050406030204" pitchFamily="18" charset="0"/>
                          </a:rPr>
                          <m:t>𝑚</m:t>
                        </m:r>
                      </m:sub>
                    </m:sSub>
                  </m:oMath>
                </a14:m>
                <a:r>
                  <a:rPr lang="en-US" altLang="zh-CN" dirty="0">
                    <a:solidFill>
                      <a:srgbClr val="000000"/>
                    </a:solidFill>
                    <a:latin typeface="Cambria Math" panose="02040503050406030204" pitchFamily="18" charset="0"/>
                  </a:rPr>
                  <a:t>) </a:t>
                </a:r>
              </a:p>
              <a:p>
                <a:pPr algn="l">
                  <a:lnSpc>
                    <a:spcPct val="150000"/>
                  </a:lnSpc>
                </a:pPr>
                <a:r>
                  <a:rPr lang="en-US" altLang="zh-CN" dirty="0">
                    <a:solidFill>
                      <a:srgbClr val="000000"/>
                    </a:solidFill>
                    <a:latin typeface="Cambria Math" panose="02040503050406030204" pitchFamily="18" charset="0"/>
                  </a:rPr>
                  <a:t>        </a:t>
                </a:r>
                <a14:m>
                  <m:oMath xmlns:m="http://schemas.openxmlformats.org/officeDocument/2006/math">
                    <m:sSup>
                      <m:sSupPr>
                        <m:ctrlPr>
                          <a:rPr lang="en-US" altLang="zh-CN" i="1" smtClean="0">
                            <a:solidFill>
                              <a:srgbClr val="000000"/>
                            </a:solidFill>
                            <a:latin typeface="Cambria Math" panose="02040503050406030204" pitchFamily="18" charset="0"/>
                          </a:rPr>
                        </m:ctrlPr>
                      </m:sSupPr>
                      <m:e>
                        <m:r>
                          <m:rPr>
                            <m:sty m:val="p"/>
                          </m:rPr>
                          <a:rPr lang="en-US" altLang="zh-CN" i="0">
                            <a:solidFill>
                              <a:srgbClr val="000000"/>
                            </a:solidFill>
                            <a:latin typeface="Cambria Math" panose="02040503050406030204" pitchFamily="18" charset="0"/>
                          </a:rPr>
                          <m:t>P</m:t>
                        </m:r>
                      </m:e>
                      <m:sup>
                        <m:r>
                          <a:rPr lang="en-US" altLang="zh-CN" i="0">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(0</m:t>
                    </m:r>
                    <m:r>
                      <m:rPr>
                        <m:nor/>
                      </m:rPr>
                      <a:rPr lang="en-US" altLang="zh-CN" b="0" i="0" dirty="0" smtClean="0">
                        <a:solidFill>
                          <a:srgbClr val="000000"/>
                        </a:solidFill>
                        <a:latin typeface="Cambria Math" panose="02040503050406030204" pitchFamily="18" charset="0"/>
                      </a:rPr>
                      <m:t>.5</m:t>
                    </m:r>
                    <m:r>
                      <m:rPr>
                        <m:nor/>
                      </m:rPr>
                      <a:rPr lang="en-US" altLang="zh-CN" dirty="0">
                        <a:solidFill>
                          <a:srgbClr val="000000"/>
                        </a:solidFill>
                        <a:latin typeface="Cambria Math" panose="02040503050406030204" pitchFamily="18" charset="0"/>
                      </a:rPr>
                      <m:t>)</m:t>
                    </m:r>
                  </m:oMath>
                </a14:m>
                <a:r>
                  <a:rPr lang="en-US" altLang="zh-CN" dirty="0">
                    <a:solidFill>
                      <a:srgbClr val="000000"/>
                    </a:solidFill>
                    <a:latin typeface="Cambria Math" panose="02040503050406030204" pitchFamily="18" charset="0"/>
                  </a:rPr>
                  <a:t>=</a:t>
                </a:r>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2</m:t>
                        </m:r>
                      </m:sub>
                    </m:sSub>
                  </m:oMath>
                </a14:m>
                <a:r>
                  <a:rPr lang="en-US" altLang="zh-CN" dirty="0">
                    <a:solidFill>
                      <a:srgbClr val="000000"/>
                    </a:solidFill>
                    <a:latin typeface="Cambria Math" panose="02040503050406030204" pitchFamily="18" charset="0"/>
                  </a:rPr>
                  <a:t>-</a:t>
                </a:r>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0</m:t>
                        </m:r>
                      </m:sub>
                    </m:sSub>
                  </m:oMath>
                </a14:m>
                <a:endParaRPr lang="en-US" altLang="zh-CN" dirty="0">
                  <a:solidFill>
                    <a:srgbClr val="000000"/>
                  </a:solidFill>
                  <a:latin typeface="Cambria Math" panose="02040503050406030204" pitchFamily="18" charset="0"/>
                </a:endParaRPr>
              </a:p>
              <a:p>
                <a:pPr algn="l">
                  <a:lnSpc>
                    <a:spcPct val="150000"/>
                  </a:lnSpc>
                </a:pPr>
                <a:r>
                  <a:rPr lang="en-US" altLang="zh-CN" dirty="0">
                    <a:solidFill>
                      <a:srgbClr val="000000"/>
                    </a:solidFill>
                    <a:latin typeface="Cambria Math" panose="02040503050406030204" pitchFamily="18" charset="0"/>
                  </a:rPr>
                  <a:t>        </a:t>
                </a:r>
                <a:r>
                  <a:rPr lang="zh-CN" altLang="en-US" sz="2600" dirty="0">
                    <a:latin typeface="华光仿宋_CNKI" panose="02000500000000000000" pitchFamily="2" charset="-122"/>
                    <a:ea typeface="华光仿宋_CNKI" panose="02000500000000000000" pitchFamily="2" charset="-122"/>
                  </a:rPr>
                  <a:t>依据上述性质，可以绘制出如下所示的二次</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61510" y="184581"/>
                <a:ext cx="11289403" cy="2732790"/>
              </a:xfrm>
              <a:prstGeom prst="rect">
                <a:avLst/>
              </a:prstGeom>
              <a:blipFill>
                <a:blip r:embed="rId3"/>
                <a:stretch>
                  <a:fillRect b="-2673"/>
                </a:stretch>
              </a:blipFill>
            </p:spPr>
            <p:txBody>
              <a:bodyPr/>
              <a:lstStyle/>
              <a:p>
                <a:r>
                  <a:rPr lang="zh-CN" altLang="en-US">
                    <a:noFill/>
                  </a:rPr>
                  <a:t> </a:t>
                </a:r>
              </a:p>
            </p:txBody>
          </p:sp>
        </mc:Fallback>
      </mc:AlternateContent>
      <p:grpSp>
        <p:nvGrpSpPr>
          <p:cNvPr id="52" name="组合 51">
            <a:extLst>
              <a:ext uri="{FF2B5EF4-FFF2-40B4-BE49-F238E27FC236}">
                <a16:creationId xmlns:a16="http://schemas.microsoft.com/office/drawing/2014/main" id="{DB616564-12F7-463B-CFE6-A9978ED85EE2}"/>
              </a:ext>
            </a:extLst>
          </p:cNvPr>
          <p:cNvGrpSpPr/>
          <p:nvPr/>
        </p:nvGrpSpPr>
        <p:grpSpPr>
          <a:xfrm>
            <a:off x="3400878" y="3166836"/>
            <a:ext cx="5166634" cy="3168650"/>
            <a:chOff x="2413907" y="3203121"/>
            <a:chExt cx="5166634" cy="3168650"/>
          </a:xfrm>
        </p:grpSpPr>
        <p:grpSp>
          <p:nvGrpSpPr>
            <p:cNvPr id="2" name="Group 22">
              <a:extLst>
                <a:ext uri="{FF2B5EF4-FFF2-40B4-BE49-F238E27FC236}">
                  <a16:creationId xmlns:a16="http://schemas.microsoft.com/office/drawing/2014/main" id="{F543D65D-388C-9A0F-65A6-078126F3F299}"/>
                </a:ext>
              </a:extLst>
            </p:cNvPr>
            <p:cNvGrpSpPr>
              <a:grpSpLocks/>
            </p:cNvGrpSpPr>
            <p:nvPr/>
          </p:nvGrpSpPr>
          <p:grpSpPr bwMode="auto">
            <a:xfrm>
              <a:off x="2413907" y="3203121"/>
              <a:ext cx="4594225" cy="3168650"/>
              <a:chOff x="68" y="2296"/>
              <a:chExt cx="2894" cy="1996"/>
            </a:xfrm>
          </p:grpSpPr>
          <p:grpSp>
            <p:nvGrpSpPr>
              <p:cNvPr id="3" name="Group 17">
                <a:extLst>
                  <a:ext uri="{FF2B5EF4-FFF2-40B4-BE49-F238E27FC236}">
                    <a16:creationId xmlns:a16="http://schemas.microsoft.com/office/drawing/2014/main" id="{EF00C20D-67FC-9178-C59E-93CD036543E0}"/>
                  </a:ext>
                </a:extLst>
              </p:cNvPr>
              <p:cNvGrpSpPr>
                <a:grpSpLocks/>
              </p:cNvGrpSpPr>
              <p:nvPr/>
            </p:nvGrpSpPr>
            <p:grpSpPr bwMode="auto">
              <a:xfrm>
                <a:off x="249" y="2296"/>
                <a:ext cx="2450" cy="1996"/>
                <a:chOff x="249" y="2205"/>
                <a:chExt cx="2450" cy="1996"/>
              </a:xfrm>
            </p:grpSpPr>
            <p:sp>
              <p:nvSpPr>
                <p:cNvPr id="9" name="Freeform 9">
                  <a:extLst>
                    <a:ext uri="{FF2B5EF4-FFF2-40B4-BE49-F238E27FC236}">
                      <a16:creationId xmlns:a16="http://schemas.microsoft.com/office/drawing/2014/main" id="{76C19474-534A-4FC2-63F9-1652B5D8BE05}"/>
                    </a:ext>
                  </a:extLst>
                </p:cNvPr>
                <p:cNvSpPr>
                  <a:spLocks/>
                </p:cNvSpPr>
                <p:nvPr/>
              </p:nvSpPr>
              <p:spPr bwMode="auto">
                <a:xfrm rot="2966202">
                  <a:off x="843" y="2817"/>
                  <a:ext cx="1179" cy="1589"/>
                </a:xfrm>
                <a:custGeom>
                  <a:avLst/>
                  <a:gdLst/>
                  <a:ahLst/>
                  <a:cxnLst>
                    <a:cxn ang="0">
                      <a:pos x="0" y="1680"/>
                    </a:cxn>
                    <a:cxn ang="0">
                      <a:pos x="96" y="816"/>
                    </a:cxn>
                    <a:cxn ang="0">
                      <a:pos x="480" y="240"/>
                    </a:cxn>
                    <a:cxn ang="0">
                      <a:pos x="1440" y="0"/>
                    </a:cxn>
                  </a:cxnLst>
                  <a:rect l="0" t="0" r="r" b="b"/>
                  <a:pathLst>
                    <a:path w="1440" h="1680">
                      <a:moveTo>
                        <a:pt x="0" y="1680"/>
                      </a:moveTo>
                      <a:cubicBezTo>
                        <a:pt x="8" y="1368"/>
                        <a:pt x="16" y="1056"/>
                        <a:pt x="96" y="816"/>
                      </a:cubicBezTo>
                      <a:cubicBezTo>
                        <a:pt x="176" y="576"/>
                        <a:pt x="256" y="376"/>
                        <a:pt x="480" y="240"/>
                      </a:cubicBezTo>
                      <a:cubicBezTo>
                        <a:pt x="704" y="104"/>
                        <a:pt x="1072" y="52"/>
                        <a:pt x="1440" y="0"/>
                      </a:cubicBezTo>
                    </a:path>
                  </a:pathLst>
                </a:custGeom>
                <a:noFill/>
                <a:ln w="38100" cap="flat" cmpd="sng">
                  <a:solidFill>
                    <a:schemeClr val="tx1"/>
                  </a:solidFill>
                  <a:prstDash val="solid"/>
                  <a:round/>
                  <a:headEnd/>
                  <a:tailEnd/>
                </a:ln>
                <a:effectLst/>
              </p:spPr>
              <p:txBody>
                <a:bodyPr/>
                <a:lstStyle/>
                <a:p>
                  <a:pPr>
                    <a:defRPr/>
                  </a:pPr>
                  <a:endParaRPr lang="zh-CN" altLang="en-US" dirty="0"/>
                </a:p>
              </p:txBody>
            </p:sp>
            <p:sp>
              <p:nvSpPr>
                <p:cNvPr id="10" name="Line 10">
                  <a:extLst>
                    <a:ext uri="{FF2B5EF4-FFF2-40B4-BE49-F238E27FC236}">
                      <a16:creationId xmlns:a16="http://schemas.microsoft.com/office/drawing/2014/main" id="{7F194B15-0A28-A21F-6FBC-953B34AC2A0C}"/>
                    </a:ext>
                  </a:extLst>
                </p:cNvPr>
                <p:cNvSpPr>
                  <a:spLocks noChangeShapeType="1"/>
                </p:cNvSpPr>
                <p:nvPr/>
              </p:nvSpPr>
              <p:spPr bwMode="auto">
                <a:xfrm flipV="1">
                  <a:off x="431" y="3557"/>
                  <a:ext cx="1995" cy="136"/>
                </a:xfrm>
                <a:prstGeom prst="line">
                  <a:avLst/>
                </a:prstGeom>
                <a:noFill/>
                <a:ln w="38100">
                  <a:solidFill>
                    <a:schemeClr val="tx1"/>
                  </a:solidFill>
                  <a:round/>
                  <a:headEnd/>
                  <a:tailEnd/>
                </a:ln>
                <a:effectLst/>
              </p:spPr>
              <p:txBody>
                <a:bodyPr/>
                <a:lstStyle/>
                <a:p>
                  <a:pPr>
                    <a:defRPr/>
                  </a:pPr>
                  <a:endParaRPr lang="zh-CN" altLang="en-US"/>
                </a:p>
              </p:txBody>
            </p:sp>
            <p:sp>
              <p:nvSpPr>
                <p:cNvPr id="11" name="Line 11">
                  <a:extLst>
                    <a:ext uri="{FF2B5EF4-FFF2-40B4-BE49-F238E27FC236}">
                      <a16:creationId xmlns:a16="http://schemas.microsoft.com/office/drawing/2014/main" id="{1427B6D8-F990-D4BE-319A-709D274C644E}"/>
                    </a:ext>
                  </a:extLst>
                </p:cNvPr>
                <p:cNvSpPr>
                  <a:spLocks noChangeShapeType="1"/>
                </p:cNvSpPr>
                <p:nvPr/>
              </p:nvSpPr>
              <p:spPr bwMode="auto">
                <a:xfrm flipV="1">
                  <a:off x="413" y="2477"/>
                  <a:ext cx="1197" cy="1225"/>
                </a:xfrm>
                <a:prstGeom prst="line">
                  <a:avLst/>
                </a:prstGeom>
                <a:noFill/>
                <a:ln w="38100">
                  <a:solidFill>
                    <a:schemeClr val="tx1"/>
                  </a:solidFill>
                  <a:round/>
                  <a:headEnd/>
                  <a:tailEnd/>
                </a:ln>
                <a:effectLst/>
              </p:spPr>
              <p:txBody>
                <a:bodyPr/>
                <a:lstStyle/>
                <a:p>
                  <a:pPr>
                    <a:defRPr/>
                  </a:pPr>
                  <a:endParaRPr lang="zh-CN" altLang="en-US" dirty="0"/>
                </a:p>
              </p:txBody>
            </p:sp>
            <p:sp>
              <p:nvSpPr>
                <p:cNvPr id="12" name="Line 12">
                  <a:extLst>
                    <a:ext uri="{FF2B5EF4-FFF2-40B4-BE49-F238E27FC236}">
                      <a16:creationId xmlns:a16="http://schemas.microsoft.com/office/drawing/2014/main" id="{4FB2691D-44D0-0951-C08D-C172B44348C2}"/>
                    </a:ext>
                  </a:extLst>
                </p:cNvPr>
                <p:cNvSpPr>
                  <a:spLocks noChangeShapeType="1"/>
                </p:cNvSpPr>
                <p:nvPr/>
              </p:nvSpPr>
              <p:spPr bwMode="auto">
                <a:xfrm flipH="1" flipV="1">
                  <a:off x="1610" y="2477"/>
                  <a:ext cx="826" cy="1071"/>
                </a:xfrm>
                <a:prstGeom prst="line">
                  <a:avLst/>
                </a:prstGeom>
                <a:noFill/>
                <a:ln w="38100">
                  <a:solidFill>
                    <a:schemeClr val="bg1"/>
                  </a:solidFill>
                  <a:round/>
                  <a:headEnd/>
                  <a:tailEnd/>
                </a:ln>
                <a:effectLst/>
              </p:spPr>
              <p:txBody>
                <a:bodyPr/>
                <a:lstStyle/>
                <a:p>
                  <a:pPr>
                    <a:defRPr/>
                  </a:pPr>
                  <a:endParaRPr lang="zh-CN" altLang="en-US" dirty="0"/>
                </a:p>
              </p:txBody>
            </p:sp>
            <p:sp>
              <p:nvSpPr>
                <p:cNvPr id="13" name="Line 13">
                  <a:extLst>
                    <a:ext uri="{FF2B5EF4-FFF2-40B4-BE49-F238E27FC236}">
                      <a16:creationId xmlns:a16="http://schemas.microsoft.com/office/drawing/2014/main" id="{01733E9B-64F4-6C9B-E7BB-BEC3A910B378}"/>
                    </a:ext>
                  </a:extLst>
                </p:cNvPr>
                <p:cNvSpPr>
                  <a:spLocks noChangeShapeType="1"/>
                </p:cNvSpPr>
                <p:nvPr/>
              </p:nvSpPr>
              <p:spPr bwMode="auto">
                <a:xfrm flipV="1">
                  <a:off x="1338" y="2477"/>
                  <a:ext cx="272" cy="1144"/>
                </a:xfrm>
                <a:prstGeom prst="line">
                  <a:avLst/>
                </a:prstGeom>
                <a:noFill/>
                <a:ln w="38100">
                  <a:solidFill>
                    <a:schemeClr val="tx1"/>
                  </a:solidFill>
                  <a:round/>
                  <a:headEnd/>
                  <a:tailEnd/>
                </a:ln>
                <a:effectLst/>
              </p:spPr>
              <p:txBody>
                <a:bodyPr/>
                <a:lstStyle/>
                <a:p>
                  <a:pPr>
                    <a:defRPr/>
                  </a:pPr>
                  <a:endParaRPr lang="zh-CN" altLang="en-US" dirty="0"/>
                </a:p>
              </p:txBody>
            </p:sp>
            <p:sp>
              <p:nvSpPr>
                <p:cNvPr id="14" name="Text Box 14">
                  <a:extLst>
                    <a:ext uri="{FF2B5EF4-FFF2-40B4-BE49-F238E27FC236}">
                      <a16:creationId xmlns:a16="http://schemas.microsoft.com/office/drawing/2014/main" id="{D361031B-7391-376B-4C70-0DAD8033E458}"/>
                    </a:ext>
                  </a:extLst>
                </p:cNvPr>
                <p:cNvSpPr txBox="1">
                  <a:spLocks noChangeArrowheads="1"/>
                </p:cNvSpPr>
                <p:nvPr/>
              </p:nvSpPr>
              <p:spPr bwMode="auto">
                <a:xfrm>
                  <a:off x="249" y="3641"/>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dirty="0">
                      <a:solidFill>
                        <a:schemeClr val="tx1"/>
                      </a:solidFill>
                      <a:effectLst/>
                    </a:rPr>
                    <a:t>P0</a:t>
                  </a:r>
                </a:p>
              </p:txBody>
            </p:sp>
            <p:sp>
              <p:nvSpPr>
                <p:cNvPr id="15" name="Text Box 15">
                  <a:extLst>
                    <a:ext uri="{FF2B5EF4-FFF2-40B4-BE49-F238E27FC236}">
                      <a16:creationId xmlns:a16="http://schemas.microsoft.com/office/drawing/2014/main" id="{87EFF728-5292-1CF8-02C1-30D33CD7C5B1}"/>
                    </a:ext>
                  </a:extLst>
                </p:cNvPr>
                <p:cNvSpPr txBox="1">
                  <a:spLocks noChangeArrowheads="1"/>
                </p:cNvSpPr>
                <p:nvPr/>
              </p:nvSpPr>
              <p:spPr bwMode="auto">
                <a:xfrm>
                  <a:off x="2245" y="3521"/>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dirty="0">
                      <a:solidFill>
                        <a:schemeClr val="tx1"/>
                      </a:solidFill>
                      <a:effectLst/>
                    </a:rPr>
                    <a:t>P2</a:t>
                  </a:r>
                </a:p>
              </p:txBody>
            </p:sp>
            <p:sp>
              <p:nvSpPr>
                <p:cNvPr id="16" name="Text Box 16">
                  <a:extLst>
                    <a:ext uri="{FF2B5EF4-FFF2-40B4-BE49-F238E27FC236}">
                      <a16:creationId xmlns:a16="http://schemas.microsoft.com/office/drawing/2014/main" id="{8612ADAD-BAA3-C29F-DC84-59B28E429EF6}"/>
                    </a:ext>
                  </a:extLst>
                </p:cNvPr>
                <p:cNvSpPr txBox="1">
                  <a:spLocks noChangeArrowheads="1"/>
                </p:cNvSpPr>
                <p:nvPr/>
              </p:nvSpPr>
              <p:spPr bwMode="auto">
                <a:xfrm>
                  <a:off x="1419" y="2205"/>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dirty="0">
                      <a:solidFill>
                        <a:schemeClr val="tx1"/>
                      </a:solidFill>
                      <a:effectLst/>
                    </a:rPr>
                    <a:t>P1</a:t>
                  </a:r>
                </a:p>
              </p:txBody>
            </p:sp>
          </p:grpSp>
          <p:sp>
            <p:nvSpPr>
              <p:cNvPr id="4" name="Text Box 18">
                <a:extLst>
                  <a:ext uri="{FF2B5EF4-FFF2-40B4-BE49-F238E27FC236}">
                    <a16:creationId xmlns:a16="http://schemas.microsoft.com/office/drawing/2014/main" id="{D411C56C-6643-8685-39BC-6C7D20F8D603}"/>
                  </a:ext>
                </a:extLst>
              </p:cNvPr>
              <p:cNvSpPr txBox="1">
                <a:spLocks noChangeArrowheads="1"/>
              </p:cNvSpPr>
              <p:nvPr/>
            </p:nvSpPr>
            <p:spPr bwMode="auto">
              <a:xfrm>
                <a:off x="1201" y="3702"/>
                <a:ext cx="454"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dirty="0">
                    <a:solidFill>
                      <a:schemeClr val="tx1"/>
                    </a:solidFill>
                    <a:effectLst/>
                  </a:rPr>
                  <a:t>M</a:t>
                </a:r>
              </a:p>
            </p:txBody>
          </p:sp>
          <p:sp>
            <p:nvSpPr>
              <p:cNvPr id="5" name="Text Box 19">
                <a:extLst>
                  <a:ext uri="{FF2B5EF4-FFF2-40B4-BE49-F238E27FC236}">
                    <a16:creationId xmlns:a16="http://schemas.microsoft.com/office/drawing/2014/main" id="{2FE36076-7AF8-886C-5695-B7C34AEEEFDB}"/>
                  </a:ext>
                </a:extLst>
              </p:cNvPr>
              <p:cNvSpPr txBox="1">
                <a:spLocks noChangeArrowheads="1"/>
              </p:cNvSpPr>
              <p:nvPr/>
            </p:nvSpPr>
            <p:spPr bwMode="auto">
              <a:xfrm>
                <a:off x="1473" y="2915"/>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dirty="0">
                    <a:solidFill>
                      <a:schemeClr val="tx1"/>
                    </a:solidFill>
                    <a:effectLst/>
                  </a:rPr>
                  <a:t>P(0.5)</a:t>
                </a:r>
              </a:p>
            </p:txBody>
          </p:sp>
          <p:sp>
            <p:nvSpPr>
              <p:cNvPr id="7" name="Text Box 20">
                <a:extLst>
                  <a:ext uri="{FF2B5EF4-FFF2-40B4-BE49-F238E27FC236}">
                    <a16:creationId xmlns:a16="http://schemas.microsoft.com/office/drawing/2014/main" id="{46F96E0B-2792-51B4-E7EB-66227A38879A}"/>
                  </a:ext>
                </a:extLst>
              </p:cNvPr>
              <p:cNvSpPr txBox="1">
                <a:spLocks noChangeArrowheads="1"/>
              </p:cNvSpPr>
              <p:nvPr/>
            </p:nvSpPr>
            <p:spPr bwMode="auto">
              <a:xfrm>
                <a:off x="2417" y="3494"/>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dirty="0">
                    <a:solidFill>
                      <a:schemeClr val="tx1"/>
                    </a:solidFill>
                    <a:effectLst/>
                  </a:rPr>
                  <a:t>P(1)</a:t>
                </a:r>
              </a:p>
            </p:txBody>
          </p:sp>
          <p:sp>
            <p:nvSpPr>
              <p:cNvPr id="8" name="Text Box 21">
                <a:extLst>
                  <a:ext uri="{FF2B5EF4-FFF2-40B4-BE49-F238E27FC236}">
                    <a16:creationId xmlns:a16="http://schemas.microsoft.com/office/drawing/2014/main" id="{7F58E21E-46DD-3931-8349-FC457B5DCEDC}"/>
                  </a:ext>
                </a:extLst>
              </p:cNvPr>
              <p:cNvSpPr txBox="1">
                <a:spLocks noChangeArrowheads="1"/>
              </p:cNvSpPr>
              <p:nvPr/>
            </p:nvSpPr>
            <p:spPr bwMode="auto">
              <a:xfrm>
                <a:off x="68" y="3566"/>
                <a:ext cx="5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dirty="0">
                    <a:solidFill>
                      <a:schemeClr val="tx1"/>
                    </a:solidFill>
                    <a:effectLst/>
                  </a:rPr>
                  <a:t>P(0)</a:t>
                </a:r>
              </a:p>
            </p:txBody>
          </p:sp>
        </p:grpSp>
        <p:cxnSp>
          <p:nvCxnSpPr>
            <p:cNvPr id="48" name="直接连接符 47">
              <a:extLst>
                <a:ext uri="{FF2B5EF4-FFF2-40B4-BE49-F238E27FC236}">
                  <a16:creationId xmlns:a16="http://schemas.microsoft.com/office/drawing/2014/main" id="{F61189A4-B239-25CF-1193-44B73F25D48E}"/>
                </a:ext>
              </a:extLst>
            </p:cNvPr>
            <p:cNvCxnSpPr>
              <a:cxnSpLocks/>
              <a:stCxn id="12" idx="1"/>
            </p:cNvCxnSpPr>
            <p:nvPr/>
          </p:nvCxnSpPr>
          <p:spPr>
            <a:xfrm>
              <a:off x="4861833" y="3634921"/>
              <a:ext cx="1281112" cy="1736725"/>
            </a:xfrm>
            <a:prstGeom prst="line">
              <a:avLst/>
            </a:prstGeom>
            <a:noFill/>
            <a:ln w="38100">
              <a:solidFill>
                <a:schemeClr val="tx1"/>
              </a:solidFill>
              <a:round/>
              <a:headEnd/>
              <a:tailEnd/>
            </a:ln>
            <a:effectLst/>
          </p:spPr>
        </p:cxnSp>
        <p:sp>
          <p:nvSpPr>
            <p:cNvPr id="51" name="Line 23">
              <a:extLst>
                <a:ext uri="{FF2B5EF4-FFF2-40B4-BE49-F238E27FC236}">
                  <a16:creationId xmlns:a16="http://schemas.microsoft.com/office/drawing/2014/main" id="{DFBE3A1E-630A-395C-04CA-CAAB2E9EB876}"/>
                </a:ext>
              </a:extLst>
            </p:cNvPr>
            <p:cNvSpPr>
              <a:spLocks noChangeShapeType="1"/>
            </p:cNvSpPr>
            <p:nvPr/>
          </p:nvSpPr>
          <p:spPr bwMode="auto">
            <a:xfrm flipV="1">
              <a:off x="4627791" y="4246109"/>
              <a:ext cx="2952750" cy="333375"/>
            </a:xfrm>
            <a:prstGeom prst="line">
              <a:avLst/>
            </a:prstGeom>
            <a:noFill/>
            <a:ln w="38100">
              <a:solidFill>
                <a:schemeClr val="tx1"/>
              </a:solidFill>
              <a:round/>
              <a:headEnd/>
              <a:tailEnd type="triangle" w="med" len="med"/>
            </a:ln>
            <a:effectLst/>
          </p:spPr>
          <p:txBody>
            <a:bodyPr/>
            <a:lstStyle/>
            <a:p>
              <a:pPr>
                <a:defRPr/>
              </a:pPr>
              <a:endParaRPr lang="zh-CN" altLang="en-US"/>
            </a:p>
          </p:txBody>
        </p:sp>
      </p:grpSp>
      <p:sp>
        <p:nvSpPr>
          <p:cNvPr id="53" name="Line 23">
            <a:extLst>
              <a:ext uri="{FF2B5EF4-FFF2-40B4-BE49-F238E27FC236}">
                <a16:creationId xmlns:a16="http://schemas.microsoft.com/office/drawing/2014/main" id="{12C3A87D-7944-FC68-1FEE-B97F9C4FC509}"/>
              </a:ext>
            </a:extLst>
          </p:cNvPr>
          <p:cNvSpPr>
            <a:spLocks noChangeShapeType="1"/>
          </p:cNvSpPr>
          <p:nvPr/>
        </p:nvSpPr>
        <p:spPr bwMode="auto">
          <a:xfrm flipV="1">
            <a:off x="5848804" y="3528558"/>
            <a:ext cx="1439863" cy="92301"/>
          </a:xfrm>
          <a:prstGeom prst="line">
            <a:avLst/>
          </a:prstGeom>
          <a:noFill/>
          <a:ln w="38100">
            <a:solidFill>
              <a:schemeClr val="tx1"/>
            </a:solidFill>
            <a:round/>
            <a:headEnd/>
            <a:tailEnd type="triangle" w="med" len="med"/>
          </a:ln>
          <a:effectLst/>
        </p:spPr>
        <p:txBody>
          <a:bodyPr/>
          <a:lstStyle/>
          <a:p>
            <a:pPr>
              <a:defRPr/>
            </a:pPr>
            <a:endParaRPr lang="zh-CN" altLang="en-US"/>
          </a:p>
        </p:txBody>
      </p:sp>
      <p:cxnSp>
        <p:nvCxnSpPr>
          <p:cNvPr id="55" name="直接箭头连接符 54">
            <a:extLst>
              <a:ext uri="{FF2B5EF4-FFF2-40B4-BE49-F238E27FC236}">
                <a16:creationId xmlns:a16="http://schemas.microsoft.com/office/drawing/2014/main" id="{A2268B83-5C29-65D8-7591-7CECF74FDF75}"/>
              </a:ext>
            </a:extLst>
          </p:cNvPr>
          <p:cNvCxnSpPr/>
          <p:nvPr/>
        </p:nvCxnSpPr>
        <p:spPr>
          <a:xfrm flipV="1">
            <a:off x="3977141" y="3508164"/>
            <a:ext cx="3345316" cy="20351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7" name="直接箭头连接符 56">
            <a:extLst>
              <a:ext uri="{FF2B5EF4-FFF2-40B4-BE49-F238E27FC236}">
                <a16:creationId xmlns:a16="http://schemas.microsoft.com/office/drawing/2014/main" id="{1D4D7B5F-7D92-F2DE-4B8F-38C2F4B6DDDD}"/>
              </a:ext>
            </a:extLst>
          </p:cNvPr>
          <p:cNvCxnSpPr>
            <a:cxnSpLocks/>
            <a:endCxn id="51" idx="0"/>
          </p:cNvCxnSpPr>
          <p:nvPr/>
        </p:nvCxnSpPr>
        <p:spPr>
          <a:xfrm flipV="1">
            <a:off x="3948566" y="4543199"/>
            <a:ext cx="1666196" cy="10001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3142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61510" y="184581"/>
                <a:ext cx="10938969" cy="5867876"/>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    </a:t>
                </a:r>
                <a:r>
                  <a:rPr lang="zh-CN" altLang="en-US" sz="2600" b="1" dirty="0">
                    <a:latin typeface="华光标题宋_CNKI" panose="02000500000000000000" pitchFamily="2" charset="-122"/>
                    <a:ea typeface="华光标题宋_CNKI" panose="02000500000000000000" pitchFamily="2" charset="-122"/>
                  </a:rPr>
                  <a:t>三次</a:t>
                </a:r>
                <a:r>
                  <a:rPr lang="en-US" altLang="zh-CN" sz="2600" b="1" dirty="0">
                    <a:latin typeface="华光标题宋_CNKI" panose="02000500000000000000" pitchFamily="2" charset="-122"/>
                    <a:ea typeface="华光标题宋_CNKI" panose="02000500000000000000" pitchFamily="2" charset="-122"/>
                  </a:rPr>
                  <a:t>Bezier</a:t>
                </a:r>
                <a:r>
                  <a:rPr lang="zh-CN" altLang="en-US" sz="2600" b="1" dirty="0">
                    <a:latin typeface="华光标题宋_CNKI" panose="02000500000000000000" pitchFamily="2" charset="-122"/>
                    <a:ea typeface="华光标题宋_CNKI" panose="02000500000000000000" pitchFamily="2" charset="-122"/>
                  </a:rPr>
                  <a:t>曲线：</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当控制点的个数为</a:t>
                </a:r>
                <a:r>
                  <a:rPr lang="en-US" altLang="zh-CN" sz="2600" dirty="0">
                    <a:latin typeface="华光仿宋_CNKI" panose="02000500000000000000" pitchFamily="2" charset="-122"/>
                    <a:ea typeface="华光仿宋_CNKI" panose="02000500000000000000" pitchFamily="2" charset="-122"/>
                  </a:rPr>
                  <a:t>4</a:t>
                </a:r>
                <a:r>
                  <a:rPr lang="zh-CN" altLang="en-US" sz="2600" dirty="0">
                    <a:latin typeface="华光仿宋_CNKI" panose="02000500000000000000" pitchFamily="2" charset="-122"/>
                    <a:ea typeface="华光仿宋_CNKI" panose="02000500000000000000" pitchFamily="2" charset="-122"/>
                  </a:rPr>
                  <a:t>时，可以得到如下的三次</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曲线方程：</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solidFill>
                      <a:srgbClr val="000000"/>
                    </a:solidFill>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600" i="1" smtClean="0">
                        <a:solidFill>
                          <a:srgbClr val="000000"/>
                        </a:solidFill>
                        <a:latin typeface="Cambria Math" panose="02040503050406030204" pitchFamily="18" charset="0"/>
                      </a:rPr>
                      <m:t>𝑃</m:t>
                    </m:r>
                    <m:d>
                      <m:dPr>
                        <m:ctrlPr>
                          <a:rPr lang="zh-CN" altLang="en-US" sz="2600" i="1" smtClean="0">
                            <a:solidFill>
                              <a:srgbClr val="000000"/>
                            </a:solidFill>
                            <a:latin typeface="Cambria Math" panose="02040503050406030204" pitchFamily="18" charset="0"/>
                          </a:rPr>
                        </m:ctrlPr>
                      </m:dPr>
                      <m:e>
                        <m:r>
                          <a:rPr lang="zh-CN" altLang="en-US" sz="2600" i="1" smtClean="0">
                            <a:solidFill>
                              <a:srgbClr val="000000"/>
                            </a:solidFill>
                            <a:latin typeface="Cambria Math" panose="02040503050406030204" pitchFamily="18" charset="0"/>
                          </a:rPr>
                          <m:t>𝑡</m:t>
                        </m:r>
                      </m:e>
                    </m:d>
                    <m:r>
                      <a:rPr lang="zh-CN" altLang="en-US" sz="2600" i="1" smtClean="0">
                        <a:solidFill>
                          <a:srgbClr val="000000"/>
                        </a:solidFill>
                        <a:latin typeface="Cambria Math" panose="02040503050406030204" pitchFamily="18" charset="0"/>
                      </a:rPr>
                      <m:t>=</m:t>
                    </m:r>
                    <m:sSup>
                      <m:sSupPr>
                        <m:ctrlPr>
                          <a:rPr lang="en-US" altLang="zh-CN" sz="2600" i="1">
                            <a:solidFill>
                              <a:srgbClr val="000000"/>
                            </a:solidFill>
                            <a:latin typeface="Cambria Math" panose="02040503050406030204" pitchFamily="18" charset="0"/>
                          </a:rPr>
                        </m:ctrlPr>
                      </m:sSupPr>
                      <m:e>
                        <m:d>
                          <m:dPr>
                            <m:ctrlPr>
                              <a:rPr lang="en-US" altLang="zh-CN" sz="2600" i="1">
                                <a:solidFill>
                                  <a:srgbClr val="000000"/>
                                </a:solidFill>
                                <a:latin typeface="Cambria Math" panose="02040503050406030204" pitchFamily="18" charset="0"/>
                              </a:rPr>
                            </m:ctrlPr>
                          </m:dPr>
                          <m:e>
                            <m:r>
                              <a:rPr lang="en-US" altLang="zh-CN" sz="2600" i="1">
                                <a:solidFill>
                                  <a:srgbClr val="000000"/>
                                </a:solidFill>
                                <a:latin typeface="Cambria Math" panose="02040503050406030204" pitchFamily="18" charset="0"/>
                              </a:rPr>
                              <m:t>1−</m:t>
                            </m:r>
                            <m:r>
                              <a:rPr lang="en-US" altLang="zh-CN" sz="2600" i="1">
                                <a:solidFill>
                                  <a:srgbClr val="000000"/>
                                </a:solidFill>
                                <a:latin typeface="Cambria Math" panose="02040503050406030204" pitchFamily="18" charset="0"/>
                              </a:rPr>
                              <m:t>𝑡</m:t>
                            </m:r>
                          </m:e>
                        </m:d>
                      </m:e>
                      <m:sup>
                        <m:r>
                          <a:rPr lang="en-US" altLang="zh-CN" sz="2600" b="0" i="1" smtClean="0">
                            <a:solidFill>
                              <a:srgbClr val="000000"/>
                            </a:solidFill>
                            <a:latin typeface="Cambria Math" panose="02040503050406030204" pitchFamily="18" charset="0"/>
                          </a:rPr>
                          <m:t>3</m:t>
                        </m:r>
                      </m:sup>
                    </m:sSup>
                    <m:sSub>
                      <m:sSubPr>
                        <m:ctrlPr>
                          <a:rPr lang="en-US" altLang="zh-CN" sz="2600" b="0" i="1" smtClean="0">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𝑃</m:t>
                        </m:r>
                      </m:e>
                      <m:sub>
                        <m:r>
                          <a:rPr lang="en-US" altLang="zh-CN" sz="2600" b="0" i="1" smtClean="0">
                            <a:solidFill>
                              <a:srgbClr val="000000"/>
                            </a:solidFill>
                            <a:latin typeface="Cambria Math" panose="02040503050406030204" pitchFamily="18" charset="0"/>
                          </a:rPr>
                          <m:t>0</m:t>
                        </m:r>
                      </m:sub>
                    </m:sSub>
                    <m:r>
                      <a:rPr lang="en-US" altLang="zh-CN" sz="2600" b="0" i="1" smtClean="0">
                        <a:solidFill>
                          <a:srgbClr val="000000"/>
                        </a:solidFill>
                        <a:latin typeface="Cambria Math" panose="02040503050406030204" pitchFamily="18" charset="0"/>
                      </a:rPr>
                      <m:t>+3</m:t>
                    </m:r>
                    <m:r>
                      <a:rPr lang="en-US" altLang="zh-CN" sz="2600" b="0" i="1" smtClean="0">
                        <a:solidFill>
                          <a:srgbClr val="000000"/>
                        </a:solidFill>
                        <a:latin typeface="Cambria Math" panose="02040503050406030204" pitchFamily="18" charset="0"/>
                      </a:rPr>
                      <m:t>𝑡</m:t>
                    </m:r>
                    <m:sSup>
                      <m:sSupPr>
                        <m:ctrlPr>
                          <a:rPr lang="en-US" altLang="zh-CN" sz="2600" i="1">
                            <a:solidFill>
                              <a:srgbClr val="000000"/>
                            </a:solidFill>
                            <a:latin typeface="Cambria Math" panose="02040503050406030204" pitchFamily="18" charset="0"/>
                          </a:rPr>
                        </m:ctrlPr>
                      </m:sSupPr>
                      <m:e>
                        <m:d>
                          <m:dPr>
                            <m:ctrlPr>
                              <a:rPr lang="en-US" altLang="zh-CN" sz="2600" i="1">
                                <a:solidFill>
                                  <a:srgbClr val="000000"/>
                                </a:solidFill>
                                <a:latin typeface="Cambria Math" panose="02040503050406030204" pitchFamily="18" charset="0"/>
                              </a:rPr>
                            </m:ctrlPr>
                          </m:dPr>
                          <m:e>
                            <m:r>
                              <a:rPr lang="en-US" altLang="zh-CN" sz="2600" i="1">
                                <a:solidFill>
                                  <a:srgbClr val="000000"/>
                                </a:solidFill>
                                <a:latin typeface="Cambria Math" panose="02040503050406030204" pitchFamily="18" charset="0"/>
                              </a:rPr>
                              <m:t>1−</m:t>
                            </m:r>
                            <m:r>
                              <a:rPr lang="en-US" altLang="zh-CN" sz="2600" i="1">
                                <a:solidFill>
                                  <a:srgbClr val="000000"/>
                                </a:solidFill>
                                <a:latin typeface="Cambria Math" panose="02040503050406030204" pitchFamily="18" charset="0"/>
                              </a:rPr>
                              <m:t>𝑡</m:t>
                            </m:r>
                          </m:e>
                        </m:d>
                      </m:e>
                      <m:sup>
                        <m:r>
                          <a:rPr lang="en-US" altLang="zh-CN" sz="2600" i="1">
                            <a:solidFill>
                              <a:srgbClr val="000000"/>
                            </a:solidFill>
                            <a:latin typeface="Cambria Math" panose="02040503050406030204" pitchFamily="18" charset="0"/>
                          </a:rPr>
                          <m:t>2</m:t>
                        </m:r>
                      </m:sup>
                    </m:sSup>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b="0" i="1" smtClean="0">
                            <a:solidFill>
                              <a:srgbClr val="000000"/>
                            </a:solidFill>
                            <a:latin typeface="Cambria Math" panose="02040503050406030204" pitchFamily="18" charset="0"/>
                          </a:rPr>
                          <m:t>1</m:t>
                        </m:r>
                      </m:sub>
                    </m:sSub>
                    <m:r>
                      <a:rPr lang="en-US" altLang="zh-CN" sz="2600" b="0" i="1" smtClean="0">
                        <a:solidFill>
                          <a:srgbClr val="000000"/>
                        </a:solidFill>
                        <a:latin typeface="Cambria Math" panose="02040503050406030204" pitchFamily="18" charset="0"/>
                      </a:rPr>
                      <m:t>+</m:t>
                    </m:r>
                    <m:sSup>
                      <m:sSupPr>
                        <m:ctrlPr>
                          <a:rPr lang="en-US" altLang="zh-CN" sz="2600" b="0" i="1" smtClean="0">
                            <a:solidFill>
                              <a:srgbClr val="000000"/>
                            </a:solidFill>
                            <a:latin typeface="Cambria Math" panose="02040503050406030204" pitchFamily="18" charset="0"/>
                          </a:rPr>
                        </m:ctrlPr>
                      </m:sSupPr>
                      <m:e>
                        <m:r>
                          <a:rPr lang="en-US" altLang="zh-CN" sz="2600" b="0" i="1" smtClean="0">
                            <a:solidFill>
                              <a:srgbClr val="000000"/>
                            </a:solidFill>
                            <a:latin typeface="Cambria Math" panose="02040503050406030204" pitchFamily="18" charset="0"/>
                          </a:rPr>
                          <m:t>3</m:t>
                        </m:r>
                        <m:r>
                          <a:rPr lang="en-US" altLang="zh-CN" sz="2600" b="0" i="1" smtClean="0">
                            <a:solidFill>
                              <a:srgbClr val="000000"/>
                            </a:solidFill>
                            <a:latin typeface="Cambria Math" panose="02040503050406030204" pitchFamily="18" charset="0"/>
                          </a:rPr>
                          <m:t>𝑡</m:t>
                        </m:r>
                      </m:e>
                      <m:sup>
                        <m:r>
                          <a:rPr lang="en-US" altLang="zh-CN" sz="2600" b="0" i="1" smtClean="0">
                            <a:solidFill>
                              <a:srgbClr val="000000"/>
                            </a:solidFill>
                            <a:latin typeface="Cambria Math" panose="02040503050406030204" pitchFamily="18" charset="0"/>
                          </a:rPr>
                          <m:t>2</m:t>
                        </m:r>
                      </m:sup>
                    </m:sSup>
                  </m:oMath>
                </a14:m>
                <a:r>
                  <a:rPr lang="en-US" altLang="zh-CN" sz="2600" dirty="0">
                    <a:solidFill>
                      <a:srgbClr val="000000"/>
                    </a:solidFill>
                  </a:rPr>
                  <a:t>(1-t) </a:t>
                </a:r>
                <a14:m>
                  <m:oMath xmlns:m="http://schemas.openxmlformats.org/officeDocument/2006/math">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b="0" i="1" smtClean="0">
                            <a:solidFill>
                              <a:srgbClr val="000000"/>
                            </a:solidFill>
                            <a:latin typeface="Cambria Math" panose="02040503050406030204" pitchFamily="18" charset="0"/>
                          </a:rPr>
                          <m:t>2</m:t>
                        </m:r>
                      </m:sub>
                    </m:sSub>
                    <m:r>
                      <a:rPr lang="en-US" altLang="zh-CN" sz="2600" b="0" i="1" smtClean="0">
                        <a:solidFill>
                          <a:srgbClr val="000000"/>
                        </a:solidFill>
                        <a:latin typeface="Cambria Math" panose="02040503050406030204" pitchFamily="18" charset="0"/>
                      </a:rPr>
                      <m:t>+</m:t>
                    </m:r>
                  </m:oMath>
                </a14:m>
                <a:r>
                  <a:rPr lang="en-US" altLang="zh-CN" sz="2600" dirty="0">
                    <a:solidFill>
                      <a:srgbClr val="000000"/>
                    </a:solidFill>
                  </a:rPr>
                  <a:t> </a:t>
                </a:r>
                <a14:m>
                  <m:oMath xmlns:m="http://schemas.openxmlformats.org/officeDocument/2006/math">
                    <m:sSup>
                      <m:sSupPr>
                        <m:ctrlPr>
                          <a:rPr lang="en-US" altLang="zh-CN" sz="2600" i="1">
                            <a:solidFill>
                              <a:srgbClr val="000000"/>
                            </a:solidFill>
                            <a:latin typeface="Cambria Math" panose="02040503050406030204" pitchFamily="18" charset="0"/>
                          </a:rPr>
                        </m:ctrlPr>
                      </m:sSupPr>
                      <m:e>
                        <m:r>
                          <a:rPr lang="en-US" altLang="zh-CN" sz="2600" i="1">
                            <a:solidFill>
                              <a:srgbClr val="000000"/>
                            </a:solidFill>
                            <a:latin typeface="Cambria Math" panose="02040503050406030204" pitchFamily="18" charset="0"/>
                          </a:rPr>
                          <m:t>𝑡</m:t>
                        </m:r>
                      </m:e>
                      <m:sup>
                        <m:r>
                          <a:rPr lang="en-US" altLang="zh-CN" sz="2600" b="0" i="1" smtClean="0">
                            <a:solidFill>
                              <a:srgbClr val="000000"/>
                            </a:solidFill>
                            <a:latin typeface="Cambria Math" panose="02040503050406030204" pitchFamily="18" charset="0"/>
                          </a:rPr>
                          <m:t>3</m:t>
                        </m:r>
                      </m:sup>
                    </m:sSup>
                  </m:oMath>
                </a14:m>
                <a:r>
                  <a:rPr lang="en-US" altLang="zh-CN" sz="2600" dirty="0">
                    <a:solidFill>
                      <a:srgbClr val="000000"/>
                    </a:solidFill>
                  </a:rPr>
                  <a:t> </a:t>
                </a:r>
                <a14:m>
                  <m:oMath xmlns:m="http://schemas.openxmlformats.org/officeDocument/2006/math">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b="0" i="1" smtClean="0">
                            <a:solidFill>
                              <a:srgbClr val="000000"/>
                            </a:solidFill>
                            <a:latin typeface="Cambria Math" panose="02040503050406030204" pitchFamily="18" charset="0"/>
                          </a:rPr>
                          <m:t>3</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m>
                      <m:mPr>
                        <m:plcHide m:val="on"/>
                        <m:mcs>
                          <m:mc>
                            <m:mcPr>
                              <m:count m:val="2"/>
                              <m:mcJc m:val="center"/>
                            </m:mcPr>
                          </m:mc>
                        </m:mcs>
                        <m:ctrlPr>
                          <a:rPr lang="zh-CN" altLang="en-US" sz="2600" i="1">
                            <a:solidFill>
                              <a:srgbClr val="000000"/>
                            </a:solidFill>
                            <a:latin typeface="Cambria Math" panose="02040503050406030204" pitchFamily="18" charset="0"/>
                          </a:rPr>
                        </m:ctrlPr>
                      </m:mPr>
                      <m:mr>
                        <m:e/>
                        <m:e>
                          <m:r>
                            <a:rPr lang="zh-CN" altLang="en-US" sz="2600" i="1">
                              <a:solidFill>
                                <a:srgbClr val="000000"/>
                              </a:solidFill>
                              <a:latin typeface="Cambria Math" panose="02040503050406030204" pitchFamily="18" charset="0"/>
                            </a:rPr>
                            <m:t>𝑡</m:t>
                          </m:r>
                          <m:r>
                            <a:rPr lang="zh-CN" altLang="en-US" sz="2600" i="1">
                              <a:solidFill>
                                <a:srgbClr val="000000"/>
                              </a:solidFill>
                              <a:latin typeface="Cambria Math" panose="02040503050406030204" pitchFamily="18" charset="0"/>
                            </a:rPr>
                            <m:t>∈[0,1]</m:t>
                          </m:r>
                        </m:e>
                      </m:mr>
                    </m:m>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en-US" altLang="zh-CN" sz="2600" b="0" dirty="0">
                    <a:solidFill>
                      <a:srgbClr val="000000"/>
                    </a:solidFill>
                  </a:rPr>
                  <a:t> </a:t>
                </a:r>
                <a14:m>
                  <m:oMath xmlns:m="http://schemas.openxmlformats.org/officeDocument/2006/math">
                    <m:sSub>
                      <m:sSubPr>
                        <m:ctrlPr>
                          <a:rPr lang="en-US" altLang="zh-CN" sz="2600" b="0" i="1" smtClean="0">
                            <a:solidFill>
                              <a:srgbClr val="000000"/>
                            </a:solidFill>
                            <a:latin typeface="Cambria Math" panose="02040503050406030204" pitchFamily="18" charset="0"/>
                          </a:rPr>
                        </m:ctrlPr>
                      </m:sSubPr>
                      <m:e>
                        <m:r>
                          <a:rPr lang="en-US" altLang="zh-CN" sz="2600" b="0" i="1" smtClean="0">
                            <a:solidFill>
                              <a:srgbClr val="000000"/>
                            </a:solidFill>
                            <a:latin typeface="Cambria Math" panose="02040503050406030204" pitchFamily="18" charset="0"/>
                          </a:rPr>
                          <m:t>𝐵</m:t>
                        </m:r>
                      </m:e>
                      <m:sub>
                        <m:r>
                          <a:rPr lang="en-US" altLang="zh-CN" sz="2600" b="0" i="1" smtClean="0">
                            <a:solidFill>
                              <a:srgbClr val="000000"/>
                            </a:solidFill>
                            <a:latin typeface="Cambria Math" panose="02040503050406030204" pitchFamily="18" charset="0"/>
                          </a:rPr>
                          <m:t>0,3</m:t>
                        </m:r>
                      </m:sub>
                    </m:sSub>
                    <m:r>
                      <a:rPr lang="en-US" altLang="zh-CN" sz="2600" b="0" i="1" smtClean="0">
                        <a:solidFill>
                          <a:srgbClr val="000000"/>
                        </a:solidFill>
                        <a:latin typeface="Cambria Math" panose="02040503050406030204" pitchFamily="18" charset="0"/>
                      </a:rPr>
                      <m:t>(</m:t>
                    </m:r>
                    <m:r>
                      <a:rPr lang="en-US" altLang="zh-CN" sz="2600" b="0" i="1" smtClean="0">
                        <a:solidFill>
                          <a:srgbClr val="000000"/>
                        </a:solidFill>
                        <a:latin typeface="Cambria Math" panose="02040503050406030204" pitchFamily="18" charset="0"/>
                      </a:rPr>
                      <m:t>𝑡</m:t>
                    </m:r>
                    <m:r>
                      <a:rPr lang="en-US" altLang="zh-CN" sz="2600" b="0" i="1" smtClean="0">
                        <a:solidFill>
                          <a:srgbClr val="000000"/>
                        </a:solidFill>
                        <a:latin typeface="Cambria Math" panose="02040503050406030204" pitchFamily="18" charset="0"/>
                      </a:rPr>
                      <m:t>)</m:t>
                    </m:r>
                  </m:oMath>
                </a14:m>
                <a:r>
                  <a:rPr lang="en-US" altLang="zh-CN" sz="2600" dirty="0">
                    <a:solidFill>
                      <a:srgbClr val="000000"/>
                    </a:solidFill>
                  </a:rPr>
                  <a:t> </a:t>
                </a:r>
                <a14:m>
                  <m:oMath xmlns:m="http://schemas.openxmlformats.org/officeDocument/2006/math">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i="1">
                            <a:solidFill>
                              <a:srgbClr val="000000"/>
                            </a:solidFill>
                            <a:latin typeface="Cambria Math" panose="02040503050406030204" pitchFamily="18" charset="0"/>
                          </a:rPr>
                          <m:t>0</m:t>
                        </m:r>
                      </m:sub>
                    </m:sSub>
                    <m:r>
                      <a:rPr lang="en-US" altLang="zh-CN" sz="2600" i="1">
                        <a:solidFill>
                          <a:srgbClr val="000000"/>
                        </a:solidFill>
                        <a:latin typeface="Cambria Math" panose="02040503050406030204" pitchFamily="18" charset="0"/>
                      </a:rPr>
                      <m:t>+</m:t>
                    </m:r>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𝐵</m:t>
                        </m:r>
                      </m:e>
                      <m:sub>
                        <m:r>
                          <a:rPr lang="en-US" altLang="zh-CN" sz="2600" b="0" i="1" smtClean="0">
                            <a:solidFill>
                              <a:srgbClr val="000000"/>
                            </a:solidFill>
                            <a:latin typeface="Cambria Math" panose="02040503050406030204" pitchFamily="18" charset="0"/>
                          </a:rPr>
                          <m:t>1</m:t>
                        </m:r>
                        <m:r>
                          <a:rPr lang="en-US" altLang="zh-CN" sz="2600" i="1">
                            <a:solidFill>
                              <a:srgbClr val="000000"/>
                            </a:solidFill>
                            <a:latin typeface="Cambria Math" panose="02040503050406030204" pitchFamily="18" charset="0"/>
                          </a:rPr>
                          <m:t>,3</m:t>
                        </m:r>
                      </m:sub>
                    </m:sSub>
                    <m:r>
                      <a:rPr lang="en-US" altLang="zh-CN" sz="2600" i="1">
                        <a:solidFill>
                          <a:srgbClr val="000000"/>
                        </a:solidFill>
                        <a:latin typeface="Cambria Math" panose="02040503050406030204" pitchFamily="18" charset="0"/>
                      </a:rPr>
                      <m:t>(</m:t>
                    </m:r>
                    <m:r>
                      <a:rPr lang="en-US" altLang="zh-CN" sz="2600" i="1">
                        <a:solidFill>
                          <a:srgbClr val="000000"/>
                        </a:solidFill>
                        <a:latin typeface="Cambria Math" panose="02040503050406030204" pitchFamily="18" charset="0"/>
                      </a:rPr>
                      <m:t>𝑡</m:t>
                    </m:r>
                    <m:r>
                      <a:rPr lang="en-US" altLang="zh-CN" sz="2600" i="1">
                        <a:solidFill>
                          <a:srgbClr val="000000"/>
                        </a:solidFill>
                        <a:latin typeface="Cambria Math" panose="02040503050406030204" pitchFamily="18" charset="0"/>
                      </a:rPr>
                      <m:t>)</m:t>
                    </m:r>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i="1">
                            <a:solidFill>
                              <a:srgbClr val="000000"/>
                            </a:solidFill>
                            <a:latin typeface="Cambria Math" panose="02040503050406030204" pitchFamily="18" charset="0"/>
                          </a:rPr>
                          <m:t>1</m:t>
                        </m:r>
                      </m:sub>
                    </m:sSub>
                    <m:r>
                      <a:rPr lang="en-US" altLang="zh-CN" sz="2600" i="1">
                        <a:solidFill>
                          <a:srgbClr val="000000"/>
                        </a:solidFill>
                        <a:latin typeface="Cambria Math" panose="02040503050406030204" pitchFamily="18" charset="0"/>
                      </a:rPr>
                      <m:t>+</m:t>
                    </m:r>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𝐵</m:t>
                        </m:r>
                      </m:e>
                      <m:sub>
                        <m:r>
                          <a:rPr lang="en-US" altLang="zh-CN" sz="2600" b="0" i="1" smtClean="0">
                            <a:solidFill>
                              <a:srgbClr val="000000"/>
                            </a:solidFill>
                            <a:latin typeface="Cambria Math" panose="02040503050406030204" pitchFamily="18" charset="0"/>
                          </a:rPr>
                          <m:t>2</m:t>
                        </m:r>
                        <m:r>
                          <a:rPr lang="en-US" altLang="zh-CN" sz="2600" i="1">
                            <a:solidFill>
                              <a:srgbClr val="000000"/>
                            </a:solidFill>
                            <a:latin typeface="Cambria Math" panose="02040503050406030204" pitchFamily="18" charset="0"/>
                          </a:rPr>
                          <m:t>,3</m:t>
                        </m:r>
                      </m:sub>
                    </m:sSub>
                    <m:r>
                      <a:rPr lang="en-US" altLang="zh-CN" sz="2600" i="1">
                        <a:solidFill>
                          <a:srgbClr val="000000"/>
                        </a:solidFill>
                        <a:latin typeface="Cambria Math" panose="02040503050406030204" pitchFamily="18" charset="0"/>
                      </a:rPr>
                      <m:t>(</m:t>
                    </m:r>
                    <m:r>
                      <a:rPr lang="en-US" altLang="zh-CN" sz="2600" i="1">
                        <a:solidFill>
                          <a:srgbClr val="000000"/>
                        </a:solidFill>
                        <a:latin typeface="Cambria Math" panose="02040503050406030204" pitchFamily="18" charset="0"/>
                      </a:rPr>
                      <m:t>𝑡</m:t>
                    </m:r>
                    <m:r>
                      <a:rPr lang="en-US" altLang="zh-CN" sz="2600" i="1">
                        <a:solidFill>
                          <a:srgbClr val="000000"/>
                        </a:solidFill>
                        <a:latin typeface="Cambria Math" panose="02040503050406030204" pitchFamily="18" charset="0"/>
                      </a:rPr>
                      <m:t>)</m:t>
                    </m:r>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i="1">
                            <a:solidFill>
                              <a:srgbClr val="000000"/>
                            </a:solidFill>
                            <a:latin typeface="Cambria Math" panose="02040503050406030204" pitchFamily="18" charset="0"/>
                          </a:rPr>
                          <m:t>2</m:t>
                        </m:r>
                      </m:sub>
                    </m:sSub>
                    <m:r>
                      <a:rPr lang="en-US" altLang="zh-CN" sz="2600" i="1">
                        <a:solidFill>
                          <a:srgbClr val="000000"/>
                        </a:solidFill>
                        <a:latin typeface="Cambria Math" panose="02040503050406030204" pitchFamily="18" charset="0"/>
                      </a:rPr>
                      <m:t>+</m:t>
                    </m:r>
                  </m:oMath>
                </a14:m>
                <a:r>
                  <a:rPr lang="en-US" altLang="zh-CN" sz="2600" dirty="0">
                    <a:solidFill>
                      <a:srgbClr val="000000"/>
                    </a:solidFill>
                  </a:rPr>
                  <a:t> </a:t>
                </a:r>
                <a14:m>
                  <m:oMath xmlns:m="http://schemas.openxmlformats.org/officeDocument/2006/math">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𝐵</m:t>
                        </m:r>
                      </m:e>
                      <m:sub>
                        <m:r>
                          <a:rPr lang="en-US" altLang="zh-CN" sz="2600" b="0" i="1" smtClean="0">
                            <a:solidFill>
                              <a:srgbClr val="000000"/>
                            </a:solidFill>
                            <a:latin typeface="Cambria Math" panose="02040503050406030204" pitchFamily="18" charset="0"/>
                          </a:rPr>
                          <m:t>3</m:t>
                        </m:r>
                        <m:r>
                          <a:rPr lang="en-US" altLang="zh-CN" sz="2600" i="1">
                            <a:solidFill>
                              <a:srgbClr val="000000"/>
                            </a:solidFill>
                            <a:latin typeface="Cambria Math" panose="02040503050406030204" pitchFamily="18" charset="0"/>
                          </a:rPr>
                          <m:t>,3</m:t>
                        </m:r>
                      </m:sub>
                    </m:sSub>
                    <m:r>
                      <a:rPr lang="en-US" altLang="zh-CN" sz="2600" i="1">
                        <a:solidFill>
                          <a:srgbClr val="000000"/>
                        </a:solidFill>
                        <a:latin typeface="Cambria Math" panose="02040503050406030204" pitchFamily="18" charset="0"/>
                      </a:rPr>
                      <m:t>(</m:t>
                    </m:r>
                    <m:r>
                      <a:rPr lang="en-US" altLang="zh-CN" sz="2600" i="1">
                        <a:solidFill>
                          <a:srgbClr val="000000"/>
                        </a:solidFill>
                        <a:latin typeface="Cambria Math" panose="02040503050406030204" pitchFamily="18" charset="0"/>
                      </a:rPr>
                      <m:t>𝑡</m:t>
                    </m:r>
                    <m:r>
                      <a:rPr lang="en-US" altLang="zh-CN" sz="2600" i="1">
                        <a:solidFill>
                          <a:srgbClr val="000000"/>
                        </a:solidFill>
                        <a:latin typeface="Cambria Math" panose="02040503050406030204" pitchFamily="18" charset="0"/>
                      </a:rPr>
                      <m:t>)</m:t>
                    </m:r>
                  </m:oMath>
                </a14:m>
                <a:r>
                  <a:rPr lang="en-US" altLang="zh-CN" sz="2600" dirty="0">
                    <a:solidFill>
                      <a:srgbClr val="000000"/>
                    </a:solidFill>
                  </a:rPr>
                  <a:t> </a:t>
                </a:r>
                <a14:m>
                  <m:oMath xmlns:m="http://schemas.openxmlformats.org/officeDocument/2006/math">
                    <m:sSub>
                      <m:sSubPr>
                        <m:ctrlPr>
                          <a:rPr lang="en-US" altLang="zh-CN" sz="2600" i="1">
                            <a:solidFill>
                              <a:srgbClr val="000000"/>
                            </a:solidFill>
                            <a:latin typeface="Cambria Math" panose="02040503050406030204" pitchFamily="18" charset="0"/>
                          </a:rPr>
                        </m:ctrlPr>
                      </m:sSubPr>
                      <m:e>
                        <m:r>
                          <a:rPr lang="en-US" altLang="zh-CN" sz="2600" i="1">
                            <a:solidFill>
                              <a:srgbClr val="000000"/>
                            </a:solidFill>
                            <a:latin typeface="Cambria Math" panose="02040503050406030204" pitchFamily="18" charset="0"/>
                          </a:rPr>
                          <m:t>𝑃</m:t>
                        </m:r>
                      </m:e>
                      <m:sub>
                        <m:r>
                          <a:rPr lang="en-US" altLang="zh-CN" sz="2600" i="1">
                            <a:solidFill>
                              <a:srgbClr val="000000"/>
                            </a:solidFill>
                            <a:latin typeface="Cambria Math" panose="02040503050406030204" pitchFamily="18" charset="0"/>
                          </a:rPr>
                          <m:t>3</m:t>
                        </m:r>
                      </m:sub>
                    </m:sSub>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600" dirty="0">
                    <a:latin typeface="华光仿宋_CNKI" panose="02000500000000000000" pitchFamily="2" charset="-122"/>
                    <a:ea typeface="华光仿宋_CNKI" panose="02000500000000000000" pitchFamily="2" charset="-122"/>
                  </a:rPr>
                  <a:t>    用矩阵形式表示为：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800" dirty="0">
                    <a:solidFill>
                      <a:srgbClr val="000000"/>
                    </a:solidFill>
                  </a:rPr>
                  <a:t>       </a:t>
                </a:r>
                <a14:m>
                  <m:oMath xmlns:m="http://schemas.openxmlformats.org/officeDocument/2006/math">
                    <m:r>
                      <a:rPr lang="zh-CN" altLang="en-US" sz="2800" i="1" smtClean="0">
                        <a:solidFill>
                          <a:srgbClr val="000000"/>
                        </a:solidFill>
                        <a:latin typeface="Cambria Math" panose="02040503050406030204" pitchFamily="18" charset="0"/>
                      </a:rPr>
                      <m:t>𝑃</m:t>
                    </m:r>
                    <m:d>
                      <m:dPr>
                        <m:ctrlPr>
                          <a:rPr lang="zh-CN" altLang="en-US" sz="2800" i="1" smtClean="0">
                            <a:solidFill>
                              <a:srgbClr val="000000"/>
                            </a:solidFill>
                            <a:latin typeface="Cambria Math" panose="02040503050406030204" pitchFamily="18" charset="0"/>
                          </a:rPr>
                        </m:ctrlPr>
                      </m:dPr>
                      <m:e>
                        <m:r>
                          <a:rPr lang="zh-CN" altLang="en-US" sz="2800" i="1" smtClean="0">
                            <a:solidFill>
                              <a:srgbClr val="000000"/>
                            </a:solidFill>
                            <a:latin typeface="Cambria Math" panose="02040503050406030204" pitchFamily="18" charset="0"/>
                          </a:rPr>
                          <m:t>𝑡</m:t>
                        </m:r>
                      </m:e>
                    </m:d>
                    <m:r>
                      <a:rPr lang="en-US" altLang="zh-CN" sz="2800" i="1">
                        <a:solidFill>
                          <a:srgbClr val="000000"/>
                        </a:solidFill>
                        <a:latin typeface="Cambria Math" panose="02040503050406030204" pitchFamily="18" charset="0"/>
                      </a:rPr>
                      <m:t>=</m:t>
                    </m:r>
                    <m:r>
                      <a:rPr lang="en-US" altLang="zh-CN" sz="2800" b="0" i="0" smtClean="0">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i="1">
                            <a:solidFill>
                              <a:srgbClr val="000000"/>
                            </a:solidFill>
                            <a:latin typeface="Cambria Math" panose="02040503050406030204" pitchFamily="18" charset="0"/>
                          </a:rPr>
                          <m:t>0</m:t>
                        </m:r>
                      </m:sub>
                    </m:sSub>
                    <m:r>
                      <m:rPr>
                        <m:nor/>
                      </m:rPr>
                      <a:rPr lang="en-US" altLang="zh-CN" sz="2800" dirty="0">
                        <a:solidFill>
                          <a:srgbClr val="000000"/>
                        </a:solidFill>
                      </a:rPr>
                      <m:t>, </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i="1">
                            <a:solidFill>
                              <a:srgbClr val="000000"/>
                            </a:solidFill>
                            <a:latin typeface="Cambria Math" panose="02040503050406030204" pitchFamily="18" charset="0"/>
                          </a:rPr>
                          <m:t>1</m:t>
                        </m:r>
                      </m:sub>
                    </m:sSub>
                    <m:r>
                      <m:rPr>
                        <m:nor/>
                      </m:rPr>
                      <a:rPr lang="en-US" altLang="zh-CN" sz="2800" dirty="0">
                        <a:latin typeface="华光仿宋_CNKI" panose="02000500000000000000" pitchFamily="2" charset="-122"/>
                        <a:ea typeface="华光仿宋_CNKI" panose="02000500000000000000" pitchFamily="2" charset="-122"/>
                      </a:rPr>
                      <m:t>,</m:t>
                    </m:r>
                    <m:r>
                      <m:rPr>
                        <m:nor/>
                      </m:rPr>
                      <a:rPr lang="en-US" altLang="zh-CN" sz="2800" dirty="0">
                        <a:solidFill>
                          <a:srgbClr val="000000"/>
                        </a:solidFill>
                      </a:rPr>
                      <m:t> </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𝑃</m:t>
                        </m:r>
                      </m:e>
                      <m:sub>
                        <m:r>
                          <a:rPr lang="en-US" altLang="zh-CN" sz="2800" i="1">
                            <a:solidFill>
                              <a:srgbClr val="000000"/>
                            </a:solidFill>
                            <a:latin typeface="Cambria Math" panose="02040503050406030204" pitchFamily="18" charset="0"/>
                          </a:rPr>
                          <m:t>3</m:t>
                        </m:r>
                      </m:sub>
                    </m:sSub>
                    <m:r>
                      <a:rPr lang="en-US" altLang="zh-CN" sz="2800" i="1">
                        <a:solidFill>
                          <a:srgbClr val="000000"/>
                        </a:solidFill>
                        <a:latin typeface="Cambria Math" panose="02040503050406030204" pitchFamily="18" charset="0"/>
                      </a:rPr>
                      <m:t>]</m:t>
                    </m:r>
                    <m:d>
                      <m:dPr>
                        <m:begChr m:val="["/>
                        <m:endChr m:val="]"/>
                        <m:ctrlPr>
                          <a:rPr lang="en-US" altLang="zh-CN" sz="2800" b="0" i="1" smtClean="0">
                            <a:solidFill>
                              <a:srgbClr val="000000"/>
                            </a:solidFill>
                            <a:latin typeface="Cambria Math" panose="02040503050406030204" pitchFamily="18" charset="0"/>
                          </a:rPr>
                        </m:ctrlPr>
                      </m:dPr>
                      <m:e>
                        <m:eqArr>
                          <m:eqArrPr>
                            <m:ctrlPr>
                              <a:rPr lang="en-US" altLang="zh-CN" sz="2800" b="0" i="1" smtClean="0">
                                <a:solidFill>
                                  <a:srgbClr val="000000"/>
                                </a:solidFill>
                                <a:latin typeface="Cambria Math" panose="02040503050406030204" pitchFamily="18" charset="0"/>
                              </a:rPr>
                            </m:ctrlPr>
                          </m:eqArrPr>
                          <m:e>
                            <m:r>
                              <a:rPr lang="en-US" altLang="zh-CN" sz="2800" b="0" i="1" smtClean="0">
                                <a:solidFill>
                                  <a:srgbClr val="000000"/>
                                </a:solidFill>
                                <a:latin typeface="Cambria Math" panose="02040503050406030204" pitchFamily="18" charset="0"/>
                              </a:rPr>
                              <m:t>1  −3       3  −1</m:t>
                            </m:r>
                          </m:e>
                          <m:e>
                            <m:r>
                              <a:rPr lang="en-US" altLang="zh-CN" sz="2800" b="0" i="1" smtClean="0">
                                <a:solidFill>
                                  <a:srgbClr val="000000"/>
                                </a:solidFill>
                                <a:latin typeface="Cambria Math" panose="02040503050406030204" pitchFamily="18" charset="0"/>
                              </a:rPr>
                              <m:t>0     3   −6       3</m:t>
                            </m:r>
                          </m:e>
                          <m:e>
                            <m:r>
                              <a:rPr lang="en-US" altLang="zh-CN" sz="2800" b="0" i="1" smtClean="0">
                                <a:solidFill>
                                  <a:srgbClr val="000000"/>
                                </a:solidFill>
                                <a:latin typeface="Cambria Math" panose="02040503050406030204" pitchFamily="18" charset="0"/>
                              </a:rPr>
                              <m:t>0      0        3       3</m:t>
                            </m:r>
                          </m:e>
                          <m:e>
                            <m:r>
                              <a:rPr lang="en-US" altLang="zh-CN" sz="2800" b="0" i="1" smtClean="0">
                                <a:solidFill>
                                  <a:srgbClr val="000000"/>
                                </a:solidFill>
                                <a:latin typeface="Cambria Math" panose="02040503050406030204" pitchFamily="18" charset="0"/>
                              </a:rPr>
                              <m:t>0      0        0       1</m:t>
                            </m:r>
                          </m:e>
                        </m:eqArr>
                      </m:e>
                    </m:d>
                    <m:d>
                      <m:dPr>
                        <m:begChr m:val="["/>
                        <m:endChr m:val="]"/>
                        <m:ctrlPr>
                          <a:rPr lang="en-US" altLang="zh-CN" sz="2800" b="0" i="1" smtClean="0">
                            <a:solidFill>
                              <a:srgbClr val="000000"/>
                            </a:solidFill>
                            <a:latin typeface="Cambria Math" panose="02040503050406030204" pitchFamily="18" charset="0"/>
                          </a:rPr>
                        </m:ctrlPr>
                      </m:dPr>
                      <m:e>
                        <m:m>
                          <m:mPr>
                            <m:mcs>
                              <m:mc>
                                <m:mcPr>
                                  <m:count m:val="1"/>
                                  <m:mcJc m:val="center"/>
                                </m:mcPr>
                              </m:mc>
                            </m:mcs>
                            <m:ctrlPr>
                              <a:rPr lang="en-US" altLang="zh-CN" sz="2800" b="0" i="1" smtClean="0">
                                <a:solidFill>
                                  <a:srgbClr val="000000"/>
                                </a:solidFill>
                                <a:latin typeface="Cambria Math" panose="02040503050406030204" pitchFamily="18" charset="0"/>
                              </a:rPr>
                            </m:ctrlPr>
                          </m:mPr>
                          <m:mr>
                            <m:e>
                              <m:r>
                                <m:rPr>
                                  <m:brk m:alnAt="7"/>
                                </m:rPr>
                                <a:rPr lang="en-US" altLang="zh-CN" sz="2800" b="0" i="1" smtClean="0">
                                  <a:solidFill>
                                    <a:srgbClr val="000000"/>
                                  </a:solidFill>
                                  <a:latin typeface="Cambria Math" panose="02040503050406030204" pitchFamily="18" charset="0"/>
                                </a:rPr>
                                <m:t>1</m:t>
                              </m:r>
                            </m:e>
                          </m:mr>
                          <m:mr>
                            <m:e>
                              <m:r>
                                <a:rPr lang="en-US" altLang="zh-CN" sz="2800" b="0" i="1" smtClean="0">
                                  <a:solidFill>
                                    <a:srgbClr val="000000"/>
                                  </a:solidFill>
                                  <a:latin typeface="Cambria Math" panose="02040503050406030204" pitchFamily="18" charset="0"/>
                                </a:rPr>
                                <m:t>𝑡</m:t>
                              </m:r>
                            </m:e>
                          </m:mr>
                          <m:mr>
                            <m:e>
                              <m:eqArr>
                                <m:eqArrPr>
                                  <m:ctrlPr>
                                    <a:rPr lang="en-US" altLang="zh-CN" sz="2800" b="0" i="1" smtClean="0">
                                      <a:solidFill>
                                        <a:srgbClr val="000000"/>
                                      </a:solidFill>
                                      <a:latin typeface="Cambria Math" panose="02040503050406030204" pitchFamily="18" charset="0"/>
                                    </a:rPr>
                                  </m:ctrlPr>
                                </m:eqArrPr>
                                <m:e>
                                  <m:sSup>
                                    <m:sSupPr>
                                      <m:ctrlPr>
                                        <a:rPr lang="en-US" altLang="zh-CN" sz="2800" b="0" i="1" smtClean="0">
                                          <a:solidFill>
                                            <a:srgbClr val="000000"/>
                                          </a:solidFill>
                                          <a:latin typeface="Cambria Math" panose="02040503050406030204" pitchFamily="18" charset="0"/>
                                        </a:rPr>
                                      </m:ctrlPr>
                                    </m:sSupPr>
                                    <m:e>
                                      <m:r>
                                        <a:rPr lang="en-US" altLang="zh-CN" sz="2800" b="0" i="1" smtClean="0">
                                          <a:solidFill>
                                            <a:srgbClr val="000000"/>
                                          </a:solidFill>
                                          <a:latin typeface="Cambria Math" panose="02040503050406030204" pitchFamily="18" charset="0"/>
                                        </a:rPr>
                                        <m:t>𝑡</m:t>
                                      </m:r>
                                    </m:e>
                                    <m:sup>
                                      <m:r>
                                        <a:rPr lang="en-US" altLang="zh-CN" sz="2800" b="0" i="1" smtClean="0">
                                          <a:solidFill>
                                            <a:srgbClr val="000000"/>
                                          </a:solidFill>
                                          <a:latin typeface="Cambria Math" panose="02040503050406030204" pitchFamily="18" charset="0"/>
                                        </a:rPr>
                                        <m:t>2</m:t>
                                      </m:r>
                                    </m:sup>
                                  </m:sSup>
                                </m:e>
                                <m:e>
                                  <m:sSup>
                                    <m:sSupPr>
                                      <m:ctrlPr>
                                        <a:rPr lang="en-US" altLang="zh-CN"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𝑡</m:t>
                                      </m:r>
                                    </m:e>
                                    <m:sup>
                                      <m:r>
                                        <a:rPr lang="en-US" altLang="zh-CN" sz="2800" b="0" i="1" smtClean="0">
                                          <a:solidFill>
                                            <a:srgbClr val="000000"/>
                                          </a:solidFill>
                                          <a:latin typeface="Cambria Math" panose="02040503050406030204" pitchFamily="18" charset="0"/>
                                        </a:rPr>
                                        <m:t>3</m:t>
                                      </m:r>
                                    </m:sup>
                                  </m:sSup>
                                </m:e>
                              </m:eqArr>
                            </m:e>
                          </m:mr>
                        </m:m>
                      </m:e>
                    </m:d>
                  </m:oMath>
                </a14:m>
                <a:r>
                  <a:rPr lang="zh-CN" altLang="en-US" sz="2800" dirty="0">
                    <a:solidFill>
                      <a:srgbClr val="000000"/>
                    </a:solidFill>
                  </a:rPr>
                  <a:t> </a:t>
                </a:r>
                <a14:m>
                  <m:oMath xmlns:m="http://schemas.openxmlformats.org/officeDocument/2006/math">
                    <m:m>
                      <m:mPr>
                        <m:plcHide m:val="on"/>
                        <m:mcs>
                          <m:mc>
                            <m:mcPr>
                              <m:count m:val="2"/>
                              <m:mcJc m:val="center"/>
                            </m:mcPr>
                          </m:mc>
                        </m:mcs>
                        <m:ctrlPr>
                          <a:rPr lang="zh-CN" altLang="en-US" sz="2800" i="1">
                            <a:solidFill>
                              <a:srgbClr val="000000"/>
                            </a:solidFill>
                            <a:latin typeface="Cambria Math" panose="02040503050406030204" pitchFamily="18" charset="0"/>
                          </a:rPr>
                        </m:ctrlPr>
                      </m:mPr>
                      <m:mr>
                        <m:e/>
                        <m:e>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∈[0,1]</m:t>
                          </m:r>
                        </m:e>
                      </m:mr>
                    </m:m>
                  </m:oMath>
                </a14:m>
                <a:endParaRPr lang="en-US" altLang="zh-CN" sz="2800" dirty="0">
                  <a:solidFill>
                    <a:srgbClr val="000000"/>
                  </a:solidFill>
                </a:endParaRPr>
              </a:p>
              <a:p>
                <a:pPr algn="l">
                  <a:lnSpc>
                    <a:spcPct val="150000"/>
                  </a:lnSpc>
                </a:pPr>
                <a:r>
                  <a:rPr lang="en-US" altLang="zh-CN" sz="2800" dirty="0">
                    <a:solidFill>
                      <a:srgbClr val="000000"/>
                    </a:solidFill>
                  </a:rPr>
                  <a:t>       </a:t>
                </a:r>
                <a:r>
                  <a:rPr lang="zh-CN" altLang="en-US" sz="2600" dirty="0">
                    <a:latin typeface="华光仿宋_CNKI" panose="02000500000000000000" pitchFamily="2" charset="-122"/>
                    <a:ea typeface="华光仿宋_CNKI" panose="02000500000000000000" pitchFamily="2" charset="-122"/>
                  </a:rPr>
                  <a:t>显然具有如下的特性：   </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endParaRPr lang="zh-CN" altLang="en-US" sz="2400" b="1" dirty="0"/>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61510" y="184581"/>
                <a:ext cx="10938969" cy="586787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59432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451298" y="483024"/>
                <a:ext cx="9324073" cy="20158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dirty="0">
                    <a:solidFill>
                      <a:srgbClr val="000000"/>
                    </a:solidFill>
                    <a:latin typeface="Cambria Math" panose="02040503050406030204" pitchFamily="18" charset="0"/>
                  </a:rPr>
                  <a:t>       P(0)= </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m:rPr>
                        <m:nor/>
                      </m:rPr>
                      <a:rPr lang="en-US" altLang="zh-CN" i="1" dirty="0">
                        <a:solidFill>
                          <a:srgbClr val="000000"/>
                        </a:solidFill>
                        <a:latin typeface="Cambria Math" panose="02040503050406030204" pitchFamily="18" charset="0"/>
                      </a:rPr>
                      <m:t>P</m:t>
                    </m:r>
                    <m:r>
                      <m:rPr>
                        <m:nor/>
                      </m:rPr>
                      <a:rPr lang="en-US" altLang="zh-CN" i="1" dirty="0">
                        <a:solidFill>
                          <a:srgbClr val="000000"/>
                        </a:solidFill>
                        <a:latin typeface="Cambria Math" panose="02040503050406030204" pitchFamily="18" charset="0"/>
                      </a:rPr>
                      <m:t>(1)= </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m:rPr>
                            <m:sty m:val="p"/>
                          </m:rPr>
                          <a:rPr lang="en-US" altLang="zh-CN" i="0">
                            <a:solidFill>
                              <a:srgbClr val="000000"/>
                            </a:solidFill>
                            <a:latin typeface="Cambria Math" panose="02040503050406030204" pitchFamily="18" charset="0"/>
                          </a:rPr>
                          <m:t>P</m:t>
                        </m:r>
                      </m:e>
                      <m:sup>
                        <m:r>
                          <a:rPr lang="en-US" altLang="zh-CN" i="0">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(0)=</m:t>
                    </m:r>
                    <m:r>
                      <m:rPr>
                        <m:nor/>
                      </m:rPr>
                      <a:rPr lang="en-US" altLang="zh-CN" b="0" i="0" dirty="0" smtClean="0">
                        <a:solidFill>
                          <a:srgbClr val="000000"/>
                        </a:solidFill>
                        <a:latin typeface="Cambria Math" panose="02040503050406030204" pitchFamily="18" charset="0"/>
                      </a:rPr>
                      <m:t>3</m:t>
                    </m:r>
                    <m:r>
                      <m:rPr>
                        <m:nor/>
                      </m:rPr>
                      <a:rPr lang="en-US" altLang="zh-CN" dirty="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1</m:t>
                        </m:r>
                      </m:sub>
                    </m:sSub>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0</m:t>
                        </m:r>
                      </m:sub>
                    </m:sSub>
                    <m:r>
                      <a:rPr lang="en-US" altLang="zh-CN" i="0">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m:rPr>
                            <m:sty m:val="p"/>
                          </m:rPr>
                          <a:rPr lang="en-US" altLang="zh-CN" i="0">
                            <a:solidFill>
                              <a:srgbClr val="000000"/>
                            </a:solidFill>
                            <a:latin typeface="Cambria Math" panose="02040503050406030204" pitchFamily="18" charset="0"/>
                          </a:rPr>
                          <m:t>P</m:t>
                        </m:r>
                      </m:e>
                      <m:sup>
                        <m:r>
                          <a:rPr lang="en-US" altLang="zh-CN" i="0">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(1)=</m:t>
                    </m:r>
                    <m:r>
                      <m:rPr>
                        <m:nor/>
                      </m:rPr>
                      <a:rPr lang="en-US" altLang="zh-CN" b="0" i="0" dirty="0" smtClean="0">
                        <a:solidFill>
                          <a:srgbClr val="000000"/>
                        </a:solidFill>
                        <a:latin typeface="Cambria Math" panose="02040503050406030204" pitchFamily="18" charset="0"/>
                      </a:rPr>
                      <m:t>3</m:t>
                    </m:r>
                    <m:r>
                      <m:rPr>
                        <m:nor/>
                      </m:rPr>
                      <a:rPr lang="en-US" altLang="zh-CN" dirty="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3</m:t>
                        </m:r>
                      </m:sub>
                    </m:sSub>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2</m:t>
                        </m:r>
                      </m:sub>
                    </m:sSub>
                    <m:r>
                      <a:rPr lang="en-US" altLang="zh-CN" i="0">
                        <a:solidFill>
                          <a:srgbClr val="000000"/>
                        </a:solidFill>
                        <a:latin typeface="Cambria Math" panose="02040503050406030204" pitchFamily="18" charset="0"/>
                      </a:rPr>
                      <m:t>)</m:t>
                    </m:r>
                  </m:oMath>
                </a14:m>
                <a:endParaRPr lang="en-US" altLang="zh-CN" dirty="0">
                  <a:solidFill>
                    <a:srgbClr val="000000"/>
                  </a:solidFill>
                  <a:latin typeface="Cambria Math" panose="02040503050406030204" pitchFamily="18" charset="0"/>
                </a:endParaRPr>
              </a:p>
              <a:p>
                <a:pPr algn="l">
                  <a:lnSpc>
                    <a:spcPct val="150000"/>
                  </a:lnSpc>
                </a:pPr>
                <a:r>
                  <a:rPr lang="en-US" altLang="zh-CN" dirty="0">
                    <a:solidFill>
                      <a:srgbClr val="000000"/>
                    </a:solidFill>
                    <a:latin typeface="Cambria Math" panose="02040503050406030204" pitchFamily="18" charset="0"/>
                  </a:rPr>
                  <a:t>       </a:t>
                </a:r>
                <a14:m>
                  <m:oMath xmlns:m="http://schemas.openxmlformats.org/officeDocument/2006/math">
                    <m:sSup>
                      <m:sSupPr>
                        <m:ctrlPr>
                          <a:rPr lang="en-US" altLang="zh-CN" i="1" smtClean="0">
                            <a:solidFill>
                              <a:srgbClr val="000000"/>
                            </a:solidFill>
                            <a:latin typeface="Cambria Math" panose="02040503050406030204" pitchFamily="18" charset="0"/>
                          </a:rPr>
                        </m:ctrlPr>
                      </m:sSupPr>
                      <m:e>
                        <m:r>
                          <m:rPr>
                            <m:sty m:val="p"/>
                          </m:rPr>
                          <a:rPr lang="en-US" altLang="zh-CN" i="0">
                            <a:solidFill>
                              <a:srgbClr val="000000"/>
                            </a:solidFill>
                            <a:latin typeface="Cambria Math" panose="02040503050406030204" pitchFamily="18" charset="0"/>
                          </a:rPr>
                          <m:t>P</m:t>
                        </m:r>
                      </m:e>
                      <m:sup>
                        <m:r>
                          <a:rPr lang="en-US" altLang="zh-CN" i="0">
                            <a:solidFill>
                              <a:srgbClr val="000000"/>
                            </a:solidFill>
                            <a:latin typeface="Cambria Math" panose="02040503050406030204" pitchFamily="18" charset="0"/>
                          </a:rPr>
                          <m:t>′</m:t>
                        </m:r>
                        <m:r>
                          <a:rPr lang="en-US" altLang="zh-CN" b="0" i="0" smtClean="0">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(0)=</m:t>
                    </m:r>
                    <m:r>
                      <m:rPr>
                        <m:nor/>
                      </m:rPr>
                      <a:rPr lang="en-US" altLang="zh-CN" b="0" i="0" dirty="0" smtClean="0">
                        <a:solidFill>
                          <a:srgbClr val="000000"/>
                        </a:solidFill>
                        <a:latin typeface="Cambria Math" panose="02040503050406030204" pitchFamily="18" charset="0"/>
                      </a:rPr>
                      <m:t>6</m:t>
                    </m:r>
                    <m:r>
                      <m:rPr>
                        <m:nor/>
                      </m:rPr>
                      <a:rPr lang="en-US" altLang="zh-CN" dirty="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0</m:t>
                            </m:r>
                          </m:sub>
                        </m:sSub>
                        <m:r>
                          <a:rPr lang="en-US" altLang="zh-CN" b="1" i="0" smtClean="0">
                            <a:solidFill>
                              <a:srgbClr val="000000"/>
                            </a:solidFill>
                            <a:latin typeface="Cambria Math" panose="02040503050406030204" pitchFamily="18" charset="0"/>
                          </a:rPr>
                          <m:t>−</m:t>
                        </m:r>
                        <m:r>
                          <a:rPr lang="en-US" altLang="zh-CN" b="1" i="0" smtClean="0">
                            <a:solidFill>
                              <a:srgbClr val="000000"/>
                            </a:solidFill>
                            <a:latin typeface="Cambria Math" panose="02040503050406030204" pitchFamily="18" charset="0"/>
                          </a:rPr>
                          <m:t>𝟐</m:t>
                        </m:r>
                        <m:r>
                          <m:rPr>
                            <m:sty m:val="p"/>
                          </m:rPr>
                          <a:rPr lang="en-US" altLang="zh-CN" i="0">
                            <a:solidFill>
                              <a:srgbClr val="000000"/>
                            </a:solidFill>
                            <a:latin typeface="Cambria Math" panose="02040503050406030204" pitchFamily="18" charset="0"/>
                          </a:rPr>
                          <m:t>P</m:t>
                        </m:r>
                      </m:e>
                      <m:sub>
                        <m:r>
                          <a:rPr lang="en-US" altLang="zh-CN" i="0">
                            <a:solidFill>
                              <a:srgbClr val="000000"/>
                            </a:solidFill>
                            <a:latin typeface="Cambria Math" panose="02040503050406030204" pitchFamily="18" charset="0"/>
                          </a:rPr>
                          <m:t>1</m:t>
                        </m:r>
                      </m:sub>
                    </m:sSub>
                    <m:r>
                      <a:rPr lang="en-US" altLang="zh-CN" b="0" i="0" smtClean="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2</m:t>
                        </m:r>
                      </m:sub>
                    </m:sSub>
                    <m:r>
                      <a:rPr lang="en-US" altLang="zh-CN" i="0">
                        <a:solidFill>
                          <a:srgbClr val="000000"/>
                        </a:solidFill>
                        <a:latin typeface="Cambria Math" panose="02040503050406030204" pitchFamily="18" charset="0"/>
                      </a:rPr>
                      <m:t>)</m:t>
                    </m:r>
                  </m:oMath>
                </a14:m>
                <a:r>
                  <a:rPr lang="en-US" altLang="zh-CN" dirty="0">
                    <a:solidFill>
                      <a:srgbClr val="000000"/>
                    </a:solidFill>
                    <a:latin typeface="Cambria Math" panose="02040503050406030204" pitchFamily="18" charset="0"/>
                  </a:rPr>
                  <a:t>      </a:t>
                </a:r>
                <a14:m>
                  <m:oMath xmlns:m="http://schemas.openxmlformats.org/officeDocument/2006/math">
                    <m:sSup>
                      <m:sSupPr>
                        <m:ctrlPr>
                          <a:rPr lang="en-US" altLang="zh-CN" i="1">
                            <a:solidFill>
                              <a:srgbClr val="000000"/>
                            </a:solidFill>
                            <a:latin typeface="Cambria Math" panose="02040503050406030204" pitchFamily="18" charset="0"/>
                          </a:rPr>
                        </m:ctrlPr>
                      </m:sSupPr>
                      <m:e>
                        <m:r>
                          <m:rPr>
                            <m:sty m:val="p"/>
                          </m:rPr>
                          <a:rPr lang="en-US" altLang="zh-CN">
                            <a:solidFill>
                              <a:srgbClr val="000000"/>
                            </a:solidFill>
                            <a:latin typeface="Cambria Math" panose="02040503050406030204" pitchFamily="18" charset="0"/>
                          </a:rPr>
                          <m:t>P</m:t>
                        </m:r>
                      </m:e>
                      <m:sup>
                        <m:r>
                          <a:rPr lang="en-US" altLang="zh-CN">
                            <a:solidFill>
                              <a:srgbClr val="000000"/>
                            </a:solidFill>
                            <a:latin typeface="Cambria Math" panose="02040503050406030204" pitchFamily="18" charset="0"/>
                          </a:rPr>
                          <m:t>′′</m:t>
                        </m:r>
                      </m:sup>
                    </m:sSup>
                    <m:r>
                      <m:rPr>
                        <m:nor/>
                      </m:rPr>
                      <a:rPr lang="en-US" altLang="zh-CN" dirty="0">
                        <a:solidFill>
                          <a:srgbClr val="000000"/>
                        </a:solidFill>
                        <a:latin typeface="Cambria Math" panose="02040503050406030204" pitchFamily="18" charset="0"/>
                      </a:rPr>
                      <m:t>(</m:t>
                    </m:r>
                    <m:r>
                      <m:rPr>
                        <m:nor/>
                      </m:rPr>
                      <a:rPr lang="en-US" altLang="zh-CN" b="0" i="0" dirty="0" smtClean="0">
                        <a:solidFill>
                          <a:srgbClr val="000000"/>
                        </a:solidFill>
                        <a:latin typeface="Cambria Math" panose="02040503050406030204" pitchFamily="18" charset="0"/>
                      </a:rPr>
                      <m:t>1</m:t>
                    </m:r>
                    <m:r>
                      <m:rPr>
                        <m:nor/>
                      </m:rPr>
                      <a:rPr lang="en-US" altLang="zh-CN" dirty="0">
                        <a:solidFill>
                          <a:srgbClr val="000000"/>
                        </a:solidFill>
                        <a:latin typeface="Cambria Math" panose="02040503050406030204" pitchFamily="18" charset="0"/>
                      </a:rPr>
                      <m:t>)=6(</m:t>
                    </m:r>
                    <m:sSub>
                      <m:sSubPr>
                        <m:ctrlPr>
                          <a:rPr lang="en-US" altLang="zh-CN" i="1">
                            <a:solidFill>
                              <a:srgbClr val="000000"/>
                            </a:solidFill>
                            <a:latin typeface="Cambria Math" panose="02040503050406030204" pitchFamily="18" charset="0"/>
                          </a:rPr>
                        </m:ctrlPr>
                      </m:sSubPr>
                      <m:e>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1</m:t>
                            </m:r>
                          </m:sub>
                        </m:sSub>
                        <m:r>
                          <a:rPr lang="en-US" altLang="zh-CN" b="1">
                            <a:solidFill>
                              <a:srgbClr val="000000"/>
                            </a:solidFill>
                            <a:latin typeface="Cambria Math" panose="02040503050406030204" pitchFamily="18" charset="0"/>
                          </a:rPr>
                          <m:t>−</m:t>
                        </m:r>
                        <m:r>
                          <a:rPr lang="en-US" altLang="zh-CN" b="1">
                            <a:solidFill>
                              <a:srgbClr val="000000"/>
                            </a:solidFill>
                            <a:latin typeface="Cambria Math" panose="02040503050406030204" pitchFamily="18" charset="0"/>
                          </a:rPr>
                          <m:t>𝟐</m:t>
                        </m:r>
                        <m:r>
                          <m:rPr>
                            <m:sty m:val="p"/>
                          </m:rPr>
                          <a:rPr lang="en-US" altLang="zh-CN">
                            <a:solidFill>
                              <a:srgbClr val="000000"/>
                            </a:solidFill>
                            <a:latin typeface="Cambria Math" panose="02040503050406030204" pitchFamily="18" charset="0"/>
                          </a:rPr>
                          <m:t>P</m:t>
                        </m:r>
                      </m:e>
                      <m:sub>
                        <m:r>
                          <a:rPr lang="en-US" altLang="zh-CN" b="0" i="1" smtClean="0">
                            <a:solidFill>
                              <a:srgbClr val="000000"/>
                            </a:solidFill>
                            <a:latin typeface="Cambria Math" panose="02040503050406030204" pitchFamily="18" charset="0"/>
                          </a:rPr>
                          <m:t>2</m:t>
                        </m:r>
                      </m:sub>
                    </m:sSub>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3</m:t>
                        </m:r>
                      </m:sub>
                    </m:sSub>
                    <m:r>
                      <a:rPr lang="en-US" altLang="zh-CN">
                        <a:solidFill>
                          <a:srgbClr val="000000"/>
                        </a:solidFill>
                        <a:latin typeface="Cambria Math" panose="02040503050406030204" pitchFamily="18" charset="0"/>
                      </a:rPr>
                      <m:t>)</m:t>
                    </m:r>
                  </m:oMath>
                </a14:m>
                <a:r>
                  <a:rPr lang="en-US" altLang="zh-CN" dirty="0">
                    <a:solidFill>
                      <a:srgbClr val="000000"/>
                    </a:solidFill>
                    <a:latin typeface="Cambria Math" panose="02040503050406030204" pitchFamily="18" charset="0"/>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根据控制点获得的三次</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451298" y="483024"/>
                <a:ext cx="9324073" cy="2015815"/>
              </a:xfrm>
              <a:prstGeom prst="rect">
                <a:avLst/>
              </a:prstGeom>
              <a:blipFill>
                <a:blip r:embed="rId3"/>
                <a:stretch>
                  <a:fillRect b="-5740"/>
                </a:stretch>
              </a:blipFill>
            </p:spPr>
            <p:txBody>
              <a:bodyPr/>
              <a:lstStyle/>
              <a:p>
                <a:r>
                  <a:rPr lang="zh-CN" altLang="en-US">
                    <a:noFill/>
                  </a:rPr>
                  <a:t> </a:t>
                </a:r>
              </a:p>
            </p:txBody>
          </p:sp>
        </mc:Fallback>
      </mc:AlternateContent>
      <p:grpSp>
        <p:nvGrpSpPr>
          <p:cNvPr id="17" name="Group 19">
            <a:extLst>
              <a:ext uri="{FF2B5EF4-FFF2-40B4-BE49-F238E27FC236}">
                <a16:creationId xmlns:a16="http://schemas.microsoft.com/office/drawing/2014/main" id="{A32A85B8-E6A9-08C7-C26D-E412E79F871B}"/>
              </a:ext>
            </a:extLst>
          </p:cNvPr>
          <p:cNvGrpSpPr>
            <a:grpSpLocks/>
          </p:cNvGrpSpPr>
          <p:nvPr/>
        </p:nvGrpSpPr>
        <p:grpSpPr bwMode="auto">
          <a:xfrm>
            <a:off x="890588" y="3064011"/>
            <a:ext cx="4752975" cy="2895600"/>
            <a:chOff x="113" y="1963"/>
            <a:chExt cx="2994" cy="1824"/>
          </a:xfrm>
        </p:grpSpPr>
        <p:grpSp>
          <p:nvGrpSpPr>
            <p:cNvPr id="18" name="Group 12">
              <a:extLst>
                <a:ext uri="{FF2B5EF4-FFF2-40B4-BE49-F238E27FC236}">
                  <a16:creationId xmlns:a16="http://schemas.microsoft.com/office/drawing/2014/main" id="{09A4E46E-5C2E-9CF3-22B1-61A3D0BF22B0}"/>
                </a:ext>
              </a:extLst>
            </p:cNvPr>
            <p:cNvGrpSpPr>
              <a:grpSpLocks/>
            </p:cNvGrpSpPr>
            <p:nvPr/>
          </p:nvGrpSpPr>
          <p:grpSpPr bwMode="auto">
            <a:xfrm rot="2995428">
              <a:off x="820" y="2179"/>
              <a:ext cx="1536" cy="1680"/>
              <a:chOff x="1288" y="2152"/>
              <a:chExt cx="1536" cy="1680"/>
            </a:xfrm>
          </p:grpSpPr>
          <p:grpSp>
            <p:nvGrpSpPr>
              <p:cNvPr id="25" name="Group 7">
                <a:extLst>
                  <a:ext uri="{FF2B5EF4-FFF2-40B4-BE49-F238E27FC236}">
                    <a16:creationId xmlns:a16="http://schemas.microsoft.com/office/drawing/2014/main" id="{FEC900DE-CB6E-CC71-24F4-1AF9D6B6D3E6}"/>
                  </a:ext>
                </a:extLst>
              </p:cNvPr>
              <p:cNvGrpSpPr>
                <a:grpSpLocks/>
              </p:cNvGrpSpPr>
              <p:nvPr/>
            </p:nvGrpSpPr>
            <p:grpSpPr bwMode="auto">
              <a:xfrm>
                <a:off x="1288" y="2152"/>
                <a:ext cx="1536" cy="1680"/>
                <a:chOff x="672" y="2016"/>
                <a:chExt cx="1536" cy="1680"/>
              </a:xfrm>
            </p:grpSpPr>
            <p:sp>
              <p:nvSpPr>
                <p:cNvPr id="27" name="Line 8">
                  <a:extLst>
                    <a:ext uri="{FF2B5EF4-FFF2-40B4-BE49-F238E27FC236}">
                      <a16:creationId xmlns:a16="http://schemas.microsoft.com/office/drawing/2014/main" id="{90E160B9-3D7A-A7C1-20C3-FCA107461199}"/>
                    </a:ext>
                  </a:extLst>
                </p:cNvPr>
                <p:cNvSpPr>
                  <a:spLocks noChangeShapeType="1"/>
                </p:cNvSpPr>
                <p:nvPr/>
              </p:nvSpPr>
              <p:spPr bwMode="auto">
                <a:xfrm flipV="1">
                  <a:off x="670" y="2160"/>
                  <a:ext cx="288" cy="864"/>
                </a:xfrm>
                <a:prstGeom prst="line">
                  <a:avLst/>
                </a:prstGeom>
                <a:noFill/>
                <a:ln w="38100">
                  <a:solidFill>
                    <a:schemeClr val="tx1"/>
                  </a:solidFill>
                  <a:round/>
                  <a:headEnd/>
                  <a:tailEnd/>
                </a:ln>
                <a:effectLst/>
              </p:spPr>
              <p:txBody>
                <a:bodyPr/>
                <a:lstStyle/>
                <a:p>
                  <a:pPr>
                    <a:defRPr/>
                  </a:pPr>
                  <a:endParaRPr lang="zh-CN" altLang="en-US"/>
                </a:p>
              </p:txBody>
            </p:sp>
            <p:sp>
              <p:nvSpPr>
                <p:cNvPr id="28" name="Line 9">
                  <a:extLst>
                    <a:ext uri="{FF2B5EF4-FFF2-40B4-BE49-F238E27FC236}">
                      <a16:creationId xmlns:a16="http://schemas.microsoft.com/office/drawing/2014/main" id="{45458306-719E-31B9-44B2-2FF84E3E6BA3}"/>
                    </a:ext>
                  </a:extLst>
                </p:cNvPr>
                <p:cNvSpPr>
                  <a:spLocks noChangeShapeType="1"/>
                </p:cNvSpPr>
                <p:nvPr/>
              </p:nvSpPr>
              <p:spPr bwMode="auto">
                <a:xfrm flipV="1">
                  <a:off x="958" y="2016"/>
                  <a:ext cx="1248" cy="144"/>
                </a:xfrm>
                <a:prstGeom prst="line">
                  <a:avLst/>
                </a:prstGeom>
                <a:noFill/>
                <a:ln w="38100">
                  <a:solidFill>
                    <a:schemeClr val="tx1"/>
                  </a:solidFill>
                  <a:round/>
                  <a:headEnd/>
                  <a:tailEnd/>
                </a:ln>
                <a:effectLst/>
              </p:spPr>
              <p:txBody>
                <a:bodyPr/>
                <a:lstStyle/>
                <a:p>
                  <a:pPr>
                    <a:defRPr/>
                  </a:pPr>
                  <a:endParaRPr lang="zh-CN" altLang="en-US"/>
                </a:p>
              </p:txBody>
            </p:sp>
            <p:sp>
              <p:nvSpPr>
                <p:cNvPr id="29" name="Line 10">
                  <a:extLst>
                    <a:ext uri="{FF2B5EF4-FFF2-40B4-BE49-F238E27FC236}">
                      <a16:creationId xmlns:a16="http://schemas.microsoft.com/office/drawing/2014/main" id="{22A51BDA-7DBE-332A-94DF-F001CE14E3C3}"/>
                    </a:ext>
                  </a:extLst>
                </p:cNvPr>
                <p:cNvSpPr>
                  <a:spLocks noChangeShapeType="1"/>
                </p:cNvSpPr>
                <p:nvPr/>
              </p:nvSpPr>
              <p:spPr bwMode="auto">
                <a:xfrm>
                  <a:off x="672" y="3024"/>
                  <a:ext cx="48" cy="672"/>
                </a:xfrm>
                <a:prstGeom prst="line">
                  <a:avLst/>
                </a:prstGeom>
                <a:noFill/>
                <a:ln w="38100">
                  <a:solidFill>
                    <a:schemeClr val="tx1"/>
                  </a:solidFill>
                  <a:round/>
                  <a:headEnd/>
                  <a:tailEnd/>
                </a:ln>
                <a:effectLst/>
              </p:spPr>
              <p:txBody>
                <a:bodyPr/>
                <a:lstStyle/>
                <a:p>
                  <a:pPr>
                    <a:defRPr/>
                  </a:pPr>
                  <a:endParaRPr lang="zh-CN" altLang="en-US"/>
                </a:p>
              </p:txBody>
            </p:sp>
          </p:grpSp>
          <p:sp>
            <p:nvSpPr>
              <p:cNvPr id="26" name="Freeform 11">
                <a:extLst>
                  <a:ext uri="{FF2B5EF4-FFF2-40B4-BE49-F238E27FC236}">
                    <a16:creationId xmlns:a16="http://schemas.microsoft.com/office/drawing/2014/main" id="{001453FA-73DC-4520-CD90-EB5455323DE2}"/>
                  </a:ext>
                </a:extLst>
              </p:cNvPr>
              <p:cNvSpPr>
                <a:spLocks/>
              </p:cNvSpPr>
              <p:nvPr/>
            </p:nvSpPr>
            <p:spPr bwMode="auto">
              <a:xfrm>
                <a:off x="1336" y="2152"/>
                <a:ext cx="1440" cy="1680"/>
              </a:xfrm>
              <a:custGeom>
                <a:avLst/>
                <a:gdLst/>
                <a:ahLst/>
                <a:cxnLst>
                  <a:cxn ang="0">
                    <a:pos x="0" y="1680"/>
                  </a:cxn>
                  <a:cxn ang="0">
                    <a:pos x="96" y="816"/>
                  </a:cxn>
                  <a:cxn ang="0">
                    <a:pos x="480" y="240"/>
                  </a:cxn>
                  <a:cxn ang="0">
                    <a:pos x="1440" y="0"/>
                  </a:cxn>
                </a:cxnLst>
                <a:rect l="0" t="0" r="r" b="b"/>
                <a:pathLst>
                  <a:path w="1440" h="1680">
                    <a:moveTo>
                      <a:pt x="0" y="1680"/>
                    </a:moveTo>
                    <a:cubicBezTo>
                      <a:pt x="8" y="1368"/>
                      <a:pt x="16" y="1056"/>
                      <a:pt x="96" y="816"/>
                    </a:cubicBezTo>
                    <a:cubicBezTo>
                      <a:pt x="176" y="576"/>
                      <a:pt x="256" y="376"/>
                      <a:pt x="480" y="240"/>
                    </a:cubicBezTo>
                    <a:cubicBezTo>
                      <a:pt x="704" y="104"/>
                      <a:pt x="1072" y="52"/>
                      <a:pt x="1440" y="0"/>
                    </a:cubicBezTo>
                  </a:path>
                </a:pathLst>
              </a:custGeom>
              <a:noFill/>
              <a:ln w="38100" cap="flat" cmpd="sng">
                <a:solidFill>
                  <a:schemeClr val="tx1"/>
                </a:solidFill>
                <a:prstDash val="solid"/>
                <a:round/>
                <a:headEnd/>
                <a:tailEnd/>
              </a:ln>
              <a:effectLst/>
            </p:spPr>
            <p:txBody>
              <a:bodyPr/>
              <a:lstStyle/>
              <a:p>
                <a:pPr>
                  <a:defRPr/>
                </a:pPr>
                <a:endParaRPr lang="zh-CN" altLang="en-US"/>
              </a:p>
            </p:txBody>
          </p:sp>
        </p:grpSp>
        <p:sp>
          <p:nvSpPr>
            <p:cNvPr id="19" name="Text Box 13">
              <a:extLst>
                <a:ext uri="{FF2B5EF4-FFF2-40B4-BE49-F238E27FC236}">
                  <a16:creationId xmlns:a16="http://schemas.microsoft.com/office/drawing/2014/main" id="{7EE2725E-C103-2EE9-2D73-A5BF03C11079}"/>
                </a:ext>
              </a:extLst>
            </p:cNvPr>
            <p:cNvSpPr txBox="1">
              <a:spLocks noChangeArrowheads="1"/>
            </p:cNvSpPr>
            <p:nvPr/>
          </p:nvSpPr>
          <p:spPr bwMode="auto">
            <a:xfrm>
              <a:off x="340" y="2976"/>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4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P0</a:t>
              </a:r>
            </a:p>
          </p:txBody>
        </p:sp>
        <p:sp>
          <p:nvSpPr>
            <p:cNvPr id="20" name="Text Box 14">
              <a:extLst>
                <a:ext uri="{FF2B5EF4-FFF2-40B4-BE49-F238E27FC236}">
                  <a16:creationId xmlns:a16="http://schemas.microsoft.com/office/drawing/2014/main" id="{EEFDD90D-3847-5226-0AF1-16A8021C4557}"/>
                </a:ext>
              </a:extLst>
            </p:cNvPr>
            <p:cNvSpPr txBox="1">
              <a:spLocks noChangeArrowheads="1"/>
            </p:cNvSpPr>
            <p:nvPr/>
          </p:nvSpPr>
          <p:spPr bwMode="auto">
            <a:xfrm>
              <a:off x="703" y="2296"/>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4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dirty="0"/>
                <a:t>P1</a:t>
              </a:r>
            </a:p>
          </p:txBody>
        </p:sp>
        <p:sp>
          <p:nvSpPr>
            <p:cNvPr id="21" name="Text Box 15">
              <a:extLst>
                <a:ext uri="{FF2B5EF4-FFF2-40B4-BE49-F238E27FC236}">
                  <a16:creationId xmlns:a16="http://schemas.microsoft.com/office/drawing/2014/main" id="{FE9BCD92-6026-DBF6-B9EF-4A5FEE18DFF1}"/>
                </a:ext>
              </a:extLst>
            </p:cNvPr>
            <p:cNvSpPr txBox="1">
              <a:spLocks noChangeArrowheads="1"/>
            </p:cNvSpPr>
            <p:nvPr/>
          </p:nvSpPr>
          <p:spPr bwMode="auto">
            <a:xfrm>
              <a:off x="1646" y="1963"/>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4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P2</a:t>
              </a:r>
            </a:p>
          </p:txBody>
        </p:sp>
        <p:sp>
          <p:nvSpPr>
            <p:cNvPr id="22" name="Text Box 16">
              <a:extLst>
                <a:ext uri="{FF2B5EF4-FFF2-40B4-BE49-F238E27FC236}">
                  <a16:creationId xmlns:a16="http://schemas.microsoft.com/office/drawing/2014/main" id="{FD8E2422-DDE1-38A1-1A5D-9F463AA8FD30}"/>
                </a:ext>
              </a:extLst>
            </p:cNvPr>
            <p:cNvSpPr txBox="1">
              <a:spLocks noChangeArrowheads="1"/>
            </p:cNvSpPr>
            <p:nvPr/>
          </p:nvSpPr>
          <p:spPr bwMode="auto">
            <a:xfrm>
              <a:off x="2562" y="3022"/>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a:solidFill>
                    <a:schemeClr val="tx1"/>
                  </a:solidFill>
                  <a:effectLst/>
                </a:rPr>
                <a:t>P3</a:t>
              </a:r>
            </a:p>
          </p:txBody>
        </p:sp>
        <p:sp>
          <p:nvSpPr>
            <p:cNvPr id="23" name="Text Box 17">
              <a:extLst>
                <a:ext uri="{FF2B5EF4-FFF2-40B4-BE49-F238E27FC236}">
                  <a16:creationId xmlns:a16="http://schemas.microsoft.com/office/drawing/2014/main" id="{BED5FCE1-B594-CFC0-11AF-8998B60ABAD0}"/>
                </a:ext>
              </a:extLst>
            </p:cNvPr>
            <p:cNvSpPr txBox="1">
              <a:spLocks noChangeArrowheads="1"/>
            </p:cNvSpPr>
            <p:nvPr/>
          </p:nvSpPr>
          <p:spPr bwMode="auto">
            <a:xfrm>
              <a:off x="113" y="2750"/>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4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dirty="0"/>
                <a:t>P(0)</a:t>
              </a:r>
            </a:p>
          </p:txBody>
        </p:sp>
        <p:sp>
          <p:nvSpPr>
            <p:cNvPr id="24" name="Text Box 18">
              <a:extLst>
                <a:ext uri="{FF2B5EF4-FFF2-40B4-BE49-F238E27FC236}">
                  <a16:creationId xmlns:a16="http://schemas.microsoft.com/office/drawing/2014/main" id="{BD082C91-EEAA-B31B-C970-6A6CAB35E75C}"/>
                </a:ext>
              </a:extLst>
            </p:cNvPr>
            <p:cNvSpPr txBox="1">
              <a:spLocks noChangeArrowheads="1"/>
            </p:cNvSpPr>
            <p:nvPr/>
          </p:nvSpPr>
          <p:spPr bwMode="auto">
            <a:xfrm>
              <a:off x="2608" y="2779"/>
              <a:ext cx="499"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dirty="0">
                  <a:solidFill>
                    <a:schemeClr val="tx1"/>
                  </a:solidFill>
                  <a:effectLst/>
                </a:rPr>
                <a:t>P(1)</a:t>
              </a:r>
            </a:p>
          </p:txBody>
        </p:sp>
      </p:grpSp>
      <p:pic>
        <p:nvPicPr>
          <p:cNvPr id="30" name="Picture 20" descr="46">
            <a:extLst>
              <a:ext uri="{FF2B5EF4-FFF2-40B4-BE49-F238E27FC236}">
                <a16:creationId xmlns:a16="http://schemas.microsoft.com/office/drawing/2014/main" id="{61492159-80EB-0B6A-E4E5-97FFDA72BA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349" r="3433"/>
          <a:stretch>
            <a:fillRect/>
          </a:stretch>
        </p:blipFill>
        <p:spPr bwMode="auto">
          <a:xfrm>
            <a:off x="6280380" y="2319864"/>
            <a:ext cx="5021031" cy="3466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 name="直接连接符 31">
            <a:extLst>
              <a:ext uri="{FF2B5EF4-FFF2-40B4-BE49-F238E27FC236}">
                <a16:creationId xmlns:a16="http://schemas.microsoft.com/office/drawing/2014/main" id="{FFF7E49A-0446-BA81-8DEE-253D478E68E2}"/>
              </a:ext>
            </a:extLst>
          </p:cNvPr>
          <p:cNvCxnSpPr/>
          <p:nvPr/>
        </p:nvCxnSpPr>
        <p:spPr>
          <a:xfrm>
            <a:off x="8055429" y="4180114"/>
            <a:ext cx="0" cy="1299029"/>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9B49EB7-244E-0A41-2466-F58939BAFE43}"/>
              </a:ext>
            </a:extLst>
          </p:cNvPr>
          <p:cNvCxnSpPr/>
          <p:nvPr/>
        </p:nvCxnSpPr>
        <p:spPr>
          <a:xfrm>
            <a:off x="9448800" y="4180114"/>
            <a:ext cx="0" cy="1299029"/>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BC429CDB-F4EB-66BA-CCF9-EEB4166AF232}"/>
              </a:ext>
            </a:extLst>
          </p:cNvPr>
          <p:cNvSpPr txBox="1"/>
          <p:nvPr/>
        </p:nvSpPr>
        <p:spPr>
          <a:xfrm>
            <a:off x="7772400" y="5479143"/>
            <a:ext cx="742511" cy="369332"/>
          </a:xfrm>
          <a:prstGeom prst="rect">
            <a:avLst/>
          </a:prstGeom>
          <a:noFill/>
        </p:spPr>
        <p:txBody>
          <a:bodyPr wrap="none" rtlCol="0">
            <a:spAutoFit/>
          </a:bodyPr>
          <a:lstStyle/>
          <a:p>
            <a:r>
              <a:rPr lang="en-US" altLang="zh-CN" dirty="0"/>
              <a:t>t=1/3</a:t>
            </a:r>
            <a:endParaRPr lang="zh-CN" altLang="en-US" dirty="0"/>
          </a:p>
        </p:txBody>
      </p:sp>
      <p:sp>
        <p:nvSpPr>
          <p:cNvPr id="35" name="文本框 34">
            <a:extLst>
              <a:ext uri="{FF2B5EF4-FFF2-40B4-BE49-F238E27FC236}">
                <a16:creationId xmlns:a16="http://schemas.microsoft.com/office/drawing/2014/main" id="{F8107B60-ACCB-79A3-4C55-72C114B5A9BE}"/>
              </a:ext>
            </a:extLst>
          </p:cNvPr>
          <p:cNvSpPr txBox="1"/>
          <p:nvPr/>
        </p:nvSpPr>
        <p:spPr>
          <a:xfrm>
            <a:off x="9064379" y="5479143"/>
            <a:ext cx="742511" cy="369332"/>
          </a:xfrm>
          <a:prstGeom prst="rect">
            <a:avLst/>
          </a:prstGeom>
          <a:noFill/>
        </p:spPr>
        <p:txBody>
          <a:bodyPr wrap="none" rtlCol="0">
            <a:spAutoFit/>
          </a:bodyPr>
          <a:lstStyle/>
          <a:p>
            <a:r>
              <a:rPr lang="en-US" altLang="zh-CN" dirty="0"/>
              <a:t>t=2/3</a:t>
            </a:r>
            <a:endParaRPr lang="zh-CN" altLang="en-US" dirty="0"/>
          </a:p>
        </p:txBody>
      </p:sp>
    </p:spTree>
    <p:extLst>
      <p:ext uri="{BB962C8B-B14F-4D97-AF65-F5344CB8AC3E}">
        <p14:creationId xmlns:p14="http://schemas.microsoft.com/office/powerpoint/2010/main" val="29152475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470796" y="714829"/>
                <a:ext cx="7577371" cy="579259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     Bezier</a:t>
                </a:r>
                <a:r>
                  <a:rPr lang="zh-CN" altLang="en-US" sz="2600" b="1" dirty="0">
                    <a:latin typeface="华光标题宋_CNKI" panose="02000500000000000000" pitchFamily="2" charset="-122"/>
                    <a:ea typeface="华光标题宋_CNKI" panose="02000500000000000000" pitchFamily="2" charset="-122"/>
                  </a:rPr>
                  <a:t>曲线的拼接</a:t>
                </a:r>
                <a:r>
                  <a:rPr lang="zh-CN" altLang="en-US" sz="2600" b="1"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如果希望生成光滑且可控的曲线，可以采用三次</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曲线。但如何利用三次</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曲线生成光滑的曲线。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如果利用两段三次</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连接来生成光滑曲线，首先必须要求第一段曲线的终点为第二段曲线的起点，同时第一段曲线终点处的倒数必须必须与第二段曲线起点处的一阶导数和二阶导数同向。对于右上图显然满足前面的条件，但不满足后面的条件，而右下图满足两个条件。即</a:t>
                </a:r>
                <a:br>
                  <a:rPr lang="en-US" altLang="zh-CN" sz="2600" dirty="0">
                    <a:latin typeface="华光仿宋_CNKI" panose="02000500000000000000" pitchFamily="2" charset="-122"/>
                    <a:ea typeface="华光仿宋_CNKI" panose="02000500000000000000" pitchFamily="2" charset="-122"/>
                  </a:rPr>
                </a:b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a:rPr lang="en-US" altLang="zh-CN" sz="2600">
                            <a:latin typeface="Cambria Math" panose="02040503050406030204" pitchFamily="18" charset="0"/>
                            <a:ea typeface="华光仿宋_CNKI" panose="02000500000000000000" pitchFamily="2" charset="-122"/>
                          </a:rPr>
                          <m:t>𝑄</m:t>
                        </m:r>
                      </m:e>
                      <m:sub>
                        <m:r>
                          <a:rPr lang="en-US" altLang="zh-CN" sz="2600">
                            <a:latin typeface="Cambria Math" panose="02040503050406030204" pitchFamily="18" charset="0"/>
                            <a:ea typeface="华光仿宋_CNKI" panose="02000500000000000000" pitchFamily="2" charset="-122"/>
                          </a:rPr>
                          <m:t>0</m:t>
                        </m:r>
                      </m:sub>
                    </m:sSub>
                    <m:r>
                      <a:rPr lang="en-US" altLang="zh-CN" sz="260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m:rPr>
                            <m:sty m:val="p"/>
                          </m:rPr>
                          <a:rPr lang="en-US" altLang="zh-CN" sz="2600">
                            <a:latin typeface="Cambria Math" panose="02040503050406030204" pitchFamily="18" charset="0"/>
                            <a:ea typeface="华光仿宋_CNKI" panose="02000500000000000000" pitchFamily="2" charset="-122"/>
                          </a:rPr>
                          <m:t>P</m:t>
                        </m:r>
                      </m:e>
                      <m:sub>
                        <m:r>
                          <a:rPr lang="en-US" altLang="zh-CN" sz="2600">
                            <a:latin typeface="Cambria Math" panose="02040503050406030204" pitchFamily="18" charset="0"/>
                            <a:ea typeface="华光仿宋_CNKI" panose="02000500000000000000" pitchFamily="2" charset="-122"/>
                          </a:rPr>
                          <m:t>3</m:t>
                        </m:r>
                      </m:sub>
                    </m:sSub>
                    <m:r>
                      <a:rPr lang="en-US" altLang="zh-CN" sz="260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a:rPr lang="en-US" altLang="zh-CN" sz="2600" dirty="0">
                            <a:latin typeface="Cambria Math" panose="02040503050406030204" pitchFamily="18" charset="0"/>
                            <a:ea typeface="华光仿宋_CNKI" panose="02000500000000000000" pitchFamily="2" charset="-122"/>
                          </a:rPr>
                          <m:t>𝑄</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a </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3</m:t>
                        </m:r>
                      </m:sub>
                      <m:sup>
                        <m:r>
                          <a:rPr lang="en-US" altLang="zh-CN" sz="2600" dirty="0">
                            <a:latin typeface="Cambria Math" panose="02040503050406030204" pitchFamily="18" charset="0"/>
                            <a:ea typeface="华光仿宋_CNKI" panose="02000500000000000000" pitchFamily="2" charset="-122"/>
                          </a:rPr>
                          <m:t>′</m:t>
                        </m:r>
                      </m:sup>
                    </m:sSubSup>
                    <m:r>
                      <a:rPr lang="zh-CN" altLang="en-US" sz="2600" i="1" dirty="0">
                        <a:latin typeface="Cambria Math" panose="02040503050406030204" pitchFamily="18" charset="0"/>
                        <a:ea typeface="华光仿宋_CNKI" panose="02000500000000000000" pitchFamily="2" charset="-122"/>
                      </a:rPr>
                      <m:t>，</m:t>
                    </m:r>
                  </m:oMath>
                </a14:m>
                <a:r>
                  <a:rPr lang="en-US" altLang="zh-CN" sz="2600" dirty="0">
                    <a:ea typeface="华光仿宋_CNKI" panose="02000500000000000000" pitchFamily="2" charset="-122"/>
                  </a:rPr>
                  <a:t> </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a:rPr lang="en-US" altLang="zh-CN" sz="2600" dirty="0">
                            <a:latin typeface="Cambria Math" panose="02040503050406030204" pitchFamily="18" charset="0"/>
                            <a:ea typeface="华光仿宋_CNKI" panose="02000500000000000000" pitchFamily="2" charset="-122"/>
                          </a:rPr>
                          <m:t>𝑄</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m:t>
                    </m:r>
                    <m:sSubSup>
                      <m:sSubSupPr>
                        <m:ctrlPr>
                          <a:rPr lang="en-US" altLang="zh-CN" sz="2600" i="1" dirty="0">
                            <a:latin typeface="Cambria Math" panose="02040503050406030204" pitchFamily="18" charset="0"/>
                            <a:ea typeface="华光仿宋_CNKI" panose="02000500000000000000" pitchFamily="2" charset="-122"/>
                          </a:rPr>
                        </m:ctrlPr>
                      </m:sSubSupPr>
                      <m:e>
                        <m:r>
                          <a:rPr lang="en-US" altLang="zh-CN" sz="2600" dirty="0">
                            <a:latin typeface="Cambria Math" panose="02040503050406030204" pitchFamily="18" charset="0"/>
                            <a:ea typeface="华光仿宋_CNKI" panose="02000500000000000000" pitchFamily="2" charset="-122"/>
                          </a:rPr>
                          <m:t>𝑃</m:t>
                        </m:r>
                      </m:e>
                      <m:sub>
                        <m:r>
                          <a:rPr lang="en-US" altLang="zh-CN" sz="2600" dirty="0">
                            <a:latin typeface="Cambria Math" panose="02040503050406030204" pitchFamily="18" charset="0"/>
                            <a:ea typeface="华光仿宋_CNKI" panose="02000500000000000000" pitchFamily="2" charset="-122"/>
                          </a:rPr>
                          <m:t>3</m:t>
                        </m:r>
                      </m:sub>
                      <m:sup>
                        <m:r>
                          <a:rPr lang="en-US" altLang="zh-CN" sz="2600" dirty="0">
                            <a:latin typeface="Cambria Math" panose="02040503050406030204" pitchFamily="18" charset="0"/>
                            <a:ea typeface="华光仿宋_CNKI" panose="02000500000000000000" pitchFamily="2" charset="-122"/>
                          </a:rPr>
                          <m:t>′</m:t>
                        </m:r>
                        <m:r>
                          <a:rPr lang="en-US" altLang="zh-CN" sz="2600" b="0" i="0" dirty="0" smtClean="0">
                            <a:latin typeface="Cambria Math" panose="02040503050406030204" pitchFamily="18" charset="0"/>
                            <a:ea typeface="华光仿宋_CNKI" panose="02000500000000000000" pitchFamily="2" charset="-122"/>
                          </a:rPr>
                          <m:t>′</m:t>
                        </m:r>
                      </m:sup>
                    </m:sSubSup>
                  </m:oMath>
                </a14:m>
                <a:endParaRPr lang="zh-CN" altLang="en-US" sz="2600" dirty="0">
                  <a:latin typeface="华光仿宋_CNKI" panose="02000500000000000000" pitchFamily="2" charset="-122"/>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470796" y="714829"/>
                <a:ext cx="7577371" cy="5792599"/>
              </a:xfrm>
              <a:prstGeom prst="rect">
                <a:avLst/>
              </a:prstGeom>
              <a:blipFill>
                <a:blip r:embed="rId3"/>
                <a:stretch>
                  <a:fillRect l="-1207" r="-885"/>
                </a:stretch>
              </a:blipFill>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58492730-E06F-E098-F51C-EC24BEFE1710}"/>
              </a:ext>
            </a:extLst>
          </p:cNvPr>
          <p:cNvGrpSpPr/>
          <p:nvPr/>
        </p:nvGrpSpPr>
        <p:grpSpPr>
          <a:xfrm>
            <a:off x="7982857" y="345497"/>
            <a:ext cx="3647633" cy="3083503"/>
            <a:chOff x="7982857" y="784554"/>
            <a:chExt cx="3647633" cy="3083503"/>
          </a:xfrm>
        </p:grpSpPr>
        <p:cxnSp>
          <p:nvCxnSpPr>
            <p:cNvPr id="3" name="直接连接符 2">
              <a:extLst>
                <a:ext uri="{FF2B5EF4-FFF2-40B4-BE49-F238E27FC236}">
                  <a16:creationId xmlns:a16="http://schemas.microsoft.com/office/drawing/2014/main" id="{771B2541-05E1-1DB4-E01C-41E6C804CCC3}"/>
                </a:ext>
              </a:extLst>
            </p:cNvPr>
            <p:cNvCxnSpPr/>
            <p:nvPr/>
          </p:nvCxnSpPr>
          <p:spPr>
            <a:xfrm flipV="1">
              <a:off x="8570686" y="1153886"/>
              <a:ext cx="834571" cy="7184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7B258E8E-5AF4-9CF6-BE2C-5350BE2B5EC2}"/>
                </a:ext>
              </a:extLst>
            </p:cNvPr>
            <p:cNvCxnSpPr>
              <a:cxnSpLocks/>
            </p:cNvCxnSpPr>
            <p:nvPr/>
          </p:nvCxnSpPr>
          <p:spPr>
            <a:xfrm>
              <a:off x="9405257" y="1153886"/>
              <a:ext cx="587829" cy="71845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3C484D09-519D-3F7B-5CF6-8275234960E1}"/>
                </a:ext>
              </a:extLst>
            </p:cNvPr>
            <p:cNvCxnSpPr/>
            <p:nvPr/>
          </p:nvCxnSpPr>
          <p:spPr>
            <a:xfrm flipV="1">
              <a:off x="9978571" y="1270000"/>
              <a:ext cx="587829" cy="602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3A1AE78-80FA-1A4A-FB40-0613CFF10CE9}"/>
                </a:ext>
              </a:extLst>
            </p:cNvPr>
            <p:cNvCxnSpPr/>
            <p:nvPr/>
          </p:nvCxnSpPr>
          <p:spPr>
            <a:xfrm>
              <a:off x="10566400" y="1270000"/>
              <a:ext cx="515257" cy="1364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8F3E07A-5066-59A6-EEF4-7AE624AAA283}"/>
                </a:ext>
              </a:extLst>
            </p:cNvPr>
            <p:cNvCxnSpPr/>
            <p:nvPr/>
          </p:nvCxnSpPr>
          <p:spPr>
            <a:xfrm>
              <a:off x="8570686" y="1872343"/>
              <a:ext cx="1001485" cy="15566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D7E6A91-EDB9-BE62-3964-7DB440AB5EF7}"/>
                </a:ext>
              </a:extLst>
            </p:cNvPr>
            <p:cNvCxnSpPr>
              <a:cxnSpLocks/>
            </p:cNvCxnSpPr>
            <p:nvPr/>
          </p:nvCxnSpPr>
          <p:spPr>
            <a:xfrm flipV="1">
              <a:off x="9572171" y="2634343"/>
              <a:ext cx="1509486" cy="79465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87F663A-A498-4273-653F-A414B8605104}"/>
                    </a:ext>
                  </a:extLst>
                </p:cNvPr>
                <p:cNvSpPr txBox="1"/>
                <p:nvPr/>
              </p:nvSpPr>
              <p:spPr>
                <a:xfrm>
                  <a:off x="9071428" y="784554"/>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19" name="文本框 18">
                  <a:extLst>
                    <a:ext uri="{FF2B5EF4-FFF2-40B4-BE49-F238E27FC236}">
                      <a16:creationId xmlns:a16="http://schemas.microsoft.com/office/drawing/2014/main" id="{D87F663A-A498-4273-653F-A414B8605104}"/>
                    </a:ext>
                  </a:extLst>
                </p:cNvPr>
                <p:cNvSpPr txBox="1">
                  <a:spLocks noRot="1" noChangeAspect="1" noMove="1" noResize="1" noEditPoints="1" noAdjustHandles="1" noChangeArrowheads="1" noChangeShapeType="1" noTextEdit="1"/>
                </p:cNvSpPr>
                <p:nvPr/>
              </p:nvSpPr>
              <p:spPr>
                <a:xfrm>
                  <a:off x="9071428" y="784554"/>
                  <a:ext cx="682171"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2362C4B-1EAD-77E9-43ED-A14D44554D45}"/>
                    </a:ext>
                  </a:extLst>
                </p:cNvPr>
                <p:cNvSpPr txBox="1"/>
                <p:nvPr/>
              </p:nvSpPr>
              <p:spPr>
                <a:xfrm>
                  <a:off x="9535887" y="1200275"/>
                  <a:ext cx="1001485" cy="369332"/>
                </a:xfrm>
                <a:prstGeom prst="rect">
                  <a:avLst/>
                </a:prstGeom>
                <a:noFill/>
              </p:spPr>
              <p:txBody>
                <a:bodyPr wrap="square">
                  <a:spAutoFit/>
                </a:bodyPr>
                <a:lstStyle/>
                <a:p>
                  <a14:m>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0</m:t>
                          </m:r>
                        </m:sub>
                      </m:sSub>
                    </m:oMath>
                  </a14:m>
                  <a:r>
                    <a:rPr lang="en-US" altLang="zh-CN" dirty="0">
                      <a:solidFill>
                        <a:srgbClr val="000000"/>
                      </a:solidFill>
                    </a:rPr>
                    <a:t> </a:t>
                  </a:r>
                  <a14:m>
                    <m:oMath xmlns:m="http://schemas.openxmlformats.org/officeDocument/2006/math">
                      <m:r>
                        <a:rPr lang="en-US" altLang="zh-CN" i="1">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Q</m:t>
                          </m:r>
                        </m:e>
                        <m:sub>
                          <m:r>
                            <a:rPr lang="en-US" altLang="zh-CN" b="0" i="1" smtClean="0">
                              <a:solidFill>
                                <a:srgbClr val="000000"/>
                              </a:solidFill>
                              <a:latin typeface="Cambria Math" panose="02040503050406030204" pitchFamily="18" charset="0"/>
                            </a:rPr>
                            <m:t>3</m:t>
                          </m:r>
                        </m:sub>
                      </m:sSub>
                      <m:r>
                        <a:rPr lang="en-US" altLang="zh-CN" i="1">
                          <a:solidFill>
                            <a:srgbClr val="000000"/>
                          </a:solidFill>
                          <a:latin typeface="Cambria Math" panose="02040503050406030204" pitchFamily="18" charset="0"/>
                        </a:rPr>
                        <m:t>)</m:t>
                      </m:r>
                    </m:oMath>
                  </a14:m>
                  <a:endParaRPr lang="zh-CN" altLang="en-US" dirty="0"/>
                </a:p>
              </p:txBody>
            </p:sp>
          </mc:Choice>
          <mc:Fallback xmlns="">
            <p:sp>
              <p:nvSpPr>
                <p:cNvPr id="20" name="文本框 19">
                  <a:extLst>
                    <a:ext uri="{FF2B5EF4-FFF2-40B4-BE49-F238E27FC236}">
                      <a16:creationId xmlns:a16="http://schemas.microsoft.com/office/drawing/2014/main" id="{D2362C4B-1EAD-77E9-43ED-A14D44554D45}"/>
                    </a:ext>
                  </a:extLst>
                </p:cNvPr>
                <p:cNvSpPr txBox="1">
                  <a:spLocks noRot="1" noChangeAspect="1" noMove="1" noResize="1" noEditPoints="1" noAdjustHandles="1" noChangeArrowheads="1" noChangeShapeType="1" noTextEdit="1"/>
                </p:cNvSpPr>
                <p:nvPr/>
              </p:nvSpPr>
              <p:spPr>
                <a:xfrm>
                  <a:off x="9535887" y="1200275"/>
                  <a:ext cx="1001485" cy="369332"/>
                </a:xfrm>
                <a:prstGeom prst="rect">
                  <a:avLst/>
                </a:prstGeom>
                <a:blipFill>
                  <a:blip r:embed="rId5"/>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6A4555F-52E3-20E3-F5F6-7FCD4D0EC30D}"/>
                    </a:ext>
                  </a:extLst>
                </p:cNvPr>
                <p:cNvSpPr txBox="1"/>
                <p:nvPr/>
              </p:nvSpPr>
              <p:spPr>
                <a:xfrm>
                  <a:off x="10326913" y="900668"/>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Q</m:t>
                            </m:r>
                          </m:e>
                          <m:sub>
                            <m:r>
                              <a:rPr lang="en-US" altLang="zh-CN"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21" name="文本框 20">
                  <a:extLst>
                    <a:ext uri="{FF2B5EF4-FFF2-40B4-BE49-F238E27FC236}">
                      <a16:creationId xmlns:a16="http://schemas.microsoft.com/office/drawing/2014/main" id="{86A4555F-52E3-20E3-F5F6-7FCD4D0EC30D}"/>
                    </a:ext>
                  </a:extLst>
                </p:cNvPr>
                <p:cNvSpPr txBox="1">
                  <a:spLocks noRot="1" noChangeAspect="1" noMove="1" noResize="1" noEditPoints="1" noAdjustHandles="1" noChangeArrowheads="1" noChangeShapeType="1" noTextEdit="1"/>
                </p:cNvSpPr>
                <p:nvPr/>
              </p:nvSpPr>
              <p:spPr>
                <a:xfrm>
                  <a:off x="10326913" y="900668"/>
                  <a:ext cx="682171" cy="369332"/>
                </a:xfrm>
                <a:prstGeom prst="rect">
                  <a:avLst/>
                </a:prstGeom>
                <a:blipFill>
                  <a:blip r:embed="rId6"/>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0911A9C-159D-6E3D-5B99-A2E14AADECA8}"/>
                    </a:ext>
                  </a:extLst>
                </p:cNvPr>
                <p:cNvSpPr txBox="1"/>
                <p:nvPr/>
              </p:nvSpPr>
              <p:spPr>
                <a:xfrm>
                  <a:off x="11001827" y="2449677"/>
                  <a:ext cx="62866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Q</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C0911A9C-159D-6E3D-5B99-A2E14AADECA8}"/>
                    </a:ext>
                  </a:extLst>
                </p:cNvPr>
                <p:cNvSpPr txBox="1">
                  <a:spLocks noRot="1" noChangeAspect="1" noMove="1" noResize="1" noEditPoints="1" noAdjustHandles="1" noChangeArrowheads="1" noChangeShapeType="1" noTextEdit="1"/>
                </p:cNvSpPr>
                <p:nvPr/>
              </p:nvSpPr>
              <p:spPr>
                <a:xfrm>
                  <a:off x="11001827" y="2449677"/>
                  <a:ext cx="628663" cy="369332"/>
                </a:xfrm>
                <a:prstGeom prst="rect">
                  <a:avLst/>
                </a:prstGeom>
                <a:blipFill>
                  <a:blip r:embed="rId7"/>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75BFFBC-7083-681C-DDDA-35A40E01362D}"/>
                    </a:ext>
                  </a:extLst>
                </p:cNvPr>
                <p:cNvSpPr txBox="1"/>
                <p:nvPr/>
              </p:nvSpPr>
              <p:spPr>
                <a:xfrm>
                  <a:off x="7982857" y="1686003"/>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23" name="文本框 22">
                  <a:extLst>
                    <a:ext uri="{FF2B5EF4-FFF2-40B4-BE49-F238E27FC236}">
                      <a16:creationId xmlns:a16="http://schemas.microsoft.com/office/drawing/2014/main" id="{E75BFFBC-7083-681C-DDDA-35A40E01362D}"/>
                    </a:ext>
                  </a:extLst>
                </p:cNvPr>
                <p:cNvSpPr txBox="1">
                  <a:spLocks noRot="1" noChangeAspect="1" noMove="1" noResize="1" noEditPoints="1" noAdjustHandles="1" noChangeArrowheads="1" noChangeShapeType="1" noTextEdit="1"/>
                </p:cNvSpPr>
                <p:nvPr/>
              </p:nvSpPr>
              <p:spPr>
                <a:xfrm>
                  <a:off x="7982857" y="1686003"/>
                  <a:ext cx="682171"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C71BD13-4528-B028-BCE6-D5F0B82F43A8}"/>
                    </a:ext>
                  </a:extLst>
                </p:cNvPr>
                <p:cNvSpPr txBox="1"/>
                <p:nvPr/>
              </p:nvSpPr>
              <p:spPr>
                <a:xfrm>
                  <a:off x="9191170" y="3498725"/>
                  <a:ext cx="1135743" cy="369332"/>
                </a:xfrm>
                <a:prstGeom prst="rect">
                  <a:avLst/>
                </a:prstGeom>
                <a:noFill/>
              </p:spPr>
              <p:txBody>
                <a:bodyPr wrap="square">
                  <a:spAutoFit/>
                </a:bodyPr>
                <a:lstStyle/>
                <a:p>
                  <a14:m>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3</m:t>
                          </m:r>
                        </m:sub>
                      </m:sSub>
                      <m:r>
                        <a:rPr lang="en-US" altLang="zh-CN" b="0" i="1" smtClean="0">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i="1" smtClean="0">
                              <a:solidFill>
                                <a:srgbClr val="000000"/>
                              </a:solidFill>
                              <a:latin typeface="Cambria Math" panose="02040503050406030204" pitchFamily="18" charset="0"/>
                            </a:rPr>
                            <m:t>Q</m:t>
                          </m:r>
                        </m:e>
                        <m:sub>
                          <m:r>
                            <a:rPr lang="en-US" altLang="zh-CN" b="0" i="1" smtClean="0">
                              <a:solidFill>
                                <a:srgbClr val="000000"/>
                              </a:solidFill>
                              <a:latin typeface="Cambria Math" panose="02040503050406030204" pitchFamily="18" charset="0"/>
                            </a:rPr>
                            <m:t>0</m:t>
                          </m:r>
                        </m:sub>
                      </m:sSub>
                      <m:r>
                        <a:rPr lang="en-US" altLang="zh-CN" b="0" i="1" smtClean="0">
                          <a:solidFill>
                            <a:srgbClr val="000000"/>
                          </a:solidFill>
                          <a:latin typeface="Cambria Math" panose="02040503050406030204" pitchFamily="18" charset="0"/>
                        </a:rPr>
                        <m:t>)</m:t>
                      </m:r>
                    </m:oMath>
                  </a14:m>
                  <a:endParaRPr lang="zh-CN" altLang="en-US" dirty="0"/>
                </a:p>
              </p:txBody>
            </p:sp>
          </mc:Choice>
          <mc:Fallback xmlns="">
            <p:sp>
              <p:nvSpPr>
                <p:cNvPr id="24" name="文本框 23">
                  <a:extLst>
                    <a:ext uri="{FF2B5EF4-FFF2-40B4-BE49-F238E27FC236}">
                      <a16:creationId xmlns:a16="http://schemas.microsoft.com/office/drawing/2014/main" id="{DC71BD13-4528-B028-BCE6-D5F0B82F43A8}"/>
                    </a:ext>
                  </a:extLst>
                </p:cNvPr>
                <p:cNvSpPr txBox="1">
                  <a:spLocks noRot="1" noChangeAspect="1" noMove="1" noResize="1" noEditPoints="1" noAdjustHandles="1" noChangeArrowheads="1" noChangeShapeType="1" noTextEdit="1"/>
                </p:cNvSpPr>
                <p:nvPr/>
              </p:nvSpPr>
              <p:spPr>
                <a:xfrm>
                  <a:off x="9191170" y="3498725"/>
                  <a:ext cx="1135743" cy="369332"/>
                </a:xfrm>
                <a:prstGeom prst="rect">
                  <a:avLst/>
                </a:prstGeom>
                <a:blipFill>
                  <a:blip r:embed="rId9"/>
                  <a:stretch>
                    <a:fillRect b="-11475"/>
                  </a:stretch>
                </a:blipFill>
              </p:spPr>
              <p:txBody>
                <a:bodyPr/>
                <a:lstStyle/>
                <a:p>
                  <a:r>
                    <a:rPr lang="zh-CN" altLang="en-US">
                      <a:noFill/>
                    </a:rPr>
                    <a:t> </a:t>
                  </a:r>
                </a:p>
              </p:txBody>
            </p:sp>
          </mc:Fallback>
        </mc:AlternateContent>
        <p:sp>
          <p:nvSpPr>
            <p:cNvPr id="29" name="任意多边形: 形状 28">
              <a:extLst>
                <a:ext uri="{FF2B5EF4-FFF2-40B4-BE49-F238E27FC236}">
                  <a16:creationId xmlns:a16="http://schemas.microsoft.com/office/drawing/2014/main" id="{18B4D74C-B364-17E2-B1C6-500F4F401C52}"/>
                </a:ext>
              </a:extLst>
            </p:cNvPr>
            <p:cNvSpPr/>
            <p:nvPr/>
          </p:nvSpPr>
          <p:spPr>
            <a:xfrm>
              <a:off x="9608457" y="1669395"/>
              <a:ext cx="1096742" cy="1748719"/>
            </a:xfrm>
            <a:custGeom>
              <a:avLst/>
              <a:gdLst>
                <a:gd name="connsiteX0" fmla="*/ 384629 w 1096742"/>
                <a:gd name="connsiteY0" fmla="*/ 188434 h 1748719"/>
                <a:gd name="connsiteX1" fmla="*/ 812800 w 1096742"/>
                <a:gd name="connsiteY1" fmla="*/ 21519 h 1748719"/>
                <a:gd name="connsiteX2" fmla="*/ 1059543 w 1096742"/>
                <a:gd name="connsiteY2" fmla="*/ 616605 h 1748719"/>
                <a:gd name="connsiteX3" fmla="*/ 0 w 1096742"/>
                <a:gd name="connsiteY3" fmla="*/ 1748719 h 1748719"/>
              </a:gdLst>
              <a:ahLst/>
              <a:cxnLst>
                <a:cxn ang="0">
                  <a:pos x="connsiteX0" y="connsiteY0"/>
                </a:cxn>
                <a:cxn ang="0">
                  <a:pos x="connsiteX1" y="connsiteY1"/>
                </a:cxn>
                <a:cxn ang="0">
                  <a:pos x="connsiteX2" y="connsiteY2"/>
                </a:cxn>
                <a:cxn ang="0">
                  <a:pos x="connsiteX3" y="connsiteY3"/>
                </a:cxn>
              </a:cxnLst>
              <a:rect l="l" t="t" r="r" b="b"/>
              <a:pathLst>
                <a:path w="1096742" h="1748719">
                  <a:moveTo>
                    <a:pt x="384629" y="188434"/>
                  </a:moveTo>
                  <a:cubicBezTo>
                    <a:pt x="542471" y="69295"/>
                    <a:pt x="700314" y="-49843"/>
                    <a:pt x="812800" y="21519"/>
                  </a:cubicBezTo>
                  <a:cubicBezTo>
                    <a:pt x="925286" y="92881"/>
                    <a:pt x="1195010" y="328738"/>
                    <a:pt x="1059543" y="616605"/>
                  </a:cubicBezTo>
                  <a:cubicBezTo>
                    <a:pt x="924076" y="904472"/>
                    <a:pt x="0" y="1748719"/>
                    <a:pt x="0" y="174871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0BB6B2EE-11BA-B489-F47F-D4F3DF8B9E42}"/>
                </a:ext>
              </a:extLst>
            </p:cNvPr>
            <p:cNvSpPr/>
            <p:nvPr/>
          </p:nvSpPr>
          <p:spPr>
            <a:xfrm>
              <a:off x="8940800" y="1569606"/>
              <a:ext cx="1052286" cy="1848507"/>
            </a:xfrm>
            <a:custGeom>
              <a:avLst/>
              <a:gdLst>
                <a:gd name="connsiteX0" fmla="*/ 996290 w 996290"/>
                <a:gd name="connsiteY0" fmla="*/ 337631 h 1890660"/>
                <a:gd name="connsiteX1" fmla="*/ 422976 w 996290"/>
                <a:gd name="connsiteY1" fmla="*/ 3803 h 1890660"/>
                <a:gd name="connsiteX2" fmla="*/ 2062 w 996290"/>
                <a:gd name="connsiteY2" fmla="*/ 533574 h 1890660"/>
                <a:gd name="connsiteX3" fmla="*/ 597147 w 996290"/>
                <a:gd name="connsiteY3" fmla="*/ 1890660 h 1890660"/>
              </a:gdLst>
              <a:ahLst/>
              <a:cxnLst>
                <a:cxn ang="0">
                  <a:pos x="connsiteX0" y="connsiteY0"/>
                </a:cxn>
                <a:cxn ang="0">
                  <a:pos x="connsiteX1" y="connsiteY1"/>
                </a:cxn>
                <a:cxn ang="0">
                  <a:pos x="connsiteX2" y="connsiteY2"/>
                </a:cxn>
                <a:cxn ang="0">
                  <a:pos x="connsiteX3" y="connsiteY3"/>
                </a:cxn>
              </a:cxnLst>
              <a:rect l="l" t="t" r="r" b="b"/>
              <a:pathLst>
                <a:path w="996290" h="1890660">
                  <a:moveTo>
                    <a:pt x="996290" y="337631"/>
                  </a:moveTo>
                  <a:cubicBezTo>
                    <a:pt x="792485" y="154388"/>
                    <a:pt x="588681" y="-28854"/>
                    <a:pt x="422976" y="3803"/>
                  </a:cubicBezTo>
                  <a:cubicBezTo>
                    <a:pt x="257271" y="36460"/>
                    <a:pt x="-26967" y="219098"/>
                    <a:pt x="2062" y="533574"/>
                  </a:cubicBezTo>
                  <a:cubicBezTo>
                    <a:pt x="31090" y="848050"/>
                    <a:pt x="314118" y="1369355"/>
                    <a:pt x="597147" y="189066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a:extLst>
              <a:ext uri="{FF2B5EF4-FFF2-40B4-BE49-F238E27FC236}">
                <a16:creationId xmlns:a16="http://schemas.microsoft.com/office/drawing/2014/main" id="{68CB70BE-A2DA-11F6-6462-7825C2F4E527}"/>
              </a:ext>
            </a:extLst>
          </p:cNvPr>
          <p:cNvGrpSpPr/>
          <p:nvPr/>
        </p:nvGrpSpPr>
        <p:grpSpPr>
          <a:xfrm>
            <a:off x="8781141" y="3708400"/>
            <a:ext cx="3300187" cy="2636109"/>
            <a:chOff x="8730341" y="3490483"/>
            <a:chExt cx="3300187" cy="2636109"/>
          </a:xfrm>
        </p:grpSpPr>
        <p:cxnSp>
          <p:nvCxnSpPr>
            <p:cNvPr id="36" name="直接连接符 35">
              <a:extLst>
                <a:ext uri="{FF2B5EF4-FFF2-40B4-BE49-F238E27FC236}">
                  <a16:creationId xmlns:a16="http://schemas.microsoft.com/office/drawing/2014/main" id="{1F4F7734-84C8-D88C-C6CE-EFC5F28E6F6D}"/>
                </a:ext>
              </a:extLst>
            </p:cNvPr>
            <p:cNvCxnSpPr>
              <a:cxnSpLocks/>
            </p:cNvCxnSpPr>
            <p:nvPr/>
          </p:nvCxnSpPr>
          <p:spPr>
            <a:xfrm flipV="1">
              <a:off x="9191170" y="3831771"/>
              <a:ext cx="947059" cy="537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A704CF7-9792-19BD-28ED-441F4DD1D7AE}"/>
                </a:ext>
              </a:extLst>
            </p:cNvPr>
            <p:cNvCxnSpPr/>
            <p:nvPr/>
          </p:nvCxnSpPr>
          <p:spPr>
            <a:xfrm>
              <a:off x="10138229" y="3831771"/>
              <a:ext cx="863598" cy="449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672356A-EA10-3833-9E75-C0743F9EA9BC}"/>
                </a:ext>
              </a:extLst>
            </p:cNvPr>
            <p:cNvCxnSpPr>
              <a:cxnSpLocks/>
            </p:cNvCxnSpPr>
            <p:nvPr/>
          </p:nvCxnSpPr>
          <p:spPr>
            <a:xfrm flipH="1">
              <a:off x="11001827" y="4281714"/>
              <a:ext cx="7257" cy="9869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DC138619-88CF-496B-3094-099CD89ED011}"/>
                </a:ext>
              </a:extLst>
            </p:cNvPr>
            <p:cNvCxnSpPr/>
            <p:nvPr/>
          </p:nvCxnSpPr>
          <p:spPr>
            <a:xfrm flipH="1">
              <a:off x="10145486" y="5275943"/>
              <a:ext cx="856341" cy="515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D1BAB0B-5268-7048-B02E-C36F6CC65BED}"/>
                </a:ext>
              </a:extLst>
            </p:cNvPr>
            <p:cNvCxnSpPr/>
            <p:nvPr/>
          </p:nvCxnSpPr>
          <p:spPr>
            <a:xfrm flipH="1" flipV="1">
              <a:off x="9289143" y="5341257"/>
              <a:ext cx="856343" cy="449943"/>
            </a:xfrm>
            <a:prstGeom prst="line">
              <a:avLst/>
            </a:prstGeom>
          </p:spPr>
          <p:style>
            <a:lnRef idx="1">
              <a:schemeClr val="accent1"/>
            </a:lnRef>
            <a:fillRef idx="0">
              <a:schemeClr val="accent1"/>
            </a:fillRef>
            <a:effectRef idx="0">
              <a:schemeClr val="accent1"/>
            </a:effectRef>
            <a:fontRef idx="minor">
              <a:schemeClr val="tx1"/>
            </a:fontRef>
          </p:style>
        </p:cxnSp>
        <p:sp>
          <p:nvSpPr>
            <p:cNvPr id="47" name="任意多边形: 形状 46">
              <a:extLst>
                <a:ext uri="{FF2B5EF4-FFF2-40B4-BE49-F238E27FC236}">
                  <a16:creationId xmlns:a16="http://schemas.microsoft.com/office/drawing/2014/main" id="{B16D04BC-BD26-D6EA-D0FD-6089250E9E07}"/>
                </a:ext>
              </a:extLst>
            </p:cNvPr>
            <p:cNvSpPr/>
            <p:nvPr/>
          </p:nvSpPr>
          <p:spPr>
            <a:xfrm>
              <a:off x="9202057" y="4070567"/>
              <a:ext cx="1807027" cy="1452119"/>
            </a:xfrm>
            <a:custGeom>
              <a:avLst/>
              <a:gdLst>
                <a:gd name="connsiteX0" fmla="*/ 0 w 1805839"/>
                <a:gd name="connsiteY0" fmla="*/ 283719 h 1446153"/>
                <a:gd name="connsiteX1" fmla="*/ 928914 w 1805839"/>
                <a:gd name="connsiteY1" fmla="*/ 690 h 1446153"/>
                <a:gd name="connsiteX2" fmla="*/ 1545772 w 1805839"/>
                <a:gd name="connsiteY2" fmla="*/ 218404 h 1446153"/>
                <a:gd name="connsiteX3" fmla="*/ 1792514 w 1805839"/>
                <a:gd name="connsiteY3" fmla="*/ 653833 h 1446153"/>
                <a:gd name="connsiteX4" fmla="*/ 1175657 w 1805839"/>
                <a:gd name="connsiteY4" fmla="*/ 1408576 h 1446153"/>
                <a:gd name="connsiteX5" fmla="*/ 65314 w 1805839"/>
                <a:gd name="connsiteY5" fmla="*/ 1263433 h 144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5839" h="1446153">
                  <a:moveTo>
                    <a:pt x="0" y="283719"/>
                  </a:moveTo>
                  <a:cubicBezTo>
                    <a:pt x="335642" y="147647"/>
                    <a:pt x="671285" y="11576"/>
                    <a:pt x="928914" y="690"/>
                  </a:cubicBezTo>
                  <a:cubicBezTo>
                    <a:pt x="1186543" y="-10196"/>
                    <a:pt x="1401839" y="109547"/>
                    <a:pt x="1545772" y="218404"/>
                  </a:cubicBezTo>
                  <a:cubicBezTo>
                    <a:pt x="1689705" y="327261"/>
                    <a:pt x="1854200" y="455471"/>
                    <a:pt x="1792514" y="653833"/>
                  </a:cubicBezTo>
                  <a:cubicBezTo>
                    <a:pt x="1730828" y="852195"/>
                    <a:pt x="1463524" y="1306976"/>
                    <a:pt x="1175657" y="1408576"/>
                  </a:cubicBezTo>
                  <a:cubicBezTo>
                    <a:pt x="887790" y="1510176"/>
                    <a:pt x="476552" y="1386804"/>
                    <a:pt x="65314" y="126343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FD7E467C-F7B0-6D01-382E-70D8897973B7}"/>
                    </a:ext>
                  </a:extLst>
                </p:cNvPr>
                <p:cNvSpPr txBox="1"/>
                <p:nvPr/>
              </p:nvSpPr>
              <p:spPr>
                <a:xfrm>
                  <a:off x="8875486" y="4024086"/>
                  <a:ext cx="4064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0</m:t>
                            </m:r>
                          </m:sub>
                        </m:sSub>
                      </m:oMath>
                    </m:oMathPara>
                  </a14:m>
                  <a:endParaRPr lang="zh-CN" altLang="en-US" dirty="0"/>
                </a:p>
              </p:txBody>
            </p:sp>
          </mc:Choice>
          <mc:Fallback xmlns="">
            <p:sp>
              <p:nvSpPr>
                <p:cNvPr id="48" name="文本框 47">
                  <a:extLst>
                    <a:ext uri="{FF2B5EF4-FFF2-40B4-BE49-F238E27FC236}">
                      <a16:creationId xmlns:a16="http://schemas.microsoft.com/office/drawing/2014/main" id="{FD7E467C-F7B0-6D01-382E-70D8897973B7}"/>
                    </a:ext>
                  </a:extLst>
                </p:cNvPr>
                <p:cNvSpPr txBox="1">
                  <a:spLocks noRot="1" noChangeAspect="1" noMove="1" noResize="1" noEditPoints="1" noAdjustHandles="1" noChangeArrowheads="1" noChangeShapeType="1" noTextEdit="1"/>
                </p:cNvSpPr>
                <p:nvPr/>
              </p:nvSpPr>
              <p:spPr>
                <a:xfrm>
                  <a:off x="8875486" y="4024086"/>
                  <a:ext cx="406402" cy="36933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EF093335-D1D8-87D0-F8B7-7467A0022D8C}"/>
                    </a:ext>
                  </a:extLst>
                </p:cNvPr>
                <p:cNvSpPr txBox="1"/>
                <p:nvPr/>
              </p:nvSpPr>
              <p:spPr>
                <a:xfrm>
                  <a:off x="9815742" y="3490483"/>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49" name="文本框 48">
                  <a:extLst>
                    <a:ext uri="{FF2B5EF4-FFF2-40B4-BE49-F238E27FC236}">
                      <a16:creationId xmlns:a16="http://schemas.microsoft.com/office/drawing/2014/main" id="{EF093335-D1D8-87D0-F8B7-7467A0022D8C}"/>
                    </a:ext>
                  </a:extLst>
                </p:cNvPr>
                <p:cNvSpPr txBox="1">
                  <a:spLocks noRot="1" noChangeAspect="1" noMove="1" noResize="1" noEditPoints="1" noAdjustHandles="1" noChangeArrowheads="1" noChangeShapeType="1" noTextEdit="1"/>
                </p:cNvSpPr>
                <p:nvPr/>
              </p:nvSpPr>
              <p:spPr>
                <a:xfrm>
                  <a:off x="9815742" y="3490483"/>
                  <a:ext cx="682171"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681B6882-58D8-5F85-7F95-CA2EC3423ABA}"/>
                    </a:ext>
                  </a:extLst>
                </p:cNvPr>
                <p:cNvSpPr txBox="1"/>
                <p:nvPr/>
              </p:nvSpPr>
              <p:spPr>
                <a:xfrm>
                  <a:off x="10824028" y="3954891"/>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50" name="文本框 49">
                  <a:extLst>
                    <a:ext uri="{FF2B5EF4-FFF2-40B4-BE49-F238E27FC236}">
                      <a16:creationId xmlns:a16="http://schemas.microsoft.com/office/drawing/2014/main" id="{681B6882-58D8-5F85-7F95-CA2EC3423ABA}"/>
                    </a:ext>
                  </a:extLst>
                </p:cNvPr>
                <p:cNvSpPr txBox="1">
                  <a:spLocks noRot="1" noChangeAspect="1" noMove="1" noResize="1" noEditPoints="1" noAdjustHandles="1" noChangeArrowheads="1" noChangeShapeType="1" noTextEdit="1"/>
                </p:cNvSpPr>
                <p:nvPr/>
              </p:nvSpPr>
              <p:spPr>
                <a:xfrm>
                  <a:off x="10824028" y="3954891"/>
                  <a:ext cx="682171"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A530BC6A-C418-AD0C-3032-ECAA502C8946}"/>
                    </a:ext>
                  </a:extLst>
                </p:cNvPr>
                <p:cNvSpPr txBox="1"/>
                <p:nvPr/>
              </p:nvSpPr>
              <p:spPr>
                <a:xfrm>
                  <a:off x="10931071" y="4449790"/>
                  <a:ext cx="109945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3</m:t>
                            </m:r>
                          </m:sub>
                        </m:sSub>
                        <m:r>
                          <a:rPr lang="en-US" altLang="zh-CN" b="0" i="1" smtClean="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𝑄</m:t>
                            </m:r>
                          </m:e>
                          <m:sub>
                            <m:r>
                              <a:rPr lang="en-US" altLang="zh-CN" b="0" i="1" smtClean="0">
                                <a:solidFill>
                                  <a:srgbClr val="000000"/>
                                </a:solidFill>
                                <a:latin typeface="Cambria Math" panose="02040503050406030204" pitchFamily="18" charset="0"/>
                              </a:rPr>
                              <m:t>0</m:t>
                            </m:r>
                          </m:sub>
                        </m:sSub>
                        <m:r>
                          <a:rPr lang="zh-CN" altLang="en-US" i="1" smtClean="0">
                            <a:solidFill>
                              <a:srgbClr val="000000"/>
                            </a:solidFill>
                            <a:latin typeface="Cambria Math" panose="02040503050406030204" pitchFamily="18" charset="0"/>
                          </a:rPr>
                          <m:t>）</m:t>
                        </m:r>
                      </m:oMath>
                    </m:oMathPara>
                  </a14:m>
                  <a:endParaRPr lang="zh-CN" altLang="en-US" dirty="0"/>
                </a:p>
              </p:txBody>
            </p:sp>
          </mc:Choice>
          <mc:Fallback xmlns="">
            <p:sp>
              <p:nvSpPr>
                <p:cNvPr id="51" name="文本框 50">
                  <a:extLst>
                    <a:ext uri="{FF2B5EF4-FFF2-40B4-BE49-F238E27FC236}">
                      <a16:creationId xmlns:a16="http://schemas.microsoft.com/office/drawing/2014/main" id="{A530BC6A-C418-AD0C-3032-ECAA502C8946}"/>
                    </a:ext>
                  </a:extLst>
                </p:cNvPr>
                <p:cNvSpPr txBox="1">
                  <a:spLocks noRot="1" noChangeAspect="1" noMove="1" noResize="1" noEditPoints="1" noAdjustHandles="1" noChangeArrowheads="1" noChangeShapeType="1" noTextEdit="1"/>
                </p:cNvSpPr>
                <p:nvPr/>
              </p:nvSpPr>
              <p:spPr>
                <a:xfrm>
                  <a:off x="10931071" y="4449790"/>
                  <a:ext cx="1099457" cy="369332"/>
                </a:xfrm>
                <a:prstGeom prst="rect">
                  <a:avLst/>
                </a:prstGeom>
                <a:blipFill>
                  <a:blip r:embed="rId13"/>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E606F82B-C056-EED7-C8D2-78C4B0B2A59F}"/>
                    </a:ext>
                  </a:extLst>
                </p:cNvPr>
                <p:cNvSpPr txBox="1"/>
                <p:nvPr/>
              </p:nvSpPr>
              <p:spPr>
                <a:xfrm>
                  <a:off x="10824027" y="5094506"/>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𝑄</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52" name="文本框 51">
                  <a:extLst>
                    <a:ext uri="{FF2B5EF4-FFF2-40B4-BE49-F238E27FC236}">
                      <a16:creationId xmlns:a16="http://schemas.microsoft.com/office/drawing/2014/main" id="{E606F82B-C056-EED7-C8D2-78C4B0B2A59F}"/>
                    </a:ext>
                  </a:extLst>
                </p:cNvPr>
                <p:cNvSpPr txBox="1">
                  <a:spLocks noRot="1" noChangeAspect="1" noMove="1" noResize="1" noEditPoints="1" noAdjustHandles="1" noChangeArrowheads="1" noChangeShapeType="1" noTextEdit="1"/>
                </p:cNvSpPr>
                <p:nvPr/>
              </p:nvSpPr>
              <p:spPr>
                <a:xfrm>
                  <a:off x="10824027" y="5094506"/>
                  <a:ext cx="682171" cy="369332"/>
                </a:xfrm>
                <a:prstGeom prst="rect">
                  <a:avLst/>
                </a:prstGeom>
                <a:blipFill>
                  <a:blip r:embed="rId14"/>
                  <a:stretch>
                    <a:fillRect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F4A6DEFD-7523-E227-3EC5-7567F3EEDD42}"/>
                    </a:ext>
                  </a:extLst>
                </p:cNvPr>
                <p:cNvSpPr txBox="1"/>
                <p:nvPr/>
              </p:nvSpPr>
              <p:spPr>
                <a:xfrm>
                  <a:off x="9855201" y="5757260"/>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𝑄</m:t>
                            </m:r>
                          </m:e>
                          <m:sub>
                            <m:r>
                              <a:rPr lang="en-US" altLang="zh-CN"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53" name="文本框 52">
                  <a:extLst>
                    <a:ext uri="{FF2B5EF4-FFF2-40B4-BE49-F238E27FC236}">
                      <a16:creationId xmlns:a16="http://schemas.microsoft.com/office/drawing/2014/main" id="{F4A6DEFD-7523-E227-3EC5-7567F3EEDD42}"/>
                    </a:ext>
                  </a:extLst>
                </p:cNvPr>
                <p:cNvSpPr txBox="1">
                  <a:spLocks noRot="1" noChangeAspect="1" noMove="1" noResize="1" noEditPoints="1" noAdjustHandles="1" noChangeArrowheads="1" noChangeShapeType="1" noTextEdit="1"/>
                </p:cNvSpPr>
                <p:nvPr/>
              </p:nvSpPr>
              <p:spPr>
                <a:xfrm>
                  <a:off x="9855201" y="5757260"/>
                  <a:ext cx="682171" cy="369332"/>
                </a:xfrm>
                <a:prstGeom prst="rect">
                  <a:avLst/>
                </a:prstGeom>
                <a:blipFill>
                  <a:blip r:embed="rId15"/>
                  <a:stretch>
                    <a:fillRect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863A8B8C-72A9-677C-7FB1-430AE8BD8311}"/>
                    </a:ext>
                  </a:extLst>
                </p:cNvPr>
                <p:cNvSpPr txBox="1"/>
                <p:nvPr/>
              </p:nvSpPr>
              <p:spPr>
                <a:xfrm>
                  <a:off x="8730341" y="5136384"/>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𝑄</m:t>
                            </m:r>
                          </m:e>
                          <m:sub>
                            <m:r>
                              <a:rPr lang="en-US" altLang="zh-CN" b="0" i="1" smtClean="0">
                                <a:solidFill>
                                  <a:srgbClr val="000000"/>
                                </a:solidFill>
                                <a:latin typeface="Cambria Math" panose="02040503050406030204" pitchFamily="18" charset="0"/>
                              </a:rPr>
                              <m:t>3</m:t>
                            </m:r>
                          </m:sub>
                        </m:sSub>
                      </m:oMath>
                    </m:oMathPara>
                  </a14:m>
                  <a:endParaRPr lang="zh-CN" altLang="en-US" dirty="0"/>
                </a:p>
              </p:txBody>
            </p:sp>
          </mc:Choice>
          <mc:Fallback xmlns="">
            <p:sp>
              <p:nvSpPr>
                <p:cNvPr id="54" name="文本框 53">
                  <a:extLst>
                    <a:ext uri="{FF2B5EF4-FFF2-40B4-BE49-F238E27FC236}">
                      <a16:creationId xmlns:a16="http://schemas.microsoft.com/office/drawing/2014/main" id="{863A8B8C-72A9-677C-7FB1-430AE8BD8311}"/>
                    </a:ext>
                  </a:extLst>
                </p:cNvPr>
                <p:cNvSpPr txBox="1">
                  <a:spLocks noRot="1" noChangeAspect="1" noMove="1" noResize="1" noEditPoints="1" noAdjustHandles="1" noChangeArrowheads="1" noChangeShapeType="1" noTextEdit="1"/>
                </p:cNvSpPr>
                <p:nvPr/>
              </p:nvSpPr>
              <p:spPr>
                <a:xfrm>
                  <a:off x="8730341" y="5136384"/>
                  <a:ext cx="682171" cy="369332"/>
                </a:xfrm>
                <a:prstGeom prst="rect">
                  <a:avLst/>
                </a:prstGeom>
                <a:blipFill>
                  <a:blip r:embed="rId16"/>
                  <a:stretch>
                    <a:fillRect b="-9836"/>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442574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728883" y="793258"/>
                <a:ext cx="10734233" cy="475845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基于上述要求，有：</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r>
                      <m:rPr>
                        <m:sty m:val="p"/>
                      </m:rPr>
                      <a:rPr lang="en-US" altLang="zh-CN" b="0" i="0" dirty="0" smtClean="0">
                        <a:solidFill>
                          <a:srgbClr val="000000"/>
                        </a:solidFill>
                        <a:latin typeface="Cambria Math" panose="02040503050406030204" pitchFamily="18" charset="0"/>
                      </a:rPr>
                      <m:t>a</m:t>
                    </m:r>
                    <m:r>
                      <m:rPr>
                        <m:nor/>
                      </m:rPr>
                      <a:rPr lang="en-US" altLang="zh-CN" dirty="0" smtClean="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3</m:t>
                        </m:r>
                      </m:sub>
                    </m:sSub>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2</m:t>
                        </m:r>
                      </m:sub>
                    </m:sSub>
                    <m:r>
                      <a:rPr lang="en-US" altLang="zh-CN" i="0">
                        <a:solidFill>
                          <a:srgbClr val="000000"/>
                        </a:solidFill>
                        <a:latin typeface="Cambria Math" panose="02040503050406030204" pitchFamily="18" charset="0"/>
                      </a:rPr>
                      <m:t>)</m:t>
                    </m:r>
                  </m:oMath>
                </a14:m>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b="0" i="0" smtClean="0">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1</m:t>
                        </m:r>
                      </m:sub>
                    </m:sSub>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b="0" i="0" smtClean="0">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0</m:t>
                        </m:r>
                      </m:sub>
                    </m:sSub>
                  </m:oMath>
                </a14:m>
                <a:endParaRPr lang="en-US" altLang="zh-CN" dirty="0">
                  <a:solidFill>
                    <a:srgbClr val="000000"/>
                  </a:solidFill>
                  <a:latin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2</m:t>
                        </m:r>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2</m:t>
                        </m:r>
                      </m:sub>
                    </m:sSub>
                    <m:r>
                      <a:rPr lang="en-US" altLang="zh-CN" b="0" i="0" smtClean="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3</m:t>
                        </m:r>
                      </m:sub>
                    </m:sSub>
                  </m:oMath>
                </a14:m>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b="0" i="0" smtClean="0">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0</m:t>
                        </m:r>
                      </m:sub>
                    </m:sSub>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b="0" i="0" smtClean="0">
                            <a:solidFill>
                              <a:srgbClr val="000000"/>
                            </a:solidFill>
                            <a:latin typeface="Cambria Math" panose="02040503050406030204" pitchFamily="18" charset="0"/>
                          </a:rPr>
                          <m:t>2</m:t>
                        </m:r>
                        <m:r>
                          <m:rPr>
                            <m:sty m:val="p"/>
                          </m:rPr>
                          <a:rPr lang="en-US" altLang="zh-CN">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b="0" i="0" smtClean="0">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2</m:t>
                        </m:r>
                      </m:sub>
                    </m:sSub>
                  </m:oMath>
                </a14:m>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化简后得到：</a:t>
                </a:r>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smtClean="0">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r>
                      <a:rPr lang="en-US" altLang="zh-CN" i="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i="0">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2</m:t>
                        </m:r>
                      </m:sub>
                    </m:sSub>
                    <m:r>
                      <a:rPr lang="en-US" altLang="zh-CN" b="0" i="0" smtClean="0">
                        <a:solidFill>
                          <a:srgbClr val="000000"/>
                        </a:solidFill>
                        <a:latin typeface="Cambria Math" panose="02040503050406030204" pitchFamily="18" charset="0"/>
                      </a:rPr>
                      <m:t>+</m:t>
                    </m:r>
                    <m:d>
                      <m:dPr>
                        <m:begChr m:val="（"/>
                        <m:endChr m:val="）"/>
                        <m:ctrlPr>
                          <a:rPr lang="zh-CN" altLang="en-US"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1</m:t>
                        </m:r>
                        <m:r>
                          <a:rPr lang="en-US" altLang="zh-CN"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𝑎</m:t>
                        </m:r>
                      </m:e>
                    </m:d>
                    <m:sSub>
                      <m:sSubPr>
                        <m:ctrlPr>
                          <a:rPr lang="en-US" altLang="zh-CN"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m:t>
                        </m:r>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3</m:t>
                        </m:r>
                      </m:sub>
                    </m:sSub>
                    <m:r>
                      <a:rPr lang="en-US" altLang="zh-CN" b="0" i="1" smtClean="0">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0" smtClean="0">
                            <a:solidFill>
                              <a:srgbClr val="000000"/>
                            </a:solidFill>
                            <a:latin typeface="Cambria Math" panose="02040503050406030204" pitchFamily="18" charset="0"/>
                          </a:rPr>
                          <m:t>2</m:t>
                        </m:r>
                      </m:sub>
                    </m:sSub>
                    <m:r>
                      <a:rPr lang="zh-CN" altLang="en-US" i="1" smtClean="0">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 </m:t>
                    </m:r>
                  </m:oMath>
                </a14:m>
                <a:r>
                  <a:rPr lang="en-US" altLang="zh-CN"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b="0" i="0" smtClean="0">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2</m:t>
                        </m:r>
                      </m:sub>
                    </m:sSub>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1</m:t>
                        </m:r>
                      </m:sub>
                    </m:sSub>
                  </m:oMath>
                </a14:m>
                <a:endParaRPr lang="en-US" altLang="zh-CN" dirty="0">
                  <a:latin typeface="华光仿宋_CNKI" panose="02000500000000000000" pitchFamily="2" charset="-122"/>
                  <a:ea typeface="华光仿宋_CNKI" panose="02000500000000000000" pitchFamily="2" charset="-122"/>
                </a:endParaRPr>
              </a:p>
              <a:p>
                <a:pPr algn="l">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因为</a:t>
                </a:r>
                <a14:m>
                  <m:oMath xmlns:m="http://schemas.openxmlformats.org/officeDocument/2006/math">
                    <m:sSub>
                      <m:sSubPr>
                        <m:ctrlPr>
                          <a:rPr lang="en-US" altLang="zh-CN" sz="2400" i="1" smtClean="0">
                            <a:latin typeface="Cambria Math" panose="02040503050406030204" pitchFamily="18" charset="0"/>
                            <a:ea typeface="华光仿宋_CNKI" panose="02000500000000000000" pitchFamily="2" charset="-122"/>
                          </a:rPr>
                        </m:ctrlPr>
                      </m:sSubPr>
                      <m:e>
                        <m:r>
                          <a:rPr lang="en-US" altLang="zh-CN" sz="2400">
                            <a:latin typeface="Cambria Math" panose="02040503050406030204" pitchFamily="18" charset="0"/>
                            <a:ea typeface="华光仿宋_CNKI" panose="02000500000000000000" pitchFamily="2" charset="-122"/>
                          </a:rPr>
                          <m:t>𝑄</m:t>
                        </m:r>
                      </m:e>
                      <m:sub>
                        <m:r>
                          <a:rPr lang="en-US" altLang="zh-CN" sz="2400">
                            <a:latin typeface="Cambria Math" panose="02040503050406030204" pitchFamily="18" charset="0"/>
                            <a:ea typeface="华光仿宋_CNKI" panose="02000500000000000000" pitchFamily="2" charset="-122"/>
                          </a:rPr>
                          <m:t>0</m:t>
                        </m:r>
                      </m:sub>
                    </m:sSub>
                    <m:r>
                      <a:rPr lang="en-US" altLang="zh-CN" sz="2400">
                        <a:latin typeface="Cambria Math" panose="02040503050406030204" pitchFamily="18" charset="0"/>
                        <a:ea typeface="华光仿宋_CNKI" panose="02000500000000000000" pitchFamily="2" charset="-122"/>
                      </a:rPr>
                      <m:t>=</m:t>
                    </m:r>
                  </m:oMath>
                </a14:m>
                <a:r>
                  <a:rPr lang="en-US" altLang="zh-CN" sz="24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400" i="1">
                            <a:latin typeface="Cambria Math" panose="02040503050406030204" pitchFamily="18" charset="0"/>
                            <a:ea typeface="华光仿宋_CNKI" panose="02000500000000000000" pitchFamily="2" charset="-122"/>
                          </a:rPr>
                        </m:ctrlPr>
                      </m:sSubPr>
                      <m:e>
                        <m:r>
                          <m:rPr>
                            <m:sty m:val="p"/>
                          </m:rPr>
                          <a:rPr lang="en-US" altLang="zh-CN" sz="2400">
                            <a:latin typeface="Cambria Math" panose="02040503050406030204" pitchFamily="18" charset="0"/>
                            <a:ea typeface="华光仿宋_CNKI" panose="02000500000000000000" pitchFamily="2" charset="-122"/>
                          </a:rPr>
                          <m:t>P</m:t>
                        </m:r>
                      </m:e>
                      <m:sub>
                        <m:r>
                          <a:rPr lang="en-US" altLang="zh-CN" sz="2400">
                            <a:latin typeface="Cambria Math" panose="02040503050406030204" pitchFamily="18" charset="0"/>
                            <a:ea typeface="华光仿宋_CNKI" panose="02000500000000000000" pitchFamily="2" charset="-122"/>
                          </a:rPr>
                          <m:t>3</m:t>
                        </m:r>
                      </m:sub>
                    </m:sSub>
                  </m:oMath>
                </a14:m>
                <a:r>
                  <a:rPr lang="zh-CN" altLang="en-US" dirty="0">
                    <a:latin typeface="华光仿宋_CNKI" panose="02000500000000000000" pitchFamily="2" charset="-122"/>
                    <a:ea typeface="华光仿宋_CNKI" panose="02000500000000000000" pitchFamily="2" charset="-122"/>
                  </a:rPr>
                  <a:t>，故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b="0" i="1" smtClean="0">
                            <a:solidFill>
                              <a:srgbClr val="000000"/>
                            </a:solidFill>
                            <a:latin typeface="Cambria Math" panose="02040503050406030204" pitchFamily="18" charset="0"/>
                          </a:rPr>
                          <m:t>1</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1</m:t>
                        </m:r>
                      </m:sub>
                    </m:sSub>
                  </m:oMath>
                </a14:m>
                <a:r>
                  <a:rPr lang="en-US" altLang="zh-CN" dirty="0">
                    <a:solidFill>
                      <a:srgbClr val="000000"/>
                    </a:solidFill>
                  </a:rPr>
                  <a:t> </a:t>
                </a:r>
                <a14:m>
                  <m:oMath xmlns:m="http://schemas.openxmlformats.org/officeDocument/2006/math">
                    <m:r>
                      <a:rPr lang="en-US" altLang="zh-CN" i="1">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2</m:t>
                        </m:r>
                      </m:sub>
                    </m:sSub>
                  </m:oMath>
                </a14:m>
                <a:r>
                  <a:rPr lang="en-US" altLang="zh-CN" dirty="0">
                    <a:solidFill>
                      <a:srgbClr val="000000"/>
                    </a:solidFill>
                  </a:rPr>
                  <a:t> </a:t>
                </a:r>
                <a14:m>
                  <m:oMath xmlns:m="http://schemas.openxmlformats.org/officeDocument/2006/math">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3</m:t>
                        </m:r>
                      </m:sub>
                    </m:sSub>
                    <m:r>
                      <a:rPr lang="en-US" altLang="zh-CN" i="1">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1</m:t>
                        </m:r>
                      </m:sub>
                    </m:sSub>
                    <m:r>
                      <a:rPr lang="en-US" altLang="zh-CN">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b="0" i="0" smtClean="0">
                            <a:solidFill>
                              <a:srgbClr val="000000"/>
                            </a:solidFill>
                            <a:latin typeface="Cambria Math" panose="02040503050406030204" pitchFamily="18" charset="0"/>
                          </a:rPr>
                          <m:t>0</m:t>
                        </m:r>
                      </m:sub>
                    </m:sSub>
                  </m:oMath>
                </a14:m>
                <a:r>
                  <a:rPr lang="en-US" altLang="zh-CN"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1</m:t>
                        </m:r>
                      </m:sub>
                    </m:sSub>
                  </m:oMath>
                </a14:m>
                <a:r>
                  <a:rPr lang="en-US" altLang="zh-CN" dirty="0">
                    <a:solidFill>
                      <a:srgbClr val="000000"/>
                    </a:solidFill>
                  </a:rPr>
                  <a:t> </a:t>
                </a:r>
                <a14:m>
                  <m:oMath xmlns:m="http://schemas.openxmlformats.org/officeDocument/2006/math">
                    <m:r>
                      <a:rPr lang="en-US" altLang="zh-CN" i="1">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2</m:t>
                        </m:r>
                      </m:sub>
                    </m:sSub>
                  </m:oMath>
                </a14:m>
                <a:r>
                  <a:rPr lang="en-US" altLang="zh-CN" dirty="0">
                    <a:latin typeface="华光仿宋_CNKI" panose="02000500000000000000" pitchFamily="2" charset="-122"/>
                    <a:ea typeface="华光仿宋_CNKI" panose="02000500000000000000" pitchFamily="2" charset="-122"/>
                  </a:rPr>
                  <a:t>)]</a:t>
                </a:r>
              </a:p>
              <a:p>
                <a:pPr algn="l">
                  <a:lnSpc>
                    <a:spcPct val="150000"/>
                  </a:lnSpc>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因此要求向量</a:t>
                </a:r>
                <a14:m>
                  <m:oMath xmlns:m="http://schemas.openxmlformats.org/officeDocument/2006/math">
                    <m:sSub>
                      <m:sSubPr>
                        <m:ctrlPr>
                          <a:rPr lang="en-US" altLang="zh-CN" i="1" smtClean="0">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2</m:t>
                        </m:r>
                      </m:sub>
                    </m:sSub>
                  </m:oMath>
                </a14:m>
                <a:r>
                  <a:rPr lang="en-US" altLang="zh-CN" dirty="0">
                    <a:solidFill>
                      <a:srgbClr val="000000"/>
                    </a:solidFill>
                  </a:rPr>
                  <a:t> </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i="1">
                            <a:solidFill>
                              <a:srgbClr val="000000"/>
                            </a:solidFill>
                            <a:latin typeface="Cambria Math" panose="02040503050406030204" pitchFamily="18" charset="0"/>
                          </a:rPr>
                          <m:t>1</m:t>
                        </m:r>
                      </m:sub>
                    </m:sSub>
                  </m:oMath>
                </a14:m>
                <a:r>
                  <a:rPr lang="zh-CN" altLang="en-US" dirty="0">
                    <a:latin typeface="华光仿宋_CNKI" panose="02000500000000000000" pitchFamily="2" charset="-122"/>
                    <a:ea typeface="华光仿宋_CNKI" panose="02000500000000000000" pitchFamily="2" charset="-122"/>
                  </a:rPr>
                  <a:t>与向量</a:t>
                </a: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Q</m:t>
                        </m:r>
                      </m:e>
                      <m:sub>
                        <m:r>
                          <a:rPr lang="en-US" altLang="zh-CN">
                            <a:solidFill>
                              <a:srgbClr val="000000"/>
                            </a:solidFill>
                            <a:latin typeface="Cambria Math" panose="02040503050406030204" pitchFamily="18" charset="0"/>
                          </a:rPr>
                          <m:t>1</m:t>
                        </m:r>
                      </m:sub>
                    </m:sSub>
                    <m:sSub>
                      <m:sSubPr>
                        <m:ctrlPr>
                          <a:rPr lang="en-US" altLang="zh-CN" i="1">
                            <a:solidFill>
                              <a:srgbClr val="000000"/>
                            </a:solidFill>
                            <a:latin typeface="Cambria Math" panose="02040503050406030204" pitchFamily="18" charset="0"/>
                          </a:rPr>
                        </m:ctrlPr>
                      </m:sSubPr>
                      <m:e>
                        <m:r>
                          <m:rPr>
                            <m:sty m:val="p"/>
                          </m:rPr>
                          <a:rPr lang="en-US" altLang="zh-CN">
                            <a:solidFill>
                              <a:srgbClr val="000000"/>
                            </a:solidFill>
                            <a:latin typeface="Cambria Math" panose="02040503050406030204" pitchFamily="18" charset="0"/>
                          </a:rPr>
                          <m:t>P</m:t>
                        </m:r>
                      </m:e>
                      <m:sub>
                        <m:r>
                          <a:rPr lang="en-US" altLang="zh-CN">
                            <a:solidFill>
                              <a:srgbClr val="000000"/>
                            </a:solidFill>
                            <a:latin typeface="Cambria Math" panose="02040503050406030204" pitchFamily="18" charset="0"/>
                          </a:rPr>
                          <m:t>2</m:t>
                        </m:r>
                      </m:sub>
                    </m:sSub>
                  </m:oMath>
                </a14:m>
                <a:r>
                  <a:rPr lang="zh-CN" altLang="en-US" dirty="0">
                    <a:latin typeface="华光仿宋_CNKI" panose="02000500000000000000" pitchFamily="2" charset="-122"/>
                    <a:ea typeface="华光仿宋_CNKI" panose="02000500000000000000" pitchFamily="2" charset="-122"/>
                  </a:rPr>
                  <a:t>平行，且前者的长度是后者的</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倍。</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728883" y="793258"/>
                <a:ext cx="10734233" cy="4758457"/>
              </a:xfrm>
              <a:prstGeom prst="rect">
                <a:avLst/>
              </a:prstGeom>
              <a:blipFill>
                <a:blip r:embed="rId3"/>
                <a:stretch>
                  <a:fillRect b="-12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06646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61511" y="184580"/>
                <a:ext cx="7812032" cy="5933191"/>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a:t>
                </a:r>
                <a:r>
                  <a:rPr lang="en-US" altLang="zh-CN" sz="2600" b="1" dirty="0">
                    <a:latin typeface="华光标题宋_CNKI" panose="02000500000000000000" pitchFamily="2" charset="-122"/>
                    <a:ea typeface="华光标题宋_CNKI" panose="02000500000000000000" pitchFamily="2" charset="-122"/>
                  </a:rPr>
                  <a:t>De </a:t>
                </a:r>
                <a:r>
                  <a:rPr lang="en-US" altLang="zh-CN" sz="2600" b="1" dirty="0" err="1">
                    <a:latin typeface="华光标题宋_CNKI" panose="02000500000000000000" pitchFamily="2" charset="-122"/>
                    <a:ea typeface="华光标题宋_CNKI" panose="02000500000000000000" pitchFamily="2" charset="-122"/>
                  </a:rPr>
                  <a:t>Casteljau</a:t>
                </a:r>
                <a:r>
                  <a:rPr lang="zh-CN" altLang="en-US" sz="2600" b="1" dirty="0">
                    <a:latin typeface="华光标题宋_CNKI" panose="02000500000000000000" pitchFamily="2" charset="-122"/>
                    <a:ea typeface="华光标题宋_CNKI" panose="02000500000000000000" pitchFamily="2" charset="-122"/>
                  </a:rPr>
                  <a:t>算法</a:t>
                </a:r>
                <a:r>
                  <a:rPr lang="en-US" altLang="zh-CN" sz="2600" b="1" dirty="0">
                    <a:latin typeface="华光标题宋_CNKI" panose="02000500000000000000" pitchFamily="2" charset="-122"/>
                    <a:ea typeface="华光标题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该算法可以用于求解高阶情况下的</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曲线，其算法描述如下：</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(1) </a:t>
                </a:r>
                <a:r>
                  <a:rPr lang="zh-CN" altLang="en-US" sz="2600" dirty="0">
                    <a:latin typeface="华光仿宋_CNKI" panose="02000500000000000000" pitchFamily="2" charset="-122"/>
                    <a:ea typeface="华光仿宋_CNKI" panose="02000500000000000000" pitchFamily="2" charset="-122"/>
                  </a:rPr>
                  <a:t>用直线连接所有相邻的</a:t>
                </a:r>
                <a:r>
                  <a:rPr lang="en-US" altLang="zh-CN" sz="2600" dirty="0">
                    <a:latin typeface="华光仿宋_CNKI" panose="02000500000000000000" pitchFamily="2" charset="-122"/>
                    <a:ea typeface="华光仿宋_CNKI" panose="02000500000000000000" pitchFamily="2" charset="-122"/>
                  </a:rPr>
                  <a:t>n</a:t>
                </a:r>
                <a:r>
                  <a:rPr lang="zh-CN" altLang="en-US" sz="2600" dirty="0">
                    <a:latin typeface="华光仿宋_CNKI" panose="02000500000000000000" pitchFamily="2" charset="-122"/>
                    <a:ea typeface="华光仿宋_CNKI" panose="02000500000000000000" pitchFamily="2" charset="-122"/>
                  </a:rPr>
                  <a:t>个控制点，得到其特征多边形。</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(2)</a:t>
                </a:r>
                <a:r>
                  <a:rPr lang="zh-CN" altLang="en-US" sz="2600" dirty="0">
                    <a:latin typeface="华光仿宋_CNKI" panose="02000500000000000000" pitchFamily="2" charset="-122"/>
                    <a:ea typeface="华光仿宋_CNKI" panose="02000500000000000000" pitchFamily="2" charset="-122"/>
                  </a:rPr>
                  <a:t> 如果</a:t>
                </a:r>
                <a:r>
                  <a:rPr lang="en-US" altLang="zh-CN" sz="2600" dirty="0">
                    <a:latin typeface="华光仿宋_CNKI" panose="02000500000000000000" pitchFamily="2" charset="-122"/>
                    <a:ea typeface="华光仿宋_CNKI" panose="02000500000000000000" pitchFamily="2" charset="-122"/>
                  </a:rPr>
                  <a:t>t</a:t>
                </a:r>
                <a14:m>
                  <m:oMath xmlns:m="http://schemas.openxmlformats.org/officeDocument/2006/math">
                    <m:r>
                      <a:rPr lang="en-US" altLang="zh-CN" sz="2600" i="1" smtClean="0">
                        <a:latin typeface="Cambria Math" panose="02040503050406030204" pitchFamily="18" charset="0"/>
                        <a:ea typeface="Cambria Math" panose="02040503050406030204" pitchFamily="18" charset="0"/>
                      </a:rPr>
                      <m:t>∈</m:t>
                    </m:r>
                  </m:oMath>
                </a14:m>
                <a:r>
                  <a:rPr lang="en-US" altLang="zh-CN" sz="2600" dirty="0">
                    <a:latin typeface="华光仿宋_CNKI" panose="02000500000000000000" pitchFamily="2" charset="-122"/>
                    <a:ea typeface="华光仿宋_CNKI" panose="02000500000000000000" pitchFamily="2" charset="-122"/>
                  </a:rPr>
                  <a:t>[0,1]</a:t>
                </a:r>
                <a:r>
                  <a:rPr lang="zh-CN" altLang="en-US" sz="2600" dirty="0">
                    <a:latin typeface="华光仿宋_CNKI" panose="02000500000000000000" pitchFamily="2" charset="-122"/>
                    <a:ea typeface="华光仿宋_CNKI" panose="02000500000000000000" pitchFamily="2" charset="-122"/>
                  </a:rPr>
                  <a:t>，则在特征多边形的每一条边上按照</a:t>
                </a:r>
                <a:r>
                  <a:rPr lang="en-US" altLang="zh-CN" sz="2600" dirty="0">
                    <a:latin typeface="华光仿宋_CNKI" panose="02000500000000000000" pitchFamily="2" charset="-122"/>
                    <a:ea typeface="华光仿宋_CNKI" panose="02000500000000000000" pitchFamily="2" charset="-122"/>
                  </a:rPr>
                  <a:t>t:(1-t)</a:t>
                </a:r>
                <a:r>
                  <a:rPr lang="zh-CN" altLang="en-US" sz="2600" dirty="0">
                    <a:latin typeface="华光仿宋_CNKI" panose="02000500000000000000" pitchFamily="2" charset="-122"/>
                    <a:ea typeface="华光仿宋_CNKI" panose="02000500000000000000" pitchFamily="2" charset="-122"/>
                  </a:rPr>
                  <a:t>的比例寻找一组新的点，构成新的多边形，该多边形的边比前面的多边形少一条边。</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(3) </a:t>
                </a:r>
                <a:r>
                  <a:rPr lang="zh-CN" altLang="en-US" sz="2600" dirty="0">
                    <a:latin typeface="华光仿宋_CNKI" panose="02000500000000000000" pitchFamily="2" charset="-122"/>
                    <a:ea typeface="华光仿宋_CNKI" panose="02000500000000000000" pitchFamily="2" charset="-122"/>
                  </a:rPr>
                  <a:t>在新的多边形上，重复（</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）的操作得到一组新的多边形。在</a:t>
                </a:r>
                <a:r>
                  <a:rPr lang="en-US" altLang="zh-CN" sz="2600" dirty="0">
                    <a:latin typeface="华光仿宋_CNKI" panose="02000500000000000000" pitchFamily="2" charset="-122"/>
                    <a:ea typeface="华光仿宋_CNKI" panose="02000500000000000000" pitchFamily="2" charset="-122"/>
                  </a:rPr>
                  <a:t>n</a:t>
                </a:r>
                <a:r>
                  <a:rPr lang="zh-CN" altLang="en-US" sz="2600" dirty="0">
                    <a:latin typeface="华光仿宋_CNKI" panose="02000500000000000000" pitchFamily="2" charset="-122"/>
                    <a:ea typeface="华光仿宋_CNKI" panose="02000500000000000000" pitchFamily="2" charset="-122"/>
                  </a:rPr>
                  <a:t>次这种操作之后，将得到一个点，该点即为曲线上的点。</a:t>
                </a:r>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61511" y="184580"/>
                <a:ext cx="7812032" cy="5933191"/>
              </a:xfrm>
              <a:prstGeom prst="rect">
                <a:avLst/>
              </a:prstGeom>
              <a:blipFill>
                <a:blip r:embed="rId3"/>
                <a:stretch>
                  <a:fillRect l="-1170"/>
                </a:stretch>
              </a:blipFill>
            </p:spPr>
            <p:txBody>
              <a:bodyPr/>
              <a:lstStyle/>
              <a:p>
                <a:r>
                  <a:rPr lang="zh-CN" altLang="en-US">
                    <a:noFill/>
                  </a:rPr>
                  <a:t> </a:t>
                </a:r>
              </a:p>
            </p:txBody>
          </p:sp>
        </mc:Fallback>
      </mc:AlternateContent>
      <p:grpSp>
        <p:nvGrpSpPr>
          <p:cNvPr id="50" name="组合 49">
            <a:extLst>
              <a:ext uri="{FF2B5EF4-FFF2-40B4-BE49-F238E27FC236}">
                <a16:creationId xmlns:a16="http://schemas.microsoft.com/office/drawing/2014/main" id="{D01C96E8-B2FB-7AD2-1B9D-7B7887FC9CFF}"/>
              </a:ext>
            </a:extLst>
          </p:cNvPr>
          <p:cNvGrpSpPr/>
          <p:nvPr/>
        </p:nvGrpSpPr>
        <p:grpSpPr>
          <a:xfrm>
            <a:off x="8220691" y="1924270"/>
            <a:ext cx="3895954" cy="2001264"/>
            <a:chOff x="7735662" y="1630072"/>
            <a:chExt cx="3895954" cy="2001264"/>
          </a:xfrm>
        </p:grpSpPr>
        <p:grpSp>
          <p:nvGrpSpPr>
            <p:cNvPr id="49" name="组合 48">
              <a:extLst>
                <a:ext uri="{FF2B5EF4-FFF2-40B4-BE49-F238E27FC236}">
                  <a16:creationId xmlns:a16="http://schemas.microsoft.com/office/drawing/2014/main" id="{AAE30182-948D-1854-7DA1-B7D6B29467A0}"/>
                </a:ext>
              </a:extLst>
            </p:cNvPr>
            <p:cNvGrpSpPr/>
            <p:nvPr/>
          </p:nvGrpSpPr>
          <p:grpSpPr>
            <a:xfrm>
              <a:off x="7735662" y="1630072"/>
              <a:ext cx="3447142" cy="1988217"/>
              <a:chOff x="7895771" y="1748247"/>
              <a:chExt cx="3447142" cy="1988217"/>
            </a:xfrm>
          </p:grpSpPr>
          <p:cxnSp>
            <p:nvCxnSpPr>
              <p:cNvPr id="3" name="直接连接符 2">
                <a:extLst>
                  <a:ext uri="{FF2B5EF4-FFF2-40B4-BE49-F238E27FC236}">
                    <a16:creationId xmlns:a16="http://schemas.microsoft.com/office/drawing/2014/main" id="{6692AF79-8B31-3FBD-8C12-1F23E0BB198E}"/>
                  </a:ext>
                </a:extLst>
              </p:cNvPr>
              <p:cNvCxnSpPr/>
              <p:nvPr/>
            </p:nvCxnSpPr>
            <p:spPr>
              <a:xfrm flipV="1">
                <a:off x="8236857" y="2344056"/>
                <a:ext cx="442685" cy="950686"/>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17ED42F2-8906-9708-265A-8DFF79AF219E}"/>
                  </a:ext>
                </a:extLst>
              </p:cNvPr>
              <p:cNvCxnSpPr/>
              <p:nvPr/>
            </p:nvCxnSpPr>
            <p:spPr>
              <a:xfrm flipV="1">
                <a:off x="8679542" y="2133600"/>
                <a:ext cx="1124858" cy="21045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335AD0F7-060B-7651-BA87-E52A63B5DFB9}"/>
                  </a:ext>
                </a:extLst>
              </p:cNvPr>
              <p:cNvCxnSpPr/>
              <p:nvPr/>
            </p:nvCxnSpPr>
            <p:spPr>
              <a:xfrm>
                <a:off x="9804400" y="2133600"/>
                <a:ext cx="1074057" cy="420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DF156DA-2D19-66A6-5CB6-22C521CE5BFA}"/>
                  </a:ext>
                </a:extLst>
              </p:cNvPr>
              <p:cNvCxnSpPr/>
              <p:nvPr/>
            </p:nvCxnSpPr>
            <p:spPr>
              <a:xfrm>
                <a:off x="10878457" y="2554514"/>
                <a:ext cx="435429" cy="8744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2C5C57B-3277-BA79-AF24-B4D028DD5A75}"/>
                  </a:ext>
                </a:extLst>
              </p:cNvPr>
              <p:cNvCxnSpPr>
                <a:cxnSpLocks/>
              </p:cNvCxnSpPr>
              <p:nvPr/>
            </p:nvCxnSpPr>
            <p:spPr>
              <a:xfrm flipV="1">
                <a:off x="8299450" y="2298700"/>
                <a:ext cx="609145" cy="852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1B82FB18-7F98-7E6C-7FA1-8B82233C9AE1}"/>
                  </a:ext>
                </a:extLst>
              </p:cNvPr>
              <p:cNvCxnSpPr>
                <a:cxnSpLocks/>
              </p:cNvCxnSpPr>
              <p:nvPr/>
            </p:nvCxnSpPr>
            <p:spPr>
              <a:xfrm flipV="1">
                <a:off x="8908595" y="2238828"/>
                <a:ext cx="1172030" cy="598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A08CC8F-E552-4752-03B6-935D1A586960}"/>
                  </a:ext>
                </a:extLst>
              </p:cNvPr>
              <p:cNvCxnSpPr/>
              <p:nvPr/>
            </p:nvCxnSpPr>
            <p:spPr>
              <a:xfrm>
                <a:off x="10080625" y="2238828"/>
                <a:ext cx="906463" cy="537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477DBF5-D577-72C6-7BA5-BDD1E5D125F8}"/>
                  </a:ext>
                </a:extLst>
              </p:cNvPr>
              <p:cNvCxnSpPr>
                <a:cxnSpLocks/>
              </p:cNvCxnSpPr>
              <p:nvPr/>
            </p:nvCxnSpPr>
            <p:spPr>
              <a:xfrm flipV="1">
                <a:off x="8452417" y="2286000"/>
                <a:ext cx="685231" cy="657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877A440-771F-F2B3-2D59-FAE3BDC54B62}"/>
                  </a:ext>
                </a:extLst>
              </p:cNvPr>
              <p:cNvCxnSpPr>
                <a:cxnSpLocks/>
              </p:cNvCxnSpPr>
              <p:nvPr/>
            </p:nvCxnSpPr>
            <p:spPr>
              <a:xfrm>
                <a:off x="9135720" y="2283335"/>
                <a:ext cx="1173958" cy="914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DA46FBF1-86F3-CDF8-CD5D-DD498E0C921A}"/>
                  </a:ext>
                </a:extLst>
              </p:cNvPr>
              <p:cNvCxnSpPr>
                <a:cxnSpLocks/>
              </p:cNvCxnSpPr>
              <p:nvPr/>
            </p:nvCxnSpPr>
            <p:spPr>
              <a:xfrm flipV="1">
                <a:off x="8588941" y="2298700"/>
                <a:ext cx="799534" cy="520699"/>
              </a:xfrm>
              <a:prstGeom prst="line">
                <a:avLst/>
              </a:prstGeom>
            </p:spPr>
            <p:style>
              <a:lnRef idx="1">
                <a:schemeClr val="accent1"/>
              </a:lnRef>
              <a:fillRef idx="0">
                <a:schemeClr val="accent1"/>
              </a:fillRef>
              <a:effectRef idx="0">
                <a:schemeClr val="accent1"/>
              </a:effectRef>
              <a:fontRef idx="minor">
                <a:schemeClr val="tx1"/>
              </a:fontRef>
            </p:style>
          </p:cxnSp>
          <p:sp>
            <p:nvSpPr>
              <p:cNvPr id="42" name="任意多边形: 形状 41">
                <a:extLst>
                  <a:ext uri="{FF2B5EF4-FFF2-40B4-BE49-F238E27FC236}">
                    <a16:creationId xmlns:a16="http://schemas.microsoft.com/office/drawing/2014/main" id="{F950C51B-7074-2C27-CB22-54A8818CEFE3}"/>
                  </a:ext>
                </a:extLst>
              </p:cNvPr>
              <p:cNvSpPr/>
              <p:nvPr/>
            </p:nvSpPr>
            <p:spPr>
              <a:xfrm>
                <a:off x="8245475" y="2473204"/>
                <a:ext cx="3060700" cy="949446"/>
              </a:xfrm>
              <a:custGeom>
                <a:avLst/>
                <a:gdLst>
                  <a:gd name="connsiteX0" fmla="*/ 0 w 3060700"/>
                  <a:gd name="connsiteY0" fmla="*/ 809746 h 949446"/>
                  <a:gd name="connsiteX1" fmla="*/ 615950 w 3060700"/>
                  <a:gd name="connsiteY1" fmla="*/ 171571 h 949446"/>
                  <a:gd name="connsiteX2" fmla="*/ 1470025 w 3060700"/>
                  <a:gd name="connsiteY2" fmla="*/ 3296 h 949446"/>
                  <a:gd name="connsiteX3" fmla="*/ 2457450 w 3060700"/>
                  <a:gd name="connsiteY3" fmla="*/ 276346 h 949446"/>
                  <a:gd name="connsiteX4" fmla="*/ 3060700 w 3060700"/>
                  <a:gd name="connsiteY4" fmla="*/ 949446 h 94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0700" h="949446">
                    <a:moveTo>
                      <a:pt x="0" y="809746"/>
                    </a:moveTo>
                    <a:cubicBezTo>
                      <a:pt x="185473" y="557862"/>
                      <a:pt x="370946" y="305979"/>
                      <a:pt x="615950" y="171571"/>
                    </a:cubicBezTo>
                    <a:cubicBezTo>
                      <a:pt x="860954" y="37163"/>
                      <a:pt x="1163108" y="-14167"/>
                      <a:pt x="1470025" y="3296"/>
                    </a:cubicBezTo>
                    <a:cubicBezTo>
                      <a:pt x="1776942" y="20759"/>
                      <a:pt x="2192338" y="118654"/>
                      <a:pt x="2457450" y="276346"/>
                    </a:cubicBezTo>
                    <a:cubicBezTo>
                      <a:pt x="2722562" y="434038"/>
                      <a:pt x="2891631" y="691742"/>
                      <a:pt x="3060700" y="94944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074C479-FB31-3D37-D072-2E34C598F001}"/>
                      </a:ext>
                    </a:extLst>
                  </p:cNvPr>
                  <p:cNvSpPr txBox="1"/>
                  <p:nvPr/>
                </p:nvSpPr>
                <p:spPr>
                  <a:xfrm>
                    <a:off x="7895771" y="3367132"/>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0</m:t>
                              </m:r>
                            </m:sub>
                          </m:sSub>
                        </m:oMath>
                      </m:oMathPara>
                    </a14:m>
                    <a:endParaRPr lang="zh-CN" altLang="en-US" dirty="0"/>
                  </a:p>
                </p:txBody>
              </p:sp>
            </mc:Choice>
            <mc:Fallback xmlns="">
              <p:sp>
                <p:nvSpPr>
                  <p:cNvPr id="44" name="文本框 43">
                    <a:extLst>
                      <a:ext uri="{FF2B5EF4-FFF2-40B4-BE49-F238E27FC236}">
                        <a16:creationId xmlns:a16="http://schemas.microsoft.com/office/drawing/2014/main" id="{E074C479-FB31-3D37-D072-2E34C598F001}"/>
                      </a:ext>
                    </a:extLst>
                  </p:cNvPr>
                  <p:cNvSpPr txBox="1">
                    <a:spLocks noRot="1" noChangeAspect="1" noMove="1" noResize="1" noEditPoints="1" noAdjustHandles="1" noChangeArrowheads="1" noChangeShapeType="1" noTextEdit="1"/>
                  </p:cNvSpPr>
                  <p:nvPr/>
                </p:nvSpPr>
                <p:spPr>
                  <a:xfrm>
                    <a:off x="7895771" y="3367132"/>
                    <a:ext cx="682171"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4154CB31-E606-344D-58EF-FF473AE28326}"/>
                      </a:ext>
                    </a:extLst>
                  </p:cNvPr>
                  <p:cNvSpPr txBox="1"/>
                  <p:nvPr/>
                </p:nvSpPr>
                <p:spPr>
                  <a:xfrm>
                    <a:off x="8229226" y="1929368"/>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45" name="文本框 44">
                    <a:extLst>
                      <a:ext uri="{FF2B5EF4-FFF2-40B4-BE49-F238E27FC236}">
                        <a16:creationId xmlns:a16="http://schemas.microsoft.com/office/drawing/2014/main" id="{4154CB31-E606-344D-58EF-FF473AE28326}"/>
                      </a:ext>
                    </a:extLst>
                  </p:cNvPr>
                  <p:cNvSpPr txBox="1">
                    <a:spLocks noRot="1" noChangeAspect="1" noMove="1" noResize="1" noEditPoints="1" noAdjustHandles="1" noChangeArrowheads="1" noChangeShapeType="1" noTextEdit="1"/>
                  </p:cNvSpPr>
                  <p:nvPr/>
                </p:nvSpPr>
                <p:spPr>
                  <a:xfrm>
                    <a:off x="8229226" y="1929368"/>
                    <a:ext cx="682171"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67D334EC-81BB-488B-F944-35B65A3F2B9E}"/>
                      </a:ext>
                    </a:extLst>
                  </p:cNvPr>
                  <p:cNvSpPr txBox="1"/>
                  <p:nvPr/>
                </p:nvSpPr>
                <p:spPr>
                  <a:xfrm>
                    <a:off x="9434739" y="1748247"/>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2</m:t>
                              </m:r>
                            </m:sub>
                          </m:sSub>
                        </m:oMath>
                      </m:oMathPara>
                    </a14:m>
                    <a:endParaRPr lang="zh-CN" altLang="en-US" dirty="0"/>
                  </a:p>
                </p:txBody>
              </p:sp>
            </mc:Choice>
            <mc:Fallback xmlns="">
              <p:sp>
                <p:nvSpPr>
                  <p:cNvPr id="46" name="文本框 45">
                    <a:extLst>
                      <a:ext uri="{FF2B5EF4-FFF2-40B4-BE49-F238E27FC236}">
                        <a16:creationId xmlns:a16="http://schemas.microsoft.com/office/drawing/2014/main" id="{67D334EC-81BB-488B-F944-35B65A3F2B9E}"/>
                      </a:ext>
                    </a:extLst>
                  </p:cNvPr>
                  <p:cNvSpPr txBox="1">
                    <a:spLocks noRot="1" noChangeAspect="1" noMove="1" noResize="1" noEditPoints="1" noAdjustHandles="1" noChangeArrowheads="1" noChangeShapeType="1" noTextEdit="1"/>
                  </p:cNvSpPr>
                  <p:nvPr/>
                </p:nvSpPr>
                <p:spPr>
                  <a:xfrm>
                    <a:off x="9434739" y="1748247"/>
                    <a:ext cx="68217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A986EC73-6E5E-D933-8F69-C584AB3DA27F}"/>
                      </a:ext>
                    </a:extLst>
                  </p:cNvPr>
                  <p:cNvSpPr txBox="1"/>
                  <p:nvPr/>
                </p:nvSpPr>
                <p:spPr>
                  <a:xfrm>
                    <a:off x="10660742" y="2232478"/>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3</m:t>
                              </m:r>
                            </m:sub>
                          </m:sSub>
                        </m:oMath>
                      </m:oMathPara>
                    </a14:m>
                    <a:endParaRPr lang="zh-CN" altLang="en-US" dirty="0"/>
                  </a:p>
                </p:txBody>
              </p:sp>
            </mc:Choice>
            <mc:Fallback xmlns="">
              <p:sp>
                <p:nvSpPr>
                  <p:cNvPr id="47" name="文本框 46">
                    <a:extLst>
                      <a:ext uri="{FF2B5EF4-FFF2-40B4-BE49-F238E27FC236}">
                        <a16:creationId xmlns:a16="http://schemas.microsoft.com/office/drawing/2014/main" id="{A986EC73-6E5E-D933-8F69-C584AB3DA27F}"/>
                      </a:ext>
                    </a:extLst>
                  </p:cNvPr>
                  <p:cNvSpPr txBox="1">
                    <a:spLocks noRot="1" noChangeAspect="1" noMove="1" noResize="1" noEditPoints="1" noAdjustHandles="1" noChangeArrowheads="1" noChangeShapeType="1" noTextEdit="1"/>
                  </p:cNvSpPr>
                  <p:nvPr/>
                </p:nvSpPr>
                <p:spPr>
                  <a:xfrm>
                    <a:off x="10660742" y="2232478"/>
                    <a:ext cx="682171" cy="369332"/>
                  </a:xfrm>
                  <a:prstGeom prst="rect">
                    <a:avLst/>
                  </a:prstGeom>
                  <a:blipFill>
                    <a:blip r:embed="rId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2AA5E82-F4E4-A394-0D86-91BD1581AFD4}"/>
                    </a:ext>
                  </a:extLst>
                </p:cNvPr>
                <p:cNvSpPr txBox="1"/>
                <p:nvPr/>
              </p:nvSpPr>
              <p:spPr>
                <a:xfrm>
                  <a:off x="10949445" y="3262004"/>
                  <a:ext cx="6821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𝑃</m:t>
                            </m:r>
                          </m:e>
                          <m:sub>
                            <m:r>
                              <a:rPr lang="en-US" altLang="zh-CN" b="0" i="1" smtClean="0">
                                <a:solidFill>
                                  <a:srgbClr val="000000"/>
                                </a:solidFill>
                                <a:latin typeface="Cambria Math" panose="02040503050406030204" pitchFamily="18" charset="0"/>
                              </a:rPr>
                              <m:t>4</m:t>
                            </m:r>
                          </m:sub>
                        </m:sSub>
                      </m:oMath>
                    </m:oMathPara>
                  </a14:m>
                  <a:endParaRPr lang="zh-CN" altLang="en-US" dirty="0"/>
                </a:p>
              </p:txBody>
            </p:sp>
          </mc:Choice>
          <mc:Fallback xmlns="">
            <p:sp>
              <p:nvSpPr>
                <p:cNvPr id="48" name="文本框 47">
                  <a:extLst>
                    <a:ext uri="{FF2B5EF4-FFF2-40B4-BE49-F238E27FC236}">
                      <a16:creationId xmlns:a16="http://schemas.microsoft.com/office/drawing/2014/main" id="{B2AA5E82-F4E4-A394-0D86-91BD1581AFD4}"/>
                    </a:ext>
                  </a:extLst>
                </p:cNvPr>
                <p:cNvSpPr txBox="1">
                  <a:spLocks noRot="1" noChangeAspect="1" noMove="1" noResize="1" noEditPoints="1" noAdjustHandles="1" noChangeArrowheads="1" noChangeShapeType="1" noTextEdit="1"/>
                </p:cNvSpPr>
                <p:nvPr/>
              </p:nvSpPr>
              <p:spPr>
                <a:xfrm>
                  <a:off x="10949445" y="3262004"/>
                  <a:ext cx="682171" cy="369332"/>
                </a:xfrm>
                <a:prstGeom prst="rect">
                  <a:avLst/>
                </a:prstGeom>
                <a:blipFill>
                  <a:blip r:embed="rId8"/>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5710373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Object 4">
                <a:extLst>
                  <a:ext uri="{FF2B5EF4-FFF2-40B4-BE49-F238E27FC236}">
                    <a16:creationId xmlns:a16="http://schemas.microsoft.com/office/drawing/2014/main" id="{E055DC07-A49D-65E0-A517-29FEB39C4761}"/>
                  </a:ext>
                </a:extLst>
              </p:cNvPr>
              <p:cNvSpPr txBox="1"/>
              <p:nvPr/>
            </p:nvSpPr>
            <p:spPr bwMode="auto">
              <a:xfrm>
                <a:off x="909825" y="722382"/>
                <a:ext cx="10626976" cy="5320609"/>
              </a:xfrm>
              <a:prstGeom prst="rect">
                <a:avLst/>
              </a:prstGeom>
              <a:noFill/>
              <a:ln>
                <a:noFill/>
              </a:ln>
              <a:effectLst/>
            </p:spPr>
            <p:txBody>
              <a:bodyPr>
                <a:noAutofit/>
              </a:bodyPr>
              <a:lstStyle/>
              <a:p>
                <a:pPr>
                  <a:lnSpc>
                    <a:spcPct val="150000"/>
                  </a:lnSpc>
                </a:pPr>
                <a:r>
                  <a:rPr lang="zh-CN" altLang="en-US" sz="2600" dirty="0">
                    <a:latin typeface="华光仿宋_CNKI" panose="02000500000000000000" pitchFamily="2" charset="-122"/>
                    <a:ea typeface="华光仿宋_CNKI" panose="02000500000000000000" pitchFamily="2" charset="-122"/>
                  </a:rPr>
                  <a:t>由于：</a:t>
                </a:r>
                <a:endParaRPr lang="en-US" altLang="zh-CN" sz="2600" dirty="0">
                  <a:latin typeface="华光仿宋_CNKI" panose="02000500000000000000" pitchFamily="2" charset="-122"/>
                  <a:ea typeface="华光仿宋_CNKI" panose="02000500000000000000" pitchFamily="2" charset="-122"/>
                </a:endParaRPr>
              </a:p>
              <a:p>
                <a:pPr/>
                <a14:m>
                  <m:oMathPara xmlns:m="http://schemas.openxmlformats.org/officeDocument/2006/math">
                    <m:oMathParaPr>
                      <m:jc m:val="left"/>
                    </m:oMathParaPr>
                    <m:oMath xmlns:m="http://schemas.openxmlformats.org/officeDocument/2006/math">
                      <m:r>
                        <a:rPr lang="zh-CN" altLang="en-US" sz="2800" smtClean="0">
                          <a:latin typeface="Cambria Math" panose="02040503050406030204" pitchFamily="18" charset="0"/>
                        </a:rPr>
                        <m:t>𝑃</m:t>
                      </m:r>
                      <m:r>
                        <a:rPr lang="zh-CN" altLang="en-US" sz="2800" smtClean="0">
                          <a:latin typeface="Cambria Math" panose="02040503050406030204" pitchFamily="18" charset="0"/>
                        </a:rPr>
                        <m:t>(</m:t>
                      </m:r>
                      <m:r>
                        <a:rPr lang="zh-CN" altLang="en-US" sz="2800" smtClean="0">
                          <a:latin typeface="Cambria Math" panose="02040503050406030204" pitchFamily="18" charset="0"/>
                        </a:rPr>
                        <m:t>𝑡</m:t>
                      </m:r>
                      <m:r>
                        <a:rPr lang="zh-CN" altLang="en-US" sz="2800" smtClean="0">
                          <a:latin typeface="Cambria Math" panose="02040503050406030204" pitchFamily="18" charset="0"/>
                        </a:rPr>
                        <m:t>)=</m:t>
                      </m:r>
                      <m:nary>
                        <m:naryPr>
                          <m:chr m:val="∑"/>
                          <m:ctrlPr>
                            <a:rPr lang="zh-CN" altLang="en-US" sz="2800" i="1">
                              <a:latin typeface="Cambria Math" panose="02040503050406030204" pitchFamily="18" charset="0"/>
                            </a:rPr>
                          </m:ctrlPr>
                        </m:naryPr>
                        <m:sub>
                          <m:r>
                            <a:rPr lang="zh-CN" altLang="en-US" sz="2800">
                              <a:latin typeface="Cambria Math" panose="02040503050406030204" pitchFamily="18" charset="0"/>
                            </a:rPr>
                            <m:t>𝑖</m:t>
                          </m:r>
                          <m:r>
                            <a:rPr lang="zh-CN" altLang="en-US" sz="2800">
                              <a:latin typeface="Cambria Math" panose="02040503050406030204" pitchFamily="18" charset="0"/>
                            </a:rPr>
                            <m:t>=0</m:t>
                          </m:r>
                        </m:sub>
                        <m:sup>
                          <m:r>
                            <a:rPr lang="zh-CN" altLang="en-US" sz="2800">
                              <a:latin typeface="Cambria Math" panose="02040503050406030204" pitchFamily="18" charset="0"/>
                            </a:rPr>
                            <m:t>𝑛</m:t>
                          </m:r>
                        </m:sup>
                        <m:e>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zh-CN" altLang="en-US" sz="2800">
                                  <a:latin typeface="Cambria Math" panose="02040503050406030204" pitchFamily="18" charset="0"/>
                                </a:rPr>
                                <m:t>𝑖</m:t>
                              </m:r>
                            </m:sub>
                          </m:sSub>
                          <m:r>
                            <a:rPr lang="zh-CN" altLang="en-US" sz="2800">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𝐵</m:t>
                              </m:r>
                            </m:e>
                            <m:sub>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𝑛</m:t>
                              </m:r>
                            </m:sub>
                          </m:sSub>
                          <m:r>
                            <a:rPr lang="zh-CN" altLang="en-US" sz="2800">
                              <a:latin typeface="Cambria Math" panose="02040503050406030204" pitchFamily="18" charset="0"/>
                            </a:rPr>
                            <m:t>(</m:t>
                          </m:r>
                          <m:r>
                            <a:rPr lang="zh-CN" altLang="en-US" sz="2800">
                              <a:latin typeface="Cambria Math" panose="02040503050406030204" pitchFamily="18" charset="0"/>
                            </a:rPr>
                            <m:t>𝑡</m:t>
                          </m:r>
                          <m:r>
                            <a:rPr lang="zh-CN" altLang="en-US" sz="2800">
                              <a:latin typeface="Cambria Math" panose="02040503050406030204" pitchFamily="18" charset="0"/>
                            </a:rPr>
                            <m:t>)</m:t>
                          </m:r>
                        </m:e>
                      </m:nary>
                      <m:m>
                        <m:mPr>
                          <m:plcHide m:val="on"/>
                          <m:mcs>
                            <m:mc>
                              <m:mcPr>
                                <m:count m:val="2"/>
                                <m:mcJc m:val="center"/>
                              </m:mcPr>
                            </m:mc>
                          </m:mcs>
                          <m:ctrlPr>
                            <a:rPr lang="zh-CN" altLang="en-US" sz="2800" i="1">
                              <a:latin typeface="Cambria Math" panose="02040503050406030204" pitchFamily="18" charset="0"/>
                            </a:rPr>
                          </m:ctrlPr>
                        </m:mPr>
                        <m:mr>
                          <m:e/>
                          <m:e>
                            <m:r>
                              <a:rPr lang="zh-CN" altLang="en-US" sz="2800">
                                <a:latin typeface="Cambria Math" panose="02040503050406030204" pitchFamily="18" charset="0"/>
                              </a:rPr>
                              <m:t>𝑡</m:t>
                            </m:r>
                            <m:r>
                              <a:rPr lang="zh-CN" altLang="en-US" sz="2800">
                                <a:latin typeface="Cambria Math" panose="02040503050406030204" pitchFamily="18" charset="0"/>
                              </a:rPr>
                              <m:t>∈[0,1]</m:t>
                            </m:r>
                          </m:e>
                        </m:mr>
                      </m:m>
                    </m:oMath>
                  </m:oMathPara>
                </a14:m>
                <a:endParaRPr lang="en-US" altLang="zh-CN" sz="2800" dirty="0"/>
              </a:p>
              <a:p>
                <a:pPr>
                  <a:lnSpc>
                    <a:spcPct val="150000"/>
                  </a:lnSpc>
                </a:pPr>
                <a:r>
                  <a:rPr lang="zh-CN" altLang="en-US" sz="2800" dirty="0"/>
                  <a:t>       </a:t>
                </a:r>
                <a:r>
                  <a:rPr lang="en-US" altLang="zh-CN" sz="2800" dirty="0"/>
                  <a:t>=</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a:latin typeface="Cambria Math" panose="02040503050406030204" pitchFamily="18" charset="0"/>
                          </a:rPr>
                          <m:t>𝐶</m:t>
                        </m:r>
                      </m:e>
                      <m:sub>
                        <m:r>
                          <a:rPr lang="en-US" altLang="zh-CN" sz="2800">
                            <a:latin typeface="Cambria Math" panose="02040503050406030204" pitchFamily="18" charset="0"/>
                          </a:rPr>
                          <m:t>𝑛</m:t>
                        </m:r>
                      </m:sub>
                      <m:sup>
                        <m:r>
                          <a:rPr lang="en-US" altLang="zh-CN" sz="2800">
                            <a:latin typeface="Cambria Math" panose="02040503050406030204" pitchFamily="18" charset="0"/>
                          </a:rPr>
                          <m:t>0</m:t>
                        </m:r>
                      </m:sup>
                    </m:sSubSup>
                    <m:sSup>
                      <m:sSupPr>
                        <m:ctrlPr>
                          <a:rPr lang="en-US" altLang="zh-CN" sz="2800" i="1">
                            <a:latin typeface="Cambria Math" panose="02040503050406030204" pitchFamily="18" charset="0"/>
                          </a:rPr>
                        </m:ctrlPr>
                      </m:sSupPr>
                      <m:e>
                        <m:r>
                          <a:rPr lang="en-US" altLang="zh-CN" sz="2800">
                            <a:latin typeface="Cambria Math" panose="02040503050406030204" pitchFamily="18" charset="0"/>
                          </a:rPr>
                          <m:t>(1−</m:t>
                        </m:r>
                        <m:r>
                          <a:rPr lang="en-US" altLang="zh-CN" sz="2800">
                            <a:latin typeface="Cambria Math" panose="02040503050406030204" pitchFamily="18" charset="0"/>
                          </a:rPr>
                          <m:t>𝑡</m:t>
                        </m:r>
                        <m:r>
                          <a:rPr lang="en-US" altLang="zh-CN" sz="2800">
                            <a:latin typeface="Cambria Math" panose="02040503050406030204" pitchFamily="18" charset="0"/>
                          </a:rPr>
                          <m:t>)</m:t>
                        </m:r>
                      </m:e>
                      <m:sup>
                        <m:r>
                          <a:rPr lang="en-US" altLang="zh-CN" sz="2800">
                            <a:latin typeface="Cambria Math" panose="02040503050406030204" pitchFamily="18" charset="0"/>
                          </a:rPr>
                          <m:t>𝑛</m:t>
                        </m:r>
                      </m:sup>
                    </m:sSup>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0</m:t>
                        </m:r>
                      </m:sub>
                    </m:sSub>
                    <m:r>
                      <a:rPr lang="en-US" altLang="zh-CN" sz="2800">
                        <a:latin typeface="Cambria Math" panose="02040503050406030204" pitchFamily="18" charset="0"/>
                      </a:rPr>
                      <m:t>+</m:t>
                    </m:r>
                  </m:oMath>
                </a14:m>
                <a:r>
                  <a:rPr lang="en-US" altLang="zh-CN" sz="2800" dirty="0"/>
                  <a:t> </a:t>
                </a:r>
                <a14:m>
                  <m:oMath xmlns:m="http://schemas.openxmlformats.org/officeDocument/2006/math">
                    <m:sSubSup>
                      <m:sSubSupPr>
                        <m:ctrlPr>
                          <a:rPr lang="en-US" altLang="zh-CN" sz="2800" i="1">
                            <a:latin typeface="Cambria Math" panose="02040503050406030204" pitchFamily="18" charset="0"/>
                          </a:rPr>
                        </m:ctrlPr>
                      </m:sSubSupPr>
                      <m:e>
                        <m:r>
                          <a:rPr lang="en-US" altLang="zh-CN" sz="2800">
                            <a:latin typeface="Cambria Math" panose="02040503050406030204" pitchFamily="18" charset="0"/>
                          </a:rPr>
                          <m:t>𝐶</m:t>
                        </m:r>
                      </m:e>
                      <m:sub>
                        <m:r>
                          <a:rPr lang="en-US" altLang="zh-CN" sz="2800">
                            <a:latin typeface="Cambria Math" panose="02040503050406030204" pitchFamily="18" charset="0"/>
                          </a:rPr>
                          <m:t>𝑛</m:t>
                        </m:r>
                      </m:sub>
                      <m:sup>
                        <m:r>
                          <a:rPr lang="en-US" altLang="zh-CN" sz="2800">
                            <a:latin typeface="Cambria Math" panose="02040503050406030204" pitchFamily="18" charset="0"/>
                          </a:rPr>
                          <m:t>1</m:t>
                        </m:r>
                      </m:sup>
                    </m:sSubSup>
                    <m:sSup>
                      <m:sSupPr>
                        <m:ctrlPr>
                          <a:rPr lang="en-US" altLang="zh-CN" sz="2800" i="1">
                            <a:latin typeface="Cambria Math" panose="02040503050406030204" pitchFamily="18" charset="0"/>
                          </a:rPr>
                        </m:ctrlPr>
                      </m:sSupPr>
                      <m:e>
                        <m:r>
                          <a:rPr lang="en-US" altLang="zh-CN" sz="2800">
                            <a:latin typeface="Cambria Math" panose="02040503050406030204" pitchFamily="18" charset="0"/>
                          </a:rPr>
                          <m:t>(1−</m:t>
                        </m:r>
                        <m:r>
                          <a:rPr lang="en-US" altLang="zh-CN" sz="2800">
                            <a:latin typeface="Cambria Math" panose="02040503050406030204" pitchFamily="18" charset="0"/>
                          </a:rPr>
                          <m:t>𝑡</m:t>
                        </m:r>
                        <m:r>
                          <a:rPr lang="en-US" altLang="zh-CN" sz="2800">
                            <a:latin typeface="Cambria Math" panose="02040503050406030204" pitchFamily="18" charset="0"/>
                          </a:rPr>
                          <m:t>)</m:t>
                        </m:r>
                      </m:e>
                      <m:sup>
                        <m:r>
                          <a:rPr lang="en-US" altLang="zh-CN" sz="2800">
                            <a:latin typeface="Cambria Math" panose="02040503050406030204" pitchFamily="18" charset="0"/>
                          </a:rPr>
                          <m:t>𝑛</m:t>
                        </m:r>
                        <m:r>
                          <a:rPr lang="en-US" altLang="zh-CN" sz="2800">
                            <a:latin typeface="Cambria Math" panose="02040503050406030204" pitchFamily="18" charset="0"/>
                          </a:rPr>
                          <m:t>−1</m:t>
                        </m:r>
                      </m:sup>
                    </m:sSup>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𝑡𝑃</m:t>
                        </m:r>
                      </m:e>
                      <m:sub>
                        <m:r>
                          <a:rPr lang="en-US" altLang="zh-CN" sz="2800">
                            <a:latin typeface="Cambria Math" panose="02040503050406030204" pitchFamily="18" charset="0"/>
                          </a:rPr>
                          <m:t>1</m:t>
                        </m:r>
                      </m:sub>
                    </m:sSub>
                    <m:r>
                      <a:rPr lang="en-US" altLang="zh-CN" sz="2800">
                        <a:latin typeface="Cambria Math" panose="02040503050406030204" pitchFamily="18" charset="0"/>
                      </a:rPr>
                      <m:t>+…+</m:t>
                    </m:r>
                    <m:sSubSup>
                      <m:sSubSupPr>
                        <m:ctrlPr>
                          <a:rPr lang="en-US" altLang="zh-CN" sz="2800" i="1">
                            <a:latin typeface="Cambria Math" panose="02040503050406030204" pitchFamily="18" charset="0"/>
                          </a:rPr>
                        </m:ctrlPr>
                      </m:sSubSupPr>
                      <m:e>
                        <m:r>
                          <a:rPr lang="en-US" altLang="zh-CN" sz="2800">
                            <a:latin typeface="Cambria Math" panose="02040503050406030204" pitchFamily="18" charset="0"/>
                          </a:rPr>
                          <m:t>𝐶</m:t>
                        </m:r>
                      </m:e>
                      <m:sub>
                        <m:r>
                          <a:rPr lang="en-US" altLang="zh-CN" sz="2800">
                            <a:latin typeface="Cambria Math" panose="02040503050406030204" pitchFamily="18" charset="0"/>
                          </a:rPr>
                          <m:t>𝑛</m:t>
                        </m:r>
                      </m:sub>
                      <m:sup>
                        <m:r>
                          <a:rPr lang="en-US" altLang="zh-CN" sz="2800">
                            <a:latin typeface="Cambria Math" panose="02040503050406030204" pitchFamily="18" charset="0"/>
                          </a:rPr>
                          <m:t>𝑛</m:t>
                        </m:r>
                      </m:sup>
                    </m:sSubSup>
                    <m:sSup>
                      <m:sSupPr>
                        <m:ctrlPr>
                          <a:rPr lang="en-US" altLang="zh-CN" sz="2800" i="1">
                            <a:latin typeface="Cambria Math" panose="02040503050406030204" pitchFamily="18" charset="0"/>
                          </a:rPr>
                        </m:ctrlPr>
                      </m:sSupPr>
                      <m:e>
                        <m:r>
                          <a:rPr lang="en-US" altLang="zh-CN" sz="2800">
                            <a:latin typeface="Cambria Math" panose="02040503050406030204" pitchFamily="18" charset="0"/>
                          </a:rPr>
                          <m:t>𝑡</m:t>
                        </m:r>
                      </m:e>
                      <m:sup>
                        <m:r>
                          <a:rPr lang="en-US" altLang="zh-CN" sz="2800">
                            <a:latin typeface="Cambria Math" panose="02040503050406030204" pitchFamily="18" charset="0"/>
                          </a:rPr>
                          <m:t>𝑛</m:t>
                        </m:r>
                      </m:sup>
                    </m:sSup>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𝑛</m:t>
                        </m:r>
                      </m:sub>
                    </m:sSub>
                  </m:oMath>
                </a14:m>
                <a:endParaRPr lang="en-US" altLang="zh-CN" sz="2800" dirty="0"/>
              </a:p>
              <a:p>
                <a:pPr>
                  <a:lnSpc>
                    <a:spcPct val="150000"/>
                  </a:lnSpc>
                </a:pPr>
                <a:r>
                  <a:rPr lang="zh-CN" altLang="en-US" sz="2800" dirty="0"/>
                  <a:t>       </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0</m:t>
                        </m:r>
                      </m:sub>
                    </m:sSub>
                  </m:oMath>
                </a14:m>
                <a:r>
                  <a:rPr lang="en-US" altLang="zh-CN" sz="2800" dirty="0"/>
                  <a:t>(1-t)+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1</m:t>
                        </m:r>
                      </m:sub>
                    </m:sSub>
                  </m:oMath>
                </a14:m>
                <a:r>
                  <a:rPr lang="en-US" altLang="zh-CN" sz="2800" dirty="0"/>
                  <a:t>t)(1-t)+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1</m:t>
                        </m:r>
                      </m:sub>
                    </m:sSub>
                  </m:oMath>
                </a14:m>
                <a:r>
                  <a:rPr lang="en-US" altLang="zh-CN" sz="2800" dirty="0"/>
                  <a:t>(1-t)+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2</m:t>
                        </m:r>
                      </m:sub>
                    </m:sSub>
                  </m:oMath>
                </a14:m>
                <a:r>
                  <a:rPr lang="en-US" altLang="zh-CN" sz="2800" dirty="0"/>
                  <a:t>t)t)(1-t)+…+(</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𝑛</m:t>
                        </m:r>
                        <m:r>
                          <a:rPr lang="en-US" altLang="zh-CN" sz="2800">
                            <a:latin typeface="Cambria Math" panose="02040503050406030204" pitchFamily="18" charset="0"/>
                          </a:rPr>
                          <m:t>−1</m:t>
                        </m:r>
                      </m:sub>
                    </m:sSub>
                  </m:oMath>
                </a14:m>
                <a:r>
                  <a:rPr lang="en-US" altLang="zh-CN" sz="2800" dirty="0"/>
                  <a:t>(1-t)+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𝑛</m:t>
                        </m:r>
                      </m:sub>
                    </m:sSub>
                  </m:oMath>
                </a14:m>
                <a:r>
                  <a:rPr lang="en-US" altLang="zh-CN" sz="2800" dirty="0"/>
                  <a:t>t)t</a:t>
                </a:r>
              </a:p>
              <a:p>
                <a:pPr>
                  <a:lnSpc>
                    <a:spcPct val="150000"/>
                  </a:lnSpc>
                </a:pPr>
                <a:r>
                  <a:rPr lang="en-US" altLang="zh-CN" sz="2800" dirty="0"/>
                  <a:t>     </a:t>
                </a:r>
                <a:r>
                  <a:rPr lang="zh-CN" altLang="en-US" sz="2600" dirty="0">
                    <a:latin typeface="华光仿宋_CNKI" panose="02000500000000000000" pitchFamily="2" charset="-122"/>
                    <a:ea typeface="华光仿宋_CNKI" panose="02000500000000000000" pitchFamily="2" charset="-122"/>
                  </a:rPr>
                  <a:t>从上面的表达式可以看出可以通过递归求解出</a:t>
                </a:r>
                <a:r>
                  <a:rPr lang="en-US" altLang="zh-CN" sz="2600" dirty="0">
                    <a:latin typeface="华光仿宋_CNKI" panose="02000500000000000000" pitchFamily="2" charset="-122"/>
                    <a:ea typeface="华光仿宋_CNKI" panose="02000500000000000000" pitchFamily="2" charset="-122"/>
                  </a:rPr>
                  <a:t>P(t):</a:t>
                </a:r>
              </a:p>
              <a:p>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600" i="1" smtClean="0">
                            <a:latin typeface="Cambria Math" panose="02040503050406030204" pitchFamily="18" charset="0"/>
                            <a:ea typeface="华光仿宋_CNKI" panose="02000500000000000000" pitchFamily="2" charset="-122"/>
                          </a:rPr>
                        </m:ctrlPr>
                      </m:sSubSup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𝑘</m:t>
                        </m:r>
                      </m:sub>
                      <m:sup>
                        <m:r>
                          <a:rPr lang="en-US" altLang="zh-CN" sz="2600" b="0" i="1" smtClean="0">
                            <a:latin typeface="Cambria Math" panose="02040503050406030204" pitchFamily="18" charset="0"/>
                            <a:ea typeface="华光仿宋_CNKI" panose="02000500000000000000" pitchFamily="2" charset="-122"/>
                          </a:rPr>
                          <m:t>𝑟</m:t>
                        </m:r>
                      </m:sup>
                    </m:sSubSup>
                    <m:r>
                      <a:rPr lang="en-US" altLang="zh-CN" sz="2600" b="0" i="1" smtClean="0">
                        <a:latin typeface="Cambria Math" panose="02040503050406030204" pitchFamily="18" charset="0"/>
                        <a:ea typeface="华光仿宋_CNKI" panose="02000500000000000000" pitchFamily="2" charset="-122"/>
                      </a:rPr>
                      <m:t>=</m:t>
                    </m:r>
                    <m:d>
                      <m:dPr>
                        <m:begChr m:val="⟨"/>
                        <m:endChr m:val=""/>
                        <m:ctrlPr>
                          <a:rPr lang="en-US" altLang="zh-CN" sz="2600" b="0" i="1" smtClean="0">
                            <a:latin typeface="Cambria Math" panose="02040503050406030204" pitchFamily="18" charset="0"/>
                            <a:ea typeface="华光仿宋_CNKI" panose="02000500000000000000" pitchFamily="2" charset="-122"/>
                          </a:rPr>
                        </m:ctrlPr>
                      </m:dPr>
                      <m:e>
                        <m:m>
                          <m:mPr>
                            <m:mcs>
                              <m:mc>
                                <m:mcPr>
                                  <m:count m:val="1"/>
                                  <m:mcJc m:val="center"/>
                                </m:mcPr>
                              </m:mc>
                            </m:mcs>
                            <m:ctrlPr>
                              <a:rPr lang="en-US" altLang="zh-CN" sz="2600" b="0" i="1" smtClean="0">
                                <a:latin typeface="Cambria Math" panose="02040503050406030204" pitchFamily="18" charset="0"/>
                                <a:ea typeface="华光仿宋_CNKI" panose="02000500000000000000" pitchFamily="2" charset="-122"/>
                              </a:rPr>
                            </m:ctrlPr>
                          </m:mPr>
                          <m:mr>
                            <m:e>
                              <m:sSub>
                                <m:sSubPr>
                                  <m:ctrlPr>
                                    <a:rPr lang="en-US" altLang="zh-CN" sz="2600" b="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𝑘</m:t>
                                  </m:r>
                                  <m:r>
                                    <a:rPr lang="en-US" altLang="zh-CN" sz="2600" b="0" i="1" smtClean="0">
                                      <a:latin typeface="Cambria Math" panose="02040503050406030204" pitchFamily="18" charset="0"/>
                                      <a:ea typeface="华光仿宋_CNKI" panose="02000500000000000000" pitchFamily="2" charset="-122"/>
                                    </a:rPr>
                                    <m:t>                                                                              </m:t>
                                  </m:r>
                                  <m:r>
                                    <a:rPr lang="en-US" altLang="zh-CN" sz="2600" b="0" i="1" smtClean="0">
                                      <a:latin typeface="Cambria Math" panose="02040503050406030204" pitchFamily="18" charset="0"/>
                                      <a:ea typeface="华光仿宋_CNKI" panose="02000500000000000000" pitchFamily="2" charset="-122"/>
                                    </a:rPr>
                                    <m:t>𝑟</m:t>
                                  </m:r>
                                  <m:r>
                                    <a:rPr lang="en-US" altLang="zh-CN" sz="2600" b="0" i="1" smtClean="0">
                                      <a:latin typeface="Cambria Math" panose="02040503050406030204" pitchFamily="18" charset="0"/>
                                      <a:ea typeface="华光仿宋_CNKI" panose="02000500000000000000" pitchFamily="2" charset="-122"/>
                                    </a:rPr>
                                    <m:t>=0</m:t>
                                  </m:r>
                                </m:sub>
                              </m:sSub>
                            </m:e>
                          </m:mr>
                          <m:mr>
                            <m:e>
                              <m:d>
                                <m:dPr>
                                  <m:ctrlPr>
                                    <a:rPr lang="en-US" altLang="zh-CN" sz="2600" b="0" i="1" smtClean="0">
                                      <a:latin typeface="Cambria Math" panose="02040503050406030204" pitchFamily="18" charset="0"/>
                                      <a:ea typeface="华光仿宋_CNKI" panose="02000500000000000000" pitchFamily="2" charset="-122"/>
                                    </a:rPr>
                                  </m:ctrlPr>
                                </m:dPr>
                                <m:e>
                                  <m:r>
                                    <a:rPr lang="en-US" altLang="zh-CN" sz="2600" b="0" i="1" smtClean="0">
                                      <a:latin typeface="Cambria Math" panose="02040503050406030204" pitchFamily="18" charset="0"/>
                                      <a:ea typeface="华光仿宋_CNKI" panose="02000500000000000000" pitchFamily="2" charset="-122"/>
                                    </a:rPr>
                                    <m:t>1−</m:t>
                                  </m:r>
                                  <m:r>
                                    <a:rPr lang="en-US" altLang="zh-CN" sz="2600" b="0" i="1" smtClean="0">
                                      <a:latin typeface="Cambria Math" panose="02040503050406030204" pitchFamily="18" charset="0"/>
                                      <a:ea typeface="华光仿宋_CNKI" panose="02000500000000000000" pitchFamily="2" charset="-122"/>
                                    </a:rPr>
                                    <m:t>𝑡</m:t>
                                  </m:r>
                                </m:e>
                              </m:d>
                              <m:sSubSup>
                                <m:sSubSupPr>
                                  <m:ctrlPr>
                                    <a:rPr lang="en-US" altLang="zh-CN" sz="2600" b="0" i="1" smtClean="0">
                                      <a:latin typeface="Cambria Math" panose="02040503050406030204" pitchFamily="18" charset="0"/>
                                      <a:ea typeface="华光仿宋_CNKI" panose="02000500000000000000" pitchFamily="2" charset="-122"/>
                                    </a:rPr>
                                  </m:ctrlPr>
                                </m:sSubSup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𝑘</m:t>
                                  </m:r>
                                </m:sub>
                                <m:sup>
                                  <m:r>
                                    <a:rPr lang="en-US" altLang="zh-CN" sz="2600" b="0" i="1" smtClean="0">
                                      <a:latin typeface="Cambria Math" panose="02040503050406030204" pitchFamily="18" charset="0"/>
                                      <a:ea typeface="华光仿宋_CNKI" panose="02000500000000000000" pitchFamily="2" charset="-122"/>
                                    </a:rPr>
                                    <m:t>𝑟</m:t>
                                  </m:r>
                                  <m:r>
                                    <a:rPr lang="en-US" altLang="zh-CN" sz="2600" b="0" i="1" smtClean="0">
                                      <a:latin typeface="Cambria Math" panose="02040503050406030204" pitchFamily="18" charset="0"/>
                                      <a:ea typeface="华光仿宋_CNKI" panose="02000500000000000000" pitchFamily="2" charset="-122"/>
                                    </a:rPr>
                                    <m:t>−1</m:t>
                                  </m:r>
                                </m:sup>
                              </m:sSubSup>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𝑡</m:t>
                              </m:r>
                              <m:sSubSup>
                                <m:sSubSupPr>
                                  <m:ctrlPr>
                                    <a:rPr lang="en-US" altLang="zh-CN" sz="2600" i="1">
                                      <a:latin typeface="Cambria Math" panose="02040503050406030204" pitchFamily="18" charset="0"/>
                                      <a:ea typeface="华光仿宋_CNKI" panose="02000500000000000000" pitchFamily="2" charset="-122"/>
                                    </a:rPr>
                                  </m:ctrlPr>
                                </m:sSubSupPr>
                                <m:e>
                                  <m:r>
                                    <a:rPr lang="en-US" altLang="zh-CN" sz="2600" i="1">
                                      <a:latin typeface="Cambria Math" panose="02040503050406030204" pitchFamily="18" charset="0"/>
                                      <a:ea typeface="华光仿宋_CNKI" panose="02000500000000000000" pitchFamily="2" charset="-122"/>
                                    </a:rPr>
                                    <m:t>𝑃</m:t>
                                  </m:r>
                                </m:e>
                                <m:sub>
                                  <m:r>
                                    <a:rPr lang="en-US" altLang="zh-CN" sz="2600" i="1">
                                      <a:latin typeface="Cambria Math" panose="02040503050406030204" pitchFamily="18" charset="0"/>
                                      <a:ea typeface="华光仿宋_CNKI" panose="02000500000000000000" pitchFamily="2" charset="-122"/>
                                    </a:rPr>
                                    <m:t>𝑘</m:t>
                                  </m:r>
                                  <m:r>
                                    <a:rPr lang="en-US" altLang="zh-CN" sz="2600" b="0" i="1" smtClean="0">
                                      <a:latin typeface="Cambria Math" panose="02040503050406030204" pitchFamily="18" charset="0"/>
                                      <a:ea typeface="华光仿宋_CNKI" panose="02000500000000000000" pitchFamily="2" charset="-122"/>
                                    </a:rPr>
                                    <m:t>+1                    </m:t>
                                  </m:r>
                                  <m:r>
                                    <a:rPr lang="en-US" altLang="zh-CN" sz="2600" b="0" i="1" smtClean="0">
                                      <a:latin typeface="Cambria Math" panose="02040503050406030204" pitchFamily="18" charset="0"/>
                                      <a:ea typeface="华光仿宋_CNKI" panose="02000500000000000000" pitchFamily="2" charset="-122"/>
                                    </a:rPr>
                                    <m:t>𝑟</m:t>
                                  </m:r>
                                  <m:r>
                                    <a:rPr lang="en-US" altLang="zh-CN" sz="2600" b="0" i="1" smtClean="0">
                                      <a:latin typeface="Cambria Math" panose="02040503050406030204" pitchFamily="18" charset="0"/>
                                      <a:ea typeface="华光仿宋_CNKI" panose="02000500000000000000" pitchFamily="2" charset="-122"/>
                                    </a:rPr>
                                    <m:t>=1,2,…</m:t>
                                  </m:r>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𝑘</m:t>
                                  </m:r>
                                  <m:r>
                                    <a:rPr lang="en-US" altLang="zh-CN" sz="2600" b="0" i="1" smtClean="0">
                                      <a:latin typeface="Cambria Math" panose="02040503050406030204" pitchFamily="18" charset="0"/>
                                      <a:ea typeface="华光仿宋_CNKI" panose="02000500000000000000" pitchFamily="2" charset="-122"/>
                                    </a:rPr>
                                    <m:t>=0,1,….,</m:t>
                                  </m:r>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𝑟</m:t>
                                  </m:r>
                                </m:sub>
                                <m:sup>
                                  <m:r>
                                    <a:rPr lang="en-US" altLang="zh-CN" sz="2600" i="1">
                                      <a:latin typeface="Cambria Math" panose="02040503050406030204" pitchFamily="18" charset="0"/>
                                      <a:ea typeface="华光仿宋_CNKI" panose="02000500000000000000" pitchFamily="2" charset="-122"/>
                                    </a:rPr>
                                    <m:t>𝑟</m:t>
                                  </m:r>
                                  <m:r>
                                    <a:rPr lang="en-US" altLang="zh-CN" sz="2600" i="1">
                                      <a:latin typeface="Cambria Math" panose="02040503050406030204" pitchFamily="18" charset="0"/>
                                      <a:ea typeface="华光仿宋_CNKI" panose="02000500000000000000" pitchFamily="2" charset="-122"/>
                                    </a:rPr>
                                    <m:t>−1</m:t>
                                  </m:r>
                                </m:sup>
                              </m:sSubSup>
                            </m:e>
                          </m:mr>
                        </m:m>
                      </m:e>
                    </m:d>
                  </m:oMath>
                </a14:m>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a:lnSpc>
                    <a:spcPct val="150000"/>
                  </a:lnSpc>
                </a:pPr>
                <a:r>
                  <a:rPr lang="zh-CN" altLang="en-US" sz="2600" dirty="0">
                    <a:latin typeface="华光仿宋_CNKI" panose="02000500000000000000" pitchFamily="2" charset="-122"/>
                    <a:ea typeface="华光仿宋_CNKI" panose="02000500000000000000" pitchFamily="2" charset="-122"/>
                  </a:rPr>
                  <a:t>    因此可以采用上面的方法对其进行递归计算求出曲线上的点。</a:t>
                </a:r>
              </a:p>
            </p:txBody>
          </p:sp>
        </mc:Choice>
        <mc:Fallback xmlns="">
          <p:sp>
            <p:nvSpPr>
              <p:cNvPr id="2" name="Object 4">
                <a:extLst>
                  <a:ext uri="{FF2B5EF4-FFF2-40B4-BE49-F238E27FC236}">
                    <a16:creationId xmlns:a16="http://schemas.microsoft.com/office/drawing/2014/main" id="{E055DC07-A49D-65E0-A517-29FEB39C4761}"/>
                  </a:ext>
                </a:extLst>
              </p:cNvPr>
              <p:cNvSpPr txBox="1">
                <a:spLocks noRot="1" noChangeAspect="1" noMove="1" noResize="1" noEditPoints="1" noAdjustHandles="1" noChangeArrowheads="1" noChangeShapeType="1" noTextEdit="1"/>
              </p:cNvSpPr>
              <p:nvPr/>
            </p:nvSpPr>
            <p:spPr bwMode="auto">
              <a:xfrm>
                <a:off x="909825" y="722382"/>
                <a:ext cx="10626976" cy="5320609"/>
              </a:xfrm>
              <a:prstGeom prst="rect">
                <a:avLst/>
              </a:prstGeom>
              <a:blipFill>
                <a:blip r:embed="rId3"/>
                <a:stretch>
                  <a:fillRect l="-1032" b="-2982"/>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9111055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784146" y="462404"/>
                <a:ext cx="10578267" cy="59331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已知曲线上的点求控制点</a:t>
                </a:r>
                <a:r>
                  <a:rPr lang="en-US" altLang="zh-CN" sz="2600" b="1" dirty="0">
                    <a:latin typeface="华光标题宋_CNKI" panose="02000500000000000000" pitchFamily="2" charset="-122"/>
                    <a:ea typeface="华光标题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由</a:t>
                </a:r>
                <a:r>
                  <a:rPr lang="en-US" altLang="zh-CN" sz="2600" dirty="0">
                    <a:latin typeface="华光仿宋_CNKI" panose="02000500000000000000" pitchFamily="2" charset="-122"/>
                    <a:ea typeface="华光仿宋_CNKI" panose="02000500000000000000" pitchFamily="2" charset="-122"/>
                  </a:rPr>
                  <a:t>P(t)</a:t>
                </a:r>
                <a:r>
                  <a:rPr lang="zh-CN" altLang="en-US" sz="2600" dirty="0">
                    <a:latin typeface="华光仿宋_CNKI" panose="02000500000000000000" pitchFamily="2" charset="-122"/>
                    <a:ea typeface="华光仿宋_CNKI" panose="02000500000000000000" pitchFamily="2" charset="-122"/>
                  </a:rPr>
                  <a:t>的方程可以看出，如果在已知曲线上的</a:t>
                </a:r>
                <a:r>
                  <a:rPr lang="en-US" altLang="zh-CN" sz="2600" dirty="0">
                    <a:latin typeface="华光仿宋_CNKI" panose="02000500000000000000" pitchFamily="2" charset="-122"/>
                    <a:ea typeface="华光仿宋_CNKI" panose="02000500000000000000" pitchFamily="2" charset="-122"/>
                  </a:rPr>
                  <a:t>n+1</a:t>
                </a:r>
                <a:r>
                  <a:rPr lang="zh-CN" altLang="en-US" sz="2600" dirty="0">
                    <a:latin typeface="华光仿宋_CNKI" panose="02000500000000000000" pitchFamily="2" charset="-122"/>
                    <a:ea typeface="华光仿宋_CNKI" panose="02000500000000000000" pitchFamily="2" charset="-122"/>
                  </a:rPr>
                  <a:t>个点的情况下，可以通过方程计算出对应的</a:t>
                </a:r>
                <a14:m>
                  <m:oMath xmlns:m="http://schemas.openxmlformats.org/officeDocument/2006/math">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𝑘</m:t>
                        </m:r>
                      </m:sub>
                    </m:sSub>
                    <m:r>
                      <a:rPr lang="zh-CN" altLang="en-US" sz="2600" i="1">
                        <a:latin typeface="Cambria Math" panose="02040503050406030204" pitchFamily="18" charset="0"/>
                        <a:ea typeface="华光仿宋_CNKI" panose="02000500000000000000" pitchFamily="2" charset="-122"/>
                      </a:rPr>
                      <m:t>。</m:t>
                    </m:r>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设</a:t>
                </a:r>
                <a:r>
                  <a:rPr lang="en-US" altLang="zh-CN" sz="2600" dirty="0">
                    <a:latin typeface="华光仿宋_CNKI" panose="02000500000000000000" pitchFamily="2" charset="-122"/>
                    <a:ea typeface="华光仿宋_CNKI" panose="02000500000000000000" pitchFamily="2" charset="-122"/>
                  </a:rPr>
                  <a:t>t=k/n</a:t>
                </a:r>
                <a:r>
                  <a:rPr lang="zh-CN" altLang="en-US" sz="2600" dirty="0">
                    <a:latin typeface="华光仿宋_CNKI" panose="02000500000000000000" pitchFamily="2" charset="-122"/>
                    <a:ea typeface="华光仿宋_CNKI" panose="02000500000000000000" pitchFamily="2" charset="-122"/>
                  </a:rPr>
                  <a:t>，则有：</a:t>
                </a:r>
                <a:endParaRPr lang="en-US" altLang="zh-CN" sz="2600" dirty="0">
                  <a:latin typeface="华光仿宋_CNKI" panose="02000500000000000000" pitchFamily="2" charset="-122"/>
                  <a:ea typeface="华光仿宋_CNKI" panose="02000500000000000000" pitchFamily="2" charset="-122"/>
                </a:endParaRPr>
              </a:p>
              <a:p>
                <a:pPr algn="l">
                  <a:lnSpc>
                    <a:spcPct val="11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d>
                      <m:dPr>
                        <m:begChr m:val="{"/>
                        <m:endChr m:val=""/>
                        <m:ctrlPr>
                          <a:rPr lang="en-US" altLang="zh-CN" sz="2600" i="1" smtClean="0">
                            <a:latin typeface="Cambria Math" panose="02040503050406030204" pitchFamily="18" charset="0"/>
                            <a:ea typeface="华光仿宋_CNKI" panose="02000500000000000000" pitchFamily="2" charset="-122"/>
                          </a:rPr>
                        </m:ctrlPr>
                      </m:dPr>
                      <m:e>
                        <m:eqArr>
                          <m:eqArrPr>
                            <m:ctrlPr>
                              <a:rPr lang="en-US" altLang="zh-CN" sz="2600" i="1" smtClean="0">
                                <a:latin typeface="Cambria Math" panose="02040503050406030204" pitchFamily="18" charset="0"/>
                                <a:ea typeface="华光仿宋_CNKI" panose="02000500000000000000" pitchFamily="2" charset="-122"/>
                              </a:rPr>
                            </m:ctrlPr>
                          </m:eqArrPr>
                          <m:e>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𝑄</m:t>
                                </m:r>
                              </m:e>
                              <m:sub>
                                <m:r>
                                  <a:rPr lang="en-US" altLang="zh-CN" sz="2600" b="0" i="1" smtClean="0">
                                    <a:latin typeface="Cambria Math" panose="02040503050406030204" pitchFamily="18" charset="0"/>
                                    <a:ea typeface="华光仿宋_CNKI" panose="02000500000000000000" pitchFamily="2" charset="-122"/>
                                  </a:rPr>
                                  <m:t>0</m:t>
                                </m:r>
                              </m:sub>
                            </m:sSub>
                            <m:r>
                              <a:rPr lang="en-US" altLang="zh-CN" sz="2600" b="0" i="1" smtClean="0">
                                <a:latin typeface="Cambria Math" panose="02040503050406030204" pitchFamily="18" charset="0"/>
                                <a:ea typeface="华光仿宋_CNKI" panose="02000500000000000000" pitchFamily="2" charset="-122"/>
                              </a:rPr>
                              <m:t>=</m:t>
                            </m:r>
                            <m:sSub>
                              <m:sSubPr>
                                <m:ctrlPr>
                                  <a:rPr lang="en-US" altLang="zh-CN"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𝑃</m:t>
                                </m:r>
                              </m:e>
                              <m:sub>
                                <m:r>
                                  <a:rPr lang="en-US" altLang="zh-CN" sz="2600" i="1">
                                    <a:latin typeface="Cambria Math" panose="02040503050406030204" pitchFamily="18" charset="0"/>
                                    <a:ea typeface="华光仿宋_CNKI" panose="02000500000000000000" pitchFamily="2" charset="-122"/>
                                  </a:rPr>
                                  <m:t>0</m:t>
                                </m:r>
                              </m:sub>
                            </m:sSub>
                            <m:r>
                              <a:rPr lang="en-US" altLang="zh-CN" sz="2600" b="0" i="1" smtClean="0">
                                <a:latin typeface="Cambria Math" panose="02040503050406030204" pitchFamily="18" charset="0"/>
                                <a:ea typeface="华光仿宋_CNKI" panose="02000500000000000000" pitchFamily="2" charset="-122"/>
                              </a:rPr>
                              <m:t>                                                                                                      </m:t>
                            </m:r>
                          </m:e>
                          <m:e>
                            <m:r>
                              <a:rPr lang="en-US" altLang="zh-CN" sz="2600" b="0" i="1" smtClean="0">
                                <a:latin typeface="Cambria Math" panose="02040503050406030204" pitchFamily="18" charset="0"/>
                                <a:ea typeface="华光仿宋_CNKI" panose="02000500000000000000" pitchFamily="2" charset="-122"/>
                              </a:rPr>
                              <m:t>:                                                                                                          </m:t>
                            </m:r>
                          </m:e>
                          <m:e>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𝑄</m:t>
                                </m:r>
                              </m:e>
                              <m:sub>
                                <m:r>
                                  <a:rPr lang="en-US" altLang="zh-CN" sz="2600" b="0" i="1" smtClean="0">
                                    <a:latin typeface="Cambria Math" panose="02040503050406030204" pitchFamily="18" charset="0"/>
                                    <a:ea typeface="华光仿宋_CNKI" panose="02000500000000000000" pitchFamily="2" charset="-122"/>
                                  </a:rPr>
                                  <m:t>𝑘</m:t>
                                </m:r>
                              </m:sub>
                            </m:sSub>
                            <m:r>
                              <a:rPr lang="en-US" altLang="zh-CN" sz="2600" i="1">
                                <a:latin typeface="Cambria Math" panose="02040503050406030204" pitchFamily="18" charset="0"/>
                                <a:ea typeface="华光仿宋_CNKI" panose="02000500000000000000" pitchFamily="2" charset="-122"/>
                              </a:rPr>
                              <m:t>=</m:t>
                            </m:r>
                            <m:sSubSup>
                              <m:sSubSupPr>
                                <m:ctrlPr>
                                  <a:rPr lang="en-US" altLang="zh-CN" sz="2600" i="1" smtClean="0">
                                    <a:latin typeface="Cambria Math" panose="02040503050406030204" pitchFamily="18" charset="0"/>
                                    <a:ea typeface="华光仿宋_CNKI" panose="02000500000000000000" pitchFamily="2" charset="-122"/>
                                  </a:rPr>
                                </m:ctrlPr>
                              </m:sSubSupPr>
                              <m:e>
                                <m:r>
                                  <a:rPr lang="en-US" altLang="zh-CN" sz="2600" b="0" i="1" smtClean="0">
                                    <a:latin typeface="Cambria Math" panose="02040503050406030204" pitchFamily="18" charset="0"/>
                                    <a:ea typeface="华光仿宋_CNKI" panose="02000500000000000000" pitchFamily="2" charset="-122"/>
                                  </a:rPr>
                                  <m:t>𝐶</m:t>
                                </m:r>
                              </m:e>
                              <m:sub>
                                <m:r>
                                  <a:rPr lang="en-US" altLang="zh-CN" sz="2600" b="0" i="1" smtClean="0">
                                    <a:latin typeface="Cambria Math" panose="02040503050406030204" pitchFamily="18" charset="0"/>
                                    <a:ea typeface="华光仿宋_CNKI" panose="02000500000000000000" pitchFamily="2" charset="-122"/>
                                  </a:rPr>
                                  <m:t>𝑛</m:t>
                                </m:r>
                              </m:sub>
                              <m:sup>
                                <m:r>
                                  <a:rPr lang="en-US" altLang="zh-CN" sz="2600" b="0" i="1" smtClean="0">
                                    <a:latin typeface="Cambria Math" panose="02040503050406030204" pitchFamily="18" charset="0"/>
                                    <a:ea typeface="华光仿宋_CNKI" panose="02000500000000000000" pitchFamily="2" charset="-122"/>
                                  </a:rPr>
                                  <m:t>0</m:t>
                                </m:r>
                              </m:sup>
                            </m:sSubSup>
                            <m:sSup>
                              <m:sSupPr>
                                <m:ctrlPr>
                                  <a:rPr lang="en-US" altLang="zh-CN" sz="2600" i="1" smtClean="0">
                                    <a:latin typeface="Cambria Math" panose="02040503050406030204" pitchFamily="18" charset="0"/>
                                    <a:ea typeface="华光仿宋_CNKI" panose="02000500000000000000" pitchFamily="2" charset="-122"/>
                                  </a:rPr>
                                </m:ctrlPr>
                              </m:sSupPr>
                              <m:e>
                                <m:d>
                                  <m:dPr>
                                    <m:ctrlPr>
                                      <a:rPr lang="en-US" altLang="zh-CN" sz="2600" i="1">
                                        <a:latin typeface="Cambria Math" panose="02040503050406030204" pitchFamily="18" charset="0"/>
                                        <a:ea typeface="华光仿宋_CNKI" panose="02000500000000000000" pitchFamily="2" charset="-122"/>
                                      </a:rPr>
                                    </m:ctrlPr>
                                  </m:dPr>
                                  <m:e>
                                    <m:r>
                                      <a:rPr lang="en-US" altLang="zh-CN" sz="2600" i="1">
                                        <a:latin typeface="Cambria Math" panose="02040503050406030204" pitchFamily="18" charset="0"/>
                                        <a:ea typeface="华光仿宋_CNKI" panose="02000500000000000000" pitchFamily="2" charset="-122"/>
                                      </a:rPr>
                                      <m:t>1−</m:t>
                                    </m:r>
                                    <m:f>
                                      <m:fPr>
                                        <m:ctrlPr>
                                          <a:rPr lang="en-US" altLang="zh-CN" sz="2600" i="1">
                                            <a:latin typeface="Cambria Math" panose="02040503050406030204" pitchFamily="18" charset="0"/>
                                            <a:ea typeface="华光仿宋_CNKI" panose="02000500000000000000" pitchFamily="2" charset="-122"/>
                                          </a:rPr>
                                        </m:ctrlPr>
                                      </m:fPr>
                                      <m:num>
                                        <m:r>
                                          <a:rPr lang="en-US" altLang="zh-CN" sz="2600" i="1">
                                            <a:latin typeface="Cambria Math" panose="02040503050406030204" pitchFamily="18" charset="0"/>
                                            <a:ea typeface="华光仿宋_CNKI" panose="02000500000000000000" pitchFamily="2" charset="-122"/>
                                          </a:rPr>
                                          <m:t>𝑘</m:t>
                                        </m:r>
                                      </m:num>
                                      <m:den>
                                        <m:r>
                                          <a:rPr lang="en-US" altLang="zh-CN" sz="2600" i="1">
                                            <a:latin typeface="Cambria Math" panose="02040503050406030204" pitchFamily="18" charset="0"/>
                                            <a:ea typeface="华光仿宋_CNKI" panose="02000500000000000000" pitchFamily="2" charset="-122"/>
                                          </a:rPr>
                                          <m:t>𝑛</m:t>
                                        </m:r>
                                      </m:den>
                                    </m:f>
                                  </m:e>
                                </m:d>
                              </m:e>
                              <m:sup>
                                <m:r>
                                  <a:rPr lang="en-US" altLang="zh-CN" sz="2600" b="0" i="1" smtClean="0">
                                    <a:latin typeface="Cambria Math" panose="02040503050406030204" pitchFamily="18" charset="0"/>
                                    <a:ea typeface="华光仿宋_CNKI" panose="02000500000000000000" pitchFamily="2" charset="-122"/>
                                  </a:rPr>
                                  <m:t>𝑛</m:t>
                                </m:r>
                              </m:sup>
                            </m:sSup>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𝑃</m:t>
                                </m:r>
                              </m:e>
                              <m:sub>
                                <m:r>
                                  <a:rPr lang="en-US" altLang="zh-CN" sz="2600" i="1">
                                    <a:latin typeface="Cambria Math" panose="02040503050406030204" pitchFamily="18" charset="0"/>
                                    <a:ea typeface="华光仿宋_CNKI" panose="02000500000000000000" pitchFamily="2" charset="-122"/>
                                  </a:rPr>
                                  <m:t>0</m:t>
                                </m:r>
                              </m:sub>
                            </m:sSub>
                            <m:r>
                              <a:rPr lang="en-US" altLang="zh-CN" sz="2600" b="0" i="1" smtClean="0">
                                <a:latin typeface="Cambria Math" panose="02040503050406030204" pitchFamily="18" charset="0"/>
                                <a:ea typeface="华光仿宋_CNKI" panose="02000500000000000000" pitchFamily="2" charset="-122"/>
                              </a:rPr>
                              <m:t>+</m:t>
                            </m:r>
                            <m:sSubSup>
                              <m:sSubSupPr>
                                <m:ctrlPr>
                                  <a:rPr lang="en-US" altLang="zh-CN" sz="2600" i="1">
                                    <a:latin typeface="Cambria Math" panose="02040503050406030204" pitchFamily="18" charset="0"/>
                                    <a:ea typeface="华光仿宋_CNKI" panose="02000500000000000000" pitchFamily="2" charset="-122"/>
                                  </a:rPr>
                                </m:ctrlPr>
                              </m:sSubSupPr>
                              <m:e>
                                <m:r>
                                  <a:rPr lang="en-US" altLang="zh-CN" sz="2600" i="1">
                                    <a:latin typeface="Cambria Math" panose="02040503050406030204" pitchFamily="18" charset="0"/>
                                    <a:ea typeface="华光仿宋_CNKI" panose="02000500000000000000" pitchFamily="2" charset="-122"/>
                                  </a:rPr>
                                  <m:t>𝐶</m:t>
                                </m:r>
                              </m:e>
                              <m:sub>
                                <m:r>
                                  <a:rPr lang="en-US" altLang="zh-CN" sz="2600" i="1">
                                    <a:latin typeface="Cambria Math" panose="02040503050406030204" pitchFamily="18" charset="0"/>
                                    <a:ea typeface="华光仿宋_CNKI" panose="02000500000000000000" pitchFamily="2" charset="-122"/>
                                  </a:rPr>
                                  <m:t>𝑛</m:t>
                                </m:r>
                              </m:sub>
                              <m:sup>
                                <m:r>
                                  <a:rPr lang="en-US" altLang="zh-CN" sz="2600" b="0" i="1" smtClean="0">
                                    <a:latin typeface="Cambria Math" panose="02040503050406030204" pitchFamily="18" charset="0"/>
                                    <a:ea typeface="华光仿宋_CNKI" panose="02000500000000000000" pitchFamily="2" charset="-122"/>
                                  </a:rPr>
                                  <m:t>1</m:t>
                                </m:r>
                              </m:sup>
                            </m:sSubSup>
                            <m:sSup>
                              <m:sSupPr>
                                <m:ctrlPr>
                                  <a:rPr lang="en-US" altLang="zh-CN" sz="2600" i="1">
                                    <a:latin typeface="Cambria Math" panose="02040503050406030204" pitchFamily="18" charset="0"/>
                                    <a:ea typeface="华光仿宋_CNKI" panose="02000500000000000000" pitchFamily="2" charset="-122"/>
                                  </a:rPr>
                                </m:ctrlPr>
                              </m:sSupPr>
                              <m:e>
                                <m:d>
                                  <m:dPr>
                                    <m:ctrlPr>
                                      <a:rPr lang="en-US" altLang="zh-CN" sz="2600" i="1">
                                        <a:latin typeface="Cambria Math" panose="02040503050406030204" pitchFamily="18" charset="0"/>
                                        <a:ea typeface="华光仿宋_CNKI" panose="02000500000000000000" pitchFamily="2" charset="-122"/>
                                      </a:rPr>
                                    </m:ctrlPr>
                                  </m:dPr>
                                  <m:e>
                                    <m:r>
                                      <a:rPr lang="en-US" altLang="zh-CN" sz="2600" i="1">
                                        <a:latin typeface="Cambria Math" panose="02040503050406030204" pitchFamily="18" charset="0"/>
                                        <a:ea typeface="华光仿宋_CNKI" panose="02000500000000000000" pitchFamily="2" charset="-122"/>
                                      </a:rPr>
                                      <m:t>1−</m:t>
                                    </m:r>
                                    <m:f>
                                      <m:fPr>
                                        <m:ctrlPr>
                                          <a:rPr lang="en-US" altLang="zh-CN" sz="2600" i="1">
                                            <a:latin typeface="Cambria Math" panose="02040503050406030204" pitchFamily="18" charset="0"/>
                                            <a:ea typeface="华光仿宋_CNKI" panose="02000500000000000000" pitchFamily="2" charset="-122"/>
                                          </a:rPr>
                                        </m:ctrlPr>
                                      </m:fPr>
                                      <m:num>
                                        <m:r>
                                          <a:rPr lang="en-US" altLang="zh-CN" sz="2600" i="1">
                                            <a:latin typeface="Cambria Math" panose="02040503050406030204" pitchFamily="18" charset="0"/>
                                            <a:ea typeface="华光仿宋_CNKI" panose="02000500000000000000" pitchFamily="2" charset="-122"/>
                                          </a:rPr>
                                          <m:t>𝑘</m:t>
                                        </m:r>
                                      </m:num>
                                      <m:den>
                                        <m:r>
                                          <a:rPr lang="en-US" altLang="zh-CN" sz="2600" i="1">
                                            <a:latin typeface="Cambria Math" panose="02040503050406030204" pitchFamily="18" charset="0"/>
                                            <a:ea typeface="华光仿宋_CNKI" panose="02000500000000000000" pitchFamily="2" charset="-122"/>
                                          </a:rPr>
                                          <m:t>𝑛</m:t>
                                        </m:r>
                                      </m:den>
                                    </m:f>
                                  </m:e>
                                </m:d>
                              </m:e>
                              <m:sup>
                                <m:r>
                                  <a:rPr lang="en-US" altLang="zh-CN" sz="2600" i="1">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−1</m:t>
                                </m:r>
                              </m:sup>
                            </m:sSup>
                            <m:d>
                              <m:dPr>
                                <m:ctrlPr>
                                  <a:rPr lang="en-US" altLang="zh-CN" sz="2600" b="0" i="1" smtClean="0">
                                    <a:latin typeface="Cambria Math" panose="02040503050406030204" pitchFamily="18" charset="0"/>
                                    <a:ea typeface="华光仿宋_CNKI" panose="02000500000000000000" pitchFamily="2" charset="-122"/>
                                  </a:rPr>
                                </m:ctrlPr>
                              </m:dPr>
                              <m:e>
                                <m:f>
                                  <m:fPr>
                                    <m:ctrlPr>
                                      <a:rPr lang="en-US" altLang="zh-CN" sz="2600" b="0" i="1" smtClean="0">
                                        <a:latin typeface="Cambria Math" panose="02040503050406030204" pitchFamily="18" charset="0"/>
                                        <a:ea typeface="华光仿宋_CNKI" panose="02000500000000000000" pitchFamily="2" charset="-122"/>
                                      </a:rPr>
                                    </m:ctrlPr>
                                  </m:fPr>
                                  <m:num>
                                    <m:r>
                                      <a:rPr lang="en-US" altLang="zh-CN" sz="2600" b="0" i="1" smtClean="0">
                                        <a:latin typeface="Cambria Math" panose="02040503050406030204" pitchFamily="18" charset="0"/>
                                        <a:ea typeface="华光仿宋_CNKI" panose="02000500000000000000" pitchFamily="2" charset="-122"/>
                                      </a:rPr>
                                      <m:t>𝑘</m:t>
                                    </m:r>
                                  </m:num>
                                  <m:den>
                                    <m:r>
                                      <a:rPr lang="en-US" altLang="zh-CN" sz="2600" b="0" i="1" smtClean="0">
                                        <a:latin typeface="Cambria Math" panose="02040503050406030204" pitchFamily="18" charset="0"/>
                                        <a:ea typeface="华光仿宋_CNKI" panose="02000500000000000000" pitchFamily="2" charset="-122"/>
                                      </a:rPr>
                                      <m:t>𝑛</m:t>
                                    </m:r>
                                  </m:den>
                                </m:f>
                              </m:e>
                            </m:d>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𝑃</m:t>
                                </m:r>
                              </m:e>
                              <m:sub>
                                <m:r>
                                  <a:rPr lang="en-US" altLang="zh-CN" sz="2600" i="1">
                                    <a:latin typeface="Cambria Math" panose="02040503050406030204" pitchFamily="18" charset="0"/>
                                    <a:ea typeface="华光仿宋_CNKI" panose="02000500000000000000" pitchFamily="2" charset="-122"/>
                                  </a:rPr>
                                  <m:t>0</m:t>
                                </m:r>
                              </m:sub>
                            </m:sSub>
                            <m:r>
                              <a:rPr lang="en-US" altLang="zh-CN" sz="2600" b="0" i="1" smtClean="0">
                                <a:latin typeface="Cambria Math" panose="02040503050406030204" pitchFamily="18" charset="0"/>
                                <a:ea typeface="华光仿宋_CNKI" panose="02000500000000000000" pitchFamily="2" charset="-122"/>
                              </a:rPr>
                              <m:t>+…+</m:t>
                            </m:r>
                            <m:sSubSup>
                              <m:sSubSupPr>
                                <m:ctrlPr>
                                  <a:rPr lang="en-US" altLang="zh-CN" sz="2600" i="1">
                                    <a:latin typeface="Cambria Math" panose="02040503050406030204" pitchFamily="18" charset="0"/>
                                    <a:ea typeface="华光仿宋_CNKI" panose="02000500000000000000" pitchFamily="2" charset="-122"/>
                                  </a:rPr>
                                </m:ctrlPr>
                              </m:sSubSupPr>
                              <m:e>
                                <m:r>
                                  <a:rPr lang="en-US" altLang="zh-CN" sz="2600" i="1">
                                    <a:latin typeface="Cambria Math" panose="02040503050406030204" pitchFamily="18" charset="0"/>
                                    <a:ea typeface="华光仿宋_CNKI" panose="02000500000000000000" pitchFamily="2" charset="-122"/>
                                  </a:rPr>
                                  <m:t>𝐶</m:t>
                                </m:r>
                              </m:e>
                              <m:sub>
                                <m:r>
                                  <a:rPr lang="en-US" altLang="zh-CN" sz="2600" i="1">
                                    <a:latin typeface="Cambria Math" panose="02040503050406030204" pitchFamily="18" charset="0"/>
                                    <a:ea typeface="华光仿宋_CNKI" panose="02000500000000000000" pitchFamily="2" charset="-122"/>
                                  </a:rPr>
                                  <m:t>𝑛</m:t>
                                </m:r>
                              </m:sub>
                              <m:sup>
                                <m:r>
                                  <a:rPr lang="en-US" altLang="zh-CN" sz="2600" b="0" i="1" smtClean="0">
                                    <a:latin typeface="Cambria Math" panose="02040503050406030204" pitchFamily="18" charset="0"/>
                                    <a:ea typeface="华光仿宋_CNKI" panose="02000500000000000000" pitchFamily="2" charset="-122"/>
                                  </a:rPr>
                                  <m:t>𝑛</m:t>
                                </m:r>
                              </m:sup>
                            </m:sSubSup>
                            <m:sSup>
                              <m:sSupPr>
                                <m:ctrlPr>
                                  <a:rPr lang="en-US" altLang="zh-CN" sz="2600" i="1">
                                    <a:latin typeface="Cambria Math" panose="02040503050406030204" pitchFamily="18" charset="0"/>
                                    <a:ea typeface="华光仿宋_CNKI" panose="02000500000000000000" pitchFamily="2" charset="-122"/>
                                  </a:rPr>
                                </m:ctrlPr>
                              </m:sSupPr>
                              <m:e>
                                <m:d>
                                  <m:dPr>
                                    <m:ctrlPr>
                                      <a:rPr lang="en-US" altLang="zh-CN" sz="2600" i="1">
                                        <a:latin typeface="Cambria Math" panose="02040503050406030204" pitchFamily="18" charset="0"/>
                                        <a:ea typeface="华光仿宋_CNKI" panose="02000500000000000000" pitchFamily="2" charset="-122"/>
                                      </a:rPr>
                                    </m:ctrlPr>
                                  </m:dPr>
                                  <m:e>
                                    <m:f>
                                      <m:fPr>
                                        <m:ctrlPr>
                                          <a:rPr lang="en-US" altLang="zh-CN" sz="2600" i="1">
                                            <a:latin typeface="Cambria Math" panose="02040503050406030204" pitchFamily="18" charset="0"/>
                                            <a:ea typeface="华光仿宋_CNKI" panose="02000500000000000000" pitchFamily="2" charset="-122"/>
                                          </a:rPr>
                                        </m:ctrlPr>
                                      </m:fPr>
                                      <m:num>
                                        <m:r>
                                          <a:rPr lang="en-US" altLang="zh-CN" sz="2600" i="1">
                                            <a:latin typeface="Cambria Math" panose="02040503050406030204" pitchFamily="18" charset="0"/>
                                            <a:ea typeface="华光仿宋_CNKI" panose="02000500000000000000" pitchFamily="2" charset="-122"/>
                                          </a:rPr>
                                          <m:t>𝑘</m:t>
                                        </m:r>
                                      </m:num>
                                      <m:den>
                                        <m:r>
                                          <a:rPr lang="en-US" altLang="zh-CN" sz="2600" i="1">
                                            <a:latin typeface="Cambria Math" panose="02040503050406030204" pitchFamily="18" charset="0"/>
                                            <a:ea typeface="华光仿宋_CNKI" panose="02000500000000000000" pitchFamily="2" charset="-122"/>
                                          </a:rPr>
                                          <m:t>𝑛</m:t>
                                        </m:r>
                                      </m:den>
                                    </m:f>
                                  </m:e>
                                </m:d>
                              </m:e>
                              <m:sup>
                                <m:r>
                                  <a:rPr lang="en-US" altLang="zh-CN" sz="2600" i="1">
                                    <a:latin typeface="Cambria Math" panose="02040503050406030204" pitchFamily="18" charset="0"/>
                                    <a:ea typeface="华光仿宋_CNKI" panose="02000500000000000000" pitchFamily="2" charset="-122"/>
                                  </a:rPr>
                                  <m:t>𝑛</m:t>
                                </m:r>
                              </m:sup>
                            </m:sSup>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sub>
                            </m:sSub>
                          </m:e>
                          <m:e>
                            <m:r>
                              <a:rPr lang="en-US" altLang="zh-CN" sz="2600" b="0" i="1" smtClean="0">
                                <a:latin typeface="Cambria Math" panose="02040503050406030204" pitchFamily="18" charset="0"/>
                                <a:ea typeface="华光仿宋_CNKI" panose="02000500000000000000" pitchFamily="2" charset="-122"/>
                              </a:rPr>
                              <m:t>:                                                                                                          </m:t>
                            </m:r>
                          </m:e>
                          <m:e>
                            <m:sSub>
                              <m:sSubPr>
                                <m:ctrlPr>
                                  <a:rPr lang="en-US" altLang="zh-CN" sz="2600" i="1">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𝑄</m:t>
                                </m:r>
                              </m:e>
                              <m:sub>
                                <m:r>
                                  <a:rPr lang="en-US" altLang="zh-CN" sz="2600" b="0" i="1" smtClean="0">
                                    <a:latin typeface="Cambria Math" panose="02040503050406030204" pitchFamily="18" charset="0"/>
                                    <a:ea typeface="华光仿宋_CNKI" panose="02000500000000000000" pitchFamily="2" charset="-122"/>
                                  </a:rPr>
                                  <m:t>𝑛</m:t>
                                </m:r>
                              </m:sub>
                            </m:sSub>
                            <m:r>
                              <a:rPr lang="en-US" altLang="zh-CN" sz="2600" b="0" i="1" smtClean="0">
                                <a:latin typeface="Cambria Math" panose="02040503050406030204" pitchFamily="18" charset="0"/>
                                <a:ea typeface="华光仿宋_CNKI" panose="02000500000000000000" pitchFamily="2" charset="-122"/>
                              </a:rPr>
                              <m:t>=</m:t>
                            </m:r>
                            <m:sSub>
                              <m:sSubPr>
                                <m:ctrlPr>
                                  <a:rPr lang="en-US" altLang="zh-CN" sz="2600" i="1">
                                    <a:latin typeface="Cambria Math" panose="02040503050406030204" pitchFamily="18" charset="0"/>
                                    <a:ea typeface="华光仿宋_CNKI" panose="02000500000000000000" pitchFamily="2" charset="-122"/>
                                  </a:rPr>
                                </m:ctrlPr>
                              </m:sSubPr>
                              <m:e>
                                <m:r>
                                  <m:rPr>
                                    <m:sty m:val="p"/>
                                  </m:rPr>
                                  <a:rPr lang="en-US" altLang="zh-CN" sz="2600" i="1" smtClean="0">
                                    <a:latin typeface="Cambria Math" panose="02040503050406030204" pitchFamily="18" charset="0"/>
                                    <a:ea typeface="华光仿宋_CNKI" panose="02000500000000000000" pitchFamily="2" charset="-122"/>
                                  </a:rPr>
                                  <m:t>P</m:t>
                                </m:r>
                              </m:e>
                              <m:sub>
                                <m:r>
                                  <a:rPr lang="en-US" altLang="zh-CN" sz="2600" b="0" i="1" smtClean="0">
                                    <a:latin typeface="Cambria Math" panose="02040503050406030204" pitchFamily="18" charset="0"/>
                                    <a:ea typeface="华光仿宋_CNKI" panose="02000500000000000000" pitchFamily="2" charset="-122"/>
                                  </a:rPr>
                                  <m:t>𝑛</m:t>
                                </m:r>
                              </m:sub>
                            </m:sSub>
                            <m:r>
                              <a:rPr lang="en-US" altLang="zh-CN" sz="2600" b="0" i="1" smtClean="0">
                                <a:latin typeface="Cambria Math" panose="02040503050406030204" pitchFamily="18" charset="0"/>
                                <a:ea typeface="华光仿宋_CNKI" panose="02000500000000000000" pitchFamily="2" charset="-122"/>
                              </a:rPr>
                              <m:t>                                                                                                       </m:t>
                            </m:r>
                          </m:e>
                        </m:eqArr>
                      </m:e>
                    </m:d>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ea typeface="华光仿宋_CNKI" panose="02000500000000000000" pitchFamily="2" charset="-122"/>
                  </a:rPr>
                  <a:t>        </a:t>
                </a:r>
                <a14:m>
                  <m:oMath xmlns:m="http://schemas.openxmlformats.org/officeDocument/2006/math">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𝑘</m:t>
                        </m:r>
                      </m:sub>
                    </m:sSub>
                  </m:oMath>
                </a14:m>
                <a:r>
                  <a:rPr lang="zh-CN" altLang="en-US" sz="2600" dirty="0">
                    <a:ea typeface="华光仿宋_CNKI" panose="02000500000000000000" pitchFamily="2" charset="-122"/>
                  </a:rPr>
                  <a:t>为任意维坐标。每一个等式可以罗列出相应的每一维的方程。</a:t>
                </a:r>
                <a:endParaRPr lang="en-US" altLang="zh-CN" sz="2600" dirty="0">
                  <a:ea typeface="华光仿宋_CNKI" panose="02000500000000000000" pitchFamily="2" charset="-122"/>
                </a:endParaRPr>
              </a:p>
              <a:p>
                <a:pPr algn="l">
                  <a:lnSpc>
                    <a:spcPct val="150000"/>
                  </a:lnSpc>
                </a:pP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784146" y="462404"/>
                <a:ext cx="10578267" cy="5933191"/>
              </a:xfrm>
              <a:prstGeom prst="rect">
                <a:avLst/>
              </a:prstGeom>
              <a:blipFill>
                <a:blip r:embed="rId3"/>
                <a:stretch>
                  <a:fillRect l="-1037" b="-14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02806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2">
            <a:extLst>
              <a:ext uri="{FF2B5EF4-FFF2-40B4-BE49-F238E27FC236}">
                <a16:creationId xmlns:a16="http://schemas.microsoft.com/office/drawing/2014/main" id="{20DEA536-060B-0BA8-8F70-4E87D2898BD3}"/>
              </a:ext>
            </a:extLst>
          </p:cNvPr>
          <p:cNvSpPr txBox="1">
            <a:spLocks/>
          </p:cNvSpPr>
          <p:nvPr/>
        </p:nvSpPr>
        <p:spPr>
          <a:xfrm>
            <a:off x="651597" y="487740"/>
            <a:ext cx="10591547" cy="57937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b="1" dirty="0">
                <a:latin typeface="华光标题宋_CNKI" panose="02000500000000000000" pitchFamily="2" charset="-122"/>
                <a:ea typeface="华光标题宋_CNKI" panose="02000500000000000000" pitchFamily="2" charset="-122"/>
              </a:rPr>
              <a:t>3.6.6  B</a:t>
            </a:r>
            <a:r>
              <a:rPr lang="zh-CN" altLang="en-US" sz="2600" b="1" dirty="0">
                <a:latin typeface="华光标题宋_CNKI" panose="02000500000000000000" pitchFamily="2" charset="-122"/>
                <a:ea typeface="华光标题宋_CNKI" panose="02000500000000000000" pitchFamily="2" charset="-122"/>
              </a:rPr>
              <a:t>样条曲线</a:t>
            </a:r>
            <a:endParaRPr lang="en-US" altLang="zh-CN" sz="2600" b="1" dirty="0">
              <a:latin typeface="华光标题宋_CNKI" panose="02000500000000000000" pitchFamily="2" charset="-122"/>
              <a:ea typeface="华光标题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从</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曲线的表达式可以看出，</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函数的形式对曲线的现状有较大的影响。此外，</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的每一个控制点对整个曲线都有影响，控制点越多，生成的曲线的阶数越高，计算也就越复杂。而且随着控制点的增多，控制多边形上的每一个点对曲线形状的控制能力也将减弱，通过修改控制点来控制曲线形状的能力也将减弱。</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通过修改</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函数以及控制点控制的区域，可以使控制点对生成的曲线的形状具有更强的控制能力，同时避免对整个曲线产生影响，同时确保其具有较好的连续性（光滑），也就是</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7357735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Object 4">
                <a:extLst>
                  <a:ext uri="{FF2B5EF4-FFF2-40B4-BE49-F238E27FC236}">
                    <a16:creationId xmlns:a16="http://schemas.microsoft.com/office/drawing/2014/main" id="{E055DC07-A49D-65E0-A517-29FEB39C4761}"/>
                  </a:ext>
                </a:extLst>
              </p:cNvPr>
              <p:cNvSpPr txBox="1"/>
              <p:nvPr/>
            </p:nvSpPr>
            <p:spPr bwMode="auto">
              <a:xfrm>
                <a:off x="782512" y="589791"/>
                <a:ext cx="10626976" cy="5678418"/>
              </a:xfrm>
              <a:prstGeom prst="rect">
                <a:avLst/>
              </a:prstGeom>
              <a:noFill/>
              <a:ln>
                <a:noFill/>
              </a:ln>
              <a:effectLst/>
            </p:spPr>
            <p:txBody>
              <a:bodyPr>
                <a:noAutofit/>
              </a:bodyPr>
              <a:lstStyle/>
              <a:p>
                <a:pPr>
                  <a:lnSpc>
                    <a:spcPct val="150000"/>
                  </a:lnSpc>
                </a:pPr>
                <a:r>
                  <a:rPr lang="en-US" altLang="zh-CN" sz="2800" b="0" dirty="0">
                    <a:ea typeface="华光仿宋_CNKI" panose="02000500000000000000" pitchFamily="2" charset="-122"/>
                  </a:rPr>
                  <a:t>     </a:t>
                </a:r>
                <a14:m>
                  <m:oMath xmlns:m="http://schemas.openxmlformats.org/officeDocument/2006/math">
                    <m:r>
                      <a:rPr lang="en-US" altLang="zh-CN" sz="2800" b="0" i="0" smtClean="0">
                        <a:latin typeface="Cambria Math" panose="02040503050406030204" pitchFamily="18" charset="0"/>
                        <a:ea typeface="华光仿宋_CNKI" panose="02000500000000000000" pitchFamily="2" charset="-122"/>
                      </a:rPr>
                      <m:t> </m:t>
                    </m:r>
                    <m:r>
                      <m:rPr>
                        <m:sty m:val="p"/>
                      </m:rPr>
                      <a:rPr lang="en-US" altLang="zh-CN" sz="2800" smtClean="0">
                        <a:latin typeface="Cambria Math" panose="02040503050406030204" pitchFamily="18" charset="0"/>
                        <a:ea typeface="华光仿宋_CNKI" panose="02000500000000000000" pitchFamily="2" charset="-122"/>
                      </a:rPr>
                      <m:t>B</m:t>
                    </m:r>
                    <m:r>
                      <a:rPr lang="zh-CN" altLang="en-US" sz="2800">
                        <a:latin typeface="Cambria Math" panose="02040503050406030204" pitchFamily="18" charset="0"/>
                        <a:ea typeface="华光仿宋_CNKI" panose="02000500000000000000" pitchFamily="2" charset="-122"/>
                      </a:rPr>
                      <m:t>样条曲线</m:t>
                    </m:r>
                  </m:oMath>
                </a14:m>
                <a:r>
                  <a:rPr lang="zh-CN" altLang="en-US" sz="2800" dirty="0">
                    <a:latin typeface="Cambria Math" panose="02040503050406030204" pitchFamily="18" charset="0"/>
                    <a:ea typeface="华光仿宋_CNKI" panose="02000500000000000000" pitchFamily="2" charset="-122"/>
                  </a:rPr>
                  <a:t>由</a:t>
                </a:r>
                <a:r>
                  <a:rPr lang="en-US" altLang="zh-CN" sz="2800" dirty="0">
                    <a:latin typeface="Cambria Math" panose="02040503050406030204" pitchFamily="18" charset="0"/>
                    <a:ea typeface="华光仿宋_CNKI" panose="02000500000000000000" pitchFamily="2" charset="-122"/>
                  </a:rPr>
                  <a:t>n+m+1</a:t>
                </a:r>
                <a:r>
                  <a:rPr lang="zh-CN" altLang="en-US" sz="2800" dirty="0">
                    <a:latin typeface="Cambria Math" panose="02040503050406030204" pitchFamily="18" charset="0"/>
                    <a:ea typeface="华光仿宋_CNKI" panose="02000500000000000000" pitchFamily="2" charset="-122"/>
                  </a:rPr>
                  <a:t>个控制点构成，其中</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a:latin typeface="Cambria Math" panose="02040503050406030204" pitchFamily="18" charset="0"/>
                          </a:rPr>
                          <m:t>0</m:t>
                        </m:r>
                      </m:sub>
                    </m:sSub>
                  </m:oMath>
                </a14:m>
                <a:r>
                  <a:rPr lang="en-US" altLang="zh-CN" sz="2800" dirty="0">
                    <a:latin typeface="Cambria Math" panose="02040503050406030204" pitchFamily="18" charset="0"/>
                    <a:ea typeface="华光仿宋_CNKI" panose="02000500000000000000" pitchFamily="2" charset="-122"/>
                  </a:rPr>
                  <a:t>~</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b="0" i="1" smtClean="0">
                            <a:latin typeface="Cambria Math" panose="02040503050406030204" pitchFamily="18" charset="0"/>
                          </a:rPr>
                          <m:t>𝑛</m:t>
                        </m:r>
                      </m:sub>
                    </m:sSub>
                  </m:oMath>
                </a14:m>
                <a:r>
                  <a:rPr lang="zh-CN" altLang="en-US" sz="2800" dirty="0">
                    <a:latin typeface="Cambria Math" panose="02040503050406030204" pitchFamily="18" charset="0"/>
                    <a:ea typeface="华光仿宋_CNKI" panose="02000500000000000000" pitchFamily="2" charset="-122"/>
                  </a:rPr>
                  <a:t>这个</a:t>
                </a:r>
                <a:r>
                  <a:rPr lang="en-US" altLang="zh-CN" sz="2800" dirty="0">
                    <a:latin typeface="Cambria Math" panose="02040503050406030204" pitchFamily="18" charset="0"/>
                    <a:ea typeface="华光仿宋_CNKI" panose="02000500000000000000" pitchFamily="2" charset="-122"/>
                  </a:rPr>
                  <a:t>n+1</a:t>
                </a:r>
                <a:r>
                  <a:rPr lang="zh-CN" altLang="en-US" sz="2800" dirty="0">
                    <a:latin typeface="Cambria Math" panose="02040503050406030204" pitchFamily="18" charset="0"/>
                    <a:ea typeface="华光仿宋_CNKI" panose="02000500000000000000" pitchFamily="2" charset="-122"/>
                  </a:rPr>
                  <a:t>个控制点控制其第一段曲线，</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b="0" i="0" smtClean="0">
                            <a:latin typeface="Cambria Math" panose="02040503050406030204" pitchFamily="18" charset="0"/>
                          </a:rPr>
                          <m:t>1</m:t>
                        </m:r>
                      </m:sub>
                    </m:sSub>
                  </m:oMath>
                </a14:m>
                <a:r>
                  <a:rPr lang="en-US" altLang="zh-CN" sz="2800" dirty="0">
                    <a:latin typeface="Cambria Math" panose="02040503050406030204" pitchFamily="18" charset="0"/>
                    <a:ea typeface="华光仿宋_CNKI" panose="02000500000000000000" pitchFamily="2" charset="-122"/>
                  </a:rPr>
                  <a:t>~</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𝑃</m:t>
                        </m:r>
                      </m:e>
                      <m:sub>
                        <m:r>
                          <a:rPr lang="en-US" altLang="zh-CN" sz="2800" i="1">
                            <a:latin typeface="Cambria Math" panose="02040503050406030204" pitchFamily="18" charset="0"/>
                          </a:rPr>
                          <m:t>𝑛</m:t>
                        </m:r>
                        <m:r>
                          <a:rPr lang="en-US" altLang="zh-CN" sz="2800" i="1" smtClean="0">
                            <a:latin typeface="Cambria Math" panose="02040503050406030204" pitchFamily="18" charset="0"/>
                          </a:rPr>
                          <m:t>+</m:t>
                        </m:r>
                        <m:r>
                          <a:rPr lang="en-US" altLang="zh-CN" sz="2800" b="0" i="1" smtClean="0">
                            <a:latin typeface="Cambria Math" panose="02040503050406030204" pitchFamily="18" charset="0"/>
                          </a:rPr>
                          <m:t>1</m:t>
                        </m:r>
                      </m:sub>
                    </m:sSub>
                  </m:oMath>
                </a14:m>
                <a:r>
                  <a:rPr lang="zh-CN" altLang="en-US" sz="2800" dirty="0">
                    <a:latin typeface="Cambria Math" panose="02040503050406030204" pitchFamily="18" charset="0"/>
                    <a:ea typeface="华光仿宋_CNKI" panose="02000500000000000000" pitchFamily="2" charset="-122"/>
                  </a:rPr>
                  <a:t>这个</a:t>
                </a:r>
                <a:r>
                  <a:rPr lang="en-US" altLang="zh-CN" sz="2800" dirty="0">
                    <a:latin typeface="Cambria Math" panose="02040503050406030204" pitchFamily="18" charset="0"/>
                    <a:ea typeface="华光仿宋_CNKI" panose="02000500000000000000" pitchFamily="2" charset="-122"/>
                  </a:rPr>
                  <a:t>n+1</a:t>
                </a:r>
                <a:r>
                  <a:rPr lang="zh-CN" altLang="en-US" sz="2800" dirty="0">
                    <a:latin typeface="Cambria Math" panose="02040503050406030204" pitchFamily="18" charset="0"/>
                    <a:ea typeface="华光仿宋_CNKI" panose="02000500000000000000" pitchFamily="2" charset="-122"/>
                  </a:rPr>
                  <a:t>个控制点控制其第二段曲线</a:t>
                </a:r>
                <a:r>
                  <a:rPr lang="en-US" altLang="zh-CN" sz="2800" dirty="0">
                    <a:latin typeface="Cambria Math" panose="02040503050406030204" pitchFamily="18" charset="0"/>
                    <a:ea typeface="华光仿宋_CNKI" panose="02000500000000000000" pitchFamily="2" charset="-122"/>
                  </a:rPr>
                  <a:t>,…,</a:t>
                </a:r>
                <a:r>
                  <a:rPr lang="zh-CN" altLang="en-US" sz="2800" dirty="0">
                    <a:latin typeface="Cambria Math" panose="02040503050406030204" pitchFamily="18" charset="0"/>
                    <a:ea typeface="华光仿宋_CNKI" panose="02000500000000000000" pitchFamily="2" charset="-122"/>
                  </a:rPr>
                  <a:t>依次类推，总共</a:t>
                </a:r>
                <a:r>
                  <a:rPr lang="en-US" altLang="zh-CN" sz="2800" dirty="0">
                    <a:latin typeface="Cambria Math" panose="02040503050406030204" pitchFamily="18" charset="0"/>
                    <a:ea typeface="华光仿宋_CNKI" panose="02000500000000000000" pitchFamily="2" charset="-122"/>
                  </a:rPr>
                  <a:t>m</a:t>
                </a:r>
                <a:r>
                  <a:rPr lang="zh-CN" altLang="en-US" sz="2800" dirty="0">
                    <a:latin typeface="Cambria Math" panose="02040503050406030204" pitchFamily="18" charset="0"/>
                    <a:ea typeface="华光仿宋_CNKI" panose="02000500000000000000" pitchFamily="2" charset="-122"/>
                  </a:rPr>
                  <a:t>段曲线构成</a:t>
                </a:r>
                <a:r>
                  <a:rPr lang="en-US" altLang="zh-CN" sz="2800" dirty="0">
                    <a:latin typeface="Cambria Math" panose="02040503050406030204" pitchFamily="18" charset="0"/>
                    <a:ea typeface="华光仿宋_CNKI" panose="02000500000000000000" pitchFamily="2" charset="-122"/>
                  </a:rPr>
                  <a:t>B</a:t>
                </a:r>
                <a:r>
                  <a:rPr lang="zh-CN" altLang="en-US" sz="2800" dirty="0">
                    <a:latin typeface="Cambria Math" panose="02040503050406030204" pitchFamily="18" charset="0"/>
                    <a:ea typeface="华光仿宋_CNKI" panose="02000500000000000000" pitchFamily="2" charset="-122"/>
                  </a:rPr>
                  <a:t>样条曲线。每一段曲线的表达式如下：</a:t>
                </a:r>
                <a:endParaRPr lang="en-US" altLang="zh-CN" sz="2800" dirty="0">
                  <a:latin typeface="Cambria Math" panose="02040503050406030204" pitchFamily="18" charset="0"/>
                  <a:ea typeface="华光仿宋_CNKI" panose="02000500000000000000" pitchFamily="2" charset="-122"/>
                </a:endParaRPr>
              </a:p>
              <a:p>
                <a:r>
                  <a:rPr lang="zh-CN" altLang="en-US" sz="2800" dirty="0"/>
                  <a:t>        </a:t>
                </a:r>
                <a14:m>
                  <m:oMath xmlns:m="http://schemas.openxmlformats.org/officeDocument/2006/math">
                    <m:r>
                      <a:rPr lang="zh-CN" altLang="en-US" sz="2800" smtClean="0">
                        <a:latin typeface="Cambria Math" panose="02040503050406030204" pitchFamily="18" charset="0"/>
                      </a:rPr>
                      <m:t>𝑃</m:t>
                    </m:r>
                    <m:r>
                      <a:rPr lang="zh-CN" altLang="en-US" sz="2800" smtClean="0">
                        <a:latin typeface="Cambria Math" panose="02040503050406030204" pitchFamily="18" charset="0"/>
                      </a:rPr>
                      <m:t>(</m:t>
                    </m:r>
                    <m:r>
                      <a:rPr lang="zh-CN" altLang="en-US" sz="2800" smtClean="0">
                        <a:latin typeface="Cambria Math" panose="02040503050406030204" pitchFamily="18" charset="0"/>
                      </a:rPr>
                      <m:t>𝑡</m:t>
                    </m:r>
                    <m:r>
                      <a:rPr lang="zh-CN" altLang="en-US" sz="2800" smtClean="0">
                        <a:latin typeface="Cambria Math" panose="02040503050406030204" pitchFamily="18" charset="0"/>
                      </a:rPr>
                      <m:t>)=</m:t>
                    </m:r>
                    <m:nary>
                      <m:naryPr>
                        <m:chr m:val="∑"/>
                        <m:ctrlPr>
                          <a:rPr lang="zh-CN" altLang="en-US" sz="2800" i="1">
                            <a:latin typeface="Cambria Math" panose="02040503050406030204" pitchFamily="18" charset="0"/>
                          </a:rPr>
                        </m:ctrlPr>
                      </m:naryPr>
                      <m:sub>
                        <m:r>
                          <a:rPr lang="zh-CN" altLang="en-US" sz="2800">
                            <a:latin typeface="Cambria Math" panose="02040503050406030204" pitchFamily="18" charset="0"/>
                          </a:rPr>
                          <m:t>𝑖</m:t>
                        </m:r>
                        <m:r>
                          <a:rPr lang="zh-CN" altLang="en-US" sz="2800">
                            <a:latin typeface="Cambria Math" panose="02040503050406030204" pitchFamily="18" charset="0"/>
                          </a:rPr>
                          <m:t>=0</m:t>
                        </m:r>
                      </m:sub>
                      <m:sup>
                        <m:r>
                          <a:rPr lang="zh-CN" altLang="en-US" sz="2800">
                            <a:latin typeface="Cambria Math" panose="02040503050406030204" pitchFamily="18" charset="0"/>
                          </a:rPr>
                          <m:t>𝑛</m:t>
                        </m:r>
                      </m:sup>
                      <m:e>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zh-CN" altLang="en-US" sz="2800">
                                <a:latin typeface="Cambria Math" panose="02040503050406030204" pitchFamily="18" charset="0"/>
                              </a:rPr>
                              <m:t>𝑖</m:t>
                            </m:r>
                          </m:sub>
                        </m:sSub>
                        <m:r>
                          <a:rPr lang="zh-CN" altLang="en-US" sz="2800">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𝐵</m:t>
                            </m:r>
                          </m:e>
                          <m:sub>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𝑛</m:t>
                            </m:r>
                          </m:sub>
                        </m:sSub>
                        <m:r>
                          <a:rPr lang="zh-CN" altLang="en-US" sz="2800">
                            <a:latin typeface="Cambria Math" panose="02040503050406030204" pitchFamily="18" charset="0"/>
                          </a:rPr>
                          <m:t>(</m:t>
                        </m:r>
                        <m:r>
                          <a:rPr lang="zh-CN" altLang="en-US" sz="2800">
                            <a:latin typeface="Cambria Math" panose="02040503050406030204" pitchFamily="18" charset="0"/>
                          </a:rPr>
                          <m:t>𝑡</m:t>
                        </m:r>
                        <m:r>
                          <a:rPr lang="zh-CN" altLang="en-US" sz="2800">
                            <a:latin typeface="Cambria Math" panose="02040503050406030204" pitchFamily="18" charset="0"/>
                          </a:rPr>
                          <m:t>)</m:t>
                        </m:r>
                      </m:e>
                    </m:nary>
                    <m:m>
                      <m:mPr>
                        <m:plcHide m:val="on"/>
                        <m:mcs>
                          <m:mc>
                            <m:mcPr>
                              <m:count m:val="2"/>
                              <m:mcJc m:val="center"/>
                            </m:mcPr>
                          </m:mc>
                        </m:mcs>
                        <m:ctrlPr>
                          <a:rPr lang="zh-CN" altLang="en-US" sz="2800" i="1">
                            <a:latin typeface="Cambria Math" panose="02040503050406030204" pitchFamily="18" charset="0"/>
                          </a:rPr>
                        </m:ctrlPr>
                      </m:mPr>
                      <m:mr>
                        <m:e/>
                        <m:e>
                          <m:r>
                            <a:rPr lang="zh-CN" altLang="en-US" sz="2800">
                              <a:latin typeface="Cambria Math" panose="02040503050406030204" pitchFamily="18" charset="0"/>
                            </a:rPr>
                            <m:t>𝑡</m:t>
                          </m:r>
                          <m:r>
                            <a:rPr lang="zh-CN" altLang="en-US" sz="2800">
                              <a:latin typeface="Cambria Math" panose="02040503050406030204" pitchFamily="18" charset="0"/>
                            </a:rPr>
                            <m:t>∈[0,1]</m:t>
                          </m:r>
                        </m:e>
                      </m:mr>
                    </m:m>
                  </m:oMath>
                </a14:m>
                <a:endParaRPr lang="en-US" altLang="zh-CN" sz="2800" dirty="0"/>
              </a:p>
              <a:p>
                <a:pPr>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这儿：</a:t>
                </a:r>
                <a:endParaRPr lang="en-US" altLang="zh-CN" sz="2600" dirty="0">
                  <a:latin typeface="华光仿宋_CNKI" panose="02000500000000000000" pitchFamily="2" charset="-122"/>
                  <a:ea typeface="华光仿宋_CNKI" panose="02000500000000000000" pitchFamily="2" charset="-122"/>
                </a:endParaRPr>
              </a:p>
              <a:p>
                <a:pPr>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𝐵</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sub>
                    </m:sSub>
                    <m:r>
                      <a:rPr lang="zh-CN" altLang="en-US" sz="2400">
                        <a:latin typeface="Cambria Math" panose="02040503050406030204" pitchFamily="18" charset="0"/>
                      </a:rPr>
                      <m:t>(</m:t>
                    </m:r>
                    <m:r>
                      <a:rPr lang="zh-CN" altLang="en-US" sz="2400">
                        <a:latin typeface="Cambria Math" panose="02040503050406030204" pitchFamily="18" charset="0"/>
                      </a:rPr>
                      <m:t>𝑡</m:t>
                    </m:r>
                    <m:r>
                      <a:rPr lang="zh-CN" altLang="en-US" sz="2400">
                        <a:latin typeface="Cambria Math" panose="02040503050406030204" pitchFamily="18" charset="0"/>
                      </a:rPr>
                      <m:t>)</m:t>
                    </m:r>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f>
                      <m:fPr>
                        <m:ctrlPr>
                          <a:rPr lang="en-US" altLang="zh-CN" sz="2600" i="1" dirty="0" smtClean="0">
                            <a:latin typeface="Cambria Math" panose="02040503050406030204" pitchFamily="18" charset="0"/>
                            <a:ea typeface="华光仿宋_CNKI" panose="02000500000000000000" pitchFamily="2" charset="-122"/>
                          </a:rPr>
                        </m:ctrlPr>
                      </m:fPr>
                      <m:num>
                        <m:r>
                          <a:rPr lang="en-US" altLang="zh-CN" sz="2600" b="0" i="1" dirty="0" smtClean="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𝑛</m:t>
                        </m:r>
                        <m:r>
                          <a:rPr lang="en-US" altLang="zh-CN" sz="2600" b="0" i="1" dirty="0" smtClean="0">
                            <a:latin typeface="Cambria Math" panose="02040503050406030204" pitchFamily="18" charset="0"/>
                            <a:ea typeface="华光仿宋_CNKI" panose="02000500000000000000" pitchFamily="2" charset="-122"/>
                          </a:rPr>
                          <m:t>!</m:t>
                        </m:r>
                      </m:den>
                    </m:f>
                    <m:nary>
                      <m:naryPr>
                        <m:chr m:val="∑"/>
                        <m:ctrlPr>
                          <a:rPr lang="en-US" altLang="zh-CN" sz="2600" i="1" dirty="0" smtClean="0">
                            <a:latin typeface="Cambria Math" panose="02040503050406030204" pitchFamily="18" charset="0"/>
                            <a:ea typeface="华光仿宋_CNKI" panose="02000500000000000000" pitchFamily="2" charset="-122"/>
                          </a:rPr>
                        </m:ctrlPr>
                      </m:naryPr>
                      <m:sub>
                        <m:r>
                          <m:rPr>
                            <m:brk m:alnAt="23"/>
                          </m:rPr>
                          <a:rPr lang="en-US" altLang="zh-CN" sz="2600" b="0" i="1" dirty="0" smtClean="0">
                            <a:latin typeface="Cambria Math" panose="02040503050406030204" pitchFamily="18" charset="0"/>
                            <a:ea typeface="华光仿宋_CNKI" panose="02000500000000000000" pitchFamily="2" charset="-122"/>
                          </a:rPr>
                          <m:t>𝑗</m:t>
                        </m:r>
                        <m:r>
                          <a:rPr lang="en-US" altLang="zh-CN" sz="2600" b="0" i="1" dirty="0" smtClean="0">
                            <a:latin typeface="Cambria Math" panose="02040503050406030204" pitchFamily="18" charset="0"/>
                            <a:ea typeface="华光仿宋_CNKI" panose="02000500000000000000" pitchFamily="2" charset="-122"/>
                          </a:rPr>
                          <m:t>=0</m:t>
                        </m:r>
                      </m:sub>
                      <m:sup>
                        <m:r>
                          <a:rPr lang="en-US" altLang="zh-CN" sz="2600" b="0" i="1" dirty="0" smtClean="0">
                            <a:latin typeface="Cambria Math" panose="02040503050406030204" pitchFamily="18" charset="0"/>
                            <a:ea typeface="华光仿宋_CNKI" panose="02000500000000000000" pitchFamily="2" charset="-122"/>
                          </a:rPr>
                          <m:t>𝑛</m:t>
                        </m:r>
                        <m:r>
                          <a:rPr lang="en-US" altLang="zh-CN" sz="2600" b="0" i="1" dirty="0" smtClean="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𝑖</m:t>
                        </m:r>
                      </m:sup>
                      <m:e>
                        <m:sSup>
                          <m:sSupPr>
                            <m:ctrlPr>
                              <a:rPr lang="en-US" altLang="zh-CN" sz="2600" i="1" dirty="0" smtClean="0">
                                <a:latin typeface="Cambria Math" panose="02040503050406030204" pitchFamily="18" charset="0"/>
                                <a:ea typeface="华光仿宋_CNKI" panose="02000500000000000000" pitchFamily="2" charset="-122"/>
                              </a:rPr>
                            </m:ctrlPr>
                          </m:sSupPr>
                          <m:e>
                            <m:d>
                              <m:dPr>
                                <m:ctrlPr>
                                  <a:rPr lang="en-US" altLang="zh-CN" sz="2600" b="0" i="1" dirty="0" smtClean="0">
                                    <a:latin typeface="Cambria Math" panose="02040503050406030204" pitchFamily="18" charset="0"/>
                                    <a:ea typeface="华光仿宋_CNKI" panose="02000500000000000000" pitchFamily="2" charset="-122"/>
                                  </a:rPr>
                                </m:ctrlPr>
                              </m:dPr>
                              <m:e>
                                <m:r>
                                  <a:rPr lang="en-US" altLang="zh-CN" sz="2600" b="0" i="1" dirty="0" smtClean="0">
                                    <a:latin typeface="Cambria Math" panose="02040503050406030204" pitchFamily="18" charset="0"/>
                                    <a:ea typeface="华光仿宋_CNKI" panose="02000500000000000000" pitchFamily="2" charset="-122"/>
                                  </a:rPr>
                                  <m:t>−1</m:t>
                                </m:r>
                              </m:e>
                            </m:d>
                          </m:e>
                          <m:sup>
                            <m:r>
                              <a:rPr lang="en-US" altLang="zh-CN" sz="2600" b="0" i="1" dirty="0" smtClean="0">
                                <a:latin typeface="Cambria Math" panose="02040503050406030204" pitchFamily="18" charset="0"/>
                                <a:ea typeface="华光仿宋_CNKI" panose="02000500000000000000" pitchFamily="2" charset="-122"/>
                              </a:rPr>
                              <m:t>𝑗</m:t>
                            </m:r>
                          </m:sup>
                        </m:sSup>
                        <m:sSubSup>
                          <m:sSubSupPr>
                            <m:ctrlPr>
                              <a:rPr lang="en-US" altLang="zh-CN" sz="2600" i="1" dirty="0" smtClean="0">
                                <a:latin typeface="Cambria Math" panose="02040503050406030204" pitchFamily="18" charset="0"/>
                                <a:ea typeface="华光仿宋_CNKI" panose="02000500000000000000" pitchFamily="2" charset="-122"/>
                              </a:rPr>
                            </m:ctrlPr>
                          </m:sSubSupPr>
                          <m:e>
                            <m:r>
                              <a:rPr lang="en-US" altLang="zh-CN" sz="2600" b="0" i="1" dirty="0" smtClean="0">
                                <a:latin typeface="Cambria Math" panose="02040503050406030204" pitchFamily="18" charset="0"/>
                                <a:ea typeface="华光仿宋_CNKI" panose="02000500000000000000" pitchFamily="2" charset="-122"/>
                              </a:rPr>
                              <m:t>𝐶</m:t>
                            </m:r>
                          </m:e>
                          <m:sub>
                            <m:r>
                              <a:rPr lang="en-US" altLang="zh-CN" sz="2600" b="0" i="1" dirty="0" smtClean="0">
                                <a:latin typeface="Cambria Math" panose="02040503050406030204" pitchFamily="18" charset="0"/>
                                <a:ea typeface="华光仿宋_CNKI" panose="02000500000000000000" pitchFamily="2" charset="-122"/>
                              </a:rPr>
                              <m:t>𝑛</m:t>
                            </m:r>
                            <m:r>
                              <a:rPr lang="en-US" altLang="zh-CN" sz="2600" b="0" i="1" dirty="0" smtClean="0">
                                <a:latin typeface="Cambria Math" panose="02040503050406030204" pitchFamily="18" charset="0"/>
                                <a:ea typeface="华光仿宋_CNKI" panose="02000500000000000000" pitchFamily="2" charset="-122"/>
                              </a:rPr>
                              <m:t>+1</m:t>
                            </m:r>
                          </m:sub>
                          <m:sup>
                            <m:r>
                              <a:rPr lang="en-US" altLang="zh-CN" sz="2600" b="0" i="1" dirty="0" smtClean="0">
                                <a:latin typeface="Cambria Math" panose="02040503050406030204" pitchFamily="18" charset="0"/>
                                <a:ea typeface="华光仿宋_CNKI" panose="02000500000000000000" pitchFamily="2" charset="-122"/>
                              </a:rPr>
                              <m:t>𝑗</m:t>
                            </m:r>
                          </m:sup>
                        </m:sSubSup>
                        <m:sSup>
                          <m:sSupPr>
                            <m:ctrlPr>
                              <a:rPr lang="en-US" altLang="zh-CN" sz="2600" i="1" dirty="0" smtClean="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m:t>
                            </m:r>
                            <m:r>
                              <a:rPr lang="en-US" altLang="zh-CN" sz="2600" i="1" dirty="0">
                                <a:latin typeface="Cambria Math" panose="02040503050406030204" pitchFamily="18" charset="0"/>
                                <a:ea typeface="华光仿宋_CNKI" panose="02000500000000000000" pitchFamily="2" charset="-122"/>
                              </a:rPr>
                              <m:t>𝑡</m:t>
                            </m:r>
                            <m:r>
                              <a:rPr lang="en-US" altLang="zh-CN" sz="2600" i="1" dirty="0">
                                <a:latin typeface="Cambria Math" panose="02040503050406030204" pitchFamily="18" charset="0"/>
                                <a:ea typeface="华光仿宋_CNKI" panose="02000500000000000000" pitchFamily="2" charset="-122"/>
                              </a:rPr>
                              <m:t>+</m:t>
                            </m:r>
                            <m:r>
                              <a:rPr lang="en-US" altLang="zh-CN" sz="2600" i="1" dirty="0">
                                <a:latin typeface="Cambria Math" panose="02040503050406030204" pitchFamily="18" charset="0"/>
                                <a:ea typeface="华光仿宋_CNKI" panose="02000500000000000000" pitchFamily="2" charset="-122"/>
                              </a:rPr>
                              <m:t>𝑛</m:t>
                            </m:r>
                            <m:r>
                              <a:rPr lang="en-US" altLang="zh-CN" sz="2600" i="1" dirty="0">
                                <a:latin typeface="Cambria Math" panose="02040503050406030204" pitchFamily="18" charset="0"/>
                                <a:ea typeface="华光仿宋_CNKI" panose="02000500000000000000" pitchFamily="2" charset="-122"/>
                              </a:rPr>
                              <m:t>−</m:t>
                            </m:r>
                            <m:r>
                              <a:rPr lang="en-US" altLang="zh-CN" sz="2600" i="1" dirty="0">
                                <a:latin typeface="Cambria Math" panose="02040503050406030204" pitchFamily="18" charset="0"/>
                                <a:ea typeface="华光仿宋_CNKI" panose="02000500000000000000" pitchFamily="2" charset="-122"/>
                              </a:rPr>
                              <m:t>𝑘</m:t>
                            </m:r>
                            <m:r>
                              <a:rPr lang="en-US" altLang="zh-CN" sz="2600" i="1" dirty="0">
                                <a:latin typeface="Cambria Math" panose="02040503050406030204" pitchFamily="18" charset="0"/>
                                <a:ea typeface="华光仿宋_CNKI" panose="02000500000000000000" pitchFamily="2" charset="-122"/>
                              </a:rPr>
                              <m:t>−</m:t>
                            </m:r>
                            <m:r>
                              <a:rPr lang="en-US" altLang="zh-CN" sz="2600" i="1" dirty="0">
                                <a:latin typeface="Cambria Math" panose="02040503050406030204" pitchFamily="18" charset="0"/>
                                <a:ea typeface="华光仿宋_CNKI" panose="02000500000000000000" pitchFamily="2" charset="-122"/>
                              </a:rPr>
                              <m:t>𝑗</m:t>
                            </m:r>
                            <m:r>
                              <a:rPr lang="en-US" altLang="zh-CN" sz="2600" i="1" dirty="0">
                                <a:latin typeface="Cambria Math" panose="02040503050406030204" pitchFamily="18" charset="0"/>
                                <a:ea typeface="华光仿宋_CNKI" panose="02000500000000000000" pitchFamily="2" charset="-122"/>
                              </a:rPr>
                              <m:t>)</m:t>
                            </m:r>
                          </m:e>
                          <m:sup>
                            <m:r>
                              <a:rPr lang="en-US" altLang="zh-CN" sz="2600" b="0" i="1" dirty="0" smtClean="0">
                                <a:latin typeface="Cambria Math" panose="02040503050406030204" pitchFamily="18" charset="0"/>
                                <a:ea typeface="华光仿宋_CNKI" panose="02000500000000000000" pitchFamily="2" charset="-122"/>
                              </a:rPr>
                              <m:t>𝑛</m:t>
                            </m:r>
                          </m:sup>
                        </m:sSup>
                      </m:e>
                    </m:nary>
                    <m:m>
                      <m:mPr>
                        <m:plcHide m:val="on"/>
                        <m:mcs>
                          <m:mc>
                            <m:mcPr>
                              <m:count m:val="2"/>
                              <m:mcJc m:val="center"/>
                            </m:mcPr>
                          </m:mc>
                        </m:mcs>
                        <m:ctrlPr>
                          <a:rPr lang="zh-CN" altLang="en-US" sz="2400" i="1">
                            <a:latin typeface="Cambria Math" panose="02040503050406030204" pitchFamily="18" charset="0"/>
                          </a:rPr>
                        </m:ctrlPr>
                      </m:mPr>
                      <m:mr>
                        <m:e/>
                        <m:e>
                          <m:r>
                            <a:rPr lang="zh-CN" altLang="en-US" sz="2400">
                              <a:latin typeface="Cambria Math" panose="02040503050406030204" pitchFamily="18" charset="0"/>
                            </a:rPr>
                            <m:t>𝑡</m:t>
                          </m:r>
                          <m:r>
                            <a:rPr lang="zh-CN" altLang="en-US" sz="2400">
                              <a:latin typeface="Cambria Math" panose="02040503050406030204" pitchFamily="18" charset="0"/>
                            </a:rPr>
                            <m:t>∈[0,1]</m:t>
                          </m:r>
                        </m:e>
                      </m:mr>
                    </m:m>
                  </m:oMath>
                </a14:m>
                <a:endParaRPr lang="en-US" altLang="zh-CN" sz="2600" dirty="0">
                  <a:latin typeface="华光仿宋_CNKI" panose="02000500000000000000" pitchFamily="2" charset="-122"/>
                  <a:ea typeface="华光仿宋_CNKI" panose="02000500000000000000" pitchFamily="2" charset="-122"/>
                </a:endParaRPr>
              </a:p>
              <a:p>
                <a:pPr>
                  <a:lnSpc>
                    <a:spcPct val="150000"/>
                  </a:lnSpc>
                </a:pPr>
                <a:r>
                  <a:rPr lang="zh-CN" altLang="en-US" sz="2600" dirty="0">
                    <a:latin typeface="华光仿宋_CNKI" panose="02000500000000000000" pitchFamily="2" charset="-122"/>
                    <a:ea typeface="华光仿宋_CNKI" panose="02000500000000000000" pitchFamily="2" charset="-122"/>
                  </a:rPr>
                  <a:t>    其第</a:t>
                </a:r>
                <a:r>
                  <a:rPr lang="en-US" altLang="zh-CN" sz="2600" dirty="0" err="1">
                    <a:latin typeface="华光仿宋_CNKI" panose="02000500000000000000" pitchFamily="2" charset="-122"/>
                    <a:ea typeface="华光仿宋_CNKI" panose="02000500000000000000" pitchFamily="2" charset="-122"/>
                  </a:rPr>
                  <a:t>i</a:t>
                </a:r>
                <a:r>
                  <a:rPr lang="zh-CN" altLang="en-US" sz="2600" dirty="0">
                    <a:latin typeface="华光仿宋_CNKI" panose="02000500000000000000" pitchFamily="2" charset="-122"/>
                    <a:ea typeface="华光仿宋_CNKI" panose="02000500000000000000" pitchFamily="2" charset="-122"/>
                  </a:rPr>
                  <a:t>段曲线可表示为：</a:t>
                </a:r>
                <a:endParaRPr lang="en-US" altLang="zh-CN" sz="2600" dirty="0">
                  <a:latin typeface="华光仿宋_CNKI" panose="02000500000000000000" pitchFamily="2" charset="-122"/>
                  <a:ea typeface="华光仿宋_CNKI" panose="02000500000000000000" pitchFamily="2" charset="-122"/>
                </a:endParaRPr>
              </a:p>
              <a:p>
                <a:pPr>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400" dirty="0"/>
                  <a:t> </a:t>
                </a:r>
                <a14:m>
                  <m:oMath xmlns:m="http://schemas.openxmlformats.org/officeDocument/2006/math">
                    <m:sSub>
                      <m:sSubPr>
                        <m:ctrlPr>
                          <a:rPr lang="en-US" altLang="zh-CN" sz="2400" i="1" smtClean="0">
                            <a:latin typeface="Cambria Math" panose="02040503050406030204" pitchFamily="18" charset="0"/>
                          </a:rPr>
                        </m:ctrlPr>
                      </m:sSubPr>
                      <m:e>
                        <m:r>
                          <m:rPr>
                            <m:sty m:val="p"/>
                          </m:rPr>
                          <a:rPr lang="en-US" altLang="zh-CN" sz="2400" i="1">
                            <a:latin typeface="Cambria Math" panose="02040503050406030204" pitchFamily="18" charset="0"/>
                          </a:rPr>
                          <m:t>P</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sub>
                    </m:sSub>
                    <m:r>
                      <a:rPr lang="zh-CN" altLang="en-US" sz="2400" smtClean="0">
                        <a:latin typeface="Cambria Math" panose="02040503050406030204" pitchFamily="18" charset="0"/>
                      </a:rPr>
                      <m:t>(</m:t>
                    </m:r>
                    <m:r>
                      <a:rPr lang="zh-CN" altLang="en-US" sz="2400" smtClean="0">
                        <a:latin typeface="Cambria Math" panose="02040503050406030204" pitchFamily="18" charset="0"/>
                      </a:rPr>
                      <m:t>𝑡</m:t>
                    </m:r>
                    <m:r>
                      <a:rPr lang="zh-CN" altLang="en-US" sz="2400" smtClean="0">
                        <a:latin typeface="Cambria Math" panose="02040503050406030204" pitchFamily="18" charset="0"/>
                      </a:rPr>
                      <m:t>)=</m:t>
                    </m:r>
                    <m:nary>
                      <m:naryPr>
                        <m:chr m:val="∑"/>
                        <m:ctrlPr>
                          <a:rPr lang="zh-CN" altLang="en-US" sz="2400" i="1">
                            <a:latin typeface="Cambria Math" panose="02040503050406030204" pitchFamily="18" charset="0"/>
                          </a:rPr>
                        </m:ctrlPr>
                      </m:naryPr>
                      <m:sub>
                        <m:r>
                          <m:rPr>
                            <m:sty m:val="p"/>
                          </m:rPr>
                          <a:rPr lang="en-US" altLang="zh-CN" sz="2400" b="0" i="0" smtClean="0">
                            <a:latin typeface="Cambria Math" panose="02040503050406030204" pitchFamily="18" charset="0"/>
                          </a:rPr>
                          <m:t>k</m:t>
                        </m:r>
                        <m:r>
                          <a:rPr lang="zh-CN" altLang="en-US" sz="2400">
                            <a:latin typeface="Cambria Math" panose="02040503050406030204" pitchFamily="18" charset="0"/>
                          </a:rPr>
                          <m:t>=0</m:t>
                        </m:r>
                      </m:sub>
                      <m:sup>
                        <m:r>
                          <a:rPr lang="zh-CN" altLang="en-US" sz="2400">
                            <a:latin typeface="Cambria Math" panose="02040503050406030204" pitchFamily="18" charset="0"/>
                          </a:rPr>
                          <m:t>𝑛</m:t>
                        </m:r>
                      </m:sup>
                      <m:e>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𝑃</m:t>
                            </m:r>
                          </m:e>
                          <m:sub>
                            <m:r>
                              <a:rPr lang="zh-CN" altLang="en-US" sz="2400">
                                <a:latin typeface="Cambria Math" panose="02040503050406030204" pitchFamily="18" charset="0"/>
                              </a:rPr>
                              <m:t>𝑖</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k</m:t>
                            </m:r>
                          </m:sub>
                        </m:sSub>
                        <m:r>
                          <a:rPr lang="zh-CN" altLang="en-US" sz="240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𝐵</m:t>
                            </m:r>
                          </m:e>
                          <m:sub>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sub>
                        </m:sSub>
                        <m:r>
                          <a:rPr lang="zh-CN" altLang="en-US" sz="2400">
                            <a:latin typeface="Cambria Math" panose="02040503050406030204" pitchFamily="18" charset="0"/>
                          </a:rPr>
                          <m:t>(</m:t>
                        </m:r>
                        <m:r>
                          <a:rPr lang="zh-CN" altLang="en-US" sz="2400">
                            <a:latin typeface="Cambria Math" panose="02040503050406030204" pitchFamily="18" charset="0"/>
                          </a:rPr>
                          <m:t>𝑡</m:t>
                        </m:r>
                        <m:r>
                          <a:rPr lang="zh-CN" altLang="en-US" sz="2400">
                            <a:latin typeface="Cambria Math" panose="02040503050406030204" pitchFamily="18" charset="0"/>
                          </a:rPr>
                          <m:t>)</m:t>
                        </m:r>
                      </m:e>
                    </m:nary>
                    <m:m>
                      <m:mPr>
                        <m:plcHide m:val="on"/>
                        <m:mcs>
                          <m:mc>
                            <m:mcPr>
                              <m:count m:val="2"/>
                              <m:mcJc m:val="center"/>
                            </m:mcPr>
                          </m:mc>
                        </m:mcs>
                        <m:ctrlPr>
                          <a:rPr lang="zh-CN" altLang="en-US" sz="2400" i="1">
                            <a:latin typeface="Cambria Math" panose="02040503050406030204" pitchFamily="18" charset="0"/>
                          </a:rPr>
                        </m:ctrlPr>
                      </m:mPr>
                      <m:mr>
                        <m:e/>
                        <m:e>
                          <m:r>
                            <a:rPr lang="zh-CN" altLang="en-US" sz="2400">
                              <a:latin typeface="Cambria Math" panose="02040503050406030204" pitchFamily="18" charset="0"/>
                            </a:rPr>
                            <m:t>𝑡</m:t>
                          </m:r>
                          <m:r>
                            <a:rPr lang="zh-CN" altLang="en-US" sz="2400">
                              <a:latin typeface="Cambria Math" panose="02040503050406030204" pitchFamily="18" charset="0"/>
                            </a:rPr>
                            <m:t>∈[0,1]</m:t>
                          </m:r>
                        </m:e>
                      </m:mr>
                    </m:m>
                  </m:oMath>
                </a14:m>
                <a:r>
                  <a:rPr lang="zh-CN" altLang="en-US" sz="2600" dirty="0">
                    <a:latin typeface="华光仿宋_CNKI" panose="02000500000000000000" pitchFamily="2" charset="-122"/>
                    <a:ea typeface="华光仿宋_CNKI" panose="02000500000000000000" pitchFamily="2" charset="-122"/>
                  </a:rPr>
                  <a:t> </a:t>
                </a:r>
                <a:endParaRPr lang="en-US" altLang="zh-CN" sz="2600" dirty="0">
                  <a:latin typeface="华光仿宋_CNKI" panose="02000500000000000000" pitchFamily="2" charset="-122"/>
                  <a:ea typeface="华光仿宋_CNKI" panose="02000500000000000000" pitchFamily="2" charset="-122"/>
                </a:endParaRPr>
              </a:p>
              <a:p>
                <a:pPr>
                  <a:lnSpc>
                    <a:spcPct val="150000"/>
                  </a:lnSpc>
                </a:pPr>
                <a:r>
                  <a:rPr lang="zh-CN" altLang="en-US" sz="2600" dirty="0">
                    <a:latin typeface="华光仿宋_CNKI" panose="02000500000000000000" pitchFamily="2" charset="-122"/>
                    <a:ea typeface="华光仿宋_CNKI" panose="02000500000000000000" pitchFamily="2" charset="-122"/>
                  </a:rPr>
                  <a:t>    </a:t>
                </a:r>
              </a:p>
            </p:txBody>
          </p:sp>
        </mc:Choice>
        <mc:Fallback xmlns="">
          <p:sp>
            <p:nvSpPr>
              <p:cNvPr id="2" name="Object 4">
                <a:extLst>
                  <a:ext uri="{FF2B5EF4-FFF2-40B4-BE49-F238E27FC236}">
                    <a16:creationId xmlns:a16="http://schemas.microsoft.com/office/drawing/2014/main" id="{E055DC07-A49D-65E0-A517-29FEB39C4761}"/>
                  </a:ext>
                </a:extLst>
              </p:cNvPr>
              <p:cNvSpPr txBox="1">
                <a:spLocks noRot="1" noChangeAspect="1" noMove="1" noResize="1" noEditPoints="1" noAdjustHandles="1" noChangeArrowheads="1" noChangeShapeType="1" noTextEdit="1"/>
              </p:cNvSpPr>
              <p:nvPr/>
            </p:nvSpPr>
            <p:spPr bwMode="auto">
              <a:xfrm>
                <a:off x="782512" y="589791"/>
                <a:ext cx="10626976" cy="5678418"/>
              </a:xfrm>
              <a:prstGeom prst="rect">
                <a:avLst/>
              </a:prstGeom>
              <a:blipFill>
                <a:blip r:embed="rId3"/>
                <a:stretch>
                  <a:fillRect l="-1147" b="-15897"/>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6257758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776196" y="698341"/>
                <a:ext cx="10665732" cy="546131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二次</a:t>
                </a:r>
                <a:r>
                  <a:rPr lang="en-US" altLang="zh-CN" sz="2600" b="1" dirty="0">
                    <a:latin typeface="华光标题宋_CNKI" panose="02000500000000000000" pitchFamily="2" charset="-122"/>
                    <a:ea typeface="华光标题宋_CNKI" panose="02000500000000000000" pitchFamily="2" charset="-122"/>
                  </a:rPr>
                  <a:t>B</a:t>
                </a:r>
                <a:r>
                  <a:rPr lang="zh-CN" altLang="en-US" sz="2600" b="1" dirty="0">
                    <a:latin typeface="华光标题宋_CNKI" panose="02000500000000000000" pitchFamily="2" charset="-122"/>
                    <a:ea typeface="华光标题宋_CNKI" panose="02000500000000000000" pitchFamily="2" charset="-122"/>
                  </a:rPr>
                  <a:t>样条曲线</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在控制点</a:t>
                </a:r>
                <a:r>
                  <a:rPr lang="en-US" altLang="zh-CN" sz="2600" dirty="0">
                    <a:latin typeface="华光仿宋_CNKI" panose="02000500000000000000" pitchFamily="2" charset="-122"/>
                    <a:ea typeface="华光仿宋_CNKI" panose="02000500000000000000" pitchFamily="2" charset="-122"/>
                  </a:rPr>
                  <a:t>n=2</a:t>
                </a:r>
                <a:r>
                  <a:rPr lang="zh-CN" altLang="en-US" sz="2600" dirty="0">
                    <a:latin typeface="华光仿宋_CNKI" panose="02000500000000000000" pitchFamily="2" charset="-122"/>
                    <a:ea typeface="华光仿宋_CNKI" panose="02000500000000000000" pitchFamily="2" charset="-122"/>
                  </a:rPr>
                  <a:t>时，可得到二次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样条曲线的定义为：</a:t>
                </a:r>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400" smtClean="0">
                        <a:latin typeface="Cambria Math" panose="02040503050406030204" pitchFamily="18" charset="0"/>
                      </a:rPr>
                      <m:t>𝑃</m:t>
                    </m:r>
                    <m:r>
                      <a:rPr lang="zh-CN" altLang="en-US" sz="2400" smtClean="0">
                        <a:latin typeface="Cambria Math" panose="02040503050406030204" pitchFamily="18" charset="0"/>
                      </a:rPr>
                      <m:t>(</m:t>
                    </m:r>
                    <m:r>
                      <a:rPr lang="zh-CN" altLang="en-US" sz="2400" smtClean="0">
                        <a:latin typeface="Cambria Math" panose="02040503050406030204" pitchFamily="18" charset="0"/>
                      </a:rPr>
                      <m:t>𝑡</m:t>
                    </m:r>
                    <m:r>
                      <a:rPr lang="zh-CN" altLang="en-US" sz="2400" smtClean="0">
                        <a:latin typeface="Cambria Math" panose="02040503050406030204" pitchFamily="18" charset="0"/>
                      </a:rPr>
                      <m:t>)=</m:t>
                    </m:r>
                    <m:nary>
                      <m:naryPr>
                        <m:chr m:val="∑"/>
                        <m:ctrlPr>
                          <a:rPr lang="zh-CN" altLang="en-US" sz="2400" i="1">
                            <a:latin typeface="Cambria Math" panose="02040503050406030204" pitchFamily="18" charset="0"/>
                          </a:rPr>
                        </m:ctrlPr>
                      </m:naryPr>
                      <m:sub>
                        <m:r>
                          <a:rPr lang="zh-CN" altLang="en-US" sz="2400">
                            <a:latin typeface="Cambria Math" panose="02040503050406030204" pitchFamily="18" charset="0"/>
                          </a:rPr>
                          <m:t>𝑖</m:t>
                        </m:r>
                        <m:r>
                          <a:rPr lang="zh-CN" altLang="en-US" sz="2400">
                            <a:latin typeface="Cambria Math" panose="02040503050406030204" pitchFamily="18" charset="0"/>
                          </a:rPr>
                          <m:t>=0</m:t>
                        </m:r>
                      </m:sub>
                      <m:sup>
                        <m:r>
                          <a:rPr lang="en-US" altLang="zh-CN" sz="2400" b="0" i="0" smtClean="0">
                            <a:latin typeface="Cambria Math" panose="02040503050406030204" pitchFamily="18" charset="0"/>
                          </a:rPr>
                          <m:t>2</m:t>
                        </m:r>
                      </m:sup>
                      <m:e>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𝑃</m:t>
                            </m:r>
                          </m:e>
                          <m:sub>
                            <m:r>
                              <a:rPr lang="zh-CN" altLang="en-US" sz="2400">
                                <a:latin typeface="Cambria Math" panose="02040503050406030204" pitchFamily="18" charset="0"/>
                              </a:rPr>
                              <m:t>𝑖</m:t>
                            </m:r>
                          </m:sub>
                        </m:sSub>
                        <m:r>
                          <a:rPr lang="zh-CN" altLang="en-US" sz="240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𝐵</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,2</m:t>
                            </m:r>
                          </m:sub>
                        </m:sSub>
                        <m:r>
                          <a:rPr lang="zh-CN" altLang="en-US" sz="2400">
                            <a:latin typeface="Cambria Math" panose="02040503050406030204" pitchFamily="18" charset="0"/>
                          </a:rPr>
                          <m:t>(</m:t>
                        </m:r>
                        <m:r>
                          <a:rPr lang="zh-CN" altLang="en-US" sz="2400">
                            <a:latin typeface="Cambria Math" panose="02040503050406030204" pitchFamily="18" charset="0"/>
                          </a:rPr>
                          <m:t>𝑡</m:t>
                        </m:r>
                        <m:r>
                          <a:rPr lang="zh-CN" altLang="en-US" sz="2400">
                            <a:latin typeface="Cambria Math" panose="02040503050406030204" pitchFamily="18" charset="0"/>
                          </a:rPr>
                          <m:t>)</m:t>
                        </m:r>
                      </m:e>
                    </m:nary>
                  </m:oMath>
                </a14:m>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smtClean="0">
                            <a:latin typeface="Cambria Math" panose="02040503050406030204" pitchFamily="18" charset="0"/>
                            <a:ea typeface="华光仿宋_CNKI" panose="02000500000000000000" pitchFamily="2" charset="-122"/>
                          </a:rPr>
                        </m:ctrlPr>
                      </m:fPr>
                      <m:num>
                        <m:r>
                          <a:rPr lang="en-US" altLang="zh-CN" sz="2600" b="0" i="1" dirty="0" smtClean="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2</m:t>
                        </m:r>
                      </m:den>
                    </m:f>
                    <m:sSup>
                      <m:sSupPr>
                        <m:ctrlPr>
                          <a:rPr lang="en-US" altLang="zh-CN" sz="2600" i="1" dirty="0" smtClean="0">
                            <a:latin typeface="Cambria Math" panose="02040503050406030204" pitchFamily="18" charset="0"/>
                            <a:ea typeface="华光仿宋_CNKI" panose="02000500000000000000" pitchFamily="2" charset="-122"/>
                          </a:rPr>
                        </m:ctrlPr>
                      </m:sSupPr>
                      <m:e>
                        <m:r>
                          <a:rPr lang="en-US" altLang="zh-CN" sz="2600" b="0" i="1" dirty="0" smtClean="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𝑡</m:t>
                        </m:r>
                        <m:r>
                          <a:rPr lang="en-US" altLang="zh-CN" sz="2600" b="0" i="1" dirty="0" smtClean="0">
                            <a:latin typeface="Cambria Math" panose="02040503050406030204" pitchFamily="18" charset="0"/>
                            <a:ea typeface="华光仿宋_CNKI" panose="02000500000000000000" pitchFamily="2" charset="-122"/>
                          </a:rPr>
                          <m:t>−1)</m:t>
                        </m:r>
                      </m:e>
                      <m:sup>
                        <m:r>
                          <a:rPr lang="en-US" altLang="zh-CN" sz="2600" b="0" i="1" dirty="0" smtClean="0">
                            <a:latin typeface="Cambria Math" panose="02040503050406030204" pitchFamily="18" charset="0"/>
                            <a:ea typeface="华光仿宋_CNKI" panose="02000500000000000000" pitchFamily="2" charset="-122"/>
                          </a:rPr>
                          <m:t>2</m:t>
                        </m:r>
                      </m:sup>
                    </m:sSup>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f>
                      <m:fPr>
                        <m:ctrlPr>
                          <a:rPr lang="en-US" altLang="zh-CN" sz="2600" i="1" dirty="0">
                            <a:latin typeface="Cambria Math" panose="02040503050406030204" pitchFamily="18" charset="0"/>
                            <a:ea typeface="华光仿宋_CNKI" panose="02000500000000000000" pitchFamily="2" charset="-122"/>
                          </a:rPr>
                        </m:ctrlPr>
                      </m:fPr>
                      <m:num>
                        <m:r>
                          <a:rPr lang="en-US" altLang="zh-CN" sz="2600" i="1" dirty="0">
                            <a:latin typeface="Cambria Math" panose="02040503050406030204" pitchFamily="18" charset="0"/>
                            <a:ea typeface="华光仿宋_CNKI" panose="02000500000000000000" pitchFamily="2" charset="-122"/>
                          </a:rPr>
                          <m:t>1</m:t>
                        </m:r>
                      </m:num>
                      <m:den>
                        <m:r>
                          <a:rPr lang="en-US" altLang="zh-CN" sz="2600" i="1" dirty="0">
                            <a:latin typeface="Cambria Math" panose="02040503050406030204" pitchFamily="18" charset="0"/>
                            <a:ea typeface="华光仿宋_CNKI" panose="02000500000000000000" pitchFamily="2" charset="-122"/>
                          </a:rPr>
                          <m:t>2</m:t>
                        </m:r>
                      </m:den>
                    </m:f>
                    <m:r>
                      <a:rPr lang="en-US" altLang="zh-CN" sz="2600" i="1" dirty="0">
                        <a:latin typeface="Cambria Math" panose="02040503050406030204" pitchFamily="18" charset="0"/>
                        <a:ea typeface="华光仿宋_CNKI" panose="02000500000000000000" pitchFamily="2" charset="-122"/>
                      </a:rPr>
                      <m:t>(−2</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2</m:t>
                        </m:r>
                      </m:sup>
                    </m:sSup>
                    <m:r>
                      <a:rPr lang="en-US" altLang="zh-CN" sz="2600" i="1" dirty="0">
                        <a:latin typeface="Cambria Math" panose="02040503050406030204" pitchFamily="18" charset="0"/>
                        <a:ea typeface="华光仿宋_CNKI" panose="02000500000000000000" pitchFamily="2" charset="-122"/>
                      </a:rPr>
                      <m:t>+2</m:t>
                    </m:r>
                    <m:r>
                      <a:rPr lang="en-US" altLang="zh-CN" sz="2600" i="1" dirty="0">
                        <a:latin typeface="Cambria Math" panose="02040503050406030204" pitchFamily="18" charset="0"/>
                        <a:ea typeface="华光仿宋_CNKI" panose="02000500000000000000" pitchFamily="2" charset="-122"/>
                      </a:rPr>
                      <m:t>𝑡</m:t>
                    </m:r>
                    <m:r>
                      <a:rPr lang="en-US" altLang="zh-CN" sz="2600" i="1" dirty="0">
                        <a:latin typeface="Cambria Math" panose="02040503050406030204" pitchFamily="18" charset="0"/>
                        <a:ea typeface="华光仿宋_CNKI" panose="02000500000000000000" pitchFamily="2" charset="-122"/>
                      </a:rPr>
                      <m:t>+1)</m:t>
                    </m:r>
                  </m:oMath>
                </a14:m>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i="1">
                        <a:latin typeface="Cambria Math" panose="02040503050406030204" pitchFamily="18" charset="0"/>
                      </a:rPr>
                      <m:t> </m:t>
                    </m:r>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i="1" dirty="0">
                            <a:latin typeface="Cambria Math" panose="02040503050406030204" pitchFamily="18" charset="0"/>
                            <a:ea typeface="华光仿宋_CNKI" panose="02000500000000000000" pitchFamily="2" charset="-122"/>
                          </a:rPr>
                          <m:t>1</m:t>
                        </m:r>
                      </m:num>
                      <m:den>
                        <m:r>
                          <a:rPr lang="en-US" altLang="zh-CN" sz="2600" i="1" dirty="0">
                            <a:latin typeface="Cambria Math" panose="02040503050406030204" pitchFamily="18" charset="0"/>
                            <a:ea typeface="华光仿宋_CNKI" panose="02000500000000000000" pitchFamily="2" charset="-122"/>
                          </a:rPr>
                          <m:t>2</m:t>
                        </m:r>
                      </m:den>
                    </m:f>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2</m:t>
                        </m:r>
                      </m:sup>
                    </m:sSup>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2</m:t>
                        </m:r>
                      </m:sub>
                    </m:sSub>
                    <m:r>
                      <a:rPr lang="en-US" altLang="zh-CN" sz="2800" b="0" i="0" smtClean="0">
                        <a:latin typeface="Cambria Math" panose="02040503050406030204" pitchFamily="18" charset="0"/>
                      </a:rPr>
                      <m:t>     </m:t>
                    </m:r>
                    <m:r>
                      <a:rPr lang="zh-CN" altLang="en-US">
                        <a:latin typeface="Cambria Math" panose="02040503050406030204" pitchFamily="18" charset="0"/>
                      </a:rPr>
                      <m:t>𝑡</m:t>
                    </m:r>
                    <m:r>
                      <a:rPr lang="zh-CN" altLang="en-US">
                        <a:latin typeface="Cambria Math" panose="02040503050406030204" pitchFamily="18" charset="0"/>
                      </a:rPr>
                      <m:t>∈[0,1]</m:t>
                    </m:r>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显然有如下的结论：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P(0)=</a:t>
                </a:r>
                <a:r>
                  <a:rPr lang="en-US" altLang="zh-CN" sz="2600" dirty="0">
                    <a:ea typeface="华光仿宋_CNKI" panose="02000500000000000000" pitchFamily="2" charset="-122"/>
                  </a:rPr>
                  <a:t> </a:t>
                </a:r>
                <a14:m>
                  <m:oMath xmlns:m="http://schemas.openxmlformats.org/officeDocument/2006/math">
                    <m:f>
                      <m:fPr>
                        <m:ctrlPr>
                          <a:rPr lang="en-US" altLang="zh-CN" sz="2600" i="1" dirty="0" smtClean="0">
                            <a:latin typeface="Cambria Math" panose="02040503050406030204" pitchFamily="18" charset="0"/>
                            <a:ea typeface="华光仿宋_CNKI" panose="02000500000000000000" pitchFamily="2" charset="-122"/>
                          </a:rPr>
                        </m:ctrlPr>
                      </m:fPr>
                      <m:num>
                        <m:r>
                          <a:rPr lang="en-US" altLang="zh-CN" sz="2600" b="0" i="1" dirty="0" smtClean="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2</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i="1">
                            <a:latin typeface="Cambria Math" panose="02040503050406030204" pitchFamily="18" charset="0"/>
                          </a:rPr>
                          <m:t>0</m:t>
                        </m:r>
                      </m:sub>
                    </m:sSub>
                  </m:oMath>
                </a14:m>
                <a:r>
                  <a:rPr lang="en-US" altLang="zh-CN" sz="2600" dirty="0">
                    <a:latin typeface="华光仿宋_CNKI" panose="02000500000000000000" pitchFamily="2" charset="-122"/>
                    <a:ea typeface="华光仿宋_CNKI" panose="02000500000000000000" pitchFamily="2" charset="-122"/>
                  </a:rPr>
                  <a:t>+</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   P(1)=</a:t>
                </a:r>
                <a:r>
                  <a:rPr lang="en-US" altLang="zh-CN" sz="2600" dirty="0">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i="1" dirty="0">
                            <a:latin typeface="Cambria Math" panose="02040503050406030204" pitchFamily="18" charset="0"/>
                            <a:ea typeface="华光仿宋_CNKI" panose="02000500000000000000" pitchFamily="2" charset="-122"/>
                          </a:rPr>
                          <m:t>1</m:t>
                        </m:r>
                      </m:num>
                      <m:den>
                        <m:r>
                          <a:rPr lang="en-US" altLang="zh-CN" sz="2600" i="1" dirty="0">
                            <a:latin typeface="Cambria Math" panose="02040503050406030204" pitchFamily="18" charset="0"/>
                            <a:ea typeface="华光仿宋_CNKI" panose="02000500000000000000" pitchFamily="2" charset="-122"/>
                          </a:rPr>
                          <m:t>2</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800" i="1" smtClean="0">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800" dirty="0"/>
                  <a:t> </a:t>
                </a:r>
                <a14:m>
                  <m:oMath xmlns:m="http://schemas.openxmlformats.org/officeDocument/2006/math">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600" i="1" dirty="0" smtClean="0">
                            <a:latin typeface="Cambria Math" panose="02040503050406030204" pitchFamily="18" charset="0"/>
                            <a:ea typeface="华光仿宋_CNKI" panose="02000500000000000000" pitchFamily="2" charset="-122"/>
                          </a:rPr>
                        </m:ctrlPr>
                      </m:sSupPr>
                      <m:e>
                        <m:r>
                          <a:rPr lang="en-US" altLang="zh-CN" sz="2600" b="0" i="1" dirty="0" smtClean="0">
                            <a:latin typeface="Cambria Math" panose="02040503050406030204" pitchFamily="18" charset="0"/>
                            <a:ea typeface="华光仿宋_CNKI" panose="02000500000000000000" pitchFamily="2" charset="-122"/>
                          </a:rPr>
                          <m:t>𝑃</m:t>
                        </m:r>
                      </m:e>
                      <m:sup>
                        <m:r>
                          <a:rPr lang="en-US" altLang="zh-CN" sz="2600" b="0" i="1" dirty="0" smtClean="0">
                            <a:latin typeface="Cambria Math" panose="02040503050406030204" pitchFamily="18" charset="0"/>
                            <a:ea typeface="华光仿宋_CNKI" panose="02000500000000000000" pitchFamily="2" charset="-122"/>
                          </a:rPr>
                          <m:t>′</m:t>
                        </m:r>
                      </m:sup>
                    </m:sSup>
                  </m:oMath>
                </a14:m>
                <a:r>
                  <a:rPr lang="en-US" altLang="zh-CN" sz="2600" dirty="0">
                    <a:latin typeface="华光仿宋_CNKI" panose="02000500000000000000" pitchFamily="2" charset="-122"/>
                    <a:ea typeface="华光仿宋_CNKI" panose="02000500000000000000" pitchFamily="2" charset="-122"/>
                  </a:rPr>
                  <a:t>(0)=</a:t>
                </a:r>
                <a:r>
                  <a:rPr lang="zh-CN" altLang="en-US" sz="2800" dirty="0"/>
                  <a:t> </a:t>
                </a:r>
                <a14:m>
                  <m:oMath xmlns:m="http://schemas.openxmlformats.org/officeDocument/2006/math">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i="1">
                            <a:latin typeface="Cambria Math" panose="02040503050406030204" pitchFamily="18" charset="0"/>
                          </a:rPr>
                          <m:t>0</m:t>
                        </m:r>
                      </m:sub>
                    </m:sSub>
                    <m:r>
                      <a:rPr lang="en-US" altLang="zh-CN" sz="2800" b="0" i="0" smtClean="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i="1">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i="1" dirty="0">
                            <a:latin typeface="Cambria Math" panose="02040503050406030204" pitchFamily="18" charset="0"/>
                            <a:ea typeface="华光仿宋_CNKI" panose="02000500000000000000" pitchFamily="2" charset="-122"/>
                          </a:rPr>
                        </m:ctrlPr>
                      </m:sSupPr>
                      <m:e>
                        <m:r>
                          <a:rPr lang="en-US" altLang="zh-CN" i="1" dirty="0">
                            <a:latin typeface="Cambria Math" panose="02040503050406030204" pitchFamily="18" charset="0"/>
                            <a:ea typeface="华光仿宋_CNKI" panose="02000500000000000000" pitchFamily="2" charset="-122"/>
                          </a:rPr>
                          <m:t>𝑃</m:t>
                        </m:r>
                      </m:e>
                      <m:sup>
                        <m:r>
                          <a:rPr lang="en-US" altLang="zh-CN" i="1" dirty="0">
                            <a:latin typeface="Cambria Math" panose="02040503050406030204" pitchFamily="18" charset="0"/>
                            <a:ea typeface="华光仿宋_CNKI" panose="02000500000000000000" pitchFamily="2" charset="-122"/>
                          </a:rPr>
                          <m:t>′</m:t>
                        </m:r>
                      </m:sup>
                    </m:sSup>
                  </m:oMath>
                </a14:m>
                <a:r>
                  <a:rPr lang="en-US" altLang="zh-CN" dirty="0">
                    <a:latin typeface="华光仿宋_CNKI" panose="02000500000000000000" pitchFamily="2" charset="-122"/>
                    <a:ea typeface="华光仿宋_CNKI" panose="02000500000000000000" pitchFamily="2" charset="-122"/>
                  </a:rPr>
                  <a:t>(1)=</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i="1">
                            <a:latin typeface="Cambria Math" panose="02040503050406030204" pitchFamily="18" charset="0"/>
                          </a:rPr>
                          <m:t>1</m:t>
                        </m:r>
                      </m:sub>
                    </m:sSub>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P(0.5)=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r>
                      <a:rPr lang="en-US" altLang="zh-CN" sz="2600" dirty="0">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(P(0)+P(1))+</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𝑚</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𝑃</m:t>
                        </m:r>
                      </m:e>
                      <m:sup>
                        <m:r>
                          <a:rPr lang="en-US" altLang="zh-CN" sz="2600" i="1" dirty="0">
                            <a:latin typeface="Cambria Math" panose="02040503050406030204" pitchFamily="18" charset="0"/>
                            <a:ea typeface="华光仿宋_CNKI" panose="02000500000000000000" pitchFamily="2" charset="-122"/>
                          </a:rPr>
                          <m:t>′</m:t>
                        </m:r>
                      </m:sup>
                    </m:sSup>
                  </m:oMath>
                </a14:m>
                <a:r>
                  <a:rPr lang="en-US" altLang="zh-CN" sz="2600" dirty="0">
                    <a:latin typeface="华光仿宋_CNKI" panose="02000500000000000000" pitchFamily="2" charset="-122"/>
                    <a:ea typeface="华光仿宋_CNKI" panose="02000500000000000000" pitchFamily="2" charset="-122"/>
                  </a:rPr>
                  <a:t>(0.5)=P(1)-P(0)</a:t>
                </a: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776196" y="698341"/>
                <a:ext cx="10665732" cy="546131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69750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40">
            <a:extLst>
              <a:ext uri="{FF2B5EF4-FFF2-40B4-BE49-F238E27FC236}">
                <a16:creationId xmlns:a16="http://schemas.microsoft.com/office/drawing/2014/main" id="{142D29B7-BDE1-BC73-FA40-E8B417130357}"/>
              </a:ext>
            </a:extLst>
          </p:cNvPr>
          <p:cNvGrpSpPr>
            <a:grpSpLocks/>
          </p:cNvGrpSpPr>
          <p:nvPr/>
        </p:nvGrpSpPr>
        <p:grpSpPr bwMode="auto">
          <a:xfrm>
            <a:off x="6790414" y="841761"/>
            <a:ext cx="4923472" cy="3322638"/>
            <a:chOff x="2746" y="1664"/>
            <a:chExt cx="3063" cy="2093"/>
          </a:xfrm>
        </p:grpSpPr>
        <p:sp>
          <p:nvSpPr>
            <p:cNvPr id="4" name="Freeform 10">
              <a:extLst>
                <a:ext uri="{FF2B5EF4-FFF2-40B4-BE49-F238E27FC236}">
                  <a16:creationId xmlns:a16="http://schemas.microsoft.com/office/drawing/2014/main" id="{CD47EFA1-0CEB-3833-C7E4-24FAF2BB18ED}"/>
                </a:ext>
              </a:extLst>
            </p:cNvPr>
            <p:cNvSpPr>
              <a:spLocks/>
            </p:cNvSpPr>
            <p:nvPr/>
          </p:nvSpPr>
          <p:spPr bwMode="auto">
            <a:xfrm rot="2966202">
              <a:off x="3973" y="2105"/>
              <a:ext cx="889" cy="1238"/>
            </a:xfrm>
            <a:custGeom>
              <a:avLst/>
              <a:gdLst/>
              <a:ahLst/>
              <a:cxnLst>
                <a:cxn ang="0">
                  <a:pos x="0" y="1680"/>
                </a:cxn>
                <a:cxn ang="0">
                  <a:pos x="96" y="816"/>
                </a:cxn>
                <a:cxn ang="0">
                  <a:pos x="480" y="240"/>
                </a:cxn>
                <a:cxn ang="0">
                  <a:pos x="1440" y="0"/>
                </a:cxn>
              </a:cxnLst>
              <a:rect l="0" t="0" r="r" b="b"/>
              <a:pathLst>
                <a:path w="1440" h="1680">
                  <a:moveTo>
                    <a:pt x="0" y="1680"/>
                  </a:moveTo>
                  <a:cubicBezTo>
                    <a:pt x="8" y="1368"/>
                    <a:pt x="16" y="1056"/>
                    <a:pt x="96" y="816"/>
                  </a:cubicBezTo>
                  <a:cubicBezTo>
                    <a:pt x="176" y="576"/>
                    <a:pt x="256" y="376"/>
                    <a:pt x="480" y="240"/>
                  </a:cubicBezTo>
                  <a:cubicBezTo>
                    <a:pt x="704" y="104"/>
                    <a:pt x="1072" y="52"/>
                    <a:pt x="1440" y="0"/>
                  </a:cubicBezTo>
                </a:path>
              </a:pathLst>
            </a:custGeom>
            <a:noFill/>
            <a:ln w="38100" cap="flat" cmpd="sng">
              <a:solidFill>
                <a:schemeClr val="tx1"/>
              </a:solidFill>
              <a:prstDash val="solid"/>
              <a:round/>
              <a:headEnd/>
              <a:tailEnd/>
            </a:ln>
            <a:effectLst/>
          </p:spPr>
          <p:txBody>
            <a:bodyPr/>
            <a:lstStyle/>
            <a:p>
              <a:pPr>
                <a:defRPr/>
              </a:pPr>
              <a:endParaRPr lang="zh-CN" altLang="en-US"/>
            </a:p>
          </p:txBody>
        </p:sp>
        <p:sp>
          <p:nvSpPr>
            <p:cNvPr id="5" name="Line 11">
              <a:extLst>
                <a:ext uri="{FF2B5EF4-FFF2-40B4-BE49-F238E27FC236}">
                  <a16:creationId xmlns:a16="http://schemas.microsoft.com/office/drawing/2014/main" id="{E892FE0F-5E69-0E9A-56FB-74FD5ACCAB79}"/>
                </a:ext>
              </a:extLst>
            </p:cNvPr>
            <p:cNvSpPr>
              <a:spLocks noChangeShapeType="1"/>
            </p:cNvSpPr>
            <p:nvPr/>
          </p:nvSpPr>
          <p:spPr bwMode="auto">
            <a:xfrm flipV="1">
              <a:off x="3671" y="2677"/>
              <a:ext cx="1506" cy="99"/>
            </a:xfrm>
            <a:prstGeom prst="line">
              <a:avLst/>
            </a:prstGeom>
            <a:noFill/>
            <a:ln w="38100">
              <a:solidFill>
                <a:schemeClr val="tx1"/>
              </a:solidFill>
              <a:round/>
              <a:headEnd/>
              <a:tailEnd/>
            </a:ln>
            <a:effectLst/>
          </p:spPr>
          <p:txBody>
            <a:bodyPr/>
            <a:lstStyle/>
            <a:p>
              <a:pPr>
                <a:defRPr/>
              </a:pPr>
              <a:endParaRPr lang="zh-CN" altLang="en-US"/>
            </a:p>
          </p:txBody>
        </p:sp>
        <p:sp>
          <p:nvSpPr>
            <p:cNvPr id="6" name="Line 12">
              <a:extLst>
                <a:ext uri="{FF2B5EF4-FFF2-40B4-BE49-F238E27FC236}">
                  <a16:creationId xmlns:a16="http://schemas.microsoft.com/office/drawing/2014/main" id="{EB583D0E-26BD-EEC5-351F-DA916EC240CF}"/>
                </a:ext>
              </a:extLst>
            </p:cNvPr>
            <p:cNvSpPr>
              <a:spLocks noChangeShapeType="1"/>
            </p:cNvSpPr>
            <p:nvPr/>
          </p:nvSpPr>
          <p:spPr bwMode="auto">
            <a:xfrm flipV="1">
              <a:off x="2746" y="1889"/>
              <a:ext cx="1807" cy="1787"/>
            </a:xfrm>
            <a:prstGeom prst="line">
              <a:avLst/>
            </a:prstGeom>
            <a:noFill/>
            <a:ln w="38100">
              <a:solidFill>
                <a:schemeClr val="tx1"/>
              </a:solidFill>
              <a:round/>
              <a:headEnd/>
              <a:tailEnd/>
            </a:ln>
            <a:effectLst/>
          </p:spPr>
          <p:txBody>
            <a:bodyPr/>
            <a:lstStyle/>
            <a:p>
              <a:pPr>
                <a:defRPr/>
              </a:pPr>
              <a:endParaRPr lang="zh-CN" altLang="en-US"/>
            </a:p>
          </p:txBody>
        </p:sp>
        <p:sp>
          <p:nvSpPr>
            <p:cNvPr id="7" name="Line 13">
              <a:extLst>
                <a:ext uri="{FF2B5EF4-FFF2-40B4-BE49-F238E27FC236}">
                  <a16:creationId xmlns:a16="http://schemas.microsoft.com/office/drawing/2014/main" id="{B03CD73B-858D-A0F1-09F4-254EA8FD17FC}"/>
                </a:ext>
              </a:extLst>
            </p:cNvPr>
            <p:cNvSpPr>
              <a:spLocks noChangeShapeType="1"/>
            </p:cNvSpPr>
            <p:nvPr/>
          </p:nvSpPr>
          <p:spPr bwMode="auto">
            <a:xfrm flipH="1" flipV="1">
              <a:off x="4561" y="1889"/>
              <a:ext cx="1248" cy="1562"/>
            </a:xfrm>
            <a:prstGeom prst="line">
              <a:avLst/>
            </a:prstGeom>
            <a:noFill/>
            <a:ln w="38100">
              <a:solidFill>
                <a:schemeClr val="tx1"/>
              </a:solidFill>
              <a:round/>
              <a:headEnd/>
              <a:tailEnd/>
            </a:ln>
            <a:effectLst/>
          </p:spPr>
          <p:txBody>
            <a:bodyPr/>
            <a:lstStyle/>
            <a:p>
              <a:pPr>
                <a:defRPr/>
              </a:pPr>
              <a:endParaRPr lang="zh-CN" altLang="en-US"/>
            </a:p>
          </p:txBody>
        </p:sp>
        <p:sp>
          <p:nvSpPr>
            <p:cNvPr id="8" name="Line 14">
              <a:extLst>
                <a:ext uri="{FF2B5EF4-FFF2-40B4-BE49-F238E27FC236}">
                  <a16:creationId xmlns:a16="http://schemas.microsoft.com/office/drawing/2014/main" id="{C69DABFC-A521-AB98-5781-92B5FEE257CA}"/>
                </a:ext>
              </a:extLst>
            </p:cNvPr>
            <p:cNvSpPr>
              <a:spLocks noChangeShapeType="1"/>
            </p:cNvSpPr>
            <p:nvPr/>
          </p:nvSpPr>
          <p:spPr bwMode="auto">
            <a:xfrm flipV="1">
              <a:off x="4355" y="1889"/>
              <a:ext cx="206" cy="834"/>
            </a:xfrm>
            <a:prstGeom prst="line">
              <a:avLst/>
            </a:prstGeom>
            <a:noFill/>
            <a:ln w="38100">
              <a:solidFill>
                <a:schemeClr val="tx1"/>
              </a:solidFill>
              <a:round/>
              <a:headEnd/>
              <a:tailEnd/>
            </a:ln>
            <a:effectLst/>
          </p:spPr>
          <p:txBody>
            <a:bodyPr/>
            <a:lstStyle/>
            <a:p>
              <a:pPr>
                <a:defRPr/>
              </a:pPr>
              <a:endParaRPr lang="zh-CN" altLang="en-US"/>
            </a:p>
          </p:txBody>
        </p:sp>
        <p:sp>
          <p:nvSpPr>
            <p:cNvPr id="9" name="Text Box 15">
              <a:extLst>
                <a:ext uri="{FF2B5EF4-FFF2-40B4-BE49-F238E27FC236}">
                  <a16:creationId xmlns:a16="http://schemas.microsoft.com/office/drawing/2014/main" id="{9A2AA222-B74D-C1C7-BB0D-A981103A3641}"/>
                </a:ext>
              </a:extLst>
            </p:cNvPr>
            <p:cNvSpPr txBox="1">
              <a:spLocks noChangeArrowheads="1"/>
            </p:cNvSpPr>
            <p:nvPr/>
          </p:nvSpPr>
          <p:spPr bwMode="auto">
            <a:xfrm>
              <a:off x="2897" y="3505"/>
              <a:ext cx="344" cy="25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0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P0</a:t>
              </a:r>
            </a:p>
          </p:txBody>
        </p:sp>
        <p:sp>
          <p:nvSpPr>
            <p:cNvPr id="10" name="Text Box 16">
              <a:extLst>
                <a:ext uri="{FF2B5EF4-FFF2-40B4-BE49-F238E27FC236}">
                  <a16:creationId xmlns:a16="http://schemas.microsoft.com/office/drawing/2014/main" id="{2350E3ED-D622-0ABF-4FE8-37D23130ED24}"/>
                </a:ext>
              </a:extLst>
            </p:cNvPr>
            <p:cNvSpPr txBox="1">
              <a:spLocks noChangeArrowheads="1"/>
            </p:cNvSpPr>
            <p:nvPr/>
          </p:nvSpPr>
          <p:spPr bwMode="auto">
            <a:xfrm>
              <a:off x="5440" y="3324"/>
              <a:ext cx="344" cy="25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0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P2</a:t>
              </a:r>
            </a:p>
          </p:txBody>
        </p:sp>
        <p:sp>
          <p:nvSpPr>
            <p:cNvPr id="11" name="Text Box 17">
              <a:extLst>
                <a:ext uri="{FF2B5EF4-FFF2-40B4-BE49-F238E27FC236}">
                  <a16:creationId xmlns:a16="http://schemas.microsoft.com/office/drawing/2014/main" id="{65ED5760-439A-B9E3-7688-C33DBD1CD3FD}"/>
                </a:ext>
              </a:extLst>
            </p:cNvPr>
            <p:cNvSpPr txBox="1">
              <a:spLocks noChangeArrowheads="1"/>
            </p:cNvSpPr>
            <p:nvPr/>
          </p:nvSpPr>
          <p:spPr bwMode="auto">
            <a:xfrm>
              <a:off x="4417" y="1664"/>
              <a:ext cx="342" cy="25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0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dirty="0"/>
                <a:t>P1</a:t>
              </a:r>
            </a:p>
          </p:txBody>
        </p:sp>
        <p:sp>
          <p:nvSpPr>
            <p:cNvPr id="12" name="Text Box 18">
              <a:extLst>
                <a:ext uri="{FF2B5EF4-FFF2-40B4-BE49-F238E27FC236}">
                  <a16:creationId xmlns:a16="http://schemas.microsoft.com/office/drawing/2014/main" id="{4F7456B5-A68E-B5C2-2AF6-D70A2A01F7A0}"/>
                </a:ext>
              </a:extLst>
            </p:cNvPr>
            <p:cNvSpPr txBox="1">
              <a:spLocks noChangeArrowheads="1"/>
            </p:cNvSpPr>
            <p:nvPr/>
          </p:nvSpPr>
          <p:spPr bwMode="auto">
            <a:xfrm>
              <a:off x="4252" y="2716"/>
              <a:ext cx="343"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0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M</a:t>
              </a:r>
            </a:p>
          </p:txBody>
        </p:sp>
        <p:sp>
          <p:nvSpPr>
            <p:cNvPr id="13" name="Text Box 19">
              <a:extLst>
                <a:ext uri="{FF2B5EF4-FFF2-40B4-BE49-F238E27FC236}">
                  <a16:creationId xmlns:a16="http://schemas.microsoft.com/office/drawing/2014/main" id="{FB92C206-3558-BB9A-83E3-78E276678042}"/>
                </a:ext>
              </a:extLst>
            </p:cNvPr>
            <p:cNvSpPr txBox="1">
              <a:spLocks noChangeArrowheads="1"/>
            </p:cNvSpPr>
            <p:nvPr/>
          </p:nvSpPr>
          <p:spPr bwMode="auto">
            <a:xfrm>
              <a:off x="4505" y="2080"/>
              <a:ext cx="517"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kumimoji="1" sz="1200">
                  <a:solidFill>
                    <a:srgbClr val="FFFF00"/>
                  </a:solidFill>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dirty="0">
                  <a:solidFill>
                    <a:schemeClr val="tx1"/>
                  </a:solidFill>
                  <a:effectLst/>
                </a:rPr>
                <a:t>P(0.5)</a:t>
              </a:r>
            </a:p>
          </p:txBody>
        </p:sp>
        <p:sp>
          <p:nvSpPr>
            <p:cNvPr id="14" name="Text Box 20">
              <a:extLst>
                <a:ext uri="{FF2B5EF4-FFF2-40B4-BE49-F238E27FC236}">
                  <a16:creationId xmlns:a16="http://schemas.microsoft.com/office/drawing/2014/main" id="{9D177503-B44B-784B-CA7C-AF3F055520F6}"/>
                </a:ext>
              </a:extLst>
            </p:cNvPr>
            <p:cNvSpPr txBox="1">
              <a:spLocks noChangeArrowheads="1"/>
            </p:cNvSpPr>
            <p:nvPr/>
          </p:nvSpPr>
          <p:spPr bwMode="auto">
            <a:xfrm>
              <a:off x="5170" y="2564"/>
              <a:ext cx="411"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0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P(1)</a:t>
              </a:r>
            </a:p>
          </p:txBody>
        </p:sp>
        <p:sp>
          <p:nvSpPr>
            <p:cNvPr id="15" name="Text Box 21">
              <a:extLst>
                <a:ext uri="{FF2B5EF4-FFF2-40B4-BE49-F238E27FC236}">
                  <a16:creationId xmlns:a16="http://schemas.microsoft.com/office/drawing/2014/main" id="{99246835-661A-3F7F-156F-61AF2A68A5C1}"/>
                </a:ext>
              </a:extLst>
            </p:cNvPr>
            <p:cNvSpPr txBox="1">
              <a:spLocks noChangeArrowheads="1"/>
            </p:cNvSpPr>
            <p:nvPr/>
          </p:nvSpPr>
          <p:spPr bwMode="auto">
            <a:xfrm>
              <a:off x="3278" y="2666"/>
              <a:ext cx="412"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marL="342900" indent="-342900">
                <a:spcBef>
                  <a:spcPct val="50000"/>
                </a:spcBef>
                <a:defRPr kumimoji="1" sz="2000">
                  <a:effectLst/>
                  <a:latin typeface="Times New Roman" panose="02020603050405020304" pitchFamily="18" charset="0"/>
                  <a:ea typeface="宋体" panose="02010600030101010101" pitchFamily="2" charset="-122"/>
                </a:defRPr>
              </a:lvl1pPr>
              <a:lvl2pPr marL="742950" indent="-285750" eaLnBrk="0" hangingPunct="0">
                <a:defRPr kumimoji="1" sz="1200">
                  <a:solidFill>
                    <a:srgbClr val="FFFF00"/>
                  </a:solidFill>
                  <a:latin typeface="Times New Roman" panose="02020603050405020304" pitchFamily="18" charset="0"/>
                  <a:ea typeface="宋体" panose="02010600030101010101" pitchFamily="2" charset="-122"/>
                </a:defRPr>
              </a:lvl2pPr>
              <a:lvl3pPr marL="1143000" indent="-228600" eaLnBrk="0" hangingPunct="0">
                <a:defRPr kumimoji="1" sz="1200">
                  <a:solidFill>
                    <a:srgbClr val="FFFF00"/>
                  </a:solidFill>
                  <a:latin typeface="Times New Roman" panose="02020603050405020304" pitchFamily="18" charset="0"/>
                  <a:ea typeface="宋体" panose="02010600030101010101" pitchFamily="2" charset="-122"/>
                </a:defRPr>
              </a:lvl3pPr>
              <a:lvl4pPr marL="1600200" indent="-228600" eaLnBrk="0" hangingPunct="0">
                <a:defRPr kumimoji="1" sz="1200">
                  <a:solidFill>
                    <a:srgbClr val="FFFF00"/>
                  </a:solidFill>
                  <a:latin typeface="Times New Roman" panose="02020603050405020304" pitchFamily="18" charset="0"/>
                  <a:ea typeface="宋体" panose="02010600030101010101" pitchFamily="2" charset="-122"/>
                </a:defRPr>
              </a:lvl4pPr>
              <a:lvl5pPr marL="2057400" indent="-228600" eaLnBrk="0" hangingPunct="0">
                <a:defRPr kumimoji="1" sz="1200">
                  <a:solidFill>
                    <a:srgbClr val="FFFF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200">
                  <a:solidFill>
                    <a:srgbClr val="FFFF00"/>
                  </a:solidFill>
                  <a:latin typeface="Times New Roman" panose="02020603050405020304" pitchFamily="18" charset="0"/>
                  <a:ea typeface="宋体" panose="02010600030101010101" pitchFamily="2" charset="-122"/>
                </a:defRPr>
              </a:lvl9pPr>
            </a:lstStyle>
            <a:p>
              <a:r>
                <a:rPr lang="en-US" altLang="zh-CN"/>
                <a:t>P(0)</a:t>
              </a:r>
            </a:p>
          </p:txBody>
        </p:sp>
        <p:sp>
          <p:nvSpPr>
            <p:cNvPr id="16" name="Line 23">
              <a:extLst>
                <a:ext uri="{FF2B5EF4-FFF2-40B4-BE49-F238E27FC236}">
                  <a16:creationId xmlns:a16="http://schemas.microsoft.com/office/drawing/2014/main" id="{B894419D-4789-D6FE-9971-762F587F6C87}"/>
                </a:ext>
              </a:extLst>
            </p:cNvPr>
            <p:cNvSpPr>
              <a:spLocks noChangeShapeType="1"/>
            </p:cNvSpPr>
            <p:nvPr/>
          </p:nvSpPr>
          <p:spPr bwMode="auto">
            <a:xfrm flipV="1">
              <a:off x="4458" y="2205"/>
              <a:ext cx="1302" cy="93"/>
            </a:xfrm>
            <a:prstGeom prst="line">
              <a:avLst/>
            </a:prstGeom>
            <a:noFill/>
            <a:ln w="38100">
              <a:solidFill>
                <a:schemeClr val="tx1"/>
              </a:solidFill>
              <a:round/>
              <a:headEnd/>
              <a:tailEnd type="triangle" w="med" len="med"/>
            </a:ln>
            <a:effectLst/>
          </p:spPr>
          <p:txBody>
            <a:bodyPr/>
            <a:lstStyle/>
            <a:p>
              <a:pPr>
                <a:defRPr/>
              </a:pPr>
              <a:endParaRPr lang="zh-CN" altLang="en-US"/>
            </a:p>
          </p:txBody>
        </p:sp>
      </p:grpSp>
      <mc:AlternateContent xmlns:mc="http://schemas.openxmlformats.org/markup-compatibility/2006" xmlns:a14="http://schemas.microsoft.com/office/drawing/2010/main">
        <mc:Choice Requires="a14">
          <p:sp>
            <p:nvSpPr>
              <p:cNvPr id="17" name="副标题 2">
                <a:extLst>
                  <a:ext uri="{FF2B5EF4-FFF2-40B4-BE49-F238E27FC236}">
                    <a16:creationId xmlns:a16="http://schemas.microsoft.com/office/drawing/2014/main" id="{CC37D35E-99B0-B1C6-AE43-53148ED40A2E}"/>
                  </a:ext>
                </a:extLst>
              </p:cNvPr>
              <p:cNvSpPr txBox="1">
                <a:spLocks/>
              </p:cNvSpPr>
              <p:nvPr/>
            </p:nvSpPr>
            <p:spPr>
              <a:xfrm>
                <a:off x="783784" y="516835"/>
                <a:ext cx="5885271" cy="50544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如右图所示。可以发现：</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样条曲线并不过特征多边形的起点</a:t>
                </a:r>
                <a14:m>
                  <m:oMath xmlns:m="http://schemas.openxmlformats.org/officeDocument/2006/math">
                    <m:sSub>
                      <m:sSubPr>
                        <m:ctrlPr>
                          <a:rPr lang="zh-CN" altLang="en-US" sz="2400" i="1" smtClean="0">
                            <a:latin typeface="Cambria Math" panose="02040503050406030204" pitchFamily="18" charset="0"/>
                          </a:rPr>
                        </m:ctrlPr>
                      </m:sSubPr>
                      <m:e>
                        <m:r>
                          <a:rPr lang="zh-CN" altLang="en-US" sz="2400">
                            <a:latin typeface="Cambria Math" panose="02040503050406030204" pitchFamily="18" charset="0"/>
                          </a:rPr>
                          <m:t>𝑃</m:t>
                        </m:r>
                      </m:e>
                      <m:sub>
                        <m:r>
                          <a:rPr lang="en-US" altLang="zh-CN" sz="2400" b="0" i="1" smtClean="0">
                            <a:latin typeface="Cambria Math" panose="02040503050406030204" pitchFamily="18" charset="0"/>
                          </a:rPr>
                          <m:t>0</m:t>
                        </m:r>
                      </m:sub>
                    </m:sSub>
                  </m:oMath>
                </a14:m>
                <a:r>
                  <a:rPr lang="zh-CN" altLang="en-US" sz="2600" dirty="0">
                    <a:latin typeface="华光仿宋_CNKI" panose="02000500000000000000" pitchFamily="2" charset="-122"/>
                    <a:ea typeface="华光仿宋_CNKI" panose="02000500000000000000" pitchFamily="2" charset="-122"/>
                  </a:rPr>
                  <a:t>和终点</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2</m:t>
                        </m:r>
                      </m:sub>
                    </m:sSub>
                  </m:oMath>
                </a14:m>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）二次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样条曲线是一个抛物线形状的曲线。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）二次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样条曲线的起点和终点在多边形两条边的中点。</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17" name="副标题 2">
                <a:extLst>
                  <a:ext uri="{FF2B5EF4-FFF2-40B4-BE49-F238E27FC236}">
                    <a16:creationId xmlns:a16="http://schemas.microsoft.com/office/drawing/2014/main" id="{CC37D35E-99B0-B1C6-AE43-53148ED40A2E}"/>
                  </a:ext>
                </a:extLst>
              </p:cNvPr>
              <p:cNvSpPr txBox="1">
                <a:spLocks noRot="1" noChangeAspect="1" noMove="1" noResize="1" noEditPoints="1" noAdjustHandles="1" noChangeArrowheads="1" noChangeShapeType="1" noTextEdit="1"/>
              </p:cNvSpPr>
              <p:nvPr/>
            </p:nvSpPr>
            <p:spPr>
              <a:xfrm>
                <a:off x="783784" y="516835"/>
                <a:ext cx="5885271" cy="5054428"/>
              </a:xfrm>
              <a:prstGeom prst="rect">
                <a:avLst/>
              </a:prstGeom>
              <a:blipFill>
                <a:blip r:embed="rId3"/>
                <a:stretch>
                  <a:fillRect l="-18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79748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776196" y="698341"/>
                <a:ext cx="10665732" cy="546131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三次</a:t>
                </a:r>
                <a:r>
                  <a:rPr lang="en-US" altLang="zh-CN" sz="2600" b="1" dirty="0">
                    <a:latin typeface="华光标题宋_CNKI" panose="02000500000000000000" pitchFamily="2" charset="-122"/>
                    <a:ea typeface="华光标题宋_CNKI" panose="02000500000000000000" pitchFamily="2" charset="-122"/>
                  </a:rPr>
                  <a:t>B</a:t>
                </a:r>
                <a:r>
                  <a:rPr lang="zh-CN" altLang="en-US" sz="2600" b="1" dirty="0">
                    <a:latin typeface="华光标题宋_CNKI" panose="02000500000000000000" pitchFamily="2" charset="-122"/>
                    <a:ea typeface="华光标题宋_CNKI" panose="02000500000000000000" pitchFamily="2" charset="-122"/>
                  </a:rPr>
                  <a:t>样条曲线</a:t>
                </a:r>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在控制点</a:t>
                </a:r>
                <a:r>
                  <a:rPr lang="en-US" altLang="zh-CN" sz="2600" dirty="0">
                    <a:latin typeface="华光仿宋_CNKI" panose="02000500000000000000" pitchFamily="2" charset="-122"/>
                    <a:ea typeface="华光仿宋_CNKI" panose="02000500000000000000" pitchFamily="2" charset="-122"/>
                  </a:rPr>
                  <a:t>n=3</a:t>
                </a:r>
                <a:r>
                  <a:rPr lang="zh-CN" altLang="en-US" sz="2600" dirty="0">
                    <a:latin typeface="华光仿宋_CNKI" panose="02000500000000000000" pitchFamily="2" charset="-122"/>
                    <a:ea typeface="华光仿宋_CNKI" panose="02000500000000000000" pitchFamily="2" charset="-122"/>
                  </a:rPr>
                  <a:t>时，可得到三次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样条曲线的定义为：</a:t>
                </a:r>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r>
                      <a:rPr lang="zh-CN" altLang="en-US" sz="2400" smtClean="0">
                        <a:latin typeface="Cambria Math" panose="02040503050406030204" pitchFamily="18" charset="0"/>
                      </a:rPr>
                      <m:t>𝑃</m:t>
                    </m:r>
                    <m:r>
                      <a:rPr lang="zh-CN" altLang="en-US" sz="2400" smtClean="0">
                        <a:latin typeface="Cambria Math" panose="02040503050406030204" pitchFamily="18" charset="0"/>
                      </a:rPr>
                      <m:t>(</m:t>
                    </m:r>
                    <m:r>
                      <a:rPr lang="zh-CN" altLang="en-US" sz="2400" smtClean="0">
                        <a:latin typeface="Cambria Math" panose="02040503050406030204" pitchFamily="18" charset="0"/>
                      </a:rPr>
                      <m:t>𝑡</m:t>
                    </m:r>
                    <m:r>
                      <a:rPr lang="zh-CN" altLang="en-US" sz="2400" smtClean="0">
                        <a:latin typeface="Cambria Math" panose="02040503050406030204" pitchFamily="18" charset="0"/>
                      </a:rPr>
                      <m:t>)=</m:t>
                    </m:r>
                    <m:nary>
                      <m:naryPr>
                        <m:chr m:val="∑"/>
                        <m:ctrlPr>
                          <a:rPr lang="zh-CN" altLang="en-US" sz="2400" i="1">
                            <a:latin typeface="Cambria Math" panose="02040503050406030204" pitchFamily="18" charset="0"/>
                          </a:rPr>
                        </m:ctrlPr>
                      </m:naryPr>
                      <m:sub>
                        <m:r>
                          <a:rPr lang="zh-CN" altLang="en-US" sz="2400">
                            <a:latin typeface="Cambria Math" panose="02040503050406030204" pitchFamily="18" charset="0"/>
                          </a:rPr>
                          <m:t>𝑖</m:t>
                        </m:r>
                        <m:r>
                          <a:rPr lang="zh-CN" altLang="en-US" sz="2400">
                            <a:latin typeface="Cambria Math" panose="02040503050406030204" pitchFamily="18" charset="0"/>
                          </a:rPr>
                          <m:t>=0</m:t>
                        </m:r>
                      </m:sub>
                      <m:sup>
                        <m:r>
                          <a:rPr lang="en-US" altLang="zh-CN" sz="2400" b="0" i="0" smtClean="0">
                            <a:latin typeface="Cambria Math" panose="02040503050406030204" pitchFamily="18" charset="0"/>
                          </a:rPr>
                          <m:t>3</m:t>
                        </m:r>
                      </m:sup>
                      <m:e>
                        <m:sSub>
                          <m:sSubPr>
                            <m:ctrlPr>
                              <a:rPr lang="zh-CN" altLang="en-US" sz="2400" i="1">
                                <a:latin typeface="Cambria Math" panose="02040503050406030204" pitchFamily="18" charset="0"/>
                              </a:rPr>
                            </m:ctrlPr>
                          </m:sSubPr>
                          <m:e>
                            <m:r>
                              <a:rPr lang="zh-CN" altLang="en-US" sz="2400">
                                <a:latin typeface="Cambria Math" panose="02040503050406030204" pitchFamily="18" charset="0"/>
                              </a:rPr>
                              <m:t>𝑃</m:t>
                            </m:r>
                          </m:e>
                          <m:sub>
                            <m:r>
                              <a:rPr lang="zh-CN" altLang="en-US" sz="2400">
                                <a:latin typeface="Cambria Math" panose="02040503050406030204" pitchFamily="18" charset="0"/>
                              </a:rPr>
                              <m:t>𝑖</m:t>
                            </m:r>
                          </m:sub>
                        </m:sSub>
                        <m:r>
                          <a:rPr lang="zh-CN" altLang="en-US" sz="240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𝐵</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,3</m:t>
                            </m:r>
                          </m:sub>
                        </m:sSub>
                        <m:r>
                          <a:rPr lang="zh-CN" altLang="en-US" sz="2400">
                            <a:latin typeface="Cambria Math" panose="02040503050406030204" pitchFamily="18" charset="0"/>
                          </a:rPr>
                          <m:t>(</m:t>
                        </m:r>
                        <m:r>
                          <a:rPr lang="zh-CN" altLang="en-US" sz="2400">
                            <a:latin typeface="Cambria Math" panose="02040503050406030204" pitchFamily="18" charset="0"/>
                          </a:rPr>
                          <m:t>𝑡</m:t>
                        </m:r>
                        <m:r>
                          <a:rPr lang="zh-CN" altLang="en-US" sz="2400">
                            <a:latin typeface="Cambria Math" panose="02040503050406030204" pitchFamily="18" charset="0"/>
                          </a:rPr>
                          <m:t>)</m:t>
                        </m:r>
                      </m:e>
                    </m:nary>
                  </m:oMath>
                </a14:m>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smtClean="0">
                            <a:latin typeface="Cambria Math" panose="02040503050406030204" pitchFamily="18" charset="0"/>
                            <a:ea typeface="华光仿宋_CNKI" panose="02000500000000000000" pitchFamily="2" charset="-122"/>
                          </a:rPr>
                        </m:ctrlPr>
                      </m:fPr>
                      <m:num>
                        <m:r>
                          <a:rPr lang="en-US" altLang="zh-CN" sz="2600" b="0" i="1" dirty="0" smtClean="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6</m:t>
                        </m:r>
                      </m:den>
                    </m:f>
                    <m:r>
                      <a:rPr lang="en-US" altLang="zh-CN" sz="2600" i="1" dirty="0">
                        <a:latin typeface="Cambria Math" panose="02040503050406030204" pitchFamily="18" charset="0"/>
                        <a:ea typeface="华光仿宋_CNKI" panose="02000500000000000000" pitchFamily="2" charset="-122"/>
                      </a:rPr>
                      <m:t>(−</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3</m:t>
                        </m:r>
                      </m:sup>
                    </m:sSup>
                    <m:r>
                      <a:rPr lang="en-US" altLang="zh-CN" sz="2600" i="1" dirty="0">
                        <a:latin typeface="Cambria Math" panose="02040503050406030204" pitchFamily="18" charset="0"/>
                        <a:ea typeface="华光仿宋_CNKI" panose="02000500000000000000" pitchFamily="2" charset="-122"/>
                      </a:rPr>
                      <m:t>+</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3</m:t>
                        </m:r>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2</m:t>
                        </m:r>
                      </m:sup>
                    </m:sSup>
                    <m:r>
                      <a:rPr lang="en-US" altLang="zh-CN" sz="2600" i="1" dirty="0">
                        <a:latin typeface="Cambria Math" panose="02040503050406030204" pitchFamily="18" charset="0"/>
                        <a:ea typeface="华光仿宋_CNKI" panose="02000500000000000000" pitchFamily="2" charset="-122"/>
                      </a:rPr>
                      <m:t>−3</m:t>
                    </m:r>
                    <m:r>
                      <a:rPr lang="en-US" altLang="zh-CN" sz="2600" i="1" dirty="0">
                        <a:latin typeface="Cambria Math" panose="02040503050406030204" pitchFamily="18" charset="0"/>
                        <a:ea typeface="华光仿宋_CNKI" panose="02000500000000000000" pitchFamily="2" charset="-122"/>
                      </a:rPr>
                      <m:t>𝑡</m:t>
                    </m:r>
                    <m:r>
                      <a:rPr lang="en-US" altLang="zh-CN" sz="2600" i="1" dirty="0">
                        <a:latin typeface="Cambria Math" panose="02040503050406030204" pitchFamily="18" charset="0"/>
                        <a:ea typeface="华光仿宋_CNKI" panose="02000500000000000000" pitchFamily="2" charset="-122"/>
                      </a:rPr>
                      <m:t>+1) </m:t>
                    </m:r>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f>
                      <m:fPr>
                        <m:ctrlPr>
                          <a:rPr lang="en-US" altLang="zh-CN" sz="2600" i="1" dirty="0">
                            <a:latin typeface="Cambria Math" panose="02040503050406030204" pitchFamily="18" charset="0"/>
                            <a:ea typeface="华光仿宋_CNKI" panose="02000500000000000000" pitchFamily="2" charset="-122"/>
                          </a:rPr>
                        </m:ctrlPr>
                      </m:fPr>
                      <m:num>
                        <m:r>
                          <a:rPr lang="en-US" altLang="zh-CN" sz="2600" i="1" dirty="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6</m:t>
                        </m:r>
                      </m:den>
                    </m:f>
                    <m:r>
                      <a:rPr lang="en-US" altLang="zh-CN" sz="2600" i="1"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3</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3</m:t>
                        </m:r>
                      </m:sup>
                    </m:sSup>
                    <m:r>
                      <a:rPr lang="en-US" altLang="zh-CN" sz="2600" i="1"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6</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2</m:t>
                        </m:r>
                      </m:sup>
                    </m:sSup>
                    <m:r>
                      <a:rPr lang="en-US" altLang="zh-CN" sz="2600" i="1"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4</m:t>
                    </m:r>
                    <m:r>
                      <a:rPr lang="en-US" altLang="zh-CN" sz="2600" i="1" dirty="0">
                        <a:latin typeface="Cambria Math" panose="02040503050406030204" pitchFamily="18" charset="0"/>
                        <a:ea typeface="华光仿宋_CNKI" panose="02000500000000000000" pitchFamily="2" charset="-122"/>
                      </a:rPr>
                      <m:t>)</m:t>
                    </m:r>
                  </m:oMath>
                </a14:m>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i="1">
                        <a:latin typeface="Cambria Math" panose="02040503050406030204" pitchFamily="18" charset="0"/>
                      </a:rPr>
                      <m:t> </m:t>
                    </m:r>
                  </m:oMath>
                </a14:m>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i="1" dirty="0">
                            <a:latin typeface="Cambria Math" panose="02040503050406030204" pitchFamily="18" charset="0"/>
                            <a:ea typeface="华光仿宋_CNKI" panose="02000500000000000000" pitchFamily="2" charset="-122"/>
                          </a:rPr>
                          <m:t>1</m:t>
                        </m:r>
                      </m:num>
                      <m:den>
                        <m:r>
                          <a:rPr lang="en-US" altLang="zh-CN" sz="2600" i="1" dirty="0">
                            <a:latin typeface="Cambria Math" panose="02040503050406030204" pitchFamily="18" charset="0"/>
                            <a:ea typeface="华光仿宋_CNKI" panose="02000500000000000000" pitchFamily="2" charset="-122"/>
                          </a:rPr>
                          <m:t>6</m:t>
                        </m:r>
                      </m:den>
                    </m:f>
                    <m:r>
                      <a:rPr lang="en-US" altLang="zh-CN" sz="2600" i="1" dirty="0">
                        <a:latin typeface="Cambria Math" panose="02040503050406030204" pitchFamily="18" charset="0"/>
                        <a:ea typeface="华光仿宋_CNKI" panose="02000500000000000000" pitchFamily="2" charset="-122"/>
                      </a:rPr>
                      <m:t>(−</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b="0" i="1" dirty="0" smtClean="0">
                            <a:latin typeface="Cambria Math" panose="02040503050406030204" pitchFamily="18" charset="0"/>
                            <a:ea typeface="华光仿宋_CNKI" panose="02000500000000000000" pitchFamily="2" charset="-122"/>
                          </a:rPr>
                          <m:t>3</m:t>
                        </m:r>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3</m:t>
                        </m:r>
                      </m:sup>
                    </m:sSup>
                    <m:r>
                      <a:rPr lang="en-US" altLang="zh-CN" sz="2600" i="1" dirty="0">
                        <a:latin typeface="Cambria Math" panose="02040503050406030204" pitchFamily="18" charset="0"/>
                        <a:ea typeface="华光仿宋_CNKI" panose="02000500000000000000" pitchFamily="2" charset="-122"/>
                      </a:rPr>
                      <m:t>+</m:t>
                    </m:r>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3</m:t>
                        </m:r>
                        <m:r>
                          <a:rPr lang="en-US" altLang="zh-CN" sz="2600" i="1" dirty="0">
                            <a:latin typeface="Cambria Math" panose="02040503050406030204" pitchFamily="18" charset="0"/>
                            <a:ea typeface="华光仿宋_CNKI" panose="02000500000000000000" pitchFamily="2" charset="-122"/>
                          </a:rPr>
                          <m:t>𝑡</m:t>
                        </m:r>
                      </m:e>
                      <m:sup>
                        <m:r>
                          <a:rPr lang="en-US" altLang="zh-CN" sz="2600" i="1" dirty="0">
                            <a:latin typeface="Cambria Math" panose="02040503050406030204" pitchFamily="18" charset="0"/>
                            <a:ea typeface="华光仿宋_CNKI" panose="02000500000000000000" pitchFamily="2" charset="-122"/>
                          </a:rPr>
                          <m:t>2</m:t>
                        </m:r>
                      </m:sup>
                    </m:sSup>
                    <m:r>
                      <a:rPr lang="en-US" altLang="zh-CN" sz="2600" b="0" i="1" dirty="0" smtClean="0">
                        <a:latin typeface="Cambria Math" panose="02040503050406030204" pitchFamily="18" charset="0"/>
                        <a:ea typeface="华光仿宋_CNKI" panose="02000500000000000000" pitchFamily="2" charset="-122"/>
                      </a:rPr>
                      <m:t>+</m:t>
                    </m:r>
                    <m:r>
                      <a:rPr lang="en-US" altLang="zh-CN" sz="2600" i="1" dirty="0">
                        <a:latin typeface="Cambria Math" panose="02040503050406030204" pitchFamily="18" charset="0"/>
                        <a:ea typeface="华光仿宋_CNKI" panose="02000500000000000000" pitchFamily="2" charset="-122"/>
                      </a:rPr>
                      <m:t>3</m:t>
                    </m:r>
                    <m:r>
                      <a:rPr lang="en-US" altLang="zh-CN" sz="2600" i="1" dirty="0">
                        <a:latin typeface="Cambria Math" panose="02040503050406030204" pitchFamily="18" charset="0"/>
                        <a:ea typeface="华光仿宋_CNKI" panose="02000500000000000000" pitchFamily="2" charset="-122"/>
                      </a:rPr>
                      <m:t>𝑡</m:t>
                    </m:r>
                    <m:r>
                      <a:rPr lang="en-US" altLang="zh-CN" sz="2600" i="1" dirty="0">
                        <a:latin typeface="Cambria Math" panose="02040503050406030204" pitchFamily="18" charset="0"/>
                        <a:ea typeface="华光仿宋_CNKI" panose="02000500000000000000" pitchFamily="2" charset="-122"/>
                      </a:rPr>
                      <m:t>+1) </m:t>
                    </m:r>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2</m:t>
                        </m:r>
                      </m:sub>
                    </m:sSub>
                    <m:r>
                      <a:rPr lang="en-US" altLang="zh-CN" sz="2800" i="1">
                        <a:latin typeface="Cambria Math" panose="02040503050406030204" pitchFamily="18" charset="0"/>
                      </a:rPr>
                      <m:t> </m:t>
                    </m:r>
                  </m:oMath>
                </a14:m>
                <a:r>
                  <a:rPr lang="en-US" altLang="zh-CN" sz="2600" dirty="0">
                    <a:latin typeface="华光仿宋_CNKI" panose="02000500000000000000" pitchFamily="2" charset="-122"/>
                    <a:ea typeface="华光仿宋_CNKI" panose="02000500000000000000" pitchFamily="2" charset="-122"/>
                  </a:rPr>
                  <a:t>+</a:t>
                </a:r>
                <a:r>
                  <a:rPr lang="en-US" altLang="zh-CN" sz="2600" dirty="0">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i="1" dirty="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6</m:t>
                        </m:r>
                      </m:den>
                    </m:f>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i="1" dirty="0">
                            <a:latin typeface="Cambria Math" panose="02040503050406030204" pitchFamily="18" charset="0"/>
                            <a:ea typeface="华光仿宋_CNKI" panose="02000500000000000000" pitchFamily="2" charset="-122"/>
                          </a:rPr>
                          <m:t>𝑡</m:t>
                        </m:r>
                      </m:e>
                      <m:sup>
                        <m:r>
                          <a:rPr lang="en-US" altLang="zh-CN" sz="2600" b="0" i="1" dirty="0" smtClean="0">
                            <a:latin typeface="Cambria Math" panose="02040503050406030204" pitchFamily="18" charset="0"/>
                            <a:ea typeface="华光仿宋_CNKI" panose="02000500000000000000" pitchFamily="2" charset="-122"/>
                          </a:rPr>
                          <m:t>3</m:t>
                        </m:r>
                      </m:sup>
                    </m:sSup>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en-US" altLang="zh-CN" sz="2800" b="0" i="1" smtClean="0">
                            <a:latin typeface="Cambria Math" panose="02040503050406030204" pitchFamily="18" charset="0"/>
                          </a:rPr>
                          <m:t>3</m:t>
                        </m:r>
                      </m:sub>
                    </m:sSub>
                    <m:r>
                      <a:rPr lang="en-US" altLang="zh-CN" sz="2800" b="0" i="0" smtClean="0">
                        <a:latin typeface="Cambria Math" panose="02040503050406030204" pitchFamily="18" charset="0"/>
                      </a:rPr>
                      <m:t>        </m:t>
                    </m:r>
                    <m:r>
                      <a:rPr lang="zh-CN" altLang="en-US">
                        <a:latin typeface="Cambria Math" panose="02040503050406030204" pitchFamily="18" charset="0"/>
                      </a:rPr>
                      <m:t>𝑡</m:t>
                    </m:r>
                    <m:r>
                      <a:rPr lang="zh-CN" altLang="en-US">
                        <a:latin typeface="Cambria Math" panose="02040503050406030204" pitchFamily="18" charset="0"/>
                      </a:rPr>
                      <m:t>∈[0,1]</m:t>
                    </m:r>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显然有如下的结论：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P(0)=</a:t>
                </a:r>
                <a:r>
                  <a:rPr lang="en-US" altLang="zh-CN" sz="2600" dirty="0">
                    <a:ea typeface="华光仿宋_CNKI" panose="02000500000000000000" pitchFamily="2" charset="-122"/>
                  </a:rPr>
                  <a:t> </a:t>
                </a:r>
                <a14:m>
                  <m:oMath xmlns:m="http://schemas.openxmlformats.org/officeDocument/2006/math">
                    <m:f>
                      <m:fPr>
                        <m:ctrlPr>
                          <a:rPr lang="en-US" altLang="zh-CN" sz="2600" i="1" dirty="0" smtClean="0">
                            <a:latin typeface="Cambria Math" panose="02040503050406030204" pitchFamily="18" charset="0"/>
                            <a:ea typeface="华光仿宋_CNKI" panose="02000500000000000000" pitchFamily="2" charset="-122"/>
                          </a:rPr>
                        </m:ctrlPr>
                      </m:fPr>
                      <m:num>
                        <m:r>
                          <a:rPr lang="en-US" altLang="zh-CN" sz="2600" b="0" i="1" dirty="0" smtClean="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6</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i="1">
                            <a:latin typeface="Cambria Math" panose="02040503050406030204" pitchFamily="18" charset="0"/>
                          </a:rPr>
                          <m:t>0</m:t>
                        </m:r>
                      </m:sub>
                    </m:sSub>
                  </m:oMath>
                </a14:m>
                <a:r>
                  <a:rPr lang="en-US" altLang="zh-CN" sz="2600" dirty="0">
                    <a:latin typeface="华光仿宋_CNKI" panose="02000500000000000000" pitchFamily="2" charset="-122"/>
                    <a:ea typeface="华光仿宋_CNKI" panose="02000500000000000000" pitchFamily="2" charset="-122"/>
                  </a:rPr>
                  <a:t>+</a:t>
                </a:r>
                <a:r>
                  <a:rPr lang="zh-CN" altLang="en-US" dirty="0"/>
                  <a:t> </a:t>
                </a:r>
                <a:r>
                  <a:rPr lang="en-US" altLang="zh-CN" dirty="0"/>
                  <a:t>4</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3</m:t>
                        </m:r>
                      </m:den>
                    </m:f>
                    <m:r>
                      <a:rPr lang="en-US" altLang="zh-CN" sz="2600" dirty="0">
                        <a:latin typeface="Cambria Math" panose="02040503050406030204" pitchFamily="18" charset="0"/>
                        <a:ea typeface="华光仿宋_CNKI" panose="02000500000000000000" pitchFamily="2" charset="-122"/>
                      </a:rPr>
                      <m:t>∗</m:t>
                    </m:r>
                    <m:sSub>
                      <m:sSubPr>
                        <m:ctrlPr>
                          <a:rPr lang="zh-CN" altLang="en-US" sz="2600" i="1">
                            <a:latin typeface="Cambria Math" panose="02040503050406030204" pitchFamily="18" charset="0"/>
                            <a:ea typeface="华光仿宋_CNKI" panose="02000500000000000000" pitchFamily="2" charset="-122"/>
                          </a:rPr>
                        </m:ctrlPr>
                      </m:sSubPr>
                      <m:e>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r>
                          <a:rPr lang="en-US" altLang="zh-CN" sz="2600" dirty="0">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r>
                      <a:rPr lang="en-US" altLang="zh-CN" sz="260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2</m:t>
                        </m:r>
                      </m:num>
                      <m:den>
                        <m:r>
                          <a:rPr lang="en-US" altLang="zh-CN" sz="2600" dirty="0">
                            <a:latin typeface="Cambria Math" panose="02040503050406030204" pitchFamily="18" charset="0"/>
                            <a:ea typeface="华光仿宋_CNKI" panose="02000500000000000000" pitchFamily="2" charset="-122"/>
                          </a:rPr>
                          <m:t>3</m:t>
                        </m:r>
                      </m:den>
                    </m:f>
                    <m:r>
                      <a:rPr lang="en-US" altLang="zh-CN" sz="2600" dirty="0">
                        <a:latin typeface="Cambria Math" panose="02040503050406030204" pitchFamily="18" charset="0"/>
                        <a:ea typeface="华光仿宋_CNKI" panose="02000500000000000000" pitchFamily="2" charset="-122"/>
                      </a:rPr>
                      <m:t> </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3</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𝑚</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776196" y="698341"/>
                <a:ext cx="10665732" cy="546131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248318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776194" y="571120"/>
                <a:ext cx="11166663" cy="353175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P(1)=</a:t>
                </a:r>
                <a:r>
                  <a:rPr lang="en-US" altLang="zh-CN" sz="2600" dirty="0">
                    <a:ea typeface="华光仿宋_CNKI" panose="02000500000000000000" pitchFamily="2" charset="-122"/>
                  </a:rPr>
                  <a:t> </a:t>
                </a:r>
                <a14:m>
                  <m:oMath xmlns:m="http://schemas.openxmlformats.org/officeDocument/2006/math">
                    <m:f>
                      <m:fPr>
                        <m:ctrlPr>
                          <a:rPr lang="en-US" altLang="zh-CN" sz="2600" i="1" dirty="0" smtClean="0">
                            <a:latin typeface="Cambria Math" panose="02040503050406030204" pitchFamily="18" charset="0"/>
                            <a:ea typeface="华光仿宋_CNKI" panose="02000500000000000000" pitchFamily="2" charset="-122"/>
                          </a:rPr>
                        </m:ctrlPr>
                      </m:fPr>
                      <m:num>
                        <m:r>
                          <a:rPr lang="en-US" altLang="zh-CN" sz="2600" b="0" i="1" dirty="0" smtClean="0">
                            <a:latin typeface="Cambria Math" panose="02040503050406030204" pitchFamily="18" charset="0"/>
                            <a:ea typeface="华光仿宋_CNKI" panose="02000500000000000000" pitchFamily="2" charset="-122"/>
                          </a:rPr>
                          <m:t>1</m:t>
                        </m:r>
                      </m:num>
                      <m:den>
                        <m:r>
                          <a:rPr lang="en-US" altLang="zh-CN" sz="2600" b="0" i="1" dirty="0" smtClean="0">
                            <a:latin typeface="Cambria Math" panose="02040503050406030204" pitchFamily="18" charset="0"/>
                            <a:ea typeface="华光仿宋_CNKI" panose="02000500000000000000" pitchFamily="2" charset="-122"/>
                          </a:rPr>
                          <m:t>6</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dirty="0"/>
                  <a:t> </a:t>
                </a:r>
                <a:r>
                  <a:rPr lang="en-US" altLang="zh-CN" dirty="0"/>
                  <a:t>4</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𝑃</m:t>
                        </m:r>
                      </m:e>
                      <m:sub>
                        <m:r>
                          <a:rPr lang="en-US" altLang="zh-CN" b="0" i="1" smtClean="0">
                            <a:latin typeface="Cambria Math" panose="02040503050406030204" pitchFamily="18" charset="0"/>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3</m:t>
                        </m:r>
                      </m:den>
                    </m:f>
                    <m:r>
                      <a:rPr lang="en-US" altLang="zh-CN" sz="2600" dirty="0">
                        <a:latin typeface="Cambria Math" panose="02040503050406030204" pitchFamily="18" charset="0"/>
                        <a:ea typeface="华光仿宋_CNKI" panose="02000500000000000000" pitchFamily="2" charset="-122"/>
                      </a:rPr>
                      <m:t>∗</m:t>
                    </m:r>
                    <m:sSub>
                      <m:sSubPr>
                        <m:ctrlPr>
                          <a:rPr lang="zh-CN" altLang="en-US" sz="2600" i="1">
                            <a:latin typeface="Cambria Math" panose="02040503050406030204" pitchFamily="18" charset="0"/>
                            <a:ea typeface="华光仿宋_CNKI" panose="02000500000000000000" pitchFamily="2" charset="-122"/>
                          </a:rPr>
                        </m:ctrlPr>
                      </m:sSubPr>
                      <m:e>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r>
                          <a:rPr lang="en-US" altLang="zh-CN" sz="2600" dirty="0">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3</m:t>
                        </m:r>
                      </m:sub>
                    </m:sSub>
                    <m:r>
                      <a:rPr lang="en-US" altLang="zh-CN" sz="260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2</m:t>
                        </m:r>
                      </m:num>
                      <m:den>
                        <m:r>
                          <a:rPr lang="en-US" altLang="zh-CN" sz="2600" dirty="0">
                            <a:latin typeface="Cambria Math" panose="02040503050406030204" pitchFamily="18" charset="0"/>
                            <a:ea typeface="华光仿宋_CNKI" panose="02000500000000000000" pitchFamily="2" charset="-122"/>
                          </a:rPr>
                          <m:t>3</m:t>
                        </m:r>
                      </m:den>
                    </m:f>
                    <m:r>
                      <a:rPr lang="en-US" altLang="zh-CN" sz="2600" dirty="0">
                        <a:latin typeface="Cambria Math" panose="02040503050406030204" pitchFamily="18" charset="0"/>
                        <a:ea typeface="华光仿宋_CNKI" panose="02000500000000000000" pitchFamily="2" charset="-122"/>
                      </a:rPr>
                      <m:t> </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3</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smtClean="0">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p>
                      <m:sSupPr>
                        <m:ctrlPr>
                          <a:rPr lang="en-US" altLang="zh-CN" sz="2600" i="1" dirty="0">
                            <a:latin typeface="Cambria Math" panose="02040503050406030204" pitchFamily="18" charset="0"/>
                            <a:ea typeface="华光仿宋_CNKI" panose="02000500000000000000" pitchFamily="2" charset="-122"/>
                          </a:rPr>
                        </m:ctrlPr>
                      </m:sSupPr>
                      <m:e>
                        <m:r>
                          <a:rPr lang="en-US" altLang="zh-CN" sz="2600" dirty="0">
                            <a:latin typeface="Cambria Math" panose="02040503050406030204" pitchFamily="18" charset="0"/>
                            <a:ea typeface="华光仿宋_CNKI" panose="02000500000000000000" pitchFamily="2" charset="-122"/>
                          </a:rPr>
                          <m:t>𝑃</m:t>
                        </m:r>
                      </m:e>
                      <m:sup>
                        <m:r>
                          <a:rPr lang="en-US" altLang="zh-CN" sz="2600" dirty="0">
                            <a:latin typeface="Cambria Math" panose="02040503050406030204" pitchFamily="18" charset="0"/>
                            <a:ea typeface="华光仿宋_CNKI" panose="02000500000000000000" pitchFamily="2" charset="-122"/>
                          </a:rPr>
                          <m:t>′</m:t>
                        </m:r>
                      </m:sup>
                    </m:sSup>
                  </m:oMath>
                </a14:m>
                <a:r>
                  <a:rPr lang="en-US" altLang="zh-CN" sz="2600" dirty="0">
                    <a:latin typeface="华光仿宋_CNKI" panose="02000500000000000000" pitchFamily="2" charset="-122"/>
                    <a:ea typeface="华光仿宋_CNKI" panose="02000500000000000000" pitchFamily="2" charset="-122"/>
                  </a:rPr>
                  <a:t>(0)=</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r>
                      <a:rPr lang="en-US" altLang="zh-CN" sz="260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r>
                          <a:rPr lang="en-US" altLang="zh-CN" sz="2600" dirty="0">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0</m:t>
                        </m:r>
                      </m:sub>
                    </m:sSub>
                    <m:r>
                      <a:rPr lang="en-US" altLang="zh-CN" sz="260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)=2(</a:t>
                </a:r>
                <a14:m>
                  <m:oMath xmlns:m="http://schemas.openxmlformats.org/officeDocument/2006/math">
                    <m:sSubSup>
                      <m:sSubSupPr>
                        <m:ctrlPr>
                          <a:rPr lang="en-US" altLang="zh-CN" sz="2600" i="1" smtClean="0">
                            <a:latin typeface="Cambria Math" panose="02040503050406030204" pitchFamily="18" charset="0"/>
                            <a:ea typeface="华光仿宋_CNKI" panose="02000500000000000000" pitchFamily="2" charset="-122"/>
                          </a:rPr>
                        </m:ctrlPr>
                      </m:sSubSup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1</m:t>
                        </m:r>
                      </m:sub>
                      <m:sup>
                        <m:r>
                          <a:rPr lang="en-US" altLang="zh-CN" sz="2600" b="0" i="1" smtClean="0">
                            <a:latin typeface="Cambria Math" panose="02040503050406030204" pitchFamily="18" charset="0"/>
                            <a:ea typeface="华光仿宋_CNKI" panose="02000500000000000000" pitchFamily="2" charset="-122"/>
                          </a:rPr>
                          <m:t>∗</m:t>
                        </m:r>
                      </m:sup>
                    </m:sSubSup>
                  </m:oMath>
                </a14:m>
                <a:r>
                  <a:rPr lang="en-US" altLang="zh-CN" sz="2600" dirty="0">
                    <a:latin typeface="华光仿宋_CNKI" panose="02000500000000000000" pitchFamily="2" charset="-122"/>
                    <a:ea typeface="华光仿宋_CNKI" panose="02000500000000000000" pitchFamily="2" charset="-122"/>
                  </a:rPr>
                  <a:t>-</a:t>
                </a: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r>
                      <a:rPr lang="en-US" altLang="zh-CN" sz="2600" b="0" i="0" smtClean="0">
                        <a:latin typeface="Cambria Math" panose="02040503050406030204" pitchFamily="18" charset="0"/>
                        <a:ea typeface="华光仿宋_CNKI" panose="02000500000000000000" pitchFamily="2" charset="-122"/>
                      </a:rPr>
                      <m:t>)</m:t>
                    </m:r>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ea typeface="华光仿宋_CNKI" panose="02000500000000000000" pitchFamily="2" charset="-122"/>
                  </a:rPr>
                  <a:t>   </a:t>
                </a:r>
                <a14:m>
                  <m:oMath xmlns:m="http://schemas.openxmlformats.org/officeDocument/2006/math">
                    <m:sSup>
                      <m:sSupPr>
                        <m:ctrlPr>
                          <a:rPr lang="en-US" altLang="zh-CN" sz="2600" i="1" dirty="0" smtClean="0">
                            <a:latin typeface="Cambria Math" panose="02040503050406030204" pitchFamily="18" charset="0"/>
                            <a:ea typeface="华光仿宋_CNKI" panose="02000500000000000000" pitchFamily="2" charset="-122"/>
                          </a:rPr>
                        </m:ctrlPr>
                      </m:sSupPr>
                      <m:e>
                        <m:r>
                          <a:rPr lang="en-US" altLang="zh-CN" sz="2600" dirty="0">
                            <a:latin typeface="Cambria Math" panose="02040503050406030204" pitchFamily="18" charset="0"/>
                            <a:ea typeface="华光仿宋_CNKI" panose="02000500000000000000" pitchFamily="2" charset="-122"/>
                          </a:rPr>
                          <m:t>𝑃</m:t>
                        </m:r>
                      </m:e>
                      <m:sup>
                        <m:r>
                          <a:rPr lang="en-US" altLang="zh-CN" sz="2600" dirty="0">
                            <a:latin typeface="Cambria Math" panose="02040503050406030204" pitchFamily="18" charset="0"/>
                            <a:ea typeface="华光仿宋_CNKI" panose="02000500000000000000" pitchFamily="2" charset="-122"/>
                          </a:rPr>
                          <m:t>′</m:t>
                        </m:r>
                      </m:sup>
                    </m:sSup>
                  </m:oMath>
                </a14:m>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3</m:t>
                        </m:r>
                      </m:sub>
                    </m:sSub>
                    <m:r>
                      <a:rPr lang="en-US" altLang="zh-CN" sz="2600">
                        <a:latin typeface="Cambria Math" panose="02040503050406030204" pitchFamily="18" charset="0"/>
                        <a:ea typeface="华光仿宋_CNKI" panose="02000500000000000000" pitchFamily="2" charset="-122"/>
                      </a:rPr>
                      <m:t>−</m:t>
                    </m:r>
                  </m:oMath>
                </a14:m>
                <a:r>
                  <a:rPr lang="en-US" altLang="zh-CN" sz="2600"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=2(</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2</m:t>
                            </m:r>
                          </m:den>
                        </m:f>
                        <m:r>
                          <a:rPr lang="en-US" altLang="zh-CN" sz="2600" dirty="0">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3</m:t>
                        </m:r>
                      </m:sub>
                    </m:sSub>
                    <m:r>
                      <a:rPr lang="en-US" altLang="zh-CN" sz="260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=2(</a:t>
                </a:r>
                <a14:m>
                  <m:oMath xmlns:m="http://schemas.openxmlformats.org/officeDocument/2006/math">
                    <m:sSubSup>
                      <m:sSubSupPr>
                        <m:ctrlPr>
                          <a:rPr lang="en-US" altLang="zh-CN" sz="2600" i="1" smtClean="0">
                            <a:latin typeface="Cambria Math" panose="02040503050406030204" pitchFamily="18" charset="0"/>
                            <a:ea typeface="华光仿宋_CNKI" panose="02000500000000000000" pitchFamily="2" charset="-122"/>
                          </a:rPr>
                        </m:ctrlPr>
                      </m:sSubSupPr>
                      <m:e>
                        <m:r>
                          <a:rPr lang="en-US" altLang="zh-CN" sz="2600" b="0" i="1" smtClean="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2</m:t>
                        </m:r>
                      </m:sub>
                      <m:sup>
                        <m:r>
                          <a:rPr lang="en-US" altLang="zh-CN" sz="2600" b="0" i="1" smtClean="0">
                            <a:latin typeface="Cambria Math" panose="02040503050406030204" pitchFamily="18" charset="0"/>
                            <a:ea typeface="华光仿宋_CNKI" panose="02000500000000000000" pitchFamily="2" charset="-122"/>
                          </a:rPr>
                          <m:t>∗</m:t>
                        </m:r>
                      </m:sup>
                    </m:sSubSup>
                  </m:oMath>
                </a14:m>
                <a:r>
                  <a:rPr lang="en-US" altLang="zh-CN" sz="2600" dirty="0">
                    <a:latin typeface="华光仿宋_CNKI" panose="02000500000000000000" pitchFamily="2" charset="-122"/>
                    <a:ea typeface="华光仿宋_CNKI" panose="02000500000000000000" pitchFamily="2" charset="-122"/>
                  </a:rPr>
                  <a:t>-</a:t>
                </a: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r>
                      <a:rPr lang="en-US" altLang="zh-CN" sz="2600" b="0" i="0" smtClean="0">
                        <a:latin typeface="Cambria Math" panose="02040503050406030204" pitchFamily="18" charset="0"/>
                        <a:ea typeface="华光仿宋_CNKI" panose="02000500000000000000" pitchFamily="2" charset="-122"/>
                      </a:rPr>
                      <m:t>)</m:t>
                    </m:r>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如下图所示。</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776194" y="571120"/>
                <a:ext cx="11166663" cy="3531753"/>
              </a:xfrm>
              <a:prstGeom prst="rect">
                <a:avLst/>
              </a:prstGeom>
              <a:blipFill>
                <a:blip r:embed="rId3"/>
                <a:stretch>
                  <a:fillRect b="-4145"/>
                </a:stretch>
              </a:blipFill>
            </p:spPr>
            <p:txBody>
              <a:bodyPr/>
              <a:lstStyle/>
              <a:p>
                <a:r>
                  <a:rPr lang="zh-CN" altLang="en-US">
                    <a:noFill/>
                  </a:rPr>
                  <a:t> </a:t>
                </a:r>
              </a:p>
            </p:txBody>
          </p:sp>
        </mc:Fallback>
      </mc:AlternateContent>
      <p:graphicFrame>
        <p:nvGraphicFramePr>
          <p:cNvPr id="2" name="Object 4">
            <a:extLst>
              <a:ext uri="{FF2B5EF4-FFF2-40B4-BE49-F238E27FC236}">
                <a16:creationId xmlns:a16="http://schemas.microsoft.com/office/drawing/2014/main" id="{8C49602E-9F63-7550-A50C-E8052D16909E}"/>
              </a:ext>
            </a:extLst>
          </p:cNvPr>
          <p:cNvGraphicFramePr>
            <a:graphicFrameLocks noChangeAspect="1"/>
          </p:cNvGraphicFramePr>
          <p:nvPr>
            <p:extLst>
              <p:ext uri="{D42A27DB-BD31-4B8C-83A1-F6EECF244321}">
                <p14:modId xmlns:p14="http://schemas.microsoft.com/office/powerpoint/2010/main" val="2968775944"/>
              </p:ext>
            </p:extLst>
          </p:nvPr>
        </p:nvGraphicFramePr>
        <p:xfrm>
          <a:off x="3353593" y="3574360"/>
          <a:ext cx="6011863" cy="2770188"/>
        </p:xfrm>
        <a:graphic>
          <a:graphicData uri="http://schemas.openxmlformats.org/presentationml/2006/ole">
            <mc:AlternateContent xmlns:mc="http://schemas.openxmlformats.org/markup-compatibility/2006">
              <mc:Choice xmlns:v="urn:schemas-microsoft-com:vml" Requires="v">
                <p:oleObj r:id="rId4" imgW="4191000" imgH="1924050" progId="Visio.Drawing.6">
                  <p:embed/>
                </p:oleObj>
              </mc:Choice>
              <mc:Fallback>
                <p:oleObj r:id="rId4" imgW="4191000" imgH="1924050" progId="Visio.Drawing.6">
                  <p:embed/>
                  <p:pic>
                    <p:nvPicPr>
                      <p:cNvPr id="18435" name="Object 4">
                        <a:extLst>
                          <a:ext uri="{FF2B5EF4-FFF2-40B4-BE49-F238E27FC236}">
                            <a16:creationId xmlns:a16="http://schemas.microsoft.com/office/drawing/2014/main" id="{90AE77F2-C9C0-AF2F-D16F-09C2BD1BF7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3593" y="3574360"/>
                        <a:ext cx="6011863" cy="2770188"/>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7993924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副标题 2">
                <a:extLst>
                  <a:ext uri="{FF2B5EF4-FFF2-40B4-BE49-F238E27FC236}">
                    <a16:creationId xmlns:a16="http://schemas.microsoft.com/office/drawing/2014/main" id="{CC37D35E-99B0-B1C6-AE43-53148ED40A2E}"/>
                  </a:ext>
                </a:extLst>
              </p:cNvPr>
              <p:cNvSpPr txBox="1">
                <a:spLocks/>
              </p:cNvSpPr>
              <p:nvPr/>
            </p:nvSpPr>
            <p:spPr>
              <a:xfrm>
                <a:off x="858368" y="795131"/>
                <a:ext cx="10475263" cy="505442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dirty="0">
                    <a:latin typeface="华光仿宋_CNKI" panose="02000500000000000000" pitchFamily="2" charset="-122"/>
                    <a:ea typeface="华光仿宋_CNKI" panose="02000500000000000000" pitchFamily="2" charset="-122"/>
                  </a:rPr>
                  <a:t>   可以发现：</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）三次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样条曲线的起点在三角形</a:t>
                </a:r>
                <a14:m>
                  <m:oMath xmlns:m="http://schemas.openxmlformats.org/officeDocument/2006/math">
                    <m:sSub>
                      <m:sSubPr>
                        <m:ctrlPr>
                          <a:rPr lang="zh-CN" altLang="en-US" sz="2600" i="1" smtClean="0">
                            <a:latin typeface="Cambria Math" panose="02040503050406030204" pitchFamily="18" charset="0"/>
                            <a:ea typeface="华光仿宋_CNKI" panose="02000500000000000000" pitchFamily="2" charset="-122"/>
                          </a:rPr>
                        </m:ctrlPr>
                      </m:sSubPr>
                      <m:e>
                        <m:r>
                          <a:rPr lang="zh-CN" altLang="en-US" sz="2600" i="1" smtClean="0">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0</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zh-CN" altLang="en-US" sz="2600" dirty="0">
                    <a:latin typeface="华光仿宋_CNKI" panose="02000500000000000000" pitchFamily="2" charset="-122"/>
                    <a:ea typeface="华光仿宋_CNKI" panose="02000500000000000000" pitchFamily="2" charset="-122"/>
                  </a:rPr>
                  <a:t>的中线</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𝑚</m:t>
                        </m:r>
                      </m:sub>
                    </m:sSub>
                  </m:oMath>
                </a14:m>
                <a:r>
                  <a:rPr lang="zh-CN" altLang="en-US" sz="2600" dirty="0">
                    <a:latin typeface="华光仿宋_CNKI" panose="02000500000000000000" pitchFamily="2" charset="-122"/>
                    <a:ea typeface="华光仿宋_CNKI" panose="02000500000000000000" pitchFamily="2" charset="-122"/>
                  </a:rPr>
                  <a:t>上，且距离</a:t>
                </a:r>
                <a:r>
                  <a:rPr lang="en-US" altLang="zh-CN" sz="2600" dirty="0">
                    <a:latin typeface="华光仿宋_CNKI" panose="02000500000000000000" pitchFamily="2" charset="-122"/>
                    <a:ea typeface="华光仿宋_CNKI" panose="02000500000000000000" pitchFamily="2" charset="-122"/>
                  </a:rPr>
                  <a:t>P1</a:t>
                </a:r>
                <a:r>
                  <a:rPr lang="zh-CN" altLang="en-US" sz="2600" dirty="0">
                    <a:latin typeface="华光仿宋_CNKI" panose="02000500000000000000" pitchFamily="2" charset="-122"/>
                    <a:ea typeface="华光仿宋_CNKI" panose="02000500000000000000" pitchFamily="2" charset="-122"/>
                  </a:rPr>
                  <a:t>点的</a:t>
                </a:r>
                <a:r>
                  <a:rPr lang="en-US" altLang="zh-CN" sz="2600" dirty="0">
                    <a:latin typeface="华光仿宋_CNKI" panose="02000500000000000000" pitchFamily="2" charset="-122"/>
                    <a:ea typeface="华光仿宋_CNKI" panose="02000500000000000000" pitchFamily="2" charset="-122"/>
                  </a:rPr>
                  <a:t>1/3</a:t>
                </a:r>
                <a:r>
                  <a:rPr lang="zh-CN" altLang="en-US" sz="2600" dirty="0">
                    <a:latin typeface="华光仿宋_CNKI" panose="02000500000000000000" pitchFamily="2" charset="-122"/>
                    <a:ea typeface="华光仿宋_CNKI" panose="02000500000000000000" pitchFamily="2" charset="-122"/>
                  </a:rPr>
                  <a:t>处。其切线方向与</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0</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zh-CN" altLang="en-US" sz="2600" dirty="0">
                    <a:latin typeface="华光仿宋_CNKI" panose="02000500000000000000" pitchFamily="2" charset="-122"/>
                    <a:ea typeface="华光仿宋_CNKI" panose="02000500000000000000" pitchFamily="2" charset="-122"/>
                  </a:rPr>
                  <a:t>平行，且为底边长度的</a:t>
                </a:r>
                <a:r>
                  <a:rPr lang="en-US" altLang="zh-CN" sz="2600" dirty="0">
                    <a:latin typeface="华光仿宋_CNKI" panose="02000500000000000000" pitchFamily="2" charset="-122"/>
                    <a:ea typeface="华光仿宋_CNKI" panose="02000500000000000000" pitchFamily="2" charset="-122"/>
                  </a:rPr>
                  <a:t>1/2</a:t>
                </a:r>
                <a:r>
                  <a:rPr lang="zh-CN" altLang="en-US" sz="2600" dirty="0">
                    <a:latin typeface="华光仿宋_CNKI" panose="02000500000000000000" pitchFamily="2" charset="-122"/>
                    <a:ea typeface="华光仿宋_CNKI" panose="02000500000000000000" pitchFamily="2" charset="-122"/>
                  </a:rPr>
                  <a:t>。同样终点位于</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i="1">
                            <a:latin typeface="Cambria Math" panose="02040503050406030204" pitchFamily="18" charset="0"/>
                            <a:ea typeface="华光仿宋_CNKI" panose="02000500000000000000" pitchFamily="2" charset="-122"/>
                          </a:rPr>
                          <m:t>∆</m:t>
                        </m:r>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2</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3</m:t>
                        </m:r>
                      </m:sub>
                    </m:sSub>
                  </m:oMath>
                </a14:m>
                <a:r>
                  <a:rPr lang="zh-CN" altLang="en-US" sz="2600" dirty="0">
                    <a:latin typeface="华光仿宋_CNKI" panose="02000500000000000000" pitchFamily="2" charset="-122"/>
                    <a:ea typeface="华光仿宋_CNKI" panose="02000500000000000000" pitchFamily="2" charset="-122"/>
                  </a:rPr>
                  <a:t>的纵向</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2</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sub>
                    </m:sSub>
                  </m:oMath>
                </a14:m>
                <a:r>
                  <a:rPr lang="zh-CN" altLang="en-US" sz="2600" dirty="0">
                    <a:latin typeface="华光仿宋_CNKI" panose="02000500000000000000" pitchFamily="2" charset="-122"/>
                    <a:ea typeface="华光仿宋_CNKI" panose="02000500000000000000" pitchFamily="2" charset="-122"/>
                  </a:rPr>
                  <a:t>上，且在距离</a:t>
                </a:r>
                <a:r>
                  <a:rPr lang="en-US" altLang="zh-CN" sz="2600" dirty="0">
                    <a:latin typeface="华光仿宋_CNKI" panose="02000500000000000000" pitchFamily="2" charset="-122"/>
                    <a:ea typeface="华光仿宋_CNKI" panose="02000500000000000000" pitchFamily="2" charset="-122"/>
                  </a:rPr>
                  <a:t>P2</a:t>
                </a:r>
                <a:r>
                  <a:rPr lang="zh-CN" altLang="en-US" sz="2600" dirty="0">
                    <a:latin typeface="华光仿宋_CNKI" panose="02000500000000000000" pitchFamily="2" charset="-122"/>
                    <a:ea typeface="华光仿宋_CNKI" panose="02000500000000000000" pitchFamily="2" charset="-122"/>
                  </a:rPr>
                  <a:t>点</a:t>
                </a:r>
                <a:r>
                  <a:rPr lang="en-US" altLang="zh-CN" sz="2600" dirty="0">
                    <a:latin typeface="华光仿宋_CNKI" panose="02000500000000000000" pitchFamily="2" charset="-122"/>
                    <a:ea typeface="华光仿宋_CNKI" panose="02000500000000000000" pitchFamily="2" charset="-122"/>
                  </a:rPr>
                  <a:t>1/3</a:t>
                </a:r>
                <a:r>
                  <a:rPr lang="zh-CN" altLang="en-US" sz="2600" dirty="0">
                    <a:latin typeface="华光仿宋_CNKI" panose="02000500000000000000" pitchFamily="2" charset="-122"/>
                    <a:ea typeface="华光仿宋_CNKI" panose="02000500000000000000" pitchFamily="2" charset="-122"/>
                  </a:rPr>
                  <a:t>处。其切线方向与</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3</m:t>
                        </m:r>
                      </m:sub>
                    </m:sSub>
                  </m:oMath>
                </a14:m>
                <a:r>
                  <a:rPr lang="zh-CN" altLang="en-US" sz="2600" dirty="0">
                    <a:latin typeface="华光仿宋_CNKI" panose="02000500000000000000" pitchFamily="2" charset="-122"/>
                    <a:ea typeface="华光仿宋_CNKI" panose="02000500000000000000" pitchFamily="2" charset="-122"/>
                  </a:rPr>
                  <a:t>平行，且为底边长度的</a:t>
                </a:r>
                <a:r>
                  <a:rPr lang="en-US" altLang="zh-CN" sz="2600" dirty="0">
                    <a:latin typeface="华光仿宋_CNKI" panose="02000500000000000000" pitchFamily="2" charset="-122"/>
                    <a:ea typeface="华光仿宋_CNKI" panose="02000500000000000000" pitchFamily="2" charset="-122"/>
                  </a:rPr>
                  <a:t>1/2</a:t>
                </a:r>
                <a:r>
                  <a:rPr lang="zh-CN" altLang="en-US" sz="2600" dirty="0">
                    <a:latin typeface="华光仿宋_CNKI" panose="02000500000000000000" pitchFamily="2" charset="-122"/>
                    <a:ea typeface="华光仿宋_CNKI" panose="02000500000000000000" pitchFamily="2" charset="-122"/>
                  </a:rPr>
                  <a:t>。</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）其起点和终点均不过特征多边形的起点和终点。</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通过增加顶点，形成由多个三次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样条曲线段形成的曲线在连接处必满足二阶连续的特点。</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17" name="副标题 2">
                <a:extLst>
                  <a:ext uri="{FF2B5EF4-FFF2-40B4-BE49-F238E27FC236}">
                    <a16:creationId xmlns:a16="http://schemas.microsoft.com/office/drawing/2014/main" id="{CC37D35E-99B0-B1C6-AE43-53148ED40A2E}"/>
                  </a:ext>
                </a:extLst>
              </p:cNvPr>
              <p:cNvSpPr txBox="1">
                <a:spLocks noRot="1" noChangeAspect="1" noMove="1" noResize="1" noEditPoints="1" noAdjustHandles="1" noChangeArrowheads="1" noChangeShapeType="1" noTextEdit="1"/>
              </p:cNvSpPr>
              <p:nvPr/>
            </p:nvSpPr>
            <p:spPr>
              <a:xfrm>
                <a:off x="858368" y="795131"/>
                <a:ext cx="10475263" cy="5054428"/>
              </a:xfrm>
              <a:prstGeom prst="rect">
                <a:avLst/>
              </a:prstGeom>
              <a:blipFill>
                <a:blip r:embed="rId3"/>
                <a:stretch>
                  <a:fillRect l="-1048" r="-6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938187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直接连接符 52">
            <a:extLst>
              <a:ext uri="{FF2B5EF4-FFF2-40B4-BE49-F238E27FC236}">
                <a16:creationId xmlns:a16="http://schemas.microsoft.com/office/drawing/2014/main" id="{000293BC-FDA6-C0BE-552A-A43B38D40E29}"/>
              </a:ext>
            </a:extLst>
          </p:cNvPr>
          <p:cNvCxnSpPr/>
          <p:nvPr/>
        </p:nvCxnSpPr>
        <p:spPr>
          <a:xfrm>
            <a:off x="9048750" y="4794440"/>
            <a:ext cx="1466850"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633073" y="634731"/>
                <a:ext cx="10665732" cy="31816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特殊情况下的三次</a:t>
                </a:r>
                <a:r>
                  <a:rPr lang="en-US" altLang="zh-CN" sz="2600" b="1" dirty="0">
                    <a:latin typeface="华光标题宋_CNKI" panose="02000500000000000000" pitchFamily="2" charset="-122"/>
                    <a:ea typeface="华光标题宋_CNKI" panose="02000500000000000000" pitchFamily="2" charset="-122"/>
                  </a:rPr>
                  <a:t>B</a:t>
                </a:r>
                <a:r>
                  <a:rPr lang="zh-CN" altLang="en-US" sz="2600" b="1" dirty="0">
                    <a:latin typeface="华光标题宋_CNKI" panose="02000500000000000000" pitchFamily="2" charset="-122"/>
                    <a:ea typeface="华光标题宋_CNKI" panose="02000500000000000000" pitchFamily="2" charset="-122"/>
                  </a:rPr>
                  <a:t>样条曲线：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(1)</a:t>
                </a:r>
                <a:r>
                  <a:rPr lang="zh-CN" altLang="en-US" sz="2600" dirty="0">
                    <a:latin typeface="华光仿宋_CNKI" panose="02000500000000000000" pitchFamily="2" charset="-122"/>
                    <a:ea typeface="华光仿宋_CNKI" panose="02000500000000000000" pitchFamily="2" charset="-122"/>
                  </a:rPr>
                  <a:t>控制点共线</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如果三个控制点</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0</m:t>
                        </m:r>
                      </m:sub>
                    </m:sSub>
                    <m:r>
                      <a:rPr lang="en-US" altLang="zh-CN" sz="2600" i="1">
                        <a:latin typeface="Cambria Math" panose="02040503050406030204" pitchFamily="18" charset="0"/>
                        <a:ea typeface="华光仿宋_CNKI" panose="02000500000000000000" pitchFamily="2" charset="-122"/>
                      </a:rPr>
                      <m:t> </m:t>
                    </m:r>
                    <m:sSub>
                      <m:sSubPr>
                        <m:ctrlPr>
                          <a:rPr lang="zh-CN" altLang="en-US" sz="2600" i="1" smtClean="0">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zh-CN" altLang="en-US" sz="2600" dirty="0">
                    <a:latin typeface="华光仿宋_CNKI" panose="02000500000000000000" pitchFamily="2" charset="-122"/>
                    <a:ea typeface="华光仿宋_CNKI" panose="02000500000000000000" pitchFamily="2" charset="-122"/>
                  </a:rPr>
                  <a:t>在一条直线上，则所生成的曲线的起点将在</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距离</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0</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zh-CN" altLang="en-US" sz="2600" dirty="0">
                    <a:latin typeface="华光仿宋_CNKI" panose="02000500000000000000" pitchFamily="2" charset="-122"/>
                    <a:ea typeface="华光仿宋_CNKI" panose="02000500000000000000" pitchFamily="2" charset="-122"/>
                  </a:rPr>
                  <a:t>中间点</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𝑚</m:t>
                        </m:r>
                      </m:sub>
                    </m:sSub>
                    <m:r>
                      <a:rPr lang="en-US" altLang="zh-CN" sz="2600" i="1">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1/3</a:t>
                </a:r>
                <a:r>
                  <a:rPr lang="zh-CN" altLang="en-US" sz="2600" dirty="0">
                    <a:latin typeface="华光仿宋_CNKI" panose="02000500000000000000" pitchFamily="2" charset="-122"/>
                    <a:ea typeface="华光仿宋_CNKI" panose="02000500000000000000" pitchFamily="2" charset="-122"/>
                  </a:rPr>
                  <a:t>处。如下左图所示。如果四点共线，则生成的曲线变成了一条直线。如下右图所示。</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633073" y="634731"/>
                <a:ext cx="10665732" cy="3181619"/>
              </a:xfrm>
              <a:prstGeom prst="rect">
                <a:avLst/>
              </a:prstGeom>
              <a:blipFill>
                <a:blip r:embed="rId3"/>
                <a:stretch>
                  <a:fillRect l="-1029" b="-1341"/>
                </a:stretch>
              </a:blipFill>
            </p:spPr>
            <p:txBody>
              <a:bodyPr/>
              <a:lstStyle/>
              <a:p>
                <a:r>
                  <a:rPr lang="zh-CN" altLang="en-US">
                    <a:noFill/>
                  </a:rPr>
                  <a:t> </a:t>
                </a:r>
              </a:p>
            </p:txBody>
          </p:sp>
        </mc:Fallback>
      </mc:AlternateContent>
      <p:grpSp>
        <p:nvGrpSpPr>
          <p:cNvPr id="30" name="组合 29">
            <a:extLst>
              <a:ext uri="{FF2B5EF4-FFF2-40B4-BE49-F238E27FC236}">
                <a16:creationId xmlns:a16="http://schemas.microsoft.com/office/drawing/2014/main" id="{32F53CB1-0D88-F099-D940-8CF26837A45A}"/>
              </a:ext>
            </a:extLst>
          </p:cNvPr>
          <p:cNvGrpSpPr/>
          <p:nvPr/>
        </p:nvGrpSpPr>
        <p:grpSpPr>
          <a:xfrm>
            <a:off x="1093581" y="4151846"/>
            <a:ext cx="4728708" cy="1477308"/>
            <a:chOff x="1595231" y="3827996"/>
            <a:chExt cx="4728708" cy="1477308"/>
          </a:xfrm>
        </p:grpSpPr>
        <p:cxnSp>
          <p:nvCxnSpPr>
            <p:cNvPr id="3" name="直接连接符 2">
              <a:extLst>
                <a:ext uri="{FF2B5EF4-FFF2-40B4-BE49-F238E27FC236}">
                  <a16:creationId xmlns:a16="http://schemas.microsoft.com/office/drawing/2014/main" id="{1875749C-6903-9115-4C83-EF032EAF63B6}"/>
                </a:ext>
              </a:extLst>
            </p:cNvPr>
            <p:cNvCxnSpPr/>
            <p:nvPr/>
          </p:nvCxnSpPr>
          <p:spPr>
            <a:xfrm>
              <a:off x="1868557" y="4253948"/>
              <a:ext cx="3013544"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3B22D2BB-801F-2353-AC66-764EC67063A1}"/>
                </a:ext>
              </a:extLst>
            </p:cNvPr>
            <p:cNvCxnSpPr/>
            <p:nvPr/>
          </p:nvCxnSpPr>
          <p:spPr>
            <a:xfrm>
              <a:off x="4882101" y="4253948"/>
              <a:ext cx="985962" cy="97005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9A62C94-A3CC-79AB-CB2C-EF3BB9B58D29}"/>
                    </a:ext>
                  </a:extLst>
                </p:cNvPr>
                <p:cNvSpPr txBox="1"/>
                <p:nvPr/>
              </p:nvSpPr>
              <p:spPr>
                <a:xfrm>
                  <a:off x="1595231" y="3914635"/>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0</m:t>
                            </m:r>
                          </m:sub>
                        </m:sSub>
                      </m:oMath>
                    </m:oMathPara>
                  </a14:m>
                  <a:endParaRPr lang="zh-CN" altLang="en-US" dirty="0"/>
                </a:p>
              </p:txBody>
            </p:sp>
          </mc:Choice>
          <mc:Fallback xmlns="">
            <p:sp>
              <p:nvSpPr>
                <p:cNvPr id="8" name="文本框 7">
                  <a:extLst>
                    <a:ext uri="{FF2B5EF4-FFF2-40B4-BE49-F238E27FC236}">
                      <a16:creationId xmlns:a16="http://schemas.microsoft.com/office/drawing/2014/main" id="{69A62C94-A3CC-79AB-CB2C-EF3BB9B58D29}"/>
                    </a:ext>
                  </a:extLst>
                </p:cNvPr>
                <p:cNvSpPr txBox="1">
                  <a:spLocks noRot="1" noChangeAspect="1" noMove="1" noResize="1" noEditPoints="1" noAdjustHandles="1" noChangeArrowheads="1" noChangeShapeType="1" noTextEdit="1"/>
                </p:cNvSpPr>
                <p:nvPr/>
              </p:nvSpPr>
              <p:spPr>
                <a:xfrm>
                  <a:off x="1595231" y="3914635"/>
                  <a:ext cx="54665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7543D3C-C106-EE37-E52E-5A43CF2AA17E}"/>
                    </a:ext>
                  </a:extLst>
                </p:cNvPr>
                <p:cNvSpPr txBox="1"/>
                <p:nvPr/>
              </p:nvSpPr>
              <p:spPr>
                <a:xfrm>
                  <a:off x="3532368" y="3884616"/>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1</m:t>
                            </m:r>
                          </m:sub>
                        </m:sSub>
                      </m:oMath>
                    </m:oMathPara>
                  </a14:m>
                  <a:endParaRPr lang="zh-CN" altLang="en-US" dirty="0"/>
                </a:p>
              </p:txBody>
            </p:sp>
          </mc:Choice>
          <mc:Fallback xmlns="">
            <p:sp>
              <p:nvSpPr>
                <p:cNvPr id="10" name="文本框 9">
                  <a:extLst>
                    <a:ext uri="{FF2B5EF4-FFF2-40B4-BE49-F238E27FC236}">
                      <a16:creationId xmlns:a16="http://schemas.microsoft.com/office/drawing/2014/main" id="{F7543D3C-C106-EE37-E52E-5A43CF2AA17E}"/>
                    </a:ext>
                  </a:extLst>
                </p:cNvPr>
                <p:cNvSpPr txBox="1">
                  <a:spLocks noRot="1" noChangeAspect="1" noMove="1" noResize="1" noEditPoints="1" noAdjustHandles="1" noChangeArrowheads="1" noChangeShapeType="1" noTextEdit="1"/>
                </p:cNvSpPr>
                <p:nvPr/>
              </p:nvSpPr>
              <p:spPr>
                <a:xfrm>
                  <a:off x="3532368" y="3884616"/>
                  <a:ext cx="745434"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4D3989-D3C2-886C-D906-055BDB19F782}"/>
                    </a:ext>
                  </a:extLst>
                </p:cNvPr>
                <p:cNvSpPr txBox="1"/>
                <p:nvPr/>
              </p:nvSpPr>
              <p:spPr>
                <a:xfrm>
                  <a:off x="4485528" y="3827996"/>
                  <a:ext cx="103168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2</m:t>
                            </m:r>
                          </m:sub>
                        </m:sSub>
                      </m:oMath>
                    </m:oMathPara>
                  </a14:m>
                  <a:endParaRPr lang="zh-CN" altLang="en-US" dirty="0"/>
                </a:p>
              </p:txBody>
            </p:sp>
          </mc:Choice>
          <mc:Fallback xmlns="">
            <p:sp>
              <p:nvSpPr>
                <p:cNvPr id="12" name="文本框 11">
                  <a:extLst>
                    <a:ext uri="{FF2B5EF4-FFF2-40B4-BE49-F238E27FC236}">
                      <a16:creationId xmlns:a16="http://schemas.microsoft.com/office/drawing/2014/main" id="{3A4D3989-D3C2-886C-D906-055BDB19F782}"/>
                    </a:ext>
                  </a:extLst>
                </p:cNvPr>
                <p:cNvSpPr txBox="1">
                  <a:spLocks noRot="1" noChangeAspect="1" noMove="1" noResize="1" noEditPoints="1" noAdjustHandles="1" noChangeArrowheads="1" noChangeShapeType="1" noTextEdit="1"/>
                </p:cNvSpPr>
                <p:nvPr/>
              </p:nvSpPr>
              <p:spPr>
                <a:xfrm>
                  <a:off x="4485528" y="3827996"/>
                  <a:ext cx="103168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2059B80-0065-1A67-6E35-059148067E84}"/>
                    </a:ext>
                  </a:extLst>
                </p:cNvPr>
                <p:cNvSpPr txBox="1"/>
                <p:nvPr/>
              </p:nvSpPr>
              <p:spPr>
                <a:xfrm>
                  <a:off x="5838909" y="4935973"/>
                  <a:ext cx="485030" cy="369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3</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22059B80-0065-1A67-6E35-059148067E84}"/>
                    </a:ext>
                  </a:extLst>
                </p:cNvPr>
                <p:cNvSpPr txBox="1">
                  <a:spLocks noRot="1" noChangeAspect="1" noMove="1" noResize="1" noEditPoints="1" noAdjustHandles="1" noChangeArrowheads="1" noChangeShapeType="1" noTextEdit="1"/>
                </p:cNvSpPr>
                <p:nvPr/>
              </p:nvSpPr>
              <p:spPr>
                <a:xfrm>
                  <a:off x="5838909" y="4935973"/>
                  <a:ext cx="485030" cy="36933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6E4174D-CFB2-E367-8FD3-9CBD4BC7651B}"/>
                    </a:ext>
                  </a:extLst>
                </p:cNvPr>
                <p:cNvSpPr txBox="1"/>
                <p:nvPr/>
              </p:nvSpPr>
              <p:spPr>
                <a:xfrm>
                  <a:off x="2890687" y="4283967"/>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𝑚</m:t>
                            </m:r>
                          </m:sub>
                        </m:sSub>
                      </m:oMath>
                    </m:oMathPara>
                  </a14:m>
                  <a:endParaRPr lang="zh-CN" altLang="en-US" dirty="0"/>
                </a:p>
              </p:txBody>
            </p:sp>
          </mc:Choice>
          <mc:Fallback xmlns="">
            <p:sp>
              <p:nvSpPr>
                <p:cNvPr id="15" name="文本框 14">
                  <a:extLst>
                    <a:ext uri="{FF2B5EF4-FFF2-40B4-BE49-F238E27FC236}">
                      <a16:creationId xmlns:a16="http://schemas.microsoft.com/office/drawing/2014/main" id="{86E4174D-CFB2-E367-8FD3-9CBD4BC7651B}"/>
                    </a:ext>
                  </a:extLst>
                </p:cNvPr>
                <p:cNvSpPr txBox="1">
                  <a:spLocks noRot="1" noChangeAspect="1" noMove="1" noResize="1" noEditPoints="1" noAdjustHandles="1" noChangeArrowheads="1" noChangeShapeType="1" noTextEdit="1"/>
                </p:cNvSpPr>
                <p:nvPr/>
              </p:nvSpPr>
              <p:spPr>
                <a:xfrm>
                  <a:off x="2890687" y="4283967"/>
                  <a:ext cx="745434" cy="369332"/>
                </a:xfrm>
                <a:prstGeom prst="rect">
                  <a:avLst/>
                </a:prstGeom>
                <a:blipFill>
                  <a:blip r:embed="rId8"/>
                  <a:stretch>
                    <a:fillRect/>
                  </a:stretch>
                </a:blipFill>
              </p:spPr>
              <p:txBody>
                <a:bodyPr/>
                <a:lstStyle/>
                <a:p>
                  <a:r>
                    <a:rPr lang="zh-CN" altLang="en-US">
                      <a:noFill/>
                    </a:rPr>
                    <a:t> </a:t>
                  </a:r>
                </a:p>
              </p:txBody>
            </p:sp>
          </mc:Fallback>
        </mc:AlternateContent>
        <p:sp>
          <p:nvSpPr>
            <p:cNvPr id="16" name="任意多边形: 形状 15">
              <a:extLst>
                <a:ext uri="{FF2B5EF4-FFF2-40B4-BE49-F238E27FC236}">
                  <a16:creationId xmlns:a16="http://schemas.microsoft.com/office/drawing/2014/main" id="{B8D79D3F-45FA-861A-2A2F-3FDA2C2CEE09}"/>
                </a:ext>
              </a:extLst>
            </p:cNvPr>
            <p:cNvSpPr/>
            <p:nvPr/>
          </p:nvSpPr>
          <p:spPr>
            <a:xfrm>
              <a:off x="3663949" y="4261898"/>
              <a:ext cx="1218151" cy="143117"/>
            </a:xfrm>
            <a:custGeom>
              <a:avLst/>
              <a:gdLst>
                <a:gd name="connsiteX0" fmla="*/ 0 w 1248355"/>
                <a:gd name="connsiteY0" fmla="*/ 0 h 143124"/>
                <a:gd name="connsiteX1" fmla="*/ 667910 w 1248355"/>
                <a:gd name="connsiteY1" fmla="*/ 39757 h 143124"/>
                <a:gd name="connsiteX2" fmla="*/ 1248355 w 1248355"/>
                <a:gd name="connsiteY2" fmla="*/ 143124 h 143124"/>
              </a:gdLst>
              <a:ahLst/>
              <a:cxnLst>
                <a:cxn ang="0">
                  <a:pos x="connsiteX0" y="connsiteY0"/>
                </a:cxn>
                <a:cxn ang="0">
                  <a:pos x="connsiteX1" y="connsiteY1"/>
                </a:cxn>
                <a:cxn ang="0">
                  <a:pos x="connsiteX2" y="connsiteY2"/>
                </a:cxn>
              </a:cxnLst>
              <a:rect l="l" t="t" r="r" b="b"/>
              <a:pathLst>
                <a:path w="1248355" h="143124">
                  <a:moveTo>
                    <a:pt x="0" y="0"/>
                  </a:moveTo>
                  <a:cubicBezTo>
                    <a:pt x="229925" y="7951"/>
                    <a:pt x="459851" y="15903"/>
                    <a:pt x="667910" y="39757"/>
                  </a:cubicBezTo>
                  <a:cubicBezTo>
                    <a:pt x="875969" y="63611"/>
                    <a:pt x="1062162" y="103367"/>
                    <a:pt x="1248355" y="143124"/>
                  </a:cubicBezTo>
                </a:path>
              </a:pathLst>
            </a:custGeom>
            <a:noFill/>
            <a:ln>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A37F445E-A49F-B0D4-7AEE-302B0F16CDDF}"/>
                </a:ext>
              </a:extLst>
            </p:cNvPr>
            <p:cNvCxnSpPr>
              <a:cxnSpLocks/>
              <a:stCxn id="10" idx="2"/>
            </p:cNvCxnSpPr>
            <p:nvPr/>
          </p:nvCxnSpPr>
          <p:spPr>
            <a:xfrm>
              <a:off x="3905085" y="4253948"/>
              <a:ext cx="977016"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76EA5144-3208-A77E-7D27-D6EB2A2772A9}"/>
                </a:ext>
              </a:extLst>
            </p:cNvPr>
            <p:cNvCxnSpPr>
              <a:cxnSpLocks/>
              <a:stCxn id="10" idx="2"/>
            </p:cNvCxnSpPr>
            <p:nvPr/>
          </p:nvCxnSpPr>
          <p:spPr>
            <a:xfrm flipH="1">
              <a:off x="3209925" y="4253948"/>
              <a:ext cx="695160"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cxnSp>
        <p:nvCxnSpPr>
          <p:cNvPr id="29" name="直接连接符 28">
            <a:extLst>
              <a:ext uri="{FF2B5EF4-FFF2-40B4-BE49-F238E27FC236}">
                <a16:creationId xmlns:a16="http://schemas.microsoft.com/office/drawing/2014/main" id="{C2D8B79F-2DD1-E32F-CD32-F867FDBA58B8}"/>
              </a:ext>
            </a:extLst>
          </p:cNvPr>
          <p:cNvCxnSpPr>
            <a:cxnSpLocks/>
          </p:cNvCxnSpPr>
          <p:nvPr/>
        </p:nvCxnSpPr>
        <p:spPr>
          <a:xfrm>
            <a:off x="6825589" y="4787995"/>
            <a:ext cx="369001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D77E737D-58C0-F5F6-9806-3FA5125554F4}"/>
                  </a:ext>
                </a:extLst>
              </p:cNvPr>
              <p:cNvSpPr txBox="1"/>
              <p:nvPr/>
            </p:nvSpPr>
            <p:spPr>
              <a:xfrm>
                <a:off x="6610404" y="4372609"/>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0</m:t>
                          </m:r>
                        </m:sub>
                      </m:sSub>
                    </m:oMath>
                  </m:oMathPara>
                </a14:m>
                <a:endParaRPr lang="zh-CN" altLang="en-US" dirty="0"/>
              </a:p>
            </p:txBody>
          </p:sp>
        </mc:Choice>
        <mc:Fallback xmlns="">
          <p:sp>
            <p:nvSpPr>
              <p:cNvPr id="32" name="文本框 31">
                <a:extLst>
                  <a:ext uri="{FF2B5EF4-FFF2-40B4-BE49-F238E27FC236}">
                    <a16:creationId xmlns:a16="http://schemas.microsoft.com/office/drawing/2014/main" id="{D77E737D-58C0-F5F6-9806-3FA5125554F4}"/>
                  </a:ext>
                </a:extLst>
              </p:cNvPr>
              <p:cNvSpPr txBox="1">
                <a:spLocks noRot="1" noChangeAspect="1" noMove="1" noResize="1" noEditPoints="1" noAdjustHandles="1" noChangeArrowheads="1" noChangeShapeType="1" noTextEdit="1"/>
              </p:cNvSpPr>
              <p:nvPr/>
            </p:nvSpPr>
            <p:spPr>
              <a:xfrm>
                <a:off x="6610404" y="4372609"/>
                <a:ext cx="546652"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EFC1522F-22C4-F4BB-4825-86DEE0D8403D}"/>
                  </a:ext>
                </a:extLst>
              </p:cNvPr>
              <p:cNvSpPr txBox="1"/>
              <p:nvPr/>
            </p:nvSpPr>
            <p:spPr>
              <a:xfrm>
                <a:off x="10340063" y="4353421"/>
                <a:ext cx="485030" cy="369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3</m:t>
                          </m:r>
                        </m:sub>
                      </m:sSub>
                    </m:oMath>
                  </m:oMathPara>
                </a14:m>
                <a:endParaRPr lang="zh-CN" altLang="en-US" dirty="0"/>
              </a:p>
            </p:txBody>
          </p:sp>
        </mc:Choice>
        <mc:Fallback xmlns="">
          <p:sp>
            <p:nvSpPr>
              <p:cNvPr id="33" name="文本框 32">
                <a:extLst>
                  <a:ext uri="{FF2B5EF4-FFF2-40B4-BE49-F238E27FC236}">
                    <a16:creationId xmlns:a16="http://schemas.microsoft.com/office/drawing/2014/main" id="{EFC1522F-22C4-F4BB-4825-86DEE0D8403D}"/>
                  </a:ext>
                </a:extLst>
              </p:cNvPr>
              <p:cNvSpPr txBox="1">
                <a:spLocks noRot="1" noChangeAspect="1" noMove="1" noResize="1" noEditPoints="1" noAdjustHandles="1" noChangeArrowheads="1" noChangeShapeType="1" noTextEdit="1"/>
              </p:cNvSpPr>
              <p:nvPr/>
            </p:nvSpPr>
            <p:spPr>
              <a:xfrm>
                <a:off x="10340063" y="4353421"/>
                <a:ext cx="485030" cy="369331"/>
              </a:xfrm>
              <a:prstGeom prst="rect">
                <a:avLst/>
              </a:prstGeom>
              <a:blipFill>
                <a:blip r:embed="rId10"/>
                <a:stretch>
                  <a:fillRect/>
                </a:stretch>
              </a:blipFill>
            </p:spPr>
            <p:txBody>
              <a:bodyPr/>
              <a:lstStyle/>
              <a:p>
                <a:r>
                  <a:rPr lang="zh-CN" altLang="en-US">
                    <a:noFill/>
                  </a:rPr>
                  <a:t> </a:t>
                </a:r>
              </a:p>
            </p:txBody>
          </p:sp>
        </mc:Fallback>
      </mc:AlternateContent>
      <p:cxnSp>
        <p:nvCxnSpPr>
          <p:cNvPr id="35" name="直接连接符 34">
            <a:extLst>
              <a:ext uri="{FF2B5EF4-FFF2-40B4-BE49-F238E27FC236}">
                <a16:creationId xmlns:a16="http://schemas.microsoft.com/office/drawing/2014/main" id="{6B98518F-F911-D5BC-BAF8-44264A1990D8}"/>
              </a:ext>
            </a:extLst>
          </p:cNvPr>
          <p:cNvCxnSpPr>
            <a:cxnSpLocks/>
          </p:cNvCxnSpPr>
          <p:nvPr/>
        </p:nvCxnSpPr>
        <p:spPr>
          <a:xfrm>
            <a:off x="7835900" y="4781740"/>
            <a:ext cx="2000250"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99EEFC9F-5263-58A6-2565-E5539BDE1715}"/>
                  </a:ext>
                </a:extLst>
              </p:cNvPr>
              <p:cNvSpPr txBox="1"/>
              <p:nvPr/>
            </p:nvSpPr>
            <p:spPr>
              <a:xfrm>
                <a:off x="7573687" y="4370068"/>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1</m:t>
                          </m:r>
                        </m:sub>
                      </m:sSub>
                    </m:oMath>
                  </m:oMathPara>
                </a14:m>
                <a:endParaRPr lang="zh-CN" altLang="en-US" dirty="0"/>
              </a:p>
            </p:txBody>
          </p:sp>
        </mc:Choice>
        <mc:Fallback xmlns="">
          <p:sp>
            <p:nvSpPr>
              <p:cNvPr id="36" name="文本框 35">
                <a:extLst>
                  <a:ext uri="{FF2B5EF4-FFF2-40B4-BE49-F238E27FC236}">
                    <a16:creationId xmlns:a16="http://schemas.microsoft.com/office/drawing/2014/main" id="{99EEFC9F-5263-58A6-2565-E5539BDE1715}"/>
                  </a:ext>
                </a:extLst>
              </p:cNvPr>
              <p:cNvSpPr txBox="1">
                <a:spLocks noRot="1" noChangeAspect="1" noMove="1" noResize="1" noEditPoints="1" noAdjustHandles="1" noChangeArrowheads="1" noChangeShapeType="1" noTextEdit="1"/>
              </p:cNvSpPr>
              <p:nvPr/>
            </p:nvSpPr>
            <p:spPr>
              <a:xfrm>
                <a:off x="7573687" y="4370068"/>
                <a:ext cx="546652"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9730C012-3444-3A38-2208-40AAF50F776F}"/>
                  </a:ext>
                </a:extLst>
              </p:cNvPr>
              <p:cNvSpPr txBox="1"/>
              <p:nvPr/>
            </p:nvSpPr>
            <p:spPr>
              <a:xfrm>
                <a:off x="9604099" y="4370068"/>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2</m:t>
                          </m:r>
                        </m:sub>
                      </m:sSub>
                    </m:oMath>
                  </m:oMathPara>
                </a14:m>
                <a:endParaRPr lang="zh-CN" altLang="en-US" dirty="0"/>
              </a:p>
            </p:txBody>
          </p:sp>
        </mc:Choice>
        <mc:Fallback xmlns="">
          <p:sp>
            <p:nvSpPr>
              <p:cNvPr id="37" name="文本框 36">
                <a:extLst>
                  <a:ext uri="{FF2B5EF4-FFF2-40B4-BE49-F238E27FC236}">
                    <a16:creationId xmlns:a16="http://schemas.microsoft.com/office/drawing/2014/main" id="{9730C012-3444-3A38-2208-40AAF50F776F}"/>
                  </a:ext>
                </a:extLst>
              </p:cNvPr>
              <p:cNvSpPr txBox="1">
                <a:spLocks noRot="1" noChangeAspect="1" noMove="1" noResize="1" noEditPoints="1" noAdjustHandles="1" noChangeArrowheads="1" noChangeShapeType="1" noTextEdit="1"/>
              </p:cNvSpPr>
              <p:nvPr/>
            </p:nvSpPr>
            <p:spPr>
              <a:xfrm>
                <a:off x="9604099" y="4370068"/>
                <a:ext cx="546652" cy="369332"/>
              </a:xfrm>
              <a:prstGeom prst="rect">
                <a:avLst/>
              </a:prstGeom>
              <a:blipFill>
                <a:blip r:embed="rId12"/>
                <a:stretch>
                  <a:fillRect/>
                </a:stretch>
              </a:blipFill>
            </p:spPr>
            <p:txBody>
              <a:bodyPr/>
              <a:lstStyle/>
              <a:p>
                <a:r>
                  <a:rPr lang="zh-CN" altLang="en-US">
                    <a:noFill/>
                  </a:rPr>
                  <a:t> </a:t>
                </a:r>
              </a:p>
            </p:txBody>
          </p:sp>
        </mc:Fallback>
      </mc:AlternateContent>
      <p:cxnSp>
        <p:nvCxnSpPr>
          <p:cNvPr id="39" name="直接连接符 38">
            <a:extLst>
              <a:ext uri="{FF2B5EF4-FFF2-40B4-BE49-F238E27FC236}">
                <a16:creationId xmlns:a16="http://schemas.microsoft.com/office/drawing/2014/main" id="{F70EE069-B019-0EC2-D06C-DFE5B0C643D9}"/>
              </a:ext>
            </a:extLst>
          </p:cNvPr>
          <p:cNvCxnSpPr/>
          <p:nvPr/>
        </p:nvCxnSpPr>
        <p:spPr>
          <a:xfrm>
            <a:off x="6825589" y="4787995"/>
            <a:ext cx="135956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E745B0A-0D13-BFF8-2BBB-5CAD26ACA326}"/>
                  </a:ext>
                </a:extLst>
              </p:cNvPr>
              <p:cNvSpPr txBox="1"/>
              <p:nvPr/>
            </p:nvSpPr>
            <p:spPr>
              <a:xfrm>
                <a:off x="7911824" y="4860600"/>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𝑚</m:t>
                          </m:r>
                        </m:sub>
                      </m:sSub>
                    </m:oMath>
                  </m:oMathPara>
                </a14:m>
                <a:endParaRPr lang="zh-CN" altLang="en-US" dirty="0"/>
              </a:p>
            </p:txBody>
          </p:sp>
        </mc:Choice>
        <mc:Fallback xmlns="">
          <p:sp>
            <p:nvSpPr>
              <p:cNvPr id="40" name="文本框 39">
                <a:extLst>
                  <a:ext uri="{FF2B5EF4-FFF2-40B4-BE49-F238E27FC236}">
                    <a16:creationId xmlns:a16="http://schemas.microsoft.com/office/drawing/2014/main" id="{7E745B0A-0D13-BFF8-2BBB-5CAD26ACA326}"/>
                  </a:ext>
                </a:extLst>
              </p:cNvPr>
              <p:cNvSpPr txBox="1">
                <a:spLocks noRot="1" noChangeAspect="1" noMove="1" noResize="1" noEditPoints="1" noAdjustHandles="1" noChangeArrowheads="1" noChangeShapeType="1" noTextEdit="1"/>
              </p:cNvSpPr>
              <p:nvPr/>
            </p:nvSpPr>
            <p:spPr>
              <a:xfrm>
                <a:off x="7911824" y="4860600"/>
                <a:ext cx="546652" cy="369332"/>
              </a:xfrm>
              <a:prstGeom prst="rect">
                <a:avLst/>
              </a:prstGeom>
              <a:blipFill>
                <a:blip r:embed="rId13"/>
                <a:stretch>
                  <a:fillRect/>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80F19A78-C4F3-8EA7-EBF5-9E909655425A}"/>
              </a:ext>
            </a:extLst>
          </p:cNvPr>
          <p:cNvCxnSpPr>
            <a:cxnSpLocks/>
          </p:cNvCxnSpPr>
          <p:nvPr/>
        </p:nvCxnSpPr>
        <p:spPr>
          <a:xfrm>
            <a:off x="7978775" y="4787995"/>
            <a:ext cx="1625324" cy="4488"/>
          </a:xfrm>
          <a:prstGeom prst="line">
            <a:avLst/>
          </a:prstGeom>
          <a:ln w="285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418168A-743D-3AAB-D745-85862BCAF2B5}"/>
                  </a:ext>
                </a:extLst>
              </p:cNvPr>
              <p:cNvSpPr txBox="1"/>
              <p:nvPr/>
            </p:nvSpPr>
            <p:spPr>
              <a:xfrm>
                <a:off x="8791437" y="4834050"/>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𝑛</m:t>
                          </m:r>
                        </m:sub>
                      </m:sSub>
                    </m:oMath>
                  </m:oMathPara>
                </a14:m>
                <a:endParaRPr lang="zh-CN" altLang="en-US" dirty="0"/>
              </a:p>
            </p:txBody>
          </p:sp>
        </mc:Choice>
        <mc:Fallback xmlns="">
          <p:sp>
            <p:nvSpPr>
              <p:cNvPr id="54" name="文本框 53">
                <a:extLst>
                  <a:ext uri="{FF2B5EF4-FFF2-40B4-BE49-F238E27FC236}">
                    <a16:creationId xmlns:a16="http://schemas.microsoft.com/office/drawing/2014/main" id="{E418168A-743D-3AAB-D745-85862BCAF2B5}"/>
                  </a:ext>
                </a:extLst>
              </p:cNvPr>
              <p:cNvSpPr txBox="1">
                <a:spLocks noRot="1" noChangeAspect="1" noMove="1" noResize="1" noEditPoints="1" noAdjustHandles="1" noChangeArrowheads="1" noChangeShapeType="1" noTextEdit="1"/>
              </p:cNvSpPr>
              <p:nvPr/>
            </p:nvSpPr>
            <p:spPr>
              <a:xfrm>
                <a:off x="8791437" y="4834050"/>
                <a:ext cx="546652" cy="369332"/>
              </a:xfrm>
              <a:prstGeom prst="rect">
                <a:avLst/>
              </a:prstGeom>
              <a:blipFill>
                <a:blip r:embed="rId1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6686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728489" y="556155"/>
                <a:ext cx="10570316" cy="29163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(2)</a:t>
                </a:r>
                <a:r>
                  <a:rPr lang="zh-CN" altLang="en-US" sz="2600" dirty="0">
                    <a:latin typeface="华光仿宋_CNKI" panose="02000500000000000000" pitchFamily="2" charset="-122"/>
                    <a:ea typeface="华光仿宋_CNKI" panose="02000500000000000000" pitchFamily="2" charset="-122"/>
                  </a:rPr>
                  <a:t>两控制点重合</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如果两个控制点</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zh-CN" altLang="en-US" sz="2600" dirty="0">
                    <a:latin typeface="华光仿宋_CNKI" panose="02000500000000000000" pitchFamily="2" charset="-122"/>
                    <a:ea typeface="华光仿宋_CNKI" panose="02000500000000000000" pitchFamily="2" charset="-122"/>
                  </a:rPr>
                  <a:t>重合，则所生成的曲线的起点将在</a:t>
                </a:r>
                <a14:m>
                  <m:oMath xmlns:m="http://schemas.openxmlformats.org/officeDocument/2006/math">
                    <m:r>
                      <a:rPr lang="zh-CN" altLang="en-US" sz="2600" i="1" dirty="0">
                        <a:latin typeface="Cambria Math" panose="02040503050406030204" pitchFamily="18" charset="0"/>
                        <a:ea typeface="华光仿宋_CNKI" panose="02000500000000000000" pitchFamily="2" charset="-122"/>
                      </a:rPr>
                      <m:t>距离</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r>
                      <a:rPr lang="en-US" altLang="zh-CN" sz="2600" i="1">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1/3</a:t>
                </a:r>
                <a:r>
                  <a:rPr lang="zh-CN" altLang="en-US" sz="2600" dirty="0">
                    <a:latin typeface="华光仿宋_CNKI" panose="02000500000000000000" pitchFamily="2" charset="-122"/>
                    <a:ea typeface="华光仿宋_CNKI" panose="02000500000000000000" pitchFamily="2" charset="-122"/>
                  </a:rPr>
                  <a:t>处的位置。从而可以利用这个特性，形成与控制多边形相切的曲线。如下图所示。</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728489" y="556155"/>
                <a:ext cx="10570316" cy="2916346"/>
              </a:xfrm>
              <a:prstGeom prst="rect">
                <a:avLst/>
              </a:prstGeom>
              <a:blipFill>
                <a:blip r:embed="rId3"/>
                <a:stretch>
                  <a:fillRect l="-1039"/>
                </a:stretch>
              </a:blipFill>
            </p:spPr>
            <p:txBody>
              <a:bodyPr/>
              <a:lstStyle/>
              <a:p>
                <a:r>
                  <a:rPr lang="zh-CN" altLang="en-US">
                    <a:noFill/>
                  </a:rPr>
                  <a:t> </a:t>
                </a:r>
              </a:p>
            </p:txBody>
          </p:sp>
        </mc:Fallback>
      </mc:AlternateContent>
      <p:grpSp>
        <p:nvGrpSpPr>
          <p:cNvPr id="22" name="组合 21">
            <a:extLst>
              <a:ext uri="{FF2B5EF4-FFF2-40B4-BE49-F238E27FC236}">
                <a16:creationId xmlns:a16="http://schemas.microsoft.com/office/drawing/2014/main" id="{F0B99420-A2A6-A201-58CB-07380363FA3E}"/>
              </a:ext>
            </a:extLst>
          </p:cNvPr>
          <p:cNvGrpSpPr/>
          <p:nvPr/>
        </p:nvGrpSpPr>
        <p:grpSpPr>
          <a:xfrm>
            <a:off x="3336039" y="3584565"/>
            <a:ext cx="4728708" cy="1529332"/>
            <a:chOff x="3299753" y="3816794"/>
            <a:chExt cx="4728708" cy="1529332"/>
          </a:xfrm>
        </p:grpSpPr>
        <p:cxnSp>
          <p:nvCxnSpPr>
            <p:cNvPr id="3" name="直接连接符 2">
              <a:extLst>
                <a:ext uri="{FF2B5EF4-FFF2-40B4-BE49-F238E27FC236}">
                  <a16:creationId xmlns:a16="http://schemas.microsoft.com/office/drawing/2014/main" id="{1875749C-6903-9115-4C83-EF032EAF63B6}"/>
                </a:ext>
              </a:extLst>
            </p:cNvPr>
            <p:cNvCxnSpPr/>
            <p:nvPr/>
          </p:nvCxnSpPr>
          <p:spPr>
            <a:xfrm>
              <a:off x="3573079" y="4294770"/>
              <a:ext cx="3013544"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3B22D2BB-801F-2353-AC66-764EC67063A1}"/>
                </a:ext>
              </a:extLst>
            </p:cNvPr>
            <p:cNvCxnSpPr/>
            <p:nvPr/>
          </p:nvCxnSpPr>
          <p:spPr>
            <a:xfrm>
              <a:off x="6586623" y="4294770"/>
              <a:ext cx="985962" cy="97005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9A62C94-A3CC-79AB-CB2C-EF3BB9B58D29}"/>
                    </a:ext>
                  </a:extLst>
                </p:cNvPr>
                <p:cNvSpPr txBox="1"/>
                <p:nvPr/>
              </p:nvSpPr>
              <p:spPr>
                <a:xfrm>
                  <a:off x="3299753" y="3955457"/>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0</m:t>
                            </m:r>
                          </m:sub>
                        </m:sSub>
                      </m:oMath>
                    </m:oMathPara>
                  </a14:m>
                  <a:endParaRPr lang="zh-CN" altLang="en-US" dirty="0"/>
                </a:p>
              </p:txBody>
            </p:sp>
          </mc:Choice>
          <mc:Fallback xmlns="">
            <p:sp>
              <p:nvSpPr>
                <p:cNvPr id="8" name="文本框 7">
                  <a:extLst>
                    <a:ext uri="{FF2B5EF4-FFF2-40B4-BE49-F238E27FC236}">
                      <a16:creationId xmlns:a16="http://schemas.microsoft.com/office/drawing/2014/main" id="{69A62C94-A3CC-79AB-CB2C-EF3BB9B58D29}"/>
                    </a:ext>
                  </a:extLst>
                </p:cNvPr>
                <p:cNvSpPr txBox="1">
                  <a:spLocks noRot="1" noChangeAspect="1" noMove="1" noResize="1" noEditPoints="1" noAdjustHandles="1" noChangeArrowheads="1" noChangeShapeType="1" noTextEdit="1"/>
                </p:cNvSpPr>
                <p:nvPr/>
              </p:nvSpPr>
              <p:spPr>
                <a:xfrm>
                  <a:off x="3299753" y="3955457"/>
                  <a:ext cx="54665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7543D3C-C106-EE37-E52E-5A43CF2AA17E}"/>
                    </a:ext>
                  </a:extLst>
                </p:cNvPr>
                <p:cNvSpPr txBox="1"/>
                <p:nvPr/>
              </p:nvSpPr>
              <p:spPr>
                <a:xfrm>
                  <a:off x="6213905" y="3816794"/>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1</m:t>
                            </m:r>
                          </m:sub>
                        </m:sSub>
                      </m:oMath>
                    </m:oMathPara>
                  </a14:m>
                  <a:endParaRPr lang="zh-CN" altLang="en-US" dirty="0"/>
                </a:p>
              </p:txBody>
            </p:sp>
          </mc:Choice>
          <mc:Fallback xmlns="">
            <p:sp>
              <p:nvSpPr>
                <p:cNvPr id="10" name="文本框 9">
                  <a:extLst>
                    <a:ext uri="{FF2B5EF4-FFF2-40B4-BE49-F238E27FC236}">
                      <a16:creationId xmlns:a16="http://schemas.microsoft.com/office/drawing/2014/main" id="{F7543D3C-C106-EE37-E52E-5A43CF2AA17E}"/>
                    </a:ext>
                  </a:extLst>
                </p:cNvPr>
                <p:cNvSpPr txBox="1">
                  <a:spLocks noRot="1" noChangeAspect="1" noMove="1" noResize="1" noEditPoints="1" noAdjustHandles="1" noChangeArrowheads="1" noChangeShapeType="1" noTextEdit="1"/>
                </p:cNvSpPr>
                <p:nvPr/>
              </p:nvSpPr>
              <p:spPr>
                <a:xfrm>
                  <a:off x="6213905" y="3816794"/>
                  <a:ext cx="745434"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4D3989-D3C2-886C-D906-055BDB19F782}"/>
                    </a:ext>
                  </a:extLst>
                </p:cNvPr>
                <p:cNvSpPr txBox="1"/>
                <p:nvPr/>
              </p:nvSpPr>
              <p:spPr>
                <a:xfrm>
                  <a:off x="6260093" y="3844141"/>
                  <a:ext cx="103168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2</m:t>
                            </m:r>
                          </m:sub>
                        </m:sSub>
                      </m:oMath>
                    </m:oMathPara>
                  </a14:m>
                  <a:endParaRPr lang="zh-CN" altLang="en-US" dirty="0"/>
                </a:p>
              </p:txBody>
            </p:sp>
          </mc:Choice>
          <mc:Fallback xmlns="">
            <p:sp>
              <p:nvSpPr>
                <p:cNvPr id="12" name="文本框 11">
                  <a:extLst>
                    <a:ext uri="{FF2B5EF4-FFF2-40B4-BE49-F238E27FC236}">
                      <a16:creationId xmlns:a16="http://schemas.microsoft.com/office/drawing/2014/main" id="{3A4D3989-D3C2-886C-D906-055BDB19F782}"/>
                    </a:ext>
                  </a:extLst>
                </p:cNvPr>
                <p:cNvSpPr txBox="1">
                  <a:spLocks noRot="1" noChangeAspect="1" noMove="1" noResize="1" noEditPoints="1" noAdjustHandles="1" noChangeArrowheads="1" noChangeShapeType="1" noTextEdit="1"/>
                </p:cNvSpPr>
                <p:nvPr/>
              </p:nvSpPr>
              <p:spPr>
                <a:xfrm>
                  <a:off x="6260093" y="3844141"/>
                  <a:ext cx="103168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2059B80-0065-1A67-6E35-059148067E84}"/>
                    </a:ext>
                  </a:extLst>
                </p:cNvPr>
                <p:cNvSpPr txBox="1"/>
                <p:nvPr/>
              </p:nvSpPr>
              <p:spPr>
                <a:xfrm>
                  <a:off x="7543431" y="4976795"/>
                  <a:ext cx="485030" cy="369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3</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22059B80-0065-1A67-6E35-059148067E84}"/>
                    </a:ext>
                  </a:extLst>
                </p:cNvPr>
                <p:cNvSpPr txBox="1">
                  <a:spLocks noRot="1" noChangeAspect="1" noMove="1" noResize="1" noEditPoints="1" noAdjustHandles="1" noChangeArrowheads="1" noChangeShapeType="1" noTextEdit="1"/>
                </p:cNvSpPr>
                <p:nvPr/>
              </p:nvSpPr>
              <p:spPr>
                <a:xfrm>
                  <a:off x="7543431" y="4976795"/>
                  <a:ext cx="485030" cy="36933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6E4174D-CFB2-E367-8FD3-9CBD4BC7651B}"/>
                    </a:ext>
                  </a:extLst>
                </p:cNvPr>
                <p:cNvSpPr txBox="1"/>
                <p:nvPr/>
              </p:nvSpPr>
              <p:spPr>
                <a:xfrm>
                  <a:off x="4595209" y="4324789"/>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𝑚</m:t>
                            </m:r>
                          </m:sub>
                        </m:sSub>
                      </m:oMath>
                    </m:oMathPara>
                  </a14:m>
                  <a:endParaRPr lang="zh-CN" altLang="en-US" dirty="0"/>
                </a:p>
              </p:txBody>
            </p:sp>
          </mc:Choice>
          <mc:Fallback xmlns="">
            <p:sp>
              <p:nvSpPr>
                <p:cNvPr id="15" name="文本框 14">
                  <a:extLst>
                    <a:ext uri="{FF2B5EF4-FFF2-40B4-BE49-F238E27FC236}">
                      <a16:creationId xmlns:a16="http://schemas.microsoft.com/office/drawing/2014/main" id="{86E4174D-CFB2-E367-8FD3-9CBD4BC7651B}"/>
                    </a:ext>
                  </a:extLst>
                </p:cNvPr>
                <p:cNvSpPr txBox="1">
                  <a:spLocks noRot="1" noChangeAspect="1" noMove="1" noResize="1" noEditPoints="1" noAdjustHandles="1" noChangeArrowheads="1" noChangeShapeType="1" noTextEdit="1"/>
                </p:cNvSpPr>
                <p:nvPr/>
              </p:nvSpPr>
              <p:spPr>
                <a:xfrm>
                  <a:off x="4595209" y="4324789"/>
                  <a:ext cx="745434" cy="369332"/>
                </a:xfrm>
                <a:prstGeom prst="rect">
                  <a:avLst/>
                </a:prstGeom>
                <a:blipFill>
                  <a:blip r:embed="rId8"/>
                  <a:stretch>
                    <a:fillRect/>
                  </a:stretch>
                </a:blipFill>
              </p:spPr>
              <p:txBody>
                <a:bodyPr/>
                <a:lstStyle/>
                <a:p>
                  <a:r>
                    <a:rPr lang="zh-CN" altLang="en-US">
                      <a:noFill/>
                    </a:rPr>
                    <a:t> </a:t>
                  </a:r>
                </a:p>
              </p:txBody>
            </p:sp>
          </mc:Fallback>
        </mc:AlternateContent>
        <p:sp>
          <p:nvSpPr>
            <p:cNvPr id="16" name="任意多边形: 形状 15">
              <a:extLst>
                <a:ext uri="{FF2B5EF4-FFF2-40B4-BE49-F238E27FC236}">
                  <a16:creationId xmlns:a16="http://schemas.microsoft.com/office/drawing/2014/main" id="{B8D79D3F-45FA-861A-2A2F-3FDA2C2CEE09}"/>
                </a:ext>
              </a:extLst>
            </p:cNvPr>
            <p:cNvSpPr/>
            <p:nvPr/>
          </p:nvSpPr>
          <p:spPr>
            <a:xfrm>
              <a:off x="6013791" y="4294325"/>
              <a:ext cx="786028" cy="214240"/>
            </a:xfrm>
            <a:custGeom>
              <a:avLst/>
              <a:gdLst>
                <a:gd name="connsiteX0" fmla="*/ 0 w 1248355"/>
                <a:gd name="connsiteY0" fmla="*/ 0 h 143124"/>
                <a:gd name="connsiteX1" fmla="*/ 667910 w 1248355"/>
                <a:gd name="connsiteY1" fmla="*/ 39757 h 143124"/>
                <a:gd name="connsiteX2" fmla="*/ 1248355 w 1248355"/>
                <a:gd name="connsiteY2" fmla="*/ 143124 h 143124"/>
              </a:gdLst>
              <a:ahLst/>
              <a:cxnLst>
                <a:cxn ang="0">
                  <a:pos x="connsiteX0" y="connsiteY0"/>
                </a:cxn>
                <a:cxn ang="0">
                  <a:pos x="connsiteX1" y="connsiteY1"/>
                </a:cxn>
                <a:cxn ang="0">
                  <a:pos x="connsiteX2" y="connsiteY2"/>
                </a:cxn>
              </a:cxnLst>
              <a:rect l="l" t="t" r="r" b="b"/>
              <a:pathLst>
                <a:path w="1248355" h="143124">
                  <a:moveTo>
                    <a:pt x="0" y="0"/>
                  </a:moveTo>
                  <a:cubicBezTo>
                    <a:pt x="229925" y="7951"/>
                    <a:pt x="459851" y="15903"/>
                    <a:pt x="667910" y="39757"/>
                  </a:cubicBezTo>
                  <a:cubicBezTo>
                    <a:pt x="875969" y="63611"/>
                    <a:pt x="1062162" y="103367"/>
                    <a:pt x="1248355" y="143124"/>
                  </a:cubicBezTo>
                </a:path>
              </a:pathLst>
            </a:custGeom>
            <a:noFill/>
            <a:ln>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76EA5144-3208-A77E-7D27-D6EB2A2772A9}"/>
                </a:ext>
              </a:extLst>
            </p:cNvPr>
            <p:cNvCxnSpPr>
              <a:cxnSpLocks/>
            </p:cNvCxnSpPr>
            <p:nvPr/>
          </p:nvCxnSpPr>
          <p:spPr>
            <a:xfrm flipH="1">
              <a:off x="4952006" y="4294325"/>
              <a:ext cx="1061785" cy="445"/>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9970C08-84B4-C18D-F415-E0FACD96DD54}"/>
                    </a:ext>
                  </a:extLst>
                </p:cNvPr>
                <p:cNvSpPr txBox="1"/>
                <p:nvPr/>
              </p:nvSpPr>
              <p:spPr>
                <a:xfrm>
                  <a:off x="6631517" y="4708549"/>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𝑛</m:t>
                            </m:r>
                          </m:sub>
                        </m:sSub>
                      </m:oMath>
                    </m:oMathPara>
                  </a14:m>
                  <a:endParaRPr lang="zh-CN" altLang="en-US" dirty="0"/>
                </a:p>
              </p:txBody>
            </p:sp>
          </mc:Choice>
          <mc:Fallback xmlns="">
            <p:sp>
              <p:nvSpPr>
                <p:cNvPr id="13" name="文本框 12">
                  <a:extLst>
                    <a:ext uri="{FF2B5EF4-FFF2-40B4-BE49-F238E27FC236}">
                      <a16:creationId xmlns:a16="http://schemas.microsoft.com/office/drawing/2014/main" id="{99970C08-84B4-C18D-F415-E0FACD96DD54}"/>
                    </a:ext>
                  </a:extLst>
                </p:cNvPr>
                <p:cNvSpPr txBox="1">
                  <a:spLocks noRot="1" noChangeAspect="1" noMove="1" noResize="1" noEditPoints="1" noAdjustHandles="1" noChangeArrowheads="1" noChangeShapeType="1" noTextEdit="1"/>
                </p:cNvSpPr>
                <p:nvPr/>
              </p:nvSpPr>
              <p:spPr>
                <a:xfrm>
                  <a:off x="6631517" y="4708549"/>
                  <a:ext cx="745434" cy="369332"/>
                </a:xfrm>
                <a:prstGeom prst="rect">
                  <a:avLst/>
                </a:prstGeom>
                <a:blipFill>
                  <a:blip r:embed="rId9"/>
                  <a:stretch>
                    <a:fillRect/>
                  </a:stretch>
                </a:blipFill>
              </p:spPr>
              <p:txBody>
                <a:bodyPr/>
                <a:lstStyle/>
                <a:p>
                  <a:r>
                    <a:rPr lang="zh-CN" altLang="en-US">
                      <a:noFill/>
                    </a:rPr>
                    <a:t> </a:t>
                  </a:r>
                </a:p>
              </p:txBody>
            </p:sp>
          </mc:Fallback>
        </mc:AlternateContent>
        <p:cxnSp>
          <p:nvCxnSpPr>
            <p:cNvPr id="19" name="直接连接符 18">
              <a:extLst>
                <a:ext uri="{FF2B5EF4-FFF2-40B4-BE49-F238E27FC236}">
                  <a16:creationId xmlns:a16="http://schemas.microsoft.com/office/drawing/2014/main" id="{E523D68F-788B-FB71-FAF2-9CB3A2EBDAF4}"/>
                </a:ext>
              </a:extLst>
            </p:cNvPr>
            <p:cNvCxnSpPr>
              <a:cxnSpLocks/>
            </p:cNvCxnSpPr>
            <p:nvPr/>
          </p:nvCxnSpPr>
          <p:spPr>
            <a:xfrm>
              <a:off x="6586622" y="4294325"/>
              <a:ext cx="580355" cy="573816"/>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73576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810842" y="741555"/>
                <a:ext cx="10169910" cy="35446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(3)</a:t>
                </a:r>
                <a:r>
                  <a:rPr lang="zh-CN" altLang="en-US" sz="2600" dirty="0">
                    <a:latin typeface="华光仿宋_CNKI" panose="02000500000000000000" pitchFamily="2" charset="-122"/>
                    <a:ea typeface="华光仿宋_CNKI" panose="02000500000000000000" pitchFamily="2" charset="-122"/>
                  </a:rPr>
                  <a:t>三控制点重合</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如果三个控制点</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0</m:t>
                        </m:r>
                      </m:sub>
                    </m:sSub>
                    <m:r>
                      <a:rPr lang="en-US" altLang="zh-CN" sz="2600" i="1">
                        <a:latin typeface="Cambria Math" panose="02040503050406030204" pitchFamily="18" charset="0"/>
                        <a:ea typeface="华光仿宋_CNKI" panose="02000500000000000000" pitchFamily="2" charset="-122"/>
                      </a:rPr>
                      <m:t> </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1</m:t>
                        </m:r>
                      </m:sub>
                    </m:sSub>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zh-CN" altLang="en-US" sz="2600" dirty="0">
                    <a:latin typeface="华光仿宋_CNKI" panose="02000500000000000000" pitchFamily="2" charset="-122"/>
                    <a:ea typeface="华光仿宋_CNKI" panose="02000500000000000000" pitchFamily="2" charset="-122"/>
                  </a:rPr>
                  <a:t>重合，则所生成的曲线的将过</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0</m:t>
                        </m:r>
                      </m:sub>
                    </m:sSub>
                  </m:oMath>
                </a14:m>
                <a:r>
                  <a:rPr lang="zh-CN" altLang="en-US" sz="2600" dirty="0">
                    <a:latin typeface="华光仿宋_CNKI" panose="02000500000000000000" pitchFamily="2" charset="-122"/>
                    <a:ea typeface="华光仿宋_CNKI" panose="02000500000000000000" pitchFamily="2" charset="-122"/>
                  </a:rPr>
                  <a:t>点。从而可以利用这个特性，形成与控制多边形相切的曲线。如下图所示。</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总之无论何种情况，均可通过前面所介绍的生成规则得到相应的</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810842" y="741555"/>
                <a:ext cx="10169910" cy="3544646"/>
              </a:xfrm>
              <a:prstGeom prst="rect">
                <a:avLst/>
              </a:prstGeom>
              <a:blipFill>
                <a:blip r:embed="rId3"/>
                <a:stretch>
                  <a:fillRect l="-1079"/>
                </a:stretch>
              </a:blipFill>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38180CF3-8B7F-258C-128B-443C76857DE0}"/>
              </a:ext>
            </a:extLst>
          </p:cNvPr>
          <p:cNvGrpSpPr/>
          <p:nvPr/>
        </p:nvGrpSpPr>
        <p:grpSpPr>
          <a:xfrm>
            <a:off x="3803207" y="4349817"/>
            <a:ext cx="4728708" cy="1566468"/>
            <a:chOff x="3366519" y="3516949"/>
            <a:chExt cx="4728708" cy="1566468"/>
          </a:xfrm>
        </p:grpSpPr>
        <p:grpSp>
          <p:nvGrpSpPr>
            <p:cNvPr id="22" name="组合 21">
              <a:extLst>
                <a:ext uri="{FF2B5EF4-FFF2-40B4-BE49-F238E27FC236}">
                  <a16:creationId xmlns:a16="http://schemas.microsoft.com/office/drawing/2014/main" id="{F0B99420-A2A6-A201-58CB-07380363FA3E}"/>
                </a:ext>
              </a:extLst>
            </p:cNvPr>
            <p:cNvGrpSpPr/>
            <p:nvPr/>
          </p:nvGrpSpPr>
          <p:grpSpPr>
            <a:xfrm>
              <a:off x="3366519" y="3692748"/>
              <a:ext cx="4728708" cy="1390669"/>
              <a:chOff x="3299753" y="3955457"/>
              <a:chExt cx="4728708" cy="1390669"/>
            </a:xfrm>
          </p:grpSpPr>
          <p:cxnSp>
            <p:nvCxnSpPr>
              <p:cNvPr id="3" name="直接连接符 2">
                <a:extLst>
                  <a:ext uri="{FF2B5EF4-FFF2-40B4-BE49-F238E27FC236}">
                    <a16:creationId xmlns:a16="http://schemas.microsoft.com/office/drawing/2014/main" id="{1875749C-6903-9115-4C83-EF032EAF63B6}"/>
                  </a:ext>
                </a:extLst>
              </p:cNvPr>
              <p:cNvCxnSpPr/>
              <p:nvPr/>
            </p:nvCxnSpPr>
            <p:spPr>
              <a:xfrm>
                <a:off x="3573079" y="4294770"/>
                <a:ext cx="3013544"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3B22D2BB-801F-2353-AC66-764EC67063A1}"/>
                  </a:ext>
                </a:extLst>
              </p:cNvPr>
              <p:cNvCxnSpPr/>
              <p:nvPr/>
            </p:nvCxnSpPr>
            <p:spPr>
              <a:xfrm>
                <a:off x="6586623" y="4294770"/>
                <a:ext cx="985962" cy="97005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9A62C94-A3CC-79AB-CB2C-EF3BB9B58D29}"/>
                      </a:ext>
                    </a:extLst>
                  </p:cNvPr>
                  <p:cNvSpPr txBox="1"/>
                  <p:nvPr/>
                </p:nvSpPr>
                <p:spPr>
                  <a:xfrm>
                    <a:off x="3299753" y="3955457"/>
                    <a:ext cx="546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0</m:t>
                              </m:r>
                            </m:sub>
                          </m:sSub>
                        </m:oMath>
                      </m:oMathPara>
                    </a14:m>
                    <a:endParaRPr lang="zh-CN" altLang="en-US" dirty="0"/>
                  </a:p>
                </p:txBody>
              </p:sp>
            </mc:Choice>
            <mc:Fallback xmlns="">
              <p:sp>
                <p:nvSpPr>
                  <p:cNvPr id="8" name="文本框 7">
                    <a:extLst>
                      <a:ext uri="{FF2B5EF4-FFF2-40B4-BE49-F238E27FC236}">
                        <a16:creationId xmlns:a16="http://schemas.microsoft.com/office/drawing/2014/main" id="{69A62C94-A3CC-79AB-CB2C-EF3BB9B58D29}"/>
                      </a:ext>
                    </a:extLst>
                  </p:cNvPr>
                  <p:cNvSpPr txBox="1">
                    <a:spLocks noRot="1" noChangeAspect="1" noMove="1" noResize="1" noEditPoints="1" noAdjustHandles="1" noChangeArrowheads="1" noChangeShapeType="1" noTextEdit="1"/>
                  </p:cNvSpPr>
                  <p:nvPr/>
                </p:nvSpPr>
                <p:spPr>
                  <a:xfrm>
                    <a:off x="3299753" y="3955457"/>
                    <a:ext cx="54665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7543D3C-C106-EE37-E52E-5A43CF2AA17E}"/>
                      </a:ext>
                    </a:extLst>
                  </p:cNvPr>
                  <p:cNvSpPr txBox="1"/>
                  <p:nvPr/>
                </p:nvSpPr>
                <p:spPr>
                  <a:xfrm>
                    <a:off x="3462332" y="3955457"/>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1</m:t>
                              </m:r>
                            </m:sub>
                          </m:sSub>
                        </m:oMath>
                      </m:oMathPara>
                    </a14:m>
                    <a:endParaRPr lang="zh-CN" altLang="en-US" dirty="0"/>
                  </a:p>
                </p:txBody>
              </p:sp>
            </mc:Choice>
            <mc:Fallback xmlns="">
              <p:sp>
                <p:nvSpPr>
                  <p:cNvPr id="10" name="文本框 9">
                    <a:extLst>
                      <a:ext uri="{FF2B5EF4-FFF2-40B4-BE49-F238E27FC236}">
                        <a16:creationId xmlns:a16="http://schemas.microsoft.com/office/drawing/2014/main" id="{F7543D3C-C106-EE37-E52E-5A43CF2AA17E}"/>
                      </a:ext>
                    </a:extLst>
                  </p:cNvPr>
                  <p:cNvSpPr txBox="1">
                    <a:spLocks noRot="1" noChangeAspect="1" noMove="1" noResize="1" noEditPoints="1" noAdjustHandles="1" noChangeArrowheads="1" noChangeShapeType="1" noTextEdit="1"/>
                  </p:cNvSpPr>
                  <p:nvPr/>
                </p:nvSpPr>
                <p:spPr>
                  <a:xfrm>
                    <a:off x="3462332" y="3955457"/>
                    <a:ext cx="745434"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4D3989-D3C2-886C-D906-055BDB19F782}"/>
                      </a:ext>
                    </a:extLst>
                  </p:cNvPr>
                  <p:cNvSpPr txBox="1"/>
                  <p:nvPr/>
                </p:nvSpPr>
                <p:spPr>
                  <a:xfrm>
                    <a:off x="3557186" y="3955457"/>
                    <a:ext cx="103168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2</m:t>
                              </m:r>
                            </m:sub>
                          </m:sSub>
                        </m:oMath>
                      </m:oMathPara>
                    </a14:m>
                    <a:endParaRPr lang="zh-CN" altLang="en-US" dirty="0"/>
                  </a:p>
                </p:txBody>
              </p:sp>
            </mc:Choice>
            <mc:Fallback xmlns="">
              <p:sp>
                <p:nvSpPr>
                  <p:cNvPr id="12" name="文本框 11">
                    <a:extLst>
                      <a:ext uri="{FF2B5EF4-FFF2-40B4-BE49-F238E27FC236}">
                        <a16:creationId xmlns:a16="http://schemas.microsoft.com/office/drawing/2014/main" id="{3A4D3989-D3C2-886C-D906-055BDB19F782}"/>
                      </a:ext>
                    </a:extLst>
                  </p:cNvPr>
                  <p:cNvSpPr txBox="1">
                    <a:spLocks noRot="1" noChangeAspect="1" noMove="1" noResize="1" noEditPoints="1" noAdjustHandles="1" noChangeArrowheads="1" noChangeShapeType="1" noTextEdit="1"/>
                  </p:cNvSpPr>
                  <p:nvPr/>
                </p:nvSpPr>
                <p:spPr>
                  <a:xfrm>
                    <a:off x="3557186" y="3955457"/>
                    <a:ext cx="103168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2059B80-0065-1A67-6E35-059148067E84}"/>
                      </a:ext>
                    </a:extLst>
                  </p:cNvPr>
                  <p:cNvSpPr txBox="1"/>
                  <p:nvPr/>
                </p:nvSpPr>
                <p:spPr>
                  <a:xfrm>
                    <a:off x="7543431" y="4976795"/>
                    <a:ext cx="485030" cy="369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4</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22059B80-0065-1A67-6E35-059148067E84}"/>
                      </a:ext>
                    </a:extLst>
                  </p:cNvPr>
                  <p:cNvSpPr txBox="1">
                    <a:spLocks noRot="1" noChangeAspect="1" noMove="1" noResize="1" noEditPoints="1" noAdjustHandles="1" noChangeArrowheads="1" noChangeShapeType="1" noTextEdit="1"/>
                  </p:cNvSpPr>
                  <p:nvPr/>
                </p:nvSpPr>
                <p:spPr>
                  <a:xfrm>
                    <a:off x="7543431" y="4976795"/>
                    <a:ext cx="485030" cy="36933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9970C08-84B4-C18D-F415-E0FACD96DD54}"/>
                      </a:ext>
                    </a:extLst>
                  </p:cNvPr>
                  <p:cNvSpPr txBox="1"/>
                  <p:nvPr/>
                </p:nvSpPr>
                <p:spPr>
                  <a:xfrm>
                    <a:off x="6631517" y="4708549"/>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𝑛</m:t>
                              </m:r>
                            </m:sub>
                          </m:sSub>
                        </m:oMath>
                      </m:oMathPara>
                    </a14:m>
                    <a:endParaRPr lang="zh-CN" altLang="en-US" dirty="0"/>
                  </a:p>
                </p:txBody>
              </p:sp>
            </mc:Choice>
            <mc:Fallback xmlns="">
              <p:sp>
                <p:nvSpPr>
                  <p:cNvPr id="13" name="文本框 12">
                    <a:extLst>
                      <a:ext uri="{FF2B5EF4-FFF2-40B4-BE49-F238E27FC236}">
                        <a16:creationId xmlns:a16="http://schemas.microsoft.com/office/drawing/2014/main" id="{99970C08-84B4-C18D-F415-E0FACD96DD54}"/>
                      </a:ext>
                    </a:extLst>
                  </p:cNvPr>
                  <p:cNvSpPr txBox="1">
                    <a:spLocks noRot="1" noChangeAspect="1" noMove="1" noResize="1" noEditPoints="1" noAdjustHandles="1" noChangeArrowheads="1" noChangeShapeType="1" noTextEdit="1"/>
                  </p:cNvSpPr>
                  <p:nvPr/>
                </p:nvSpPr>
                <p:spPr>
                  <a:xfrm>
                    <a:off x="6631517" y="4708549"/>
                    <a:ext cx="745434" cy="369332"/>
                  </a:xfrm>
                  <a:prstGeom prst="rect">
                    <a:avLst/>
                  </a:prstGeom>
                  <a:blipFill>
                    <a:blip r:embed="rId8"/>
                    <a:stretch>
                      <a:fillRect/>
                    </a:stretch>
                  </a:blipFill>
                </p:spPr>
                <p:txBody>
                  <a:bodyPr/>
                  <a:lstStyle/>
                  <a:p>
                    <a:r>
                      <a:rPr lang="zh-CN" altLang="en-US">
                        <a:noFill/>
                      </a:rPr>
                      <a:t> </a:t>
                    </a:r>
                  </a:p>
                </p:txBody>
              </p:sp>
            </mc:Fallback>
          </mc:AlternateContent>
          <p:cxnSp>
            <p:nvCxnSpPr>
              <p:cNvPr id="19" name="直接连接符 18">
                <a:extLst>
                  <a:ext uri="{FF2B5EF4-FFF2-40B4-BE49-F238E27FC236}">
                    <a16:creationId xmlns:a16="http://schemas.microsoft.com/office/drawing/2014/main" id="{E523D68F-788B-FB71-FAF2-9CB3A2EBDAF4}"/>
                  </a:ext>
                </a:extLst>
              </p:cNvPr>
              <p:cNvCxnSpPr>
                <a:cxnSpLocks/>
              </p:cNvCxnSpPr>
              <p:nvPr/>
            </p:nvCxnSpPr>
            <p:spPr>
              <a:xfrm>
                <a:off x="6586622" y="4294325"/>
                <a:ext cx="580355" cy="573816"/>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1E2BA98-DEFA-1020-0505-8D33397359CE}"/>
                    </a:ext>
                  </a:extLst>
                </p:cNvPr>
                <p:cNvSpPr txBox="1"/>
                <p:nvPr/>
              </p:nvSpPr>
              <p:spPr>
                <a:xfrm>
                  <a:off x="6455768" y="3516949"/>
                  <a:ext cx="485030" cy="369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ea typeface="华光仿宋_CNKI" panose="02000500000000000000" pitchFamily="2" charset="-122"/>
                              </a:rPr>
                            </m:ctrlPr>
                          </m:sSubPr>
                          <m:e>
                            <m:r>
                              <a:rPr lang="zh-CN" altLang="en-US" sz="1800">
                                <a:latin typeface="Cambria Math" panose="02040503050406030204" pitchFamily="18" charset="0"/>
                                <a:ea typeface="华光仿宋_CNKI" panose="02000500000000000000" pitchFamily="2" charset="-122"/>
                              </a:rPr>
                              <m:t>𝑃</m:t>
                            </m:r>
                          </m:e>
                          <m:sub>
                            <m:r>
                              <a:rPr lang="en-US" altLang="zh-CN" sz="1800" b="0" i="1" smtClean="0">
                                <a:latin typeface="Cambria Math" panose="02040503050406030204" pitchFamily="18" charset="0"/>
                                <a:ea typeface="华光仿宋_CNKI" panose="02000500000000000000" pitchFamily="2" charset="-122"/>
                              </a:rPr>
                              <m:t>3</m:t>
                            </m:r>
                          </m:sub>
                        </m:sSub>
                      </m:oMath>
                    </m:oMathPara>
                  </a14:m>
                  <a:endParaRPr lang="zh-CN" altLang="en-US" dirty="0"/>
                </a:p>
              </p:txBody>
            </p:sp>
          </mc:Choice>
          <mc:Fallback xmlns="">
            <p:sp>
              <p:nvSpPr>
                <p:cNvPr id="2" name="文本框 1">
                  <a:extLst>
                    <a:ext uri="{FF2B5EF4-FFF2-40B4-BE49-F238E27FC236}">
                      <a16:creationId xmlns:a16="http://schemas.microsoft.com/office/drawing/2014/main" id="{61E2BA98-DEFA-1020-0505-8D33397359CE}"/>
                    </a:ext>
                  </a:extLst>
                </p:cNvPr>
                <p:cNvSpPr txBox="1">
                  <a:spLocks noRot="1" noChangeAspect="1" noMove="1" noResize="1" noEditPoints="1" noAdjustHandles="1" noChangeArrowheads="1" noChangeShapeType="1" noTextEdit="1"/>
                </p:cNvSpPr>
                <p:nvPr/>
              </p:nvSpPr>
              <p:spPr>
                <a:xfrm>
                  <a:off x="6455768" y="3516949"/>
                  <a:ext cx="485030" cy="369331"/>
                </a:xfrm>
                <a:prstGeom prst="rect">
                  <a:avLst/>
                </a:prstGeom>
                <a:blipFill>
                  <a:blip r:embed="rId9"/>
                  <a:stretch>
                    <a:fillRect/>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284FA72D-1C75-A1EC-A29F-119414F462D4}"/>
                </a:ext>
              </a:extLst>
            </p:cNvPr>
            <p:cNvCxnSpPr>
              <a:cxnSpLocks/>
            </p:cNvCxnSpPr>
            <p:nvPr/>
          </p:nvCxnSpPr>
          <p:spPr>
            <a:xfrm flipV="1">
              <a:off x="3639845" y="4029252"/>
              <a:ext cx="574348" cy="2364"/>
            </a:xfrm>
            <a:prstGeom prst="line">
              <a:avLst/>
            </a:prstGeom>
            <a:ln w="285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4F15C1B-B0BD-EE5E-8A20-B854FB09C0BB}"/>
                    </a:ext>
                  </a:extLst>
                </p:cNvPr>
                <p:cNvSpPr txBox="1"/>
                <p:nvPr/>
              </p:nvSpPr>
              <p:spPr>
                <a:xfrm>
                  <a:off x="4706489" y="3612064"/>
                  <a:ext cx="74543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𝑚</m:t>
                            </m:r>
                          </m:sub>
                        </m:sSub>
                      </m:oMath>
                    </m:oMathPara>
                  </a14:m>
                  <a:endParaRPr lang="zh-CN" altLang="en-US" dirty="0"/>
                </a:p>
              </p:txBody>
            </p:sp>
          </mc:Choice>
          <mc:Fallback xmlns="">
            <p:sp>
              <p:nvSpPr>
                <p:cNvPr id="11" name="文本框 10">
                  <a:extLst>
                    <a:ext uri="{FF2B5EF4-FFF2-40B4-BE49-F238E27FC236}">
                      <a16:creationId xmlns:a16="http://schemas.microsoft.com/office/drawing/2014/main" id="{34F15C1B-B0BD-EE5E-8A20-B854FB09C0BB}"/>
                    </a:ext>
                  </a:extLst>
                </p:cNvPr>
                <p:cNvSpPr txBox="1">
                  <a:spLocks noRot="1" noChangeAspect="1" noMove="1" noResize="1" noEditPoints="1" noAdjustHandles="1" noChangeArrowheads="1" noChangeShapeType="1" noTextEdit="1"/>
                </p:cNvSpPr>
                <p:nvPr/>
              </p:nvSpPr>
              <p:spPr>
                <a:xfrm>
                  <a:off x="4706489" y="3612064"/>
                  <a:ext cx="745434" cy="369332"/>
                </a:xfrm>
                <a:prstGeom prst="rect">
                  <a:avLst/>
                </a:prstGeom>
                <a:blipFill>
                  <a:blip r:embed="rId10"/>
                  <a:stretch>
                    <a:fillRect/>
                  </a:stretch>
                </a:blipFill>
              </p:spPr>
              <p:txBody>
                <a:bodyPr/>
                <a:lstStyle/>
                <a:p>
                  <a:r>
                    <a:rPr lang="zh-CN" altLang="en-US">
                      <a:noFill/>
                    </a:rPr>
                    <a:t> </a:t>
                  </a:r>
                </a:p>
              </p:txBody>
            </p:sp>
          </mc:Fallback>
        </mc:AlternateContent>
        <p:cxnSp>
          <p:nvCxnSpPr>
            <p:cNvPr id="17" name="直接连接符 16">
              <a:extLst>
                <a:ext uri="{FF2B5EF4-FFF2-40B4-BE49-F238E27FC236}">
                  <a16:creationId xmlns:a16="http://schemas.microsoft.com/office/drawing/2014/main" id="{A1668FE2-D5FA-AC23-D4CD-A5FA807BD6E4}"/>
                </a:ext>
              </a:extLst>
            </p:cNvPr>
            <p:cNvCxnSpPr>
              <a:cxnSpLocks/>
            </p:cNvCxnSpPr>
            <p:nvPr/>
          </p:nvCxnSpPr>
          <p:spPr>
            <a:xfrm flipH="1">
              <a:off x="5079206" y="4029252"/>
              <a:ext cx="157418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任意多边形: 形状 25">
              <a:extLst>
                <a:ext uri="{FF2B5EF4-FFF2-40B4-BE49-F238E27FC236}">
                  <a16:creationId xmlns:a16="http://schemas.microsoft.com/office/drawing/2014/main" id="{460EF3D7-17F4-1754-6527-197275CA8645}"/>
                </a:ext>
              </a:extLst>
            </p:cNvPr>
            <p:cNvSpPr/>
            <p:nvPr/>
          </p:nvSpPr>
          <p:spPr>
            <a:xfrm>
              <a:off x="4223736" y="4030611"/>
              <a:ext cx="2212629" cy="188162"/>
            </a:xfrm>
            <a:custGeom>
              <a:avLst/>
              <a:gdLst>
                <a:gd name="connsiteX0" fmla="*/ 0 w 2197100"/>
                <a:gd name="connsiteY0" fmla="*/ 0 h 82550"/>
                <a:gd name="connsiteX1" fmla="*/ 2197100 w 2197100"/>
                <a:gd name="connsiteY1" fmla="*/ 82550 h 82550"/>
              </a:gdLst>
              <a:ahLst/>
              <a:cxnLst>
                <a:cxn ang="0">
                  <a:pos x="connsiteX0" y="connsiteY0"/>
                </a:cxn>
                <a:cxn ang="0">
                  <a:pos x="connsiteX1" y="connsiteY1"/>
                </a:cxn>
              </a:cxnLst>
              <a:rect l="l" t="t" r="r" b="b"/>
              <a:pathLst>
                <a:path w="2197100" h="82550">
                  <a:moveTo>
                    <a:pt x="0" y="0"/>
                  </a:moveTo>
                  <a:cubicBezTo>
                    <a:pt x="878681" y="8731"/>
                    <a:pt x="1757363" y="17463"/>
                    <a:pt x="2197100" y="82550"/>
                  </a:cubicBezTo>
                </a:path>
              </a:pathLst>
            </a:custGeom>
            <a:ln w="28575">
              <a:solidFill>
                <a:srgbClr val="FF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15812225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633073" y="634731"/>
                <a:ext cx="10665732" cy="5805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latin typeface="华光标题宋_CNKI" panose="02000500000000000000" pitchFamily="2" charset="-122"/>
                    <a:ea typeface="华光标题宋_CNKI" panose="02000500000000000000" pitchFamily="2" charset="-122"/>
                  </a:rPr>
                  <a:t>     求三次</a:t>
                </a:r>
                <a:r>
                  <a:rPr lang="en-US" altLang="zh-CN" sz="2600" b="1" dirty="0">
                    <a:latin typeface="华光标题宋_CNKI" panose="02000500000000000000" pitchFamily="2" charset="-122"/>
                    <a:ea typeface="华光标题宋_CNKI" panose="02000500000000000000" pitchFamily="2" charset="-122"/>
                  </a:rPr>
                  <a:t>B</a:t>
                </a:r>
                <a:r>
                  <a:rPr lang="zh-CN" altLang="en-US" sz="2600" b="1" dirty="0">
                    <a:latin typeface="华光标题宋_CNKI" panose="02000500000000000000" pitchFamily="2" charset="-122"/>
                    <a:ea typeface="华光标题宋_CNKI" panose="02000500000000000000" pitchFamily="2" charset="-122"/>
                  </a:rPr>
                  <a:t>样条曲线的控制点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对于三次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样条曲线，有如下的表达式：</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i="1">
                            <a:latin typeface="Cambria Math" panose="02040503050406030204" pitchFamily="18" charset="0"/>
                          </a:rPr>
                          <m:t>P</m:t>
                        </m:r>
                      </m:e>
                      <m:sub>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,3</m:t>
                        </m:r>
                      </m:sub>
                    </m:sSub>
                    <m:r>
                      <a:rPr lang="zh-CN" altLang="en-US" sz="2800" smtClean="0">
                        <a:latin typeface="Cambria Math" panose="02040503050406030204" pitchFamily="18" charset="0"/>
                      </a:rPr>
                      <m:t>(</m:t>
                    </m:r>
                    <m:r>
                      <a:rPr lang="zh-CN" altLang="en-US" sz="2800" smtClean="0">
                        <a:latin typeface="Cambria Math" panose="02040503050406030204" pitchFamily="18" charset="0"/>
                      </a:rPr>
                      <m:t>𝑡</m:t>
                    </m:r>
                    <m:r>
                      <a:rPr lang="zh-CN" altLang="en-US" sz="2800" smtClean="0">
                        <a:latin typeface="Cambria Math" panose="02040503050406030204" pitchFamily="18" charset="0"/>
                      </a:rPr>
                      <m:t>)=</m:t>
                    </m:r>
                    <m:nary>
                      <m:naryPr>
                        <m:chr m:val="∑"/>
                        <m:ctrlPr>
                          <a:rPr lang="zh-CN" altLang="en-US" sz="2800" i="1">
                            <a:latin typeface="Cambria Math" panose="02040503050406030204" pitchFamily="18" charset="0"/>
                          </a:rPr>
                        </m:ctrlPr>
                      </m:naryPr>
                      <m:sub>
                        <m:r>
                          <m:rPr>
                            <m:sty m:val="p"/>
                          </m:rPr>
                          <a:rPr lang="en-US" altLang="zh-CN" sz="2800" b="0" i="0" smtClean="0">
                            <a:latin typeface="Cambria Math" panose="02040503050406030204" pitchFamily="18" charset="0"/>
                          </a:rPr>
                          <m:t>k</m:t>
                        </m:r>
                        <m:r>
                          <a:rPr lang="zh-CN" altLang="en-US" sz="2800">
                            <a:latin typeface="Cambria Math" panose="02040503050406030204" pitchFamily="18" charset="0"/>
                          </a:rPr>
                          <m:t>=0</m:t>
                        </m:r>
                      </m:sub>
                      <m:sup>
                        <m:r>
                          <a:rPr lang="en-US" altLang="zh-CN" sz="2800" b="0" i="0" smtClean="0">
                            <a:latin typeface="Cambria Math" panose="02040503050406030204" pitchFamily="18" charset="0"/>
                          </a:rPr>
                          <m:t>3</m:t>
                        </m:r>
                      </m:sup>
                      <m:e>
                        <m:sSub>
                          <m:sSubPr>
                            <m:ctrlPr>
                              <a:rPr lang="zh-CN" altLang="en-US" sz="2800" i="1">
                                <a:latin typeface="Cambria Math" panose="02040503050406030204" pitchFamily="18" charset="0"/>
                              </a:rPr>
                            </m:ctrlPr>
                          </m:sSubPr>
                          <m:e>
                            <m:r>
                              <a:rPr lang="zh-CN" altLang="en-US" sz="2800">
                                <a:latin typeface="Cambria Math" panose="02040503050406030204" pitchFamily="18" charset="0"/>
                              </a:rPr>
                              <m:t>𝑃</m:t>
                            </m:r>
                          </m:e>
                          <m:sub>
                            <m:r>
                              <a:rPr lang="zh-CN" altLang="en-US" sz="2800">
                                <a:latin typeface="Cambria Math" panose="02040503050406030204" pitchFamily="18" charset="0"/>
                              </a:rPr>
                              <m:t>𝑖</m:t>
                            </m:r>
                            <m:r>
                              <a:rPr lang="en-US" altLang="zh-CN" sz="2800" b="0" i="0" smtClean="0">
                                <a:latin typeface="Cambria Math" panose="02040503050406030204" pitchFamily="18" charset="0"/>
                              </a:rPr>
                              <m:t>+</m:t>
                            </m:r>
                            <m:r>
                              <m:rPr>
                                <m:sty m:val="p"/>
                              </m:rPr>
                              <a:rPr lang="en-US" altLang="zh-CN" sz="2800" b="0" i="0" smtClean="0">
                                <a:latin typeface="Cambria Math" panose="02040503050406030204" pitchFamily="18" charset="0"/>
                              </a:rPr>
                              <m:t>k</m:t>
                            </m:r>
                          </m:sub>
                        </m:sSub>
                        <m:r>
                          <a:rPr lang="zh-CN" altLang="en-US" sz="2800">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𝐵</m:t>
                            </m:r>
                          </m:e>
                          <m:sub>
                            <m:r>
                              <a:rPr lang="en-US" altLang="zh-CN" sz="2800" b="0" i="1" smtClean="0">
                                <a:latin typeface="Cambria Math" panose="02040503050406030204" pitchFamily="18" charset="0"/>
                              </a:rPr>
                              <m:t>𝑘</m:t>
                            </m:r>
                            <m:r>
                              <a:rPr lang="en-US" altLang="zh-CN" sz="2800" b="0" i="1" smtClean="0">
                                <a:latin typeface="Cambria Math" panose="02040503050406030204" pitchFamily="18" charset="0"/>
                              </a:rPr>
                              <m:t>,3</m:t>
                            </m:r>
                          </m:sub>
                        </m:sSub>
                        <m:r>
                          <a:rPr lang="zh-CN" altLang="en-US" sz="2800">
                            <a:latin typeface="Cambria Math" panose="02040503050406030204" pitchFamily="18" charset="0"/>
                          </a:rPr>
                          <m:t>(</m:t>
                        </m:r>
                        <m:r>
                          <a:rPr lang="zh-CN" altLang="en-US" sz="2800">
                            <a:latin typeface="Cambria Math" panose="02040503050406030204" pitchFamily="18" charset="0"/>
                          </a:rPr>
                          <m:t>𝑡</m:t>
                        </m:r>
                        <m:r>
                          <a:rPr lang="zh-CN" altLang="en-US" sz="2800">
                            <a:latin typeface="Cambria Math" panose="02040503050406030204" pitchFamily="18" charset="0"/>
                          </a:rPr>
                          <m:t>)</m:t>
                        </m:r>
                      </m:e>
                    </m:nary>
                    <m:m>
                      <m:mPr>
                        <m:plcHide m:val="on"/>
                        <m:mcs>
                          <m:mc>
                            <m:mcPr>
                              <m:count m:val="2"/>
                              <m:mcJc m:val="center"/>
                            </m:mcPr>
                          </m:mc>
                        </m:mcs>
                        <m:ctrlPr>
                          <a:rPr lang="zh-CN" altLang="en-US" sz="2800" i="1">
                            <a:latin typeface="Cambria Math" panose="02040503050406030204" pitchFamily="18" charset="0"/>
                          </a:rPr>
                        </m:ctrlPr>
                      </m:mPr>
                      <m:mr>
                        <m:e/>
                        <m:e>
                          <m:r>
                            <a:rPr lang="zh-CN" altLang="en-US" sz="2800">
                              <a:latin typeface="Cambria Math" panose="02040503050406030204" pitchFamily="18" charset="0"/>
                            </a:rPr>
                            <m:t>𝑡</m:t>
                          </m:r>
                          <m:r>
                            <a:rPr lang="zh-CN" altLang="en-US" sz="2800">
                              <a:latin typeface="Cambria Math" panose="02040503050406030204" pitchFamily="18" charset="0"/>
                            </a:rPr>
                            <m:t>∈[0,1]</m:t>
                          </m:r>
                        </m:e>
                      </m:mr>
                    </m:m>
                  </m:oMath>
                </a14:m>
                <a:r>
                  <a:rPr lang="zh-CN" altLang="en-US" sz="3200" dirty="0">
                    <a:latin typeface="华光仿宋_CNKI" panose="02000500000000000000" pitchFamily="2" charset="-122"/>
                    <a:ea typeface="华光仿宋_CNKI" panose="02000500000000000000" pitchFamily="2" charset="-122"/>
                  </a:rPr>
                  <a:t> </a:t>
                </a:r>
                <a:endParaRPr lang="en-US" altLang="zh-CN" sz="32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因此有：</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m:rPr>
                            <m:sty m:val="p"/>
                          </m:rPr>
                          <a:rPr lang="en-US" altLang="zh-CN" sz="2600">
                            <a:latin typeface="Cambria Math" panose="02040503050406030204" pitchFamily="18" charset="0"/>
                            <a:ea typeface="华光仿宋_CNKI" panose="02000500000000000000" pitchFamily="2" charset="-122"/>
                          </a:rPr>
                          <m:t>P</m:t>
                        </m:r>
                      </m:e>
                      <m:sub>
                        <m:r>
                          <a:rPr lang="en-US" altLang="zh-CN" sz="2600">
                            <a:latin typeface="Cambria Math" panose="02040503050406030204" pitchFamily="18" charset="0"/>
                            <a:ea typeface="华光仿宋_CNKI" panose="02000500000000000000" pitchFamily="2" charset="-122"/>
                          </a:rPr>
                          <m:t>𝑖</m:t>
                        </m:r>
                        <m:r>
                          <a:rPr lang="en-US" altLang="zh-CN" sz="260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(0)=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6</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𝑖</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𝑖</m:t>
                        </m:r>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𝑖</m:t>
                        </m:r>
                        <m:r>
                          <a:rPr lang="en-US" altLang="zh-CN" sz="260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也就是：</a:t>
                </a:r>
                <a:endParaRPr lang="en-US" altLang="zh-CN" sz="2600" dirty="0">
                  <a:latin typeface="华光仿宋_CNKI" panose="02000500000000000000" pitchFamily="2" charset="-122"/>
                  <a:ea typeface="华光仿宋_CNKI" panose="02000500000000000000" pitchFamily="2" charset="-122"/>
                </a:endParaRPr>
              </a:p>
              <a:p>
                <a:pPr algn="l">
                  <a:lnSpc>
                    <a:spcPct val="16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m:rPr>
                            <m:sty m:val="p"/>
                          </m:rPr>
                          <a:rPr lang="en-US" altLang="zh-CN" sz="2600">
                            <a:latin typeface="Cambria Math" panose="02040503050406030204" pitchFamily="18" charset="0"/>
                            <a:ea typeface="华光仿宋_CNKI" panose="02000500000000000000" pitchFamily="2" charset="-122"/>
                          </a:rPr>
                          <m:t>P</m:t>
                        </m:r>
                      </m:e>
                      <m:sub>
                        <m:r>
                          <a:rPr lang="en-US" altLang="zh-CN" sz="2600" b="0" i="0" smtClean="0">
                            <a:latin typeface="Cambria Math" panose="02040503050406030204" pitchFamily="18" charset="0"/>
                            <a:ea typeface="华光仿宋_CNKI" panose="02000500000000000000" pitchFamily="2" charset="-122"/>
                          </a:rPr>
                          <m:t>0</m:t>
                        </m:r>
                        <m:r>
                          <a:rPr lang="en-US" altLang="zh-CN" sz="260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(0)=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6</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smtClean="0">
                            <a:latin typeface="Cambria Math" panose="02040503050406030204" pitchFamily="18" charset="0"/>
                            <a:ea typeface="华光仿宋_CNKI" panose="02000500000000000000" pitchFamily="2" charset="-122"/>
                          </a:rPr>
                        </m:ctrlPr>
                      </m:sSubPr>
                      <m:e>
                        <m:r>
                          <m:rPr>
                            <m:sty m:val="p"/>
                          </m:rPr>
                          <a:rPr lang="en-US" altLang="zh-CN" sz="2600">
                            <a:latin typeface="Cambria Math" panose="02040503050406030204" pitchFamily="18" charset="0"/>
                            <a:ea typeface="华光仿宋_CNKI" panose="02000500000000000000" pitchFamily="2" charset="-122"/>
                          </a:rPr>
                          <m:t>P</m:t>
                        </m:r>
                      </m:e>
                      <m:sub>
                        <m:r>
                          <a:rPr lang="en-US" altLang="zh-CN" sz="2600" b="0" i="0" smtClean="0">
                            <a:latin typeface="Cambria Math" panose="02040503050406030204" pitchFamily="18" charset="0"/>
                            <a:ea typeface="华光仿宋_CNKI" panose="02000500000000000000" pitchFamily="2" charset="-122"/>
                          </a:rPr>
                          <m:t>1</m:t>
                        </m:r>
                        <m:r>
                          <a:rPr lang="en-US" altLang="zh-CN" sz="260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(0)=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6</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633073" y="634731"/>
                <a:ext cx="10665732" cy="580582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33376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633073" y="634731"/>
                <a:ext cx="10665732" cy="5805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依次类推，</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sz="2600" i="1" smtClean="0">
                            <a:latin typeface="Cambria Math" panose="02040503050406030204" pitchFamily="18" charset="0"/>
                            <a:ea typeface="华光仿宋_CNKI" panose="02000500000000000000" pitchFamily="2" charset="-122"/>
                          </a:rPr>
                        </m:ctrlPr>
                      </m:sSubPr>
                      <m:e>
                        <m:r>
                          <m:rPr>
                            <m:sty m:val="p"/>
                          </m:rPr>
                          <a:rPr lang="en-US" altLang="zh-CN" sz="2600">
                            <a:latin typeface="Cambria Math" panose="02040503050406030204" pitchFamily="18" charset="0"/>
                            <a:ea typeface="华光仿宋_CNKI" panose="02000500000000000000" pitchFamily="2" charset="-122"/>
                          </a:rPr>
                          <m:t>P</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−3,3</m:t>
                        </m:r>
                      </m:sub>
                    </m:sSub>
                  </m:oMath>
                </a14:m>
                <a:r>
                  <a:rPr lang="en-US" altLang="zh-CN" sz="2600" dirty="0">
                    <a:latin typeface="华光仿宋_CNKI" panose="02000500000000000000" pitchFamily="2" charset="-122"/>
                    <a:ea typeface="华光仿宋_CNKI" panose="02000500000000000000" pitchFamily="2" charset="-122"/>
                  </a:rPr>
                  <a:t>(0)= </a:t>
                </a:r>
                <a14:m>
                  <m:oMath xmlns:m="http://schemas.openxmlformats.org/officeDocument/2006/math">
                    <m:f>
                      <m:fPr>
                        <m:ctrlPr>
                          <a:rPr lang="en-US" altLang="zh-CN" sz="2600" i="1" dirty="0">
                            <a:latin typeface="Cambria Math" panose="02040503050406030204" pitchFamily="18" charset="0"/>
                            <a:ea typeface="华光仿宋_CNKI" panose="02000500000000000000" pitchFamily="2" charset="-122"/>
                          </a:rPr>
                        </m:ctrlPr>
                      </m:fPr>
                      <m:num>
                        <m:r>
                          <a:rPr lang="en-US" altLang="zh-CN" sz="2600" dirty="0">
                            <a:latin typeface="Cambria Math" panose="02040503050406030204" pitchFamily="18" charset="0"/>
                            <a:ea typeface="华光仿宋_CNKI" panose="02000500000000000000" pitchFamily="2" charset="-122"/>
                          </a:rPr>
                          <m:t>1</m:t>
                        </m:r>
                      </m:num>
                      <m:den>
                        <m:r>
                          <a:rPr lang="en-US" altLang="zh-CN" sz="2600" dirty="0">
                            <a:latin typeface="Cambria Math" panose="02040503050406030204" pitchFamily="18" charset="0"/>
                            <a:ea typeface="华光仿宋_CNKI" panose="02000500000000000000" pitchFamily="2" charset="-122"/>
                          </a:rPr>
                          <m:t>6</m:t>
                        </m:r>
                      </m:den>
                    </m:f>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r>
                  <a:rPr lang="en-US" altLang="zh-CN" sz="2600" dirty="0">
                    <a:latin typeface="华光仿宋_CNKI" panose="02000500000000000000" pitchFamily="2" charset="-122"/>
                    <a:ea typeface="华光仿宋_CNKI" panose="02000500000000000000" pitchFamily="2" charset="-122"/>
                  </a:rPr>
                  <a:t>4</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可令：</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en-US" altLang="zh-CN" sz="2600" b="0" i="1" smtClean="0">
                            <a:latin typeface="Cambria Math" panose="02040503050406030204" pitchFamily="18" charset="0"/>
                            <a:ea typeface="华光仿宋_CNKI" panose="02000500000000000000" pitchFamily="2" charset="-122"/>
                          </a:rPr>
                          <m:t>𝑄</m:t>
                        </m:r>
                      </m:e>
                      <m:sub>
                        <m:r>
                          <a:rPr lang="en-US" altLang="zh-CN" sz="2600" b="0" i="1" smtClean="0">
                            <a:latin typeface="Cambria Math" panose="02040503050406030204" pitchFamily="18" charset="0"/>
                            <a:ea typeface="华光仿宋_CNKI" panose="02000500000000000000" pitchFamily="2" charset="-122"/>
                          </a:rPr>
                          <m:t>𝑖</m:t>
                        </m:r>
                      </m:sub>
                    </m:sSub>
                    <m:r>
                      <a:rPr lang="en-US" altLang="zh-CN" sz="2600" i="1">
                        <a:latin typeface="Cambria Math" panose="02040503050406030204" pitchFamily="18" charset="0"/>
                        <a:ea typeface="华光仿宋_CNKI" panose="02000500000000000000" pitchFamily="2" charset="-122"/>
                      </a:rPr>
                      <m:t> </m:t>
                    </m:r>
                    <m:sSub>
                      <m:sSubPr>
                        <m:ctrlPr>
                          <a:rPr lang="en-US" altLang="zh-CN" sz="2600" i="1" smtClean="0">
                            <a:latin typeface="Cambria Math" panose="02040503050406030204" pitchFamily="18" charset="0"/>
                            <a:ea typeface="华光仿宋_CNKI" panose="02000500000000000000" pitchFamily="2" charset="-122"/>
                          </a:rPr>
                        </m:ctrlPr>
                      </m:sSubPr>
                      <m:e>
                        <m:r>
                          <a:rPr lang="en-US" altLang="zh-CN" sz="2600" i="1">
                            <a:latin typeface="Cambria Math" panose="02040503050406030204" pitchFamily="18" charset="0"/>
                            <a:ea typeface="华光仿宋_CNKI" panose="02000500000000000000" pitchFamily="2" charset="-122"/>
                          </a:rPr>
                          <m:t>=</m:t>
                        </m:r>
                        <m:r>
                          <m:rPr>
                            <m:sty m:val="p"/>
                          </m:rPr>
                          <a:rPr lang="en-US" altLang="zh-CN" sz="2600">
                            <a:latin typeface="Cambria Math" panose="02040503050406030204" pitchFamily="18" charset="0"/>
                            <a:ea typeface="华光仿宋_CNKI" panose="02000500000000000000" pitchFamily="2" charset="-122"/>
                          </a:rPr>
                          <m:t>P</m:t>
                        </m:r>
                      </m:e>
                      <m:sub>
                        <m:r>
                          <a:rPr lang="en-US" altLang="zh-CN" sz="2600">
                            <a:latin typeface="Cambria Math" panose="02040503050406030204" pitchFamily="18" charset="0"/>
                            <a:ea typeface="华光仿宋_CNKI" panose="02000500000000000000" pitchFamily="2" charset="-122"/>
                          </a:rPr>
                          <m:t>𝑖</m:t>
                        </m:r>
                        <m:r>
                          <a:rPr lang="en-US" altLang="zh-CN" sz="260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(0)  </a:t>
                </a:r>
                <a:r>
                  <a:rPr lang="zh-CN" altLang="en-US" sz="2600" dirty="0">
                    <a:latin typeface="华光仿宋_CNKI" panose="02000500000000000000" pitchFamily="2" charset="-122"/>
                    <a:ea typeface="华光仿宋_CNKI" panose="02000500000000000000" pitchFamily="2" charset="-122"/>
                  </a:rPr>
                  <a:t>其中</a:t>
                </a:r>
                <a:r>
                  <a:rPr lang="en-US" altLang="zh-CN" sz="2600" dirty="0" err="1">
                    <a:latin typeface="华光仿宋_CNKI" panose="02000500000000000000" pitchFamily="2" charset="-122"/>
                    <a:ea typeface="华光仿宋_CNKI" panose="02000500000000000000" pitchFamily="2" charset="-122"/>
                  </a:rPr>
                  <a:t>i</a:t>
                </a:r>
                <a:r>
                  <a:rPr lang="en-US" altLang="zh-CN" sz="2600" dirty="0">
                    <a:latin typeface="华光仿宋_CNKI" panose="02000500000000000000" pitchFamily="2" charset="-122"/>
                    <a:ea typeface="华光仿宋_CNKI" panose="02000500000000000000" pitchFamily="2" charset="-122"/>
                  </a:rPr>
                  <a:t>=0,1,2,…,n-3</a:t>
                </a:r>
              </a:p>
              <a:p>
                <a:pPr algn="l">
                  <a:lnSpc>
                    <a:spcPct val="12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则可得：</a:t>
                </a:r>
                <a:endParaRPr lang="en-US" altLang="zh-CN" sz="2600" dirty="0">
                  <a:latin typeface="华光仿宋_CNKI" panose="02000500000000000000" pitchFamily="2" charset="-122"/>
                  <a:ea typeface="华光仿宋_CNKI" panose="02000500000000000000" pitchFamily="2" charset="-122"/>
                </a:endParaRPr>
              </a:p>
              <a:p>
                <a:pPr algn="l">
                  <a:lnSpc>
                    <a:spcPct val="11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d>
                      <m:dPr>
                        <m:begChr m:val="{"/>
                        <m:endChr m:val=""/>
                        <m:ctrlPr>
                          <a:rPr lang="en-US" altLang="zh-CN" sz="2600" i="1" smtClean="0">
                            <a:latin typeface="Cambria Math" panose="02040503050406030204" pitchFamily="18" charset="0"/>
                            <a:ea typeface="华光仿宋_CNKI" panose="02000500000000000000" pitchFamily="2" charset="-122"/>
                          </a:rPr>
                        </m:ctrlPr>
                      </m:dPr>
                      <m:e>
                        <m:eqArr>
                          <m:eqArrPr>
                            <m:ctrlPr>
                              <a:rPr lang="en-US" altLang="zh-CN" sz="2600" i="1" smtClean="0">
                                <a:latin typeface="Cambria Math" panose="02040503050406030204" pitchFamily="18" charset="0"/>
                                <a:ea typeface="华光仿宋_CNKI" panose="02000500000000000000" pitchFamily="2" charset="-122"/>
                              </a:rPr>
                            </m:ctrlPr>
                          </m:eqArrPr>
                          <m:e>
                            <m:r>
                              <a:rPr lang="en-US" altLang="zh-CN" b="0" i="1" smtClean="0">
                                <a:latin typeface="Cambria Math" panose="02040503050406030204" pitchFamily="18" charset="0"/>
                                <a:ea typeface="华光仿宋_CNKI" panose="02000500000000000000" pitchFamily="2" charset="-122"/>
                              </a:rPr>
                              <m:t>6</m:t>
                            </m:r>
                            <m:sSub>
                              <m:sSubPr>
                                <m:ctrlPr>
                                  <a:rPr lang="zh-CN" altLang="en-US"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𝑄</m:t>
                                </m:r>
                              </m:e>
                              <m:sub>
                                <m:r>
                                  <a:rPr lang="en-US" altLang="zh-CN" b="0" i="1" smtClean="0">
                                    <a:latin typeface="Cambria Math" panose="02040503050406030204" pitchFamily="18" charset="0"/>
                                    <a:ea typeface="华光仿宋_CNKI" panose="02000500000000000000" pitchFamily="2" charset="-122"/>
                                  </a:rPr>
                                  <m:t>0</m:t>
                                </m:r>
                              </m:sub>
                            </m:sSub>
                            <m:r>
                              <a:rPr lang="en-US" altLang="zh-CN" b="0" i="1" smtClean="0">
                                <a:latin typeface="Cambria Math" panose="02040503050406030204" pitchFamily="18" charset="0"/>
                                <a:ea typeface="华光仿宋_CNKI" panose="02000500000000000000" pitchFamily="2" charset="-122"/>
                              </a:rPr>
                              <m:t>=</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a:latin typeface="Cambria Math" panose="02040503050406030204" pitchFamily="18" charset="0"/>
                                    <a:ea typeface="华光仿宋_CNKI" panose="02000500000000000000" pitchFamily="2" charset="-122"/>
                                  </a:rPr>
                                  <m:t>0</m:t>
                                </m:r>
                              </m:sub>
                            </m:sSub>
                            <m:r>
                              <m:rPr>
                                <m:nor/>
                              </m:rPr>
                              <a:rPr lang="en-US" altLang="zh-CN" dirty="0">
                                <a:latin typeface="华光仿宋_CNKI" panose="02000500000000000000" pitchFamily="2" charset="-122"/>
                                <a:ea typeface="华光仿宋_CNKI" panose="02000500000000000000" pitchFamily="2" charset="-122"/>
                              </a:rPr>
                              <m:t>+</m:t>
                            </m:r>
                            <m:r>
                              <m:rPr>
                                <m:nor/>
                              </m:rPr>
                              <a:rPr lang="zh-CN" altLang="en-US" dirty="0">
                                <a:latin typeface="华光仿宋_CNKI" panose="02000500000000000000" pitchFamily="2" charset="-122"/>
                                <a:ea typeface="华光仿宋_CNKI" panose="02000500000000000000" pitchFamily="2" charset="-122"/>
                              </a:rPr>
                              <m:t> </m:t>
                            </m:r>
                            <m:r>
                              <m:rPr>
                                <m:nor/>
                              </m:rPr>
                              <a:rPr lang="en-US" altLang="zh-CN" dirty="0">
                                <a:latin typeface="华光仿宋_CNKI" panose="02000500000000000000" pitchFamily="2" charset="-122"/>
                                <a:ea typeface="华光仿宋_CNKI" panose="02000500000000000000" pitchFamily="2" charset="-122"/>
                              </a:rPr>
                              <m:t>4</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a:latin typeface="Cambria Math" panose="02040503050406030204" pitchFamily="18" charset="0"/>
                                    <a:ea typeface="华光仿宋_CNKI" panose="02000500000000000000" pitchFamily="2" charset="-122"/>
                                  </a:rPr>
                                  <m:t>1</m:t>
                                </m:r>
                              </m:sub>
                            </m:sSub>
                            <m:r>
                              <m:rPr>
                                <m:nor/>
                              </m:rPr>
                              <a:rPr lang="en-US" altLang="zh-CN" dirty="0">
                                <a:latin typeface="华光仿宋_CNKI" panose="02000500000000000000" pitchFamily="2" charset="-122"/>
                                <a:ea typeface="华光仿宋_CNKI" panose="02000500000000000000" pitchFamily="2" charset="-122"/>
                              </a:rPr>
                              <m:t>+</m:t>
                            </m:r>
                            <m:r>
                              <m:rPr>
                                <m:nor/>
                              </m:rPr>
                              <a:rPr lang="zh-CN" altLang="en-US" dirty="0">
                                <a:latin typeface="华光仿宋_CNKI" panose="02000500000000000000" pitchFamily="2" charset="-122"/>
                                <a:ea typeface="华光仿宋_CNKI" panose="02000500000000000000" pitchFamily="2" charset="-122"/>
                              </a:rPr>
                              <m:t> </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a:latin typeface="Cambria Math" panose="02040503050406030204" pitchFamily="18" charset="0"/>
                                    <a:ea typeface="华光仿宋_CNKI" panose="02000500000000000000" pitchFamily="2" charset="-122"/>
                                  </a:rPr>
                                  <m:t>2</m:t>
                                </m:r>
                              </m:sub>
                            </m:sSub>
                            <m:r>
                              <a:rPr lang="en-US" altLang="zh-CN" b="0" i="1" smtClean="0">
                                <a:latin typeface="Cambria Math" panose="02040503050406030204" pitchFamily="18" charset="0"/>
                                <a:ea typeface="华光仿宋_CNKI" panose="02000500000000000000" pitchFamily="2" charset="-122"/>
                              </a:rPr>
                              <m:t>               </m:t>
                            </m:r>
                          </m:e>
                          <m:e>
                            <m:r>
                              <a:rPr lang="en-US" altLang="zh-CN" i="1">
                                <a:latin typeface="Cambria Math" panose="02040503050406030204" pitchFamily="18" charset="0"/>
                                <a:ea typeface="华光仿宋_CNKI" panose="02000500000000000000" pitchFamily="2" charset="-122"/>
                              </a:rPr>
                              <m:t>6</m:t>
                            </m:r>
                            <m:sSub>
                              <m:sSubPr>
                                <m:ctrlPr>
                                  <a:rPr lang="zh-CN" altLang="en-US"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𝑄</m:t>
                                </m:r>
                              </m:e>
                              <m:sub>
                                <m:r>
                                  <a:rPr lang="en-US" altLang="zh-CN" b="0" i="1" smtClean="0">
                                    <a:latin typeface="Cambria Math" panose="02040503050406030204" pitchFamily="18" charset="0"/>
                                    <a:ea typeface="华光仿宋_CNKI" panose="02000500000000000000" pitchFamily="2" charset="-122"/>
                                  </a:rPr>
                                  <m:t>1</m:t>
                                </m:r>
                              </m:sub>
                            </m:sSub>
                            <m:r>
                              <a:rPr lang="en-US" altLang="zh-CN" b="0" i="1" smtClean="0">
                                <a:latin typeface="Cambria Math" panose="02040503050406030204" pitchFamily="18" charset="0"/>
                                <a:ea typeface="华光仿宋_CNKI" panose="02000500000000000000" pitchFamily="2" charset="-122"/>
                              </a:rPr>
                              <m:t>=</m:t>
                            </m:r>
                            <m:sSub>
                              <m:sSubPr>
                                <m:ctrlPr>
                                  <a:rPr lang="zh-CN" altLang="en-US" i="1" smtClean="0">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0" smtClean="0">
                                    <a:latin typeface="Cambria Math" panose="02040503050406030204" pitchFamily="18" charset="0"/>
                                    <a:ea typeface="华光仿宋_CNKI" panose="02000500000000000000" pitchFamily="2" charset="-122"/>
                                  </a:rPr>
                                  <m:t>1</m:t>
                                </m:r>
                              </m:sub>
                            </m:sSub>
                            <m:r>
                              <m:rPr>
                                <m:nor/>
                              </m:rPr>
                              <a:rPr lang="en-US" altLang="zh-CN" dirty="0">
                                <a:latin typeface="华光仿宋_CNKI" panose="02000500000000000000" pitchFamily="2" charset="-122"/>
                                <a:ea typeface="华光仿宋_CNKI" panose="02000500000000000000" pitchFamily="2" charset="-122"/>
                              </a:rPr>
                              <m:t>+</m:t>
                            </m:r>
                            <m:r>
                              <m:rPr>
                                <m:nor/>
                              </m:rPr>
                              <a:rPr lang="zh-CN" altLang="en-US" dirty="0">
                                <a:latin typeface="华光仿宋_CNKI" panose="02000500000000000000" pitchFamily="2" charset="-122"/>
                                <a:ea typeface="华光仿宋_CNKI" panose="02000500000000000000" pitchFamily="2" charset="-122"/>
                              </a:rPr>
                              <m:t> </m:t>
                            </m:r>
                            <m:r>
                              <m:rPr>
                                <m:nor/>
                              </m:rPr>
                              <a:rPr lang="en-US" altLang="zh-CN" dirty="0">
                                <a:latin typeface="华光仿宋_CNKI" panose="02000500000000000000" pitchFamily="2" charset="-122"/>
                                <a:ea typeface="华光仿宋_CNKI" panose="02000500000000000000" pitchFamily="2" charset="-122"/>
                              </a:rPr>
                              <m:t>4</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2</m:t>
                                </m:r>
                              </m:sub>
                            </m:sSub>
                            <m:r>
                              <m:rPr>
                                <m:nor/>
                              </m:rPr>
                              <a:rPr lang="en-US" altLang="zh-CN" dirty="0">
                                <a:latin typeface="华光仿宋_CNKI" panose="02000500000000000000" pitchFamily="2" charset="-122"/>
                                <a:ea typeface="华光仿宋_CNKI" panose="02000500000000000000" pitchFamily="2" charset="-122"/>
                              </a:rPr>
                              <m:t>+</m:t>
                            </m:r>
                            <m:r>
                              <m:rPr>
                                <m:nor/>
                              </m:rPr>
                              <a:rPr lang="zh-CN" altLang="en-US" dirty="0">
                                <a:latin typeface="华光仿宋_CNKI" panose="02000500000000000000" pitchFamily="2" charset="-122"/>
                                <a:ea typeface="华光仿宋_CNKI" panose="02000500000000000000" pitchFamily="2" charset="-122"/>
                              </a:rPr>
                              <m:t> </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0" smtClean="0">
                                    <a:latin typeface="Cambria Math" panose="02040503050406030204" pitchFamily="18" charset="0"/>
                                    <a:ea typeface="华光仿宋_CNKI" panose="02000500000000000000" pitchFamily="2" charset="-122"/>
                                  </a:rPr>
                                  <m:t>3</m:t>
                                </m:r>
                              </m:sub>
                            </m:sSub>
                            <m:r>
                              <a:rPr lang="en-US" altLang="zh-CN" b="0" i="1" smtClean="0">
                                <a:latin typeface="Cambria Math" panose="02040503050406030204" pitchFamily="18" charset="0"/>
                                <a:ea typeface="华光仿宋_CNKI" panose="02000500000000000000" pitchFamily="2" charset="-122"/>
                              </a:rPr>
                              <m:t>               </m:t>
                            </m:r>
                          </m:e>
                          <m:e>
                            <m:r>
                              <a:rPr lang="en-US" altLang="zh-CN" b="0" i="1" smtClean="0">
                                <a:latin typeface="Cambria Math" panose="02040503050406030204" pitchFamily="18" charset="0"/>
                              </a:rPr>
                              <m:t>:</m:t>
                            </m:r>
                          </m:e>
                          <m:e>
                            <m:r>
                              <a:rPr lang="en-US" altLang="zh-CN" i="1">
                                <a:latin typeface="Cambria Math" panose="02040503050406030204" pitchFamily="18" charset="0"/>
                                <a:ea typeface="华光仿宋_CNKI" panose="02000500000000000000" pitchFamily="2" charset="-122"/>
                              </a:rPr>
                              <m:t>6</m:t>
                            </m:r>
                            <m:sSub>
                              <m:sSubPr>
                                <m:ctrlPr>
                                  <a:rPr lang="zh-CN" altLang="en-US"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𝑄</m:t>
                                </m:r>
                              </m:e>
                              <m:sub>
                                <m:r>
                                  <a:rPr lang="en-US" altLang="zh-CN" b="0" i="1" smtClean="0">
                                    <a:latin typeface="Cambria Math" panose="02040503050406030204" pitchFamily="18" charset="0"/>
                                    <a:ea typeface="华光仿宋_CNKI" panose="02000500000000000000" pitchFamily="2" charset="-122"/>
                                  </a:rPr>
                                  <m:t>𝑛</m:t>
                                </m:r>
                              </m:sub>
                            </m:sSub>
                            <m:r>
                              <a:rPr lang="en-US" altLang="zh-CN" b="0" i="1" smtClean="0">
                                <a:latin typeface="Cambria Math" panose="02040503050406030204" pitchFamily="18" charset="0"/>
                                <a:ea typeface="华光仿宋_CNKI" panose="02000500000000000000" pitchFamily="2" charset="-122"/>
                              </a:rPr>
                              <m:t>=</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𝑛</m:t>
                                </m:r>
                                <m:r>
                                  <a:rPr lang="en-US" altLang="zh-CN" b="0" i="1" smtClean="0">
                                    <a:latin typeface="Cambria Math" panose="02040503050406030204" pitchFamily="18" charset="0"/>
                                    <a:ea typeface="华光仿宋_CNKI" panose="02000500000000000000" pitchFamily="2" charset="-122"/>
                                  </a:rPr>
                                  <m:t>−3</m:t>
                                </m:r>
                              </m:sub>
                            </m:sSub>
                            <m:r>
                              <m:rPr>
                                <m:nor/>
                              </m:rPr>
                              <a:rPr lang="en-US" altLang="zh-CN" dirty="0">
                                <a:latin typeface="华光仿宋_CNKI" panose="02000500000000000000" pitchFamily="2" charset="-122"/>
                                <a:ea typeface="华光仿宋_CNKI" panose="02000500000000000000" pitchFamily="2" charset="-122"/>
                              </a:rPr>
                              <m:t>+</m:t>
                            </m:r>
                            <m:r>
                              <m:rPr>
                                <m:nor/>
                              </m:rPr>
                              <a:rPr lang="zh-CN" altLang="en-US" dirty="0">
                                <a:latin typeface="华光仿宋_CNKI" panose="02000500000000000000" pitchFamily="2" charset="-122"/>
                                <a:ea typeface="华光仿宋_CNKI" panose="02000500000000000000" pitchFamily="2" charset="-122"/>
                              </a:rPr>
                              <m:t> </m:t>
                            </m:r>
                            <m:r>
                              <m:rPr>
                                <m:nor/>
                              </m:rPr>
                              <a:rPr lang="en-US" altLang="zh-CN" dirty="0">
                                <a:latin typeface="华光仿宋_CNKI" panose="02000500000000000000" pitchFamily="2" charset="-122"/>
                                <a:ea typeface="华光仿宋_CNKI" panose="02000500000000000000" pitchFamily="2" charset="-122"/>
                              </a:rPr>
                              <m:t>4</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𝑛</m:t>
                                </m:r>
                                <m:r>
                                  <a:rPr lang="en-US" altLang="zh-CN" b="0" i="1" smtClean="0">
                                    <a:latin typeface="Cambria Math" panose="02040503050406030204" pitchFamily="18" charset="0"/>
                                    <a:ea typeface="华光仿宋_CNKI" panose="02000500000000000000" pitchFamily="2" charset="-122"/>
                                  </a:rPr>
                                  <m:t>−2</m:t>
                                </m:r>
                              </m:sub>
                            </m:sSub>
                            <m:r>
                              <m:rPr>
                                <m:nor/>
                              </m:rPr>
                              <a:rPr lang="en-US" altLang="zh-CN" dirty="0">
                                <a:latin typeface="华光仿宋_CNKI" panose="02000500000000000000" pitchFamily="2" charset="-122"/>
                                <a:ea typeface="华光仿宋_CNKI" panose="02000500000000000000" pitchFamily="2" charset="-122"/>
                              </a:rPr>
                              <m:t>+</m:t>
                            </m:r>
                            <m:r>
                              <m:rPr>
                                <m:nor/>
                              </m:rPr>
                              <a:rPr lang="zh-CN" altLang="en-US" dirty="0">
                                <a:latin typeface="华光仿宋_CNKI" panose="02000500000000000000" pitchFamily="2" charset="-122"/>
                                <a:ea typeface="华光仿宋_CNKI" panose="02000500000000000000" pitchFamily="2" charset="-122"/>
                              </a:rPr>
                              <m:t> </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𝑛</m:t>
                                </m:r>
                                <m:r>
                                  <a:rPr lang="en-US" altLang="zh-CN" b="0" i="1" smtClean="0">
                                    <a:latin typeface="Cambria Math" panose="02040503050406030204" pitchFamily="18" charset="0"/>
                                    <a:ea typeface="华光仿宋_CNKI" panose="02000500000000000000" pitchFamily="2" charset="-122"/>
                                  </a:rPr>
                                  <m:t>−1</m:t>
                                </m:r>
                              </m:sub>
                            </m:sSub>
                          </m:e>
                        </m:eqArr>
                      </m:e>
                    </m:d>
                  </m:oMath>
                </a14:m>
                <a:endParaRPr lang="en-US" altLang="zh-CN" sz="2600" dirty="0">
                  <a:latin typeface="华光仿宋_CNKI" panose="02000500000000000000" pitchFamily="2" charset="-122"/>
                  <a:ea typeface="华光仿宋_CNKI" panose="02000500000000000000" pitchFamily="2" charset="-122"/>
                </a:endParaRPr>
              </a:p>
              <a:p>
                <a:pPr algn="l">
                  <a:lnSpc>
                    <a:spcPct val="110000"/>
                  </a:lnSpc>
                </a:pP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633073" y="634731"/>
                <a:ext cx="10665732" cy="580582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62287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77414" y="658585"/>
                <a:ext cx="10665732" cy="536850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显然在已知</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en-US" altLang="zh-CN" sz="2600">
                            <a:latin typeface="Cambria Math" panose="02040503050406030204" pitchFamily="18" charset="0"/>
                            <a:ea typeface="华光仿宋_CNKI" panose="02000500000000000000" pitchFamily="2" charset="-122"/>
                          </a:rPr>
                          <m:t>𝑄</m:t>
                        </m:r>
                      </m:e>
                      <m:sub>
                        <m:r>
                          <a:rPr lang="en-US" altLang="zh-CN" sz="260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en-US" altLang="zh-CN" sz="2600">
                            <a:latin typeface="Cambria Math" panose="02040503050406030204" pitchFamily="18" charset="0"/>
                            <a:ea typeface="华光仿宋_CNKI" panose="02000500000000000000" pitchFamily="2" charset="-122"/>
                          </a:rPr>
                          <m:t>𝑄</m:t>
                        </m:r>
                      </m:e>
                      <m:sub>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en-US" altLang="zh-CN" sz="2600">
                            <a:latin typeface="Cambria Math" panose="02040503050406030204" pitchFamily="18" charset="0"/>
                            <a:ea typeface="华光仿宋_CNKI" panose="02000500000000000000" pitchFamily="2" charset="-122"/>
                          </a:rPr>
                          <m:t>𝑄</m:t>
                        </m:r>
                      </m:e>
                      <m:sub>
                        <m:r>
                          <a:rPr lang="en-US" altLang="zh-CN" sz="2600">
                            <a:latin typeface="Cambria Math" panose="02040503050406030204" pitchFamily="18" charset="0"/>
                            <a:ea typeface="华光仿宋_CNKI" panose="02000500000000000000" pitchFamily="2" charset="-122"/>
                          </a:rPr>
                          <m:t>𝑛</m:t>
                        </m:r>
                        <m:r>
                          <a:rPr lang="en-US" altLang="zh-CN" sz="2600">
                            <a:latin typeface="Cambria Math" panose="02040503050406030204" pitchFamily="18" charset="0"/>
                            <a:ea typeface="华光仿宋_CNKI" panose="02000500000000000000" pitchFamily="2" charset="-122"/>
                          </a:rPr>
                          <m:t>−3</m:t>
                        </m:r>
                      </m:sub>
                    </m:sSub>
                  </m:oMath>
                </a14:m>
                <a:r>
                  <a:rPr lang="zh-CN" altLang="en-US" sz="2600" dirty="0">
                    <a:latin typeface="华光仿宋_CNKI" panose="02000500000000000000" pitchFamily="2" charset="-122"/>
                    <a:ea typeface="华光仿宋_CNKI" panose="02000500000000000000" pitchFamily="2" charset="-122"/>
                  </a:rPr>
                  <a:t>的情况下还无法求</a:t>
                </a:r>
                <a14:m>
                  <m:oMath xmlns:m="http://schemas.openxmlformats.org/officeDocument/2006/math">
                    <m:r>
                      <a:rPr lang="zh-CN" altLang="en-US" sz="2600" i="1">
                        <a:latin typeface="Cambria Math" panose="02040503050406030204" pitchFamily="18" charset="0"/>
                        <a:ea typeface="华光仿宋_CNKI" panose="02000500000000000000" pitchFamily="2" charset="-122"/>
                      </a:rPr>
                      <m:t>得</m:t>
                    </m:r>
                    <m:sSub>
                      <m:sSubPr>
                        <m:ctrlPr>
                          <a:rPr lang="zh-CN" altLang="en-US" sz="2800" i="1">
                            <a:latin typeface="Cambria Math" panose="02040503050406030204" pitchFamily="18" charset="0"/>
                            <a:ea typeface="华光仿宋_CNKI" panose="02000500000000000000" pitchFamily="2" charset="-122"/>
                          </a:rPr>
                        </m:ctrlPr>
                      </m:sSubPr>
                      <m:e>
                        <m:r>
                          <a:rPr lang="zh-CN" altLang="en-US" sz="2800">
                            <a:latin typeface="Cambria Math" panose="02040503050406030204" pitchFamily="18" charset="0"/>
                            <a:ea typeface="华光仿宋_CNKI" panose="02000500000000000000" pitchFamily="2" charset="-122"/>
                          </a:rPr>
                          <m:t>𝑃</m:t>
                        </m:r>
                      </m:e>
                      <m:sub>
                        <m:r>
                          <a:rPr lang="en-US" altLang="zh-CN" sz="2800">
                            <a:latin typeface="Cambria Math" panose="02040503050406030204" pitchFamily="18" charset="0"/>
                            <a:ea typeface="华光仿宋_CNKI" panose="02000500000000000000" pitchFamily="2" charset="-122"/>
                          </a:rPr>
                          <m:t>0</m:t>
                        </m:r>
                      </m:sub>
                    </m:sSub>
                    <m:r>
                      <a:rPr lang="en-US" altLang="zh-CN" sz="2800" b="0" i="0" smtClean="0">
                        <a:latin typeface="Cambria Math" panose="02040503050406030204" pitchFamily="18" charset="0"/>
                        <a:ea typeface="华光仿宋_CNKI" panose="02000500000000000000" pitchFamily="2" charset="-122"/>
                      </a:rPr>
                      <m:t>,</m:t>
                    </m:r>
                    <m:sSub>
                      <m:sSubPr>
                        <m:ctrlPr>
                          <a:rPr lang="zh-CN" altLang="en-US" sz="2800" i="1" smtClean="0">
                            <a:latin typeface="Cambria Math" panose="02040503050406030204" pitchFamily="18" charset="0"/>
                            <a:ea typeface="华光仿宋_CNKI" panose="02000500000000000000" pitchFamily="2" charset="-122"/>
                          </a:rPr>
                        </m:ctrlPr>
                      </m:sSubPr>
                      <m:e>
                        <m:r>
                          <a:rPr lang="zh-CN" altLang="en-US" sz="2800">
                            <a:latin typeface="Cambria Math" panose="02040503050406030204" pitchFamily="18" charset="0"/>
                            <a:ea typeface="华光仿宋_CNKI" panose="02000500000000000000" pitchFamily="2" charset="-122"/>
                          </a:rPr>
                          <m:t>𝑃</m:t>
                        </m:r>
                      </m:e>
                      <m:sub>
                        <m:r>
                          <a:rPr lang="en-US" altLang="zh-CN" sz="28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800" dirty="0">
                    <a:ea typeface="华光仿宋_CNKI" panose="02000500000000000000" pitchFamily="2" charset="-122"/>
                  </a:rPr>
                  <a:t> </a:t>
                </a:r>
                <a14:m>
                  <m:oMath xmlns:m="http://schemas.openxmlformats.org/officeDocument/2006/math">
                    <m:sSub>
                      <m:sSubPr>
                        <m:ctrlPr>
                          <a:rPr lang="zh-CN" altLang="en-US" sz="2800" i="1">
                            <a:latin typeface="Cambria Math" panose="02040503050406030204" pitchFamily="18" charset="0"/>
                            <a:ea typeface="华光仿宋_CNKI" panose="02000500000000000000" pitchFamily="2" charset="-122"/>
                          </a:rPr>
                        </m:ctrlPr>
                      </m:sSubPr>
                      <m:e>
                        <m:r>
                          <a:rPr lang="zh-CN" altLang="en-US" sz="2800">
                            <a:latin typeface="Cambria Math" panose="02040503050406030204" pitchFamily="18" charset="0"/>
                            <a:ea typeface="华光仿宋_CNKI" panose="02000500000000000000" pitchFamily="2" charset="-122"/>
                          </a:rPr>
                          <m:t>𝑃</m:t>
                        </m:r>
                      </m:e>
                      <m:sub>
                        <m:r>
                          <m:rPr>
                            <m:sty m:val="p"/>
                          </m:rPr>
                          <a:rPr lang="en-US" altLang="zh-CN" sz="2800" b="0" i="0" smtClean="0">
                            <a:latin typeface="Cambria Math" panose="02040503050406030204" pitchFamily="18" charset="0"/>
                            <a:ea typeface="华光仿宋_CNKI" panose="02000500000000000000" pitchFamily="2" charset="-122"/>
                          </a:rPr>
                          <m:t>n</m:t>
                        </m:r>
                        <m:r>
                          <a:rPr lang="en-US" altLang="zh-CN" sz="2800" b="0" i="0" smtClean="0">
                            <a:latin typeface="Cambria Math" panose="02040503050406030204" pitchFamily="18" charset="0"/>
                            <a:ea typeface="华光仿宋_CNKI" panose="02000500000000000000" pitchFamily="2" charset="-122"/>
                          </a:rPr>
                          <m:t>−1</m:t>
                        </m:r>
                      </m:sub>
                    </m:sSub>
                  </m:oMath>
                </a14:m>
                <a:r>
                  <a:rPr lang="zh-CN" altLang="en-US" sz="2600" dirty="0">
                    <a:latin typeface="华光仿宋_CNKI" panose="02000500000000000000" pitchFamily="2" charset="-122"/>
                    <a:ea typeface="华光仿宋_CNKI" panose="02000500000000000000" pitchFamily="2" charset="-122"/>
                  </a:rPr>
                  <a:t>。还需要补充两个方程。</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a:t>
                </a:r>
                <a:r>
                  <a:rPr lang="en-US" altLang="zh-CN" sz="2600" dirty="0">
                    <a:latin typeface="华光仿宋_CNKI" panose="02000500000000000000" pitchFamily="2" charset="-122"/>
                    <a:ea typeface="华光仿宋_CNKI" panose="02000500000000000000" pitchFamily="2" charset="-122"/>
                  </a:rPr>
                  <a:t>1</a:t>
                </a:r>
                <a:r>
                  <a:rPr lang="zh-CN" altLang="en-US" sz="2600" dirty="0">
                    <a:latin typeface="华光仿宋_CNKI" panose="02000500000000000000" pitchFamily="2" charset="-122"/>
                    <a:ea typeface="华光仿宋_CNKI" panose="02000500000000000000" pitchFamily="2" charset="-122"/>
                  </a:rPr>
                  <a:t>）通过切矢量边界条件求解</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对于三次</a:t>
                </a:r>
                <a:r>
                  <a:rPr lang="en-US" altLang="zh-CN" sz="2600" dirty="0">
                    <a:latin typeface="华光仿宋_CNKI" panose="02000500000000000000" pitchFamily="2" charset="-122"/>
                    <a:ea typeface="华光仿宋_CNKI" panose="02000500000000000000" pitchFamily="2" charset="-122"/>
                  </a:rPr>
                  <a:t>B</a:t>
                </a:r>
                <a:r>
                  <a:rPr lang="zh-CN" altLang="en-US" sz="2600" dirty="0">
                    <a:latin typeface="华光仿宋_CNKI" panose="02000500000000000000" pitchFamily="2" charset="-122"/>
                    <a:ea typeface="华光仿宋_CNKI" panose="02000500000000000000" pitchFamily="2" charset="-122"/>
                  </a:rPr>
                  <a:t>样条曲线而言，可以得到其起点和终点的切矢量。</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=1/2(</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r>
                      <a:rPr lang="en-US" altLang="zh-CN" sz="2600" dirty="0">
                        <a:latin typeface="Cambria Math" panose="02040503050406030204" pitchFamily="18" charset="0"/>
                        <a:ea typeface="华光仿宋_CNKI" panose="02000500000000000000" pitchFamily="2" charset="-122"/>
                      </a:rPr>
                      <m:t> </m:t>
                    </m:r>
                    <m:sSubSup>
                      <m:sSubSupPr>
                        <m:ctrlPr>
                          <a:rPr lang="en-US" altLang="zh-CN" sz="2600" i="1" dirty="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𝑛</m:t>
                        </m:r>
                        <m:r>
                          <a:rPr lang="en-US" altLang="zh-CN" sz="2600" dirty="0">
                            <a:latin typeface="Cambria Math" panose="02040503050406030204" pitchFamily="18" charset="0"/>
                            <a:ea typeface="华光仿宋_CNKI" panose="02000500000000000000" pitchFamily="2" charset="-122"/>
                          </a:rPr>
                          <m:t>−3</m:t>
                        </m:r>
                      </m:sub>
                      <m:sup>
                        <m:r>
                          <a:rPr lang="en-US" altLang="zh-CN" sz="2600" dirty="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=1/2(</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𝑛</m:t>
                        </m:r>
                        <m:r>
                          <a:rPr lang="en-US" altLang="zh-CN" sz="260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𝑛</m:t>
                        </m:r>
                        <m:r>
                          <a:rPr lang="en-US" altLang="zh-CN" sz="260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a:t>
                </a: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在已知</a:t>
                </a:r>
                <a14:m>
                  <m:oMath xmlns:m="http://schemas.openxmlformats.org/officeDocument/2006/math">
                    <m:sSubSup>
                      <m:sSubSupPr>
                        <m:ctrlPr>
                          <a:rPr lang="en-US" altLang="zh-CN" sz="2600" i="1" dirty="0" smtClean="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 </m:t>
                    </m:r>
                    <m:r>
                      <a:rPr lang="zh-CN" altLang="en-US" sz="2600" i="1" dirty="0">
                        <a:latin typeface="Cambria Math" panose="02040503050406030204" pitchFamily="18" charset="0"/>
                        <a:ea typeface="华光仿宋_CNKI" panose="02000500000000000000" pitchFamily="2" charset="-122"/>
                      </a:rPr>
                      <m:t>和</m:t>
                    </m:r>
                    <m:sSubSup>
                      <m:sSubSupPr>
                        <m:ctrlPr>
                          <a:rPr lang="en-US" altLang="zh-CN" sz="2600" i="1" dirty="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𝑛</m:t>
                        </m:r>
                        <m:r>
                          <a:rPr lang="en-US" altLang="zh-CN" sz="2600" dirty="0">
                            <a:latin typeface="Cambria Math" panose="02040503050406030204" pitchFamily="18" charset="0"/>
                            <a:ea typeface="华光仿宋_CNKI" panose="02000500000000000000" pitchFamily="2" charset="-122"/>
                          </a:rPr>
                          <m:t>−3</m:t>
                        </m:r>
                      </m:sub>
                      <m:sup>
                        <m:r>
                          <a:rPr lang="en-US" altLang="zh-CN" sz="2600" dirty="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 </m:t>
                    </m:r>
                  </m:oMath>
                </a14:m>
                <a:r>
                  <a:rPr lang="zh-CN" altLang="en-US" sz="2600" dirty="0">
                    <a:latin typeface="华光仿宋_CNKI" panose="02000500000000000000" pitchFamily="2" charset="-122"/>
                    <a:ea typeface="华光仿宋_CNKI" panose="02000500000000000000" pitchFamily="2" charset="-122"/>
                  </a:rPr>
                  <a:t>的情况下，应该可以求得</a:t>
                </a:r>
                <a14:m>
                  <m:oMath xmlns:m="http://schemas.openxmlformats.org/officeDocument/2006/math">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a:latin typeface="Cambria Math" panose="02040503050406030204" pitchFamily="18" charset="0"/>
                            <a:ea typeface="华光仿宋_CNKI" panose="02000500000000000000" pitchFamily="2" charset="-122"/>
                          </a:rPr>
                          <m:t>0</m:t>
                        </m:r>
                      </m:sub>
                    </m:sSub>
                    <m:r>
                      <a:rPr lang="en-US" altLang="zh-CN">
                        <a:latin typeface="Cambria Math" panose="02040503050406030204" pitchFamily="18" charset="0"/>
                        <a:ea typeface="华光仿宋_CNKI" panose="02000500000000000000" pitchFamily="2" charset="-122"/>
                      </a:rPr>
                      <m:t>,</m:t>
                    </m:r>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a:rPr lang="en-US" altLang="zh-CN">
                            <a:latin typeface="Cambria Math" panose="02040503050406030204" pitchFamily="18" charset="0"/>
                            <a:ea typeface="华光仿宋_CNKI" panose="02000500000000000000" pitchFamily="2" charset="-122"/>
                          </a:rPr>
                          <m:t>1</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ea typeface="华光仿宋_CNKI" panose="02000500000000000000" pitchFamily="2" charset="-122"/>
                  </a:rPr>
                  <a:t> </a:t>
                </a:r>
                <a14:m>
                  <m:oMath xmlns:m="http://schemas.openxmlformats.org/officeDocument/2006/math">
                    <m:sSub>
                      <m:sSubPr>
                        <m:ctrlPr>
                          <a:rPr lang="zh-CN" altLang="en-US" i="1">
                            <a:latin typeface="Cambria Math" panose="02040503050406030204" pitchFamily="18" charset="0"/>
                            <a:ea typeface="华光仿宋_CNKI" panose="02000500000000000000" pitchFamily="2" charset="-122"/>
                          </a:rPr>
                        </m:ctrlPr>
                      </m:sSubPr>
                      <m:e>
                        <m:r>
                          <a:rPr lang="zh-CN" altLang="en-US">
                            <a:latin typeface="Cambria Math" panose="02040503050406030204" pitchFamily="18" charset="0"/>
                            <a:ea typeface="华光仿宋_CNKI" panose="02000500000000000000" pitchFamily="2" charset="-122"/>
                          </a:rPr>
                          <m:t>𝑃</m:t>
                        </m:r>
                      </m:e>
                      <m:sub>
                        <m:r>
                          <m:rPr>
                            <m:sty m:val="p"/>
                          </m:rPr>
                          <a:rPr lang="en-US" altLang="zh-CN">
                            <a:latin typeface="Cambria Math" panose="02040503050406030204" pitchFamily="18" charset="0"/>
                            <a:ea typeface="华光仿宋_CNKI" panose="02000500000000000000" pitchFamily="2" charset="-122"/>
                          </a:rPr>
                          <m:t>n</m:t>
                        </m:r>
                        <m:r>
                          <a:rPr lang="en-US" altLang="zh-CN">
                            <a:latin typeface="Cambria Math" panose="02040503050406030204" pitchFamily="18" charset="0"/>
                            <a:ea typeface="华光仿宋_CNKI" panose="02000500000000000000" pitchFamily="2" charset="-122"/>
                          </a:rPr>
                          <m:t>−1</m:t>
                        </m:r>
                      </m:sub>
                    </m:sSub>
                    <m:r>
                      <a:rPr lang="zh-CN" altLang="en-US" i="1" smtClean="0">
                        <a:latin typeface="Cambria Math" panose="02040503050406030204" pitchFamily="18" charset="0"/>
                        <a:ea typeface="华光仿宋_CNKI" panose="02000500000000000000" pitchFamily="2" charset="-122"/>
                      </a:rPr>
                      <m:t>。</m:t>
                    </m:r>
                  </m:oMath>
                </a14:m>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77414" y="658585"/>
                <a:ext cx="10665732" cy="5368504"/>
              </a:xfrm>
              <a:prstGeom prst="rect">
                <a:avLst/>
              </a:prstGeom>
              <a:blipFill>
                <a:blip r:embed="rId3"/>
                <a:stretch>
                  <a:fillRect l="-10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69892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77414" y="658585"/>
                <a:ext cx="10665732" cy="536850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(2)</a:t>
                </a:r>
                <a:r>
                  <a:rPr lang="zh-CN" altLang="en-US" sz="2600" dirty="0">
                    <a:latin typeface="华光仿宋_CNKI" panose="02000500000000000000" pitchFamily="2" charset="-122"/>
                    <a:ea typeface="华光仿宋_CNKI" panose="02000500000000000000" pitchFamily="2" charset="-122"/>
                  </a:rPr>
                  <a:t>给定首末端点的二阶导数矢量</a:t>
                </a:r>
                <a14:m>
                  <m:oMath xmlns:m="http://schemas.openxmlformats.org/officeDocument/2006/math">
                    <m:sSubSup>
                      <m:sSubSupPr>
                        <m:ctrlPr>
                          <a:rPr lang="en-US" altLang="zh-CN" sz="2600" i="1" dirty="0" smtClean="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m:t>
                        </m:r>
                      </m:sup>
                    </m:sSubSup>
                  </m:oMath>
                </a14:m>
                <a:r>
                  <a:rPr lang="zh-CN" altLang="en-US" sz="2600" dirty="0">
                    <a:latin typeface="华光仿宋_CNKI" panose="02000500000000000000" pitchFamily="2" charset="-122"/>
                    <a:ea typeface="华光仿宋_CNKI" panose="02000500000000000000" pitchFamily="2" charset="-122"/>
                  </a:rPr>
                  <a:t>和</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b="0" i="1" dirty="0" smtClean="0">
                            <a:latin typeface="Cambria Math" panose="02040503050406030204" pitchFamily="18" charset="0"/>
                            <a:ea typeface="华光仿宋_CNKI" panose="02000500000000000000" pitchFamily="2" charset="-122"/>
                          </a:rPr>
                          <m:t>𝑛</m:t>
                        </m:r>
                        <m:r>
                          <a:rPr lang="en-US" altLang="zh-CN" sz="2600" b="0" i="1" dirty="0" smtClean="0">
                            <a:latin typeface="Cambria Math" panose="02040503050406030204" pitchFamily="18" charset="0"/>
                            <a:ea typeface="华光仿宋_CNKI" panose="02000500000000000000" pitchFamily="2" charset="-122"/>
                          </a:rPr>
                          <m:t>−3</m:t>
                        </m:r>
                      </m:sub>
                      <m:sup>
                        <m:r>
                          <a:rPr lang="en-US" altLang="zh-CN" sz="2600" dirty="0">
                            <a:latin typeface="Cambria Math" panose="02040503050406030204" pitchFamily="18" charset="0"/>
                            <a:ea typeface="华光仿宋_CNKI" panose="02000500000000000000" pitchFamily="2" charset="-122"/>
                          </a:rPr>
                          <m:t>′</m:t>
                        </m:r>
                        <m:r>
                          <a:rPr lang="en-US" altLang="zh-CN" sz="2600" i="1" dirty="0">
                            <a:latin typeface="Cambria Math" panose="02040503050406030204" pitchFamily="18" charset="0"/>
                            <a:ea typeface="华光仿宋_CNKI" panose="02000500000000000000" pitchFamily="2" charset="-122"/>
                          </a:rPr>
                          <m:t>′</m:t>
                        </m:r>
                      </m:sup>
                    </m:sSubSup>
                  </m:oMath>
                </a14:m>
                <a:r>
                  <a:rPr lang="zh-CN" altLang="en-US" sz="2600" dirty="0">
                    <a:latin typeface="华光仿宋_CNKI" panose="02000500000000000000" pitchFamily="2" charset="-122"/>
                    <a:ea typeface="华光仿宋_CNKI" panose="02000500000000000000" pitchFamily="2" charset="-122"/>
                  </a:rPr>
                  <a:t>进行求解</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600" dirty="0">
                    <a:latin typeface="华光仿宋_CNKI" panose="02000500000000000000" pitchFamily="2" charset="-122"/>
                    <a:ea typeface="华光仿宋_CNKI" panose="02000500000000000000" pitchFamily="2" charset="-122"/>
                  </a:rPr>
                  <a:t>     同样，添加首末端点的二阶导数矢量：</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-2</a:t>
                </a: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600" i="1" dirty="0">
                            <a:latin typeface="Cambria Math" panose="02040503050406030204" pitchFamily="18" charset="0"/>
                            <a:ea typeface="华光仿宋_CNKI" panose="02000500000000000000" pitchFamily="2" charset="-122"/>
                          </a:rPr>
                        </m:ctrlPr>
                      </m:sSubSupPr>
                      <m:e>
                        <m:r>
                          <m:rPr>
                            <m:sty m:val="p"/>
                          </m:rPr>
                          <a:rPr lang="en-US" altLang="zh-CN" sz="2600" dirty="0">
                            <a:latin typeface="Cambria Math" panose="02040503050406030204" pitchFamily="18" charset="0"/>
                            <a:ea typeface="华光仿宋_CNKI" panose="02000500000000000000" pitchFamily="2" charset="-122"/>
                          </a:rPr>
                          <m:t>Q</m:t>
                        </m:r>
                      </m:e>
                      <m:sub>
                        <m:r>
                          <a:rPr lang="en-US" altLang="zh-CN" sz="2600" dirty="0">
                            <a:latin typeface="Cambria Math" panose="02040503050406030204" pitchFamily="18" charset="0"/>
                            <a:ea typeface="华光仿宋_CNKI" panose="02000500000000000000" pitchFamily="2" charset="-122"/>
                          </a:rPr>
                          <m:t>0</m:t>
                        </m:r>
                      </m:sub>
                      <m:sup>
                        <m:r>
                          <a:rPr lang="en-US" altLang="zh-CN" sz="2600" dirty="0">
                            <a:latin typeface="Cambria Math" panose="02040503050406030204" pitchFamily="18" charset="0"/>
                            <a:ea typeface="华光仿宋_CNKI" panose="02000500000000000000" pitchFamily="2" charset="-122"/>
                          </a:rPr>
                          <m:t>′</m:t>
                        </m:r>
                        <m:r>
                          <a:rPr lang="en-US" altLang="zh-CN" sz="2600" b="0" i="1" dirty="0" smtClean="0">
                            <a:latin typeface="Cambria Math" panose="02040503050406030204" pitchFamily="18" charset="0"/>
                            <a:ea typeface="华光仿宋_CNKI" panose="02000500000000000000" pitchFamily="2" charset="-122"/>
                          </a:rPr>
                          <m:t>′</m:t>
                        </m:r>
                      </m:sup>
                    </m:sSubSup>
                    <m:r>
                      <a:rPr lang="en-US" altLang="zh-CN" sz="2600" dirty="0">
                        <a:latin typeface="Cambria Math" panose="02040503050406030204" pitchFamily="18" charset="0"/>
                        <a:ea typeface="华光仿宋_CNKI" panose="02000500000000000000" pitchFamily="2" charset="-122"/>
                      </a:rPr>
                      <m:t> </m:t>
                    </m:r>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-2</a:t>
                </a: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−3</m:t>
                        </m:r>
                      </m:sub>
                    </m:sSub>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(3)</a:t>
                </a:r>
                <a:r>
                  <a:rPr lang="zh-CN" altLang="en-US" sz="2600" dirty="0">
                    <a:latin typeface="华光仿宋_CNKI" panose="02000500000000000000" pitchFamily="2" charset="-122"/>
                    <a:ea typeface="华光仿宋_CNKI" panose="02000500000000000000" pitchFamily="2" charset="-122"/>
                  </a:rPr>
                  <a:t>自由端</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由于三点共线的且中间点的位置在前后两点中点的位置时，曲线的起点与中间点重叠，因此可以通过添加起始点的方式来增加方程数量。</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smtClean="0">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r>
                      <a:rPr lang="en-US" altLang="zh-CN" sz="2600" b="0" i="0" smtClean="0">
                        <a:latin typeface="Cambria Math" panose="02040503050406030204" pitchFamily="18" charset="0"/>
                        <a:ea typeface="华光仿宋_CNKI" panose="02000500000000000000" pitchFamily="2" charset="-122"/>
                      </a:rPr>
                      <m:t>=1/2(</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0</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−2</m:t>
                        </m:r>
                      </m:sub>
                    </m:sSub>
                    <m:r>
                      <a:rPr lang="en-US" altLang="zh-CN" sz="2600">
                        <a:latin typeface="Cambria Math" panose="02040503050406030204" pitchFamily="18" charset="0"/>
                        <a:ea typeface="华光仿宋_CNKI" panose="02000500000000000000" pitchFamily="2" charset="-122"/>
                      </a:rPr>
                      <m:t>=1/2(</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−3</m:t>
                        </m:r>
                      </m:sub>
                    </m:sSub>
                  </m:oMath>
                </a14:m>
                <a:r>
                  <a:rPr lang="en-US" altLang="zh-CN" sz="2600"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 </a:t>
                </a: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77414" y="658585"/>
                <a:ext cx="10665732" cy="5368504"/>
              </a:xfrm>
              <a:prstGeom prst="rect">
                <a:avLst/>
              </a:prstGeom>
              <a:blipFill>
                <a:blip r:embed="rId3"/>
                <a:stretch>
                  <a:fillRect l="-10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307225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20DEA536-060B-0BA8-8F70-4E87D2898BD3}"/>
                  </a:ext>
                </a:extLst>
              </p:cNvPr>
              <p:cNvSpPr txBox="1">
                <a:spLocks/>
              </p:cNvSpPr>
              <p:nvPr/>
            </p:nvSpPr>
            <p:spPr>
              <a:xfrm>
                <a:off x="577414" y="658585"/>
                <a:ext cx="10665732" cy="5368504"/>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(4)</a:t>
                </a:r>
                <a:r>
                  <a:rPr lang="zh-CN" altLang="en-US" sz="2600" dirty="0">
                    <a:latin typeface="华光仿宋_CNKI" panose="02000500000000000000" pitchFamily="2" charset="-122"/>
                    <a:ea typeface="华光仿宋_CNKI" panose="02000500000000000000" pitchFamily="2" charset="-122"/>
                  </a:rPr>
                  <a:t>重顶点法</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zh-CN" altLang="en-US" sz="2600" dirty="0">
                    <a:latin typeface="华光仿宋_CNKI" panose="02000500000000000000" pitchFamily="2" charset="-122"/>
                    <a:ea typeface="华光仿宋_CNKI" panose="02000500000000000000" pitchFamily="2" charset="-122"/>
                  </a:rPr>
                  <a:t>    在起点和终点处增加一个与起点和终点重叠的顶点，这样可以得到：</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0</m:t>
                        </m:r>
                      </m:sub>
                    </m:sSub>
                    <m:r>
                      <a:rPr lang="en-US" altLang="zh-CN" sz="2600" b="0" i="0" smtClean="0">
                        <a:latin typeface="Cambria Math" panose="02040503050406030204" pitchFamily="18" charset="0"/>
                        <a:ea typeface="华光仿宋_CNKI" panose="02000500000000000000" pitchFamily="2" charset="-122"/>
                      </a:rPr>
                      <m:t>=</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0"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b="0" i="1" smtClean="0">
                            <a:latin typeface="Cambria Math" panose="02040503050406030204" pitchFamily="18" charset="0"/>
                            <a:ea typeface="华光仿宋_CNKI" panose="02000500000000000000" pitchFamily="2" charset="-122"/>
                          </a:rPr>
                          <m:t>𝑛</m:t>
                        </m:r>
                        <m:r>
                          <a:rPr lang="en-US" altLang="zh-CN" sz="2600" b="0" i="1" smtClean="0">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b="0" i="0" smtClean="0">
                            <a:latin typeface="Cambria Math" panose="02040503050406030204" pitchFamily="18" charset="0"/>
                            <a:ea typeface="华光仿宋_CNKI" panose="02000500000000000000" pitchFamily="2" charset="-122"/>
                          </a:rPr>
                          <m:t>n</m:t>
                        </m:r>
                        <m:r>
                          <a:rPr lang="en-US" altLang="zh-CN" sz="2600" b="0" i="0" smtClean="0">
                            <a:latin typeface="Cambria Math" panose="02040503050406030204" pitchFamily="18" charset="0"/>
                            <a:ea typeface="华光仿宋_CNKI" panose="02000500000000000000" pitchFamily="2" charset="-122"/>
                          </a:rPr>
                          <m:t>−2</m:t>
                        </m:r>
                      </m:sub>
                    </m:sSub>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(5) </a:t>
                </a:r>
                <a:r>
                  <a:rPr lang="zh-CN" altLang="en-US" sz="2600" dirty="0">
                    <a:latin typeface="华光仿宋_CNKI" panose="02000500000000000000" pitchFamily="2" charset="-122"/>
                    <a:ea typeface="华光仿宋_CNKI" panose="02000500000000000000" pitchFamily="2" charset="-122"/>
                  </a:rPr>
                  <a:t>循环端</a:t>
                </a:r>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b="0" i="0" dirty="0">
                    <a:latin typeface="Cambria Math" panose="02040503050406030204" pitchFamily="18" charset="0"/>
                    <a:ea typeface="华光仿宋_CNKI" panose="02000500000000000000" pitchFamily="2" charset="-122"/>
                  </a:rPr>
                  <a:t>         </a:t>
                </a:r>
                <a:r>
                  <a:rPr lang="zh-CN" altLang="en-US" sz="2600" b="0" i="0" dirty="0">
                    <a:latin typeface="Cambria Math" panose="02040503050406030204" pitchFamily="18" charset="0"/>
                    <a:ea typeface="华光仿宋_CNKI" panose="02000500000000000000" pitchFamily="2" charset="-122"/>
                  </a:rPr>
                  <a:t>使起点与倒数第一个点重叠，第二个点与最后一个点重叠，形成封闭的三次</a:t>
                </a:r>
                <a:r>
                  <a:rPr lang="en-US" altLang="zh-CN" sz="2600" b="0" i="0" dirty="0">
                    <a:latin typeface="Cambria Math" panose="02040503050406030204" pitchFamily="18" charset="0"/>
                    <a:ea typeface="华光仿宋_CNKI" panose="02000500000000000000" pitchFamily="2" charset="-122"/>
                  </a:rPr>
                  <a:t>B</a:t>
                </a:r>
                <a:r>
                  <a:rPr lang="zh-CN" altLang="en-US" sz="2600" b="0" i="0" dirty="0">
                    <a:latin typeface="Cambria Math" panose="02040503050406030204" pitchFamily="18" charset="0"/>
                    <a:ea typeface="华光仿宋_CNKI" panose="02000500000000000000" pitchFamily="2" charset="-122"/>
                  </a:rPr>
                  <a:t>样条曲线。</a:t>
                </a:r>
                <a:endParaRPr lang="en-US" altLang="zh-CN" sz="2600" b="0" i="0" dirty="0">
                  <a:latin typeface="Cambria Math" panose="02040503050406030204" pitchFamily="18" charset="0"/>
                  <a:ea typeface="华光仿宋_CNKI" panose="02000500000000000000" pitchFamily="2" charset="-122"/>
                </a:endParaRPr>
              </a:p>
              <a:p>
                <a:pPr algn="l">
                  <a:lnSpc>
                    <a:spcPct val="150000"/>
                  </a:lnSpc>
                </a:pP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a:latin typeface="Cambria Math" panose="02040503050406030204" pitchFamily="18" charset="0"/>
                            <a:ea typeface="华光仿宋_CNKI" panose="02000500000000000000" pitchFamily="2" charset="-122"/>
                          </a:rPr>
                          <m:t>0</m:t>
                        </m:r>
                      </m:sub>
                    </m:sSub>
                    <m:r>
                      <a:rPr lang="en-US" altLang="zh-CN" sz="2600">
                        <a:latin typeface="Cambria Math" panose="02040503050406030204" pitchFamily="18" charset="0"/>
                        <a:ea typeface="华光仿宋_CNKI" panose="02000500000000000000" pitchFamily="2" charset="-122"/>
                      </a:rPr>
                      <m:t>=</m:t>
                    </m:r>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i="1">
                            <a:latin typeface="Cambria Math" panose="02040503050406030204" pitchFamily="18" charset="0"/>
                            <a:ea typeface="华光仿宋_CNKI" panose="02000500000000000000" pitchFamily="2" charset="-122"/>
                          </a:rPr>
                          <m:t>n</m:t>
                        </m:r>
                        <m:r>
                          <a:rPr lang="en-US" altLang="zh-CN" sz="2600" i="1">
                            <a:latin typeface="Cambria Math" panose="02040503050406030204" pitchFamily="18" charset="0"/>
                            <a:ea typeface="华光仿宋_CNKI" panose="02000500000000000000" pitchFamily="2" charset="-122"/>
                          </a:rPr>
                          <m:t>−2</m:t>
                        </m:r>
                      </m:sub>
                    </m:sSub>
                  </m:oMath>
                </a14:m>
                <a:r>
                  <a:rPr lang="en-US" altLang="zh-CN" sz="2600"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a:rPr lang="en-US" altLang="zh-CN" sz="2600" i="1">
                            <a:latin typeface="Cambria Math" panose="02040503050406030204" pitchFamily="18" charset="0"/>
                            <a:ea typeface="华光仿宋_CNKI" panose="02000500000000000000" pitchFamily="2" charset="-122"/>
                          </a:rPr>
                          <m:t>1</m:t>
                        </m:r>
                      </m:sub>
                    </m:sSub>
                  </m:oMath>
                </a14:m>
                <a:r>
                  <a:rPr lang="en-US" altLang="zh-CN" sz="2600" dirty="0">
                    <a:latin typeface="华光仿宋_CNKI" panose="02000500000000000000" pitchFamily="2" charset="-122"/>
                    <a:ea typeface="华光仿宋_CNKI" panose="02000500000000000000" pitchFamily="2" charset="-122"/>
                  </a:rPr>
                  <a:t>=</a:t>
                </a:r>
                <a:r>
                  <a:rPr lang="zh-CN" altLang="en-US" sz="2600" dirty="0">
                    <a:ea typeface="华光仿宋_CNKI" panose="02000500000000000000" pitchFamily="2" charset="-122"/>
                  </a:rPr>
                  <a:t> </a:t>
                </a:r>
                <a14:m>
                  <m:oMath xmlns:m="http://schemas.openxmlformats.org/officeDocument/2006/math">
                    <m:sSub>
                      <m:sSubPr>
                        <m:ctrlPr>
                          <a:rPr lang="zh-CN" altLang="en-US" sz="2600" i="1">
                            <a:latin typeface="Cambria Math" panose="02040503050406030204" pitchFamily="18" charset="0"/>
                            <a:ea typeface="华光仿宋_CNKI" panose="02000500000000000000" pitchFamily="2" charset="-122"/>
                          </a:rPr>
                        </m:ctrlPr>
                      </m:sSubPr>
                      <m:e>
                        <m:r>
                          <a:rPr lang="zh-CN" altLang="en-US" sz="2600">
                            <a:latin typeface="Cambria Math" panose="02040503050406030204" pitchFamily="18" charset="0"/>
                            <a:ea typeface="华光仿宋_CNKI" panose="02000500000000000000" pitchFamily="2" charset="-122"/>
                          </a:rPr>
                          <m:t>𝑃</m:t>
                        </m:r>
                      </m:e>
                      <m:sub>
                        <m:r>
                          <m:rPr>
                            <m:sty m:val="p"/>
                          </m:rPr>
                          <a:rPr lang="en-US" altLang="zh-CN" sz="2600">
                            <a:latin typeface="Cambria Math" panose="02040503050406030204" pitchFamily="18" charset="0"/>
                            <a:ea typeface="华光仿宋_CNKI" panose="02000500000000000000" pitchFamily="2" charset="-122"/>
                          </a:rPr>
                          <m:t>n</m:t>
                        </m:r>
                        <m:r>
                          <a:rPr lang="en-US" altLang="zh-CN" sz="260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1</m:t>
                        </m:r>
                      </m:sub>
                    </m:sSub>
                    <m:r>
                      <a:rPr lang="en-US" altLang="zh-CN" sz="2600" b="0" i="0" smtClean="0">
                        <a:latin typeface="Cambria Math" panose="02040503050406030204" pitchFamily="18" charset="0"/>
                        <a:ea typeface="华光仿宋_CNKI" panose="02000500000000000000" pitchFamily="2" charset="-122"/>
                      </a:rPr>
                      <m:t> </m:t>
                    </m:r>
                  </m:oMath>
                </a14:m>
                <a:endParaRPr lang="en-US" altLang="zh-CN" sz="2600" dirty="0">
                  <a:latin typeface="华光仿宋_CNKI" panose="02000500000000000000" pitchFamily="2" charset="-122"/>
                  <a:ea typeface="华光仿宋_CNKI" panose="02000500000000000000" pitchFamily="2" charset="-122"/>
                </a:endParaRPr>
              </a:p>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当然可通过其他的方法补充相应的初始条件，从而重构出相应的控制点。</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6" name="副标题 2">
                <a:extLst>
                  <a:ext uri="{FF2B5EF4-FFF2-40B4-BE49-F238E27FC236}">
                    <a16:creationId xmlns:a16="http://schemas.microsoft.com/office/drawing/2014/main" id="{20DEA536-060B-0BA8-8F70-4E87D2898BD3}"/>
                  </a:ext>
                </a:extLst>
              </p:cNvPr>
              <p:cNvSpPr txBox="1">
                <a:spLocks noRot="1" noChangeAspect="1" noMove="1" noResize="1" noEditPoints="1" noAdjustHandles="1" noChangeArrowheads="1" noChangeShapeType="1" noTextEdit="1"/>
              </p:cNvSpPr>
              <p:nvPr/>
            </p:nvSpPr>
            <p:spPr>
              <a:xfrm>
                <a:off x="577414" y="658585"/>
                <a:ext cx="10665732" cy="5368504"/>
              </a:xfrm>
              <a:prstGeom prst="rect">
                <a:avLst/>
              </a:prstGeom>
              <a:blipFill>
                <a:blip r:embed="rId3"/>
                <a:stretch>
                  <a:fillRect l="-9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526720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2">
            <a:extLst>
              <a:ext uri="{FF2B5EF4-FFF2-40B4-BE49-F238E27FC236}">
                <a16:creationId xmlns:a16="http://schemas.microsoft.com/office/drawing/2014/main" id="{20DEA536-060B-0BA8-8F70-4E87D2898BD3}"/>
              </a:ext>
            </a:extLst>
          </p:cNvPr>
          <p:cNvSpPr txBox="1">
            <a:spLocks/>
          </p:cNvSpPr>
          <p:nvPr/>
        </p:nvSpPr>
        <p:spPr>
          <a:xfrm>
            <a:off x="577414" y="658585"/>
            <a:ext cx="10665732" cy="17665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相关方法可参照教材</a:t>
            </a:r>
            <a:r>
              <a:rPr lang="en-US" altLang="zh-CN" sz="2600" dirty="0">
                <a:latin typeface="华光仿宋_CNKI" panose="02000500000000000000" pitchFamily="2" charset="-122"/>
                <a:ea typeface="华光仿宋_CNKI" panose="02000500000000000000" pitchFamily="2" charset="-122"/>
              </a:rPr>
              <a:t>P100~P101</a:t>
            </a:r>
            <a:r>
              <a:rPr lang="zh-CN" altLang="en-US" sz="2600" dirty="0">
                <a:latin typeface="华光仿宋_CNKI" panose="02000500000000000000" pitchFamily="2" charset="-122"/>
                <a:ea typeface="华光仿宋_CNKI" panose="02000500000000000000" pitchFamily="2" charset="-122"/>
              </a:rPr>
              <a:t>的内容，在此不做详细介绍。</a:t>
            </a:r>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B</a:t>
            </a:r>
            <a:r>
              <a:rPr lang="zh-CN" altLang="en-US" sz="2600" dirty="0">
                <a:latin typeface="华光仿宋_CNKI" panose="02000500000000000000" pitchFamily="2" charset="-122"/>
                <a:ea typeface="华光仿宋_CNKI" panose="02000500000000000000" pitchFamily="2" charset="-122"/>
              </a:rPr>
              <a:t>样条曲线的其它变化可参照</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曲线，本课程不做要求。</a:t>
            </a:r>
            <a:endParaRPr lang="en-US" altLang="zh-CN" sz="2600" dirty="0">
              <a:latin typeface="华光仿宋_CNKI" panose="02000500000000000000" pitchFamily="2" charset="-122"/>
              <a:ea typeface="华光仿宋_CNKI" panose="02000500000000000000" pitchFamily="2" charset="-122"/>
            </a:endParaRPr>
          </a:p>
          <a:p>
            <a:pPr algn="l">
              <a:lnSpc>
                <a:spcPct val="100000"/>
              </a:lnSpc>
            </a:pPr>
            <a:r>
              <a:rPr lang="en-US" altLang="zh-CN" sz="2600" dirty="0">
                <a:latin typeface="华光仿宋_CNKI" panose="02000500000000000000" pitchFamily="2" charset="-122"/>
                <a:ea typeface="华光仿宋_CNKI" panose="02000500000000000000" pitchFamily="2" charset="-122"/>
              </a:rPr>
              <a:t>    </a:t>
            </a:r>
          </a:p>
          <a:p>
            <a:pPr algn="l">
              <a:lnSpc>
                <a:spcPct val="100000"/>
              </a:lnSpc>
            </a:pPr>
            <a:endParaRPr lang="en-US" altLang="zh-CN" sz="2600" dirty="0">
              <a:latin typeface="华光仿宋_CNKI" panose="02000500000000000000" pitchFamily="2" charset="-122"/>
              <a:ea typeface="华光仿宋_CNKI" panose="02000500000000000000" pitchFamily="2" charset="-122"/>
            </a:endParaRPr>
          </a:p>
        </p:txBody>
      </p:sp>
      <p:sp>
        <p:nvSpPr>
          <p:cNvPr id="3" name="文本框 2">
            <a:extLst>
              <a:ext uri="{FF2B5EF4-FFF2-40B4-BE49-F238E27FC236}">
                <a16:creationId xmlns:a16="http://schemas.microsoft.com/office/drawing/2014/main" id="{8302341B-53FB-A43C-BCA5-DBEA0058F860}"/>
              </a:ext>
            </a:extLst>
          </p:cNvPr>
          <p:cNvSpPr txBox="1"/>
          <p:nvPr/>
        </p:nvSpPr>
        <p:spPr>
          <a:xfrm>
            <a:off x="1059511" y="3041543"/>
            <a:ext cx="9627041" cy="3063467"/>
          </a:xfrm>
          <a:prstGeom prst="rect">
            <a:avLst/>
          </a:prstGeom>
          <a:noFill/>
        </p:spPr>
        <p:txBody>
          <a:bodyPr wrap="square">
            <a:spAutoFit/>
          </a:bodyPr>
          <a:lstStyle/>
          <a:p>
            <a:pPr algn="l">
              <a:lnSpc>
                <a:spcPct val="150000"/>
              </a:lnSpc>
            </a:pPr>
            <a:r>
              <a:rPr lang="en-US" altLang="zh-CN" sz="3600" b="1" dirty="0">
                <a:latin typeface="华光标题黑_CNKI" panose="02000500000000000000" pitchFamily="2" charset="-122"/>
                <a:ea typeface="华光标题黑_CNKI" panose="02000500000000000000" pitchFamily="2" charset="-122"/>
              </a:rPr>
              <a:t> </a:t>
            </a:r>
            <a:r>
              <a:rPr lang="zh-CN" altLang="en-US" sz="3600" b="1" dirty="0">
                <a:solidFill>
                  <a:srgbClr val="FF0000"/>
                </a:solidFill>
                <a:latin typeface="华光标题黑_CNKI" panose="02000500000000000000" pitchFamily="2" charset="-122"/>
                <a:ea typeface="华光标题黑_CNKI" panose="02000500000000000000" pitchFamily="2" charset="-122"/>
              </a:rPr>
              <a:t>思考：</a:t>
            </a:r>
            <a:endParaRPr lang="en-US" altLang="zh-CN" sz="3600" b="1" dirty="0">
              <a:solidFill>
                <a:srgbClr val="FF0000"/>
              </a:solidFill>
              <a:latin typeface="华光标题黑_CNKI" panose="02000500000000000000" pitchFamily="2" charset="-122"/>
              <a:ea typeface="华光标题黑_CNKI" panose="02000500000000000000" pitchFamily="2" charset="-122"/>
            </a:endParaRPr>
          </a:p>
          <a:p>
            <a:pPr algn="l">
              <a:lnSpc>
                <a:spcPct val="150000"/>
              </a:lnSpc>
            </a:pPr>
            <a:r>
              <a:rPr lang="en-US" altLang="zh-CN" sz="3200" dirty="0">
                <a:latin typeface="华光仿宋_CNKI" panose="02000500000000000000" pitchFamily="2" charset="-122"/>
                <a:ea typeface="华光仿宋_CNKI" panose="02000500000000000000" pitchFamily="2" charset="-122"/>
              </a:rPr>
              <a:t>   </a:t>
            </a:r>
            <a:r>
              <a:rPr lang="zh-CN" altLang="en-US" sz="3200">
                <a:latin typeface="华光仿宋_CNKI" panose="02000500000000000000" pitchFamily="2" charset="-122"/>
                <a:ea typeface="华光仿宋_CNKI" panose="02000500000000000000" pitchFamily="2" charset="-122"/>
              </a:rPr>
              <a:t> 在</a:t>
            </a:r>
            <a:r>
              <a:rPr lang="zh-CN" altLang="en-US" sz="3200" dirty="0">
                <a:latin typeface="华光仿宋_CNKI" panose="02000500000000000000" pitchFamily="2" charset="-122"/>
                <a:ea typeface="华光仿宋_CNKI" panose="02000500000000000000" pitchFamily="2" charset="-122"/>
              </a:rPr>
              <a:t>已知曲线方程的情况下，如何利用前面介绍</a:t>
            </a:r>
            <a:r>
              <a:rPr lang="zh-CN" altLang="en-US" sz="3200">
                <a:latin typeface="华光仿宋_CNKI" panose="02000500000000000000" pitchFamily="2" charset="-122"/>
                <a:ea typeface="华光仿宋_CNKI" panose="02000500000000000000" pitchFamily="2" charset="-122"/>
              </a:rPr>
              <a:t>的方法在计算机上显示相应</a:t>
            </a:r>
            <a:r>
              <a:rPr lang="zh-CN" altLang="en-US" sz="3200" dirty="0">
                <a:latin typeface="华光仿宋_CNKI" panose="02000500000000000000" pitchFamily="2" charset="-122"/>
                <a:ea typeface="华光仿宋_CNKI" panose="02000500000000000000" pitchFamily="2" charset="-122"/>
              </a:rPr>
              <a:t>的曲线？</a:t>
            </a:r>
            <a:endParaRPr lang="en-US" altLang="zh-CN" sz="3200" dirty="0">
              <a:latin typeface="华光仿宋_CNKI" panose="02000500000000000000" pitchFamily="2" charset="-122"/>
              <a:ea typeface="华光仿宋_CNKI" panose="02000500000000000000" pitchFamily="2" charset="-122"/>
            </a:endParaRPr>
          </a:p>
          <a:p>
            <a:pPr algn="l">
              <a:lnSpc>
                <a:spcPct val="150000"/>
              </a:lnSpc>
            </a:pPr>
            <a:r>
              <a:rPr lang="en-US" altLang="zh-CN" sz="3200" dirty="0">
                <a:latin typeface="华光仿宋_CNKI" panose="02000500000000000000" pitchFamily="2" charset="-122"/>
                <a:ea typeface="华光仿宋_CNKI" panose="02000500000000000000" pitchFamily="2" charset="-122"/>
              </a:rPr>
              <a:t>            </a:t>
            </a:r>
            <a:endParaRPr lang="zh-CN" altLang="en-US" sz="3200" dirty="0"/>
          </a:p>
        </p:txBody>
      </p:sp>
    </p:spTree>
    <p:extLst>
      <p:ext uri="{BB962C8B-B14F-4D97-AF65-F5344CB8AC3E}">
        <p14:creationId xmlns:p14="http://schemas.microsoft.com/office/powerpoint/2010/main" val="69831404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6942</TotalTime>
  <Words>11072</Words>
  <Application>Microsoft Office PowerPoint</Application>
  <PresentationFormat>宽屏</PresentationFormat>
  <Paragraphs>835</Paragraphs>
  <Slides>118</Slides>
  <Notes>37</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118</vt:i4>
      </vt:variant>
    </vt:vector>
  </HeadingPairs>
  <TitlesOfParts>
    <vt:vector size="140" baseType="lpstr">
      <vt:lpstr>等线</vt:lpstr>
      <vt:lpstr>等线 Light</vt:lpstr>
      <vt:lpstr>黑体</vt:lpstr>
      <vt:lpstr>华光标题黑_CNKI</vt:lpstr>
      <vt:lpstr>华光标题宋_CNKI</vt:lpstr>
      <vt:lpstr>华光超粗黑_CNKI</vt:lpstr>
      <vt:lpstr>华光大标宋_CNKI</vt:lpstr>
      <vt:lpstr>华光仿宋_CNKI</vt:lpstr>
      <vt:lpstr>华光仿宋二_CNKI</vt:lpstr>
      <vt:lpstr>宋体</vt:lpstr>
      <vt:lpstr>Arial</vt:lpstr>
      <vt:lpstr>Cambria Math</vt:lpstr>
      <vt:lpstr>Courier New</vt:lpstr>
      <vt:lpstr>Symbol</vt:lpstr>
      <vt:lpstr>Times New Roman</vt:lpstr>
      <vt:lpstr>Wingdings</vt:lpstr>
      <vt:lpstr>Office 主题​​</vt:lpstr>
      <vt:lpstr>VISIO</vt:lpstr>
      <vt:lpstr>公式</vt:lpstr>
      <vt:lpstr>Microsoft Visio 2000/2002 Drawing</vt:lpstr>
      <vt:lpstr>Equation</vt:lpstr>
      <vt:lpstr>Microsoft 公式 3.0</vt:lpstr>
      <vt:lpstr>第3章基本图形的生成</vt:lpstr>
      <vt:lpstr>直线的生成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图形开发环境及工具</dc:title>
  <dc:creator>黄海于</dc:creator>
  <cp:lastModifiedBy>黄 海于</cp:lastModifiedBy>
  <cp:revision>433</cp:revision>
  <dcterms:created xsi:type="dcterms:W3CDTF">2023-07-17T03:25:44Z</dcterms:created>
  <dcterms:modified xsi:type="dcterms:W3CDTF">2024-10-08T10:00:42Z</dcterms:modified>
</cp:coreProperties>
</file>